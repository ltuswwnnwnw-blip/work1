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handoutMasterIdLst>
    <p:handoutMasterId r:id="rId52"/>
  </p:handoutMasterIdLst>
  <p:sldIdLst>
    <p:sldId id="563" r:id="rId3"/>
    <p:sldId id="261" r:id="rId4"/>
    <p:sldId id="259" r:id="rId5"/>
    <p:sldId id="1088" r:id="rId6"/>
    <p:sldId id="1089" r:id="rId7"/>
    <p:sldId id="1090" r:id="rId8"/>
    <p:sldId id="1091" r:id="rId9"/>
    <p:sldId id="1092" r:id="rId10"/>
    <p:sldId id="1093" r:id="rId11"/>
    <p:sldId id="1094" r:id="rId12"/>
    <p:sldId id="1095" r:id="rId13"/>
    <p:sldId id="1096" r:id="rId14"/>
    <p:sldId id="1097" r:id="rId15"/>
    <p:sldId id="1098" r:id="rId16"/>
    <p:sldId id="1099" r:id="rId17"/>
    <p:sldId id="1100" r:id="rId18"/>
    <p:sldId id="1101" r:id="rId19"/>
    <p:sldId id="1102" r:id="rId20"/>
    <p:sldId id="1103" r:id="rId21"/>
    <p:sldId id="1104" r:id="rId22"/>
    <p:sldId id="1105" r:id="rId23"/>
    <p:sldId id="1106" r:id="rId24"/>
    <p:sldId id="1108" r:id="rId25"/>
    <p:sldId id="1107" r:id="rId26"/>
    <p:sldId id="1109" r:id="rId27"/>
    <p:sldId id="1159" r:id="rId28"/>
    <p:sldId id="1160" r:id="rId29"/>
    <p:sldId id="1161" r:id="rId30"/>
    <p:sldId id="1162" r:id="rId31"/>
    <p:sldId id="1163" r:id="rId32"/>
    <p:sldId id="1164" r:id="rId33"/>
    <p:sldId id="1165" r:id="rId34"/>
    <p:sldId id="1166" r:id="rId35"/>
    <p:sldId id="1167" r:id="rId36"/>
    <p:sldId id="1168" r:id="rId37"/>
    <p:sldId id="1170" r:id="rId38"/>
    <p:sldId id="1171" r:id="rId39"/>
    <p:sldId id="1172" r:id="rId40"/>
    <p:sldId id="1173" r:id="rId41"/>
    <p:sldId id="1174" r:id="rId42"/>
    <p:sldId id="1175" r:id="rId43"/>
    <p:sldId id="1176" r:id="rId44"/>
    <p:sldId id="1177" r:id="rId45"/>
    <p:sldId id="1178" r:id="rId46"/>
    <p:sldId id="1179" r:id="rId47"/>
    <p:sldId id="541" r:id="rId48"/>
    <p:sldId id="542" r:id="rId49"/>
    <p:sldId id="468" r:id="rId50"/>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iongjie" initials="x"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FE09D6"/>
    <a:srgbClr val="1318F3"/>
    <a:srgbClr val="007F00"/>
    <a:srgbClr val="9B9300"/>
    <a:srgbClr val="02115E"/>
    <a:srgbClr val="FE1CD6"/>
    <a:srgbClr val="070707"/>
    <a:srgbClr val="FF9900"/>
    <a:srgbClr val="92D0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71" d="100"/>
          <a:sy n="71" d="100"/>
        </p:scale>
        <p:origin x="-756" y="-90"/>
      </p:cViewPr>
      <p:guideLst>
        <p:guide orient="horz" pos="2400"/>
        <p:guide pos="2852"/>
      </p:guideLst>
    </p:cSldViewPr>
  </p:slideViewPr>
  <p:notesTextViewPr>
    <p:cViewPr>
      <p:scale>
        <a:sx n="100" d="100"/>
        <a:sy n="100" d="100"/>
      </p:scale>
      <p:origin x="0" y="0"/>
    </p:cViewPr>
  </p:notesTextViewPr>
  <p:sorterViewPr showFormatting="0">
    <p:cViewPr>
      <p:scale>
        <a:sx n="66" d="100"/>
        <a:sy n="66" d="100"/>
      </p:scale>
      <p:origin x="0" y="696"/>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6" Type="http://schemas.openxmlformats.org/officeDocument/2006/relationships/commentAuthors" Target="commentAuthors.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notesMaster" Target="notesMasters/notesMaster1.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22.wmf"/><Relationship Id="rId4" Type="http://schemas.openxmlformats.org/officeDocument/2006/relationships/image" Target="../media/image21.wmf"/><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46.wmf"/><Relationship Id="rId7" Type="http://schemas.openxmlformats.org/officeDocument/2006/relationships/image" Target="../media/image45.wmf"/><Relationship Id="rId6" Type="http://schemas.openxmlformats.org/officeDocument/2006/relationships/image" Target="../media/image44.wmf"/><Relationship Id="rId5" Type="http://schemas.openxmlformats.org/officeDocument/2006/relationships/image" Target="../media/image43.wmf"/><Relationship Id="rId4" Type="http://schemas.openxmlformats.org/officeDocument/2006/relationships/image" Target="../media/image42.wmf"/><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7.vml.rels><?xml version="1.0" encoding="UTF-8" standalone="yes"?>
<Relationships xmlns="http://schemas.openxmlformats.org/package/2006/relationships"><Relationship Id="rId4" Type="http://schemas.openxmlformats.org/officeDocument/2006/relationships/image" Target="../media/image51.wmf"/><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D4CE3B78-4C24-40AA-B3C7-9D99C1C50DA8}"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ea typeface="+mn-ea"/>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EBB3A8F-C92E-4D35-9C30-EEB82B447B3F}"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1" Type="http://schemas.openxmlformats.org/officeDocument/2006/relationships/image" Target="../media/image10.png"/><Relationship Id="rId10" Type="http://schemas.openxmlformats.org/officeDocument/2006/relationships/image" Target="../media/image9.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8" name="Rectangle 127"/>
          <p:cNvSpPr>
            <a:spLocks noChangeArrowheads="1"/>
          </p:cNvSpPr>
          <p:nvPr/>
        </p:nvSpPr>
        <p:spPr bwMode="gray">
          <a:xfrm>
            <a:off x="0" y="0"/>
            <a:ext cx="9144000" cy="18288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2051" name="Group 15"/>
          <p:cNvGrpSpPr/>
          <p:nvPr/>
        </p:nvGrpSpPr>
        <p:grpSpPr>
          <a:xfrm>
            <a:off x="152400" y="381000"/>
            <a:ext cx="6838950" cy="3365500"/>
            <a:chOff x="664" y="1951"/>
            <a:chExt cx="4308" cy="2120"/>
          </a:xfrm>
        </p:grpSpPr>
        <p:sp>
          <p:nvSpPr>
            <p:cNvPr id="2066" name="Freeform 16"/>
            <p:cNvSpPr/>
            <p:nvPr/>
          </p:nvSpPr>
          <p:spPr>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w="12700">
              <a:noFill/>
            </a:ln>
          </p:spPr>
          <p:txBody>
            <a:bodyPr/>
            <a:p>
              <a:endParaRPr lang="zh-CN" altLang="en-US"/>
            </a:p>
          </p:txBody>
        </p:sp>
        <p:sp>
          <p:nvSpPr>
            <p:cNvPr id="2067" name="Freeform 17"/>
            <p:cNvSpPr/>
            <p:nvPr/>
          </p:nvSpPr>
          <p:spPr>
            <a:xfrm>
              <a:off x="703" y="2230"/>
              <a:ext cx="34" cy="28"/>
            </a:xfrm>
            <a:custGeom>
              <a:avLst/>
              <a:gdLst/>
              <a:ahLst/>
              <a:cxnLst>
                <a:cxn ang="0">
                  <a:pos x="16" y="4"/>
                </a:cxn>
                <a:cxn ang="0">
                  <a:pos x="0" y="22"/>
                </a:cxn>
                <a:cxn ang="0">
                  <a:pos x="22" y="38"/>
                </a:cxn>
                <a:cxn ang="0">
                  <a:pos x="46" y="26"/>
                </a:cxn>
                <a:cxn ang="0">
                  <a:pos x="30" y="0"/>
                </a:cxn>
                <a:cxn ang="0">
                  <a:pos x="16" y="4"/>
                </a:cxn>
              </a:cxnLst>
              <a:pathLst>
                <a:path w="46" h="38">
                  <a:moveTo>
                    <a:pt x="16" y="4"/>
                  </a:moveTo>
                  <a:lnTo>
                    <a:pt x="0" y="22"/>
                  </a:lnTo>
                  <a:lnTo>
                    <a:pt x="22" y="38"/>
                  </a:lnTo>
                  <a:lnTo>
                    <a:pt x="46" y="26"/>
                  </a:lnTo>
                  <a:lnTo>
                    <a:pt x="30" y="0"/>
                  </a:lnTo>
                  <a:lnTo>
                    <a:pt x="16" y="4"/>
                  </a:lnTo>
                  <a:close/>
                </a:path>
              </a:pathLst>
            </a:custGeom>
            <a:solidFill>
              <a:srgbClr val="FEFEFE">
                <a:alpha val="30196"/>
              </a:srgbClr>
            </a:solidFill>
            <a:ln w="12700">
              <a:noFill/>
            </a:ln>
          </p:spPr>
          <p:txBody>
            <a:bodyPr/>
            <a:p>
              <a:endParaRPr lang="zh-CN" altLang="en-US"/>
            </a:p>
          </p:txBody>
        </p:sp>
        <p:sp>
          <p:nvSpPr>
            <p:cNvPr id="2068" name="Freeform 18"/>
            <p:cNvSpPr/>
            <p:nvPr/>
          </p:nvSpPr>
          <p:spPr>
            <a:xfrm>
              <a:off x="1010" y="2353"/>
              <a:ext cx="39" cy="32"/>
            </a:xfrm>
            <a:custGeom>
              <a:avLst/>
              <a:gdLst/>
              <a:ahLst/>
              <a:cxnLst>
                <a:cxn ang="0">
                  <a:pos x="12" y="0"/>
                </a:cxn>
                <a:cxn ang="0">
                  <a:pos x="26" y="44"/>
                </a:cxn>
                <a:cxn ang="0">
                  <a:pos x="42" y="42"/>
                </a:cxn>
                <a:cxn ang="0">
                  <a:pos x="38" y="16"/>
                </a:cxn>
                <a:cxn ang="0">
                  <a:pos x="26" y="2"/>
                </a:cxn>
                <a:cxn ang="0">
                  <a:pos x="12" y="0"/>
                </a:cxn>
              </a:cxnLst>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w="12700">
              <a:noFill/>
            </a:ln>
          </p:spPr>
          <p:txBody>
            <a:bodyPr/>
            <a:p>
              <a:endParaRPr lang="zh-CN" altLang="en-US"/>
            </a:p>
          </p:txBody>
        </p:sp>
        <p:sp>
          <p:nvSpPr>
            <p:cNvPr id="2069" name="Freeform 19"/>
            <p:cNvSpPr/>
            <p:nvPr/>
          </p:nvSpPr>
          <p:spPr>
            <a:xfrm>
              <a:off x="1792" y="2409"/>
              <a:ext cx="98" cy="74"/>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w="12700">
              <a:noFill/>
            </a:ln>
          </p:spPr>
          <p:txBody>
            <a:bodyPr/>
            <a:p>
              <a:endParaRPr lang="zh-CN" altLang="en-US"/>
            </a:p>
          </p:txBody>
        </p:sp>
        <p:sp>
          <p:nvSpPr>
            <p:cNvPr id="2070" name="Freeform 20"/>
            <p:cNvSpPr/>
            <p:nvPr/>
          </p:nvSpPr>
          <p:spPr>
            <a:xfrm>
              <a:off x="1318" y="2793"/>
              <a:ext cx="158" cy="84"/>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w="12700">
              <a:noFill/>
            </a:ln>
          </p:spPr>
          <p:txBody>
            <a:bodyPr/>
            <a:p>
              <a:endParaRPr lang="zh-CN" altLang="en-US"/>
            </a:p>
          </p:txBody>
        </p:sp>
        <p:sp>
          <p:nvSpPr>
            <p:cNvPr id="2071" name="Freeform 21"/>
            <p:cNvSpPr/>
            <p:nvPr/>
          </p:nvSpPr>
          <p:spPr>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w="12700">
              <a:noFill/>
            </a:ln>
          </p:spPr>
          <p:txBody>
            <a:bodyPr/>
            <a:p>
              <a:endParaRPr lang="zh-CN" altLang="en-US"/>
            </a:p>
          </p:txBody>
        </p:sp>
        <p:sp>
          <p:nvSpPr>
            <p:cNvPr id="2072" name="Freeform 22"/>
            <p:cNvSpPr/>
            <p:nvPr/>
          </p:nvSpPr>
          <p:spPr>
            <a:xfrm>
              <a:off x="1553" y="2883"/>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73" name="Freeform 23"/>
            <p:cNvSpPr/>
            <p:nvPr/>
          </p:nvSpPr>
          <p:spPr>
            <a:xfrm>
              <a:off x="1609" y="2886"/>
              <a:ext cx="12" cy="25"/>
            </a:xfrm>
            <a:custGeom>
              <a:avLst/>
              <a:gdLst/>
              <a:ahLst/>
              <a:cxnLst>
                <a:cxn ang="0">
                  <a:pos x="14" y="0"/>
                </a:cxn>
                <a:cxn ang="0">
                  <a:pos x="0" y="14"/>
                </a:cxn>
                <a:cxn ang="0">
                  <a:pos x="16" y="34"/>
                </a:cxn>
                <a:cxn ang="0">
                  <a:pos x="12" y="18"/>
                </a:cxn>
                <a:cxn ang="0">
                  <a:pos x="16" y="6"/>
                </a:cxn>
                <a:cxn ang="0">
                  <a:pos x="14" y="0"/>
                </a:cxn>
              </a:cxnLst>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w="12700">
              <a:noFill/>
            </a:ln>
          </p:spPr>
          <p:txBody>
            <a:bodyPr/>
            <a:p>
              <a:endParaRPr lang="zh-CN" altLang="en-US"/>
            </a:p>
          </p:txBody>
        </p:sp>
        <p:sp>
          <p:nvSpPr>
            <p:cNvPr id="2074" name="Freeform 24"/>
            <p:cNvSpPr/>
            <p:nvPr/>
          </p:nvSpPr>
          <p:spPr>
            <a:xfrm>
              <a:off x="1426" y="2040"/>
              <a:ext cx="180" cy="88"/>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w="12700">
              <a:noFill/>
            </a:ln>
          </p:spPr>
          <p:txBody>
            <a:bodyPr/>
            <a:p>
              <a:endParaRPr lang="zh-CN" altLang="en-US"/>
            </a:p>
          </p:txBody>
        </p:sp>
        <p:sp>
          <p:nvSpPr>
            <p:cNvPr id="2075" name="Freeform 25"/>
            <p:cNvSpPr/>
            <p:nvPr/>
          </p:nvSpPr>
          <p:spPr>
            <a:xfrm>
              <a:off x="1506" y="1999"/>
              <a:ext cx="146" cy="60"/>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w="12700">
              <a:noFill/>
            </a:ln>
          </p:spPr>
          <p:txBody>
            <a:bodyPr/>
            <a:p>
              <a:endParaRPr lang="zh-CN" altLang="en-US"/>
            </a:p>
          </p:txBody>
        </p:sp>
        <p:sp>
          <p:nvSpPr>
            <p:cNvPr id="2076" name="Freeform 26"/>
            <p:cNvSpPr/>
            <p:nvPr/>
          </p:nvSpPr>
          <p:spPr>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w="12700">
              <a:noFill/>
            </a:ln>
          </p:spPr>
          <p:txBody>
            <a:bodyPr/>
            <a:p>
              <a:endParaRPr lang="zh-CN" altLang="en-US"/>
            </a:p>
          </p:txBody>
        </p:sp>
        <p:sp>
          <p:nvSpPr>
            <p:cNvPr id="2077" name="Freeform 27"/>
            <p:cNvSpPr/>
            <p:nvPr/>
          </p:nvSpPr>
          <p:spPr>
            <a:xfrm>
              <a:off x="1709" y="1987"/>
              <a:ext cx="44" cy="37"/>
            </a:xfrm>
            <a:custGeom>
              <a:avLst/>
              <a:gdLst/>
              <a:ahLst/>
              <a:cxnLst>
                <a:cxn ang="0">
                  <a:pos x="26" y="0"/>
                </a:cxn>
                <a:cxn ang="0">
                  <a:pos x="0" y="10"/>
                </a:cxn>
                <a:cxn ang="0">
                  <a:pos x="30" y="40"/>
                </a:cxn>
                <a:cxn ang="0">
                  <a:pos x="48" y="50"/>
                </a:cxn>
                <a:cxn ang="0">
                  <a:pos x="58" y="28"/>
                </a:cxn>
                <a:cxn ang="0">
                  <a:pos x="44" y="8"/>
                </a:cxn>
                <a:cxn ang="0">
                  <a:pos x="26" y="0"/>
                </a:cxn>
              </a:cxnLst>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w="12700">
              <a:noFill/>
            </a:ln>
          </p:spPr>
          <p:txBody>
            <a:bodyPr/>
            <a:p>
              <a:endParaRPr lang="zh-CN" altLang="en-US"/>
            </a:p>
          </p:txBody>
        </p:sp>
        <p:sp>
          <p:nvSpPr>
            <p:cNvPr id="2078" name="Freeform 28"/>
            <p:cNvSpPr/>
            <p:nvPr/>
          </p:nvSpPr>
          <p:spPr>
            <a:xfrm>
              <a:off x="1625" y="2057"/>
              <a:ext cx="65" cy="42"/>
            </a:xfrm>
            <a:custGeom>
              <a:avLst/>
              <a:gdLst/>
              <a:ahLst/>
              <a:cxnLst>
                <a:cxn ang="0">
                  <a:pos x="44" y="7"/>
                </a:cxn>
                <a:cxn ang="0">
                  <a:pos x="24" y="25"/>
                </a:cxn>
                <a:cxn ang="0">
                  <a:pos x="4" y="27"/>
                </a:cxn>
                <a:cxn ang="0">
                  <a:pos x="16" y="57"/>
                </a:cxn>
                <a:cxn ang="0">
                  <a:pos x="74" y="35"/>
                </a:cxn>
                <a:cxn ang="0">
                  <a:pos x="86" y="17"/>
                </a:cxn>
                <a:cxn ang="0">
                  <a:pos x="56" y="7"/>
                </a:cxn>
                <a:cxn ang="0">
                  <a:pos x="44" y="7"/>
                </a:cxn>
              </a:cxnLst>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w="12700">
              <a:noFill/>
            </a:ln>
          </p:spPr>
          <p:txBody>
            <a:bodyPr/>
            <a:p>
              <a:endParaRPr lang="zh-CN" altLang="en-US"/>
            </a:p>
          </p:txBody>
        </p:sp>
        <p:sp>
          <p:nvSpPr>
            <p:cNvPr id="2079" name="Freeform 29"/>
            <p:cNvSpPr/>
            <p:nvPr/>
          </p:nvSpPr>
          <p:spPr>
            <a:xfrm>
              <a:off x="1693" y="2065"/>
              <a:ext cx="54" cy="25"/>
            </a:xfrm>
            <a:custGeom>
              <a:avLst/>
              <a:gdLst/>
              <a:ahLst/>
              <a:cxnLst>
                <a:cxn ang="0">
                  <a:pos x="40" y="0"/>
                </a:cxn>
                <a:cxn ang="0">
                  <a:pos x="10" y="16"/>
                </a:cxn>
                <a:cxn ang="0">
                  <a:pos x="24" y="34"/>
                </a:cxn>
                <a:cxn ang="0">
                  <a:pos x="52" y="28"/>
                </a:cxn>
                <a:cxn ang="0">
                  <a:pos x="64" y="20"/>
                </a:cxn>
                <a:cxn ang="0">
                  <a:pos x="40" y="0"/>
                </a:cxn>
              </a:cxnLst>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w="12700">
              <a:noFill/>
            </a:ln>
          </p:spPr>
          <p:txBody>
            <a:bodyPr/>
            <a:p>
              <a:endParaRPr lang="zh-CN" altLang="en-US"/>
            </a:p>
          </p:txBody>
        </p:sp>
        <p:sp>
          <p:nvSpPr>
            <p:cNvPr id="2080" name="Freeform 30"/>
            <p:cNvSpPr/>
            <p:nvPr/>
          </p:nvSpPr>
          <p:spPr>
            <a:xfrm>
              <a:off x="1664" y="2029"/>
              <a:ext cx="64" cy="34"/>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w="12700">
              <a:noFill/>
            </a:ln>
          </p:spPr>
          <p:txBody>
            <a:bodyPr/>
            <a:p>
              <a:endParaRPr lang="zh-CN" altLang="en-US"/>
            </a:p>
          </p:txBody>
        </p:sp>
        <p:sp>
          <p:nvSpPr>
            <p:cNvPr id="2081" name="Freeform 31"/>
            <p:cNvSpPr/>
            <p:nvPr/>
          </p:nvSpPr>
          <p:spPr>
            <a:xfrm>
              <a:off x="1637" y="1997"/>
              <a:ext cx="44" cy="24"/>
            </a:xfrm>
            <a:custGeom>
              <a:avLst/>
              <a:gdLst/>
              <a:ahLst/>
              <a:cxnLst>
                <a:cxn ang="0">
                  <a:pos x="16" y="4"/>
                </a:cxn>
                <a:cxn ang="0">
                  <a:pos x="0" y="18"/>
                </a:cxn>
                <a:cxn ang="0">
                  <a:pos x="20" y="28"/>
                </a:cxn>
                <a:cxn ang="0">
                  <a:pos x="28" y="20"/>
                </a:cxn>
                <a:cxn ang="0">
                  <a:pos x="52" y="12"/>
                </a:cxn>
                <a:cxn ang="0">
                  <a:pos x="44" y="0"/>
                </a:cxn>
                <a:cxn ang="0">
                  <a:pos x="16" y="4"/>
                </a:cxn>
              </a:cxnLst>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w="12700">
              <a:noFill/>
            </a:ln>
          </p:spPr>
          <p:txBody>
            <a:bodyPr/>
            <a:p>
              <a:endParaRPr lang="zh-CN" altLang="en-US"/>
            </a:p>
          </p:txBody>
        </p:sp>
        <p:sp>
          <p:nvSpPr>
            <p:cNvPr id="2082" name="Freeform 32"/>
            <p:cNvSpPr/>
            <p:nvPr/>
          </p:nvSpPr>
          <p:spPr>
            <a:xfrm>
              <a:off x="1751" y="2000"/>
              <a:ext cx="114" cy="77"/>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w="12700">
              <a:noFill/>
            </a:ln>
          </p:spPr>
          <p:txBody>
            <a:bodyPr/>
            <a:p>
              <a:endParaRPr lang="zh-CN" altLang="en-US"/>
            </a:p>
          </p:txBody>
        </p:sp>
        <p:sp>
          <p:nvSpPr>
            <p:cNvPr id="2083" name="Freeform 33"/>
            <p:cNvSpPr/>
            <p:nvPr/>
          </p:nvSpPr>
          <p:spPr>
            <a:xfrm>
              <a:off x="664" y="2245"/>
              <a:ext cx="25" cy="15"/>
            </a:xfrm>
            <a:custGeom>
              <a:avLst/>
              <a:gdLst/>
              <a:ahLst/>
              <a:cxnLst>
                <a:cxn ang="0">
                  <a:pos x="34" y="0"/>
                </a:cxn>
                <a:cxn ang="0">
                  <a:pos x="24" y="20"/>
                </a:cxn>
                <a:cxn ang="0">
                  <a:pos x="4" y="18"/>
                </a:cxn>
                <a:cxn ang="0">
                  <a:pos x="4" y="6"/>
                </a:cxn>
                <a:cxn ang="0">
                  <a:pos x="34" y="0"/>
                </a:cxn>
              </a:cxnLst>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w="12700">
              <a:noFill/>
            </a:ln>
          </p:spPr>
          <p:txBody>
            <a:bodyPr/>
            <a:p>
              <a:endParaRPr lang="zh-CN" altLang="en-US"/>
            </a:p>
          </p:txBody>
        </p:sp>
        <p:sp>
          <p:nvSpPr>
            <p:cNvPr id="2084" name="Freeform 34"/>
            <p:cNvSpPr/>
            <p:nvPr/>
          </p:nvSpPr>
          <p:spPr>
            <a:xfrm>
              <a:off x="1421" y="2756"/>
              <a:ext cx="16"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5" name="Freeform 35"/>
            <p:cNvSpPr/>
            <p:nvPr/>
          </p:nvSpPr>
          <p:spPr>
            <a:xfrm>
              <a:off x="1424" y="2781"/>
              <a:ext cx="16"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6" name="Freeform 36"/>
            <p:cNvSpPr/>
            <p:nvPr/>
          </p:nvSpPr>
          <p:spPr>
            <a:xfrm>
              <a:off x="1628" y="2913"/>
              <a:ext cx="15"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7" name="Freeform 37"/>
            <p:cNvSpPr/>
            <p:nvPr/>
          </p:nvSpPr>
          <p:spPr>
            <a:xfrm>
              <a:off x="1752" y="2429"/>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88" name="Freeform 38"/>
            <p:cNvSpPr/>
            <p:nvPr/>
          </p:nvSpPr>
          <p:spPr>
            <a:xfrm>
              <a:off x="1652" y="2224"/>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89" name="Freeform 39"/>
            <p:cNvSpPr/>
            <p:nvPr/>
          </p:nvSpPr>
          <p:spPr>
            <a:xfrm>
              <a:off x="1717" y="2045"/>
              <a:ext cx="39"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90" name="Freeform 40"/>
            <p:cNvSpPr/>
            <p:nvPr/>
          </p:nvSpPr>
          <p:spPr>
            <a:xfrm>
              <a:off x="1780" y="2153"/>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91" name="Freeform 41"/>
            <p:cNvSpPr/>
            <p:nvPr/>
          </p:nvSpPr>
          <p:spPr>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w="12700">
              <a:noFill/>
            </a:ln>
          </p:spPr>
          <p:txBody>
            <a:bodyPr/>
            <a:p>
              <a:endParaRPr lang="zh-CN" altLang="en-US"/>
            </a:p>
          </p:txBody>
        </p:sp>
        <p:sp>
          <p:nvSpPr>
            <p:cNvPr id="2092" name="Freeform 42"/>
            <p:cNvSpPr/>
            <p:nvPr/>
          </p:nvSpPr>
          <p:spPr>
            <a:xfrm>
              <a:off x="2009" y="2135"/>
              <a:ext cx="39" cy="24"/>
            </a:xfrm>
            <a:custGeom>
              <a:avLst/>
              <a:gdLst/>
              <a:ahLst/>
              <a:cxnLst>
                <a:cxn ang="0">
                  <a:pos x="34" y="0"/>
                </a:cxn>
                <a:cxn ang="0">
                  <a:pos x="8" y="20"/>
                </a:cxn>
                <a:cxn ang="0">
                  <a:pos x="24" y="32"/>
                </a:cxn>
                <a:cxn ang="0">
                  <a:pos x="42" y="30"/>
                </a:cxn>
                <a:cxn ang="0">
                  <a:pos x="34" y="0"/>
                </a:cxn>
              </a:cxnLst>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w="12700">
              <a:noFill/>
            </a:ln>
          </p:spPr>
          <p:txBody>
            <a:bodyPr/>
            <a:p>
              <a:endParaRPr lang="zh-CN" altLang="en-US"/>
            </a:p>
          </p:txBody>
        </p:sp>
        <p:sp>
          <p:nvSpPr>
            <p:cNvPr id="2093" name="Freeform 43"/>
            <p:cNvSpPr/>
            <p:nvPr/>
          </p:nvSpPr>
          <p:spPr>
            <a:xfrm>
              <a:off x="2292" y="2201"/>
              <a:ext cx="128"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w="12700">
              <a:noFill/>
            </a:ln>
          </p:spPr>
          <p:txBody>
            <a:bodyPr/>
            <a:p>
              <a:endParaRPr lang="zh-CN" altLang="en-US"/>
            </a:p>
          </p:txBody>
        </p:sp>
        <p:sp>
          <p:nvSpPr>
            <p:cNvPr id="2094" name="Freeform 44"/>
            <p:cNvSpPr/>
            <p:nvPr/>
          </p:nvSpPr>
          <p:spPr>
            <a:xfrm>
              <a:off x="2393" y="2038"/>
              <a:ext cx="39" cy="24"/>
            </a:xfrm>
            <a:custGeom>
              <a:avLst/>
              <a:gdLst/>
              <a:ahLst/>
              <a:cxnLst>
                <a:cxn ang="0">
                  <a:pos x="34" y="0"/>
                </a:cxn>
                <a:cxn ang="0">
                  <a:pos x="8" y="20"/>
                </a:cxn>
                <a:cxn ang="0">
                  <a:pos x="24" y="32"/>
                </a:cxn>
                <a:cxn ang="0">
                  <a:pos x="42" y="30"/>
                </a:cxn>
                <a:cxn ang="0">
                  <a:pos x="34" y="0"/>
                </a:cxn>
              </a:cxnLst>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w="12700">
              <a:noFill/>
            </a:ln>
          </p:spPr>
          <p:txBody>
            <a:bodyPr/>
            <a:p>
              <a:endParaRPr lang="zh-CN" altLang="en-US"/>
            </a:p>
          </p:txBody>
        </p:sp>
        <p:sp>
          <p:nvSpPr>
            <p:cNvPr id="2095" name="Freeform 45"/>
            <p:cNvSpPr/>
            <p:nvPr/>
          </p:nvSpPr>
          <p:spPr>
            <a:xfrm>
              <a:off x="2662" y="2006"/>
              <a:ext cx="155" cy="63"/>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w="12700">
              <a:noFill/>
            </a:ln>
          </p:spPr>
          <p:txBody>
            <a:bodyPr/>
            <a:p>
              <a:endParaRPr lang="zh-CN" altLang="en-US"/>
            </a:p>
          </p:txBody>
        </p:sp>
        <p:sp>
          <p:nvSpPr>
            <p:cNvPr id="2096" name="Freeform 46"/>
            <p:cNvSpPr/>
            <p:nvPr/>
          </p:nvSpPr>
          <p:spPr>
            <a:xfrm>
              <a:off x="2759" y="2039"/>
              <a:ext cx="48" cy="21"/>
            </a:xfrm>
            <a:custGeom>
              <a:avLst/>
              <a:gdLst/>
              <a:ahLst/>
              <a:cxnLst>
                <a:cxn ang="0">
                  <a:pos x="36" y="6"/>
                </a:cxn>
                <a:cxn ang="0">
                  <a:pos x="8" y="4"/>
                </a:cxn>
                <a:cxn ang="0">
                  <a:pos x="24" y="28"/>
                </a:cxn>
                <a:cxn ang="0">
                  <a:pos x="54" y="14"/>
                </a:cxn>
                <a:cxn ang="0">
                  <a:pos x="36" y="6"/>
                </a:cxn>
              </a:cxnLst>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w="12700">
              <a:noFill/>
            </a:ln>
          </p:spPr>
          <p:txBody>
            <a:bodyPr/>
            <a:p>
              <a:endParaRPr lang="zh-CN" altLang="en-US"/>
            </a:p>
          </p:txBody>
        </p:sp>
        <p:sp>
          <p:nvSpPr>
            <p:cNvPr id="2097" name="Freeform 47"/>
            <p:cNvSpPr/>
            <p:nvPr/>
          </p:nvSpPr>
          <p:spPr>
            <a:xfrm>
              <a:off x="2467" y="2311"/>
              <a:ext cx="109"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w="12700">
              <a:noFill/>
            </a:ln>
          </p:spPr>
          <p:txBody>
            <a:bodyPr/>
            <a:p>
              <a:endParaRPr lang="zh-CN" altLang="en-US"/>
            </a:p>
          </p:txBody>
        </p:sp>
        <p:sp>
          <p:nvSpPr>
            <p:cNvPr id="2098" name="Freeform 48"/>
            <p:cNvSpPr/>
            <p:nvPr/>
          </p:nvSpPr>
          <p:spPr>
            <a:xfrm>
              <a:off x="2413" y="2359"/>
              <a:ext cx="69" cy="68"/>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w="12700">
              <a:noFill/>
            </a:ln>
          </p:spPr>
          <p:txBody>
            <a:bodyPr/>
            <a:p>
              <a:endParaRPr lang="zh-CN" altLang="en-US"/>
            </a:p>
          </p:txBody>
        </p:sp>
        <p:sp>
          <p:nvSpPr>
            <p:cNvPr id="2099" name="Freeform 49"/>
            <p:cNvSpPr/>
            <p:nvPr/>
          </p:nvSpPr>
          <p:spPr>
            <a:xfrm>
              <a:off x="4099" y="3502"/>
              <a:ext cx="474" cy="495"/>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w="12700">
              <a:noFill/>
            </a:ln>
          </p:spPr>
          <p:txBody>
            <a:bodyPr/>
            <a:p>
              <a:endParaRPr lang="zh-CN" altLang="en-US"/>
            </a:p>
          </p:txBody>
        </p:sp>
        <p:sp>
          <p:nvSpPr>
            <p:cNvPr id="2100" name="Freeform 50"/>
            <p:cNvSpPr/>
            <p:nvPr/>
          </p:nvSpPr>
          <p:spPr>
            <a:xfrm>
              <a:off x="4246" y="3241"/>
              <a:ext cx="319" cy="210"/>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w="12700">
              <a:noFill/>
            </a:ln>
          </p:spPr>
          <p:txBody>
            <a:bodyPr/>
            <a:p>
              <a:endParaRPr lang="zh-CN" altLang="en-US"/>
            </a:p>
          </p:txBody>
        </p:sp>
        <p:sp>
          <p:nvSpPr>
            <p:cNvPr id="2101" name="Freeform 51"/>
            <p:cNvSpPr/>
            <p:nvPr/>
          </p:nvSpPr>
          <p:spPr>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w="12700">
              <a:noFill/>
            </a:ln>
          </p:spPr>
          <p:txBody>
            <a:bodyPr/>
            <a:p>
              <a:endParaRPr lang="zh-CN" altLang="en-US"/>
            </a:p>
          </p:txBody>
        </p:sp>
        <p:sp>
          <p:nvSpPr>
            <p:cNvPr id="2102" name="Freeform 52"/>
            <p:cNvSpPr/>
            <p:nvPr/>
          </p:nvSpPr>
          <p:spPr>
            <a:xfrm>
              <a:off x="4485" y="4013"/>
              <a:ext cx="45" cy="58"/>
            </a:xfrm>
            <a:custGeom>
              <a:avLst/>
              <a:gdLst/>
              <a:ahLst/>
              <a:cxnLst>
                <a:cxn ang="0">
                  <a:pos x="32" y="18"/>
                </a:cxn>
                <a:cxn ang="0">
                  <a:pos x="0" y="18"/>
                </a:cxn>
                <a:cxn ang="0">
                  <a:pos x="20" y="42"/>
                </a:cxn>
                <a:cxn ang="0">
                  <a:pos x="28" y="66"/>
                </a:cxn>
                <a:cxn ang="0">
                  <a:pos x="32" y="78"/>
                </a:cxn>
                <a:cxn ang="0">
                  <a:pos x="60" y="50"/>
                </a:cxn>
                <a:cxn ang="0">
                  <a:pos x="32" y="18"/>
                </a:cxn>
              </a:cxnLst>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w="12700">
              <a:noFill/>
            </a:ln>
          </p:spPr>
          <p:txBody>
            <a:bodyPr/>
            <a:p>
              <a:endParaRPr lang="zh-CN" altLang="en-US"/>
            </a:p>
          </p:txBody>
        </p:sp>
        <p:sp>
          <p:nvSpPr>
            <p:cNvPr id="2103" name="Freeform 53"/>
            <p:cNvSpPr/>
            <p:nvPr/>
          </p:nvSpPr>
          <p:spPr>
            <a:xfrm>
              <a:off x="4621" y="3923"/>
              <a:ext cx="164" cy="85"/>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w="12700">
              <a:noFill/>
            </a:ln>
          </p:spPr>
          <p:txBody>
            <a:bodyPr/>
            <a:p>
              <a:endParaRPr lang="zh-CN" altLang="en-US"/>
            </a:p>
          </p:txBody>
        </p:sp>
        <p:sp>
          <p:nvSpPr>
            <p:cNvPr id="2104" name="Freeform 54"/>
            <p:cNvSpPr/>
            <p:nvPr/>
          </p:nvSpPr>
          <p:spPr>
            <a:xfrm>
              <a:off x="4791" y="3873"/>
              <a:ext cx="104" cy="92"/>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w="12700">
              <a:noFill/>
            </a:ln>
          </p:spPr>
          <p:txBody>
            <a:bodyPr/>
            <a:p>
              <a:endParaRPr lang="zh-CN" altLang="en-US"/>
            </a:p>
          </p:txBody>
        </p:sp>
        <p:sp>
          <p:nvSpPr>
            <p:cNvPr id="2105" name="Freeform 55"/>
            <p:cNvSpPr/>
            <p:nvPr/>
          </p:nvSpPr>
          <p:spPr>
            <a:xfrm>
              <a:off x="4846" y="3832"/>
              <a:ext cx="37" cy="26"/>
            </a:xfrm>
            <a:custGeom>
              <a:avLst/>
              <a:gdLst/>
              <a:ahLst/>
              <a:cxnLst>
                <a:cxn ang="0">
                  <a:pos x="29" y="0"/>
                </a:cxn>
                <a:cxn ang="0">
                  <a:pos x="8" y="11"/>
                </a:cxn>
                <a:cxn ang="0">
                  <a:pos x="24" y="35"/>
                </a:cxn>
                <a:cxn ang="0">
                  <a:pos x="39" y="26"/>
                </a:cxn>
                <a:cxn ang="0">
                  <a:pos x="29" y="0"/>
                </a:cxn>
              </a:cxnLst>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w="12700">
              <a:noFill/>
            </a:ln>
          </p:spPr>
          <p:txBody>
            <a:bodyPr/>
            <a:p>
              <a:endParaRPr lang="zh-CN" altLang="en-US"/>
            </a:p>
          </p:txBody>
        </p:sp>
        <p:sp>
          <p:nvSpPr>
            <p:cNvPr id="2106" name="Freeform 56"/>
            <p:cNvSpPr/>
            <p:nvPr/>
          </p:nvSpPr>
          <p:spPr>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w="12700">
              <a:noFill/>
            </a:ln>
          </p:spPr>
          <p:txBody>
            <a:bodyPr/>
            <a:p>
              <a:endParaRPr lang="zh-CN" altLang="en-US"/>
            </a:p>
          </p:txBody>
        </p:sp>
        <p:sp>
          <p:nvSpPr>
            <p:cNvPr id="2107" name="Freeform 57"/>
            <p:cNvSpPr/>
            <p:nvPr/>
          </p:nvSpPr>
          <p:spPr>
            <a:xfrm>
              <a:off x="3655" y="3034"/>
              <a:ext cx="49" cy="61"/>
            </a:xfrm>
            <a:custGeom>
              <a:avLst/>
              <a:gdLst/>
              <a:ahLst/>
              <a:cxnLst>
                <a:cxn ang="0">
                  <a:pos x="29" y="0"/>
                </a:cxn>
                <a:cxn ang="0">
                  <a:pos x="25" y="60"/>
                </a:cxn>
                <a:cxn ang="0">
                  <a:pos x="29" y="76"/>
                </a:cxn>
                <a:cxn ang="0">
                  <a:pos x="41" y="80"/>
                </a:cxn>
                <a:cxn ang="0">
                  <a:pos x="57" y="76"/>
                </a:cxn>
                <a:cxn ang="0">
                  <a:pos x="29" y="0"/>
                </a:cxn>
              </a:cxnLst>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w="12700">
              <a:noFill/>
            </a:ln>
          </p:spPr>
          <p:txBody>
            <a:bodyPr/>
            <a:p>
              <a:endParaRPr lang="zh-CN" altLang="en-US"/>
            </a:p>
          </p:txBody>
        </p:sp>
        <p:sp>
          <p:nvSpPr>
            <p:cNvPr id="2108" name="Freeform 58"/>
            <p:cNvSpPr/>
            <p:nvPr/>
          </p:nvSpPr>
          <p:spPr>
            <a:xfrm>
              <a:off x="3988" y="3100"/>
              <a:ext cx="111" cy="183"/>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w="12700">
              <a:noFill/>
            </a:ln>
          </p:spPr>
          <p:txBody>
            <a:bodyPr/>
            <a:p>
              <a:endParaRPr lang="zh-CN" altLang="en-US"/>
            </a:p>
          </p:txBody>
        </p:sp>
        <p:sp>
          <p:nvSpPr>
            <p:cNvPr id="2109" name="Freeform 59"/>
            <p:cNvSpPr/>
            <p:nvPr/>
          </p:nvSpPr>
          <p:spPr>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w="12700">
              <a:noFill/>
            </a:ln>
          </p:spPr>
          <p:txBody>
            <a:bodyPr/>
            <a:p>
              <a:endParaRPr lang="zh-CN" altLang="en-US"/>
            </a:p>
          </p:txBody>
        </p:sp>
        <p:sp>
          <p:nvSpPr>
            <p:cNvPr id="2110" name="Freeform 60"/>
            <p:cNvSpPr/>
            <p:nvPr/>
          </p:nvSpPr>
          <p:spPr>
            <a:xfrm>
              <a:off x="3943" y="3153"/>
              <a:ext cx="40" cy="131"/>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w="12700">
              <a:noFill/>
            </a:ln>
          </p:spPr>
          <p:txBody>
            <a:bodyPr/>
            <a:p>
              <a:endParaRPr lang="zh-CN" altLang="en-US"/>
            </a:p>
          </p:txBody>
        </p:sp>
        <p:sp>
          <p:nvSpPr>
            <p:cNvPr id="2111" name="Freeform 61"/>
            <p:cNvSpPr/>
            <p:nvPr/>
          </p:nvSpPr>
          <p:spPr>
            <a:xfrm>
              <a:off x="3988" y="3290"/>
              <a:ext cx="65" cy="54"/>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w="12700">
              <a:noFill/>
            </a:ln>
          </p:spPr>
          <p:txBody>
            <a:bodyPr/>
            <a:p>
              <a:endParaRPr lang="zh-CN" altLang="en-US"/>
            </a:p>
          </p:txBody>
        </p:sp>
        <p:sp>
          <p:nvSpPr>
            <p:cNvPr id="2112" name="Freeform 62"/>
            <p:cNvSpPr/>
            <p:nvPr/>
          </p:nvSpPr>
          <p:spPr>
            <a:xfrm>
              <a:off x="4092" y="3195"/>
              <a:ext cx="83" cy="117"/>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w="12700">
              <a:noFill/>
            </a:ln>
          </p:spPr>
          <p:txBody>
            <a:bodyPr/>
            <a:p>
              <a:endParaRPr lang="zh-CN" altLang="en-US"/>
            </a:p>
          </p:txBody>
        </p:sp>
        <p:sp>
          <p:nvSpPr>
            <p:cNvPr id="2113" name="Freeform 63"/>
            <p:cNvSpPr/>
            <p:nvPr/>
          </p:nvSpPr>
          <p:spPr>
            <a:xfrm>
              <a:off x="4064" y="2777"/>
              <a:ext cx="22" cy="71"/>
            </a:xfrm>
            <a:custGeom>
              <a:avLst/>
              <a:gdLst/>
              <a:ahLst/>
              <a:cxnLst>
                <a:cxn ang="0">
                  <a:pos x="12" y="0"/>
                </a:cxn>
                <a:cxn ang="0">
                  <a:pos x="0" y="16"/>
                </a:cxn>
                <a:cxn ang="0">
                  <a:pos x="6" y="37"/>
                </a:cxn>
                <a:cxn ang="0">
                  <a:pos x="1" y="61"/>
                </a:cxn>
                <a:cxn ang="0">
                  <a:pos x="16" y="94"/>
                </a:cxn>
                <a:cxn ang="0">
                  <a:pos x="30" y="82"/>
                </a:cxn>
                <a:cxn ang="0">
                  <a:pos x="22" y="61"/>
                </a:cxn>
                <a:cxn ang="0">
                  <a:pos x="12" y="0"/>
                </a:cxn>
              </a:cxnLst>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w="12700">
              <a:noFill/>
            </a:ln>
          </p:spPr>
          <p:txBody>
            <a:bodyPr/>
            <a:p>
              <a:endParaRPr lang="zh-CN" altLang="en-US"/>
            </a:p>
          </p:txBody>
        </p:sp>
        <p:sp>
          <p:nvSpPr>
            <p:cNvPr id="2114" name="Freeform 64"/>
            <p:cNvSpPr/>
            <p:nvPr/>
          </p:nvSpPr>
          <p:spPr>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w="12700">
              <a:noFill/>
            </a:ln>
          </p:spPr>
          <p:txBody>
            <a:bodyPr/>
            <a:p>
              <a:endParaRPr lang="zh-CN" altLang="en-US"/>
            </a:p>
          </p:txBody>
        </p:sp>
        <p:sp>
          <p:nvSpPr>
            <p:cNvPr id="2115" name="Freeform 65"/>
            <p:cNvSpPr/>
            <p:nvPr/>
          </p:nvSpPr>
          <p:spPr>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w="12700">
              <a:noFill/>
            </a:ln>
          </p:spPr>
          <p:txBody>
            <a:bodyPr/>
            <a:p>
              <a:endParaRPr lang="zh-CN" altLang="en-US"/>
            </a:p>
          </p:txBody>
        </p:sp>
        <p:sp>
          <p:nvSpPr>
            <p:cNvPr id="2116" name="Freeform 66"/>
            <p:cNvSpPr/>
            <p:nvPr/>
          </p:nvSpPr>
          <p:spPr>
            <a:xfrm>
              <a:off x="4197" y="3193"/>
              <a:ext cx="29" cy="49"/>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w="12700">
              <a:noFill/>
            </a:ln>
          </p:spPr>
          <p:txBody>
            <a:bodyPr/>
            <a:p>
              <a:endParaRPr lang="zh-CN" altLang="en-US"/>
            </a:p>
          </p:txBody>
        </p:sp>
        <p:sp>
          <p:nvSpPr>
            <p:cNvPr id="2117" name="Freeform 67"/>
            <p:cNvSpPr/>
            <p:nvPr/>
          </p:nvSpPr>
          <p:spPr>
            <a:xfrm>
              <a:off x="4181" y="3275"/>
              <a:ext cx="18" cy="17"/>
            </a:xfrm>
            <a:custGeom>
              <a:avLst/>
              <a:gdLst/>
              <a:ahLst/>
              <a:cxnLst>
                <a:cxn ang="0">
                  <a:pos x="0" y="0"/>
                </a:cxn>
                <a:cxn ang="0">
                  <a:pos x="6" y="23"/>
                </a:cxn>
                <a:cxn ang="0">
                  <a:pos x="24" y="11"/>
                </a:cxn>
                <a:cxn ang="0">
                  <a:pos x="0" y="0"/>
                </a:cxn>
              </a:cxnLst>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w="12700">
              <a:noFill/>
            </a:ln>
          </p:spPr>
          <p:txBody>
            <a:bodyPr/>
            <a:p>
              <a:endParaRPr lang="zh-CN" altLang="en-US"/>
            </a:p>
          </p:txBody>
        </p:sp>
        <p:sp>
          <p:nvSpPr>
            <p:cNvPr id="2118" name="Freeform 68"/>
            <p:cNvSpPr/>
            <p:nvPr/>
          </p:nvSpPr>
          <p:spPr>
            <a:xfrm>
              <a:off x="4208" y="3265"/>
              <a:ext cx="45" cy="37"/>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w="12700">
              <a:noFill/>
            </a:ln>
          </p:spPr>
          <p:txBody>
            <a:bodyPr/>
            <a:p>
              <a:endParaRPr lang="zh-CN" altLang="en-US"/>
            </a:p>
          </p:txBody>
        </p:sp>
        <p:sp>
          <p:nvSpPr>
            <p:cNvPr id="2119" name="Freeform 69"/>
            <p:cNvSpPr/>
            <p:nvPr/>
          </p:nvSpPr>
          <p:spPr>
            <a:xfrm>
              <a:off x="4277" y="3335"/>
              <a:ext cx="24" cy="33"/>
            </a:xfrm>
            <a:custGeom>
              <a:avLst/>
              <a:gdLst/>
              <a:ahLst/>
              <a:cxnLst>
                <a:cxn ang="0">
                  <a:pos x="28" y="0"/>
                </a:cxn>
                <a:cxn ang="0">
                  <a:pos x="10" y="11"/>
                </a:cxn>
                <a:cxn ang="0">
                  <a:pos x="12" y="32"/>
                </a:cxn>
                <a:cxn ang="0">
                  <a:pos x="24" y="36"/>
                </a:cxn>
                <a:cxn ang="0">
                  <a:pos x="28" y="0"/>
                </a:cxn>
              </a:cxnLst>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w="12700">
              <a:noFill/>
            </a:ln>
          </p:spPr>
          <p:txBody>
            <a:bodyPr/>
            <a:p>
              <a:endParaRPr lang="zh-CN" altLang="en-US"/>
            </a:p>
          </p:txBody>
        </p:sp>
        <p:sp>
          <p:nvSpPr>
            <p:cNvPr id="2120" name="Freeform 70"/>
            <p:cNvSpPr/>
            <p:nvPr/>
          </p:nvSpPr>
          <p:spPr>
            <a:xfrm>
              <a:off x="4544" y="3293"/>
              <a:ext cx="46" cy="47"/>
            </a:xfrm>
            <a:custGeom>
              <a:avLst/>
              <a:gdLst/>
              <a:ahLst/>
              <a:cxnLst>
                <a:cxn ang="0">
                  <a:pos x="7" y="0"/>
                </a:cxn>
                <a:cxn ang="0">
                  <a:pos x="0" y="14"/>
                </a:cxn>
                <a:cxn ang="0">
                  <a:pos x="24" y="35"/>
                </a:cxn>
                <a:cxn ang="0">
                  <a:pos x="36" y="54"/>
                </a:cxn>
                <a:cxn ang="0">
                  <a:pos x="46" y="63"/>
                </a:cxn>
                <a:cxn ang="0">
                  <a:pos x="61" y="56"/>
                </a:cxn>
                <a:cxn ang="0">
                  <a:pos x="33" y="17"/>
                </a:cxn>
                <a:cxn ang="0">
                  <a:pos x="7" y="0"/>
                </a:cxn>
              </a:cxnLst>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w="12700">
              <a:noFill/>
            </a:ln>
          </p:spPr>
          <p:txBody>
            <a:bodyPr/>
            <a:p>
              <a:endParaRPr lang="zh-CN" altLang="en-US"/>
            </a:p>
          </p:txBody>
        </p:sp>
        <p:sp>
          <p:nvSpPr>
            <p:cNvPr id="2121" name="Freeform 71"/>
            <p:cNvSpPr/>
            <p:nvPr/>
          </p:nvSpPr>
          <p:spPr>
            <a:xfrm>
              <a:off x="4147" y="3352"/>
              <a:ext cx="46" cy="50"/>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w="12700">
              <a:noFill/>
            </a:ln>
          </p:spPr>
          <p:txBody>
            <a:bodyPr/>
            <a:p>
              <a:endParaRPr lang="zh-CN" altLang="en-US"/>
            </a:p>
          </p:txBody>
        </p:sp>
        <p:sp>
          <p:nvSpPr>
            <p:cNvPr id="2122" name="Freeform 72"/>
            <p:cNvSpPr/>
            <p:nvPr/>
          </p:nvSpPr>
          <p:spPr>
            <a:xfrm>
              <a:off x="4098" y="3371"/>
              <a:ext cx="32" cy="27"/>
            </a:xfrm>
            <a:custGeom>
              <a:avLst/>
              <a:gdLst/>
              <a:ahLst/>
              <a:cxnLst>
                <a:cxn ang="0">
                  <a:pos x="21" y="3"/>
                </a:cxn>
                <a:cxn ang="0">
                  <a:pos x="6" y="6"/>
                </a:cxn>
                <a:cxn ang="0">
                  <a:pos x="33" y="36"/>
                </a:cxn>
                <a:cxn ang="0">
                  <a:pos x="42" y="30"/>
                </a:cxn>
                <a:cxn ang="0">
                  <a:pos x="21" y="3"/>
                </a:cxn>
              </a:cxnLst>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w="12700">
              <a:noFill/>
            </a:ln>
          </p:spPr>
          <p:txBody>
            <a:bodyPr/>
            <a:p>
              <a:endParaRPr lang="zh-CN" altLang="en-US"/>
            </a:p>
          </p:txBody>
        </p:sp>
        <p:sp>
          <p:nvSpPr>
            <p:cNvPr id="2123" name="Freeform 73"/>
            <p:cNvSpPr/>
            <p:nvPr/>
          </p:nvSpPr>
          <p:spPr>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w="12700">
              <a:noFill/>
            </a:ln>
          </p:spPr>
          <p:txBody>
            <a:bodyPr/>
            <a:p>
              <a:endParaRPr lang="zh-CN" altLang="en-US"/>
            </a:p>
          </p:txBody>
        </p:sp>
        <p:sp>
          <p:nvSpPr>
            <p:cNvPr id="2124" name="Freeform 74"/>
            <p:cNvSpPr/>
            <p:nvPr/>
          </p:nvSpPr>
          <p:spPr>
            <a:xfrm>
              <a:off x="4111" y="3353"/>
              <a:ext cx="34" cy="24"/>
            </a:xfrm>
            <a:custGeom>
              <a:avLst/>
              <a:gdLst/>
              <a:ahLst/>
              <a:cxnLst>
                <a:cxn ang="0">
                  <a:pos x="21" y="0"/>
                </a:cxn>
                <a:cxn ang="0">
                  <a:pos x="0" y="7"/>
                </a:cxn>
                <a:cxn ang="0">
                  <a:pos x="27" y="31"/>
                </a:cxn>
                <a:cxn ang="0">
                  <a:pos x="45" y="24"/>
                </a:cxn>
                <a:cxn ang="0">
                  <a:pos x="22" y="10"/>
                </a:cxn>
                <a:cxn ang="0">
                  <a:pos x="21" y="0"/>
                </a:cxn>
              </a:cxnLst>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w="12700">
              <a:noFill/>
            </a:ln>
          </p:spPr>
          <p:txBody>
            <a:bodyPr/>
            <a:p>
              <a:endParaRPr lang="zh-CN" altLang="en-US"/>
            </a:p>
          </p:txBody>
        </p:sp>
        <p:sp>
          <p:nvSpPr>
            <p:cNvPr id="2125" name="Freeform 75"/>
            <p:cNvSpPr/>
            <p:nvPr/>
          </p:nvSpPr>
          <p:spPr>
            <a:xfrm>
              <a:off x="4062" y="3021"/>
              <a:ext cx="27" cy="55"/>
            </a:xfrm>
            <a:custGeom>
              <a:avLst/>
              <a:gdLst/>
              <a:ahLst/>
              <a:cxnLst>
                <a:cxn ang="0">
                  <a:pos x="30" y="0"/>
                </a:cxn>
                <a:cxn ang="0">
                  <a:pos x="21" y="15"/>
                </a:cxn>
                <a:cxn ang="0">
                  <a:pos x="9" y="36"/>
                </a:cxn>
                <a:cxn ang="0">
                  <a:pos x="0" y="59"/>
                </a:cxn>
                <a:cxn ang="0">
                  <a:pos x="8" y="74"/>
                </a:cxn>
                <a:cxn ang="0">
                  <a:pos x="20" y="59"/>
                </a:cxn>
                <a:cxn ang="0">
                  <a:pos x="35" y="32"/>
                </a:cxn>
                <a:cxn ang="0">
                  <a:pos x="30" y="0"/>
                </a:cxn>
              </a:cxnLst>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w="12700">
              <a:noFill/>
            </a:ln>
          </p:spPr>
          <p:txBody>
            <a:bodyPr/>
            <a:p>
              <a:endParaRPr lang="zh-CN" altLang="en-US"/>
            </a:p>
          </p:txBody>
        </p:sp>
        <p:sp>
          <p:nvSpPr>
            <p:cNvPr id="2126" name="Freeform 76"/>
            <p:cNvSpPr/>
            <p:nvPr/>
          </p:nvSpPr>
          <p:spPr>
            <a:xfrm>
              <a:off x="4113" y="3012"/>
              <a:ext cx="19" cy="55"/>
            </a:xfrm>
            <a:custGeom>
              <a:avLst/>
              <a:gdLst/>
              <a:ahLst/>
              <a:cxnLst>
                <a:cxn ang="0">
                  <a:pos x="13" y="7"/>
                </a:cxn>
                <a:cxn ang="0">
                  <a:pos x="4" y="8"/>
                </a:cxn>
                <a:cxn ang="0">
                  <a:pos x="0" y="22"/>
                </a:cxn>
                <a:cxn ang="0">
                  <a:pos x="15" y="41"/>
                </a:cxn>
                <a:cxn ang="0">
                  <a:pos x="25" y="56"/>
                </a:cxn>
                <a:cxn ang="0">
                  <a:pos x="16" y="20"/>
                </a:cxn>
                <a:cxn ang="0">
                  <a:pos x="13" y="7"/>
                </a:cxn>
              </a:cxnLst>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w="12700">
              <a:noFill/>
            </a:ln>
          </p:spPr>
          <p:txBody>
            <a:bodyPr/>
            <a:p>
              <a:endParaRPr lang="zh-CN" altLang="en-US"/>
            </a:p>
          </p:txBody>
        </p:sp>
        <p:sp>
          <p:nvSpPr>
            <p:cNvPr id="2127" name="Freeform 77"/>
            <p:cNvSpPr/>
            <p:nvPr/>
          </p:nvSpPr>
          <p:spPr>
            <a:xfrm>
              <a:off x="4135" y="2995"/>
              <a:ext cx="10" cy="25"/>
            </a:xfrm>
            <a:custGeom>
              <a:avLst/>
              <a:gdLst/>
              <a:ahLst/>
              <a:cxnLst>
                <a:cxn ang="0">
                  <a:pos x="11" y="0"/>
                </a:cxn>
                <a:cxn ang="0">
                  <a:pos x="1" y="10"/>
                </a:cxn>
                <a:cxn ang="0">
                  <a:pos x="11" y="25"/>
                </a:cxn>
                <a:cxn ang="0">
                  <a:pos x="11" y="0"/>
                </a:cxn>
              </a:cxnLst>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w="12700">
              <a:noFill/>
            </a:ln>
          </p:spPr>
          <p:txBody>
            <a:bodyPr/>
            <a:p>
              <a:endParaRPr lang="zh-CN" altLang="en-US"/>
            </a:p>
          </p:txBody>
        </p:sp>
        <p:sp>
          <p:nvSpPr>
            <p:cNvPr id="2128" name="Freeform 78"/>
            <p:cNvSpPr/>
            <p:nvPr/>
          </p:nvSpPr>
          <p:spPr>
            <a:xfrm>
              <a:off x="4145" y="3007"/>
              <a:ext cx="21" cy="48"/>
            </a:xfrm>
            <a:custGeom>
              <a:avLst/>
              <a:gdLst/>
              <a:ahLst/>
              <a:cxnLst>
                <a:cxn ang="0">
                  <a:pos x="5" y="0"/>
                </a:cxn>
                <a:cxn ang="0">
                  <a:pos x="11" y="14"/>
                </a:cxn>
                <a:cxn ang="0">
                  <a:pos x="20" y="21"/>
                </a:cxn>
                <a:cxn ang="0">
                  <a:pos x="8" y="39"/>
                </a:cxn>
                <a:cxn ang="0">
                  <a:pos x="0" y="56"/>
                </a:cxn>
                <a:cxn ang="0">
                  <a:pos x="11" y="57"/>
                </a:cxn>
                <a:cxn ang="0">
                  <a:pos x="26" y="26"/>
                </a:cxn>
                <a:cxn ang="0">
                  <a:pos x="5" y="0"/>
                </a:cxn>
              </a:cxnLst>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w="12700">
              <a:noFill/>
            </a:ln>
          </p:spPr>
          <p:txBody>
            <a:bodyPr/>
            <a:p>
              <a:endParaRPr lang="zh-CN" altLang="en-US"/>
            </a:p>
          </p:txBody>
        </p:sp>
        <p:sp>
          <p:nvSpPr>
            <p:cNvPr id="2129" name="Freeform 79"/>
            <p:cNvSpPr/>
            <p:nvPr/>
          </p:nvSpPr>
          <p:spPr>
            <a:xfrm>
              <a:off x="3876" y="3076"/>
              <a:ext cx="12" cy="27"/>
            </a:xfrm>
            <a:custGeom>
              <a:avLst/>
              <a:gdLst/>
              <a:ahLst/>
              <a:cxnLst>
                <a:cxn ang="0">
                  <a:pos x="14" y="3"/>
                </a:cxn>
                <a:cxn ang="0">
                  <a:pos x="0" y="7"/>
                </a:cxn>
                <a:cxn ang="0">
                  <a:pos x="8" y="22"/>
                </a:cxn>
                <a:cxn ang="0">
                  <a:pos x="14" y="3"/>
                </a:cxn>
              </a:cxnLst>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w="12700">
              <a:noFill/>
            </a:ln>
          </p:spPr>
          <p:txBody>
            <a:bodyPr/>
            <a:p>
              <a:endParaRPr lang="zh-CN" altLang="en-US"/>
            </a:p>
          </p:txBody>
        </p:sp>
        <p:sp>
          <p:nvSpPr>
            <p:cNvPr id="2130" name="Freeform 80"/>
            <p:cNvSpPr/>
            <p:nvPr/>
          </p:nvSpPr>
          <p:spPr>
            <a:xfrm>
              <a:off x="3866" y="3053"/>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31" name="Freeform 81"/>
            <p:cNvSpPr/>
            <p:nvPr/>
          </p:nvSpPr>
          <p:spPr>
            <a:xfrm>
              <a:off x="3862" y="3035"/>
              <a:ext cx="12" cy="14"/>
            </a:xfrm>
            <a:custGeom>
              <a:avLst/>
              <a:gdLst/>
              <a:ahLst/>
              <a:cxnLst>
                <a:cxn ang="0">
                  <a:pos x="10" y="5"/>
                </a:cxn>
                <a:cxn ang="0">
                  <a:pos x="0" y="10"/>
                </a:cxn>
                <a:cxn ang="0">
                  <a:pos x="12" y="19"/>
                </a:cxn>
                <a:cxn ang="0">
                  <a:pos x="10" y="5"/>
                </a:cxn>
              </a:cxnLst>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w="12700">
              <a:noFill/>
            </a:ln>
          </p:spPr>
          <p:txBody>
            <a:bodyPr/>
            <a:p>
              <a:endParaRPr lang="zh-CN" altLang="en-US"/>
            </a:p>
          </p:txBody>
        </p:sp>
        <p:sp>
          <p:nvSpPr>
            <p:cNvPr id="2132" name="Freeform 82"/>
            <p:cNvSpPr/>
            <p:nvPr/>
          </p:nvSpPr>
          <p:spPr>
            <a:xfrm>
              <a:off x="3850" y="2995"/>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33" name="Freeform 83"/>
            <p:cNvSpPr/>
            <p:nvPr/>
          </p:nvSpPr>
          <p:spPr>
            <a:xfrm>
              <a:off x="3852" y="3020"/>
              <a:ext cx="16" cy="13"/>
            </a:xfrm>
            <a:custGeom>
              <a:avLst/>
              <a:gdLst/>
              <a:ahLst/>
              <a:cxnLst>
                <a:cxn ang="0">
                  <a:pos x="13" y="0"/>
                </a:cxn>
                <a:cxn ang="0">
                  <a:pos x="19" y="18"/>
                </a:cxn>
                <a:cxn ang="0">
                  <a:pos x="14" y="6"/>
                </a:cxn>
                <a:cxn ang="0">
                  <a:pos x="13" y="0"/>
                </a:cxn>
              </a:cxnLst>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w="12700">
              <a:noFill/>
            </a:ln>
          </p:spPr>
          <p:txBody>
            <a:bodyPr/>
            <a:p>
              <a:endParaRPr lang="zh-CN" altLang="en-US"/>
            </a:p>
          </p:txBody>
        </p:sp>
        <p:sp>
          <p:nvSpPr>
            <p:cNvPr id="2134" name="Freeform 84"/>
            <p:cNvSpPr/>
            <p:nvPr/>
          </p:nvSpPr>
          <p:spPr>
            <a:xfrm>
              <a:off x="4688" y="3643"/>
              <a:ext cx="45" cy="60"/>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w="12700">
              <a:noFill/>
            </a:ln>
          </p:spPr>
          <p:txBody>
            <a:bodyPr/>
            <a:p>
              <a:endParaRPr lang="zh-CN" altLang="en-US"/>
            </a:p>
          </p:txBody>
        </p:sp>
        <p:sp>
          <p:nvSpPr>
            <p:cNvPr id="2135" name="Freeform 85"/>
            <p:cNvSpPr/>
            <p:nvPr/>
          </p:nvSpPr>
          <p:spPr>
            <a:xfrm>
              <a:off x="4919" y="3594"/>
              <a:ext cx="53" cy="46"/>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w="12700">
              <a:noFill/>
            </a:ln>
          </p:spPr>
          <p:txBody>
            <a:bodyPr/>
            <a:p>
              <a:endParaRPr lang="zh-CN" altLang="en-US"/>
            </a:p>
          </p:txBody>
        </p:sp>
        <p:sp>
          <p:nvSpPr>
            <p:cNvPr id="2136" name="Freeform 86"/>
            <p:cNvSpPr/>
            <p:nvPr/>
          </p:nvSpPr>
          <p:spPr>
            <a:xfrm>
              <a:off x="4759" y="3569"/>
              <a:ext cx="17" cy="23"/>
            </a:xfrm>
            <a:custGeom>
              <a:avLst/>
              <a:gdLst/>
              <a:ahLst/>
              <a:cxnLst>
                <a:cxn ang="0">
                  <a:pos x="9" y="0"/>
                </a:cxn>
                <a:cxn ang="0">
                  <a:pos x="0" y="14"/>
                </a:cxn>
                <a:cxn ang="0">
                  <a:pos x="12" y="30"/>
                </a:cxn>
                <a:cxn ang="0">
                  <a:pos x="9" y="0"/>
                </a:cxn>
              </a:cxnLst>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w="12700">
              <a:noFill/>
            </a:ln>
          </p:spPr>
          <p:txBody>
            <a:bodyPr/>
            <a:p>
              <a:endParaRPr lang="zh-CN" altLang="en-US"/>
            </a:p>
          </p:txBody>
        </p:sp>
        <p:sp>
          <p:nvSpPr>
            <p:cNvPr id="2137" name="Freeform 87"/>
            <p:cNvSpPr/>
            <p:nvPr/>
          </p:nvSpPr>
          <p:spPr>
            <a:xfrm>
              <a:off x="4751" y="3547"/>
              <a:ext cx="20" cy="17"/>
            </a:xfrm>
            <a:custGeom>
              <a:avLst/>
              <a:gdLst/>
              <a:ahLst/>
              <a:cxnLst>
                <a:cxn ang="0">
                  <a:pos x="19" y="0"/>
                </a:cxn>
                <a:cxn ang="0">
                  <a:pos x="0" y="14"/>
                </a:cxn>
                <a:cxn ang="0">
                  <a:pos x="21" y="20"/>
                </a:cxn>
                <a:cxn ang="0">
                  <a:pos x="19" y="0"/>
                </a:cxn>
              </a:cxnLst>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w="12700">
              <a:noFill/>
            </a:ln>
          </p:spPr>
          <p:txBody>
            <a:bodyPr/>
            <a:p>
              <a:endParaRPr lang="zh-CN" altLang="en-US"/>
            </a:p>
          </p:txBody>
        </p:sp>
        <p:sp>
          <p:nvSpPr>
            <p:cNvPr id="2138" name="Freeform 88"/>
            <p:cNvSpPr/>
            <p:nvPr/>
          </p:nvSpPr>
          <p:spPr>
            <a:xfrm>
              <a:off x="4598" y="3353"/>
              <a:ext cx="24" cy="33"/>
            </a:xfrm>
            <a:custGeom>
              <a:avLst/>
              <a:gdLst/>
              <a:ahLst/>
              <a:cxnLst>
                <a:cxn ang="0">
                  <a:pos x="28" y="0"/>
                </a:cxn>
                <a:cxn ang="0">
                  <a:pos x="10" y="11"/>
                </a:cxn>
                <a:cxn ang="0">
                  <a:pos x="12" y="32"/>
                </a:cxn>
                <a:cxn ang="0">
                  <a:pos x="24" y="36"/>
                </a:cxn>
                <a:cxn ang="0">
                  <a:pos x="28" y="0"/>
                </a:cxn>
              </a:cxnLst>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w="12700">
              <a:noFill/>
            </a:ln>
          </p:spPr>
          <p:txBody>
            <a:bodyPr/>
            <a:p>
              <a:endParaRPr lang="zh-CN" altLang="en-US"/>
            </a:p>
          </p:txBody>
        </p:sp>
        <p:sp>
          <p:nvSpPr>
            <p:cNvPr id="2139" name="Freeform 89"/>
            <p:cNvSpPr/>
            <p:nvPr/>
          </p:nvSpPr>
          <p:spPr>
            <a:xfrm>
              <a:off x="4632" y="3396"/>
              <a:ext cx="26" cy="33"/>
            </a:xfrm>
            <a:custGeom>
              <a:avLst/>
              <a:gdLst/>
              <a:ahLst/>
              <a:cxnLst>
                <a:cxn ang="0">
                  <a:pos x="30" y="0"/>
                </a:cxn>
                <a:cxn ang="0">
                  <a:pos x="10" y="9"/>
                </a:cxn>
                <a:cxn ang="0">
                  <a:pos x="14" y="32"/>
                </a:cxn>
                <a:cxn ang="0">
                  <a:pos x="26" y="36"/>
                </a:cxn>
                <a:cxn ang="0">
                  <a:pos x="30" y="0"/>
                </a:cxn>
              </a:cxnLst>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w="12700">
              <a:noFill/>
            </a:ln>
          </p:spPr>
          <p:txBody>
            <a:bodyPr/>
            <a:p>
              <a:endParaRPr lang="zh-CN" altLang="en-US"/>
            </a:p>
          </p:txBody>
        </p:sp>
        <p:sp>
          <p:nvSpPr>
            <p:cNvPr id="2140" name="Freeform 90"/>
            <p:cNvSpPr/>
            <p:nvPr/>
          </p:nvSpPr>
          <p:spPr>
            <a:xfrm>
              <a:off x="4659" y="3459"/>
              <a:ext cx="28" cy="28"/>
            </a:xfrm>
            <a:custGeom>
              <a:avLst/>
              <a:gdLst/>
              <a:ahLst/>
              <a:cxnLst>
                <a:cxn ang="0">
                  <a:pos x="34" y="2"/>
                </a:cxn>
                <a:cxn ang="0">
                  <a:pos x="10" y="2"/>
                </a:cxn>
                <a:cxn ang="0">
                  <a:pos x="14" y="25"/>
                </a:cxn>
                <a:cxn ang="0">
                  <a:pos x="26" y="29"/>
                </a:cxn>
                <a:cxn ang="0">
                  <a:pos x="34" y="2"/>
                </a:cxn>
              </a:cxnLst>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w="12700">
              <a:noFill/>
            </a:ln>
          </p:spPr>
          <p:txBody>
            <a:bodyPr/>
            <a:p>
              <a:endParaRPr lang="zh-CN" altLang="en-US"/>
            </a:p>
          </p:txBody>
        </p:sp>
        <p:sp>
          <p:nvSpPr>
            <p:cNvPr id="2141" name="Freeform 91"/>
            <p:cNvSpPr/>
            <p:nvPr/>
          </p:nvSpPr>
          <p:spPr>
            <a:xfrm>
              <a:off x="4693" y="3449"/>
              <a:ext cx="28" cy="26"/>
            </a:xfrm>
            <a:custGeom>
              <a:avLst/>
              <a:gdLst/>
              <a:ahLst/>
              <a:cxnLst>
                <a:cxn ang="0">
                  <a:pos x="34" y="2"/>
                </a:cxn>
                <a:cxn ang="0">
                  <a:pos x="10" y="2"/>
                </a:cxn>
                <a:cxn ang="0">
                  <a:pos x="16" y="22"/>
                </a:cxn>
                <a:cxn ang="0">
                  <a:pos x="27" y="22"/>
                </a:cxn>
                <a:cxn ang="0">
                  <a:pos x="34" y="2"/>
                </a:cxn>
              </a:cxnLst>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w="12700">
              <a:noFill/>
            </a:ln>
          </p:spPr>
          <p:txBody>
            <a:bodyPr/>
            <a:p>
              <a:endParaRPr lang="zh-CN" altLang="en-US"/>
            </a:p>
          </p:txBody>
        </p:sp>
        <p:sp>
          <p:nvSpPr>
            <p:cNvPr id="2142" name="Freeform 92"/>
            <p:cNvSpPr/>
            <p:nvPr/>
          </p:nvSpPr>
          <p:spPr>
            <a:xfrm>
              <a:off x="4683" y="3413"/>
              <a:ext cx="26" cy="20"/>
            </a:xfrm>
            <a:custGeom>
              <a:avLst/>
              <a:gdLst/>
              <a:ahLst/>
              <a:cxnLst>
                <a:cxn ang="0">
                  <a:pos x="31" y="1"/>
                </a:cxn>
                <a:cxn ang="0">
                  <a:pos x="10" y="2"/>
                </a:cxn>
                <a:cxn ang="0">
                  <a:pos x="13" y="15"/>
                </a:cxn>
                <a:cxn ang="0">
                  <a:pos x="25" y="19"/>
                </a:cxn>
                <a:cxn ang="0">
                  <a:pos x="31" y="1"/>
                </a:cxn>
              </a:cxnLst>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w="12700">
              <a:noFill/>
            </a:ln>
          </p:spPr>
          <p:txBody>
            <a:bodyPr/>
            <a:p>
              <a:endParaRPr lang="zh-CN" altLang="en-US"/>
            </a:p>
          </p:txBody>
        </p:sp>
        <p:sp>
          <p:nvSpPr>
            <p:cNvPr id="2143" name="Freeform 93"/>
            <p:cNvSpPr/>
            <p:nvPr/>
          </p:nvSpPr>
          <p:spPr>
            <a:xfrm>
              <a:off x="4657" y="3388"/>
              <a:ext cx="26" cy="35"/>
            </a:xfrm>
            <a:custGeom>
              <a:avLst/>
              <a:gdLst/>
              <a:ahLst/>
              <a:cxnLst>
                <a:cxn ang="0">
                  <a:pos x="28" y="16"/>
                </a:cxn>
                <a:cxn ang="0">
                  <a:pos x="19" y="2"/>
                </a:cxn>
                <a:cxn ang="0">
                  <a:pos x="10" y="25"/>
                </a:cxn>
                <a:cxn ang="0">
                  <a:pos x="19" y="35"/>
                </a:cxn>
                <a:cxn ang="0">
                  <a:pos x="27" y="29"/>
                </a:cxn>
                <a:cxn ang="0">
                  <a:pos x="28" y="16"/>
                </a:cxn>
              </a:cxnLst>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w="12700">
              <a:noFill/>
            </a:ln>
          </p:spPr>
          <p:txBody>
            <a:bodyPr/>
            <a:p>
              <a:endParaRPr lang="zh-CN" altLang="en-US"/>
            </a:p>
          </p:txBody>
        </p:sp>
        <p:sp>
          <p:nvSpPr>
            <p:cNvPr id="2144" name="Freeform 94"/>
            <p:cNvSpPr/>
            <p:nvPr/>
          </p:nvSpPr>
          <p:spPr>
            <a:xfrm>
              <a:off x="4625" y="3372"/>
              <a:ext cx="24" cy="26"/>
            </a:xfrm>
            <a:custGeom>
              <a:avLst/>
              <a:gdLst/>
              <a:ahLst/>
              <a:cxnLst>
                <a:cxn ang="0">
                  <a:pos x="22" y="10"/>
                </a:cxn>
                <a:cxn ang="0">
                  <a:pos x="10" y="2"/>
                </a:cxn>
                <a:cxn ang="0">
                  <a:pos x="12" y="23"/>
                </a:cxn>
                <a:cxn ang="0">
                  <a:pos x="24" y="27"/>
                </a:cxn>
                <a:cxn ang="0">
                  <a:pos x="22" y="10"/>
                </a:cxn>
              </a:cxnLst>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w="12700">
              <a:noFill/>
            </a:ln>
          </p:spPr>
          <p:txBody>
            <a:bodyPr/>
            <a:p>
              <a:endParaRPr lang="zh-CN" altLang="en-US"/>
            </a:p>
          </p:txBody>
        </p:sp>
        <p:sp>
          <p:nvSpPr>
            <p:cNvPr id="2145" name="Freeform 95"/>
            <p:cNvSpPr/>
            <p:nvPr/>
          </p:nvSpPr>
          <p:spPr>
            <a:xfrm>
              <a:off x="4665" y="3425"/>
              <a:ext cx="24" cy="26"/>
            </a:xfrm>
            <a:custGeom>
              <a:avLst/>
              <a:gdLst/>
              <a:ahLst/>
              <a:cxnLst>
                <a:cxn ang="0">
                  <a:pos x="22" y="10"/>
                </a:cxn>
                <a:cxn ang="0">
                  <a:pos x="10" y="2"/>
                </a:cxn>
                <a:cxn ang="0">
                  <a:pos x="12" y="23"/>
                </a:cxn>
                <a:cxn ang="0">
                  <a:pos x="24" y="27"/>
                </a:cxn>
                <a:cxn ang="0">
                  <a:pos x="22" y="10"/>
                </a:cxn>
              </a:cxnLst>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w="12700">
              <a:noFill/>
            </a:ln>
          </p:spPr>
          <p:txBody>
            <a:bodyPr/>
            <a:p>
              <a:endParaRPr lang="zh-CN" altLang="en-US"/>
            </a:p>
          </p:txBody>
        </p:sp>
        <p:sp>
          <p:nvSpPr>
            <p:cNvPr id="2146" name="Freeform 96"/>
            <p:cNvSpPr/>
            <p:nvPr/>
          </p:nvSpPr>
          <p:spPr>
            <a:xfrm>
              <a:off x="3055" y="2051"/>
              <a:ext cx="141" cy="108"/>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w="12700">
              <a:noFill/>
            </a:ln>
          </p:spPr>
          <p:txBody>
            <a:bodyPr/>
            <a:p>
              <a:endParaRPr lang="zh-CN" altLang="en-US"/>
            </a:p>
          </p:txBody>
        </p:sp>
        <p:sp>
          <p:nvSpPr>
            <p:cNvPr id="2147" name="Freeform 97"/>
            <p:cNvSpPr/>
            <p:nvPr/>
          </p:nvSpPr>
          <p:spPr>
            <a:xfrm>
              <a:off x="3139" y="2155"/>
              <a:ext cx="40" cy="12"/>
            </a:xfrm>
            <a:custGeom>
              <a:avLst/>
              <a:gdLst/>
              <a:ahLst/>
              <a:cxnLst>
                <a:cxn ang="0">
                  <a:pos x="24" y="0"/>
                </a:cxn>
                <a:cxn ang="0">
                  <a:pos x="12" y="2"/>
                </a:cxn>
                <a:cxn ang="0">
                  <a:pos x="32" y="16"/>
                </a:cxn>
                <a:cxn ang="0">
                  <a:pos x="44" y="14"/>
                </a:cxn>
                <a:cxn ang="0">
                  <a:pos x="24" y="0"/>
                </a:cxn>
              </a:cxnLst>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w="12700">
              <a:noFill/>
            </a:ln>
          </p:spPr>
          <p:txBody>
            <a:bodyPr/>
            <a:p>
              <a:endParaRPr lang="zh-CN" altLang="en-US"/>
            </a:p>
          </p:txBody>
        </p:sp>
        <p:sp>
          <p:nvSpPr>
            <p:cNvPr id="2148" name="Freeform 98"/>
            <p:cNvSpPr/>
            <p:nvPr/>
          </p:nvSpPr>
          <p:spPr>
            <a:xfrm>
              <a:off x="3344" y="1999"/>
              <a:ext cx="42" cy="28"/>
            </a:xfrm>
            <a:custGeom>
              <a:avLst/>
              <a:gdLst/>
              <a:ahLst/>
              <a:cxnLst>
                <a:cxn ang="0">
                  <a:pos x="57" y="4"/>
                </a:cxn>
                <a:cxn ang="0">
                  <a:pos x="25" y="24"/>
                </a:cxn>
                <a:cxn ang="0">
                  <a:pos x="11" y="34"/>
                </a:cxn>
                <a:cxn ang="0">
                  <a:pos x="9" y="4"/>
                </a:cxn>
                <a:cxn ang="0">
                  <a:pos x="21" y="0"/>
                </a:cxn>
                <a:cxn ang="0">
                  <a:pos x="57" y="4"/>
                </a:cxn>
              </a:cxnLst>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w="12700">
              <a:noFill/>
            </a:ln>
          </p:spPr>
          <p:txBody>
            <a:bodyPr/>
            <a:p>
              <a:endParaRPr lang="zh-CN" altLang="en-US"/>
            </a:p>
          </p:txBody>
        </p:sp>
        <p:sp>
          <p:nvSpPr>
            <p:cNvPr id="2149" name="Freeform 99"/>
            <p:cNvSpPr/>
            <p:nvPr/>
          </p:nvSpPr>
          <p:spPr>
            <a:xfrm>
              <a:off x="3374" y="2012"/>
              <a:ext cx="50" cy="20"/>
            </a:xfrm>
            <a:custGeom>
              <a:avLst/>
              <a:gdLst/>
              <a:ahLst/>
              <a:cxnLst>
                <a:cxn ang="0">
                  <a:pos x="29" y="0"/>
                </a:cxn>
                <a:cxn ang="0">
                  <a:pos x="11" y="6"/>
                </a:cxn>
                <a:cxn ang="0">
                  <a:pos x="57" y="26"/>
                </a:cxn>
                <a:cxn ang="0">
                  <a:pos x="63" y="24"/>
                </a:cxn>
                <a:cxn ang="0">
                  <a:pos x="29" y="0"/>
                </a:cxn>
              </a:cxnLst>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w="12700">
              <a:noFill/>
            </a:ln>
          </p:spPr>
          <p:txBody>
            <a:bodyPr/>
            <a:p>
              <a:endParaRPr lang="zh-CN" altLang="en-US"/>
            </a:p>
          </p:txBody>
        </p:sp>
        <p:sp>
          <p:nvSpPr>
            <p:cNvPr id="2150" name="Freeform 100"/>
            <p:cNvSpPr/>
            <p:nvPr/>
          </p:nvSpPr>
          <p:spPr>
            <a:xfrm>
              <a:off x="3428" y="2015"/>
              <a:ext cx="50" cy="32"/>
            </a:xfrm>
            <a:custGeom>
              <a:avLst/>
              <a:gdLst/>
              <a:ahLst/>
              <a:cxnLst>
                <a:cxn ang="0">
                  <a:pos x="50" y="9"/>
                </a:cxn>
                <a:cxn ang="0">
                  <a:pos x="26" y="9"/>
                </a:cxn>
                <a:cxn ang="0">
                  <a:pos x="10" y="9"/>
                </a:cxn>
                <a:cxn ang="0">
                  <a:pos x="8" y="35"/>
                </a:cxn>
                <a:cxn ang="0">
                  <a:pos x="32" y="43"/>
                </a:cxn>
                <a:cxn ang="0">
                  <a:pos x="62" y="27"/>
                </a:cxn>
                <a:cxn ang="0">
                  <a:pos x="50" y="9"/>
                </a:cxn>
              </a:cxnLst>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w="12700">
              <a:noFill/>
            </a:ln>
          </p:spPr>
          <p:txBody>
            <a:bodyPr/>
            <a:p>
              <a:endParaRPr lang="zh-CN" altLang="en-US"/>
            </a:p>
          </p:txBody>
        </p:sp>
        <p:sp>
          <p:nvSpPr>
            <p:cNvPr id="2151" name="Freeform 101"/>
            <p:cNvSpPr/>
            <p:nvPr/>
          </p:nvSpPr>
          <p:spPr>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w="12700">
              <a:noFill/>
            </a:ln>
          </p:spPr>
          <p:txBody>
            <a:bodyPr/>
            <a:p>
              <a:endParaRPr lang="zh-CN" altLang="en-US"/>
            </a:p>
          </p:txBody>
        </p:sp>
        <p:sp>
          <p:nvSpPr>
            <p:cNvPr id="2152" name="Freeform 102"/>
            <p:cNvSpPr/>
            <p:nvPr/>
          </p:nvSpPr>
          <p:spPr>
            <a:xfrm>
              <a:off x="3867" y="2041"/>
              <a:ext cx="46" cy="24"/>
            </a:xfrm>
            <a:custGeom>
              <a:avLst/>
              <a:gdLst/>
              <a:ahLst/>
              <a:cxnLst>
                <a:cxn ang="0">
                  <a:pos x="32" y="4"/>
                </a:cxn>
                <a:cxn ang="0">
                  <a:pos x="62" y="10"/>
                </a:cxn>
                <a:cxn ang="0">
                  <a:pos x="30" y="32"/>
                </a:cxn>
                <a:cxn ang="0">
                  <a:pos x="6" y="22"/>
                </a:cxn>
                <a:cxn ang="0">
                  <a:pos x="32" y="4"/>
                </a:cxn>
              </a:cxnLst>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w="12700">
              <a:noFill/>
            </a:ln>
          </p:spPr>
          <p:txBody>
            <a:bodyPr/>
            <a:p>
              <a:endParaRPr lang="zh-CN" altLang="en-US"/>
            </a:p>
          </p:txBody>
        </p:sp>
        <p:sp>
          <p:nvSpPr>
            <p:cNvPr id="2153" name="Freeform 103"/>
            <p:cNvSpPr/>
            <p:nvPr/>
          </p:nvSpPr>
          <p:spPr>
            <a:xfrm>
              <a:off x="3846" y="2070"/>
              <a:ext cx="37" cy="17"/>
            </a:xfrm>
            <a:custGeom>
              <a:avLst/>
              <a:gdLst/>
              <a:ahLst/>
              <a:cxnLst>
                <a:cxn ang="0">
                  <a:pos x="20" y="1"/>
                </a:cxn>
                <a:cxn ang="0">
                  <a:pos x="6" y="5"/>
                </a:cxn>
                <a:cxn ang="0">
                  <a:pos x="38" y="23"/>
                </a:cxn>
                <a:cxn ang="0">
                  <a:pos x="20" y="1"/>
                </a:cxn>
              </a:cxnLst>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w="12700">
              <a:noFill/>
            </a:ln>
          </p:spPr>
          <p:txBody>
            <a:bodyPr/>
            <a:p>
              <a:endParaRPr lang="zh-CN" altLang="en-US"/>
            </a:p>
          </p:txBody>
        </p:sp>
        <p:sp>
          <p:nvSpPr>
            <p:cNvPr id="2154" name="Freeform 104"/>
            <p:cNvSpPr/>
            <p:nvPr/>
          </p:nvSpPr>
          <p:spPr>
            <a:xfrm>
              <a:off x="4098" y="2294"/>
              <a:ext cx="76"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w="12700">
              <a:noFill/>
            </a:ln>
          </p:spPr>
          <p:txBody>
            <a:bodyPr/>
            <a:p>
              <a:endParaRPr lang="zh-CN" altLang="en-US"/>
            </a:p>
          </p:txBody>
        </p:sp>
        <p:sp>
          <p:nvSpPr>
            <p:cNvPr id="2155" name="Freeform 105"/>
            <p:cNvSpPr/>
            <p:nvPr/>
          </p:nvSpPr>
          <p:spPr>
            <a:xfrm>
              <a:off x="4159" y="2412"/>
              <a:ext cx="55" cy="78"/>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w="12700">
              <a:noFill/>
            </a:ln>
          </p:spPr>
          <p:txBody>
            <a:bodyPr/>
            <a:p>
              <a:endParaRPr lang="zh-CN" altLang="en-US"/>
            </a:p>
          </p:txBody>
        </p:sp>
        <p:sp>
          <p:nvSpPr>
            <p:cNvPr id="2156" name="Freeform 106"/>
            <p:cNvSpPr/>
            <p:nvPr/>
          </p:nvSpPr>
          <p:spPr>
            <a:xfrm>
              <a:off x="4123" y="2492"/>
              <a:ext cx="109" cy="189"/>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w="12700">
              <a:noFill/>
            </a:ln>
          </p:spPr>
          <p:txBody>
            <a:bodyPr/>
            <a:p>
              <a:endParaRPr lang="zh-CN" altLang="en-US"/>
            </a:p>
          </p:txBody>
        </p:sp>
        <p:sp>
          <p:nvSpPr>
            <p:cNvPr id="2157" name="Freeform 107"/>
            <p:cNvSpPr/>
            <p:nvPr/>
          </p:nvSpPr>
          <p:spPr>
            <a:xfrm>
              <a:off x="3062" y="1988"/>
              <a:ext cx="52" cy="30"/>
            </a:xfrm>
            <a:custGeom>
              <a:avLst/>
              <a:gdLst/>
              <a:ahLst/>
              <a:cxnLst>
                <a:cxn ang="0">
                  <a:pos x="59" y="0"/>
                </a:cxn>
                <a:cxn ang="0">
                  <a:pos x="65" y="20"/>
                </a:cxn>
                <a:cxn ang="0">
                  <a:pos x="41" y="24"/>
                </a:cxn>
                <a:cxn ang="0">
                  <a:pos x="31" y="40"/>
                </a:cxn>
                <a:cxn ang="0">
                  <a:pos x="7" y="38"/>
                </a:cxn>
                <a:cxn ang="0">
                  <a:pos x="1" y="36"/>
                </a:cxn>
                <a:cxn ang="0">
                  <a:pos x="33" y="20"/>
                </a:cxn>
                <a:cxn ang="0">
                  <a:pos x="59" y="0"/>
                </a:cxn>
              </a:cxnLst>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w="12700">
              <a:noFill/>
            </a:ln>
          </p:spPr>
          <p:txBody>
            <a:bodyPr/>
            <a:p>
              <a:endParaRPr lang="zh-CN" altLang="en-US"/>
            </a:p>
          </p:txBody>
        </p:sp>
        <p:sp>
          <p:nvSpPr>
            <p:cNvPr id="2158" name="Freeform 108"/>
            <p:cNvSpPr/>
            <p:nvPr/>
          </p:nvSpPr>
          <p:spPr>
            <a:xfrm>
              <a:off x="2955" y="1997"/>
              <a:ext cx="19" cy="22"/>
            </a:xfrm>
            <a:custGeom>
              <a:avLst/>
              <a:gdLst/>
              <a:ahLst/>
              <a:cxnLst>
                <a:cxn ang="0">
                  <a:pos x="18" y="0"/>
                </a:cxn>
                <a:cxn ang="0">
                  <a:pos x="0" y="18"/>
                </a:cxn>
                <a:cxn ang="0">
                  <a:pos x="18" y="26"/>
                </a:cxn>
                <a:cxn ang="0">
                  <a:pos x="18" y="0"/>
                </a:cxn>
              </a:cxnLst>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w="12700">
              <a:noFill/>
            </a:ln>
          </p:spPr>
          <p:txBody>
            <a:bodyPr/>
            <a:p>
              <a:endParaRPr lang="zh-CN" altLang="en-US"/>
            </a:p>
          </p:txBody>
        </p:sp>
        <p:sp>
          <p:nvSpPr>
            <p:cNvPr id="2159" name="Freeform 109"/>
            <p:cNvSpPr/>
            <p:nvPr/>
          </p:nvSpPr>
          <p:spPr>
            <a:xfrm>
              <a:off x="2979" y="1996"/>
              <a:ext cx="37" cy="27"/>
            </a:xfrm>
            <a:custGeom>
              <a:avLst/>
              <a:gdLst/>
              <a:ahLst/>
              <a:cxnLst>
                <a:cxn ang="0">
                  <a:pos x="14" y="6"/>
                </a:cxn>
                <a:cxn ang="0">
                  <a:pos x="0" y="18"/>
                </a:cxn>
                <a:cxn ang="0">
                  <a:pos x="6" y="32"/>
                </a:cxn>
                <a:cxn ang="0">
                  <a:pos x="18" y="36"/>
                </a:cxn>
                <a:cxn ang="0">
                  <a:pos x="40" y="26"/>
                </a:cxn>
                <a:cxn ang="0">
                  <a:pos x="14" y="6"/>
                </a:cxn>
              </a:cxnLst>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w="12700">
              <a:noFill/>
            </a:ln>
          </p:spPr>
          <p:txBody>
            <a:bodyPr/>
            <a:p>
              <a:endParaRPr lang="zh-CN" altLang="en-US"/>
            </a:p>
          </p:txBody>
        </p:sp>
        <p:sp>
          <p:nvSpPr>
            <p:cNvPr id="2160" name="Freeform 110"/>
            <p:cNvSpPr/>
            <p:nvPr/>
          </p:nvSpPr>
          <p:spPr>
            <a:xfrm>
              <a:off x="3040" y="1987"/>
              <a:ext cx="20" cy="16"/>
            </a:xfrm>
            <a:custGeom>
              <a:avLst/>
              <a:gdLst/>
              <a:ahLst/>
              <a:cxnLst>
                <a:cxn ang="0">
                  <a:pos x="11" y="0"/>
                </a:cxn>
                <a:cxn ang="0">
                  <a:pos x="3" y="12"/>
                </a:cxn>
                <a:cxn ang="0">
                  <a:pos x="19" y="22"/>
                </a:cxn>
                <a:cxn ang="0">
                  <a:pos x="11" y="0"/>
                </a:cxn>
              </a:cxnLst>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w="12700">
              <a:noFill/>
            </a:ln>
          </p:spPr>
          <p:txBody>
            <a:bodyPr/>
            <a:p>
              <a:endParaRPr lang="zh-CN" altLang="en-US"/>
            </a:p>
          </p:txBody>
        </p:sp>
        <p:sp>
          <p:nvSpPr>
            <p:cNvPr id="2161" name="Freeform 111"/>
            <p:cNvSpPr/>
            <p:nvPr/>
          </p:nvSpPr>
          <p:spPr>
            <a:xfrm>
              <a:off x="3022" y="2005"/>
              <a:ext cx="15" cy="13"/>
            </a:xfrm>
            <a:custGeom>
              <a:avLst/>
              <a:gdLst/>
              <a:ahLst/>
              <a:cxnLst>
                <a:cxn ang="0">
                  <a:pos x="11" y="0"/>
                </a:cxn>
                <a:cxn ang="0">
                  <a:pos x="9" y="18"/>
                </a:cxn>
                <a:cxn ang="0">
                  <a:pos x="11" y="0"/>
                </a:cxn>
              </a:cxnLst>
              <a:pathLst>
                <a:path w="20" h="18">
                  <a:moveTo>
                    <a:pt x="11" y="0"/>
                  </a:moveTo>
                  <a:cubicBezTo>
                    <a:pt x="1" y="14"/>
                    <a:pt x="0" y="9"/>
                    <a:pt x="9" y="18"/>
                  </a:cubicBezTo>
                  <a:cubicBezTo>
                    <a:pt x="20" y="14"/>
                    <a:pt x="16" y="18"/>
                    <a:pt x="11" y="0"/>
                  </a:cubicBezTo>
                  <a:close/>
                </a:path>
              </a:pathLst>
            </a:custGeom>
            <a:solidFill>
              <a:srgbClr val="FEFEFE">
                <a:alpha val="30196"/>
              </a:srgbClr>
            </a:solidFill>
            <a:ln w="12700">
              <a:noFill/>
            </a:ln>
          </p:spPr>
          <p:txBody>
            <a:bodyPr/>
            <a:p>
              <a:endParaRPr lang="zh-CN" altLang="en-US"/>
            </a:p>
          </p:txBody>
        </p:sp>
        <p:sp>
          <p:nvSpPr>
            <p:cNvPr id="2162" name="Freeform 112"/>
            <p:cNvSpPr/>
            <p:nvPr/>
          </p:nvSpPr>
          <p:spPr>
            <a:xfrm>
              <a:off x="4162" y="2021"/>
              <a:ext cx="18" cy="33"/>
            </a:xfrm>
            <a:custGeom>
              <a:avLst/>
              <a:gdLst/>
              <a:ahLst/>
              <a:cxnLst>
                <a:cxn ang="0">
                  <a:pos x="24" y="0"/>
                </a:cxn>
                <a:cxn ang="0">
                  <a:pos x="8" y="16"/>
                </a:cxn>
                <a:cxn ang="0">
                  <a:pos x="0" y="34"/>
                </a:cxn>
                <a:cxn ang="0">
                  <a:pos x="16" y="40"/>
                </a:cxn>
                <a:cxn ang="0">
                  <a:pos x="24" y="0"/>
                </a:cxn>
              </a:cxnLst>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w="12700">
              <a:noFill/>
            </a:ln>
          </p:spPr>
          <p:txBody>
            <a:bodyPr/>
            <a:p>
              <a:endParaRPr lang="zh-CN" altLang="en-US"/>
            </a:p>
          </p:txBody>
        </p:sp>
        <p:sp>
          <p:nvSpPr>
            <p:cNvPr id="2163" name="Freeform 113"/>
            <p:cNvSpPr/>
            <p:nvPr/>
          </p:nvSpPr>
          <p:spPr>
            <a:xfrm>
              <a:off x="3278" y="3473"/>
              <a:ext cx="31" cy="18"/>
            </a:xfrm>
            <a:custGeom>
              <a:avLst/>
              <a:gdLst/>
              <a:ahLst/>
              <a:cxnLst>
                <a:cxn ang="0">
                  <a:pos x="30" y="0"/>
                </a:cxn>
                <a:cxn ang="0">
                  <a:pos x="26" y="24"/>
                </a:cxn>
                <a:cxn ang="0">
                  <a:pos x="30" y="0"/>
                </a:cxn>
              </a:cxnLst>
              <a:pathLst>
                <a:path w="41" h="24">
                  <a:moveTo>
                    <a:pt x="30" y="0"/>
                  </a:moveTo>
                  <a:cubicBezTo>
                    <a:pt x="4" y="4"/>
                    <a:pt x="0" y="17"/>
                    <a:pt x="26" y="24"/>
                  </a:cubicBezTo>
                  <a:cubicBezTo>
                    <a:pt x="41" y="19"/>
                    <a:pt x="38" y="10"/>
                    <a:pt x="30" y="0"/>
                  </a:cubicBezTo>
                  <a:close/>
                </a:path>
              </a:pathLst>
            </a:custGeom>
            <a:solidFill>
              <a:srgbClr val="FEFEFE">
                <a:alpha val="30196"/>
              </a:srgbClr>
            </a:solidFill>
            <a:ln w="12700">
              <a:noFill/>
            </a:ln>
          </p:spPr>
          <p:txBody>
            <a:bodyPr/>
            <a:p>
              <a:endParaRPr lang="zh-CN" altLang="en-US"/>
            </a:p>
          </p:txBody>
        </p:sp>
        <p:sp>
          <p:nvSpPr>
            <p:cNvPr id="2164" name="Freeform 114"/>
            <p:cNvSpPr/>
            <p:nvPr/>
          </p:nvSpPr>
          <p:spPr>
            <a:xfrm>
              <a:off x="3318" y="3466"/>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5" name="Freeform 115"/>
            <p:cNvSpPr/>
            <p:nvPr/>
          </p:nvSpPr>
          <p:spPr>
            <a:xfrm>
              <a:off x="3251" y="3312"/>
              <a:ext cx="9"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6" name="Freeform 116"/>
            <p:cNvSpPr/>
            <p:nvPr/>
          </p:nvSpPr>
          <p:spPr>
            <a:xfrm>
              <a:off x="3311" y="3239"/>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67" name="Freeform 117"/>
            <p:cNvSpPr/>
            <p:nvPr/>
          </p:nvSpPr>
          <p:spPr>
            <a:xfrm>
              <a:off x="3287" y="3238"/>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68" name="Freeform 118"/>
            <p:cNvSpPr/>
            <p:nvPr/>
          </p:nvSpPr>
          <p:spPr>
            <a:xfrm>
              <a:off x="3276" y="3260"/>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9" name="Freeform 119"/>
            <p:cNvSpPr/>
            <p:nvPr/>
          </p:nvSpPr>
          <p:spPr>
            <a:xfrm>
              <a:off x="3251" y="3294"/>
              <a:ext cx="9"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0" name="Freeform 120"/>
            <p:cNvSpPr/>
            <p:nvPr/>
          </p:nvSpPr>
          <p:spPr>
            <a:xfrm>
              <a:off x="3270" y="3281"/>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1" name="Freeform 121"/>
            <p:cNvSpPr/>
            <p:nvPr/>
          </p:nvSpPr>
          <p:spPr>
            <a:xfrm>
              <a:off x="2537" y="2293"/>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2" name="Freeform 122"/>
            <p:cNvSpPr/>
            <p:nvPr/>
          </p:nvSpPr>
          <p:spPr>
            <a:xfrm>
              <a:off x="2476" y="2259"/>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3" name="Freeform 123"/>
            <p:cNvSpPr/>
            <p:nvPr/>
          </p:nvSpPr>
          <p:spPr>
            <a:xfrm>
              <a:off x="2238" y="2042"/>
              <a:ext cx="2060" cy="1644"/>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w="12700">
              <a:noFill/>
            </a:ln>
          </p:spPr>
          <p:txBody>
            <a:bodyPr/>
            <a:p>
              <a:endParaRPr lang="zh-CN" altLang="en-US"/>
            </a:p>
          </p:txBody>
        </p:sp>
      </p:grpSp>
      <p:pic>
        <p:nvPicPr>
          <p:cNvPr id="2052" name="Picture 7" descr="artplus_nature_naturalcity42_a"/>
          <p:cNvPicPr>
            <a:picLocks noChangeAspect="1"/>
          </p:cNvPicPr>
          <p:nvPr/>
        </p:nvPicPr>
        <p:blipFill>
          <a:blip r:embed="rId3"/>
          <a:stretch>
            <a:fillRect/>
          </a:stretch>
        </p:blipFill>
        <p:spPr>
          <a:xfrm>
            <a:off x="4870450" y="3167063"/>
            <a:ext cx="4425950" cy="2989262"/>
          </a:xfrm>
          <a:prstGeom prst="rect">
            <a:avLst/>
          </a:prstGeom>
          <a:noFill/>
          <a:ln w="9525">
            <a:noFill/>
          </a:ln>
        </p:spPr>
      </p:pic>
      <p:pic>
        <p:nvPicPr>
          <p:cNvPr id="2053" name="Picture 12" descr="artplus_nature_naturalcity42_i"/>
          <p:cNvPicPr>
            <a:picLocks noChangeAspect="1"/>
          </p:cNvPicPr>
          <p:nvPr/>
        </p:nvPicPr>
        <p:blipFill>
          <a:blip r:embed="rId4"/>
          <a:stretch>
            <a:fillRect/>
          </a:stretch>
        </p:blipFill>
        <p:spPr>
          <a:xfrm>
            <a:off x="6956425" y="3352800"/>
            <a:ext cx="1654175" cy="877888"/>
          </a:xfrm>
          <a:prstGeom prst="rect">
            <a:avLst/>
          </a:prstGeom>
          <a:noFill/>
          <a:ln w="9525">
            <a:noFill/>
          </a:ln>
        </p:spPr>
      </p:pic>
      <p:pic>
        <p:nvPicPr>
          <p:cNvPr id="2054" name="Picture 10" descr="artplus_nature_naturalcity42_c"/>
          <p:cNvPicPr>
            <a:picLocks noChangeAspect="1"/>
          </p:cNvPicPr>
          <p:nvPr/>
        </p:nvPicPr>
        <p:blipFill>
          <a:blip r:embed="rId5"/>
          <a:stretch>
            <a:fillRect/>
          </a:stretch>
        </p:blipFill>
        <p:spPr>
          <a:xfrm>
            <a:off x="7315200" y="3429000"/>
            <a:ext cx="1112838" cy="866775"/>
          </a:xfrm>
          <a:prstGeom prst="rect">
            <a:avLst/>
          </a:prstGeom>
          <a:noFill/>
          <a:ln w="9525">
            <a:noFill/>
          </a:ln>
        </p:spPr>
      </p:pic>
      <p:pic>
        <p:nvPicPr>
          <p:cNvPr id="2055" name="Picture 13" descr="artplus_nature_naturalcity42_f"/>
          <p:cNvPicPr>
            <a:picLocks noChangeAspect="1"/>
          </p:cNvPicPr>
          <p:nvPr/>
        </p:nvPicPr>
        <p:blipFill>
          <a:blip r:embed="rId6"/>
          <a:stretch>
            <a:fillRect/>
          </a:stretch>
        </p:blipFill>
        <p:spPr>
          <a:xfrm>
            <a:off x="4994275" y="4594225"/>
            <a:ext cx="4911725" cy="1882775"/>
          </a:xfrm>
          <a:prstGeom prst="rect">
            <a:avLst/>
          </a:prstGeom>
          <a:noFill/>
          <a:ln w="9525">
            <a:noFill/>
          </a:ln>
        </p:spPr>
      </p:pic>
      <p:pic>
        <p:nvPicPr>
          <p:cNvPr id="2056" name="Picture 9" descr="artplus_nature_naturalcity42_b"/>
          <p:cNvPicPr>
            <a:picLocks noChangeAspect="1"/>
          </p:cNvPicPr>
          <p:nvPr/>
        </p:nvPicPr>
        <p:blipFill>
          <a:blip r:embed="rId7"/>
          <a:stretch>
            <a:fillRect/>
          </a:stretch>
        </p:blipFill>
        <p:spPr>
          <a:xfrm>
            <a:off x="5195888" y="3097213"/>
            <a:ext cx="2971800" cy="571500"/>
          </a:xfrm>
          <a:prstGeom prst="rect">
            <a:avLst/>
          </a:prstGeom>
          <a:noFill/>
          <a:ln w="9525">
            <a:noFill/>
          </a:ln>
        </p:spPr>
      </p:pic>
      <p:pic>
        <p:nvPicPr>
          <p:cNvPr id="2057" name="Picture 8" descr="artplus_nature_naturalcity42_e"/>
          <p:cNvPicPr>
            <a:picLocks noChangeAspect="1"/>
          </p:cNvPicPr>
          <p:nvPr/>
        </p:nvPicPr>
        <p:blipFill>
          <a:blip r:embed="rId8"/>
          <a:stretch>
            <a:fillRect/>
          </a:stretch>
        </p:blipFill>
        <p:spPr>
          <a:xfrm>
            <a:off x="5943600" y="1993900"/>
            <a:ext cx="1546225" cy="1663700"/>
          </a:xfrm>
          <a:prstGeom prst="rect">
            <a:avLst/>
          </a:prstGeom>
          <a:noFill/>
          <a:ln w="9525">
            <a:noFill/>
          </a:ln>
        </p:spPr>
      </p:pic>
      <p:pic>
        <p:nvPicPr>
          <p:cNvPr id="2058" name="Picture 11" descr="artplus_nature_naturalcity42_d"/>
          <p:cNvPicPr>
            <a:picLocks noChangeAspect="1"/>
          </p:cNvPicPr>
          <p:nvPr/>
        </p:nvPicPr>
        <p:blipFill>
          <a:blip r:embed="rId9"/>
          <a:stretch>
            <a:fillRect/>
          </a:stretch>
        </p:blipFill>
        <p:spPr>
          <a:xfrm>
            <a:off x="5626100" y="2862263"/>
            <a:ext cx="623888" cy="579437"/>
          </a:xfrm>
          <a:prstGeom prst="rect">
            <a:avLst/>
          </a:prstGeom>
          <a:noFill/>
          <a:ln w="9525">
            <a:noFill/>
          </a:ln>
        </p:spPr>
      </p:pic>
      <p:pic>
        <p:nvPicPr>
          <p:cNvPr id="2059" name="Picture 128" descr="a1"/>
          <p:cNvPicPr>
            <a:picLocks noChangeAspect="1"/>
          </p:cNvPicPr>
          <p:nvPr userDrawn="1"/>
        </p:nvPicPr>
        <p:blipFill>
          <a:blip r:embed="rId10"/>
          <a:stretch>
            <a:fillRect/>
          </a:stretch>
        </p:blipFill>
        <p:spPr>
          <a:xfrm>
            <a:off x="914400" y="2286000"/>
            <a:ext cx="1803400" cy="2070100"/>
          </a:xfrm>
          <a:prstGeom prst="rect">
            <a:avLst/>
          </a:prstGeom>
          <a:noFill/>
          <a:ln w="9525">
            <a:noFill/>
          </a:ln>
        </p:spPr>
      </p:pic>
      <p:pic>
        <p:nvPicPr>
          <p:cNvPr id="2060" name="Picture 129" descr="b_1"/>
          <p:cNvPicPr>
            <a:picLocks noChangeAspect="1"/>
          </p:cNvPicPr>
          <p:nvPr userDrawn="1"/>
        </p:nvPicPr>
        <p:blipFill>
          <a:blip r:embed="rId11"/>
          <a:stretch>
            <a:fillRect/>
          </a:stretch>
        </p:blipFill>
        <p:spPr>
          <a:xfrm>
            <a:off x="2286000" y="3581400"/>
            <a:ext cx="1079500" cy="469900"/>
          </a:xfrm>
          <a:prstGeom prst="rect">
            <a:avLst/>
          </a:prstGeom>
          <a:noFill/>
          <a:ln w="9525">
            <a:noFill/>
          </a:ln>
        </p:spPr>
      </p:pic>
      <p:sp>
        <p:nvSpPr>
          <p:cNvPr id="4098" name="Rectangle 2"/>
          <p:cNvSpPr>
            <a:spLocks noGrp="1" noChangeArrowheads="1"/>
          </p:cNvSpPr>
          <p:nvPr>
            <p:ph type="ctrTitle"/>
          </p:nvPr>
        </p:nvSpPr>
        <p:spPr>
          <a:xfrm>
            <a:off x="304800" y="4419600"/>
            <a:ext cx="6400800" cy="1143000"/>
          </a:xfrm>
        </p:spPr>
        <p:txBody>
          <a:bodyPr/>
          <a:lstStyle>
            <a:lvl1pPr algn="l">
              <a:defRPr sz="4300">
                <a:solidFill>
                  <a:schemeClr val="bg1"/>
                </a:solidFill>
              </a:defRPr>
            </a:lvl1pPr>
          </a:lstStyle>
          <a:p>
            <a:r>
              <a:rPr lang="en-US" altLang="zh-CN"/>
              <a:t>Click to edit Master title style</a:t>
            </a:r>
            <a:endParaRPr lang="en-US" altLang="zh-CN"/>
          </a:p>
        </p:txBody>
      </p:sp>
      <p:sp>
        <p:nvSpPr>
          <p:cNvPr id="4099" name="Rectangle 3"/>
          <p:cNvSpPr>
            <a:spLocks noGrp="1" noChangeArrowheads="1"/>
          </p:cNvSpPr>
          <p:nvPr>
            <p:ph type="subTitle" idx="1"/>
          </p:nvPr>
        </p:nvSpPr>
        <p:spPr>
          <a:xfrm>
            <a:off x="304800" y="5715000"/>
            <a:ext cx="6400800" cy="381000"/>
          </a:xfrm>
        </p:spPr>
        <p:txBody>
          <a:bodyPr/>
          <a:lstStyle>
            <a:lvl1pPr marL="0" indent="0">
              <a:buFont typeface="Wingdings" panose="05000000000000000000" pitchFamily="2" charset="2"/>
              <a:buNone/>
              <a:defRPr sz="1800" b="1" i="1">
                <a:solidFill>
                  <a:schemeClr val="bg1"/>
                </a:solidFill>
              </a:defRPr>
            </a:lvl1pPr>
          </a:lstStyle>
          <a:p>
            <a:r>
              <a:rPr lang="en-US" altLang="zh-CN"/>
              <a:t>Click to edit Master subtitle style</a:t>
            </a:r>
            <a:endParaRPr lang="en-US" altLang="zh-CN"/>
          </a:p>
        </p:txBody>
      </p:sp>
      <p:sp>
        <p:nvSpPr>
          <p:cNvPr id="137" name="Rectangle 4"/>
          <p:cNvSpPr>
            <a:spLocks noGrp="1" noChangeArrowheads="1"/>
          </p:cNvSpPr>
          <p:nvPr>
            <p:ph type="dt" sz="half" idx="2"/>
          </p:nvPr>
        </p:nvSpPr>
        <p:spPr bwMode="auto">
          <a:xfrm>
            <a:off x="304800" y="6477000"/>
            <a:ext cx="2133600" cy="168275"/>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38" name="Rectangle 5"/>
          <p:cNvSpPr>
            <a:spLocks noGrp="1" noChangeArrowheads="1"/>
          </p:cNvSpPr>
          <p:nvPr>
            <p:ph type="ftr" sz="quarter" idx="3"/>
          </p:nvPr>
        </p:nvSpPr>
        <p:spPr bwMode="auto">
          <a:xfrm>
            <a:off x="6705600" y="6477000"/>
            <a:ext cx="2286000" cy="168275"/>
          </a:xfrm>
          <a:prstGeom prst="rect">
            <a:avLst/>
          </a:prstGeom>
          <a:ln>
            <a:miter lim="800000"/>
          </a:ln>
        </p:spPr>
        <p:txBody>
          <a:bodyPr vert="horz" wrap="square" lIns="91440" tIns="45720" rIns="91440" bIns="45720" numCol="1" anchor="t" anchorCtr="0" compatLnSpc="1"/>
          <a:lstStyle>
            <a:lvl1pPr algn="r">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rPr>
              <a:t>www.themegallery.com</a:t>
            </a: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39" name="Rectangle 6"/>
          <p:cNvSpPr>
            <a:spLocks noGrp="1" noChangeArrowheads="1"/>
          </p:cNvSpPr>
          <p:nvPr>
            <p:ph type="sldNum" sz="quarter" idx="4"/>
          </p:nvPr>
        </p:nvSpPr>
        <p:spPr bwMode="auto">
          <a:xfrm>
            <a:off x="3657600" y="6477000"/>
            <a:ext cx="2133600" cy="168275"/>
          </a:xfrm>
          <a:prstGeom prst="rect">
            <a:avLst/>
          </a:prstGeom>
          <a:ln>
            <a:miter lim="800000"/>
          </a:ln>
        </p:spPr>
        <p:txBody>
          <a:bodyPr vert="horz" wrap="square" lIns="91440" tIns="45720" rIns="91440" bIns="45720" numCol="1" anchor="t" anchorCtr="0" compatLnSpc="1"/>
          <a:p>
            <a:pPr algn="ctr">
              <a:buNone/>
            </a:pPr>
            <a:fld id="{9A0DB2DC-4C9A-4742-B13C-FB6460FD3503}" type="slidenum">
              <a:rPr lang="en-US" altLang="zh-CN" dirty="0"/>
            </a:fld>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100" name="Rectangle 4"/>
          <p:cNvSpPr>
            <a:spLocks noChangeArrowheads="1"/>
          </p:cNvSpPr>
          <p:nvPr userDrawn="1"/>
        </p:nvSpPr>
        <p:spPr bwMode="ltGray">
          <a:xfrm>
            <a:off x="581343" y="942975"/>
            <a:ext cx="396000" cy="3960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4103" name="Rectangle 7"/>
          <p:cNvSpPr>
            <a:spLocks noChangeArrowheads="1"/>
          </p:cNvSpPr>
          <p:nvPr userDrawn="1"/>
        </p:nvSpPr>
        <p:spPr bwMode="gray">
          <a:xfrm>
            <a:off x="762000" y="803275"/>
            <a:ext cx="31750" cy="684000"/>
          </a:xfrm>
          <a:prstGeom prst="rect">
            <a:avLst/>
          </a:prstGeom>
          <a:solidFill>
            <a:srgbClr val="92D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4104" name="Rectangle 8"/>
          <p:cNvSpPr>
            <a:spLocks noChangeArrowheads="1"/>
          </p:cNvSpPr>
          <p:nvPr userDrawn="1"/>
        </p:nvSpPr>
        <p:spPr bwMode="gray">
          <a:xfrm>
            <a:off x="442913" y="1136650"/>
            <a:ext cx="8352000" cy="31750"/>
          </a:xfrm>
          <a:prstGeom prst="rect">
            <a:avLst/>
          </a:prstGeom>
          <a:solidFill>
            <a:srgbClr val="92D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6096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60960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8683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295400"/>
            <a:ext cx="8229600" cy="50292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Char char="v"/>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0.png"/><Relationship Id="rId14" Type="http://schemas.openxmlformats.org/officeDocument/2006/relationships/image" Target="../media/image9.png"/><Relationship Id="rId13" Type="http://schemas.openxmlformats.org/officeDocument/2006/relationships/image" Target="../media/image1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9" descr="1"/>
          <p:cNvPicPr>
            <a:picLocks noChangeAspect="1"/>
          </p:cNvPicPr>
          <p:nvPr userDrawn="1"/>
        </p:nvPicPr>
        <p:blipFill>
          <a:blip r:embed="rId13"/>
          <a:srcRect b="38461"/>
          <a:stretch>
            <a:fillRect/>
          </a:stretch>
        </p:blipFill>
        <p:spPr>
          <a:xfrm>
            <a:off x="0" y="6324600"/>
            <a:ext cx="9144000" cy="542925"/>
          </a:xfrm>
          <a:prstGeom prst="rect">
            <a:avLst/>
          </a:prstGeom>
          <a:noFill/>
          <a:ln w="9525">
            <a:noFill/>
          </a:ln>
        </p:spPr>
      </p:pic>
      <p:sp>
        <p:nvSpPr>
          <p:cNvPr id="1041" name="Rectangle 17"/>
          <p:cNvSpPr>
            <a:spLocks noChangeArrowheads="1"/>
          </p:cNvSpPr>
          <p:nvPr userDrawn="1"/>
        </p:nvSpPr>
        <p:spPr bwMode="gray">
          <a:xfrm>
            <a:off x="0" y="0"/>
            <a:ext cx="9144000" cy="1219200"/>
          </a:xfrm>
          <a:prstGeom prst="rect">
            <a:avLst/>
          </a:prstGeom>
          <a:gradFill rotWithShape="1">
            <a:gsLst>
              <a:gs pos="0">
                <a:schemeClr val="accent1"/>
              </a:gs>
              <a:gs pos="100000">
                <a:schemeClr val="accent1">
                  <a:gamma/>
                  <a:tint val="0"/>
                  <a:invGamma/>
                </a:schemeClr>
              </a:gs>
            </a:gsLst>
            <a:lin ang="54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8" name="Rectangle 3"/>
          <p:cNvSpPr>
            <a:spLocks noGrp="1"/>
          </p:cNvSpPr>
          <p:nvPr>
            <p:ph type="body" idx="1"/>
          </p:nvPr>
        </p:nvSpPr>
        <p:spPr>
          <a:xfrm>
            <a:off x="457200" y="1295400"/>
            <a:ext cx="8229600" cy="50292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4"/>
          <p:cNvSpPr>
            <a:spLocks noGrp="1" noChangeArrowheads="1"/>
          </p:cNvSpPr>
          <p:nvPr>
            <p:ph type="dt" sz="half" idx="2"/>
          </p:nvPr>
        </p:nvSpPr>
        <p:spPr bwMode="auto">
          <a:xfrm>
            <a:off x="457200" y="6537325"/>
            <a:ext cx="2133600" cy="244475"/>
          </a:xfrm>
          <a:prstGeom prst="rect">
            <a:avLst/>
          </a:prstGeom>
          <a:noFill/>
          <a:ln w="9525">
            <a:noFill/>
            <a:miter lim="800000"/>
          </a:ln>
          <a:effectLst/>
        </p:spPr>
        <p:txBody>
          <a:bodyPr vert="horz" wrap="square" lIns="91440" tIns="45720" rIns="91440" bIns="45720" numCol="1" anchor="t" anchorCtr="0" compatLnSpc="1"/>
          <a:lstStyle>
            <a:lvl1pPr>
              <a:defRPr sz="1200">
                <a:solidFill>
                  <a:schemeClr val="bg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537325"/>
            <a:ext cx="2895600" cy="244475"/>
          </a:xfrm>
          <a:prstGeom prst="rect">
            <a:avLst/>
          </a:prstGeom>
          <a:noFill/>
          <a:ln w="9525">
            <a:noFill/>
            <a:miter lim="800000"/>
          </a:ln>
          <a:effectLst/>
        </p:spPr>
        <p:txBody>
          <a:bodyPr vert="horz" wrap="square" lIns="91440" tIns="45720" rIns="91440" bIns="45720" numCol="1" anchor="t" anchorCtr="0" compatLnSpc="1"/>
          <a:lstStyle>
            <a:lvl1pPr algn="ctr">
              <a:defRPr sz="1200">
                <a:solidFill>
                  <a:schemeClr val="bg1"/>
                </a:solidFill>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537325"/>
            <a:ext cx="2133600" cy="244475"/>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bg1"/>
                </a:solidFill>
              </a:defRPr>
            </a:lvl1p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
        <p:nvSpPr>
          <p:cNvPr id="1039" name="Rectangle 2"/>
          <p:cNvSpPr>
            <a:spLocks noGrp="1"/>
          </p:cNvSpPr>
          <p:nvPr>
            <p:ph type="title"/>
          </p:nvPr>
        </p:nvSpPr>
        <p:spPr>
          <a:xfrm>
            <a:off x="457200" y="228600"/>
            <a:ext cx="8229600" cy="868363"/>
          </a:xfrm>
          <a:prstGeom prst="rect">
            <a:avLst/>
          </a:prstGeom>
          <a:noFill/>
          <a:ln w="9525">
            <a:noFill/>
          </a:ln>
        </p:spPr>
        <p:txBody>
          <a:bodyPr anchor="ctr" anchorCtr="0"/>
          <a:p>
            <a:pPr lvl="0"/>
            <a:r>
              <a:rPr lang="en-US" altLang="zh-CN" dirty="0"/>
              <a:t>Click to edit Master title style</a:t>
            </a:r>
            <a:endParaRPr lang="en-US" altLang="zh-CN" dirty="0"/>
          </a:p>
        </p:txBody>
      </p:sp>
      <p:pic>
        <p:nvPicPr>
          <p:cNvPr id="1040" name="Picture 20" descr="a1"/>
          <p:cNvPicPr>
            <a:picLocks noChangeAspect="1"/>
          </p:cNvPicPr>
          <p:nvPr userDrawn="1"/>
        </p:nvPicPr>
        <p:blipFill>
          <a:blip r:embed="rId14"/>
          <a:stretch>
            <a:fillRect/>
          </a:stretch>
        </p:blipFill>
        <p:spPr>
          <a:xfrm>
            <a:off x="152400" y="0"/>
            <a:ext cx="942975" cy="1082675"/>
          </a:xfrm>
          <a:prstGeom prst="rect">
            <a:avLst/>
          </a:prstGeom>
          <a:noFill/>
          <a:ln w="9525">
            <a:noFill/>
          </a:ln>
        </p:spPr>
      </p:pic>
      <p:pic>
        <p:nvPicPr>
          <p:cNvPr id="3" name="Picture 21" descr="b_1"/>
          <p:cNvPicPr>
            <a:picLocks noChangeAspect="1"/>
          </p:cNvPicPr>
          <p:nvPr userDrawn="1"/>
        </p:nvPicPr>
        <p:blipFill>
          <a:blip r:embed="rId15"/>
          <a:stretch>
            <a:fillRect/>
          </a:stretch>
        </p:blipFill>
        <p:spPr>
          <a:xfrm>
            <a:off x="7848600" y="152400"/>
            <a:ext cx="1234440" cy="5365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hf sldNum="0" hdr="0" ftr="0" dt="0"/>
  <p:txStyles>
    <p:titleStyle>
      <a:lvl1pPr algn="ctr" rtl="0" eaLnBrk="0" fontAlgn="base" hangingPunct="0">
        <a:spcBef>
          <a:spcPct val="0"/>
        </a:spcBef>
        <a:spcAft>
          <a:spcPct val="0"/>
        </a:spcAft>
        <a:defRPr sz="4200" b="1" i="1">
          <a:solidFill>
            <a:schemeClr val="tx1"/>
          </a:solidFill>
          <a:latin typeface="+mj-lt"/>
          <a:ea typeface="+mj-ea"/>
          <a:cs typeface="+mj-cs"/>
        </a:defRPr>
      </a:lvl1pPr>
      <a:lvl2pPr algn="ctr" rtl="0" eaLnBrk="0" fontAlgn="base" hangingPunct="0">
        <a:spcBef>
          <a:spcPct val="0"/>
        </a:spcBef>
        <a:spcAft>
          <a:spcPct val="0"/>
        </a:spcAft>
        <a:defRPr sz="4200" b="1" i="1">
          <a:solidFill>
            <a:schemeClr val="tx1"/>
          </a:solidFill>
          <a:latin typeface="Arial" panose="020B0604020202020204" pitchFamily="34" charset="0"/>
        </a:defRPr>
      </a:lvl2pPr>
      <a:lvl3pPr algn="ctr" rtl="0" eaLnBrk="0" fontAlgn="base" hangingPunct="0">
        <a:spcBef>
          <a:spcPct val="0"/>
        </a:spcBef>
        <a:spcAft>
          <a:spcPct val="0"/>
        </a:spcAft>
        <a:defRPr sz="4200" b="1" i="1">
          <a:solidFill>
            <a:schemeClr val="tx1"/>
          </a:solidFill>
          <a:latin typeface="Arial" panose="020B0604020202020204" pitchFamily="34" charset="0"/>
        </a:defRPr>
      </a:lvl3pPr>
      <a:lvl4pPr algn="ctr" rtl="0" eaLnBrk="0" fontAlgn="base" hangingPunct="0">
        <a:spcBef>
          <a:spcPct val="0"/>
        </a:spcBef>
        <a:spcAft>
          <a:spcPct val="0"/>
        </a:spcAft>
        <a:defRPr sz="4200" b="1" i="1">
          <a:solidFill>
            <a:schemeClr val="tx1"/>
          </a:solidFill>
          <a:latin typeface="Arial" panose="020B0604020202020204" pitchFamily="34" charset="0"/>
        </a:defRPr>
      </a:lvl4pPr>
      <a:lvl5pPr algn="ctr" rtl="0" eaLnBrk="0" fontAlgn="base" hangingPunct="0">
        <a:spcBef>
          <a:spcPct val="0"/>
        </a:spcBef>
        <a:spcAft>
          <a:spcPct val="0"/>
        </a:spcAft>
        <a:defRPr sz="4200" b="1" i="1">
          <a:solidFill>
            <a:schemeClr val="tx1"/>
          </a:solidFill>
          <a:latin typeface="Arial" panose="020B0604020202020204" pitchFamily="34" charset="0"/>
        </a:defRPr>
      </a:lvl5pPr>
      <a:lvl6pPr marL="457200" algn="ctr" rtl="0" fontAlgn="base">
        <a:spcBef>
          <a:spcPct val="0"/>
        </a:spcBef>
        <a:spcAft>
          <a:spcPct val="0"/>
        </a:spcAft>
        <a:defRPr sz="4200" b="1" i="1">
          <a:solidFill>
            <a:schemeClr val="tx1"/>
          </a:solidFill>
          <a:latin typeface="Arial" panose="020B0604020202020204" pitchFamily="34" charset="0"/>
        </a:defRPr>
      </a:lvl6pPr>
      <a:lvl7pPr marL="914400" algn="ctr" rtl="0" fontAlgn="base">
        <a:spcBef>
          <a:spcPct val="0"/>
        </a:spcBef>
        <a:spcAft>
          <a:spcPct val="0"/>
        </a:spcAft>
        <a:defRPr sz="4200" b="1" i="1">
          <a:solidFill>
            <a:schemeClr val="tx1"/>
          </a:solidFill>
          <a:latin typeface="Arial" panose="020B0604020202020204" pitchFamily="34" charset="0"/>
        </a:defRPr>
      </a:lvl7pPr>
      <a:lvl8pPr marL="1371600" algn="ctr" rtl="0" fontAlgn="base">
        <a:spcBef>
          <a:spcPct val="0"/>
        </a:spcBef>
        <a:spcAft>
          <a:spcPct val="0"/>
        </a:spcAft>
        <a:defRPr sz="4200" b="1" i="1">
          <a:solidFill>
            <a:schemeClr val="tx1"/>
          </a:solidFill>
          <a:latin typeface="Arial" panose="020B0604020202020204" pitchFamily="34" charset="0"/>
        </a:defRPr>
      </a:lvl8pPr>
      <a:lvl9pPr marL="1828800" algn="ctr" rtl="0" fontAlgn="base">
        <a:spcBef>
          <a:spcPct val="0"/>
        </a:spcBef>
        <a:spcAft>
          <a:spcPct val="0"/>
        </a:spcAft>
        <a:defRPr sz="4200" b="1" i="1">
          <a:solidFill>
            <a:schemeClr val="tx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slide" Target="slide34.xml"/><Relationship Id="rId2" Type="http://schemas.openxmlformats.org/officeDocument/2006/relationships/slide" Target="slide6.xml"/><Relationship Id="rId1"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9" Type="http://schemas.openxmlformats.org/officeDocument/2006/relationships/image" Target="../media/image21.wmf"/><Relationship Id="rId8" Type="http://schemas.openxmlformats.org/officeDocument/2006/relationships/oleObject" Target="../embeddings/oleObject4.bin"/><Relationship Id="rId7" Type="http://schemas.openxmlformats.org/officeDocument/2006/relationships/image" Target="../media/image20.wmf"/><Relationship Id="rId6" Type="http://schemas.openxmlformats.org/officeDocument/2006/relationships/oleObject" Target="../embeddings/oleObject3.bin"/><Relationship Id="rId5" Type="http://schemas.openxmlformats.org/officeDocument/2006/relationships/image" Target="../media/image19.wmf"/><Relationship Id="rId4" Type="http://schemas.openxmlformats.org/officeDocument/2006/relationships/oleObject" Target="../embeddings/oleObject2.bin"/><Relationship Id="rId3" Type="http://schemas.openxmlformats.org/officeDocument/2006/relationships/image" Target="../media/image18.wmf"/><Relationship Id="rId2" Type="http://schemas.openxmlformats.org/officeDocument/2006/relationships/oleObject" Target="../embeddings/oleObject1.bin"/><Relationship Id="rId13" Type="http://schemas.openxmlformats.org/officeDocument/2006/relationships/vmlDrawing" Target="../drawings/vmlDrawing1.vml"/><Relationship Id="rId12" Type="http://schemas.openxmlformats.org/officeDocument/2006/relationships/slideLayout" Target="../slideLayouts/slideLayout2.xml"/><Relationship Id="rId11" Type="http://schemas.openxmlformats.org/officeDocument/2006/relationships/image" Target="../media/image22.wmf"/><Relationship Id="rId10" Type="http://schemas.openxmlformats.org/officeDocument/2006/relationships/oleObject" Target="../embeddings/oleObject5.bin"/><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image" Target="../media/image25.emf"/><Relationship Id="rId2" Type="http://schemas.openxmlformats.org/officeDocument/2006/relationships/oleObject" Target="../embeddings/oleObject6.bin"/><Relationship Id="rId1" Type="http://schemas.openxmlformats.org/officeDocument/2006/relationships/hyperlink" Target="../../PLD/ch6-1.pps" TargetMode="External"/></Relationships>
</file>

<file path=ppt/slides/_rels/slide16.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27.wmf"/><Relationship Id="rId3" Type="http://schemas.openxmlformats.org/officeDocument/2006/relationships/oleObject" Target="../embeddings/oleObject8.bin"/><Relationship Id="rId2" Type="http://schemas.openxmlformats.org/officeDocument/2006/relationships/image" Target="../media/image26.wmf"/><Relationship Id="rId1" Type="http://schemas.openxmlformats.org/officeDocument/2006/relationships/oleObject" Target="../embeddings/oleObject7.bin"/></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28.wmf"/><Relationship Id="rId1" Type="http://schemas.openxmlformats.org/officeDocument/2006/relationships/oleObject" Target="../embeddings/oleObject9.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4.xml.rels><?xml version="1.0" encoding="UTF-8" standalone="yes"?>
<Relationships xmlns="http://schemas.openxmlformats.org/package/2006/relationships"><Relationship Id="rId9" Type="http://schemas.openxmlformats.org/officeDocument/2006/relationships/vmlDrawing" Target="../drawings/vmlDrawing5.vml"/><Relationship Id="rId8" Type="http://schemas.openxmlformats.org/officeDocument/2006/relationships/slideLayout" Target="../slideLayouts/slideLayout2.xml"/><Relationship Id="rId7" Type="http://schemas.openxmlformats.org/officeDocument/2006/relationships/image" Target="../media/image35.wmf"/><Relationship Id="rId6" Type="http://schemas.openxmlformats.org/officeDocument/2006/relationships/oleObject" Target="../embeddings/oleObject12.bin"/><Relationship Id="rId5" Type="http://schemas.openxmlformats.org/officeDocument/2006/relationships/image" Target="../media/image34.wmf"/><Relationship Id="rId4" Type="http://schemas.openxmlformats.org/officeDocument/2006/relationships/oleObject" Target="../embeddings/oleObject11.bin"/><Relationship Id="rId3" Type="http://schemas.openxmlformats.org/officeDocument/2006/relationships/image" Target="../media/image33.wmf"/><Relationship Id="rId2" Type="http://schemas.openxmlformats.org/officeDocument/2006/relationships/oleObject" Target="../embeddings/oleObject10.bin"/><Relationship Id="rId1" Type="http://schemas.openxmlformats.org/officeDocument/2006/relationships/image" Target="../media/image32.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26.xml.rels><?xml version="1.0" encoding="UTF-8" standalone="yes"?>
<Relationships xmlns="http://schemas.openxmlformats.org/package/2006/relationships"><Relationship Id="rId9" Type="http://schemas.openxmlformats.org/officeDocument/2006/relationships/oleObject" Target="../embeddings/oleObject17.bin"/><Relationship Id="rId8" Type="http://schemas.openxmlformats.org/officeDocument/2006/relationships/image" Target="../media/image42.wmf"/><Relationship Id="rId7" Type="http://schemas.openxmlformats.org/officeDocument/2006/relationships/oleObject" Target="../embeddings/oleObject16.bin"/><Relationship Id="rId6" Type="http://schemas.openxmlformats.org/officeDocument/2006/relationships/image" Target="../media/image41.wmf"/><Relationship Id="rId5" Type="http://schemas.openxmlformats.org/officeDocument/2006/relationships/oleObject" Target="../embeddings/oleObject15.bin"/><Relationship Id="rId4" Type="http://schemas.openxmlformats.org/officeDocument/2006/relationships/image" Target="../media/image40.wmf"/><Relationship Id="rId3" Type="http://schemas.openxmlformats.org/officeDocument/2006/relationships/oleObject" Target="../embeddings/oleObject14.bin"/><Relationship Id="rId2" Type="http://schemas.openxmlformats.org/officeDocument/2006/relationships/image" Target="../media/image39.wmf"/><Relationship Id="rId18" Type="http://schemas.openxmlformats.org/officeDocument/2006/relationships/vmlDrawing" Target="../drawings/vmlDrawing6.vml"/><Relationship Id="rId17" Type="http://schemas.openxmlformats.org/officeDocument/2006/relationships/slideLayout" Target="../slideLayouts/slideLayout2.xml"/><Relationship Id="rId16" Type="http://schemas.openxmlformats.org/officeDocument/2006/relationships/image" Target="../media/image46.wmf"/><Relationship Id="rId15" Type="http://schemas.openxmlformats.org/officeDocument/2006/relationships/oleObject" Target="../embeddings/oleObject20.bin"/><Relationship Id="rId14" Type="http://schemas.openxmlformats.org/officeDocument/2006/relationships/image" Target="../media/image45.wmf"/><Relationship Id="rId13" Type="http://schemas.openxmlformats.org/officeDocument/2006/relationships/oleObject" Target="../embeddings/oleObject19.bin"/><Relationship Id="rId12" Type="http://schemas.openxmlformats.org/officeDocument/2006/relationships/image" Target="../media/image44.wmf"/><Relationship Id="rId11" Type="http://schemas.openxmlformats.org/officeDocument/2006/relationships/oleObject" Target="../embeddings/oleObject18.bin"/><Relationship Id="rId10" Type="http://schemas.openxmlformats.org/officeDocument/2006/relationships/image" Target="../media/image43.wmf"/><Relationship Id="rId1" Type="http://schemas.openxmlformats.org/officeDocument/2006/relationships/oleObject" Target="../embeddings/oleObject13.bin"/></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2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1.wmf"/><Relationship Id="rId7" Type="http://schemas.openxmlformats.org/officeDocument/2006/relationships/oleObject" Target="../embeddings/oleObject24.bin"/><Relationship Id="rId6" Type="http://schemas.openxmlformats.org/officeDocument/2006/relationships/image" Target="../media/image50.wmf"/><Relationship Id="rId5" Type="http://schemas.openxmlformats.org/officeDocument/2006/relationships/oleObject" Target="../embeddings/oleObject23.bin"/><Relationship Id="rId4" Type="http://schemas.openxmlformats.org/officeDocument/2006/relationships/image" Target="../media/image49.wmf"/><Relationship Id="rId3" Type="http://schemas.openxmlformats.org/officeDocument/2006/relationships/oleObject" Target="../embeddings/oleObject22.bin"/><Relationship Id="rId2" Type="http://schemas.openxmlformats.org/officeDocument/2006/relationships/image" Target="../media/image48.wmf"/><Relationship Id="rId10" Type="http://schemas.openxmlformats.org/officeDocument/2006/relationships/vmlDrawing" Target="../drawings/vmlDrawing7.vml"/><Relationship Id="rId1" Type="http://schemas.openxmlformats.org/officeDocument/2006/relationships/oleObject" Target="../embeddings/oleObject21.bin"/></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56.wmf"/><Relationship Id="rId1" Type="http://schemas.openxmlformats.org/officeDocument/2006/relationships/oleObject" Target="../embeddings/oleObject25.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8.png"/><Relationship Id="rId1" Type="http://schemas.openxmlformats.org/officeDocument/2006/relationships/tags" Target="../tags/tag1.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2.wmf"/><Relationship Id="rId1" Type="http://schemas.openxmlformats.org/officeDocument/2006/relationships/image" Target="../media/image61.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TextBox 8"/>
          <p:cNvSpPr txBox="1">
            <a:spLocks noChangeArrowheads="1"/>
          </p:cNvSpPr>
          <p:nvPr/>
        </p:nvSpPr>
        <p:spPr bwMode="auto">
          <a:xfrm>
            <a:off x="1066800" y="2362200"/>
            <a:ext cx="6786880" cy="90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lnSpc>
                <a:spcPct val="120000"/>
              </a:lnSpc>
            </a:pPr>
            <a:r>
              <a:rPr lang="zh-CN" altLang="en-US" sz="4400" b="1" dirty="0">
                <a:solidFill>
                  <a:srgbClr val="FF0000"/>
                </a:solidFill>
                <a:latin typeface="微软雅黑" panose="020B0503020204020204" charset="-122"/>
                <a:ea typeface="微软雅黑" panose="020B0503020204020204" charset="-122"/>
              </a:rPr>
              <a:t>《数字电子技术》</a:t>
            </a:r>
            <a:endParaRPr lang="zh-CN" altLang="en-US" sz="4400" b="1" dirty="0">
              <a:solidFill>
                <a:srgbClr val="FF0000"/>
              </a:solidFill>
              <a:latin typeface="微软雅黑" panose="020B0503020204020204" charset="-122"/>
              <a:ea typeface="微软雅黑" panose="020B0503020204020204" charset="-122"/>
            </a:endParaRPr>
          </a:p>
        </p:txBody>
      </p:sp>
      <p:pic>
        <p:nvPicPr>
          <p:cNvPr id="100" name="图片 99"/>
          <p:cNvPicPr/>
          <p:nvPr/>
        </p:nvPicPr>
        <p:blipFill>
          <a:blip r:embed="rId1"/>
          <a:srcRect l="6440" t="10369" r="5160" b="7142"/>
          <a:stretch>
            <a:fillRect/>
          </a:stretch>
        </p:blipFill>
        <p:spPr>
          <a:xfrm>
            <a:off x="0" y="4953000"/>
            <a:ext cx="3024000" cy="2014855"/>
          </a:xfrm>
          <a:prstGeom prst="rect">
            <a:avLst/>
          </a:prstGeom>
          <a:noFill/>
          <a:ln w="9525">
            <a:noFill/>
          </a:ln>
        </p:spPr>
      </p:pic>
      <p:pic>
        <p:nvPicPr>
          <p:cNvPr id="2" name="图片 1"/>
          <p:cNvPicPr/>
          <p:nvPr/>
        </p:nvPicPr>
        <p:blipFill>
          <a:blip r:embed="rId2"/>
          <a:stretch>
            <a:fillRect/>
          </a:stretch>
        </p:blipFill>
        <p:spPr>
          <a:xfrm>
            <a:off x="3013710" y="4953000"/>
            <a:ext cx="3024000" cy="2026920"/>
          </a:xfrm>
          <a:prstGeom prst="rect">
            <a:avLst/>
          </a:prstGeom>
          <a:noFill/>
          <a:ln w="9525">
            <a:noFill/>
          </a:ln>
        </p:spPr>
      </p:pic>
      <p:pic>
        <p:nvPicPr>
          <p:cNvPr id="101" name="图片 100"/>
          <p:cNvPicPr/>
          <p:nvPr/>
        </p:nvPicPr>
        <p:blipFill>
          <a:blip r:embed="rId3"/>
          <a:srcRect l="11780" t="21920" r="10760" b="21160"/>
          <a:stretch>
            <a:fillRect/>
          </a:stretch>
        </p:blipFill>
        <p:spPr>
          <a:xfrm>
            <a:off x="6041390" y="4953000"/>
            <a:ext cx="3096895" cy="204343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0"/>
                                        </p:tgtEl>
                                        <p:attrNameLst>
                                          <p:attrName>style.visibility</p:attrName>
                                        </p:attrNameLst>
                                      </p:cBhvr>
                                      <p:to>
                                        <p:strVal val="visible"/>
                                      </p:to>
                                    </p:set>
                                    <p:animEffect transition="in" filter="wipe(left)">
                                      <p:cBhvr>
                                        <p:cTn id="11" dur="500"/>
                                        <p:tgtEl>
                                          <p:spTgt spid="10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01"/>
                                        </p:tgtEl>
                                        <p:attrNameLst>
                                          <p:attrName>style.visibility</p:attrName>
                                        </p:attrNameLst>
                                      </p:cBhvr>
                                      <p:to>
                                        <p:strVal val="visible"/>
                                      </p:to>
                                    </p:set>
                                    <p:animEffect transition="in" filter="wipe(left)">
                                      <p:cBhvr>
                                        <p:cTn id="19"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31" name="Rectangle 9"/>
          <p:cNvSpPr>
            <a:spLocks noGrp="1"/>
          </p:cNvSpPr>
          <p:nvPr>
            <p:ph type="title"/>
          </p:nvPr>
        </p:nvSpPr>
        <p:spPr>
          <a:xfrm>
            <a:off x="304800" y="381000"/>
            <a:ext cx="8229600" cy="868363"/>
          </a:xfrm>
        </p:spPr>
        <p:txBody>
          <a:bodyPr vert="horz" wrap="square" lIns="91440" tIns="45720" rIns="91440" bIns="45720" anchor="ctr" anchorCtr="0"/>
          <a:p>
            <a:pPr eaLnBrk="1" hangingPunct="1"/>
            <a:r>
              <a:rPr lang="zh-CN" altLang="en-US" sz="3200" i="0" kern="1200" dirty="0">
                <a:solidFill>
                  <a:srgbClr val="FF0000"/>
                </a:solidFill>
                <a:latin typeface="黑体" panose="02010609060101010101" pitchFamily="49" charset="-122"/>
                <a:ea typeface="黑体" panose="02010609060101010101" pitchFamily="49" charset="-122"/>
                <a:cs typeface="+mn-cs"/>
              </a:rPr>
              <a:t>第</a:t>
            </a:r>
            <a:r>
              <a:rPr lang="en-US" altLang="zh-CN" sz="3200" i="0" kern="1200" dirty="0">
                <a:solidFill>
                  <a:srgbClr val="FF0000"/>
                </a:solidFill>
                <a:latin typeface="黑体" panose="02010609060101010101" pitchFamily="49" charset="-122"/>
                <a:ea typeface="黑体" panose="02010609060101010101" pitchFamily="49" charset="-122"/>
                <a:cs typeface="+mn-cs"/>
              </a:rPr>
              <a:t>7</a:t>
            </a:r>
            <a:r>
              <a:rPr lang="zh-CN" altLang="en-US" sz="3200" i="0" kern="1200" dirty="0">
                <a:solidFill>
                  <a:srgbClr val="FF0000"/>
                </a:solidFill>
                <a:latin typeface="黑体" panose="02010609060101010101" pitchFamily="49" charset="-122"/>
                <a:ea typeface="黑体" panose="02010609060101010101" pitchFamily="49" charset="-122"/>
                <a:cs typeface="+mn-cs"/>
              </a:rPr>
              <a:t>章</a:t>
            </a:r>
            <a:r>
              <a:rPr lang="en-US" altLang="zh-CN" sz="3200" i="0" kern="1200" dirty="0">
                <a:solidFill>
                  <a:srgbClr val="FF0000"/>
                </a:solidFill>
                <a:latin typeface="黑体" panose="02010609060101010101" pitchFamily="49" charset="-122"/>
                <a:ea typeface="黑体" panose="02010609060101010101" pitchFamily="49" charset="-122"/>
                <a:cs typeface="+mn-cs"/>
              </a:rPr>
              <a:t> </a:t>
            </a:r>
            <a:r>
              <a:rPr lang="zh-CN" altLang="en-US" sz="3200" i="0" kern="1200" dirty="0">
                <a:solidFill>
                  <a:srgbClr val="FF0000"/>
                </a:solidFill>
                <a:latin typeface="黑体" panose="02010609060101010101" pitchFamily="49" charset="-122"/>
                <a:ea typeface="黑体" panose="02010609060101010101" pitchFamily="49" charset="-122"/>
                <a:cs typeface="+mn-cs"/>
              </a:rPr>
              <a:t>脉冲波形的产生与整形</a:t>
            </a:r>
            <a:r>
              <a:rPr lang="zh-CN" altLang="en-US" sz="3200" i="0" kern="1200" dirty="0">
                <a:solidFill>
                  <a:srgbClr val="FF0000"/>
                </a:solidFill>
                <a:latin typeface="黑体" panose="02010609060101010101" pitchFamily="49" charset="-122"/>
                <a:ea typeface="黑体" panose="02010609060101010101" pitchFamily="49" charset="-122"/>
                <a:cs typeface="+mn-cs"/>
              </a:rPr>
              <a:t>电路</a:t>
            </a:r>
            <a:endParaRPr lang="zh-CN" altLang="en-US" sz="3200" i="0" kern="1200" dirty="0">
              <a:solidFill>
                <a:srgbClr val="FF0000"/>
              </a:solidFill>
              <a:latin typeface="黑体" panose="02010609060101010101" pitchFamily="49" charset="-122"/>
              <a:ea typeface="黑体" panose="02010609060101010101" pitchFamily="49" charset="-122"/>
              <a:cs typeface="+mn-cs"/>
            </a:endParaRPr>
          </a:p>
        </p:txBody>
      </p:sp>
      <p:sp>
        <p:nvSpPr>
          <p:cNvPr id="5123" name="Line 2"/>
          <p:cNvSpPr/>
          <p:nvPr/>
        </p:nvSpPr>
        <p:spPr>
          <a:xfrm flipV="1">
            <a:off x="2671763" y="1948180"/>
            <a:ext cx="531812" cy="838200"/>
          </a:xfrm>
          <a:prstGeom prst="line">
            <a:avLst/>
          </a:prstGeom>
          <a:ln w="12700" cap="rnd" cmpd="sng">
            <a:solidFill>
              <a:srgbClr val="003366"/>
            </a:solidFill>
            <a:prstDash val="sysDot"/>
            <a:headEnd type="none" w="med" len="med"/>
            <a:tailEnd type="none" w="med" len="med"/>
          </a:ln>
        </p:spPr>
      </p:sp>
      <p:sp>
        <p:nvSpPr>
          <p:cNvPr id="5125" name="Line 3"/>
          <p:cNvSpPr/>
          <p:nvPr/>
        </p:nvSpPr>
        <p:spPr>
          <a:xfrm>
            <a:off x="2738120" y="4436110"/>
            <a:ext cx="463550" cy="612775"/>
          </a:xfrm>
          <a:prstGeom prst="line">
            <a:avLst/>
          </a:prstGeom>
          <a:ln w="12700" cap="rnd" cmpd="sng">
            <a:solidFill>
              <a:srgbClr val="003366"/>
            </a:solidFill>
            <a:prstDash val="sysDot"/>
            <a:headEnd type="none" w="med" len="med"/>
            <a:tailEnd type="none" w="med" len="med"/>
          </a:ln>
        </p:spPr>
      </p:sp>
      <p:sp>
        <p:nvSpPr>
          <p:cNvPr id="5126" name="Line 4"/>
          <p:cNvSpPr/>
          <p:nvPr/>
        </p:nvSpPr>
        <p:spPr>
          <a:xfrm>
            <a:off x="3203575" y="1948180"/>
            <a:ext cx="609600" cy="0"/>
          </a:xfrm>
          <a:prstGeom prst="line">
            <a:avLst/>
          </a:prstGeom>
          <a:ln w="12700" cap="rnd" cmpd="sng">
            <a:solidFill>
              <a:srgbClr val="003366"/>
            </a:solidFill>
            <a:prstDash val="sysDot"/>
            <a:headEnd type="none" w="med" len="med"/>
            <a:tailEnd type="none" w="med" len="med"/>
          </a:ln>
        </p:spPr>
      </p:sp>
      <p:sp>
        <p:nvSpPr>
          <p:cNvPr id="5127" name="Line 5"/>
          <p:cNvSpPr/>
          <p:nvPr/>
        </p:nvSpPr>
        <p:spPr>
          <a:xfrm>
            <a:off x="3201670" y="5048885"/>
            <a:ext cx="609600" cy="0"/>
          </a:xfrm>
          <a:prstGeom prst="line">
            <a:avLst/>
          </a:prstGeom>
          <a:ln w="12700" cap="rnd" cmpd="sng">
            <a:solidFill>
              <a:srgbClr val="003366"/>
            </a:solidFill>
            <a:prstDash val="sysDot"/>
            <a:headEnd type="none" w="med" len="med"/>
            <a:tailEnd type="none" w="med" len="med"/>
          </a:ln>
        </p:spPr>
      </p:sp>
      <p:sp>
        <p:nvSpPr>
          <p:cNvPr id="5129" name="Line 7"/>
          <p:cNvSpPr/>
          <p:nvPr/>
        </p:nvSpPr>
        <p:spPr>
          <a:xfrm>
            <a:off x="3185160" y="3460750"/>
            <a:ext cx="609600" cy="0"/>
          </a:xfrm>
          <a:prstGeom prst="line">
            <a:avLst/>
          </a:prstGeom>
          <a:ln w="12700" cap="rnd" cmpd="sng">
            <a:solidFill>
              <a:srgbClr val="003366"/>
            </a:solidFill>
            <a:prstDash val="sysDot"/>
            <a:headEnd type="none" w="med" len="med"/>
            <a:tailEnd type="none" w="med" len="med"/>
          </a:ln>
        </p:spPr>
      </p:sp>
      <p:grpSp>
        <p:nvGrpSpPr>
          <p:cNvPr id="5132" name="Group 10"/>
          <p:cNvGrpSpPr/>
          <p:nvPr/>
        </p:nvGrpSpPr>
        <p:grpSpPr>
          <a:xfrm>
            <a:off x="682625" y="2128838"/>
            <a:ext cx="2673350" cy="2671762"/>
            <a:chOff x="140" y="1419"/>
            <a:chExt cx="1684" cy="1683"/>
          </a:xfrm>
        </p:grpSpPr>
        <p:sp>
          <p:nvSpPr>
            <p:cNvPr id="7179" name="Oval 11"/>
            <p:cNvSpPr>
              <a:spLocks noChangeArrowheads="1"/>
            </p:cNvSpPr>
            <p:nvPr/>
          </p:nvSpPr>
          <p:spPr bwMode="gray">
            <a:xfrm>
              <a:off x="140" y="1419"/>
              <a:ext cx="1684" cy="1683"/>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80" name="Oval 12"/>
            <p:cNvSpPr>
              <a:spLocks noChangeArrowheads="1"/>
            </p:cNvSpPr>
            <p:nvPr/>
          </p:nvSpPr>
          <p:spPr bwMode="gray">
            <a:xfrm>
              <a:off x="251" y="1528"/>
              <a:ext cx="1461" cy="1463"/>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81" name="Oval 13"/>
            <p:cNvSpPr>
              <a:spLocks noChangeArrowheads="1"/>
            </p:cNvSpPr>
            <p:nvPr/>
          </p:nvSpPr>
          <p:spPr bwMode="gray">
            <a:xfrm>
              <a:off x="258" y="1536"/>
              <a:ext cx="1461" cy="1462"/>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60" name="Oval 14"/>
            <p:cNvSpPr/>
            <p:nvPr/>
          </p:nvSpPr>
          <p:spPr>
            <a:xfrm>
              <a:off x="323" y="1602"/>
              <a:ext cx="1317" cy="1316"/>
            </a:xfrm>
            <a:prstGeom prst="ellipse">
              <a:avLst/>
            </a:prstGeom>
            <a:solidFill>
              <a:srgbClr val="000000"/>
            </a:solidFill>
            <a:ln w="38100">
              <a:noFill/>
            </a:ln>
          </p:spPr>
          <p:txBody>
            <a:bodyPr anchor="ctr" anchorCtr="0">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5161" name="Oval 15"/>
            <p:cNvSpPr/>
            <p:nvPr/>
          </p:nvSpPr>
          <p:spPr>
            <a:xfrm>
              <a:off x="344" y="1623"/>
              <a:ext cx="1276" cy="1277"/>
            </a:xfrm>
            <a:prstGeom prst="ellipse">
              <a:avLst/>
            </a:prstGeom>
            <a:gradFill rotWithShape="1">
              <a:gsLst>
                <a:gs pos="0">
                  <a:srgbClr val="636869"/>
                </a:gs>
                <a:gs pos="100000">
                  <a:srgbClr val="D6E1E2"/>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5162" name="Oval 16"/>
            <p:cNvSpPr/>
            <p:nvPr/>
          </p:nvSpPr>
          <p:spPr>
            <a:xfrm>
              <a:off x="360" y="1630"/>
              <a:ext cx="1246" cy="1246"/>
            </a:xfrm>
            <a:prstGeom prst="ellipse">
              <a:avLst/>
            </a:prstGeom>
            <a:gradFill rotWithShape="1">
              <a:gsLst>
                <a:gs pos="0">
                  <a:srgbClr val="D6E1E2">
                    <a:alpha val="0"/>
                  </a:srgbClr>
                </a:gs>
                <a:gs pos="100000">
                  <a:srgbClr val="F1F5F5"/>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5163" name="Oval 17"/>
            <p:cNvSpPr/>
            <p:nvPr/>
          </p:nvSpPr>
          <p:spPr>
            <a:xfrm>
              <a:off x="374" y="1642"/>
              <a:ext cx="1184" cy="1164"/>
            </a:xfrm>
            <a:prstGeom prst="ellipse">
              <a:avLst/>
            </a:prstGeom>
            <a:gradFill rotWithShape="1">
              <a:gsLst>
                <a:gs pos="0">
                  <a:srgbClr val="AAB2B3"/>
                </a:gs>
                <a:gs pos="100000">
                  <a:srgbClr val="D6E1E2">
                    <a:alpha val="48000"/>
                  </a:srgbClr>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5164" name="Oval 18"/>
            <p:cNvSpPr/>
            <p:nvPr/>
          </p:nvSpPr>
          <p:spPr>
            <a:xfrm>
              <a:off x="443" y="1675"/>
              <a:ext cx="1053" cy="945"/>
            </a:xfrm>
            <a:prstGeom prst="ellipse">
              <a:avLst/>
            </a:prstGeom>
            <a:gradFill rotWithShape="1">
              <a:gsLst>
                <a:gs pos="0">
                  <a:srgbClr val="FFFFFF"/>
                </a:gs>
                <a:gs pos="100000">
                  <a:srgbClr val="D6E1E2">
                    <a:alpha val="37999"/>
                  </a:srgbClr>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pic>
          <p:nvPicPr>
            <p:cNvPr id="5165" name="Picture 19" descr="mark"/>
            <p:cNvPicPr>
              <a:picLocks noChangeAspect="1"/>
            </p:cNvPicPr>
            <p:nvPr/>
          </p:nvPicPr>
          <p:blipFill>
            <a:blip r:embed="rId1"/>
            <a:stretch>
              <a:fillRect/>
            </a:stretch>
          </p:blipFill>
          <p:spPr>
            <a:xfrm>
              <a:off x="452" y="1773"/>
              <a:ext cx="1011" cy="1003"/>
            </a:xfrm>
            <a:prstGeom prst="rect">
              <a:avLst/>
            </a:prstGeom>
            <a:noFill/>
            <a:ln w="9525">
              <a:noFill/>
            </a:ln>
          </p:spPr>
        </p:pic>
      </p:grpSp>
      <p:sp>
        <p:nvSpPr>
          <p:cNvPr id="5133" name="AutoShape 20"/>
          <p:cNvSpPr/>
          <p:nvPr/>
        </p:nvSpPr>
        <p:spPr>
          <a:xfrm>
            <a:off x="3806825" y="1676400"/>
            <a:ext cx="227711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34" name="Rectangle 21">
            <a:hlinkClick r:id="" action="ppaction://hlinkshowjump?jump=nextslide"/>
          </p:cNvPr>
          <p:cNvSpPr/>
          <p:nvPr/>
        </p:nvSpPr>
        <p:spPr>
          <a:xfrm>
            <a:off x="4121150" y="1676400"/>
            <a:ext cx="140970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8.1 </a:t>
            </a:r>
            <a:r>
              <a:rPr lang="zh-CN" altLang="en-US" sz="2400" b="1" dirty="0">
                <a:solidFill>
                  <a:srgbClr val="000000"/>
                </a:solidFill>
                <a:latin typeface="黑体" panose="02010609060101010101" pitchFamily="49" charset="-122"/>
                <a:ea typeface="黑体" panose="02010609060101010101" pitchFamily="49" charset="-122"/>
              </a:rPr>
              <a:t>概述</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15" name="AutoShape 22"/>
          <p:cNvSpPr/>
          <p:nvPr/>
        </p:nvSpPr>
        <p:spPr>
          <a:xfrm>
            <a:off x="3787775" y="3222625"/>
            <a:ext cx="360934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20" name="Rectangle 23">
            <a:hlinkClick r:id="rId2" action="ppaction://hlinksldjump"/>
          </p:cNvPr>
          <p:cNvSpPr/>
          <p:nvPr/>
        </p:nvSpPr>
        <p:spPr>
          <a:xfrm>
            <a:off x="4121150" y="3222625"/>
            <a:ext cx="303784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8.2 </a:t>
            </a:r>
            <a:r>
              <a:rPr lang="zh-CN" altLang="en-US" sz="2400" b="1" dirty="0">
                <a:solidFill>
                  <a:srgbClr val="000000"/>
                </a:solidFill>
                <a:latin typeface="黑体" panose="02010609060101010101" pitchFamily="49" charset="-122"/>
                <a:ea typeface="黑体" panose="02010609060101010101" pitchFamily="49" charset="-122"/>
              </a:rPr>
              <a:t>半导体</a:t>
            </a:r>
            <a:r>
              <a:rPr lang="zh-CN" altLang="en-US" sz="2400" b="1" dirty="0">
                <a:solidFill>
                  <a:srgbClr val="000000"/>
                </a:solidFill>
                <a:latin typeface="黑体" panose="02010609060101010101" pitchFamily="49" charset="-122"/>
                <a:ea typeface="黑体" panose="02010609060101010101" pitchFamily="49" charset="-122"/>
              </a:rPr>
              <a:t>存储器</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5139" name="Oval 26"/>
          <p:cNvSpPr/>
          <p:nvPr/>
        </p:nvSpPr>
        <p:spPr>
          <a:xfrm>
            <a:off x="3598545" y="1837055"/>
            <a:ext cx="228600" cy="228600"/>
          </a:xfrm>
          <a:prstGeom prst="ellipse">
            <a:avLst/>
          </a:prstGeom>
          <a:gradFill rotWithShape="1">
            <a:gsLst>
              <a:gs pos="0">
                <a:srgbClr val="E96E29"/>
              </a:gs>
              <a:gs pos="100000">
                <a:srgbClr val="9B491B"/>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22" name="Oval 28"/>
          <p:cNvSpPr>
            <a:spLocks noChangeArrowheads="1"/>
          </p:cNvSpPr>
          <p:nvPr/>
        </p:nvSpPr>
        <p:spPr bwMode="gray">
          <a:xfrm>
            <a:off x="3569335" y="3352800"/>
            <a:ext cx="228600" cy="228600"/>
          </a:xfrm>
          <a:prstGeom prst="ellipse">
            <a:avLst/>
          </a:prstGeom>
          <a:gradFill rotWithShape="1">
            <a:gsLst>
              <a:gs pos="0">
                <a:schemeClr val="accent2"/>
              </a:gs>
              <a:gs pos="100000">
                <a:schemeClr val="accent2">
                  <a:gamma/>
                  <a:shade val="66667"/>
                  <a:invGamma/>
                </a:schemeClr>
              </a:gs>
            </a:gsLst>
            <a:path path="shape">
              <a:fillToRect l="50000" t="50000" r="50000" b="50000"/>
            </a:path>
          </a:gradFill>
          <a:ln w="19050">
            <a:solidFill>
              <a:srgbClr val="FFFFFF"/>
            </a:solidFill>
            <a:round/>
          </a:ln>
          <a:effectLst>
            <a:outerShdw dist="63500" dir="2212194"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 name="AutoShape 29"/>
          <p:cNvSpPr/>
          <p:nvPr/>
        </p:nvSpPr>
        <p:spPr>
          <a:xfrm>
            <a:off x="3806825" y="4817110"/>
            <a:ext cx="4971415"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43" name="Rectangle 30">
            <a:hlinkClick r:id="rId3" action="ppaction://hlinksldjump"/>
          </p:cNvPr>
          <p:cNvSpPr/>
          <p:nvPr/>
        </p:nvSpPr>
        <p:spPr>
          <a:xfrm>
            <a:off x="4121150" y="4817110"/>
            <a:ext cx="397764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8.3 </a:t>
            </a:r>
            <a:r>
              <a:rPr lang="zh-CN" altLang="en-US" sz="2400" b="1" dirty="0">
                <a:solidFill>
                  <a:srgbClr val="000000"/>
                </a:solidFill>
                <a:latin typeface="黑体" panose="02010609060101010101" pitchFamily="49" charset="-122"/>
                <a:ea typeface="黑体" panose="02010609060101010101" pitchFamily="49" charset="-122"/>
              </a:rPr>
              <a:t>可编程逻辑</a:t>
            </a:r>
            <a:r>
              <a:rPr lang="zh-CN" altLang="en-US" sz="2400" b="1" dirty="0">
                <a:solidFill>
                  <a:srgbClr val="000000"/>
                </a:solidFill>
                <a:latin typeface="黑体" panose="02010609060101010101" pitchFamily="49" charset="-122"/>
                <a:ea typeface="黑体" panose="02010609060101010101" pitchFamily="49" charset="-122"/>
              </a:rPr>
              <a:t>器件</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5147" name="Oval 34"/>
          <p:cNvSpPr/>
          <p:nvPr/>
        </p:nvSpPr>
        <p:spPr>
          <a:xfrm>
            <a:off x="3594100" y="4947285"/>
            <a:ext cx="228600" cy="228600"/>
          </a:xfrm>
          <a:prstGeom prst="ellipse">
            <a:avLst/>
          </a:prstGeom>
          <a:gradFill rotWithShape="1">
            <a:gsLst>
              <a:gs pos="0">
                <a:srgbClr val="DCDC48"/>
              </a:gs>
              <a:gs pos="100000">
                <a:srgbClr val="93933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544570" y="533400"/>
            <a:ext cx="2021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8.1 </a:t>
            </a:r>
            <a:r>
              <a:rPr lang="zh-CN" altLang="en-US" b="1" dirty="0">
                <a:solidFill>
                  <a:srgbClr val="FF0000"/>
                </a:solidFill>
                <a:latin typeface="黑体" panose="02010609060101010101" pitchFamily="49" charset="-122"/>
                <a:ea typeface="黑体" panose="02010609060101010101" pitchFamily="49" charset="-122"/>
              </a:rPr>
              <a:t>概述</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46085" name="文本框 46084"/>
          <p:cNvSpPr txBox="1"/>
          <p:nvPr/>
        </p:nvSpPr>
        <p:spPr>
          <a:xfrm>
            <a:off x="762000" y="1219200"/>
            <a:ext cx="8210550" cy="645160"/>
          </a:xfrm>
          <a:prstGeom prst="rect">
            <a:avLst/>
          </a:prstGeom>
          <a:noFill/>
          <a:ln w="9525">
            <a:noFill/>
          </a:ln>
        </p:spPr>
        <p:txBody>
          <a:bodyPr>
            <a:spAutoFit/>
          </a:bodyPr>
          <a:p>
            <a:pPr algn="l">
              <a:lnSpc>
                <a:spcPct val="150000"/>
              </a:lnSpc>
              <a:spcBef>
                <a:spcPct val="50000"/>
              </a:spcBef>
            </a:pPr>
            <a:r>
              <a:rPr lang="zh-CN" altLang="en-US" sz="2400" b="1" dirty="0">
                <a:solidFill>
                  <a:srgbClr val="FF0000"/>
                </a:solidFill>
                <a:latin typeface="Times New Roman" panose="02020603050405020304" charset="0"/>
                <a:ea typeface="楷体" panose="02010609060101010101" charset="-122"/>
              </a:rPr>
              <a:t>半导体存储器</a:t>
            </a:r>
            <a:r>
              <a:rPr lang="zh-CN" altLang="en-US" sz="2400" b="1" dirty="0">
                <a:solidFill>
                  <a:srgbClr val="000066"/>
                </a:solidFill>
                <a:latin typeface="Times New Roman" panose="02020603050405020304" charset="0"/>
                <a:ea typeface="楷体" panose="02010609060101010101" charset="-122"/>
              </a:rPr>
              <a:t>能存放大量二值信息的大规模集成</a:t>
            </a:r>
            <a:r>
              <a:rPr lang="zh-CN" altLang="en-US" sz="2400" b="1" dirty="0">
                <a:solidFill>
                  <a:srgbClr val="000066"/>
                </a:solidFill>
                <a:latin typeface="Times New Roman" panose="02020603050405020304" charset="0"/>
                <a:ea typeface="楷体" panose="02010609060101010101" charset="-122"/>
              </a:rPr>
              <a:t>器件。</a:t>
            </a:r>
            <a:endParaRPr lang="zh-CN" altLang="en-US" sz="2400" b="1" dirty="0">
              <a:solidFill>
                <a:srgbClr val="000066"/>
              </a:solidFill>
              <a:latin typeface="Times New Roman" panose="02020603050405020304" charset="0"/>
              <a:ea typeface="楷体" panose="02010609060101010101" charset="-122"/>
            </a:endParaRPr>
          </a:p>
        </p:txBody>
      </p:sp>
      <p:sp>
        <p:nvSpPr>
          <p:cNvPr id="46086" name="文本框 46085"/>
          <p:cNvSpPr txBox="1"/>
          <p:nvPr/>
        </p:nvSpPr>
        <p:spPr>
          <a:xfrm>
            <a:off x="533083" y="3862070"/>
            <a:ext cx="8208962" cy="2306955"/>
          </a:xfrm>
          <a:prstGeom prst="rect">
            <a:avLst/>
          </a:prstGeom>
          <a:noFill/>
          <a:ln w="9525">
            <a:noFill/>
          </a:ln>
        </p:spPr>
        <p:txBody>
          <a:bodyPr>
            <a:spAutoFit/>
          </a:bodyPr>
          <a:p>
            <a:pPr algn="l">
              <a:lnSpc>
                <a:spcPct val="150000"/>
              </a:lnSpc>
              <a:spcBef>
                <a:spcPct val="50000"/>
              </a:spcBef>
            </a:pPr>
            <a:r>
              <a:rPr lang="zh-CN" altLang="en-US" sz="2400" b="1" dirty="0">
                <a:solidFill>
                  <a:srgbClr val="FF0000"/>
                </a:solidFill>
                <a:latin typeface="Times New Roman" panose="02020603050405020304" charset="0"/>
                <a:ea typeface="楷体" panose="02010609060101010101" charset="-122"/>
              </a:rPr>
              <a:t>可编程逻辑器件</a:t>
            </a:r>
            <a:r>
              <a:rPr lang="zh-CN" altLang="en-US" sz="2400" b="1" dirty="0">
                <a:solidFill>
                  <a:srgbClr val="000066"/>
                </a:solidFill>
                <a:latin typeface="Times New Roman" panose="02020603050405020304" charset="0"/>
                <a:ea typeface="楷体" panose="02010609060101010101" charset="-122"/>
              </a:rPr>
              <a:t>(Programmable Logic Device，简称PLD)是通过编程来实现数字逻辑功能的一种ASIC，由用户进行编程来决定其要实现的逻辑功能。它具有集成度高、结构灵活、处理速度快、可靠性高等优点。</a:t>
            </a:r>
            <a:endParaRPr lang="zh-CN" altLang="en-US" sz="2400" b="1" dirty="0">
              <a:solidFill>
                <a:srgbClr val="000066"/>
              </a:solidFill>
              <a:latin typeface="Times New Roman" panose="02020603050405020304" charset="0"/>
              <a:ea typeface="楷体" panose="02010609060101010101" charset="-122"/>
            </a:endParaRPr>
          </a:p>
        </p:txBody>
      </p:sp>
      <p:sp>
        <p:nvSpPr>
          <p:cNvPr id="46088" name="矩形 46087"/>
          <p:cNvSpPr/>
          <p:nvPr/>
        </p:nvSpPr>
        <p:spPr>
          <a:xfrm>
            <a:off x="798513" y="1995488"/>
            <a:ext cx="5292725" cy="460375"/>
          </a:xfrm>
          <a:prstGeom prst="rect">
            <a:avLst/>
          </a:prstGeom>
          <a:noFill/>
          <a:ln w="9525">
            <a:noFill/>
          </a:ln>
        </p:spPr>
        <p:txBody>
          <a:bodyPr>
            <a:spAutoFit/>
          </a:bodyPr>
          <a:p>
            <a:pPr algn="l"/>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存储器的主要性能指标</a:t>
            </a:r>
            <a:r>
              <a:rPr lang="en-US" altLang="zh-CN" sz="2400" b="1">
                <a:solidFill>
                  <a:srgbClr val="1318F3"/>
                </a:solidFill>
                <a:latin typeface="Times New Roman" panose="02020603050405020304" charset="0"/>
                <a:ea typeface="楷体" panose="02010609060101010101" charset="-122"/>
                <a:cs typeface="Times New Roman" panose="02020603050405020304" charset="0"/>
              </a:rPr>
              <a:t>:</a:t>
            </a:r>
            <a:endParaRPr lang="en-US" altLang="zh-CN" sz="2400" b="1">
              <a:solidFill>
                <a:srgbClr val="1318F3"/>
              </a:solidFill>
              <a:latin typeface="Times New Roman" panose="02020603050405020304" charset="0"/>
              <a:ea typeface="楷体" panose="02010609060101010101" charset="-122"/>
              <a:cs typeface="Times New Roman" panose="02020603050405020304" charset="0"/>
            </a:endParaRPr>
          </a:p>
        </p:txBody>
      </p:sp>
      <p:sp>
        <p:nvSpPr>
          <p:cNvPr id="46089" name="矩形 46088"/>
          <p:cNvSpPr/>
          <p:nvPr/>
        </p:nvSpPr>
        <p:spPr>
          <a:xfrm>
            <a:off x="1339850" y="3235325"/>
            <a:ext cx="6948488" cy="460375"/>
          </a:xfrm>
          <a:prstGeom prst="rect">
            <a:avLst/>
          </a:prstGeom>
          <a:noFill/>
          <a:ln w="9525">
            <a:noFill/>
          </a:ln>
        </p:spPr>
        <p:txBody>
          <a:bodyPr>
            <a:spAutoFit/>
          </a:bodyPr>
          <a:p>
            <a:pPr algn="l">
              <a:buChar char="•"/>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存取速度</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存储数据和读出数据时间的长短</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46090" name="矩形 46089"/>
          <p:cNvSpPr/>
          <p:nvPr/>
        </p:nvSpPr>
        <p:spPr>
          <a:xfrm>
            <a:off x="1303338" y="2608263"/>
            <a:ext cx="5545137" cy="460375"/>
          </a:xfrm>
          <a:prstGeom prst="rect">
            <a:avLst/>
          </a:prstGeom>
          <a:noFill/>
          <a:ln w="9525">
            <a:noFill/>
          </a:ln>
        </p:spPr>
        <p:txBody>
          <a:bodyPr>
            <a:spAutoFit/>
          </a:bodyPr>
          <a:p>
            <a:pPr algn="l">
              <a:buChar char="•"/>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存储容量</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存储二值信息的总量。</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6085"/>
                                        </p:tgtEl>
                                        <p:attrNameLst>
                                          <p:attrName>style.visibility</p:attrName>
                                        </p:attrNameLst>
                                      </p:cBhvr>
                                      <p:to>
                                        <p:strVal val="visible"/>
                                      </p:to>
                                    </p:set>
                                    <p:animEffect transition="in" filter="strips(downRight)">
                                      <p:cBhvr>
                                        <p:cTn id="7" dur="500"/>
                                        <p:tgtEl>
                                          <p:spTgt spid="4608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6088"/>
                                        </p:tgtEl>
                                        <p:attrNameLst>
                                          <p:attrName>style.visibility</p:attrName>
                                        </p:attrNameLst>
                                      </p:cBhvr>
                                      <p:to>
                                        <p:strVal val="visible"/>
                                      </p:to>
                                    </p:set>
                                    <p:animEffect transition="in" filter="strips(downRight)">
                                      <p:cBhvr>
                                        <p:cTn id="12" dur="500"/>
                                        <p:tgtEl>
                                          <p:spTgt spid="4608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46090"/>
                                        </p:tgtEl>
                                        <p:attrNameLst>
                                          <p:attrName>style.visibility</p:attrName>
                                        </p:attrNameLst>
                                      </p:cBhvr>
                                      <p:to>
                                        <p:strVal val="visible"/>
                                      </p:to>
                                    </p:set>
                                    <p:animEffect transition="in" filter="strips(downRight)">
                                      <p:cBhvr>
                                        <p:cTn id="17" dur="500"/>
                                        <p:tgtEl>
                                          <p:spTgt spid="46090"/>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46089"/>
                                        </p:tgtEl>
                                        <p:attrNameLst>
                                          <p:attrName>style.visibility</p:attrName>
                                        </p:attrNameLst>
                                      </p:cBhvr>
                                      <p:to>
                                        <p:strVal val="visible"/>
                                      </p:to>
                                    </p:set>
                                    <p:animEffect transition="in" filter="strips(downRight)">
                                      <p:cBhvr>
                                        <p:cTn id="22" dur="500"/>
                                        <p:tgtEl>
                                          <p:spTgt spid="46089"/>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46086"/>
                                        </p:tgtEl>
                                        <p:attrNameLst>
                                          <p:attrName>style.visibility</p:attrName>
                                        </p:attrNameLst>
                                      </p:cBhvr>
                                      <p:to>
                                        <p:strVal val="visible"/>
                                      </p:to>
                                    </p:set>
                                    <p:animEffect transition="in" filter="strips(downRight)">
                                      <p:cBhvr>
                                        <p:cTn id="27" dur="500"/>
                                        <p:tgtEl>
                                          <p:spTgt spid="460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p:bldP spid="46086" grpId="0"/>
      <p:bldP spid="46088" grpId="0"/>
      <p:bldP spid="46089" grpId="0"/>
      <p:bldP spid="4609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0" y="5562600"/>
            <a:ext cx="9162000"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8" name="TextBox 6"/>
          <p:cNvSpPr txBox="1"/>
          <p:nvPr/>
        </p:nvSpPr>
        <p:spPr>
          <a:xfrm>
            <a:off x="3544570" y="533400"/>
            <a:ext cx="2021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8.1 </a:t>
            </a:r>
            <a:r>
              <a:rPr lang="zh-CN" altLang="en-US" b="1" dirty="0">
                <a:solidFill>
                  <a:srgbClr val="FF0000"/>
                </a:solidFill>
                <a:latin typeface="黑体" panose="02010609060101010101" pitchFamily="49" charset="-122"/>
                <a:ea typeface="黑体" panose="02010609060101010101" pitchFamily="49" charset="-122"/>
              </a:rPr>
              <a:t>概述</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22884" name="文本框 122883"/>
          <p:cNvSpPr txBox="1"/>
          <p:nvPr/>
        </p:nvSpPr>
        <p:spPr>
          <a:xfrm>
            <a:off x="762000" y="1295400"/>
            <a:ext cx="8153400" cy="523240"/>
          </a:xfrm>
          <a:prstGeom prst="rect">
            <a:avLst/>
          </a:prstGeom>
          <a:noFill/>
          <a:ln w="9525">
            <a:noFill/>
          </a:ln>
        </p:spPr>
        <p:txBody>
          <a:bodyPr lIns="90000" tIns="46800" rIns="90000" bIns="46800">
            <a:spAutoFit/>
          </a:bodyPr>
          <a:p>
            <a:r>
              <a:rPr lang="zh-CN" altLang="en-US" sz="2800" b="1" dirty="0">
                <a:solidFill>
                  <a:srgbClr val="FE09D6"/>
                </a:solidFill>
                <a:latin typeface="Times New Roman" panose="02020603050405020304" charset="0"/>
                <a:ea typeface="楷体" panose="02010609060101010101" charset="-122"/>
              </a:rPr>
              <a:t>存储器的分类：</a:t>
            </a:r>
            <a:endParaRPr lang="zh-CN" altLang="en-US" sz="2800" b="1" dirty="0">
              <a:solidFill>
                <a:srgbClr val="FE09D6"/>
              </a:solidFill>
              <a:latin typeface="Times New Roman" panose="02020603050405020304" charset="0"/>
              <a:ea typeface="楷体" panose="02010609060101010101" charset="-122"/>
            </a:endParaRPr>
          </a:p>
        </p:txBody>
      </p:sp>
      <p:sp>
        <p:nvSpPr>
          <p:cNvPr id="122885" name="矩形 122884"/>
          <p:cNvSpPr/>
          <p:nvPr/>
        </p:nvSpPr>
        <p:spPr>
          <a:xfrm>
            <a:off x="684213" y="2598738"/>
            <a:ext cx="7772400" cy="1520825"/>
          </a:xfrm>
          <a:prstGeom prst="rect">
            <a:avLst/>
          </a:prstGeom>
          <a:noFill/>
          <a:ln w="28575">
            <a:noFill/>
          </a:ln>
        </p:spPr>
        <p:txBody>
          <a:bodyPr lIns="90000" tIns="46800" rIns="90000" bIns="46800">
            <a:spAutoFit/>
          </a:bodyPr>
          <a:p>
            <a:pPr>
              <a:spcBef>
                <a:spcPct val="30000"/>
              </a:spcBef>
            </a:pPr>
            <a:r>
              <a:rPr lang="en-US" altLang="zh-CN" sz="2600" b="1">
                <a:solidFill>
                  <a:srgbClr val="000066"/>
                </a:solidFill>
                <a:latin typeface="Times New Roman" panose="02020603050405020304" charset="0"/>
                <a:ea typeface="楷体" panose="02010609060101010101" charset="-122"/>
                <a:cs typeface="Times New Roman" panose="02020603050405020304" charset="0"/>
              </a:rPr>
              <a:t>1) </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磁介质类 </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 </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软磁盘、硬盘、磁带</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a:p>
            <a:pPr>
              <a:spcBef>
                <a:spcPct val="30000"/>
              </a:spcBef>
            </a:pPr>
            <a:r>
              <a:rPr lang="en-US" altLang="zh-CN" sz="2600" b="1">
                <a:solidFill>
                  <a:srgbClr val="000066"/>
                </a:solidFill>
                <a:latin typeface="Times New Roman" panose="02020603050405020304" charset="0"/>
                <a:ea typeface="楷体" panose="02010609060101010101" charset="-122"/>
                <a:cs typeface="Times New Roman" panose="02020603050405020304" charset="0"/>
              </a:rPr>
              <a:t>2) </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光介质类 </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 CD</a:t>
            </a:r>
            <a:r>
              <a:rPr lang="zh-CN" altLang="en-US" sz="2600" b="1">
                <a:solidFill>
                  <a:srgbClr val="000066"/>
                </a:solidFill>
                <a:latin typeface="Times New Roman" panose="02020603050405020304" charset="0"/>
                <a:ea typeface="楷体" panose="02010609060101010101" charset="-122"/>
                <a:cs typeface="Times New Roman" panose="02020603050405020304" charset="0"/>
              </a:rPr>
              <a:t>、</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DVD</a:t>
            </a:r>
            <a:endParaRPr lang="en-US" altLang="zh-CN" sz="2600" b="1">
              <a:solidFill>
                <a:srgbClr val="000066"/>
              </a:solidFill>
              <a:latin typeface="Times New Roman" panose="02020603050405020304" charset="0"/>
              <a:ea typeface="楷体" panose="02010609060101010101" charset="-122"/>
              <a:cs typeface="Times New Roman" panose="02020603050405020304" charset="0"/>
            </a:endParaRPr>
          </a:p>
          <a:p>
            <a:pPr>
              <a:spcBef>
                <a:spcPct val="30000"/>
              </a:spcBef>
            </a:pPr>
            <a:r>
              <a:rPr lang="en-US" altLang="zh-CN" sz="2600" b="1">
                <a:solidFill>
                  <a:srgbClr val="000066"/>
                </a:solidFill>
                <a:latin typeface="Times New Roman" panose="02020603050405020304" charset="0"/>
                <a:ea typeface="楷体" panose="02010609060101010101" charset="-122"/>
                <a:cs typeface="Times New Roman" panose="02020603050405020304" charset="0"/>
              </a:rPr>
              <a:t>3) </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半导体介质类 </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a:t>
            </a:r>
            <a:endParaRPr lang="en-US" altLang="zh-CN" sz="26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22887" name="矩形 122886"/>
          <p:cNvSpPr/>
          <p:nvPr/>
        </p:nvSpPr>
        <p:spPr>
          <a:xfrm>
            <a:off x="755650" y="1982788"/>
            <a:ext cx="4392613" cy="519112"/>
          </a:xfrm>
          <a:prstGeom prst="rect">
            <a:avLst/>
          </a:prstGeom>
          <a:noFill/>
          <a:ln w="28575">
            <a:noFill/>
          </a:ln>
        </p:spPr>
        <p:txBody>
          <a:bodyPr lIns="90000" tIns="46800" rIns="90000" bIns="46800">
            <a:spAutoFit/>
          </a:bodyPr>
          <a:p>
            <a:r>
              <a:rPr lang="en-US" altLang="zh-CN" sz="2800" b="1">
                <a:solidFill>
                  <a:srgbClr val="1318F3"/>
                </a:solidFill>
                <a:latin typeface="Times New Roman" panose="02020603050405020304" charset="0"/>
                <a:ea typeface="楷体" panose="02010609060101010101" charset="-122"/>
                <a:cs typeface="Times New Roman" panose="02020603050405020304" charset="0"/>
              </a:rPr>
              <a:t>1</a:t>
            </a:r>
            <a:r>
              <a:rPr lang="zh-CN" altLang="en-US" sz="2800" b="1" dirty="0">
                <a:solidFill>
                  <a:srgbClr val="1318F3"/>
                </a:solidFill>
                <a:latin typeface="Times New Roman" panose="02020603050405020304" charset="0"/>
                <a:ea typeface="楷体" panose="02010609060101010101" charset="-122"/>
                <a:cs typeface="Times New Roman" panose="02020603050405020304" charset="0"/>
              </a:rPr>
              <a:t>、按材料分类</a:t>
            </a:r>
            <a:endParaRPr lang="zh-CN" altLang="en-US" sz="2800" b="1" dirty="0">
              <a:solidFill>
                <a:srgbClr val="1318F3"/>
              </a:solidFill>
              <a:latin typeface="Times New Roman" panose="02020603050405020304" charset="0"/>
              <a:ea typeface="楷体" panose="02010609060101010101" charset="-122"/>
              <a:cs typeface="Times New Roman" panose="02020603050405020304" charset="0"/>
            </a:endParaRPr>
          </a:p>
        </p:txBody>
      </p:sp>
      <p:grpSp>
        <p:nvGrpSpPr>
          <p:cNvPr id="122890" name="组合 122889"/>
          <p:cNvGrpSpPr/>
          <p:nvPr/>
        </p:nvGrpSpPr>
        <p:grpSpPr>
          <a:xfrm>
            <a:off x="4140200" y="3678238"/>
            <a:ext cx="649288" cy="431800"/>
            <a:chOff x="2925" y="2568"/>
            <a:chExt cx="409" cy="272"/>
          </a:xfrm>
        </p:grpSpPr>
        <p:sp>
          <p:nvSpPr>
            <p:cNvPr id="122888" name="直接连接符 122887"/>
            <p:cNvSpPr/>
            <p:nvPr/>
          </p:nvSpPr>
          <p:spPr>
            <a:xfrm>
              <a:off x="2925" y="2614"/>
              <a:ext cx="46" cy="226"/>
            </a:xfrm>
            <a:prstGeom prst="line">
              <a:avLst/>
            </a:prstGeom>
            <a:ln w="76200" cap="flat" cmpd="sng">
              <a:solidFill>
                <a:srgbClr val="CC3300"/>
              </a:solidFill>
              <a:prstDash val="solid"/>
              <a:headEnd type="none" w="med" len="med"/>
              <a:tailEnd type="none" w="med" len="med"/>
            </a:ln>
          </p:spPr>
        </p:sp>
        <p:sp>
          <p:nvSpPr>
            <p:cNvPr id="122889" name="直接连接符 122888"/>
            <p:cNvSpPr/>
            <p:nvPr/>
          </p:nvSpPr>
          <p:spPr>
            <a:xfrm flipV="1">
              <a:off x="2971" y="2568"/>
              <a:ext cx="363" cy="272"/>
            </a:xfrm>
            <a:prstGeom prst="line">
              <a:avLst/>
            </a:prstGeom>
            <a:ln w="76200" cap="flat" cmpd="sng">
              <a:solidFill>
                <a:srgbClr val="CC3300"/>
              </a:solidFill>
              <a:prstDash val="solid"/>
              <a:headEnd type="none" w="med" len="med"/>
              <a:tailEnd type="none" w="med" len="med"/>
            </a:ln>
          </p:spPr>
        </p:sp>
      </p:grpSp>
      <p:sp>
        <p:nvSpPr>
          <p:cNvPr id="122891" name="矩形 122890"/>
          <p:cNvSpPr/>
          <p:nvPr/>
        </p:nvSpPr>
        <p:spPr>
          <a:xfrm>
            <a:off x="611188" y="5002213"/>
            <a:ext cx="6934200" cy="1123950"/>
          </a:xfrm>
          <a:prstGeom prst="rect">
            <a:avLst/>
          </a:prstGeom>
          <a:noFill/>
          <a:ln w="28575">
            <a:noFill/>
          </a:ln>
        </p:spPr>
        <p:txBody>
          <a:bodyPr lIns="90000" tIns="46800" rIns="90000" bIns="46800">
            <a:spAutoFit/>
          </a:bodyPr>
          <a:p>
            <a:pPr>
              <a:lnSpc>
                <a:spcPct val="120000"/>
              </a:lnSpc>
              <a:spcBef>
                <a:spcPct val="20000"/>
              </a:spcBef>
            </a:pPr>
            <a:r>
              <a:rPr lang="en-US" altLang="zh-CN" sz="2600" b="1">
                <a:solidFill>
                  <a:srgbClr val="000066"/>
                </a:solidFill>
                <a:latin typeface="Times New Roman" panose="02020603050405020304" charset="0"/>
                <a:ea typeface="楷体" panose="02010609060101010101" charset="-122"/>
                <a:cs typeface="Times New Roman" panose="02020603050405020304" charset="0"/>
              </a:rPr>
              <a:t>  1)</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双极型</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a:t>
            </a:r>
            <a:endParaRPr lang="en-US" altLang="zh-CN" sz="2600" b="1">
              <a:solidFill>
                <a:srgbClr val="000066"/>
              </a:solidFill>
              <a:latin typeface="Times New Roman" panose="02020603050405020304" charset="0"/>
              <a:ea typeface="楷体" panose="02010609060101010101" charset="-122"/>
              <a:cs typeface="Times New Roman" panose="02020603050405020304" charset="0"/>
            </a:endParaRPr>
          </a:p>
          <a:p>
            <a:pPr>
              <a:lnSpc>
                <a:spcPct val="120000"/>
              </a:lnSpc>
              <a:spcBef>
                <a:spcPct val="20000"/>
              </a:spcBef>
            </a:pPr>
            <a:r>
              <a:rPr lang="en-US" altLang="zh-CN" sz="2600" b="1">
                <a:solidFill>
                  <a:srgbClr val="000066"/>
                </a:solidFill>
                <a:latin typeface="Times New Roman" panose="02020603050405020304" charset="0"/>
                <a:ea typeface="楷体" panose="02010609060101010101" charset="-122"/>
                <a:cs typeface="Times New Roman" panose="02020603050405020304" charset="0"/>
              </a:rPr>
              <a:t>  2)MOS</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型</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具有功耗低、集成度高的优点</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22893" name="矩形 122892"/>
          <p:cNvSpPr/>
          <p:nvPr/>
        </p:nvSpPr>
        <p:spPr>
          <a:xfrm>
            <a:off x="684213" y="4254500"/>
            <a:ext cx="6696075" cy="604838"/>
          </a:xfrm>
          <a:prstGeom prst="rect">
            <a:avLst/>
          </a:prstGeom>
          <a:noFill/>
          <a:ln w="28575">
            <a:noFill/>
          </a:ln>
        </p:spPr>
        <p:txBody>
          <a:bodyPr lIns="90000" tIns="46800" rIns="90000" bIns="46800">
            <a:spAutoFit/>
          </a:bodyPr>
          <a:p>
            <a:pPr>
              <a:lnSpc>
                <a:spcPct val="120000"/>
              </a:lnSpc>
              <a:spcBef>
                <a:spcPct val="20000"/>
              </a:spcBef>
            </a:pPr>
            <a:r>
              <a:rPr lang="en-US" altLang="zh-CN" sz="2800" b="1">
                <a:solidFill>
                  <a:srgbClr val="1318F3"/>
                </a:solidFill>
                <a:latin typeface="Times New Roman" panose="02020603050405020304" charset="0"/>
                <a:ea typeface="楷体" panose="02010609060101010101" charset="-122"/>
                <a:cs typeface="Times New Roman" panose="02020603050405020304" charset="0"/>
              </a:rPr>
              <a:t>2</a:t>
            </a:r>
            <a:r>
              <a:rPr lang="zh-CN" altLang="en-US" sz="2800" b="1" dirty="0">
                <a:solidFill>
                  <a:srgbClr val="1318F3"/>
                </a:solidFill>
                <a:latin typeface="Times New Roman" panose="02020603050405020304" charset="0"/>
                <a:ea typeface="楷体" panose="02010609060101010101" charset="-122"/>
                <a:cs typeface="Times New Roman" panose="02020603050405020304" charset="0"/>
              </a:rPr>
              <a:t>、按制造工艺分类</a:t>
            </a:r>
            <a:endParaRPr lang="zh-CN" altLang="en-US" sz="2800" b="1" dirty="0">
              <a:solidFill>
                <a:srgbClr val="1318F3"/>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887"/>
                                        </p:tgtEl>
                                        <p:attrNameLst>
                                          <p:attrName>style.visibility</p:attrName>
                                        </p:attrNameLst>
                                      </p:cBhvr>
                                      <p:to>
                                        <p:strVal val="visible"/>
                                      </p:to>
                                    </p:set>
                                    <p:animEffect transition="in" filter="blinds(horizontal)">
                                      <p:cBhvr>
                                        <p:cTn id="7" dur="500"/>
                                        <p:tgtEl>
                                          <p:spTgt spid="1228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2885"/>
                                        </p:tgtEl>
                                        <p:attrNameLst>
                                          <p:attrName>style.visibility</p:attrName>
                                        </p:attrNameLst>
                                      </p:cBhvr>
                                      <p:to>
                                        <p:strVal val="visible"/>
                                      </p:to>
                                    </p:set>
                                    <p:animEffect transition="in" filter="wipe(up)">
                                      <p:cBhvr>
                                        <p:cTn id="12" dur="2000"/>
                                        <p:tgtEl>
                                          <p:spTgt spid="12288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289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122893"/>
                                        </p:tgtEl>
                                        <p:attrNameLst>
                                          <p:attrName>style.visibility</p:attrName>
                                        </p:attrNameLst>
                                      </p:cBhvr>
                                      <p:to>
                                        <p:strVal val="visible"/>
                                      </p:to>
                                    </p:set>
                                    <p:animEffect transition="in" filter="box(in)">
                                      <p:cBhvr>
                                        <p:cTn id="21" dur="500"/>
                                        <p:tgtEl>
                                          <p:spTgt spid="12289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22891"/>
                                        </p:tgtEl>
                                        <p:attrNameLst>
                                          <p:attrName>style.visibility</p:attrName>
                                        </p:attrNameLst>
                                      </p:cBhvr>
                                      <p:to>
                                        <p:strVal val="visible"/>
                                      </p:to>
                                    </p:set>
                                    <p:animEffect transition="in" filter="wipe(up)">
                                      <p:cBhvr>
                                        <p:cTn id="26" dur="2000"/>
                                        <p:tgtEl>
                                          <p:spTgt spid="122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5" grpId="0"/>
      <p:bldP spid="122887" grpId="0"/>
      <p:bldP spid="122891" grpId="0"/>
      <p:bldP spid="12289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544570" y="533400"/>
            <a:ext cx="2021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8.1 </a:t>
            </a:r>
            <a:r>
              <a:rPr lang="zh-CN" altLang="en-US" b="1" dirty="0">
                <a:solidFill>
                  <a:srgbClr val="FF0000"/>
                </a:solidFill>
                <a:latin typeface="黑体" panose="02010609060101010101" pitchFamily="49" charset="-122"/>
                <a:ea typeface="黑体" panose="02010609060101010101" pitchFamily="49" charset="-122"/>
              </a:rPr>
              <a:t>概述</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3091" name="矩形 3090"/>
          <p:cNvSpPr/>
          <p:nvPr/>
        </p:nvSpPr>
        <p:spPr>
          <a:xfrm>
            <a:off x="755650" y="1225550"/>
            <a:ext cx="7848600" cy="609600"/>
          </a:xfrm>
          <a:prstGeom prst="rect">
            <a:avLst/>
          </a:prstGeom>
          <a:noFill/>
          <a:ln w="9525">
            <a:noFill/>
          </a:ln>
        </p:spPr>
        <p:txBody>
          <a:bodyPr anchor="ctr" anchorCtr="0"/>
          <a:lstStyle>
            <a:lvl1pPr marL="0" lvl="0" indent="0" algn="l" defTabSz="914400" rtl="0" eaLnBrk="1" fontAlgn="base" latinLnBrk="0" hangingPunct="1">
              <a:lnSpc>
                <a:spcPct val="100000"/>
              </a:lnSpc>
              <a:spcBef>
                <a:spcPct val="0"/>
              </a:spcBef>
              <a:spcAft>
                <a:spcPct val="0"/>
              </a:spcAft>
              <a:buNone/>
              <a:defRPr sz="4400" u="none" kern="1200" baseline="0">
                <a:solidFill>
                  <a:schemeClr val="tx1"/>
                </a:solidFill>
                <a:latin typeface="Arial" panose="020B0604020202020204" pitchFamily="34" charset="0"/>
                <a:ea typeface="宋体" panose="02010600030101010101" pitchFamily="2" charset="-122"/>
              </a:defRPr>
            </a:lvl1pPr>
          </a:lstStyle>
          <a:p>
            <a:pPr lvl="0"/>
            <a:r>
              <a:rPr lang="en-US" altLang="zh-CN" sz="2800" b="1">
                <a:solidFill>
                  <a:srgbClr val="0000CC"/>
                </a:solidFill>
                <a:latin typeface="Times New Roman" panose="02020603050405020304" charset="0"/>
                <a:ea typeface="楷体" panose="02010609060101010101" charset="-122"/>
                <a:cs typeface="Times New Roman" panose="02020603050405020304" charset="0"/>
              </a:rPr>
              <a:t>3</a:t>
            </a:r>
            <a:r>
              <a:rPr lang="zh-CN" altLang="en-US" sz="2800" b="1" dirty="0">
                <a:solidFill>
                  <a:srgbClr val="0000CC"/>
                </a:solidFill>
                <a:latin typeface="Times New Roman" panose="02020603050405020304" charset="0"/>
                <a:ea typeface="楷体" panose="02010609060101010101" charset="-122"/>
                <a:cs typeface="Times New Roman" panose="02020603050405020304" charset="0"/>
              </a:rPr>
              <a:t>、按存、取功能分类</a:t>
            </a:r>
            <a:endParaRPr lang="zh-CN" altLang="en-US" sz="2800" b="1">
              <a:solidFill>
                <a:srgbClr val="0000CC"/>
              </a:solidFill>
              <a:latin typeface="Times New Roman" panose="02020603050405020304" charset="0"/>
              <a:ea typeface="楷体" panose="02010609060101010101" charset="-122"/>
              <a:cs typeface="Times New Roman" panose="02020603050405020304" charset="0"/>
            </a:endParaRPr>
          </a:p>
        </p:txBody>
      </p:sp>
      <p:sp>
        <p:nvSpPr>
          <p:cNvPr id="3092" name="文本框 3091"/>
          <p:cNvSpPr txBox="1"/>
          <p:nvPr/>
        </p:nvSpPr>
        <p:spPr>
          <a:xfrm>
            <a:off x="735013" y="1798638"/>
            <a:ext cx="8229600" cy="1123950"/>
          </a:xfrm>
          <a:prstGeom prst="rect">
            <a:avLst/>
          </a:prstGeom>
          <a:noFill/>
          <a:ln w="9525">
            <a:noFill/>
          </a:ln>
        </p:spPr>
        <p:txBody>
          <a:bodyPr lIns="90000" tIns="46800" rIns="90000" bIns="46800">
            <a:spAutoFit/>
          </a:bodyPr>
          <a:p>
            <a:pPr>
              <a:lnSpc>
                <a:spcPct val="130000"/>
              </a:lnSpc>
            </a:pPr>
            <a:r>
              <a:rPr lang="en-US" altLang="zh-CN" sz="2600" b="1">
                <a:solidFill>
                  <a:srgbClr val="FF0000"/>
                </a:solidFill>
                <a:latin typeface="Times New Roman" panose="02020603050405020304" charset="0"/>
                <a:ea typeface="楷体" panose="02010609060101010101" charset="-122"/>
                <a:cs typeface="Times New Roman" panose="02020603050405020304" charset="0"/>
              </a:rPr>
              <a:t>1)</a:t>
            </a:r>
            <a:r>
              <a:rPr lang="zh-CN" altLang="en-US" sz="2600" b="1" dirty="0">
                <a:solidFill>
                  <a:srgbClr val="FF0000"/>
                </a:solidFill>
                <a:latin typeface="Times New Roman" panose="02020603050405020304" charset="0"/>
                <a:ea typeface="楷体" panose="02010609060101010101" charset="-122"/>
                <a:cs typeface="Times New Roman" panose="02020603050405020304" charset="0"/>
              </a:rPr>
              <a:t>只读存储器</a:t>
            </a:r>
            <a:r>
              <a:rPr lang="en-US" altLang="zh-CN" sz="2600" b="1">
                <a:solidFill>
                  <a:srgbClr val="FF0000"/>
                </a:solidFill>
                <a:latin typeface="Times New Roman" panose="02020603050405020304" charset="0"/>
                <a:ea typeface="楷体" panose="02010609060101010101" charset="-122"/>
                <a:cs typeface="Times New Roman" panose="02020603050405020304" charset="0"/>
              </a:rPr>
              <a:t>(Read-Only Memory </a:t>
            </a:r>
            <a:r>
              <a:rPr lang="zh-CN" altLang="en-US" sz="2600" b="1" dirty="0">
                <a:solidFill>
                  <a:srgbClr val="FF0000"/>
                </a:solidFill>
                <a:latin typeface="Times New Roman" panose="02020603050405020304" charset="0"/>
                <a:ea typeface="楷体" panose="02010609060101010101" charset="-122"/>
                <a:cs typeface="Times New Roman" panose="02020603050405020304" charset="0"/>
              </a:rPr>
              <a:t>，简称</a:t>
            </a:r>
            <a:r>
              <a:rPr lang="en-US" altLang="zh-CN" sz="2600" b="1">
                <a:solidFill>
                  <a:srgbClr val="FF0000"/>
                </a:solidFill>
                <a:latin typeface="Times New Roman" panose="02020603050405020304" charset="0"/>
                <a:ea typeface="楷体" panose="02010609060101010101" charset="-122"/>
                <a:cs typeface="Times New Roman" panose="02020603050405020304" charset="0"/>
              </a:rPr>
              <a:t>ROM): </a:t>
            </a:r>
            <a:endParaRPr lang="en-US" altLang="zh-CN" sz="2600" b="1">
              <a:solidFill>
                <a:srgbClr val="FF0000"/>
              </a:solidFill>
              <a:latin typeface="Times New Roman" panose="02020603050405020304" charset="0"/>
              <a:ea typeface="楷体" panose="02010609060101010101" charset="-122"/>
              <a:cs typeface="Times New Roman" panose="02020603050405020304" charset="0"/>
            </a:endParaRPr>
          </a:p>
          <a:p>
            <a:pPr>
              <a:lnSpc>
                <a:spcPct val="130000"/>
              </a:lnSpc>
            </a:pPr>
            <a:r>
              <a:rPr lang="en-US" altLang="zh-CN" sz="2600" b="1">
                <a:solidFill>
                  <a:srgbClr val="000066"/>
                </a:solidFill>
                <a:latin typeface="Times New Roman" panose="02020603050405020304" charset="0"/>
                <a:ea typeface="楷体" panose="02010609060101010101" charset="-122"/>
                <a:cs typeface="Times New Roman" panose="02020603050405020304" charset="0"/>
              </a:rPr>
              <a:t>——</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正常工作时，内容只能读出，不能随时写入。</a:t>
            </a:r>
            <a:endParaRPr lang="zh-CN" altLang="en-US" sz="26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3112" name="文本框 3111"/>
          <p:cNvSpPr txBox="1"/>
          <p:nvPr/>
        </p:nvSpPr>
        <p:spPr>
          <a:xfrm>
            <a:off x="755650" y="2865438"/>
            <a:ext cx="7775575" cy="1044575"/>
          </a:xfrm>
          <a:prstGeom prst="rect">
            <a:avLst/>
          </a:prstGeom>
          <a:noFill/>
          <a:ln w="9525">
            <a:noFill/>
          </a:ln>
        </p:spPr>
        <p:txBody>
          <a:bodyPr lIns="90000" tIns="46800" rIns="90000" bIns="46800">
            <a:spAutoFit/>
          </a:bodyPr>
          <a:p>
            <a:pPr>
              <a:lnSpc>
                <a:spcPct val="120000"/>
              </a:lnSpc>
            </a:pP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常用于存放系统程序、数据表、字符代码等不易变化的数据。</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3118" name="矩形 3117"/>
          <p:cNvSpPr/>
          <p:nvPr/>
        </p:nvSpPr>
        <p:spPr>
          <a:xfrm>
            <a:off x="755650" y="3986213"/>
            <a:ext cx="7864475" cy="1004887"/>
          </a:xfrm>
          <a:prstGeom prst="rect">
            <a:avLst/>
          </a:prstGeom>
          <a:noFill/>
          <a:ln w="28575">
            <a:noFill/>
          </a:ln>
        </p:spPr>
        <p:txBody>
          <a:bodyPr lIns="90000" tIns="46800" rIns="90000" bIns="46800">
            <a:spAutoFit/>
          </a:bodyPr>
          <a:p>
            <a:pPr>
              <a:spcBef>
                <a:spcPct val="30000"/>
              </a:spcBef>
            </a:pPr>
            <a:r>
              <a:rPr lang="en-US" altLang="zh-CN" sz="2600" b="1">
                <a:solidFill>
                  <a:srgbClr val="FF0000"/>
                </a:solidFill>
                <a:latin typeface="Times New Roman" panose="02020603050405020304" charset="0"/>
                <a:ea typeface="楷体" panose="02010609060101010101" charset="-122"/>
                <a:cs typeface="Times New Roman" panose="02020603050405020304" charset="0"/>
              </a:rPr>
              <a:t>2)</a:t>
            </a:r>
            <a:r>
              <a:rPr lang="zh-CN" altLang="en-US" sz="2600" b="1" dirty="0">
                <a:solidFill>
                  <a:srgbClr val="FF0000"/>
                </a:solidFill>
                <a:latin typeface="Times New Roman" panose="02020603050405020304" charset="0"/>
                <a:ea typeface="楷体" panose="02010609060101010101" charset="-122"/>
                <a:cs typeface="Times New Roman" panose="02020603050405020304" charset="0"/>
              </a:rPr>
              <a:t>随机存取存储器（读写存储器）</a:t>
            </a:r>
            <a:endParaRPr lang="zh-CN" altLang="en-US" sz="2600" b="1" dirty="0">
              <a:solidFill>
                <a:srgbClr val="FF0000"/>
              </a:solidFill>
              <a:latin typeface="Times New Roman" panose="02020603050405020304" charset="0"/>
              <a:ea typeface="楷体" panose="02010609060101010101" charset="-122"/>
              <a:cs typeface="Times New Roman" panose="02020603050405020304" charset="0"/>
            </a:endParaRPr>
          </a:p>
          <a:p>
            <a:pPr>
              <a:spcBef>
                <a:spcPct val="30000"/>
              </a:spcBef>
            </a:pPr>
            <a:r>
              <a:rPr lang="en-US" altLang="zh-CN" sz="2600" b="1">
                <a:solidFill>
                  <a:srgbClr val="FF0000"/>
                </a:solidFill>
                <a:latin typeface="Times New Roman" panose="02020603050405020304" charset="0"/>
                <a:ea typeface="楷体" panose="02010609060101010101" charset="-122"/>
                <a:cs typeface="Times New Roman" panose="02020603050405020304" charset="0"/>
              </a:rPr>
              <a:t>Random Access Memory </a:t>
            </a:r>
            <a:r>
              <a:rPr lang="zh-CN" altLang="en-US" sz="2600" b="1" dirty="0">
                <a:solidFill>
                  <a:srgbClr val="FF0000"/>
                </a:solidFill>
                <a:latin typeface="Times New Roman" panose="02020603050405020304" charset="0"/>
                <a:ea typeface="楷体" panose="02010609060101010101" charset="-122"/>
                <a:cs typeface="Times New Roman" panose="02020603050405020304" charset="0"/>
              </a:rPr>
              <a:t>，简称</a:t>
            </a:r>
            <a:r>
              <a:rPr lang="en-US" altLang="zh-CN" sz="2600" b="1">
                <a:solidFill>
                  <a:srgbClr val="FF0000"/>
                </a:solidFill>
                <a:latin typeface="Times New Roman" panose="02020603050405020304" charset="0"/>
                <a:ea typeface="楷体" panose="02010609060101010101" charset="-122"/>
                <a:cs typeface="Times New Roman" panose="02020603050405020304" charset="0"/>
              </a:rPr>
              <a:t>RAM</a:t>
            </a:r>
            <a:endParaRPr lang="en-US" altLang="zh-CN" sz="2600" b="1">
              <a:solidFill>
                <a:srgbClr val="FF0000"/>
              </a:solidFill>
              <a:latin typeface="Times New Roman" panose="02020603050405020304" charset="0"/>
              <a:ea typeface="楷体" panose="02010609060101010101" charset="-122"/>
              <a:cs typeface="Times New Roman" panose="02020603050405020304" charset="0"/>
            </a:endParaRPr>
          </a:p>
        </p:txBody>
      </p:sp>
      <p:sp>
        <p:nvSpPr>
          <p:cNvPr id="3119" name="文本框 3118"/>
          <p:cNvSpPr txBox="1"/>
          <p:nvPr/>
        </p:nvSpPr>
        <p:spPr>
          <a:xfrm>
            <a:off x="684213" y="5207000"/>
            <a:ext cx="7723187" cy="885825"/>
          </a:xfrm>
          <a:prstGeom prst="rect">
            <a:avLst/>
          </a:prstGeom>
          <a:noFill/>
          <a:ln w="28575">
            <a:noFill/>
          </a:ln>
        </p:spPr>
        <p:txBody>
          <a:bodyPr lIns="90000" tIns="46800" rIns="90000" bIns="46800">
            <a:spAutoFit/>
          </a:bodyPr>
          <a:p>
            <a:r>
              <a:rPr lang="en-US" altLang="zh-CN" sz="2600" b="1" dirty="0">
                <a:latin typeface="Times New Roman" panose="02020603050405020304" charset="0"/>
                <a:ea typeface="楷体" panose="02010609060101010101" charset="-122"/>
                <a:cs typeface="Times New Roman" panose="02020603050405020304" charset="0"/>
              </a:rPr>
              <a:t> </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正常工作时可随时读出或写入，掉电后，数据全部丢失。</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91"/>
                                        </p:tgtEl>
                                        <p:attrNameLst>
                                          <p:attrName>style.visibility</p:attrName>
                                        </p:attrNameLst>
                                      </p:cBhvr>
                                      <p:to>
                                        <p:strVal val="visible"/>
                                      </p:to>
                                    </p:set>
                                    <p:animEffect transition="in" filter="blinds(horizontal)">
                                      <p:cBhvr>
                                        <p:cTn id="7" dur="500"/>
                                        <p:tgtEl>
                                          <p:spTgt spid="30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92"/>
                                        </p:tgtEl>
                                        <p:attrNameLst>
                                          <p:attrName>style.visibility</p:attrName>
                                        </p:attrNameLst>
                                      </p:cBhvr>
                                      <p:to>
                                        <p:strVal val="visible"/>
                                      </p:to>
                                    </p:set>
                                    <p:animEffect transition="in" filter="wipe(left)">
                                      <p:cBhvr>
                                        <p:cTn id="12" dur="500"/>
                                        <p:tgtEl>
                                          <p:spTgt spid="309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12"/>
                                        </p:tgtEl>
                                        <p:attrNameLst>
                                          <p:attrName>style.visibility</p:attrName>
                                        </p:attrNameLst>
                                      </p:cBhvr>
                                      <p:to>
                                        <p:strVal val="visible"/>
                                      </p:to>
                                    </p:set>
                                    <p:animEffect transition="in" filter="wipe(left)">
                                      <p:cBhvr>
                                        <p:cTn id="17" dur="500"/>
                                        <p:tgtEl>
                                          <p:spTgt spid="31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118"/>
                                        </p:tgtEl>
                                        <p:attrNameLst>
                                          <p:attrName>style.visibility</p:attrName>
                                        </p:attrNameLst>
                                      </p:cBhvr>
                                      <p:to>
                                        <p:strVal val="visible"/>
                                      </p:to>
                                    </p:set>
                                    <p:animEffect transition="in" filter="wipe(down)">
                                      <p:cBhvr>
                                        <p:cTn id="22" dur="500"/>
                                        <p:tgtEl>
                                          <p:spTgt spid="311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119"/>
                                        </p:tgtEl>
                                        <p:attrNameLst>
                                          <p:attrName>style.visibility</p:attrName>
                                        </p:attrNameLst>
                                      </p:cBhvr>
                                      <p:to>
                                        <p:strVal val="visible"/>
                                      </p:to>
                                    </p:set>
                                    <p:animEffect transition="in" filter="box(in)">
                                      <p:cBhvr>
                                        <p:cTn id="27" dur="500"/>
                                        <p:tgtEl>
                                          <p:spTgt spid="3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1" grpId="0"/>
      <p:bldP spid="3092" grpId="0"/>
      <p:bldP spid="3112" grpId="0"/>
      <p:bldP spid="3118" grpId="0"/>
      <p:bldP spid="31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762000" y="1143000"/>
            <a:ext cx="8068945"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8.2.1 </a:t>
            </a:r>
            <a:r>
              <a:rPr lang="zh-CN" altLang="en-US" sz="2800" i="0" dirty="0">
                <a:solidFill>
                  <a:srgbClr val="0070C0"/>
                </a:solidFill>
                <a:latin typeface="黑体" panose="02010609060101010101" pitchFamily="49" charset="-122"/>
                <a:ea typeface="黑体" panose="02010609060101010101" pitchFamily="49" charset="-122"/>
              </a:rPr>
              <a:t>只读存储</a:t>
            </a:r>
            <a:r>
              <a:rPr lang="zh-CN" altLang="en-US" sz="2800" i="0" dirty="0">
                <a:solidFill>
                  <a:srgbClr val="0070C0"/>
                </a:solidFill>
                <a:latin typeface="黑体" panose="02010609060101010101" pitchFamily="49" charset="-122"/>
                <a:ea typeface="黑体" panose="02010609060101010101" pitchFamily="49" charset="-122"/>
              </a:rPr>
              <a:t>器</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176131" name="文本框 176130"/>
          <p:cNvSpPr txBox="1"/>
          <p:nvPr/>
        </p:nvSpPr>
        <p:spPr>
          <a:xfrm>
            <a:off x="588963" y="3111500"/>
            <a:ext cx="7007225" cy="523240"/>
          </a:xfrm>
          <a:prstGeom prst="rect">
            <a:avLst/>
          </a:prstGeom>
          <a:noFill/>
          <a:ln w="28575">
            <a:noFill/>
          </a:ln>
        </p:spPr>
        <p:txBody>
          <a:bodyPr lIns="90000" tIns="46800" rIns="90000" bIns="46800">
            <a:spAutoFit/>
          </a:bodyPr>
          <a:p>
            <a:pPr defTabSz="558800"/>
            <a:r>
              <a:rPr lang="zh-CN" altLang="en-US" sz="2800" b="1" dirty="0">
                <a:solidFill>
                  <a:srgbClr val="CC0000"/>
                </a:solidFill>
                <a:latin typeface="Times New Roman" panose="02020603050405020304" charset="0"/>
                <a:ea typeface="楷体" panose="02010609060101010101" charset="-122"/>
              </a:rPr>
              <a:t>分类：</a:t>
            </a:r>
            <a:endParaRPr lang="zh-CN" altLang="en-US" sz="2800" b="1" dirty="0">
              <a:solidFill>
                <a:srgbClr val="CC0000"/>
              </a:solidFill>
              <a:latin typeface="Times New Roman" panose="02020603050405020304" charset="0"/>
              <a:ea typeface="楷体" panose="02010609060101010101" charset="-122"/>
            </a:endParaRPr>
          </a:p>
        </p:txBody>
      </p:sp>
      <p:sp>
        <p:nvSpPr>
          <p:cNvPr id="176132" name="矩形 176131"/>
          <p:cNvSpPr/>
          <p:nvPr/>
        </p:nvSpPr>
        <p:spPr>
          <a:xfrm>
            <a:off x="458788" y="3810000"/>
            <a:ext cx="8208962" cy="519113"/>
          </a:xfrm>
          <a:prstGeom prst="rect">
            <a:avLst/>
          </a:prstGeom>
          <a:noFill/>
          <a:ln w="28575">
            <a:noFill/>
          </a:ln>
        </p:spPr>
        <p:txBody>
          <a:bodyPr lIns="90000" tIns="46800" rIns="90000" bIns="46800">
            <a:spAutoFit/>
          </a:bodyPr>
          <a:p>
            <a:r>
              <a:rPr lang="en-US" altLang="zh-CN" sz="2800" b="1">
                <a:solidFill>
                  <a:srgbClr val="0000FF"/>
                </a:solidFill>
                <a:latin typeface="Times New Roman" panose="02020603050405020304" charset="0"/>
                <a:ea typeface="楷体" panose="02010609060101010101" charset="-122"/>
                <a:cs typeface="Times New Roman" panose="02020603050405020304" charset="0"/>
              </a:rPr>
              <a:t>(1)</a:t>
            </a:r>
            <a:r>
              <a:rPr lang="zh-CN" altLang="en-US" sz="2800" b="1" dirty="0">
                <a:solidFill>
                  <a:srgbClr val="0000FF"/>
                </a:solidFill>
                <a:latin typeface="Times New Roman" panose="02020603050405020304" charset="0"/>
                <a:ea typeface="楷体" panose="02010609060101010101" charset="-122"/>
                <a:cs typeface="Times New Roman" panose="02020603050405020304" charset="0"/>
              </a:rPr>
              <a:t>按制造工艺分：</a:t>
            </a:r>
            <a:endParaRPr lang="zh-CN" altLang="en-US" sz="2800" b="1">
              <a:solidFill>
                <a:srgbClr val="0000FF"/>
              </a:solidFill>
              <a:latin typeface="Times New Roman" panose="02020603050405020304" charset="0"/>
              <a:ea typeface="楷体" panose="02010609060101010101" charset="-122"/>
              <a:cs typeface="Times New Roman" panose="02020603050405020304" charset="0"/>
            </a:endParaRPr>
          </a:p>
        </p:txBody>
      </p:sp>
      <p:sp>
        <p:nvSpPr>
          <p:cNvPr id="176135" name="矩形 176134"/>
          <p:cNvSpPr/>
          <p:nvPr/>
        </p:nvSpPr>
        <p:spPr>
          <a:xfrm>
            <a:off x="827088" y="4683125"/>
            <a:ext cx="7472362" cy="1187450"/>
          </a:xfrm>
          <a:prstGeom prst="rect">
            <a:avLst/>
          </a:prstGeom>
          <a:noFill/>
          <a:ln w="28575">
            <a:noFill/>
          </a:ln>
        </p:spPr>
        <p:txBody>
          <a:bodyPr lIns="90000" tIns="46800" rIns="90000" bIns="46800">
            <a:spAutoFit/>
          </a:bodyPr>
          <a:p>
            <a:r>
              <a:rPr lang="zh-CN" altLang="en-US" sz="2400" b="1" dirty="0">
                <a:latin typeface="Times New Roman" panose="02020603050405020304" charset="0"/>
                <a:ea typeface="楷体" panose="02010609060101010101" charset="-122"/>
                <a:cs typeface="Times New Roman" panose="02020603050405020304" charset="0"/>
              </a:rPr>
              <a:t>二极管</a:t>
            </a:r>
            <a:r>
              <a:rPr lang="en-US" altLang="zh-CN" sz="2400" b="1">
                <a:latin typeface="Times New Roman" panose="02020603050405020304" charset="0"/>
                <a:ea typeface="楷体" panose="02010609060101010101" charset="-122"/>
                <a:cs typeface="Times New Roman" panose="02020603050405020304" charset="0"/>
              </a:rPr>
              <a:t>ROM</a:t>
            </a:r>
            <a:endParaRPr lang="en-US" altLang="zh-CN" sz="2400" b="1">
              <a:latin typeface="Times New Roman" panose="02020603050405020304" charset="0"/>
              <a:ea typeface="楷体" panose="02010609060101010101" charset="-122"/>
              <a:cs typeface="Times New Roman" panose="02020603050405020304" charset="0"/>
            </a:endParaRPr>
          </a:p>
          <a:p>
            <a:r>
              <a:rPr lang="en-US" altLang="zh-CN" sz="2400" b="1">
                <a:latin typeface="Times New Roman" panose="02020603050405020304" charset="0"/>
                <a:ea typeface="楷体" panose="02010609060101010101" charset="-122"/>
                <a:cs typeface="Times New Roman" panose="02020603050405020304" charset="0"/>
              </a:rPr>
              <a:t> </a:t>
            </a:r>
            <a:r>
              <a:rPr lang="zh-CN" altLang="en-US" sz="2400" b="1" dirty="0">
                <a:latin typeface="Times New Roman" panose="02020603050405020304" charset="0"/>
                <a:ea typeface="楷体" panose="02010609060101010101" charset="-122"/>
                <a:cs typeface="Times New Roman" panose="02020603050405020304" charset="0"/>
              </a:rPr>
              <a:t>双极型</a:t>
            </a:r>
            <a:r>
              <a:rPr lang="en-US" altLang="zh-CN" sz="2400" b="1">
                <a:latin typeface="Times New Roman" panose="02020603050405020304" charset="0"/>
                <a:ea typeface="楷体" panose="02010609060101010101" charset="-122"/>
                <a:cs typeface="Times New Roman" panose="02020603050405020304" charset="0"/>
              </a:rPr>
              <a:t>ROM(</a:t>
            </a:r>
            <a:r>
              <a:rPr lang="zh-CN" altLang="en-US" sz="2400" b="1" dirty="0">
                <a:latin typeface="Times New Roman" panose="02020603050405020304" charset="0"/>
                <a:ea typeface="楷体" panose="02010609060101010101" charset="-122"/>
                <a:cs typeface="Times New Roman" panose="02020603050405020304" charset="0"/>
              </a:rPr>
              <a:t>三极管</a:t>
            </a:r>
            <a:r>
              <a:rPr lang="en-US" altLang="zh-CN" sz="2400" b="1">
                <a:latin typeface="Times New Roman" panose="02020603050405020304" charset="0"/>
                <a:ea typeface="楷体" panose="02010609060101010101" charset="-122"/>
                <a:cs typeface="Times New Roman" panose="02020603050405020304" charset="0"/>
              </a:rPr>
              <a:t>)</a:t>
            </a:r>
            <a:endParaRPr lang="en-US" altLang="zh-CN" sz="2400" b="1">
              <a:latin typeface="Times New Roman" panose="02020603050405020304" charset="0"/>
              <a:ea typeface="楷体" panose="02010609060101010101" charset="-122"/>
              <a:cs typeface="Times New Roman" panose="02020603050405020304" charset="0"/>
            </a:endParaRPr>
          </a:p>
          <a:p>
            <a:r>
              <a:rPr lang="en-US" altLang="zh-CN" sz="2400" b="1">
                <a:latin typeface="Times New Roman" panose="02020603050405020304" charset="0"/>
                <a:ea typeface="楷体" panose="02010609060101010101" charset="-122"/>
                <a:cs typeface="Times New Roman" panose="02020603050405020304" charset="0"/>
              </a:rPr>
              <a:t> </a:t>
            </a:r>
            <a:r>
              <a:rPr lang="zh-CN" altLang="en-US" sz="2400" b="1" dirty="0">
                <a:latin typeface="Times New Roman" panose="02020603050405020304" charset="0"/>
                <a:ea typeface="楷体" panose="02010609060101010101" charset="-122"/>
                <a:cs typeface="Times New Roman" panose="02020603050405020304" charset="0"/>
              </a:rPr>
              <a:t>单极型</a:t>
            </a:r>
            <a:r>
              <a:rPr lang="en-US" altLang="zh-CN" sz="2400" b="1">
                <a:latin typeface="Times New Roman" panose="02020603050405020304" charset="0"/>
                <a:ea typeface="楷体" panose="02010609060101010101" charset="-122"/>
                <a:cs typeface="Times New Roman" panose="02020603050405020304" charset="0"/>
              </a:rPr>
              <a:t>(MOS)</a:t>
            </a:r>
            <a:endParaRPr lang="en-US" altLang="zh-CN" sz="2400" b="1">
              <a:latin typeface="Times New Roman" panose="02020603050405020304" charset="0"/>
              <a:ea typeface="楷体" panose="02010609060101010101" charset="-122"/>
              <a:cs typeface="Times New Roman" panose="02020603050405020304" charset="0"/>
            </a:endParaRPr>
          </a:p>
        </p:txBody>
      </p:sp>
      <p:sp>
        <p:nvSpPr>
          <p:cNvPr id="176136" name="文本框 176135"/>
          <p:cNvSpPr txBox="1"/>
          <p:nvPr/>
        </p:nvSpPr>
        <p:spPr>
          <a:xfrm>
            <a:off x="539750" y="1806575"/>
            <a:ext cx="7920038" cy="1042988"/>
          </a:xfrm>
          <a:prstGeom prst="rect">
            <a:avLst/>
          </a:prstGeom>
          <a:noFill/>
          <a:ln w="9525">
            <a:noFill/>
          </a:ln>
        </p:spPr>
        <p:txBody>
          <a:bodyPr>
            <a:spAutoFit/>
          </a:bodyPr>
          <a:p>
            <a:pPr>
              <a:lnSpc>
                <a:spcPct val="120000"/>
              </a:lnSpc>
            </a:pPr>
            <a:r>
              <a:rPr lang="en-US" altLang="zh-CN" sz="2800" b="1">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只读存储器，工作时内容只能读出，不能随时写入，所以称为只读存储器。</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(Read-Only  Memory)</a:t>
            </a:r>
            <a:endParaRPr lang="en-US" altLang="zh-CN" sz="24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76137" name="矩形 176136"/>
          <p:cNvSpPr/>
          <p:nvPr/>
        </p:nvSpPr>
        <p:spPr>
          <a:xfrm>
            <a:off x="2771775" y="3921125"/>
            <a:ext cx="4537075" cy="409575"/>
          </a:xfrm>
          <a:prstGeom prst="rect">
            <a:avLst/>
          </a:prstGeom>
          <a:noFill/>
          <a:ln w="25400">
            <a:noFill/>
          </a:ln>
        </p:spPr>
        <p:txBody>
          <a:bodyPr>
            <a:spAutoFit/>
          </a:bodyPr>
          <a:p>
            <a:pPr algn="ctr">
              <a:lnSpc>
                <a:spcPct val="80000"/>
              </a:lnSpc>
              <a:spcBef>
                <a:spcPct val="50000"/>
              </a:spcBef>
              <a:buClr>
                <a:schemeClr val="tx1"/>
              </a:buClr>
            </a:pPr>
            <a:r>
              <a:rPr lang="en-US" altLang="zh-CN" sz="2600" b="1">
                <a:solidFill>
                  <a:srgbClr val="800000"/>
                </a:solidFill>
                <a:latin typeface="Times New Roman" panose="02020603050405020304" charset="0"/>
                <a:ea typeface="楷体" panose="02010609060101010101" charset="-122"/>
                <a:cs typeface="Times New Roman" panose="02020603050405020304" charset="0"/>
              </a:rPr>
              <a:t>(</a:t>
            </a:r>
            <a:r>
              <a:rPr lang="zh-CN" altLang="en-US" sz="2600" b="1" dirty="0">
                <a:solidFill>
                  <a:srgbClr val="800000"/>
                </a:solidFill>
                <a:latin typeface="Times New Roman" panose="02020603050405020304" charset="0"/>
                <a:ea typeface="楷体" panose="02010609060101010101" charset="-122"/>
                <a:cs typeface="Times New Roman" panose="02020603050405020304" charset="0"/>
              </a:rPr>
              <a:t>按存储单元中器件划分</a:t>
            </a:r>
            <a:r>
              <a:rPr lang="en-US" altLang="zh-CN" sz="2600" b="1">
                <a:solidFill>
                  <a:srgbClr val="800000"/>
                </a:solidFill>
                <a:latin typeface="Times New Roman" panose="02020603050405020304" charset="0"/>
                <a:ea typeface="楷体" panose="02010609060101010101" charset="-122"/>
                <a:cs typeface="Times New Roman" panose="02020603050405020304" charset="0"/>
              </a:rPr>
              <a:t>) </a:t>
            </a:r>
            <a:endParaRPr lang="en-US" altLang="zh-CN" sz="2600" b="1">
              <a:solidFill>
                <a:srgbClr val="800000"/>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76136"/>
                                        </p:tgtEl>
                                        <p:attrNameLst>
                                          <p:attrName>style.visibility</p:attrName>
                                        </p:attrNameLst>
                                      </p:cBhvr>
                                      <p:to>
                                        <p:strVal val="visible"/>
                                      </p:to>
                                    </p:set>
                                    <p:animEffect transition="in" filter="strips(downRight)">
                                      <p:cBhvr>
                                        <p:cTn id="7" dur="500"/>
                                        <p:tgtEl>
                                          <p:spTgt spid="1761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6131"/>
                                        </p:tgtEl>
                                        <p:attrNameLst>
                                          <p:attrName>style.visibility</p:attrName>
                                        </p:attrNameLst>
                                      </p:cBhvr>
                                      <p:to>
                                        <p:strVal val="visible"/>
                                      </p:to>
                                    </p:set>
                                    <p:animEffect transition="in" filter="blinds(horizontal)">
                                      <p:cBhvr>
                                        <p:cTn id="12" dur="500"/>
                                        <p:tgtEl>
                                          <p:spTgt spid="17613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6132"/>
                                        </p:tgtEl>
                                        <p:attrNameLst>
                                          <p:attrName>style.visibility</p:attrName>
                                        </p:attrNameLst>
                                      </p:cBhvr>
                                      <p:to>
                                        <p:strVal val="visible"/>
                                      </p:to>
                                    </p:set>
                                    <p:animEffect transition="in" filter="blinds(horizontal)">
                                      <p:cBhvr>
                                        <p:cTn id="17" dur="500"/>
                                        <p:tgtEl>
                                          <p:spTgt spid="17613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76135"/>
                                        </p:tgtEl>
                                        <p:attrNameLst>
                                          <p:attrName>style.visibility</p:attrName>
                                        </p:attrNameLst>
                                      </p:cBhvr>
                                      <p:to>
                                        <p:strVal val="visible"/>
                                      </p:to>
                                    </p:set>
                                    <p:animEffect transition="in" filter="box(in)">
                                      <p:cBhvr>
                                        <p:cTn id="22" dur="500"/>
                                        <p:tgtEl>
                                          <p:spTgt spid="176135"/>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76137"/>
                                        </p:tgtEl>
                                        <p:attrNameLst>
                                          <p:attrName>style.visibility</p:attrName>
                                        </p:attrNameLst>
                                      </p:cBhvr>
                                      <p:to>
                                        <p:strVal val="visible"/>
                                      </p:to>
                                    </p:set>
                                    <p:animEffect transition="in" filter="strips(downRight)">
                                      <p:cBhvr>
                                        <p:cTn id="27" dur="500"/>
                                        <p:tgtEl>
                                          <p:spTgt spid="176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1" grpId="0"/>
      <p:bldP spid="176132" grpId="0"/>
      <p:bldP spid="176135" grpId="0"/>
      <p:bldP spid="176136" grpId="0"/>
      <p:bldP spid="17613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77154" name="矩形 177153"/>
          <p:cNvSpPr/>
          <p:nvPr/>
        </p:nvSpPr>
        <p:spPr>
          <a:xfrm>
            <a:off x="971550" y="1646238"/>
            <a:ext cx="4572000" cy="492760"/>
          </a:xfrm>
          <a:prstGeom prst="rect">
            <a:avLst/>
          </a:prstGeom>
          <a:noFill/>
          <a:ln w="28575">
            <a:noFill/>
          </a:ln>
        </p:spPr>
        <p:txBody>
          <a:bodyPr lIns="90000" tIns="46800" rIns="90000" bIns="46800">
            <a:spAutoFit/>
          </a:bodyPr>
          <a:p>
            <a:pPr>
              <a:spcBef>
                <a:spcPct val="50000"/>
              </a:spcBef>
            </a:pP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掩模</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ROM</a:t>
            </a:r>
            <a:r>
              <a:rPr lang="zh-CN" altLang="en-US" sz="2600" b="1">
                <a:solidFill>
                  <a:srgbClr val="000066"/>
                </a:solidFill>
                <a:latin typeface="Times New Roman" panose="02020603050405020304" charset="0"/>
                <a:ea typeface="楷体" panose="02010609060101010101" charset="-122"/>
                <a:cs typeface="Times New Roman" panose="02020603050405020304" charset="0"/>
              </a:rPr>
              <a:t>（ </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固定</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ROM</a:t>
            </a:r>
            <a:r>
              <a:rPr lang="zh-CN" altLang="en-US" sz="2600" b="1">
                <a:solidFill>
                  <a:srgbClr val="000066"/>
                </a:solidFill>
                <a:latin typeface="Times New Roman" panose="02020603050405020304" charset="0"/>
                <a:ea typeface="楷体" panose="02010609060101010101" charset="-122"/>
                <a:cs typeface="Times New Roman" panose="02020603050405020304" charset="0"/>
              </a:rPr>
              <a:t>）</a:t>
            </a:r>
            <a:endParaRPr lang="zh-CN" altLang="en-US" sz="26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77155" name="左大括号 177154"/>
          <p:cNvSpPr/>
          <p:nvPr/>
        </p:nvSpPr>
        <p:spPr>
          <a:xfrm>
            <a:off x="684213" y="2005013"/>
            <a:ext cx="287337" cy="1512887"/>
          </a:xfrm>
          <a:prstGeom prst="leftBrace">
            <a:avLst>
              <a:gd name="adj1" fmla="val 43876"/>
              <a:gd name="adj2" fmla="val 50000"/>
            </a:avLst>
          </a:prstGeom>
          <a:noFill/>
          <a:ln w="38100" cap="flat" cmpd="sng">
            <a:solidFill>
              <a:srgbClr val="FF0000"/>
            </a:solidFill>
            <a:prstDash val="soli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77157" name="左大括号 177156"/>
          <p:cNvSpPr/>
          <p:nvPr/>
        </p:nvSpPr>
        <p:spPr>
          <a:xfrm>
            <a:off x="2879725" y="2654300"/>
            <a:ext cx="287338" cy="1655763"/>
          </a:xfrm>
          <a:prstGeom prst="leftBrace">
            <a:avLst>
              <a:gd name="adj1" fmla="val 48020"/>
              <a:gd name="adj2" fmla="val 50000"/>
            </a:avLst>
          </a:prstGeom>
          <a:noFill/>
          <a:ln w="38100" cap="flat" cmpd="sng">
            <a:solidFill>
              <a:srgbClr val="FF0000"/>
            </a:solidFill>
            <a:prstDash val="solid"/>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177158" name="矩形 177157"/>
          <p:cNvSpPr/>
          <p:nvPr/>
        </p:nvSpPr>
        <p:spPr>
          <a:xfrm>
            <a:off x="971550" y="3251200"/>
            <a:ext cx="2303463" cy="488950"/>
          </a:xfrm>
          <a:prstGeom prst="rect">
            <a:avLst/>
          </a:prstGeom>
          <a:noFill/>
          <a:ln w="28575">
            <a:noFill/>
          </a:ln>
        </p:spPr>
        <p:txBody>
          <a:bodyPr lIns="90000" tIns="46800" rIns="90000" bIns="46800">
            <a:spAutoFit/>
          </a:bodyPr>
          <a:p>
            <a:pPr>
              <a:spcBef>
                <a:spcPct val="50000"/>
              </a:spcBef>
            </a:pP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可编程</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ROM</a:t>
            </a:r>
            <a:endParaRPr lang="en-US" altLang="zh-CN" sz="26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77159" name="矩形 177158"/>
          <p:cNvSpPr/>
          <p:nvPr/>
        </p:nvSpPr>
        <p:spPr>
          <a:xfrm>
            <a:off x="3095625" y="2509838"/>
            <a:ext cx="4464050" cy="488950"/>
          </a:xfrm>
          <a:prstGeom prst="rect">
            <a:avLst/>
          </a:prstGeom>
          <a:noFill/>
          <a:ln w="28575">
            <a:noFill/>
          </a:ln>
        </p:spPr>
        <p:txBody>
          <a:bodyPr lIns="90000" tIns="46800" rIns="90000" bIns="46800">
            <a:spAutoFit/>
          </a:bodyPr>
          <a:p>
            <a:pPr>
              <a:spcBef>
                <a:spcPct val="50000"/>
              </a:spcBef>
            </a:pP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一次可编程</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ROM</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PROM</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77160" name="矩形 177159"/>
          <p:cNvSpPr/>
          <p:nvPr/>
        </p:nvSpPr>
        <p:spPr>
          <a:xfrm>
            <a:off x="3095625" y="3421063"/>
            <a:ext cx="5256213" cy="488950"/>
          </a:xfrm>
          <a:prstGeom prst="rect">
            <a:avLst/>
          </a:prstGeom>
          <a:noFill/>
          <a:ln w="28575">
            <a:noFill/>
          </a:ln>
        </p:spPr>
        <p:txBody>
          <a:bodyPr lIns="90000" tIns="46800" rIns="90000" bIns="46800">
            <a:spAutoFit/>
          </a:bodyPr>
          <a:p>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电可擦可编程</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ROM</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E</a:t>
            </a:r>
            <a:r>
              <a:rPr lang="en-US" altLang="zh-CN" sz="2600" b="1" baseline="30000">
                <a:solidFill>
                  <a:srgbClr val="000066"/>
                </a:solidFill>
                <a:latin typeface="Times New Roman" panose="02020603050405020304" charset="0"/>
                <a:ea typeface="楷体" panose="02010609060101010101" charset="-122"/>
                <a:cs typeface="Times New Roman" panose="02020603050405020304" charset="0"/>
              </a:rPr>
              <a:t>2</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PROM</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77161" name="文本框 177160"/>
          <p:cNvSpPr txBox="1"/>
          <p:nvPr/>
        </p:nvSpPr>
        <p:spPr>
          <a:xfrm>
            <a:off x="3095625" y="3900488"/>
            <a:ext cx="4121150" cy="488950"/>
          </a:xfrm>
          <a:prstGeom prst="rect">
            <a:avLst/>
          </a:prstGeom>
          <a:noFill/>
          <a:ln w="28575">
            <a:noFill/>
          </a:ln>
        </p:spPr>
        <p:txBody>
          <a:bodyPr wrap="none" lIns="90000" tIns="46800" rIns="90000" bIns="46800" anchor="t" anchorCtr="0">
            <a:spAutoFit/>
          </a:bodyPr>
          <a:p>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快闪存储器</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(Flash Memory)</a:t>
            </a:r>
            <a:endParaRPr lang="en-US" altLang="zh-CN" sz="26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77162" name="矩形 177161"/>
          <p:cNvSpPr/>
          <p:nvPr/>
        </p:nvSpPr>
        <p:spPr>
          <a:xfrm>
            <a:off x="609283" y="4647883"/>
            <a:ext cx="7775575" cy="1520825"/>
          </a:xfrm>
          <a:prstGeom prst="rect">
            <a:avLst/>
          </a:prstGeom>
          <a:noFill/>
          <a:ln w="28575">
            <a:noFill/>
          </a:ln>
        </p:spPr>
        <p:txBody>
          <a:bodyPr lIns="90000" tIns="46800" rIns="90000" bIns="46800">
            <a:spAutoFit/>
          </a:bodyPr>
          <a:p>
            <a:pPr>
              <a:lnSpc>
                <a:spcPct val="120000"/>
              </a:lnSpc>
            </a:pPr>
            <a:r>
              <a:rPr lang="en-US" altLang="zh-CN" sz="2600" b="1">
                <a:solidFill>
                  <a:srgbClr val="000066"/>
                </a:solidFill>
                <a:latin typeface="Times New Roman" panose="02020603050405020304" charset="0"/>
                <a:ea typeface="楷体" panose="02010609060101010101" charset="-122"/>
                <a:cs typeface="Times New Roman" panose="02020603050405020304" charset="0"/>
              </a:rPr>
              <a:t>    E</a:t>
            </a:r>
            <a:r>
              <a:rPr lang="en-US" altLang="zh-CN" sz="2600" b="1" baseline="30000">
                <a:solidFill>
                  <a:srgbClr val="000066"/>
                </a:solidFill>
                <a:latin typeface="Times New Roman" panose="02020603050405020304" charset="0"/>
                <a:ea typeface="楷体" panose="02010609060101010101" charset="-122"/>
                <a:cs typeface="Times New Roman" panose="02020603050405020304" charset="0"/>
              </a:rPr>
              <a:t>2</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PROM</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和</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Flash</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则广泛应用于各种存储卡中：例如</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IC</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卡、数码相机中的存储卡、移动存储卡、</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USB</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卡（</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U</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盘）、</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MP3</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播放器等。</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77163" name="矩形 177162"/>
          <p:cNvSpPr/>
          <p:nvPr/>
        </p:nvSpPr>
        <p:spPr>
          <a:xfrm>
            <a:off x="914083" y="1142683"/>
            <a:ext cx="7993062" cy="457200"/>
          </a:xfrm>
          <a:prstGeom prst="rect">
            <a:avLst/>
          </a:prstGeom>
          <a:noFill/>
          <a:ln w="28575">
            <a:noFill/>
          </a:ln>
        </p:spPr>
        <p:txBody>
          <a:bodyPr lIns="90000" tIns="46800" rIns="90000" bIns="46800">
            <a:spAutoFit/>
          </a:bodyPr>
          <a:p>
            <a:r>
              <a:rPr lang="en-US" altLang="zh-CN" sz="2400" b="1">
                <a:solidFill>
                  <a:srgbClr val="0000FF"/>
                </a:solidFill>
                <a:latin typeface="Times New Roman" panose="02020603050405020304" charset="0"/>
                <a:ea typeface="楷体" panose="02010609060101010101" charset="-122"/>
                <a:cs typeface="Times New Roman" panose="02020603050405020304" charset="0"/>
              </a:rPr>
              <a:t>(2)</a:t>
            </a:r>
            <a:r>
              <a:rPr lang="zh-CN" altLang="en-US" sz="2400" b="1" dirty="0">
                <a:solidFill>
                  <a:srgbClr val="0000FF"/>
                </a:solidFill>
                <a:latin typeface="Times New Roman" panose="02020603050405020304" charset="0"/>
                <a:ea typeface="楷体" panose="02010609060101010101" charset="-122"/>
                <a:cs typeface="Times New Roman" panose="02020603050405020304" charset="0"/>
              </a:rPr>
              <a:t>按存储内容写入方式分</a:t>
            </a:r>
            <a:endParaRPr lang="zh-CN" altLang="en-US" sz="2400" b="1">
              <a:solidFill>
                <a:srgbClr val="0000FF"/>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7163"/>
                                        </p:tgtEl>
                                        <p:attrNameLst>
                                          <p:attrName>style.visibility</p:attrName>
                                        </p:attrNameLst>
                                      </p:cBhvr>
                                      <p:to>
                                        <p:strVal val="visible"/>
                                      </p:to>
                                    </p:set>
                                    <p:animEffect transition="in" filter="wipe(left)">
                                      <p:cBhvr>
                                        <p:cTn id="7" dur="500"/>
                                        <p:tgtEl>
                                          <p:spTgt spid="17716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7715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77154"/>
                                        </p:tgtEl>
                                        <p:attrNameLst>
                                          <p:attrName>style.visibility</p:attrName>
                                        </p:attrNameLst>
                                      </p:cBhvr>
                                      <p:to>
                                        <p:strVal val="visible"/>
                                      </p:to>
                                    </p:set>
                                    <p:animEffect transition="in" filter="blinds(horizontal)">
                                      <p:cBhvr>
                                        <p:cTn id="16" dur="500"/>
                                        <p:tgtEl>
                                          <p:spTgt spid="177154"/>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715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715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77159"/>
                                        </p:tgtEl>
                                        <p:attrNameLst>
                                          <p:attrName>style.visibility</p:attrName>
                                        </p:attrNameLst>
                                      </p:cBhvr>
                                      <p:to>
                                        <p:strVal val="visible"/>
                                      </p:to>
                                    </p:set>
                                    <p:animEffect transition="in" filter="wipe(left)">
                                      <p:cBhvr>
                                        <p:cTn id="29" dur="500"/>
                                        <p:tgtEl>
                                          <p:spTgt spid="17715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77160"/>
                                        </p:tgtEl>
                                        <p:attrNameLst>
                                          <p:attrName>style.visibility</p:attrName>
                                        </p:attrNameLst>
                                      </p:cBhvr>
                                      <p:to>
                                        <p:strVal val="visible"/>
                                      </p:to>
                                    </p:set>
                                    <p:animEffect transition="in" filter="wipe(left)">
                                      <p:cBhvr>
                                        <p:cTn id="34" dur="500"/>
                                        <p:tgtEl>
                                          <p:spTgt spid="17716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77161"/>
                                        </p:tgtEl>
                                        <p:attrNameLst>
                                          <p:attrName>style.visibility</p:attrName>
                                        </p:attrNameLst>
                                      </p:cBhvr>
                                      <p:to>
                                        <p:strVal val="visible"/>
                                      </p:to>
                                    </p:set>
                                    <p:animEffect transition="in" filter="wipe(left)">
                                      <p:cBhvr>
                                        <p:cTn id="39" dur="500"/>
                                        <p:tgtEl>
                                          <p:spTgt spid="177161"/>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grpId="0" nodeType="clickEffect">
                                  <p:stCondLst>
                                    <p:cond delay="0"/>
                                  </p:stCondLst>
                                  <p:childTnLst>
                                    <p:set>
                                      <p:cBhvr>
                                        <p:cTn id="43" dur="1" fill="hold">
                                          <p:stCondLst>
                                            <p:cond delay="0"/>
                                          </p:stCondLst>
                                        </p:cTn>
                                        <p:tgtEl>
                                          <p:spTgt spid="177162"/>
                                        </p:tgtEl>
                                        <p:attrNameLst>
                                          <p:attrName>style.visibility</p:attrName>
                                        </p:attrNameLst>
                                      </p:cBhvr>
                                      <p:to>
                                        <p:strVal val="visible"/>
                                      </p:to>
                                    </p:set>
                                    <p:animEffect transition="in" filter="box(in)">
                                      <p:cBhvr>
                                        <p:cTn id="44" dur="500"/>
                                        <p:tgtEl>
                                          <p:spTgt spid="177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4" grpId="0"/>
      <p:bldP spid="177158" grpId="0"/>
      <p:bldP spid="177159" grpId="0"/>
      <p:bldP spid="177160" grpId="0"/>
      <p:bldP spid="177161" grpId="0"/>
      <p:bldP spid="177162" grpId="0"/>
      <p:bldP spid="17716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7" name="Rectangle 3"/>
          <p:cNvSpPr>
            <a:spLocks noGrp="1"/>
          </p:cNvSpPr>
          <p:nvPr/>
        </p:nvSpPr>
        <p:spPr>
          <a:xfrm>
            <a:off x="609600" y="1116965"/>
            <a:ext cx="482092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rPr>
              <a:t>      </a:t>
            </a:r>
            <a:r>
              <a:rPr 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1.ROM</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的</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结构</a:t>
            </a:r>
            <a:endPar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endParaRPr>
          </a:p>
        </p:txBody>
      </p:sp>
      <p:sp>
        <p:nvSpPr>
          <p:cNvPr id="76806" name="文本框 76805"/>
          <p:cNvSpPr txBox="1"/>
          <p:nvPr/>
        </p:nvSpPr>
        <p:spPr>
          <a:xfrm>
            <a:off x="5035550" y="2457450"/>
            <a:ext cx="1666875" cy="1115695"/>
          </a:xfrm>
          <a:prstGeom prst="rect">
            <a:avLst/>
          </a:prstGeom>
          <a:noFill/>
          <a:ln w="38100" cap="flat" cmpd="sng">
            <a:solidFill>
              <a:srgbClr val="CC0099"/>
            </a:solidFill>
            <a:prstDash val="solid"/>
            <a:miter/>
            <a:headEnd type="none" w="med" len="med"/>
            <a:tailEnd type="none" w="med" len="med"/>
          </a:ln>
        </p:spPr>
        <p:txBody>
          <a:bodyPr>
            <a:spAutoFit/>
          </a:bodyPr>
          <a:p>
            <a:pPr>
              <a:spcBef>
                <a:spcPct val="50000"/>
              </a:spcBef>
            </a:pPr>
            <a:endParaRPr lang="en-US" altLang="zh-CN" b="1">
              <a:latin typeface="Times New Roman" panose="02020603050405020304" charset="0"/>
              <a:ea typeface="楷体" panose="02010609060101010101" charset="-122"/>
            </a:endParaRPr>
          </a:p>
          <a:p>
            <a:pPr>
              <a:lnSpc>
                <a:spcPct val="70000"/>
              </a:lnSpc>
              <a:spcBef>
                <a:spcPct val="50000"/>
              </a:spcBef>
            </a:pPr>
            <a:r>
              <a:rPr lang="zh-CN" altLang="en-US" b="1" dirty="0">
                <a:latin typeface="Times New Roman" panose="02020603050405020304" charset="0"/>
                <a:ea typeface="楷体" panose="02010609060101010101" charset="-122"/>
              </a:rPr>
              <a:t>存储矩阵</a:t>
            </a:r>
            <a:endParaRPr lang="zh-CN" altLang="en-US" b="1" dirty="0">
              <a:latin typeface="Times New Roman" panose="02020603050405020304" charset="0"/>
              <a:ea typeface="楷体" panose="02010609060101010101" charset="-122"/>
            </a:endParaRPr>
          </a:p>
          <a:p>
            <a:pPr>
              <a:spcBef>
                <a:spcPct val="50000"/>
              </a:spcBef>
            </a:pPr>
            <a:endParaRPr lang="zh-CN" altLang="en-US" b="1">
              <a:latin typeface="Times New Roman" panose="02020603050405020304" charset="0"/>
              <a:ea typeface="楷体" panose="02010609060101010101" charset="-122"/>
            </a:endParaRPr>
          </a:p>
        </p:txBody>
      </p:sp>
      <p:grpSp>
        <p:nvGrpSpPr>
          <p:cNvPr id="76820" name="组合 76819"/>
          <p:cNvGrpSpPr/>
          <p:nvPr/>
        </p:nvGrpSpPr>
        <p:grpSpPr>
          <a:xfrm>
            <a:off x="2831636" y="2024063"/>
            <a:ext cx="2189627" cy="1978025"/>
            <a:chOff x="1432" y="1889"/>
            <a:chExt cx="1503" cy="1162"/>
          </a:xfrm>
        </p:grpSpPr>
        <p:sp>
          <p:nvSpPr>
            <p:cNvPr id="76808" name="文本框 76807"/>
            <p:cNvSpPr txBox="1"/>
            <p:nvPr/>
          </p:nvSpPr>
          <p:spPr>
            <a:xfrm>
              <a:off x="2239" y="1889"/>
              <a:ext cx="316" cy="1162"/>
            </a:xfrm>
            <a:prstGeom prst="rect">
              <a:avLst/>
            </a:prstGeom>
            <a:noFill/>
            <a:ln w="38100" cap="flat" cmpd="sng">
              <a:solidFill>
                <a:srgbClr val="CC0099"/>
              </a:solidFill>
              <a:prstDash val="solid"/>
              <a:miter/>
              <a:headEnd type="none" w="med" len="med"/>
              <a:tailEnd type="none" w="med" len="med"/>
            </a:ln>
          </p:spPr>
          <p:txBody>
            <a:bodyPr vert="eaVert">
              <a:spAutoFit/>
            </a:bodyPr>
            <a:p>
              <a:pPr algn="l">
                <a:spcBef>
                  <a:spcPct val="50000"/>
                </a:spcBef>
              </a:pPr>
              <a:r>
                <a:rPr lang="en-US" altLang="zh-CN" b="1">
                  <a:latin typeface="Times New Roman" panose="02020603050405020304" charset="0"/>
                  <a:ea typeface="楷体" panose="02010609060101010101" charset="-122"/>
                  <a:cs typeface="Times New Roman" panose="02020603050405020304" charset="0"/>
                </a:rPr>
                <a:t> </a:t>
              </a:r>
              <a:r>
                <a:rPr lang="zh-CN" altLang="en-US" b="1" dirty="0">
                  <a:latin typeface="Times New Roman" panose="02020603050405020304" charset="0"/>
                  <a:ea typeface="楷体" panose="02010609060101010101" charset="-122"/>
                  <a:cs typeface="Times New Roman" panose="02020603050405020304" charset="0"/>
                </a:rPr>
                <a:t>地址译码器</a:t>
              </a:r>
              <a:endParaRPr lang="zh-CN" altLang="en-US" b="1">
                <a:latin typeface="Times New Roman" panose="02020603050405020304" charset="0"/>
                <a:ea typeface="楷体" panose="02010609060101010101" charset="-122"/>
                <a:cs typeface="Times New Roman" panose="02020603050405020304" charset="0"/>
              </a:endParaRPr>
            </a:p>
          </p:txBody>
        </p:sp>
        <p:sp>
          <p:nvSpPr>
            <p:cNvPr id="76811" name="右箭头 76810"/>
            <p:cNvSpPr/>
            <p:nvPr/>
          </p:nvSpPr>
          <p:spPr>
            <a:xfrm>
              <a:off x="1789" y="2264"/>
              <a:ext cx="378" cy="215"/>
            </a:xfrm>
            <a:prstGeom prst="rightArrow">
              <a:avLst>
                <a:gd name="adj1" fmla="val 50000"/>
                <a:gd name="adj2" fmla="val 43953"/>
              </a:avLst>
            </a:prstGeom>
            <a:noFill/>
            <a:ln w="28575" cap="flat" cmpd="sng">
              <a:solidFill>
                <a:srgbClr val="CC0099"/>
              </a:solidFill>
              <a:prstDash val="solid"/>
              <a:miter/>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76812" name="右箭头 76811"/>
            <p:cNvSpPr/>
            <p:nvPr/>
          </p:nvSpPr>
          <p:spPr>
            <a:xfrm>
              <a:off x="2557" y="2266"/>
              <a:ext cx="378" cy="215"/>
            </a:xfrm>
            <a:prstGeom prst="rightArrow">
              <a:avLst>
                <a:gd name="adj1" fmla="val 50000"/>
                <a:gd name="adj2" fmla="val 43953"/>
              </a:avLst>
            </a:prstGeom>
            <a:noFill/>
            <a:ln w="28575" cap="flat" cmpd="sng">
              <a:solidFill>
                <a:srgbClr val="CC0099"/>
              </a:solidFill>
              <a:prstDash val="solid"/>
              <a:miter/>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76814" name="文本框 76813"/>
            <p:cNvSpPr txBox="1"/>
            <p:nvPr/>
          </p:nvSpPr>
          <p:spPr>
            <a:xfrm>
              <a:off x="1432" y="2086"/>
              <a:ext cx="316" cy="712"/>
            </a:xfrm>
            <a:prstGeom prst="rect">
              <a:avLst/>
            </a:prstGeom>
            <a:noFill/>
            <a:ln w="28575" cap="flat" cmpd="sng">
              <a:solidFill>
                <a:srgbClr val="CC0099"/>
              </a:solidFill>
              <a:prstDash val="solid"/>
              <a:miter/>
              <a:headEnd type="none" w="med" len="med"/>
              <a:tailEnd type="none" w="med" len="med"/>
            </a:ln>
          </p:spPr>
          <p:txBody>
            <a:bodyPr vert="eaVert">
              <a:spAutoFit/>
            </a:bodyPr>
            <a:p>
              <a:pPr algn="l">
                <a:spcBef>
                  <a:spcPct val="50000"/>
                </a:spcBef>
              </a:pPr>
              <a:r>
                <a:rPr lang="zh-CN" altLang="en-US" b="1" dirty="0">
                  <a:latin typeface="Times New Roman" panose="02020603050405020304" charset="0"/>
                  <a:ea typeface="楷体" panose="02010609060101010101" charset="-122"/>
                </a:rPr>
                <a:t>地址输入</a:t>
              </a:r>
              <a:endParaRPr lang="zh-CN" altLang="en-US" b="1" dirty="0">
                <a:latin typeface="Times New Roman" panose="02020603050405020304" charset="0"/>
                <a:ea typeface="楷体" panose="02010609060101010101" charset="-122"/>
              </a:endParaRPr>
            </a:p>
          </p:txBody>
        </p:sp>
      </p:grpSp>
      <p:grpSp>
        <p:nvGrpSpPr>
          <p:cNvPr id="76822" name="组合 76821"/>
          <p:cNvGrpSpPr/>
          <p:nvPr/>
        </p:nvGrpSpPr>
        <p:grpSpPr>
          <a:xfrm>
            <a:off x="2176463" y="3716338"/>
            <a:ext cx="4946650" cy="1920136"/>
            <a:chOff x="1202" y="2341"/>
            <a:chExt cx="3188" cy="1546"/>
          </a:xfrm>
        </p:grpSpPr>
        <p:sp>
          <p:nvSpPr>
            <p:cNvPr id="76809" name="下箭头 76808"/>
            <p:cNvSpPr/>
            <p:nvPr/>
          </p:nvSpPr>
          <p:spPr>
            <a:xfrm>
              <a:off x="3492" y="2341"/>
              <a:ext cx="250" cy="457"/>
            </a:xfrm>
            <a:prstGeom prst="downArrow">
              <a:avLst>
                <a:gd name="adj1" fmla="val 50000"/>
                <a:gd name="adj2" fmla="val 45700"/>
              </a:avLst>
            </a:prstGeom>
            <a:noFill/>
            <a:ln w="28575" cap="flat" cmpd="sng">
              <a:solidFill>
                <a:srgbClr val="CC0099"/>
              </a:solidFill>
              <a:prstDash val="solid"/>
              <a:miter/>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76810" name="下箭头 76809"/>
            <p:cNvSpPr/>
            <p:nvPr/>
          </p:nvSpPr>
          <p:spPr>
            <a:xfrm>
              <a:off x="3424" y="3158"/>
              <a:ext cx="250" cy="407"/>
            </a:xfrm>
            <a:prstGeom prst="downArrow">
              <a:avLst>
                <a:gd name="adj1" fmla="val 50000"/>
                <a:gd name="adj2" fmla="val 40700"/>
              </a:avLst>
            </a:prstGeom>
            <a:noFill/>
            <a:ln w="28575" cap="flat" cmpd="sng">
              <a:solidFill>
                <a:srgbClr val="CC0099"/>
              </a:solidFill>
              <a:prstDash val="solid"/>
              <a:miter/>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76813" name="文本框 76812"/>
            <p:cNvSpPr txBox="1"/>
            <p:nvPr/>
          </p:nvSpPr>
          <p:spPr>
            <a:xfrm>
              <a:off x="3048" y="3590"/>
              <a:ext cx="1149" cy="297"/>
            </a:xfrm>
            <a:prstGeom prst="rect">
              <a:avLst/>
            </a:prstGeom>
            <a:noFill/>
            <a:ln w="38100" cap="flat" cmpd="sng">
              <a:solidFill>
                <a:srgbClr val="CC0099"/>
              </a:solidFill>
              <a:prstDash val="solid"/>
              <a:miter/>
              <a:headEnd type="none" w="med" len="med"/>
              <a:tailEnd type="none" w="med" len="med"/>
            </a:ln>
          </p:spPr>
          <p:txBody>
            <a:bodyPr>
              <a:spAutoFit/>
            </a:bodyPr>
            <a:p>
              <a:pPr>
                <a:spcBef>
                  <a:spcPct val="50000"/>
                </a:spcBef>
              </a:pPr>
              <a:r>
                <a:rPr lang="zh-CN" altLang="en-US" b="1" dirty="0">
                  <a:latin typeface="Times New Roman" panose="02020603050405020304" charset="0"/>
                  <a:ea typeface="楷体" panose="02010609060101010101" charset="-122"/>
                </a:rPr>
                <a:t>数据输出</a:t>
              </a:r>
              <a:endParaRPr lang="zh-CN" altLang="en-US" b="1" dirty="0">
                <a:latin typeface="Times New Roman" panose="02020603050405020304" charset="0"/>
                <a:ea typeface="楷体" panose="02010609060101010101" charset="-122"/>
              </a:endParaRPr>
            </a:p>
          </p:txBody>
        </p:sp>
        <p:sp>
          <p:nvSpPr>
            <p:cNvPr id="76815" name="文本框 76814"/>
            <p:cNvSpPr txBox="1"/>
            <p:nvPr/>
          </p:nvSpPr>
          <p:spPr>
            <a:xfrm>
              <a:off x="1202" y="2818"/>
              <a:ext cx="1150" cy="297"/>
            </a:xfrm>
            <a:prstGeom prst="rect">
              <a:avLst/>
            </a:prstGeom>
            <a:noFill/>
            <a:ln w="38100" cap="flat" cmpd="sng">
              <a:solidFill>
                <a:srgbClr val="CC0099"/>
              </a:solidFill>
              <a:prstDash val="solid"/>
              <a:miter/>
              <a:headEnd type="none" w="med" len="med"/>
              <a:tailEnd type="none" w="med" len="med"/>
            </a:ln>
          </p:spPr>
          <p:txBody>
            <a:bodyPr>
              <a:spAutoFit/>
            </a:bodyPr>
            <a:p>
              <a:pPr>
                <a:spcBef>
                  <a:spcPct val="50000"/>
                </a:spcBef>
              </a:pPr>
              <a:r>
                <a:rPr lang="zh-CN" altLang="en-US" b="1" dirty="0">
                  <a:latin typeface="Times New Roman" panose="02020603050405020304" charset="0"/>
                  <a:ea typeface="楷体" panose="02010609060101010101" charset="-122"/>
                </a:rPr>
                <a:t>控制信号输入</a:t>
              </a:r>
              <a:endParaRPr lang="zh-CN" altLang="en-US" b="1" dirty="0">
                <a:latin typeface="Times New Roman" panose="02020603050405020304" charset="0"/>
                <a:ea typeface="楷体" panose="02010609060101010101" charset="-122"/>
              </a:endParaRPr>
            </a:p>
          </p:txBody>
        </p:sp>
        <p:sp>
          <p:nvSpPr>
            <p:cNvPr id="76816" name="直接连接符 76815"/>
            <p:cNvSpPr/>
            <p:nvPr/>
          </p:nvSpPr>
          <p:spPr>
            <a:xfrm>
              <a:off x="2358" y="2954"/>
              <a:ext cx="392" cy="0"/>
            </a:xfrm>
            <a:prstGeom prst="line">
              <a:avLst/>
            </a:prstGeom>
            <a:ln w="38100" cap="flat" cmpd="sng">
              <a:solidFill>
                <a:srgbClr val="CC0099"/>
              </a:solidFill>
              <a:prstDash val="solid"/>
              <a:headEnd type="none" w="med" len="med"/>
              <a:tailEnd type="none" w="med" len="med"/>
            </a:ln>
          </p:spPr>
        </p:sp>
        <p:sp>
          <p:nvSpPr>
            <p:cNvPr id="76807" name="文本框 76806"/>
            <p:cNvSpPr txBox="1"/>
            <p:nvPr/>
          </p:nvSpPr>
          <p:spPr>
            <a:xfrm>
              <a:off x="2745" y="2795"/>
              <a:ext cx="1645" cy="297"/>
            </a:xfrm>
            <a:prstGeom prst="rect">
              <a:avLst/>
            </a:prstGeom>
            <a:noFill/>
            <a:ln w="38100" cap="flat" cmpd="sng">
              <a:solidFill>
                <a:srgbClr val="CC0099"/>
              </a:solidFill>
              <a:prstDash val="solid"/>
              <a:miter/>
              <a:headEnd type="none" w="med" len="med"/>
              <a:tailEnd type="none" w="med" len="med"/>
            </a:ln>
          </p:spPr>
          <p:txBody>
            <a:bodyPr>
              <a:spAutoFit/>
            </a:bodyPr>
            <a:p>
              <a:pPr>
                <a:spcBef>
                  <a:spcPct val="50000"/>
                </a:spcBef>
              </a:pPr>
              <a:r>
                <a:rPr lang="zh-CN" altLang="en-US" b="1" dirty="0">
                  <a:latin typeface="Times New Roman" panose="02020603050405020304" charset="0"/>
                  <a:ea typeface="楷体" panose="02010609060101010101" charset="-122"/>
                </a:rPr>
                <a:t>输出控制电路</a:t>
              </a:r>
              <a:endParaRPr lang="zh-CN" altLang="en-US" b="1" dirty="0">
                <a:latin typeface="Times New Roman" panose="02020603050405020304" charset="0"/>
                <a:ea typeface="楷体" panose="02010609060101010101" charset="-122"/>
              </a:endParaRPr>
            </a:p>
          </p:txBody>
        </p:sp>
      </p:grpSp>
      <p:sp>
        <p:nvSpPr>
          <p:cNvPr id="76823" name="矩形 76822"/>
          <p:cNvSpPr/>
          <p:nvPr/>
        </p:nvSpPr>
        <p:spPr>
          <a:xfrm>
            <a:off x="4840288" y="2386013"/>
            <a:ext cx="1981200" cy="1189037"/>
          </a:xfrm>
          <a:prstGeom prst="rect">
            <a:avLst/>
          </a:prstGeom>
          <a:noFill/>
          <a:ln w="38100" cap="flat" cmpd="sng">
            <a:solidFill>
              <a:srgbClr val="6699FF"/>
            </a:solidFill>
            <a:prstDash val="dash"/>
            <a:miter/>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76824" name="矩形 76823"/>
          <p:cNvSpPr/>
          <p:nvPr/>
        </p:nvSpPr>
        <p:spPr>
          <a:xfrm>
            <a:off x="1997075" y="4221163"/>
            <a:ext cx="5651500" cy="1571625"/>
          </a:xfrm>
          <a:prstGeom prst="rect">
            <a:avLst/>
          </a:prstGeom>
          <a:noFill/>
          <a:ln w="38100" cap="flat" cmpd="sng">
            <a:solidFill>
              <a:srgbClr val="6699FF"/>
            </a:solidFill>
            <a:prstDash val="dash"/>
            <a:miter/>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76825" name="矩形 76824"/>
          <p:cNvSpPr/>
          <p:nvPr/>
        </p:nvSpPr>
        <p:spPr>
          <a:xfrm>
            <a:off x="2463800" y="1844675"/>
            <a:ext cx="2233613" cy="2268538"/>
          </a:xfrm>
          <a:prstGeom prst="rect">
            <a:avLst/>
          </a:prstGeom>
          <a:noFill/>
          <a:ln w="38100" cap="flat" cmpd="sng">
            <a:solidFill>
              <a:srgbClr val="6699FF"/>
            </a:solidFill>
            <a:prstDash val="dash"/>
            <a:miter/>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76826" name="圆角矩形标注 76825"/>
          <p:cNvSpPr/>
          <p:nvPr/>
        </p:nvSpPr>
        <p:spPr>
          <a:xfrm>
            <a:off x="314325" y="2295525"/>
            <a:ext cx="1374230" cy="410300"/>
          </a:xfrm>
          <a:prstGeom prst="wedgeRoundRectCallout">
            <a:avLst>
              <a:gd name="adj1" fmla="val 111366"/>
              <a:gd name="adj2" fmla="val 105227"/>
              <a:gd name="adj3" fmla="val 16667"/>
            </a:avLst>
          </a:prstGeom>
          <a:solidFill>
            <a:schemeClr val="bg2"/>
          </a:solidFill>
          <a:ln w="9525" cap="flat" cmpd="sng">
            <a:solidFill>
              <a:schemeClr val="folHlink"/>
            </a:solidFill>
            <a:prstDash val="solid"/>
            <a:miter/>
            <a:headEnd type="none" w="med" len="med"/>
            <a:tailEnd type="none" w="med" len="med"/>
          </a:ln>
        </p:spPr>
        <p:txBody>
          <a:bodyPr wrap="none" anchor="t" anchorCtr="0">
            <a:spAutoFit/>
          </a:bodyPr>
          <a:p>
            <a:pPr algn="l"/>
            <a:r>
              <a:rPr lang="zh-CN" altLang="en-US" b="1" dirty="0">
                <a:latin typeface="Times New Roman" panose="02020603050405020304" charset="0"/>
                <a:ea typeface="楷体" panose="02010609060101010101" charset="-122"/>
              </a:rPr>
              <a:t>地址译码器</a:t>
            </a:r>
            <a:endParaRPr lang="zh-CN" altLang="en-US" b="1" dirty="0">
              <a:latin typeface="Times New Roman" panose="02020603050405020304" charset="0"/>
              <a:ea typeface="楷体" panose="02010609060101010101" charset="-122"/>
            </a:endParaRPr>
          </a:p>
        </p:txBody>
      </p:sp>
      <p:sp>
        <p:nvSpPr>
          <p:cNvPr id="76829" name="圆角矩形标注 76828"/>
          <p:cNvSpPr/>
          <p:nvPr/>
        </p:nvSpPr>
        <p:spPr>
          <a:xfrm>
            <a:off x="6937375" y="2043113"/>
            <a:ext cx="1144358" cy="410298"/>
          </a:xfrm>
          <a:prstGeom prst="wedgeRoundRectCallout">
            <a:avLst>
              <a:gd name="adj1" fmla="val -79926"/>
              <a:gd name="adj2" fmla="val 89218"/>
              <a:gd name="adj3" fmla="val 16667"/>
            </a:avLst>
          </a:prstGeom>
          <a:solidFill>
            <a:srgbClr val="DDDDDD"/>
          </a:solidFill>
          <a:ln w="9525" cap="flat" cmpd="sng">
            <a:solidFill>
              <a:srgbClr val="000066"/>
            </a:solidFill>
            <a:prstDash val="solid"/>
            <a:miter/>
            <a:headEnd type="none" w="med" len="med"/>
            <a:tailEnd type="none" w="med" len="med"/>
          </a:ln>
        </p:spPr>
        <p:txBody>
          <a:bodyPr wrap="none" anchor="t" anchorCtr="0">
            <a:spAutoFit/>
          </a:bodyPr>
          <a:p>
            <a:pPr algn="l"/>
            <a:r>
              <a:rPr lang="zh-CN" altLang="en-US" b="1" dirty="0">
                <a:latin typeface="Times New Roman" panose="02020603050405020304" charset="0"/>
                <a:ea typeface="楷体" panose="02010609060101010101" charset="-122"/>
              </a:rPr>
              <a:t>存储矩阵</a:t>
            </a:r>
            <a:endParaRPr lang="zh-CN" altLang="en-US" b="1" dirty="0">
              <a:latin typeface="Times New Roman" panose="02020603050405020304" charset="0"/>
              <a:ea typeface="楷体" panose="02010609060101010101" charset="-122"/>
            </a:endParaRPr>
          </a:p>
        </p:txBody>
      </p:sp>
      <p:sp>
        <p:nvSpPr>
          <p:cNvPr id="76830" name="圆角矩形标注 76829"/>
          <p:cNvSpPr/>
          <p:nvPr/>
        </p:nvSpPr>
        <p:spPr>
          <a:xfrm>
            <a:off x="7170738" y="3411538"/>
            <a:ext cx="1604098" cy="410298"/>
          </a:xfrm>
          <a:prstGeom prst="wedgeRoundRectCallout">
            <a:avLst>
              <a:gd name="adj1" fmla="val -85653"/>
              <a:gd name="adj2" fmla="val 186273"/>
              <a:gd name="adj3" fmla="val 16667"/>
            </a:avLst>
          </a:prstGeom>
          <a:solidFill>
            <a:schemeClr val="bg2"/>
          </a:solidFill>
          <a:ln w="9525" cap="flat" cmpd="sng">
            <a:solidFill>
              <a:srgbClr val="000066"/>
            </a:solidFill>
            <a:prstDash val="solid"/>
            <a:miter/>
            <a:headEnd type="none" w="med" len="med"/>
            <a:tailEnd type="none" w="med" len="med"/>
          </a:ln>
        </p:spPr>
        <p:txBody>
          <a:bodyPr wrap="none" anchor="t" anchorCtr="0">
            <a:spAutoFit/>
          </a:bodyPr>
          <a:p>
            <a:pPr algn="l"/>
            <a:r>
              <a:rPr lang="zh-CN" altLang="en-US" b="1" dirty="0">
                <a:latin typeface="Times New Roman" panose="02020603050405020304" charset="0"/>
                <a:ea typeface="楷体" panose="02010609060101010101" charset="-122"/>
              </a:rPr>
              <a:t>输出控制电路</a:t>
            </a:r>
            <a:endParaRPr lang="zh-CN" altLang="en-US" b="1" dirty="0">
              <a:latin typeface="Times New Roman" panose="02020603050405020304" charset="0"/>
              <a:ea typeface="楷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6806"/>
                                        </p:tgtEl>
                                        <p:attrNameLst>
                                          <p:attrName>style.visibility</p:attrName>
                                        </p:attrNameLst>
                                      </p:cBhvr>
                                      <p:to>
                                        <p:strVal val="visible"/>
                                      </p:to>
                                    </p:set>
                                    <p:animEffect transition="in" filter="box(out)">
                                      <p:cBhvr>
                                        <p:cTn id="7" dur="500"/>
                                        <p:tgtEl>
                                          <p:spTgt spid="7680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6823"/>
                                        </p:tgtEl>
                                        <p:attrNameLst>
                                          <p:attrName>style.visibility</p:attrName>
                                        </p:attrNameLst>
                                      </p:cBhvr>
                                      <p:to>
                                        <p:strVal val="visible"/>
                                      </p:to>
                                    </p:set>
                                    <p:animEffect transition="in" filter="box(in)">
                                      <p:cBhvr>
                                        <p:cTn id="12" dur="500"/>
                                        <p:tgtEl>
                                          <p:spTgt spid="768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6829"/>
                                        </p:tgtEl>
                                        <p:attrNameLst>
                                          <p:attrName>style.visibility</p:attrName>
                                        </p:attrNameLst>
                                      </p:cBhvr>
                                      <p:to>
                                        <p:strVal val="visible"/>
                                      </p:to>
                                    </p:set>
                                    <p:animEffect transition="in" filter="wipe(up)">
                                      <p:cBhvr>
                                        <p:cTn id="17" dur="500"/>
                                        <p:tgtEl>
                                          <p:spTgt spid="768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6820"/>
                                        </p:tgtEl>
                                        <p:attrNameLst>
                                          <p:attrName>style.visibility</p:attrName>
                                        </p:attrNameLst>
                                      </p:cBhvr>
                                      <p:to>
                                        <p:strVal val="visible"/>
                                      </p:to>
                                    </p:set>
                                    <p:animEffect transition="in" filter="wipe(left)">
                                      <p:cBhvr>
                                        <p:cTn id="22" dur="500"/>
                                        <p:tgtEl>
                                          <p:spTgt spid="76820"/>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76825"/>
                                        </p:tgtEl>
                                        <p:attrNameLst>
                                          <p:attrName>style.visibility</p:attrName>
                                        </p:attrNameLst>
                                      </p:cBhvr>
                                      <p:to>
                                        <p:strVal val="visible"/>
                                      </p:to>
                                    </p:set>
                                    <p:animEffect transition="in" filter="box(in)">
                                      <p:cBhvr>
                                        <p:cTn id="27" dur="500"/>
                                        <p:tgtEl>
                                          <p:spTgt spid="768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6826"/>
                                        </p:tgtEl>
                                        <p:attrNameLst>
                                          <p:attrName>style.visibility</p:attrName>
                                        </p:attrNameLst>
                                      </p:cBhvr>
                                      <p:to>
                                        <p:strVal val="visible"/>
                                      </p:to>
                                    </p:set>
                                    <p:animEffect transition="in" filter="wipe(left)">
                                      <p:cBhvr>
                                        <p:cTn id="32" dur="500"/>
                                        <p:tgtEl>
                                          <p:spTgt spid="7682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76822"/>
                                        </p:tgtEl>
                                        <p:attrNameLst>
                                          <p:attrName>style.visibility</p:attrName>
                                        </p:attrNameLst>
                                      </p:cBhvr>
                                      <p:to>
                                        <p:strVal val="visible"/>
                                      </p:to>
                                    </p:set>
                                    <p:animEffect transition="in" filter="wipe(up)">
                                      <p:cBhvr>
                                        <p:cTn id="37" dur="500"/>
                                        <p:tgtEl>
                                          <p:spTgt spid="76822"/>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76824"/>
                                        </p:tgtEl>
                                        <p:attrNameLst>
                                          <p:attrName>style.visibility</p:attrName>
                                        </p:attrNameLst>
                                      </p:cBhvr>
                                      <p:to>
                                        <p:strVal val="visible"/>
                                      </p:to>
                                    </p:set>
                                    <p:animEffect transition="in" filter="box(in)">
                                      <p:cBhvr>
                                        <p:cTn id="42" dur="500"/>
                                        <p:tgtEl>
                                          <p:spTgt spid="7682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76830"/>
                                        </p:tgtEl>
                                        <p:attrNameLst>
                                          <p:attrName>style.visibility</p:attrName>
                                        </p:attrNameLst>
                                      </p:cBhvr>
                                      <p:to>
                                        <p:strVal val="visible"/>
                                      </p:to>
                                    </p:set>
                                    <p:animEffect transition="in" filter="wipe(up)">
                                      <p:cBhvr>
                                        <p:cTn id="47" dur="500"/>
                                        <p:tgtEl>
                                          <p:spTgt spid="768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6" grpId="0" bldLvl="0" animBg="1"/>
      <p:bldP spid="76826" grpId="0" bldLvl="0" animBg="1"/>
      <p:bldP spid="76829" grpId="0" bldLvl="0" animBg="1"/>
      <p:bldP spid="76830"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 name="文本框 85"/>
          <p:cNvSpPr txBox="1"/>
          <p:nvPr/>
        </p:nvSpPr>
        <p:spPr>
          <a:xfrm>
            <a:off x="-9525" y="5953125"/>
            <a:ext cx="9162000"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pic>
        <p:nvPicPr>
          <p:cNvPr id="2" name="图片 1"/>
          <p:cNvPicPr>
            <a:picLocks noChangeAspect="1"/>
          </p:cNvPicPr>
          <p:nvPr/>
        </p:nvPicPr>
        <p:blipFill>
          <a:blip r:embed="rId1"/>
          <a:stretch>
            <a:fillRect/>
          </a:stretch>
        </p:blipFill>
        <p:spPr>
          <a:xfrm>
            <a:off x="4343400" y="1524000"/>
            <a:ext cx="4765675" cy="5334000"/>
          </a:xfrm>
          <a:prstGeom prst="rect">
            <a:avLst/>
          </a:prstGeom>
        </p:spPr>
      </p:pic>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7" name="Rectangle 3"/>
          <p:cNvSpPr>
            <a:spLocks noGrp="1"/>
          </p:cNvSpPr>
          <p:nvPr/>
        </p:nvSpPr>
        <p:spPr>
          <a:xfrm>
            <a:off x="609600" y="1040765"/>
            <a:ext cx="482092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rPr>
              <a:t>      </a:t>
            </a:r>
            <a:r>
              <a:rPr 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2.</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固定</a:t>
            </a:r>
            <a:r>
              <a:rPr 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ROM</a:t>
            </a:r>
            <a:endPar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endParaRPr>
          </a:p>
        </p:txBody>
      </p:sp>
      <p:sp>
        <p:nvSpPr>
          <p:cNvPr id="179203" name="文本框 179202"/>
          <p:cNvSpPr txBox="1"/>
          <p:nvPr/>
        </p:nvSpPr>
        <p:spPr>
          <a:xfrm>
            <a:off x="395288" y="1555750"/>
            <a:ext cx="4176712" cy="1419860"/>
          </a:xfrm>
          <a:prstGeom prst="rect">
            <a:avLst/>
          </a:prstGeom>
          <a:noFill/>
          <a:ln w="9525">
            <a:noFill/>
          </a:ln>
        </p:spPr>
        <p:txBody>
          <a:bodyPr>
            <a:spAutoFit/>
          </a:bodyPr>
          <a:p>
            <a:pPr>
              <a:spcBef>
                <a:spcPct val="30000"/>
              </a:spcBef>
              <a:buChar char="•"/>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字线与位线的交点都是一个</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a:p>
            <a:pPr>
              <a:spcBef>
                <a:spcPct val="30000"/>
              </a:spcBef>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存储单元。交点处有二极管</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a:p>
            <a:pPr>
              <a:spcBef>
                <a:spcPct val="30000"/>
              </a:spcBef>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相当存</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1</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，无二极管相当存</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0</a:t>
            </a:r>
            <a:endParaRPr lang="en-US" altLang="zh-CN" sz="2400" b="1">
              <a:solidFill>
                <a:srgbClr val="000066"/>
              </a:solidFill>
              <a:latin typeface="Times New Roman" panose="02020603050405020304" charset="0"/>
              <a:ea typeface="楷体" panose="02010609060101010101" charset="-122"/>
              <a:cs typeface="Times New Roman" panose="02020603050405020304" charset="0"/>
            </a:endParaRPr>
          </a:p>
        </p:txBody>
      </p:sp>
      <p:grpSp>
        <p:nvGrpSpPr>
          <p:cNvPr id="179204" name="组合 179203"/>
          <p:cNvGrpSpPr/>
          <p:nvPr/>
        </p:nvGrpSpPr>
        <p:grpSpPr>
          <a:xfrm>
            <a:off x="360363" y="6308725"/>
            <a:ext cx="3690937" cy="457200"/>
            <a:chOff x="1530" y="813"/>
            <a:chExt cx="2325" cy="288"/>
          </a:xfrm>
        </p:grpSpPr>
        <p:sp>
          <p:nvSpPr>
            <p:cNvPr id="179205" name="矩形 179204"/>
            <p:cNvSpPr/>
            <p:nvPr/>
          </p:nvSpPr>
          <p:spPr>
            <a:xfrm>
              <a:off x="1530" y="813"/>
              <a:ext cx="2325" cy="288"/>
            </a:xfrm>
            <a:prstGeom prst="rect">
              <a:avLst/>
            </a:prstGeom>
            <a:noFill/>
            <a:ln w="9525">
              <a:noFill/>
            </a:ln>
          </p:spPr>
          <p:txBody>
            <a:bodyPr wrap="none" anchor="t" anchorCtr="0">
              <a:spAutoFit/>
            </a:bodyPr>
            <a:p>
              <a:r>
                <a:rPr lang="zh-CN" altLang="en-US" sz="2400" b="1">
                  <a:solidFill>
                    <a:srgbClr val="000066"/>
                  </a:solidFill>
                  <a:latin typeface="Times New Roman" panose="02020603050405020304" charset="0"/>
                  <a:ea typeface="楷体" panose="02010609060101010101" charset="-122"/>
                  <a:cs typeface="Times New Roman" panose="02020603050405020304" charset="0"/>
                </a:rPr>
                <a:t>当</a:t>
              </a:r>
              <a:r>
                <a:rPr lang="en-US" altLang="zh-CN" sz="2400" b="1" i="1">
                  <a:solidFill>
                    <a:srgbClr val="000066"/>
                  </a:solidFill>
                  <a:latin typeface="Times New Roman" panose="02020603050405020304" charset="0"/>
                  <a:ea typeface="楷体" panose="02010609060101010101" charset="-122"/>
                  <a:cs typeface="Times New Roman" panose="02020603050405020304" charset="0"/>
                </a:rPr>
                <a:t>OE</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=1</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时输出为高阻状态</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79206" name="直接连接符 179205"/>
            <p:cNvSpPr/>
            <p:nvPr/>
          </p:nvSpPr>
          <p:spPr>
            <a:xfrm>
              <a:off x="1837" y="867"/>
              <a:ext cx="205" cy="0"/>
            </a:xfrm>
            <a:prstGeom prst="line">
              <a:avLst/>
            </a:prstGeom>
            <a:ln w="28575" cap="flat" cmpd="sng">
              <a:solidFill>
                <a:srgbClr val="000066"/>
              </a:solidFill>
              <a:prstDash val="solid"/>
              <a:headEnd type="none" w="med" len="med"/>
              <a:tailEnd type="none" w="med" len="med"/>
            </a:ln>
          </p:spPr>
        </p:sp>
      </p:grpSp>
      <p:grpSp>
        <p:nvGrpSpPr>
          <p:cNvPr id="179207" name="组合 179206"/>
          <p:cNvGrpSpPr/>
          <p:nvPr/>
        </p:nvGrpSpPr>
        <p:grpSpPr>
          <a:xfrm>
            <a:off x="446088" y="3040063"/>
            <a:ext cx="3605239" cy="2979737"/>
            <a:chOff x="316" y="708"/>
            <a:chExt cx="2271" cy="1877"/>
          </a:xfrm>
        </p:grpSpPr>
        <p:grpSp>
          <p:nvGrpSpPr>
            <p:cNvPr id="179208" name="组合 179207"/>
            <p:cNvGrpSpPr/>
            <p:nvPr/>
          </p:nvGrpSpPr>
          <p:grpSpPr>
            <a:xfrm>
              <a:off x="454" y="1591"/>
              <a:ext cx="657" cy="291"/>
              <a:chOff x="3396" y="3230"/>
              <a:chExt cx="657" cy="291"/>
            </a:xfrm>
          </p:grpSpPr>
          <p:sp>
            <p:nvSpPr>
              <p:cNvPr id="179209" name="文本框 179208"/>
              <p:cNvSpPr txBox="1"/>
              <p:nvPr/>
            </p:nvSpPr>
            <p:spPr>
              <a:xfrm>
                <a:off x="3396" y="3233"/>
                <a:ext cx="327" cy="288"/>
              </a:xfrm>
              <a:prstGeom prst="rect">
                <a:avLst/>
              </a:prstGeom>
              <a:noFill/>
              <a:ln w="9525">
                <a:noFill/>
              </a:ln>
            </p:spPr>
            <p:txBody>
              <a:bodyPr>
                <a:spAutoFit/>
              </a:bodyPr>
              <a:p>
                <a:pPr>
                  <a:spcBef>
                    <a:spcPct val="50000"/>
                  </a:spcBef>
                </a:pPr>
                <a:r>
                  <a:rPr lang="en-US" altLang="zh-CN" sz="2400" b="1">
                    <a:solidFill>
                      <a:srgbClr val="000000"/>
                    </a:solidFill>
                    <a:latin typeface="Times New Roman" panose="02020603050405020304" charset="0"/>
                    <a:ea typeface="楷体" panose="02010609060101010101" charset="-122"/>
                    <a:cs typeface="Times New Roman" panose="02020603050405020304" charset="0"/>
                  </a:rPr>
                  <a:t>0</a:t>
                </a:r>
                <a:endParaRPr lang="en-US" altLang="zh-CN" sz="24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79210" name="文本框 179209"/>
              <p:cNvSpPr txBox="1"/>
              <p:nvPr/>
            </p:nvSpPr>
            <p:spPr>
              <a:xfrm>
                <a:off x="3726" y="3230"/>
                <a:ext cx="327" cy="288"/>
              </a:xfrm>
              <a:prstGeom prst="rect">
                <a:avLst/>
              </a:prstGeom>
              <a:noFill/>
              <a:ln w="9525">
                <a:noFill/>
              </a:ln>
            </p:spPr>
            <p:txBody>
              <a:bodyPr>
                <a:spAutoFit/>
              </a:bodyPr>
              <a:p>
                <a:pPr>
                  <a:spcBef>
                    <a:spcPct val="50000"/>
                  </a:spcBef>
                </a:pPr>
                <a:r>
                  <a:rPr lang="en-US" altLang="zh-CN" sz="2400" b="1">
                    <a:solidFill>
                      <a:srgbClr val="000000"/>
                    </a:solidFill>
                    <a:latin typeface="Times New Roman" panose="02020603050405020304" charset="0"/>
                    <a:ea typeface="楷体" panose="02010609060101010101" charset="-122"/>
                    <a:cs typeface="Times New Roman" panose="02020603050405020304" charset="0"/>
                  </a:rPr>
                  <a:t>0</a:t>
                </a:r>
                <a:endParaRPr lang="en-US" altLang="zh-CN" sz="2400" b="1">
                  <a:solidFill>
                    <a:srgbClr val="000000"/>
                  </a:solidFill>
                  <a:latin typeface="Times New Roman" panose="02020603050405020304" charset="0"/>
                  <a:ea typeface="楷体" panose="02010609060101010101" charset="-122"/>
                  <a:cs typeface="Times New Roman" panose="02020603050405020304" charset="0"/>
                </a:endParaRPr>
              </a:p>
            </p:txBody>
          </p:sp>
        </p:grpSp>
        <p:grpSp>
          <p:nvGrpSpPr>
            <p:cNvPr id="179211" name="组合 179210"/>
            <p:cNvGrpSpPr/>
            <p:nvPr/>
          </p:nvGrpSpPr>
          <p:grpSpPr>
            <a:xfrm>
              <a:off x="448" y="1831"/>
              <a:ext cx="653" cy="288"/>
              <a:chOff x="3390" y="3470"/>
              <a:chExt cx="653" cy="288"/>
            </a:xfrm>
          </p:grpSpPr>
          <p:sp>
            <p:nvSpPr>
              <p:cNvPr id="179212" name="文本框 179211"/>
              <p:cNvSpPr txBox="1"/>
              <p:nvPr/>
            </p:nvSpPr>
            <p:spPr>
              <a:xfrm>
                <a:off x="3390" y="3470"/>
                <a:ext cx="327" cy="288"/>
              </a:xfrm>
              <a:prstGeom prst="rect">
                <a:avLst/>
              </a:prstGeom>
              <a:noFill/>
              <a:ln w="9525">
                <a:noFill/>
              </a:ln>
            </p:spPr>
            <p:txBody>
              <a:bodyPr>
                <a:spAutoFit/>
              </a:bodyPr>
              <a:p>
                <a:pPr>
                  <a:spcBef>
                    <a:spcPct val="50000"/>
                  </a:spcBef>
                </a:pPr>
                <a:r>
                  <a:rPr lang="en-US" altLang="zh-CN" sz="2400" b="1">
                    <a:solidFill>
                      <a:srgbClr val="000000"/>
                    </a:solidFill>
                    <a:latin typeface="Times New Roman" panose="02020603050405020304" charset="0"/>
                    <a:ea typeface="楷体" panose="02010609060101010101" charset="-122"/>
                    <a:cs typeface="Times New Roman" panose="02020603050405020304" charset="0"/>
                  </a:rPr>
                  <a:t>0</a:t>
                </a:r>
                <a:endParaRPr lang="en-US" altLang="zh-CN" sz="24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79213" name="文本框 179212"/>
              <p:cNvSpPr txBox="1"/>
              <p:nvPr/>
            </p:nvSpPr>
            <p:spPr>
              <a:xfrm>
                <a:off x="3715" y="3470"/>
                <a:ext cx="328" cy="288"/>
              </a:xfrm>
              <a:prstGeom prst="rect">
                <a:avLst/>
              </a:prstGeom>
              <a:noFill/>
              <a:ln w="9525">
                <a:noFill/>
              </a:ln>
            </p:spPr>
            <p:txBody>
              <a:bodyPr>
                <a:spAutoFit/>
              </a:bodyPr>
              <a:p>
                <a:pPr>
                  <a:spcBef>
                    <a:spcPct val="50000"/>
                  </a:spcBef>
                </a:pPr>
                <a:r>
                  <a:rPr lang="en-US" altLang="zh-CN" sz="2400" b="1">
                    <a:solidFill>
                      <a:srgbClr val="000000"/>
                    </a:solidFill>
                    <a:latin typeface="Times New Roman" panose="02020603050405020304" charset="0"/>
                    <a:ea typeface="楷体" panose="02010609060101010101" charset="-122"/>
                    <a:cs typeface="Times New Roman" panose="02020603050405020304" charset="0"/>
                  </a:rPr>
                  <a:t>1</a:t>
                </a:r>
                <a:endParaRPr lang="en-US" altLang="zh-CN" sz="2400" b="1">
                  <a:solidFill>
                    <a:srgbClr val="000000"/>
                  </a:solidFill>
                  <a:latin typeface="Times New Roman" panose="02020603050405020304" charset="0"/>
                  <a:ea typeface="楷体" panose="02010609060101010101" charset="-122"/>
                  <a:cs typeface="Times New Roman" panose="02020603050405020304" charset="0"/>
                </a:endParaRPr>
              </a:p>
            </p:txBody>
          </p:sp>
        </p:grpSp>
        <p:grpSp>
          <p:nvGrpSpPr>
            <p:cNvPr id="179214" name="组合 179213"/>
            <p:cNvGrpSpPr/>
            <p:nvPr/>
          </p:nvGrpSpPr>
          <p:grpSpPr>
            <a:xfrm>
              <a:off x="446" y="2053"/>
              <a:ext cx="659" cy="297"/>
              <a:chOff x="3388" y="3692"/>
              <a:chExt cx="659" cy="297"/>
            </a:xfrm>
          </p:grpSpPr>
          <p:sp>
            <p:nvSpPr>
              <p:cNvPr id="179215" name="文本框 179214"/>
              <p:cNvSpPr txBox="1"/>
              <p:nvPr/>
            </p:nvSpPr>
            <p:spPr>
              <a:xfrm>
                <a:off x="3720" y="3701"/>
                <a:ext cx="327" cy="288"/>
              </a:xfrm>
              <a:prstGeom prst="rect">
                <a:avLst/>
              </a:prstGeom>
              <a:noFill/>
              <a:ln w="9525">
                <a:noFill/>
              </a:ln>
            </p:spPr>
            <p:txBody>
              <a:bodyPr>
                <a:spAutoFit/>
              </a:bodyPr>
              <a:p>
                <a:pPr>
                  <a:spcBef>
                    <a:spcPct val="50000"/>
                  </a:spcBef>
                </a:pPr>
                <a:r>
                  <a:rPr lang="en-US" altLang="zh-CN" sz="2400" b="1">
                    <a:solidFill>
                      <a:srgbClr val="000000"/>
                    </a:solidFill>
                    <a:latin typeface="Times New Roman" panose="02020603050405020304" charset="0"/>
                    <a:ea typeface="楷体" panose="02010609060101010101" charset="-122"/>
                    <a:cs typeface="Times New Roman" panose="02020603050405020304" charset="0"/>
                  </a:rPr>
                  <a:t>0</a:t>
                </a:r>
                <a:endParaRPr lang="en-US" altLang="zh-CN" sz="24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79216" name="文本框 179215"/>
              <p:cNvSpPr txBox="1"/>
              <p:nvPr/>
            </p:nvSpPr>
            <p:spPr>
              <a:xfrm>
                <a:off x="3388" y="3692"/>
                <a:ext cx="328" cy="288"/>
              </a:xfrm>
              <a:prstGeom prst="rect">
                <a:avLst/>
              </a:prstGeom>
              <a:noFill/>
              <a:ln w="9525">
                <a:noFill/>
              </a:ln>
            </p:spPr>
            <p:txBody>
              <a:bodyPr>
                <a:spAutoFit/>
              </a:bodyPr>
              <a:p>
                <a:pPr>
                  <a:spcBef>
                    <a:spcPct val="50000"/>
                  </a:spcBef>
                </a:pPr>
                <a:r>
                  <a:rPr lang="en-US" altLang="zh-CN" sz="2400" b="1">
                    <a:solidFill>
                      <a:srgbClr val="000000"/>
                    </a:solidFill>
                    <a:latin typeface="Times New Roman" panose="02020603050405020304" charset="0"/>
                    <a:ea typeface="楷体" panose="02010609060101010101" charset="-122"/>
                    <a:cs typeface="Times New Roman" panose="02020603050405020304" charset="0"/>
                  </a:rPr>
                  <a:t>1</a:t>
                </a:r>
                <a:endParaRPr lang="en-US" altLang="zh-CN" sz="2400" b="1">
                  <a:solidFill>
                    <a:srgbClr val="000000"/>
                  </a:solidFill>
                  <a:latin typeface="Times New Roman" panose="02020603050405020304" charset="0"/>
                  <a:ea typeface="楷体" panose="02010609060101010101" charset="-122"/>
                  <a:cs typeface="Times New Roman" panose="02020603050405020304" charset="0"/>
                </a:endParaRPr>
              </a:p>
            </p:txBody>
          </p:sp>
        </p:grpSp>
        <p:grpSp>
          <p:nvGrpSpPr>
            <p:cNvPr id="179217" name="组合 179216"/>
            <p:cNvGrpSpPr/>
            <p:nvPr/>
          </p:nvGrpSpPr>
          <p:grpSpPr>
            <a:xfrm>
              <a:off x="443" y="2293"/>
              <a:ext cx="658" cy="292"/>
              <a:chOff x="3385" y="3932"/>
              <a:chExt cx="658" cy="292"/>
            </a:xfrm>
          </p:grpSpPr>
          <p:sp>
            <p:nvSpPr>
              <p:cNvPr id="179218" name="文本框 179217"/>
              <p:cNvSpPr txBox="1"/>
              <p:nvPr/>
            </p:nvSpPr>
            <p:spPr>
              <a:xfrm>
                <a:off x="3385" y="3932"/>
                <a:ext cx="328" cy="288"/>
              </a:xfrm>
              <a:prstGeom prst="rect">
                <a:avLst/>
              </a:prstGeom>
              <a:noFill/>
              <a:ln w="9525">
                <a:noFill/>
              </a:ln>
            </p:spPr>
            <p:txBody>
              <a:bodyPr>
                <a:spAutoFit/>
              </a:bodyPr>
              <a:p>
                <a:pPr>
                  <a:spcBef>
                    <a:spcPct val="50000"/>
                  </a:spcBef>
                </a:pPr>
                <a:r>
                  <a:rPr lang="en-US" altLang="zh-CN" sz="2400" b="1">
                    <a:solidFill>
                      <a:srgbClr val="000000"/>
                    </a:solidFill>
                    <a:latin typeface="Times New Roman" panose="02020603050405020304" charset="0"/>
                    <a:ea typeface="楷体" panose="02010609060101010101" charset="-122"/>
                    <a:cs typeface="Times New Roman" panose="02020603050405020304" charset="0"/>
                  </a:rPr>
                  <a:t>1</a:t>
                </a:r>
                <a:endParaRPr lang="en-US" altLang="zh-CN" sz="2400" b="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79219" name="文本框 179218"/>
              <p:cNvSpPr txBox="1"/>
              <p:nvPr/>
            </p:nvSpPr>
            <p:spPr>
              <a:xfrm>
                <a:off x="3715" y="3936"/>
                <a:ext cx="328" cy="288"/>
              </a:xfrm>
              <a:prstGeom prst="rect">
                <a:avLst/>
              </a:prstGeom>
              <a:noFill/>
              <a:ln w="9525">
                <a:noFill/>
              </a:ln>
            </p:spPr>
            <p:txBody>
              <a:bodyPr>
                <a:spAutoFit/>
              </a:bodyPr>
              <a:p>
                <a:pPr>
                  <a:spcBef>
                    <a:spcPct val="50000"/>
                  </a:spcBef>
                </a:pPr>
                <a:r>
                  <a:rPr lang="en-US" altLang="zh-CN" sz="2400" b="1">
                    <a:solidFill>
                      <a:srgbClr val="000000"/>
                    </a:solidFill>
                    <a:latin typeface="Times New Roman" panose="02020603050405020304" charset="0"/>
                    <a:ea typeface="楷体" panose="02010609060101010101" charset="-122"/>
                    <a:cs typeface="Times New Roman" panose="02020603050405020304" charset="0"/>
                  </a:rPr>
                  <a:t>1</a:t>
                </a:r>
                <a:endParaRPr lang="en-US" altLang="zh-CN" sz="2400" b="1">
                  <a:solidFill>
                    <a:srgbClr val="000000"/>
                  </a:solidFill>
                  <a:latin typeface="Times New Roman" panose="02020603050405020304" charset="0"/>
                  <a:ea typeface="楷体" panose="02010609060101010101" charset="-122"/>
                  <a:cs typeface="Times New Roman" panose="02020603050405020304" charset="0"/>
                </a:endParaRPr>
              </a:p>
            </p:txBody>
          </p:sp>
        </p:grpSp>
        <p:grpSp>
          <p:nvGrpSpPr>
            <p:cNvPr id="179220" name="组合 179219"/>
            <p:cNvGrpSpPr/>
            <p:nvPr/>
          </p:nvGrpSpPr>
          <p:grpSpPr>
            <a:xfrm>
              <a:off x="1088" y="2263"/>
              <a:ext cx="1464" cy="295"/>
              <a:chOff x="4120" y="3929"/>
              <a:chExt cx="1464" cy="295"/>
            </a:xfrm>
          </p:grpSpPr>
          <p:sp>
            <p:nvSpPr>
              <p:cNvPr id="179221" name="文本框 179220"/>
              <p:cNvSpPr txBox="1"/>
              <p:nvPr/>
            </p:nvSpPr>
            <p:spPr>
              <a:xfrm>
                <a:off x="4120" y="3936"/>
                <a:ext cx="328" cy="288"/>
              </a:xfrm>
              <a:prstGeom prst="rect">
                <a:avLst/>
              </a:prstGeom>
              <a:noFill/>
              <a:ln w="9525">
                <a:noFill/>
              </a:ln>
            </p:spPr>
            <p:txBody>
              <a:bodyPr>
                <a:spAutoFit/>
              </a:bodyPr>
              <a:p>
                <a:pPr>
                  <a:spcBef>
                    <a:spcPct val="50000"/>
                  </a:spcBef>
                </a:pPr>
                <a:r>
                  <a:rPr lang="en-US" altLang="zh-CN" sz="2400" b="1">
                    <a:solidFill>
                      <a:srgbClr val="FF3300"/>
                    </a:solidFill>
                    <a:latin typeface="Times New Roman" panose="02020603050405020304" charset="0"/>
                    <a:ea typeface="楷体" panose="02010609060101010101" charset="-122"/>
                    <a:cs typeface="Times New Roman" panose="02020603050405020304" charset="0"/>
                  </a:rPr>
                  <a:t>1</a:t>
                </a:r>
                <a:endParaRPr lang="en-US" altLang="zh-CN" sz="2400" b="1">
                  <a:solidFill>
                    <a:srgbClr val="FF3300"/>
                  </a:solidFill>
                  <a:latin typeface="Times New Roman" panose="02020603050405020304" charset="0"/>
                  <a:ea typeface="楷体" panose="02010609060101010101" charset="-122"/>
                  <a:cs typeface="Times New Roman" panose="02020603050405020304" charset="0"/>
                </a:endParaRPr>
              </a:p>
            </p:txBody>
          </p:sp>
          <p:sp>
            <p:nvSpPr>
              <p:cNvPr id="179222" name="文本框 179221"/>
              <p:cNvSpPr txBox="1"/>
              <p:nvPr/>
            </p:nvSpPr>
            <p:spPr>
              <a:xfrm>
                <a:off x="4876" y="3930"/>
                <a:ext cx="328" cy="288"/>
              </a:xfrm>
              <a:prstGeom prst="rect">
                <a:avLst/>
              </a:prstGeom>
              <a:noFill/>
              <a:ln w="9525">
                <a:noFill/>
              </a:ln>
            </p:spPr>
            <p:txBody>
              <a:bodyPr>
                <a:spAutoFit/>
              </a:bodyPr>
              <a:p>
                <a:pPr>
                  <a:spcBef>
                    <a:spcPct val="50000"/>
                  </a:spcBef>
                </a:pPr>
                <a:r>
                  <a:rPr lang="en-US" altLang="zh-CN" sz="2400" b="1">
                    <a:solidFill>
                      <a:srgbClr val="FF3300"/>
                    </a:solidFill>
                    <a:latin typeface="Times New Roman" panose="02020603050405020304" charset="0"/>
                    <a:ea typeface="楷体" panose="02010609060101010101" charset="-122"/>
                    <a:cs typeface="Times New Roman" panose="02020603050405020304" charset="0"/>
                  </a:rPr>
                  <a:t>1</a:t>
                </a:r>
                <a:endParaRPr lang="en-US" altLang="zh-CN" sz="2400" b="1">
                  <a:solidFill>
                    <a:srgbClr val="FF3300"/>
                  </a:solidFill>
                  <a:latin typeface="Times New Roman" panose="02020603050405020304" charset="0"/>
                  <a:ea typeface="楷体" panose="02010609060101010101" charset="-122"/>
                  <a:cs typeface="Times New Roman" panose="02020603050405020304" charset="0"/>
                </a:endParaRPr>
              </a:p>
            </p:txBody>
          </p:sp>
          <p:sp>
            <p:nvSpPr>
              <p:cNvPr id="179223" name="文本框 179222"/>
              <p:cNvSpPr txBox="1"/>
              <p:nvPr/>
            </p:nvSpPr>
            <p:spPr>
              <a:xfrm>
                <a:off x="5256" y="3933"/>
                <a:ext cx="328" cy="288"/>
              </a:xfrm>
              <a:prstGeom prst="rect">
                <a:avLst/>
              </a:prstGeom>
              <a:noFill/>
              <a:ln w="9525">
                <a:noFill/>
              </a:ln>
            </p:spPr>
            <p:txBody>
              <a:bodyPr>
                <a:spAutoFit/>
              </a:bodyPr>
              <a:p>
                <a:pPr>
                  <a:spcBef>
                    <a:spcPct val="50000"/>
                  </a:spcBef>
                </a:pPr>
                <a:r>
                  <a:rPr lang="en-US" altLang="zh-CN" sz="2400" b="1">
                    <a:solidFill>
                      <a:srgbClr val="FF3300"/>
                    </a:solidFill>
                    <a:latin typeface="Times New Roman" panose="02020603050405020304" charset="0"/>
                    <a:ea typeface="楷体" panose="02010609060101010101" charset="-122"/>
                    <a:cs typeface="Times New Roman" panose="02020603050405020304" charset="0"/>
                  </a:rPr>
                  <a:t>0</a:t>
                </a:r>
                <a:endParaRPr lang="en-US" altLang="zh-CN" sz="2400" b="1">
                  <a:solidFill>
                    <a:srgbClr val="FF3300"/>
                  </a:solidFill>
                  <a:latin typeface="Times New Roman" panose="02020603050405020304" charset="0"/>
                  <a:ea typeface="楷体" panose="02010609060101010101" charset="-122"/>
                  <a:cs typeface="Times New Roman" panose="02020603050405020304" charset="0"/>
                </a:endParaRPr>
              </a:p>
            </p:txBody>
          </p:sp>
          <p:sp>
            <p:nvSpPr>
              <p:cNvPr id="179224" name="文本框 179223"/>
              <p:cNvSpPr txBox="1"/>
              <p:nvPr/>
            </p:nvSpPr>
            <p:spPr>
              <a:xfrm>
                <a:off x="4497" y="3929"/>
                <a:ext cx="327" cy="288"/>
              </a:xfrm>
              <a:prstGeom prst="rect">
                <a:avLst/>
              </a:prstGeom>
              <a:noFill/>
              <a:ln w="9525">
                <a:noFill/>
              </a:ln>
            </p:spPr>
            <p:txBody>
              <a:bodyPr>
                <a:spAutoFit/>
              </a:bodyPr>
              <a:p>
                <a:pPr>
                  <a:spcBef>
                    <a:spcPct val="50000"/>
                  </a:spcBef>
                </a:pPr>
                <a:r>
                  <a:rPr lang="en-US" altLang="zh-CN" sz="2400" b="1">
                    <a:solidFill>
                      <a:srgbClr val="FF3300"/>
                    </a:solidFill>
                    <a:latin typeface="Times New Roman" panose="02020603050405020304" charset="0"/>
                    <a:ea typeface="楷体" panose="02010609060101010101" charset="-122"/>
                    <a:cs typeface="Times New Roman" panose="02020603050405020304" charset="0"/>
                  </a:rPr>
                  <a:t>1</a:t>
                </a:r>
                <a:endParaRPr lang="en-US" altLang="zh-CN" sz="2400" b="1">
                  <a:solidFill>
                    <a:srgbClr val="FF3300"/>
                  </a:solidFill>
                  <a:latin typeface="Times New Roman" panose="02020603050405020304" charset="0"/>
                  <a:ea typeface="楷体" panose="02010609060101010101" charset="-122"/>
                  <a:cs typeface="Times New Roman" panose="02020603050405020304" charset="0"/>
                </a:endParaRPr>
              </a:p>
            </p:txBody>
          </p:sp>
        </p:grpSp>
        <p:grpSp>
          <p:nvGrpSpPr>
            <p:cNvPr id="179225" name="组合 179224"/>
            <p:cNvGrpSpPr/>
            <p:nvPr/>
          </p:nvGrpSpPr>
          <p:grpSpPr>
            <a:xfrm>
              <a:off x="1096" y="1802"/>
              <a:ext cx="1453" cy="291"/>
              <a:chOff x="4128" y="3468"/>
              <a:chExt cx="1453" cy="291"/>
            </a:xfrm>
          </p:grpSpPr>
          <p:sp>
            <p:nvSpPr>
              <p:cNvPr id="179226" name="文本框 179225"/>
              <p:cNvSpPr txBox="1"/>
              <p:nvPr/>
            </p:nvSpPr>
            <p:spPr>
              <a:xfrm>
                <a:off x="4495" y="3468"/>
                <a:ext cx="328" cy="288"/>
              </a:xfrm>
              <a:prstGeom prst="rect">
                <a:avLst/>
              </a:prstGeom>
              <a:noFill/>
              <a:ln w="9525">
                <a:noFill/>
              </a:ln>
            </p:spPr>
            <p:txBody>
              <a:bodyPr>
                <a:spAutoFit/>
              </a:bodyPr>
              <a:p>
                <a:pPr>
                  <a:spcBef>
                    <a:spcPct val="50000"/>
                  </a:spcBef>
                </a:pPr>
                <a:r>
                  <a:rPr lang="en-US" altLang="zh-CN" sz="2400" b="1">
                    <a:solidFill>
                      <a:srgbClr val="FF3300"/>
                    </a:solidFill>
                    <a:latin typeface="Times New Roman" panose="02020603050405020304" charset="0"/>
                    <a:ea typeface="楷体" panose="02010609060101010101" charset="-122"/>
                    <a:cs typeface="Times New Roman" panose="02020603050405020304" charset="0"/>
                  </a:rPr>
                  <a:t>1</a:t>
                </a:r>
                <a:endParaRPr lang="en-US" altLang="zh-CN" sz="2400" b="1">
                  <a:solidFill>
                    <a:srgbClr val="FF3300"/>
                  </a:solidFill>
                  <a:latin typeface="Times New Roman" panose="02020603050405020304" charset="0"/>
                  <a:ea typeface="楷体" panose="02010609060101010101" charset="-122"/>
                  <a:cs typeface="Times New Roman" panose="02020603050405020304" charset="0"/>
                </a:endParaRPr>
              </a:p>
            </p:txBody>
          </p:sp>
          <p:sp>
            <p:nvSpPr>
              <p:cNvPr id="179227" name="文本框 179226"/>
              <p:cNvSpPr txBox="1"/>
              <p:nvPr/>
            </p:nvSpPr>
            <p:spPr>
              <a:xfrm>
                <a:off x="5253" y="3471"/>
                <a:ext cx="328" cy="288"/>
              </a:xfrm>
              <a:prstGeom prst="rect">
                <a:avLst/>
              </a:prstGeom>
              <a:noFill/>
              <a:ln w="9525">
                <a:noFill/>
              </a:ln>
            </p:spPr>
            <p:txBody>
              <a:bodyPr>
                <a:spAutoFit/>
              </a:bodyPr>
              <a:p>
                <a:pPr>
                  <a:spcBef>
                    <a:spcPct val="50000"/>
                  </a:spcBef>
                </a:pPr>
                <a:r>
                  <a:rPr lang="en-US" altLang="zh-CN" sz="2400" b="1">
                    <a:solidFill>
                      <a:srgbClr val="FF3300"/>
                    </a:solidFill>
                    <a:latin typeface="Times New Roman" panose="02020603050405020304" charset="0"/>
                    <a:ea typeface="楷体" panose="02010609060101010101" charset="-122"/>
                    <a:cs typeface="Times New Roman" panose="02020603050405020304" charset="0"/>
                  </a:rPr>
                  <a:t>1</a:t>
                </a:r>
                <a:endParaRPr lang="en-US" altLang="zh-CN" sz="2400" b="1">
                  <a:solidFill>
                    <a:srgbClr val="FF3300"/>
                  </a:solidFill>
                  <a:latin typeface="Times New Roman" panose="02020603050405020304" charset="0"/>
                  <a:ea typeface="楷体" panose="02010609060101010101" charset="-122"/>
                  <a:cs typeface="Times New Roman" panose="02020603050405020304" charset="0"/>
                </a:endParaRPr>
              </a:p>
            </p:txBody>
          </p:sp>
          <p:sp>
            <p:nvSpPr>
              <p:cNvPr id="179228" name="文本框 179227"/>
              <p:cNvSpPr txBox="1"/>
              <p:nvPr/>
            </p:nvSpPr>
            <p:spPr>
              <a:xfrm>
                <a:off x="4128" y="3470"/>
                <a:ext cx="327" cy="288"/>
              </a:xfrm>
              <a:prstGeom prst="rect">
                <a:avLst/>
              </a:prstGeom>
              <a:noFill/>
              <a:ln w="9525">
                <a:noFill/>
              </a:ln>
            </p:spPr>
            <p:txBody>
              <a:bodyPr>
                <a:spAutoFit/>
              </a:bodyPr>
              <a:p>
                <a:pPr>
                  <a:spcBef>
                    <a:spcPct val="50000"/>
                  </a:spcBef>
                </a:pPr>
                <a:r>
                  <a:rPr lang="en-US" altLang="zh-CN" sz="2400" b="1">
                    <a:solidFill>
                      <a:srgbClr val="FF3300"/>
                    </a:solidFill>
                    <a:latin typeface="Times New Roman" panose="02020603050405020304" charset="0"/>
                    <a:ea typeface="楷体" panose="02010609060101010101" charset="-122"/>
                    <a:cs typeface="Times New Roman" panose="02020603050405020304" charset="0"/>
                  </a:rPr>
                  <a:t>1</a:t>
                </a:r>
                <a:endParaRPr lang="en-US" altLang="zh-CN" sz="2400" b="1">
                  <a:solidFill>
                    <a:srgbClr val="FF3300"/>
                  </a:solidFill>
                  <a:latin typeface="Times New Roman" panose="02020603050405020304" charset="0"/>
                  <a:ea typeface="楷体" panose="02010609060101010101" charset="-122"/>
                  <a:cs typeface="Times New Roman" panose="02020603050405020304" charset="0"/>
                </a:endParaRPr>
              </a:p>
            </p:txBody>
          </p:sp>
          <p:sp>
            <p:nvSpPr>
              <p:cNvPr id="179229" name="文本框 179228"/>
              <p:cNvSpPr txBox="1"/>
              <p:nvPr/>
            </p:nvSpPr>
            <p:spPr>
              <a:xfrm>
                <a:off x="4881" y="3468"/>
                <a:ext cx="327" cy="288"/>
              </a:xfrm>
              <a:prstGeom prst="rect">
                <a:avLst/>
              </a:prstGeom>
              <a:noFill/>
              <a:ln w="9525">
                <a:noFill/>
              </a:ln>
            </p:spPr>
            <p:txBody>
              <a:bodyPr>
                <a:spAutoFit/>
              </a:bodyPr>
              <a:p>
                <a:pPr>
                  <a:spcBef>
                    <a:spcPct val="50000"/>
                  </a:spcBef>
                </a:pPr>
                <a:r>
                  <a:rPr lang="en-US" altLang="zh-CN" sz="2400" b="1">
                    <a:solidFill>
                      <a:srgbClr val="FF3300"/>
                    </a:solidFill>
                    <a:latin typeface="Times New Roman" panose="02020603050405020304" charset="0"/>
                    <a:ea typeface="楷体" panose="02010609060101010101" charset="-122"/>
                    <a:cs typeface="Times New Roman" panose="02020603050405020304" charset="0"/>
                  </a:rPr>
                  <a:t>0</a:t>
                </a:r>
                <a:endParaRPr lang="en-US" altLang="zh-CN" sz="2400" b="1">
                  <a:solidFill>
                    <a:srgbClr val="FF3300"/>
                  </a:solidFill>
                  <a:latin typeface="Times New Roman" panose="02020603050405020304" charset="0"/>
                  <a:ea typeface="楷体" panose="02010609060101010101" charset="-122"/>
                  <a:cs typeface="Times New Roman" panose="02020603050405020304" charset="0"/>
                </a:endParaRPr>
              </a:p>
            </p:txBody>
          </p:sp>
        </p:grpSp>
        <p:grpSp>
          <p:nvGrpSpPr>
            <p:cNvPr id="179230" name="组合 179229"/>
            <p:cNvGrpSpPr/>
            <p:nvPr/>
          </p:nvGrpSpPr>
          <p:grpSpPr>
            <a:xfrm>
              <a:off x="1084" y="2033"/>
              <a:ext cx="1462" cy="291"/>
              <a:chOff x="4116" y="3699"/>
              <a:chExt cx="1462" cy="291"/>
            </a:xfrm>
          </p:grpSpPr>
          <p:sp>
            <p:nvSpPr>
              <p:cNvPr id="179231" name="文本框 179230"/>
              <p:cNvSpPr txBox="1"/>
              <p:nvPr/>
            </p:nvSpPr>
            <p:spPr>
              <a:xfrm>
                <a:off x="4501" y="3699"/>
                <a:ext cx="328" cy="288"/>
              </a:xfrm>
              <a:prstGeom prst="rect">
                <a:avLst/>
              </a:prstGeom>
              <a:noFill/>
              <a:ln w="9525">
                <a:noFill/>
              </a:ln>
            </p:spPr>
            <p:txBody>
              <a:bodyPr>
                <a:spAutoFit/>
              </a:bodyPr>
              <a:p>
                <a:pPr>
                  <a:spcBef>
                    <a:spcPct val="50000"/>
                  </a:spcBef>
                </a:pPr>
                <a:r>
                  <a:rPr lang="en-US" altLang="zh-CN" sz="2400" b="1">
                    <a:solidFill>
                      <a:srgbClr val="FF3300"/>
                    </a:solidFill>
                    <a:latin typeface="Times New Roman" panose="02020603050405020304" charset="0"/>
                    <a:ea typeface="楷体" panose="02010609060101010101" charset="-122"/>
                    <a:cs typeface="Times New Roman" panose="02020603050405020304" charset="0"/>
                  </a:rPr>
                  <a:t>1</a:t>
                </a:r>
                <a:endParaRPr lang="en-US" altLang="zh-CN" sz="2400" b="1">
                  <a:solidFill>
                    <a:srgbClr val="FF3300"/>
                  </a:solidFill>
                  <a:latin typeface="Times New Roman" panose="02020603050405020304" charset="0"/>
                  <a:ea typeface="楷体" panose="02010609060101010101" charset="-122"/>
                  <a:cs typeface="Times New Roman" panose="02020603050405020304" charset="0"/>
                </a:endParaRPr>
              </a:p>
            </p:txBody>
          </p:sp>
          <p:sp>
            <p:nvSpPr>
              <p:cNvPr id="179232" name="文本框 179231"/>
              <p:cNvSpPr txBox="1"/>
              <p:nvPr/>
            </p:nvSpPr>
            <p:spPr>
              <a:xfrm>
                <a:off x="5250" y="3702"/>
                <a:ext cx="328" cy="288"/>
              </a:xfrm>
              <a:prstGeom prst="rect">
                <a:avLst/>
              </a:prstGeom>
              <a:noFill/>
              <a:ln w="9525">
                <a:noFill/>
              </a:ln>
            </p:spPr>
            <p:txBody>
              <a:bodyPr>
                <a:spAutoFit/>
              </a:bodyPr>
              <a:p>
                <a:pPr>
                  <a:spcBef>
                    <a:spcPct val="50000"/>
                  </a:spcBef>
                </a:pPr>
                <a:r>
                  <a:rPr lang="en-US" altLang="zh-CN" sz="2400" b="1">
                    <a:solidFill>
                      <a:srgbClr val="FF3300"/>
                    </a:solidFill>
                    <a:latin typeface="Times New Roman" panose="02020603050405020304" charset="0"/>
                    <a:ea typeface="楷体" panose="02010609060101010101" charset="-122"/>
                    <a:cs typeface="Times New Roman" panose="02020603050405020304" charset="0"/>
                  </a:rPr>
                  <a:t>0</a:t>
                </a:r>
                <a:endParaRPr lang="en-US" altLang="zh-CN" sz="2400" b="1">
                  <a:solidFill>
                    <a:srgbClr val="FF3300"/>
                  </a:solidFill>
                  <a:latin typeface="Times New Roman" panose="02020603050405020304" charset="0"/>
                  <a:ea typeface="楷体" panose="02010609060101010101" charset="-122"/>
                  <a:cs typeface="Times New Roman" panose="02020603050405020304" charset="0"/>
                </a:endParaRPr>
              </a:p>
            </p:txBody>
          </p:sp>
          <p:sp>
            <p:nvSpPr>
              <p:cNvPr id="179233" name="文本框 179232"/>
              <p:cNvSpPr txBox="1"/>
              <p:nvPr/>
            </p:nvSpPr>
            <p:spPr>
              <a:xfrm>
                <a:off x="4116" y="3701"/>
                <a:ext cx="327" cy="288"/>
              </a:xfrm>
              <a:prstGeom prst="rect">
                <a:avLst/>
              </a:prstGeom>
              <a:noFill/>
              <a:ln w="9525">
                <a:noFill/>
              </a:ln>
            </p:spPr>
            <p:txBody>
              <a:bodyPr>
                <a:spAutoFit/>
              </a:bodyPr>
              <a:p>
                <a:pPr>
                  <a:spcBef>
                    <a:spcPct val="50000"/>
                  </a:spcBef>
                </a:pPr>
                <a:r>
                  <a:rPr lang="en-US" altLang="zh-CN" sz="2400" b="1">
                    <a:solidFill>
                      <a:srgbClr val="FF3300"/>
                    </a:solidFill>
                    <a:latin typeface="Times New Roman" panose="02020603050405020304" charset="0"/>
                    <a:ea typeface="楷体" panose="02010609060101010101" charset="-122"/>
                    <a:cs typeface="Times New Roman" panose="02020603050405020304" charset="0"/>
                  </a:rPr>
                  <a:t>0</a:t>
                </a:r>
                <a:endParaRPr lang="en-US" altLang="zh-CN" sz="2400" b="1">
                  <a:solidFill>
                    <a:srgbClr val="FF3300"/>
                  </a:solidFill>
                  <a:latin typeface="Times New Roman" panose="02020603050405020304" charset="0"/>
                  <a:ea typeface="楷体" panose="02010609060101010101" charset="-122"/>
                  <a:cs typeface="Times New Roman" panose="02020603050405020304" charset="0"/>
                </a:endParaRPr>
              </a:p>
            </p:txBody>
          </p:sp>
          <p:sp>
            <p:nvSpPr>
              <p:cNvPr id="179234" name="文本框 179233"/>
              <p:cNvSpPr txBox="1"/>
              <p:nvPr/>
            </p:nvSpPr>
            <p:spPr>
              <a:xfrm>
                <a:off x="4878" y="3699"/>
                <a:ext cx="327" cy="288"/>
              </a:xfrm>
              <a:prstGeom prst="rect">
                <a:avLst/>
              </a:prstGeom>
              <a:noFill/>
              <a:ln w="9525">
                <a:noFill/>
              </a:ln>
            </p:spPr>
            <p:txBody>
              <a:bodyPr>
                <a:spAutoFit/>
              </a:bodyPr>
              <a:p>
                <a:pPr>
                  <a:spcBef>
                    <a:spcPct val="50000"/>
                  </a:spcBef>
                </a:pPr>
                <a:r>
                  <a:rPr lang="en-US" altLang="zh-CN" sz="2400" b="1">
                    <a:solidFill>
                      <a:srgbClr val="FF3300"/>
                    </a:solidFill>
                    <a:latin typeface="Times New Roman" panose="02020603050405020304" charset="0"/>
                    <a:ea typeface="楷体" panose="02010609060101010101" charset="-122"/>
                    <a:cs typeface="Times New Roman" panose="02020603050405020304" charset="0"/>
                  </a:rPr>
                  <a:t>0</a:t>
                </a:r>
                <a:endParaRPr lang="en-US" altLang="zh-CN" sz="2400" b="1">
                  <a:solidFill>
                    <a:srgbClr val="FF3300"/>
                  </a:solidFill>
                  <a:latin typeface="Times New Roman" panose="02020603050405020304" charset="0"/>
                  <a:ea typeface="楷体" panose="02010609060101010101" charset="-122"/>
                  <a:cs typeface="Times New Roman" panose="02020603050405020304" charset="0"/>
                </a:endParaRPr>
              </a:p>
            </p:txBody>
          </p:sp>
        </p:grpSp>
        <p:grpSp>
          <p:nvGrpSpPr>
            <p:cNvPr id="179235" name="组合 179234"/>
            <p:cNvGrpSpPr/>
            <p:nvPr/>
          </p:nvGrpSpPr>
          <p:grpSpPr>
            <a:xfrm>
              <a:off x="1090" y="1568"/>
              <a:ext cx="1449" cy="293"/>
              <a:chOff x="4122" y="3234"/>
              <a:chExt cx="1449" cy="293"/>
            </a:xfrm>
          </p:grpSpPr>
          <p:sp>
            <p:nvSpPr>
              <p:cNvPr id="179236" name="文本框 179235"/>
              <p:cNvSpPr txBox="1"/>
              <p:nvPr/>
            </p:nvSpPr>
            <p:spPr>
              <a:xfrm>
                <a:off x="4882" y="3234"/>
                <a:ext cx="328" cy="288"/>
              </a:xfrm>
              <a:prstGeom prst="rect">
                <a:avLst/>
              </a:prstGeom>
              <a:noFill/>
              <a:ln w="9525">
                <a:noFill/>
              </a:ln>
            </p:spPr>
            <p:txBody>
              <a:bodyPr>
                <a:spAutoFit/>
              </a:bodyPr>
              <a:p>
                <a:pPr>
                  <a:spcBef>
                    <a:spcPct val="50000"/>
                  </a:spcBef>
                </a:pPr>
                <a:r>
                  <a:rPr lang="en-US" altLang="zh-CN" sz="2400" b="1">
                    <a:solidFill>
                      <a:srgbClr val="FF3300"/>
                    </a:solidFill>
                    <a:latin typeface="Times New Roman" panose="02020603050405020304" charset="0"/>
                    <a:ea typeface="楷体" panose="02010609060101010101" charset="-122"/>
                    <a:cs typeface="Times New Roman" panose="02020603050405020304" charset="0"/>
                  </a:rPr>
                  <a:t>1</a:t>
                </a:r>
                <a:endParaRPr lang="en-US" altLang="zh-CN" sz="2400" b="1">
                  <a:solidFill>
                    <a:srgbClr val="FF3300"/>
                  </a:solidFill>
                  <a:latin typeface="Times New Roman" panose="02020603050405020304" charset="0"/>
                  <a:ea typeface="楷体" panose="02010609060101010101" charset="-122"/>
                  <a:cs typeface="Times New Roman" panose="02020603050405020304" charset="0"/>
                </a:endParaRPr>
              </a:p>
            </p:txBody>
          </p:sp>
          <p:sp>
            <p:nvSpPr>
              <p:cNvPr id="179237" name="文本框 179236"/>
              <p:cNvSpPr txBox="1"/>
              <p:nvPr/>
            </p:nvSpPr>
            <p:spPr>
              <a:xfrm>
                <a:off x="4122" y="3239"/>
                <a:ext cx="327" cy="288"/>
              </a:xfrm>
              <a:prstGeom prst="rect">
                <a:avLst/>
              </a:prstGeom>
              <a:noFill/>
              <a:ln w="9525">
                <a:noFill/>
              </a:ln>
            </p:spPr>
            <p:txBody>
              <a:bodyPr>
                <a:spAutoFit/>
              </a:bodyPr>
              <a:p>
                <a:pPr>
                  <a:spcBef>
                    <a:spcPct val="50000"/>
                  </a:spcBef>
                </a:pPr>
                <a:r>
                  <a:rPr lang="en-US" altLang="zh-CN" sz="2400" b="1">
                    <a:solidFill>
                      <a:srgbClr val="FF3300"/>
                    </a:solidFill>
                    <a:latin typeface="Times New Roman" panose="02020603050405020304" charset="0"/>
                    <a:ea typeface="楷体" panose="02010609060101010101" charset="-122"/>
                    <a:cs typeface="Times New Roman" panose="02020603050405020304" charset="0"/>
                  </a:rPr>
                  <a:t>1</a:t>
                </a:r>
                <a:endParaRPr lang="en-US" altLang="zh-CN" sz="2400" b="1">
                  <a:solidFill>
                    <a:srgbClr val="FF3300"/>
                  </a:solidFill>
                  <a:latin typeface="Times New Roman" panose="02020603050405020304" charset="0"/>
                  <a:ea typeface="楷体" panose="02010609060101010101" charset="-122"/>
                  <a:cs typeface="Times New Roman" panose="02020603050405020304" charset="0"/>
                </a:endParaRPr>
              </a:p>
            </p:txBody>
          </p:sp>
          <p:sp>
            <p:nvSpPr>
              <p:cNvPr id="179238" name="文本框 179237"/>
              <p:cNvSpPr txBox="1"/>
              <p:nvPr/>
            </p:nvSpPr>
            <p:spPr>
              <a:xfrm>
                <a:off x="4500" y="3239"/>
                <a:ext cx="327" cy="288"/>
              </a:xfrm>
              <a:prstGeom prst="rect">
                <a:avLst/>
              </a:prstGeom>
              <a:noFill/>
              <a:ln w="9525">
                <a:noFill/>
              </a:ln>
            </p:spPr>
            <p:txBody>
              <a:bodyPr>
                <a:spAutoFit/>
              </a:bodyPr>
              <a:p>
                <a:pPr>
                  <a:spcBef>
                    <a:spcPct val="50000"/>
                  </a:spcBef>
                </a:pPr>
                <a:r>
                  <a:rPr lang="en-US" altLang="zh-CN" sz="2400" b="1">
                    <a:solidFill>
                      <a:srgbClr val="FF3300"/>
                    </a:solidFill>
                    <a:latin typeface="Times New Roman" panose="02020603050405020304" charset="0"/>
                    <a:ea typeface="楷体" panose="02010609060101010101" charset="-122"/>
                    <a:cs typeface="Times New Roman" panose="02020603050405020304" charset="0"/>
                  </a:rPr>
                  <a:t>0</a:t>
                </a:r>
                <a:endParaRPr lang="en-US" altLang="zh-CN" sz="2400" b="1">
                  <a:solidFill>
                    <a:srgbClr val="FF3300"/>
                  </a:solidFill>
                  <a:latin typeface="Times New Roman" panose="02020603050405020304" charset="0"/>
                  <a:ea typeface="楷体" panose="02010609060101010101" charset="-122"/>
                  <a:cs typeface="Times New Roman" panose="02020603050405020304" charset="0"/>
                </a:endParaRPr>
              </a:p>
            </p:txBody>
          </p:sp>
          <p:sp>
            <p:nvSpPr>
              <p:cNvPr id="179239" name="文本框 179238"/>
              <p:cNvSpPr txBox="1"/>
              <p:nvPr/>
            </p:nvSpPr>
            <p:spPr>
              <a:xfrm>
                <a:off x="5244" y="3237"/>
                <a:ext cx="327" cy="288"/>
              </a:xfrm>
              <a:prstGeom prst="rect">
                <a:avLst/>
              </a:prstGeom>
              <a:noFill/>
              <a:ln w="9525">
                <a:noFill/>
              </a:ln>
            </p:spPr>
            <p:txBody>
              <a:bodyPr>
                <a:spAutoFit/>
              </a:bodyPr>
              <a:p>
                <a:pPr>
                  <a:spcBef>
                    <a:spcPct val="50000"/>
                  </a:spcBef>
                </a:pPr>
                <a:r>
                  <a:rPr lang="en-US" altLang="zh-CN" sz="2400" b="1">
                    <a:solidFill>
                      <a:srgbClr val="FF3300"/>
                    </a:solidFill>
                    <a:latin typeface="Times New Roman" panose="02020603050405020304" charset="0"/>
                    <a:ea typeface="楷体" panose="02010609060101010101" charset="-122"/>
                    <a:cs typeface="Times New Roman" panose="02020603050405020304" charset="0"/>
                  </a:rPr>
                  <a:t>1</a:t>
                </a:r>
                <a:endParaRPr lang="en-US" altLang="zh-CN" sz="2400" b="1">
                  <a:solidFill>
                    <a:srgbClr val="FF3300"/>
                  </a:solidFill>
                  <a:latin typeface="Times New Roman" panose="02020603050405020304" charset="0"/>
                  <a:ea typeface="楷体" panose="02010609060101010101" charset="-122"/>
                  <a:cs typeface="Times New Roman" panose="02020603050405020304" charset="0"/>
                </a:endParaRPr>
              </a:p>
            </p:txBody>
          </p:sp>
        </p:grpSp>
        <p:grpSp>
          <p:nvGrpSpPr>
            <p:cNvPr id="179240" name="组合 179239"/>
            <p:cNvGrpSpPr/>
            <p:nvPr/>
          </p:nvGrpSpPr>
          <p:grpSpPr>
            <a:xfrm>
              <a:off x="316" y="1026"/>
              <a:ext cx="2271" cy="1540"/>
              <a:chOff x="90" y="54"/>
              <a:chExt cx="2518" cy="1540"/>
            </a:xfrm>
          </p:grpSpPr>
          <p:sp>
            <p:nvSpPr>
              <p:cNvPr id="179241" name="文本框 179240"/>
              <p:cNvSpPr txBox="1"/>
              <p:nvPr/>
            </p:nvSpPr>
            <p:spPr>
              <a:xfrm>
                <a:off x="164" y="54"/>
                <a:ext cx="818" cy="290"/>
              </a:xfrm>
              <a:prstGeom prst="rect">
                <a:avLst/>
              </a:prstGeom>
              <a:noFill/>
              <a:ln w="9525">
                <a:noFill/>
              </a:ln>
            </p:spPr>
            <p:txBody>
              <a:bodyPr>
                <a:spAutoFit/>
              </a:bodyPr>
              <a:p>
                <a:pPr>
                  <a:spcBef>
                    <a:spcPct val="50000"/>
                  </a:spcBef>
                </a:pPr>
                <a:r>
                  <a:rPr lang="zh-CN" altLang="en-US" sz="2400" b="1" dirty="0">
                    <a:solidFill>
                      <a:srgbClr val="000000"/>
                    </a:solidFill>
                    <a:latin typeface="Times New Roman" panose="02020603050405020304" charset="0"/>
                    <a:ea typeface="楷体" panose="02010609060101010101" charset="-122"/>
                    <a:cs typeface="Times New Roman" panose="02020603050405020304" charset="0"/>
                  </a:rPr>
                  <a:t>地   址</a:t>
                </a:r>
                <a:endParaRPr lang="zh-CN" altLang="en-US" sz="2400" b="1" dirty="0">
                  <a:solidFill>
                    <a:srgbClr val="000000"/>
                  </a:solidFill>
                  <a:latin typeface="Times New Roman" panose="02020603050405020304" charset="0"/>
                  <a:ea typeface="楷体" panose="02010609060101010101" charset="-122"/>
                  <a:cs typeface="Times New Roman" panose="02020603050405020304" charset="0"/>
                </a:endParaRPr>
              </a:p>
            </p:txBody>
          </p:sp>
          <p:sp>
            <p:nvSpPr>
              <p:cNvPr id="179242" name="文本框 179241"/>
              <p:cNvSpPr txBox="1"/>
              <p:nvPr/>
            </p:nvSpPr>
            <p:spPr>
              <a:xfrm>
                <a:off x="238" y="344"/>
                <a:ext cx="454" cy="288"/>
              </a:xfrm>
              <a:prstGeom prst="rect">
                <a:avLst/>
              </a:prstGeom>
              <a:noFill/>
              <a:ln w="9525">
                <a:noFill/>
              </a:ln>
            </p:spPr>
            <p:txBody>
              <a:bodyPr>
                <a:spAutoFit/>
              </a:bodyPr>
              <a:p>
                <a:pPr>
                  <a:spcBef>
                    <a:spcPct val="50000"/>
                  </a:spcBef>
                </a:pPr>
                <a:r>
                  <a:rPr lang="en-US" altLang="zh-CN" sz="2400" b="1" i="1">
                    <a:solidFill>
                      <a:srgbClr val="000000"/>
                    </a:solidFill>
                    <a:latin typeface="Times New Roman" panose="02020603050405020304" charset="0"/>
                    <a:ea typeface="楷体" panose="02010609060101010101" charset="-122"/>
                    <a:cs typeface="Times New Roman" panose="02020603050405020304" charset="0"/>
                  </a:rPr>
                  <a:t>A</a:t>
                </a:r>
                <a:r>
                  <a:rPr lang="en-US" altLang="zh-CN" sz="2400" b="1" i="1" baseline="-25000">
                    <a:solidFill>
                      <a:srgbClr val="000000"/>
                    </a:solidFill>
                    <a:latin typeface="Times New Roman" panose="02020603050405020304" charset="0"/>
                    <a:ea typeface="楷体" panose="02010609060101010101" charset="-122"/>
                    <a:cs typeface="Times New Roman" panose="02020603050405020304" charset="0"/>
                  </a:rPr>
                  <a:t>1</a:t>
                </a:r>
                <a:endParaRPr lang="en-US" altLang="zh-CN" sz="2400" b="1" i="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79243" name="文本框 179242"/>
              <p:cNvSpPr txBox="1"/>
              <p:nvPr/>
            </p:nvSpPr>
            <p:spPr>
              <a:xfrm>
                <a:off x="515" y="350"/>
                <a:ext cx="454" cy="288"/>
              </a:xfrm>
              <a:prstGeom prst="rect">
                <a:avLst/>
              </a:prstGeom>
              <a:noFill/>
              <a:ln w="9525">
                <a:noFill/>
              </a:ln>
            </p:spPr>
            <p:txBody>
              <a:bodyPr>
                <a:spAutoFit/>
              </a:bodyPr>
              <a:p>
                <a:pPr>
                  <a:spcBef>
                    <a:spcPct val="50000"/>
                  </a:spcBef>
                </a:pPr>
                <a:r>
                  <a:rPr lang="en-US" altLang="zh-CN" sz="2400" b="1" i="1">
                    <a:solidFill>
                      <a:srgbClr val="000000"/>
                    </a:solidFill>
                    <a:latin typeface="Times New Roman" panose="02020603050405020304" charset="0"/>
                    <a:ea typeface="楷体" panose="02010609060101010101" charset="-122"/>
                    <a:cs typeface="Times New Roman" panose="02020603050405020304" charset="0"/>
                  </a:rPr>
                  <a:t>A</a:t>
                </a:r>
                <a:r>
                  <a:rPr lang="en-US" altLang="zh-CN" sz="2400" b="1" i="1" baseline="-25000">
                    <a:solidFill>
                      <a:srgbClr val="000000"/>
                    </a:solidFill>
                    <a:latin typeface="Times New Roman" panose="02020603050405020304" charset="0"/>
                    <a:ea typeface="楷体" panose="02010609060101010101" charset="-122"/>
                    <a:cs typeface="Times New Roman" panose="02020603050405020304" charset="0"/>
                  </a:rPr>
                  <a:t>0</a:t>
                </a:r>
                <a:endParaRPr lang="en-US" altLang="zh-CN" sz="2400" b="1" i="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79244" name="直接连接符 179243"/>
              <p:cNvSpPr/>
              <p:nvPr/>
            </p:nvSpPr>
            <p:spPr>
              <a:xfrm>
                <a:off x="910" y="68"/>
                <a:ext cx="0" cy="1400"/>
              </a:xfrm>
              <a:prstGeom prst="line">
                <a:avLst/>
              </a:prstGeom>
              <a:ln w="9525" cap="rnd" cmpd="sng">
                <a:solidFill>
                  <a:srgbClr val="000000"/>
                </a:solidFill>
                <a:prstDash val="sysDot"/>
                <a:headEnd type="none" w="med" len="med"/>
                <a:tailEnd type="none" w="med" len="med"/>
              </a:ln>
            </p:spPr>
          </p:sp>
          <p:sp>
            <p:nvSpPr>
              <p:cNvPr id="179245" name="文本框 179244"/>
              <p:cNvSpPr txBox="1"/>
              <p:nvPr/>
            </p:nvSpPr>
            <p:spPr>
              <a:xfrm>
                <a:off x="952" y="350"/>
                <a:ext cx="454" cy="288"/>
              </a:xfrm>
              <a:prstGeom prst="rect">
                <a:avLst/>
              </a:prstGeom>
              <a:noFill/>
              <a:ln w="9525">
                <a:noFill/>
              </a:ln>
            </p:spPr>
            <p:txBody>
              <a:bodyPr>
                <a:spAutoFit/>
              </a:bodyPr>
              <a:p>
                <a:pPr>
                  <a:spcBef>
                    <a:spcPct val="50000"/>
                  </a:spcBef>
                </a:pPr>
                <a:r>
                  <a:rPr lang="en-US" altLang="zh-CN" sz="2400" b="1" i="1">
                    <a:solidFill>
                      <a:srgbClr val="000000"/>
                    </a:solidFill>
                    <a:latin typeface="Times New Roman" panose="02020603050405020304" charset="0"/>
                    <a:ea typeface="楷体" panose="02010609060101010101" charset="-122"/>
                    <a:cs typeface="Times New Roman" panose="02020603050405020304" charset="0"/>
                  </a:rPr>
                  <a:t>D</a:t>
                </a:r>
                <a:r>
                  <a:rPr lang="en-US" altLang="zh-CN" sz="2400" b="1" i="1" baseline="-25000">
                    <a:solidFill>
                      <a:srgbClr val="000000"/>
                    </a:solidFill>
                    <a:latin typeface="Times New Roman" panose="02020603050405020304" charset="0"/>
                    <a:ea typeface="楷体" panose="02010609060101010101" charset="-122"/>
                    <a:cs typeface="Times New Roman" panose="02020603050405020304" charset="0"/>
                  </a:rPr>
                  <a:t>3</a:t>
                </a:r>
                <a:endParaRPr lang="en-US" altLang="zh-CN" sz="2400" b="1" i="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79246" name="文本框 179245"/>
              <p:cNvSpPr txBox="1"/>
              <p:nvPr/>
            </p:nvSpPr>
            <p:spPr>
              <a:xfrm>
                <a:off x="1318" y="356"/>
                <a:ext cx="454" cy="288"/>
              </a:xfrm>
              <a:prstGeom prst="rect">
                <a:avLst/>
              </a:prstGeom>
              <a:noFill/>
              <a:ln w="9525">
                <a:noFill/>
              </a:ln>
            </p:spPr>
            <p:txBody>
              <a:bodyPr>
                <a:spAutoFit/>
              </a:bodyPr>
              <a:p>
                <a:pPr>
                  <a:spcBef>
                    <a:spcPct val="50000"/>
                  </a:spcBef>
                </a:pPr>
                <a:r>
                  <a:rPr lang="en-US" altLang="zh-CN" sz="2400" b="1" i="1">
                    <a:solidFill>
                      <a:srgbClr val="000000"/>
                    </a:solidFill>
                    <a:latin typeface="Times New Roman" panose="02020603050405020304" charset="0"/>
                    <a:ea typeface="楷体" panose="02010609060101010101" charset="-122"/>
                    <a:cs typeface="Times New Roman" panose="02020603050405020304" charset="0"/>
                  </a:rPr>
                  <a:t>D</a:t>
                </a:r>
                <a:r>
                  <a:rPr lang="en-US" altLang="zh-CN" sz="2400" b="1" i="1" baseline="-25000">
                    <a:solidFill>
                      <a:srgbClr val="000000"/>
                    </a:solidFill>
                    <a:latin typeface="Times New Roman" panose="02020603050405020304" charset="0"/>
                    <a:ea typeface="楷体" panose="02010609060101010101" charset="-122"/>
                    <a:cs typeface="Times New Roman" panose="02020603050405020304" charset="0"/>
                  </a:rPr>
                  <a:t>2</a:t>
                </a:r>
                <a:endParaRPr lang="en-US" altLang="zh-CN" sz="2400" b="1" i="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79247" name="文本框 179246"/>
              <p:cNvSpPr txBox="1"/>
              <p:nvPr/>
            </p:nvSpPr>
            <p:spPr>
              <a:xfrm>
                <a:off x="1702" y="344"/>
                <a:ext cx="454" cy="288"/>
              </a:xfrm>
              <a:prstGeom prst="rect">
                <a:avLst/>
              </a:prstGeom>
              <a:noFill/>
              <a:ln w="9525">
                <a:noFill/>
              </a:ln>
            </p:spPr>
            <p:txBody>
              <a:bodyPr>
                <a:spAutoFit/>
              </a:bodyPr>
              <a:p>
                <a:pPr>
                  <a:spcBef>
                    <a:spcPct val="50000"/>
                  </a:spcBef>
                </a:pPr>
                <a:r>
                  <a:rPr lang="en-US" altLang="zh-CN" sz="2400" b="1" i="1">
                    <a:solidFill>
                      <a:srgbClr val="000000"/>
                    </a:solidFill>
                    <a:latin typeface="Times New Roman" panose="02020603050405020304" charset="0"/>
                    <a:ea typeface="楷体" panose="02010609060101010101" charset="-122"/>
                    <a:cs typeface="Times New Roman" panose="02020603050405020304" charset="0"/>
                  </a:rPr>
                  <a:t>D</a:t>
                </a:r>
                <a:r>
                  <a:rPr lang="en-US" altLang="zh-CN" sz="2400" b="1" i="1" baseline="-25000">
                    <a:solidFill>
                      <a:srgbClr val="000000"/>
                    </a:solidFill>
                    <a:latin typeface="Times New Roman" panose="02020603050405020304" charset="0"/>
                    <a:ea typeface="楷体" panose="02010609060101010101" charset="-122"/>
                    <a:cs typeface="Times New Roman" panose="02020603050405020304" charset="0"/>
                  </a:rPr>
                  <a:t>1</a:t>
                </a:r>
                <a:endParaRPr lang="en-US" altLang="zh-CN" sz="2400" b="1" i="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79248" name="文本框 179247"/>
              <p:cNvSpPr txBox="1"/>
              <p:nvPr/>
            </p:nvSpPr>
            <p:spPr>
              <a:xfrm>
                <a:off x="2068" y="350"/>
                <a:ext cx="454" cy="288"/>
              </a:xfrm>
              <a:prstGeom prst="rect">
                <a:avLst/>
              </a:prstGeom>
              <a:noFill/>
              <a:ln w="9525">
                <a:noFill/>
              </a:ln>
            </p:spPr>
            <p:txBody>
              <a:bodyPr>
                <a:spAutoFit/>
              </a:bodyPr>
              <a:p>
                <a:pPr>
                  <a:spcBef>
                    <a:spcPct val="50000"/>
                  </a:spcBef>
                </a:pPr>
                <a:r>
                  <a:rPr lang="en-US" altLang="zh-CN" sz="2400" b="1" i="1">
                    <a:solidFill>
                      <a:srgbClr val="000000"/>
                    </a:solidFill>
                    <a:latin typeface="Times New Roman" panose="02020603050405020304" charset="0"/>
                    <a:ea typeface="楷体" panose="02010609060101010101" charset="-122"/>
                    <a:cs typeface="Times New Roman" panose="02020603050405020304" charset="0"/>
                  </a:rPr>
                  <a:t>D</a:t>
                </a:r>
                <a:r>
                  <a:rPr lang="en-US" altLang="zh-CN" sz="2400" b="1" i="1" baseline="-25000">
                    <a:solidFill>
                      <a:srgbClr val="000000"/>
                    </a:solidFill>
                    <a:latin typeface="Times New Roman" panose="02020603050405020304" charset="0"/>
                    <a:ea typeface="楷体" panose="02010609060101010101" charset="-122"/>
                    <a:cs typeface="Times New Roman" panose="02020603050405020304" charset="0"/>
                  </a:rPr>
                  <a:t>0</a:t>
                </a:r>
                <a:endParaRPr lang="en-US" altLang="zh-CN" sz="2400" b="1" i="1">
                  <a:solidFill>
                    <a:srgbClr val="000000"/>
                  </a:solidFill>
                  <a:latin typeface="Times New Roman" panose="02020603050405020304" charset="0"/>
                  <a:ea typeface="楷体" panose="02010609060101010101" charset="-122"/>
                  <a:cs typeface="Times New Roman" panose="02020603050405020304" charset="0"/>
                </a:endParaRPr>
              </a:p>
            </p:txBody>
          </p:sp>
          <p:sp>
            <p:nvSpPr>
              <p:cNvPr id="179249" name="文本框 179248"/>
              <p:cNvSpPr txBox="1"/>
              <p:nvPr/>
            </p:nvSpPr>
            <p:spPr>
              <a:xfrm>
                <a:off x="1308" y="55"/>
                <a:ext cx="1300" cy="290"/>
              </a:xfrm>
              <a:prstGeom prst="rect">
                <a:avLst/>
              </a:prstGeom>
              <a:noFill/>
              <a:ln w="9525">
                <a:noFill/>
              </a:ln>
            </p:spPr>
            <p:txBody>
              <a:bodyPr wrap="square">
                <a:spAutoFit/>
              </a:bodyPr>
              <a:p>
                <a:pPr>
                  <a:spcBef>
                    <a:spcPct val="50000"/>
                  </a:spcBef>
                </a:pPr>
                <a:r>
                  <a:rPr lang="zh-CN" altLang="en-US" sz="2400" b="1" dirty="0">
                    <a:solidFill>
                      <a:srgbClr val="000000"/>
                    </a:solidFill>
                    <a:latin typeface="Times New Roman" panose="02020603050405020304" charset="0"/>
                    <a:ea typeface="楷体" panose="02010609060101010101" charset="-122"/>
                    <a:cs typeface="Times New Roman" panose="02020603050405020304" charset="0"/>
                  </a:rPr>
                  <a:t>存储内容</a:t>
                </a:r>
                <a:endParaRPr lang="zh-CN" altLang="en-US" sz="2400" b="1" dirty="0">
                  <a:solidFill>
                    <a:srgbClr val="000000"/>
                  </a:solidFill>
                  <a:latin typeface="Times New Roman" panose="02020603050405020304" charset="0"/>
                  <a:ea typeface="楷体" panose="02010609060101010101" charset="-122"/>
                  <a:cs typeface="Times New Roman" panose="02020603050405020304" charset="0"/>
                </a:endParaRPr>
              </a:p>
            </p:txBody>
          </p:sp>
          <p:sp>
            <p:nvSpPr>
              <p:cNvPr id="179250" name="直接连接符 179249"/>
              <p:cNvSpPr/>
              <p:nvPr/>
            </p:nvSpPr>
            <p:spPr>
              <a:xfrm>
                <a:off x="111" y="73"/>
                <a:ext cx="2436" cy="0"/>
              </a:xfrm>
              <a:prstGeom prst="line">
                <a:avLst/>
              </a:prstGeom>
              <a:ln w="57150" cap="flat" cmpd="sng">
                <a:solidFill>
                  <a:srgbClr val="000000"/>
                </a:solidFill>
                <a:prstDash val="solid"/>
                <a:headEnd type="none" w="med" len="med"/>
                <a:tailEnd type="none" w="med" len="med"/>
              </a:ln>
            </p:spPr>
          </p:sp>
          <p:sp>
            <p:nvSpPr>
              <p:cNvPr id="179251" name="直接连接符 179250"/>
              <p:cNvSpPr/>
              <p:nvPr/>
            </p:nvSpPr>
            <p:spPr>
              <a:xfrm>
                <a:off x="99" y="637"/>
                <a:ext cx="2436" cy="0"/>
              </a:xfrm>
              <a:prstGeom prst="line">
                <a:avLst/>
              </a:prstGeom>
              <a:ln w="38100" cap="flat" cmpd="sng">
                <a:solidFill>
                  <a:srgbClr val="000000"/>
                </a:solidFill>
                <a:prstDash val="solid"/>
                <a:headEnd type="none" w="med" len="med"/>
                <a:tailEnd type="none" w="med" len="med"/>
              </a:ln>
            </p:spPr>
          </p:sp>
          <p:sp>
            <p:nvSpPr>
              <p:cNvPr id="179252" name="直接连接符 179251"/>
              <p:cNvSpPr/>
              <p:nvPr/>
            </p:nvSpPr>
            <p:spPr>
              <a:xfrm>
                <a:off x="96" y="877"/>
                <a:ext cx="2436" cy="0"/>
              </a:xfrm>
              <a:prstGeom prst="line">
                <a:avLst/>
              </a:prstGeom>
              <a:ln w="38100" cap="flat" cmpd="sng">
                <a:solidFill>
                  <a:srgbClr val="000000"/>
                </a:solidFill>
                <a:prstDash val="solid"/>
                <a:headEnd type="none" w="med" len="med"/>
                <a:tailEnd type="none" w="med" len="med"/>
              </a:ln>
            </p:spPr>
          </p:sp>
          <p:sp>
            <p:nvSpPr>
              <p:cNvPr id="179253" name="直接连接符 179252"/>
              <p:cNvSpPr/>
              <p:nvPr/>
            </p:nvSpPr>
            <p:spPr>
              <a:xfrm>
                <a:off x="93" y="1117"/>
                <a:ext cx="2436" cy="0"/>
              </a:xfrm>
              <a:prstGeom prst="line">
                <a:avLst/>
              </a:prstGeom>
              <a:ln w="38100" cap="flat" cmpd="sng">
                <a:solidFill>
                  <a:srgbClr val="000000"/>
                </a:solidFill>
                <a:prstDash val="solid"/>
                <a:headEnd type="none" w="med" len="med"/>
                <a:tailEnd type="none" w="med" len="med"/>
              </a:ln>
            </p:spPr>
          </p:sp>
          <p:sp>
            <p:nvSpPr>
              <p:cNvPr id="179254" name="直接连接符 179253"/>
              <p:cNvSpPr/>
              <p:nvPr/>
            </p:nvSpPr>
            <p:spPr>
              <a:xfrm>
                <a:off x="90" y="1339"/>
                <a:ext cx="2436" cy="0"/>
              </a:xfrm>
              <a:prstGeom prst="line">
                <a:avLst/>
              </a:prstGeom>
              <a:ln w="38100" cap="flat" cmpd="sng">
                <a:solidFill>
                  <a:srgbClr val="000000"/>
                </a:solidFill>
                <a:prstDash val="solid"/>
                <a:headEnd type="none" w="med" len="med"/>
                <a:tailEnd type="none" w="med" len="med"/>
              </a:ln>
            </p:spPr>
          </p:sp>
          <p:sp>
            <p:nvSpPr>
              <p:cNvPr id="179255" name="直接连接符 179254"/>
              <p:cNvSpPr/>
              <p:nvPr/>
            </p:nvSpPr>
            <p:spPr>
              <a:xfrm>
                <a:off x="96" y="1579"/>
                <a:ext cx="2436" cy="0"/>
              </a:xfrm>
              <a:prstGeom prst="line">
                <a:avLst/>
              </a:prstGeom>
              <a:ln w="38100" cap="flat" cmpd="sng">
                <a:solidFill>
                  <a:srgbClr val="000000"/>
                </a:solidFill>
                <a:prstDash val="solid"/>
                <a:headEnd type="none" w="med" len="med"/>
                <a:tailEnd type="none" w="med" len="med"/>
              </a:ln>
            </p:spPr>
          </p:sp>
          <p:sp>
            <p:nvSpPr>
              <p:cNvPr id="179256" name="直接连接符 179255"/>
              <p:cNvSpPr/>
              <p:nvPr/>
            </p:nvSpPr>
            <p:spPr>
              <a:xfrm>
                <a:off x="910" y="74"/>
                <a:ext cx="0" cy="1502"/>
              </a:xfrm>
              <a:prstGeom prst="line">
                <a:avLst/>
              </a:prstGeom>
              <a:ln w="57150" cap="flat" cmpd="sng">
                <a:solidFill>
                  <a:srgbClr val="000000"/>
                </a:solidFill>
                <a:prstDash val="solid"/>
                <a:headEnd type="none" w="med" len="med"/>
                <a:tailEnd type="none" w="med" len="med"/>
              </a:ln>
            </p:spPr>
          </p:sp>
          <p:sp>
            <p:nvSpPr>
              <p:cNvPr id="179257" name="直接连接符 179256"/>
              <p:cNvSpPr/>
              <p:nvPr/>
            </p:nvSpPr>
            <p:spPr>
              <a:xfrm>
                <a:off x="92" y="364"/>
                <a:ext cx="2454" cy="0"/>
              </a:xfrm>
              <a:prstGeom prst="line">
                <a:avLst/>
              </a:prstGeom>
              <a:ln w="28575" cap="flat" cmpd="sng">
                <a:solidFill>
                  <a:srgbClr val="000000"/>
                </a:solidFill>
                <a:prstDash val="solid"/>
                <a:headEnd type="none" w="med" len="med"/>
                <a:tailEnd type="none" w="med" len="med"/>
              </a:ln>
            </p:spPr>
          </p:sp>
          <p:sp>
            <p:nvSpPr>
              <p:cNvPr id="179258" name="直接连接符 179257"/>
              <p:cNvSpPr/>
              <p:nvPr/>
            </p:nvSpPr>
            <p:spPr>
              <a:xfrm>
                <a:off x="528" y="354"/>
                <a:ext cx="0" cy="1237"/>
              </a:xfrm>
              <a:prstGeom prst="line">
                <a:avLst/>
              </a:prstGeom>
              <a:ln w="38100" cap="flat" cmpd="sng">
                <a:solidFill>
                  <a:srgbClr val="000000"/>
                </a:solidFill>
                <a:prstDash val="solid"/>
                <a:headEnd type="none" w="med" len="med"/>
                <a:tailEnd type="none" w="med" len="med"/>
              </a:ln>
            </p:spPr>
          </p:sp>
          <p:sp>
            <p:nvSpPr>
              <p:cNvPr id="179259" name="直接连接符 179258"/>
              <p:cNvSpPr/>
              <p:nvPr/>
            </p:nvSpPr>
            <p:spPr>
              <a:xfrm>
                <a:off x="1288" y="357"/>
                <a:ext cx="0" cy="1237"/>
              </a:xfrm>
              <a:prstGeom prst="line">
                <a:avLst/>
              </a:prstGeom>
              <a:ln w="38100" cap="flat" cmpd="sng">
                <a:solidFill>
                  <a:srgbClr val="000000"/>
                </a:solidFill>
                <a:prstDash val="solid"/>
                <a:headEnd type="none" w="med" len="med"/>
                <a:tailEnd type="none" w="med" len="med"/>
              </a:ln>
            </p:spPr>
          </p:sp>
          <p:sp>
            <p:nvSpPr>
              <p:cNvPr id="179260" name="直接连接符 179259"/>
              <p:cNvSpPr/>
              <p:nvPr/>
            </p:nvSpPr>
            <p:spPr>
              <a:xfrm>
                <a:off x="1666" y="357"/>
                <a:ext cx="0" cy="1237"/>
              </a:xfrm>
              <a:prstGeom prst="line">
                <a:avLst/>
              </a:prstGeom>
              <a:ln w="38100" cap="flat" cmpd="sng">
                <a:solidFill>
                  <a:srgbClr val="000000"/>
                </a:solidFill>
                <a:prstDash val="solid"/>
                <a:headEnd type="none" w="med" len="med"/>
                <a:tailEnd type="none" w="med" len="med"/>
              </a:ln>
            </p:spPr>
          </p:sp>
          <p:sp>
            <p:nvSpPr>
              <p:cNvPr id="179261" name="直接连接符 179260"/>
              <p:cNvSpPr/>
              <p:nvPr/>
            </p:nvSpPr>
            <p:spPr>
              <a:xfrm>
                <a:off x="2043" y="353"/>
                <a:ext cx="0" cy="1237"/>
              </a:xfrm>
              <a:prstGeom prst="line">
                <a:avLst/>
              </a:prstGeom>
              <a:ln w="38100" cap="flat" cmpd="sng">
                <a:solidFill>
                  <a:srgbClr val="000000"/>
                </a:solidFill>
                <a:prstDash val="solid"/>
                <a:headEnd type="none" w="med" len="med"/>
                <a:tailEnd type="none" w="med" len="med"/>
              </a:ln>
            </p:spPr>
          </p:sp>
        </p:grpSp>
        <p:grpSp>
          <p:nvGrpSpPr>
            <p:cNvPr id="179262" name="组合 179261"/>
            <p:cNvGrpSpPr/>
            <p:nvPr/>
          </p:nvGrpSpPr>
          <p:grpSpPr>
            <a:xfrm>
              <a:off x="431" y="708"/>
              <a:ext cx="974" cy="288"/>
              <a:chOff x="1530" y="813"/>
              <a:chExt cx="974" cy="288"/>
            </a:xfrm>
          </p:grpSpPr>
          <p:sp>
            <p:nvSpPr>
              <p:cNvPr id="179263" name="矩形 179262"/>
              <p:cNvSpPr/>
              <p:nvPr/>
            </p:nvSpPr>
            <p:spPr>
              <a:xfrm>
                <a:off x="1530" y="813"/>
                <a:ext cx="974" cy="288"/>
              </a:xfrm>
              <a:prstGeom prst="rect">
                <a:avLst/>
              </a:prstGeom>
              <a:noFill/>
              <a:ln w="9525">
                <a:noFill/>
              </a:ln>
            </p:spPr>
            <p:txBody>
              <a:bodyPr wrap="none" anchor="t" anchorCtr="0">
                <a:spAutoFit/>
              </a:bodyPr>
              <a:p>
                <a:r>
                  <a:rPr lang="zh-CN" altLang="en-US" sz="2400" b="1">
                    <a:solidFill>
                      <a:srgbClr val="000066"/>
                    </a:solidFill>
                    <a:latin typeface="Times New Roman" panose="02020603050405020304" charset="0"/>
                    <a:ea typeface="楷体" panose="02010609060101010101" charset="-122"/>
                    <a:cs typeface="Times New Roman" panose="02020603050405020304" charset="0"/>
                  </a:rPr>
                  <a:t>当</a:t>
                </a:r>
                <a:r>
                  <a:rPr lang="en-US" altLang="zh-CN" sz="2400" b="1" i="1">
                    <a:solidFill>
                      <a:srgbClr val="000066"/>
                    </a:solidFill>
                    <a:latin typeface="Times New Roman" panose="02020603050405020304" charset="0"/>
                    <a:ea typeface="楷体" panose="02010609060101010101" charset="-122"/>
                    <a:cs typeface="Times New Roman" panose="02020603050405020304" charset="0"/>
                  </a:rPr>
                  <a:t>OE</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=0</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时</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79264" name="直接连接符 179263"/>
              <p:cNvSpPr/>
              <p:nvPr/>
            </p:nvSpPr>
            <p:spPr>
              <a:xfrm>
                <a:off x="1837" y="867"/>
                <a:ext cx="205" cy="0"/>
              </a:xfrm>
              <a:prstGeom prst="line">
                <a:avLst/>
              </a:prstGeom>
              <a:ln w="28575" cap="flat" cmpd="sng">
                <a:solidFill>
                  <a:srgbClr val="000066"/>
                </a:solidFill>
                <a:prstDash val="solid"/>
                <a:headEnd type="none" w="med" len="med"/>
                <a:tailEnd type="none" w="med" len="med"/>
              </a:ln>
            </p:spPr>
          </p:sp>
        </p:grpSp>
      </p:grpSp>
      <p:sp>
        <p:nvSpPr>
          <p:cNvPr id="179266" name="直接连接符 179265"/>
          <p:cNvSpPr/>
          <p:nvPr/>
        </p:nvSpPr>
        <p:spPr>
          <a:xfrm>
            <a:off x="6011863" y="3381375"/>
            <a:ext cx="2808287" cy="0"/>
          </a:xfrm>
          <a:prstGeom prst="line">
            <a:avLst/>
          </a:prstGeom>
          <a:ln w="38100" cap="flat" cmpd="sng">
            <a:solidFill>
              <a:srgbClr val="FF0000"/>
            </a:solidFill>
            <a:prstDash val="solid"/>
            <a:headEnd type="none" w="med" len="med"/>
            <a:tailEnd type="none" w="med" len="med"/>
          </a:ln>
        </p:spPr>
      </p:sp>
      <p:sp>
        <p:nvSpPr>
          <p:cNvPr id="179267" name="文本框 179266"/>
          <p:cNvSpPr txBox="1"/>
          <p:nvPr/>
        </p:nvSpPr>
        <p:spPr>
          <a:xfrm>
            <a:off x="6580188" y="4967288"/>
            <a:ext cx="2016125" cy="396875"/>
          </a:xfrm>
          <a:prstGeom prst="rect">
            <a:avLst/>
          </a:prstGeom>
          <a:noFill/>
          <a:ln w="28575">
            <a:noFill/>
          </a:ln>
        </p:spPr>
        <p:txBody>
          <a:bodyPr lIns="90000" tIns="46800" rIns="90000" bIns="46800">
            <a:spAutoFit/>
          </a:bodyPr>
          <a:p>
            <a:pPr>
              <a:spcBef>
                <a:spcPct val="50000"/>
              </a:spcBef>
            </a:pPr>
            <a:r>
              <a:rPr lang="en-US" altLang="zh-CN" sz="2000" b="1">
                <a:solidFill>
                  <a:srgbClr val="FF0000"/>
                </a:solidFill>
                <a:latin typeface="Arial" panose="020B0604020202020204" pitchFamily="34" charset="0"/>
              </a:rPr>
              <a:t>0      1      0     0</a:t>
            </a:r>
            <a:endParaRPr lang="en-US" altLang="zh-CN" sz="2000" b="1">
              <a:solidFill>
                <a:srgbClr val="FF0000"/>
              </a:solidFill>
              <a:latin typeface="Arial" panose="020B0604020202020204" pitchFamily="34" charset="0"/>
            </a:endParaRPr>
          </a:p>
        </p:txBody>
      </p:sp>
      <p:sp>
        <p:nvSpPr>
          <p:cNvPr id="179268" name="文本框 179267"/>
          <p:cNvSpPr txBox="1"/>
          <p:nvPr/>
        </p:nvSpPr>
        <p:spPr>
          <a:xfrm>
            <a:off x="6572568" y="6249035"/>
            <a:ext cx="1871662" cy="396875"/>
          </a:xfrm>
          <a:prstGeom prst="rect">
            <a:avLst/>
          </a:prstGeom>
          <a:noFill/>
          <a:ln w="28575">
            <a:noFill/>
          </a:ln>
        </p:spPr>
        <p:txBody>
          <a:bodyPr lIns="90000" tIns="46800" rIns="90000" bIns="46800">
            <a:spAutoFit/>
          </a:bodyPr>
          <a:p>
            <a:pPr>
              <a:spcBef>
                <a:spcPct val="50000"/>
              </a:spcBef>
            </a:pPr>
            <a:r>
              <a:rPr lang="en-US" altLang="zh-CN" sz="2000" b="1">
                <a:solidFill>
                  <a:srgbClr val="FF0000"/>
                </a:solidFill>
                <a:latin typeface="Arial" panose="020B0604020202020204" pitchFamily="34" charset="0"/>
              </a:rPr>
              <a:t>1    0     1       1</a:t>
            </a:r>
            <a:endParaRPr lang="en-US" altLang="zh-CN" sz="2000" b="1">
              <a:solidFill>
                <a:srgbClr val="FF0000"/>
              </a:solidFill>
              <a:latin typeface="Arial" panose="020B0604020202020204" pitchFamily="34" charset="0"/>
            </a:endParaRPr>
          </a:p>
        </p:txBody>
      </p:sp>
      <p:sp>
        <p:nvSpPr>
          <p:cNvPr id="179269" name="文本框 179268"/>
          <p:cNvSpPr txBox="1"/>
          <p:nvPr/>
        </p:nvSpPr>
        <p:spPr>
          <a:xfrm>
            <a:off x="3995738" y="3568700"/>
            <a:ext cx="360362" cy="822325"/>
          </a:xfrm>
          <a:prstGeom prst="rect">
            <a:avLst/>
          </a:prstGeom>
          <a:noFill/>
          <a:ln w="28575">
            <a:noFill/>
          </a:ln>
        </p:spPr>
        <p:txBody>
          <a:bodyPr lIns="90000" tIns="46800" rIns="90000" bIns="46800">
            <a:spAutoFit/>
          </a:bodyPr>
          <a:p>
            <a:pPr>
              <a:spcBef>
                <a:spcPct val="50000"/>
              </a:spcBef>
            </a:pPr>
            <a:r>
              <a:rPr lang="en-US" altLang="zh-CN" sz="2400" b="1">
                <a:solidFill>
                  <a:srgbClr val="FF0000"/>
                </a:solidFill>
                <a:latin typeface="Arial" panose="020B0604020202020204" pitchFamily="34" charset="0"/>
              </a:rPr>
              <a:t>00</a:t>
            </a:r>
            <a:endParaRPr lang="en-US" altLang="zh-CN" sz="2400" b="1">
              <a:solidFill>
                <a:srgbClr val="FF0000"/>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79203"/>
                                        </p:tgtEl>
                                        <p:attrNameLst>
                                          <p:attrName>style.visibility</p:attrName>
                                        </p:attrNameLst>
                                      </p:cBhvr>
                                      <p:to>
                                        <p:strVal val="visible"/>
                                      </p:to>
                                    </p:set>
                                    <p:animEffect transition="in" filter="strips(downRight)">
                                      <p:cBhvr>
                                        <p:cTn id="7" dur="500"/>
                                        <p:tgtEl>
                                          <p:spTgt spid="17920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79207"/>
                                        </p:tgtEl>
                                        <p:attrNameLst>
                                          <p:attrName>style.visibility</p:attrName>
                                        </p:attrNameLst>
                                      </p:cBhvr>
                                      <p:to>
                                        <p:strVal val="visible"/>
                                      </p:to>
                                    </p:set>
                                    <p:animEffect transition="in" filter="wipe(up)">
                                      <p:cBhvr>
                                        <p:cTn id="12" dur="500"/>
                                        <p:tgtEl>
                                          <p:spTgt spid="17920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79269"/>
                                        </p:tgtEl>
                                        <p:attrNameLst>
                                          <p:attrName>style.visibility</p:attrName>
                                        </p:attrNameLst>
                                      </p:cBhvr>
                                      <p:to>
                                        <p:strVal val="visible"/>
                                      </p:to>
                                    </p:set>
                                    <p:animEffect transition="in" filter="wipe(down)">
                                      <p:cBhvr>
                                        <p:cTn id="17" dur="500"/>
                                        <p:tgtEl>
                                          <p:spTgt spid="17926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79266"/>
                                        </p:tgtEl>
                                        <p:attrNameLst>
                                          <p:attrName>style.visibility</p:attrName>
                                        </p:attrNameLst>
                                      </p:cBhvr>
                                      <p:to>
                                        <p:strVal val="visible"/>
                                      </p:to>
                                    </p:set>
                                    <p:animEffect transition="in" filter="wipe(down)">
                                      <p:cBhvr>
                                        <p:cTn id="22" dur="500"/>
                                        <p:tgtEl>
                                          <p:spTgt spid="17926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79267"/>
                                        </p:tgtEl>
                                        <p:attrNameLst>
                                          <p:attrName>style.visibility</p:attrName>
                                        </p:attrNameLst>
                                      </p:cBhvr>
                                      <p:to>
                                        <p:strVal val="visible"/>
                                      </p:to>
                                    </p:set>
                                    <p:animEffect transition="in" filter="wipe(down)">
                                      <p:cBhvr>
                                        <p:cTn id="27" dur="500"/>
                                        <p:tgtEl>
                                          <p:spTgt spid="17926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79268"/>
                                        </p:tgtEl>
                                        <p:attrNameLst>
                                          <p:attrName>style.visibility</p:attrName>
                                        </p:attrNameLst>
                                      </p:cBhvr>
                                      <p:to>
                                        <p:strVal val="visible"/>
                                      </p:to>
                                    </p:set>
                                    <p:animEffect transition="in" filter="wipe(down)">
                                      <p:cBhvr>
                                        <p:cTn id="32" dur="500"/>
                                        <p:tgtEl>
                                          <p:spTgt spid="179268"/>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179204"/>
                                        </p:tgtEl>
                                        <p:attrNameLst>
                                          <p:attrName>style.visibility</p:attrName>
                                        </p:attrNameLst>
                                      </p:cBhvr>
                                      <p:to>
                                        <p:strVal val="visible"/>
                                      </p:to>
                                    </p:set>
                                    <p:animEffect transition="in" filter="strips(downRight)">
                                      <p:cBhvr>
                                        <p:cTn id="37" dur="500"/>
                                        <p:tgtEl>
                                          <p:spTgt spid="179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3" grpId="0"/>
      <p:bldP spid="179267" grpId="0"/>
      <p:bldP spid="179268" grpId="0"/>
      <p:bldP spid="17926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 name="文本框 85"/>
          <p:cNvSpPr txBox="1"/>
          <p:nvPr/>
        </p:nvSpPr>
        <p:spPr>
          <a:xfrm>
            <a:off x="0" y="5935980"/>
            <a:ext cx="9162000"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1"/>
          <a:stretch>
            <a:fillRect/>
          </a:stretch>
        </p:blipFill>
        <p:spPr>
          <a:xfrm>
            <a:off x="609600" y="1219835"/>
            <a:ext cx="8143875" cy="2495550"/>
          </a:xfrm>
          <a:prstGeom prst="rect">
            <a:avLst/>
          </a:prstGeom>
        </p:spPr>
      </p:pic>
      <p:grpSp>
        <p:nvGrpSpPr>
          <p:cNvPr id="7" name="组合 6"/>
          <p:cNvGrpSpPr/>
          <p:nvPr/>
        </p:nvGrpSpPr>
        <p:grpSpPr>
          <a:xfrm>
            <a:off x="533400" y="3810635"/>
            <a:ext cx="8147050" cy="706755"/>
            <a:chOff x="891" y="5962"/>
            <a:chExt cx="12830" cy="1113"/>
          </a:xfrm>
        </p:grpSpPr>
        <p:sp>
          <p:nvSpPr>
            <p:cNvPr id="100" name="文本框 99"/>
            <p:cNvSpPr txBox="1"/>
            <p:nvPr/>
          </p:nvSpPr>
          <p:spPr>
            <a:xfrm>
              <a:off x="891" y="5962"/>
              <a:ext cx="12830" cy="1113"/>
            </a:xfrm>
            <a:prstGeom prst="rect">
              <a:avLst/>
            </a:prstGeom>
            <a:noFill/>
            <a:ln w="9525">
              <a:noFill/>
            </a:ln>
          </p:spPr>
          <p:txBody>
            <a:bodyPr wrap="square">
              <a:spAutoFit/>
            </a:bodyPr>
            <a:p>
              <a:r>
                <a:rPr lang="en-US" altLang="zh-CN" sz="2000" b="1">
                  <a:solidFill>
                    <a:srgbClr val="000066"/>
                  </a:solidFill>
                  <a:latin typeface="Times New Roman" panose="02020603050405020304" charset="0"/>
                  <a:ea typeface="楷体" panose="02010609060101010101" charset="-122"/>
                </a:rPr>
                <a:t>      </a:t>
              </a:r>
              <a:r>
                <a:rPr lang="zh-CN" sz="2000" b="1">
                  <a:solidFill>
                    <a:srgbClr val="000066"/>
                  </a:solidFill>
                  <a:latin typeface="Times New Roman" panose="02020603050405020304" charset="0"/>
                  <a:ea typeface="楷体" panose="02010609060101010101" charset="-122"/>
                </a:rPr>
                <a:t>由以上表格可以得到在使能端</a:t>
              </a:r>
              <a:r>
                <a:rPr lang="en-US" altLang="zh-CN" sz="2000" b="1">
                  <a:solidFill>
                    <a:srgbClr val="000066"/>
                  </a:solidFill>
                  <a:latin typeface="Times New Roman" panose="02020603050405020304" charset="0"/>
                  <a:ea typeface="楷体" panose="02010609060101010101" charset="-122"/>
                </a:rPr>
                <a:t>            </a:t>
              </a:r>
              <a:r>
                <a:rPr lang="zh-CN" sz="2000" b="1">
                  <a:solidFill>
                    <a:srgbClr val="000066"/>
                  </a:solidFill>
                  <a:latin typeface="Times New Roman" panose="02020603050405020304" charset="0"/>
                  <a:ea typeface="楷体" panose="02010609060101010101" charset="-122"/>
                  <a:cs typeface="Times New Roman" panose="02020603050405020304" charset="0"/>
                  <a:sym typeface="+mn-ea"/>
                </a:rPr>
                <a:t>的条件下，输出</a:t>
              </a:r>
              <a:r>
                <a:rPr lang="en-US" sz="2000" b="1" i="1">
                  <a:solidFill>
                    <a:srgbClr val="000066"/>
                  </a:solidFill>
                  <a:latin typeface="Times New Roman" panose="02020603050405020304" charset="0"/>
                  <a:ea typeface="楷体" panose="02010609060101010101" charset="-122"/>
                  <a:cs typeface="Times New Roman" panose="02020603050405020304" charset="0"/>
                  <a:sym typeface="+mn-ea"/>
                </a:rPr>
                <a:t>D</a:t>
              </a:r>
              <a:r>
                <a:rPr lang="en-US" sz="2000" b="1" baseline="-25000">
                  <a:solidFill>
                    <a:srgbClr val="000066"/>
                  </a:solidFill>
                  <a:latin typeface="Times New Roman" panose="02020603050405020304" charset="0"/>
                  <a:ea typeface="楷体" panose="02010609060101010101" charset="-122"/>
                  <a:cs typeface="Times New Roman" panose="02020603050405020304" charset="0"/>
                  <a:sym typeface="+mn-ea"/>
                </a:rPr>
                <a:t>3</a:t>
              </a:r>
              <a:r>
                <a:rPr lang="en-US" sz="2000" b="1" i="1">
                  <a:solidFill>
                    <a:srgbClr val="000066"/>
                  </a:solidFill>
                  <a:latin typeface="Times New Roman" panose="02020603050405020304" charset="0"/>
                  <a:ea typeface="楷体" panose="02010609060101010101" charset="-122"/>
                  <a:cs typeface="Times New Roman" panose="02020603050405020304" charset="0"/>
                  <a:sym typeface="+mn-ea"/>
                </a:rPr>
                <a:t>D</a:t>
              </a:r>
              <a:r>
                <a:rPr lang="en-US" sz="2000" b="1" baseline="-25000">
                  <a:solidFill>
                    <a:srgbClr val="000066"/>
                  </a:solidFill>
                  <a:latin typeface="Times New Roman" panose="02020603050405020304" charset="0"/>
                  <a:ea typeface="楷体" panose="02010609060101010101" charset="-122"/>
                  <a:cs typeface="Times New Roman" panose="02020603050405020304" charset="0"/>
                  <a:sym typeface="+mn-ea"/>
                </a:rPr>
                <a:t>2</a:t>
              </a:r>
              <a:r>
                <a:rPr lang="en-US" sz="2000" b="1" i="1">
                  <a:solidFill>
                    <a:srgbClr val="000066"/>
                  </a:solidFill>
                  <a:latin typeface="Times New Roman" panose="02020603050405020304" charset="0"/>
                  <a:ea typeface="楷体" panose="02010609060101010101" charset="-122"/>
                  <a:cs typeface="Times New Roman" panose="02020603050405020304" charset="0"/>
                  <a:sym typeface="+mn-ea"/>
                </a:rPr>
                <a:t>D</a:t>
              </a:r>
              <a:r>
                <a:rPr lang="en-US" sz="2000" b="1" baseline="-25000">
                  <a:solidFill>
                    <a:srgbClr val="000066"/>
                  </a:solidFill>
                  <a:latin typeface="Times New Roman" panose="02020603050405020304" charset="0"/>
                  <a:ea typeface="楷体" panose="02010609060101010101" charset="-122"/>
                  <a:cs typeface="Times New Roman" panose="02020603050405020304" charset="0"/>
                  <a:sym typeface="+mn-ea"/>
                </a:rPr>
                <a:t>1</a:t>
              </a:r>
              <a:r>
                <a:rPr lang="en-US" sz="2000" b="1" i="1">
                  <a:solidFill>
                    <a:srgbClr val="000066"/>
                  </a:solidFill>
                  <a:latin typeface="Times New Roman" panose="02020603050405020304" charset="0"/>
                  <a:ea typeface="楷体" panose="02010609060101010101" charset="-122"/>
                  <a:cs typeface="Times New Roman" panose="02020603050405020304" charset="0"/>
                  <a:sym typeface="+mn-ea"/>
                </a:rPr>
                <a:t>D</a:t>
              </a:r>
              <a:r>
                <a:rPr lang="en-US" sz="2000" b="1" baseline="-25000">
                  <a:solidFill>
                    <a:srgbClr val="000066"/>
                  </a:solidFill>
                  <a:latin typeface="Times New Roman" panose="02020603050405020304" charset="0"/>
                  <a:ea typeface="楷体" panose="02010609060101010101" charset="-122"/>
                  <a:cs typeface="Times New Roman" panose="02020603050405020304" charset="0"/>
                  <a:sym typeface="+mn-ea"/>
                </a:rPr>
                <a:t>0</a:t>
              </a:r>
              <a:r>
                <a:rPr lang="zh-CN" sz="2000" b="1">
                  <a:solidFill>
                    <a:srgbClr val="000066"/>
                  </a:solidFill>
                  <a:latin typeface="Times New Roman" panose="02020603050405020304" charset="0"/>
                  <a:ea typeface="楷体" panose="02010609060101010101" charset="-122"/>
                  <a:cs typeface="Times New Roman" panose="02020603050405020304" charset="0"/>
                  <a:sym typeface="+mn-ea"/>
                </a:rPr>
                <a:t>的表达式分别为：</a:t>
              </a:r>
              <a:endParaRPr lang="en-US" altLang="zh-CN" sz="2000" b="1">
                <a:solidFill>
                  <a:srgbClr val="000066"/>
                </a:solidFill>
                <a:latin typeface="Times New Roman" panose="02020603050405020304" charset="0"/>
                <a:ea typeface="楷体" panose="02010609060101010101" charset="-122"/>
              </a:endParaRPr>
            </a:p>
          </p:txBody>
        </p:sp>
        <p:graphicFrame>
          <p:nvGraphicFramePr>
            <p:cNvPr id="5" name="对象 4"/>
            <p:cNvGraphicFramePr/>
            <p:nvPr/>
          </p:nvGraphicFramePr>
          <p:xfrm>
            <a:off x="6771" y="6004"/>
            <a:ext cx="1337" cy="546"/>
          </p:xfrm>
          <a:graphic>
            <a:graphicData uri="http://schemas.openxmlformats.org/presentationml/2006/ole">
              <mc:AlternateContent xmlns:mc="http://schemas.openxmlformats.org/markup-compatibility/2006">
                <mc:Choice xmlns:v="urn:schemas-microsoft-com:vml" Requires="v">
                  <p:oleObj spid="_x0000_s6" name="" r:id="rId2" imgW="739140" imgH="306070" progId="Equation.KSEE3">
                    <p:embed/>
                  </p:oleObj>
                </mc:Choice>
                <mc:Fallback>
                  <p:oleObj name="" r:id="rId2" imgW="739140" imgH="306070" progId="Equation.KSEE3">
                    <p:embed/>
                    <p:pic>
                      <p:nvPicPr>
                        <p:cNvPr id="0" name="图片 5"/>
                        <p:cNvPicPr/>
                        <p:nvPr/>
                      </p:nvPicPr>
                      <p:blipFill>
                        <a:blip r:embed="rId3"/>
                        <a:stretch>
                          <a:fillRect/>
                        </a:stretch>
                      </p:blipFill>
                      <p:spPr>
                        <a:xfrm>
                          <a:off x="6771" y="6004"/>
                          <a:ext cx="1337" cy="546"/>
                        </a:xfrm>
                        <a:prstGeom prst="rect">
                          <a:avLst/>
                        </a:prstGeom>
                      </p:spPr>
                    </p:pic>
                  </p:oleObj>
                </mc:Fallback>
              </mc:AlternateContent>
            </a:graphicData>
          </a:graphic>
        </p:graphicFrame>
      </p:grpSp>
      <p:graphicFrame>
        <p:nvGraphicFramePr>
          <p:cNvPr id="8" name="对象 7"/>
          <p:cNvGraphicFramePr/>
          <p:nvPr/>
        </p:nvGraphicFramePr>
        <p:xfrm>
          <a:off x="685800" y="4525010"/>
          <a:ext cx="3963670" cy="440690"/>
        </p:xfrm>
        <a:graphic>
          <a:graphicData uri="http://schemas.openxmlformats.org/presentationml/2006/ole">
            <mc:AlternateContent xmlns:mc="http://schemas.openxmlformats.org/markup-compatibility/2006">
              <mc:Choice xmlns:v="urn:schemas-microsoft-com:vml" Requires="v">
                <p:oleObj spid="_x0000_s9" name="" r:id="rId4" imgW="3724275" imgH="443865" progId="Equation.KSEE3">
                  <p:embed/>
                </p:oleObj>
              </mc:Choice>
              <mc:Fallback>
                <p:oleObj name="" r:id="rId4" imgW="3724275" imgH="443865" progId="Equation.KSEE3">
                  <p:embed/>
                  <p:pic>
                    <p:nvPicPr>
                      <p:cNvPr id="0" name="图片 8"/>
                      <p:cNvPicPr/>
                      <p:nvPr/>
                    </p:nvPicPr>
                    <p:blipFill>
                      <a:blip r:embed="rId5"/>
                      <a:stretch>
                        <a:fillRect/>
                      </a:stretch>
                    </p:blipFill>
                    <p:spPr>
                      <a:xfrm>
                        <a:off x="685800" y="4525010"/>
                        <a:ext cx="3963670" cy="44069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4952683" y="4512628"/>
          <a:ext cx="3386762" cy="439200"/>
        </p:xfrm>
        <a:graphic>
          <a:graphicData uri="http://schemas.openxmlformats.org/presentationml/2006/ole">
            <mc:AlternateContent xmlns:mc="http://schemas.openxmlformats.org/markup-compatibility/2006">
              <mc:Choice xmlns:v="urn:schemas-microsoft-com:vml" Requires="v">
                <p:oleObj spid="_x0000_s11" name="" r:id="rId6" imgW="3702050" imgH="432435" progId="Equation.KSEE3">
                  <p:embed/>
                </p:oleObj>
              </mc:Choice>
              <mc:Fallback>
                <p:oleObj name="" r:id="rId6" imgW="3702050" imgH="432435" progId="Equation.KSEE3">
                  <p:embed/>
                  <p:pic>
                    <p:nvPicPr>
                      <p:cNvPr id="0" name="图片 10"/>
                      <p:cNvPicPr/>
                      <p:nvPr/>
                    </p:nvPicPr>
                    <p:blipFill>
                      <a:blip r:embed="rId7"/>
                      <a:stretch>
                        <a:fillRect/>
                      </a:stretch>
                    </p:blipFill>
                    <p:spPr>
                      <a:xfrm>
                        <a:off x="4952683" y="4512628"/>
                        <a:ext cx="3386762" cy="439200"/>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685800" y="5006975"/>
          <a:ext cx="2924810" cy="439420"/>
        </p:xfrm>
        <a:graphic>
          <a:graphicData uri="http://schemas.openxmlformats.org/presentationml/2006/ole">
            <mc:AlternateContent xmlns:mc="http://schemas.openxmlformats.org/markup-compatibility/2006">
              <mc:Choice xmlns:v="urn:schemas-microsoft-com:vml" Requires="v">
                <p:oleObj spid="_x0000_s13" name="" r:id="rId8" imgW="2537460" imgH="457835" progId="Equation.KSEE3">
                  <p:embed/>
                </p:oleObj>
              </mc:Choice>
              <mc:Fallback>
                <p:oleObj name="" r:id="rId8" imgW="2537460" imgH="457835" progId="Equation.KSEE3">
                  <p:embed/>
                  <p:pic>
                    <p:nvPicPr>
                      <p:cNvPr id="0" name="图片 12"/>
                      <p:cNvPicPr/>
                      <p:nvPr/>
                    </p:nvPicPr>
                    <p:blipFill>
                      <a:blip r:embed="rId9"/>
                      <a:stretch>
                        <a:fillRect/>
                      </a:stretch>
                    </p:blipFill>
                    <p:spPr>
                      <a:xfrm>
                        <a:off x="685800" y="5006975"/>
                        <a:ext cx="2924810" cy="439420"/>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4953000" y="4951730"/>
          <a:ext cx="2906395" cy="439420"/>
        </p:xfrm>
        <a:graphic>
          <a:graphicData uri="http://schemas.openxmlformats.org/presentationml/2006/ole">
            <mc:AlternateContent xmlns:mc="http://schemas.openxmlformats.org/markup-compatibility/2006">
              <mc:Choice xmlns:v="urn:schemas-microsoft-com:vml" Requires="v">
                <p:oleObj spid="_x0000_s15" name="" r:id="rId10" imgW="2609215" imgH="412750" progId="Equation.KSEE3">
                  <p:embed/>
                </p:oleObj>
              </mc:Choice>
              <mc:Fallback>
                <p:oleObj name="" r:id="rId10" imgW="2609215" imgH="412750" progId="Equation.KSEE3">
                  <p:embed/>
                  <p:pic>
                    <p:nvPicPr>
                      <p:cNvPr id="0" name="图片 14"/>
                      <p:cNvPicPr/>
                      <p:nvPr/>
                    </p:nvPicPr>
                    <p:blipFill>
                      <a:blip r:embed="rId11"/>
                      <a:stretch>
                        <a:fillRect/>
                      </a:stretch>
                    </p:blipFill>
                    <p:spPr>
                      <a:xfrm>
                        <a:off x="4953000" y="4951730"/>
                        <a:ext cx="2906395" cy="439420"/>
                      </a:xfrm>
                      <a:prstGeom prst="rect">
                        <a:avLst/>
                      </a:prstGeom>
                    </p:spPr>
                  </p:pic>
                </p:oleObj>
              </mc:Fallback>
            </mc:AlternateContent>
          </a:graphicData>
        </a:graphic>
      </p:graphicFrame>
      <p:sp>
        <p:nvSpPr>
          <p:cNvPr id="16" name="文本框 15"/>
          <p:cNvSpPr txBox="1"/>
          <p:nvPr/>
        </p:nvSpPr>
        <p:spPr>
          <a:xfrm>
            <a:off x="320040" y="5715635"/>
            <a:ext cx="8651240" cy="706755"/>
          </a:xfrm>
          <a:prstGeom prst="rect">
            <a:avLst/>
          </a:prstGeom>
          <a:noFill/>
          <a:ln w="9525">
            <a:noFill/>
          </a:ln>
        </p:spPr>
        <p:txBody>
          <a:bodyPr wrap="square">
            <a:spAutoFit/>
          </a:bodyPr>
          <a:p>
            <a:r>
              <a:rPr lang="en-US" altLang="zh-CN" sz="2000" b="1">
                <a:solidFill>
                  <a:srgbClr val="000066"/>
                </a:solidFill>
                <a:latin typeface="Times New Roman" panose="02020603050405020304" charset="0"/>
                <a:ea typeface="楷体" panose="02010609060101010101" charset="-122"/>
                <a:cs typeface="Times New Roman" panose="02020603050405020304" charset="0"/>
              </a:rPr>
              <a:t>       </a:t>
            </a:r>
            <a:r>
              <a:rPr lang="zh-CN" sz="2000" b="1">
                <a:solidFill>
                  <a:srgbClr val="000066"/>
                </a:solidFill>
                <a:latin typeface="Times New Roman" panose="02020603050405020304" charset="0"/>
                <a:ea typeface="楷体" panose="02010609060101010101" charset="-122"/>
                <a:cs typeface="Times New Roman" panose="02020603050405020304" charset="0"/>
              </a:rPr>
              <a:t>因此，</a:t>
            </a:r>
            <a:r>
              <a:rPr lang="en-US" sz="2000" b="1">
                <a:solidFill>
                  <a:srgbClr val="000066"/>
                </a:solidFill>
                <a:latin typeface="Times New Roman" panose="02020603050405020304" charset="0"/>
                <a:ea typeface="楷体" panose="02010609060101010101" charset="-122"/>
                <a:cs typeface="Times New Roman" panose="02020603050405020304" charset="0"/>
              </a:rPr>
              <a:t>ROM</a:t>
            </a:r>
            <a:r>
              <a:rPr lang="zh-CN" sz="2000" b="1">
                <a:solidFill>
                  <a:srgbClr val="000066"/>
                </a:solidFill>
                <a:latin typeface="Times New Roman" panose="02020603050405020304" charset="0"/>
                <a:ea typeface="楷体" panose="02010609060101010101" charset="-122"/>
                <a:cs typeface="Times New Roman" panose="02020603050405020304" charset="0"/>
              </a:rPr>
              <a:t>可以用来实现组合逻辑函数。设计时，只需要将逻辑函数的输入作为地址，输出作为存储内容，将内容按地址写入</a:t>
            </a:r>
            <a:r>
              <a:rPr lang="en-US" sz="2000" b="1">
                <a:solidFill>
                  <a:srgbClr val="000066"/>
                </a:solidFill>
                <a:latin typeface="Times New Roman" panose="02020603050405020304" charset="0"/>
                <a:ea typeface="楷体" panose="02010609060101010101" charset="-122"/>
                <a:cs typeface="Times New Roman" panose="02020603050405020304" charset="0"/>
              </a:rPr>
              <a:t>ROM</a:t>
            </a:r>
            <a:r>
              <a:rPr lang="zh-CN" sz="2000" b="1">
                <a:solidFill>
                  <a:srgbClr val="000066"/>
                </a:solidFill>
                <a:latin typeface="Times New Roman" panose="02020603050405020304" charset="0"/>
                <a:ea typeface="楷体" panose="02010609060101010101" charset="-122"/>
                <a:cs typeface="Times New Roman" panose="02020603050405020304" charset="0"/>
              </a:rPr>
              <a:t>即可。</a:t>
            </a:r>
            <a:endParaRPr lang="zh-CN" altLang="en-US" sz="2000" b="1">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par>
                                <p:cTn id="13" presetID="22" presetClass="entr" presetSubtype="4"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down)">
                                      <p:cBhvr>
                                        <p:cTn id="15" dur="500"/>
                                        <p:tgtEl>
                                          <p:spTgt spid="12"/>
                                        </p:tgtEl>
                                      </p:cBhvr>
                                    </p:animEffect>
                                  </p:childTnLst>
                                </p:cTn>
                              </p:par>
                              <p:par>
                                <p:cTn id="16" presetID="22" presetClass="entr" presetSubtype="4"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down)">
                                      <p:cBhvr>
                                        <p:cTn id="18" dur="500"/>
                                        <p:tgtEl>
                                          <p:spTgt spid="10"/>
                                        </p:tgtEl>
                                      </p:cBhvr>
                                    </p:animEffect>
                                  </p:childTnLst>
                                </p:cTn>
                              </p:par>
                              <p:par>
                                <p:cTn id="19" presetID="22" presetClass="entr" presetSubtype="4"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down)">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blinds(horizontal)">
                                      <p:cBhvr>
                                        <p:cTn id="2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 name="文本框 85"/>
          <p:cNvSpPr txBox="1"/>
          <p:nvPr/>
        </p:nvSpPr>
        <p:spPr>
          <a:xfrm>
            <a:off x="0" y="5935980"/>
            <a:ext cx="9162000"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1" name="文本框 100"/>
          <p:cNvSpPr txBox="1"/>
          <p:nvPr/>
        </p:nvSpPr>
        <p:spPr>
          <a:xfrm>
            <a:off x="381000" y="1372235"/>
            <a:ext cx="8226425" cy="1568450"/>
          </a:xfrm>
          <a:prstGeom prst="rect">
            <a:avLst/>
          </a:prstGeom>
          <a:noFill/>
          <a:ln w="9525">
            <a:noFill/>
          </a:ln>
        </p:spPr>
        <p:txBody>
          <a:bodyPr wrap="square">
            <a:spAutoFit/>
          </a:bodyPr>
          <a:p>
            <a:pPr indent="266700"/>
            <a:r>
              <a:rPr lang="en-US" altLang="zh-CN" sz="2400" b="1">
                <a:solidFill>
                  <a:srgbClr val="000066"/>
                </a:solidFill>
                <a:effectLst/>
                <a:latin typeface="Times New Roman" panose="02020603050405020304" charset="0"/>
                <a:ea typeface="楷体" panose="02010609060101010101" charset="-122"/>
                <a:cs typeface="Times New Roman" panose="02020603050405020304" charset="0"/>
              </a:rPr>
              <a:t>  </a:t>
            </a:r>
            <a:r>
              <a:rPr lang="zh-CN" sz="2400" b="1">
                <a:solidFill>
                  <a:srgbClr val="000066"/>
                </a:solidFill>
                <a:effectLst/>
                <a:latin typeface="Times New Roman" panose="02020603050405020304" charset="0"/>
                <a:ea typeface="楷体" panose="02010609060101010101" charset="-122"/>
                <a:cs typeface="Times New Roman" panose="02020603050405020304" charset="0"/>
              </a:rPr>
              <a:t>存储器的存储容量用存储单元的个数来表示，等于“字数乘以位数”。地址位为</a:t>
            </a:r>
            <a:r>
              <a:rPr lang="en-US" sz="2400" b="1" i="1">
                <a:solidFill>
                  <a:srgbClr val="000066"/>
                </a:solidFill>
                <a:effectLst/>
                <a:latin typeface="Times New Roman" panose="02020603050405020304" charset="0"/>
                <a:ea typeface="楷体" panose="02010609060101010101" charset="-122"/>
                <a:cs typeface="Times New Roman" panose="02020603050405020304" charset="0"/>
              </a:rPr>
              <a:t>n</a:t>
            </a:r>
            <a:r>
              <a:rPr lang="zh-CN" sz="2400" b="1">
                <a:solidFill>
                  <a:srgbClr val="000066"/>
                </a:solidFill>
                <a:effectLst/>
                <a:latin typeface="Times New Roman" panose="02020603050405020304" charset="0"/>
                <a:ea typeface="楷体" panose="02010609060101010101" charset="-122"/>
                <a:cs typeface="Times New Roman" panose="02020603050405020304" charset="0"/>
              </a:rPr>
              <a:t>，则字数为</a:t>
            </a:r>
            <a:r>
              <a:rPr lang="en-US" sz="2400" b="1" i="1">
                <a:solidFill>
                  <a:srgbClr val="000066"/>
                </a:solidFill>
                <a:effectLst/>
                <a:latin typeface="Times New Roman" panose="02020603050405020304" charset="0"/>
                <a:ea typeface="楷体" panose="02010609060101010101" charset="-122"/>
                <a:cs typeface="Times New Roman" panose="02020603050405020304" charset="0"/>
              </a:rPr>
              <a:t>N</a:t>
            </a:r>
            <a:r>
              <a:rPr lang="en-US" sz="2400" b="1">
                <a:solidFill>
                  <a:srgbClr val="000066"/>
                </a:solidFill>
                <a:effectLst/>
                <a:latin typeface="Times New Roman" panose="02020603050405020304" charset="0"/>
                <a:ea typeface="楷体" panose="02010609060101010101" charset="-122"/>
                <a:cs typeface="Times New Roman" panose="02020603050405020304" charset="0"/>
              </a:rPr>
              <a:t>=2</a:t>
            </a:r>
            <a:r>
              <a:rPr lang="en-US" sz="2400" b="1" i="1" baseline="30000">
                <a:solidFill>
                  <a:srgbClr val="000066"/>
                </a:solidFill>
                <a:effectLst/>
                <a:latin typeface="Times New Roman" panose="02020603050405020304" charset="0"/>
                <a:ea typeface="楷体" panose="02010609060101010101" charset="-122"/>
                <a:cs typeface="Times New Roman" panose="02020603050405020304" charset="0"/>
              </a:rPr>
              <a:t>n</a:t>
            </a:r>
            <a:r>
              <a:rPr lang="zh-CN" sz="2400" b="1">
                <a:solidFill>
                  <a:srgbClr val="000066"/>
                </a:solidFill>
                <a:effectLst/>
                <a:latin typeface="Times New Roman" panose="02020603050405020304" charset="0"/>
                <a:ea typeface="楷体" panose="02010609060101010101" charset="-122"/>
                <a:cs typeface="Times New Roman" panose="02020603050405020304" charset="0"/>
              </a:rPr>
              <a:t>，每个字的字长</a:t>
            </a:r>
            <a:r>
              <a:rPr lang="en-US" sz="2400" b="1" i="1">
                <a:solidFill>
                  <a:srgbClr val="000066"/>
                </a:solidFill>
                <a:effectLst/>
                <a:latin typeface="Times New Roman" panose="02020603050405020304" charset="0"/>
                <a:ea typeface="楷体" panose="02010609060101010101" charset="-122"/>
                <a:cs typeface="Times New Roman" panose="02020603050405020304" charset="0"/>
              </a:rPr>
              <a:t>M</a:t>
            </a:r>
            <a:r>
              <a:rPr lang="zh-CN" sz="2400" b="1">
                <a:solidFill>
                  <a:srgbClr val="000066"/>
                </a:solidFill>
                <a:effectLst/>
                <a:latin typeface="Times New Roman" panose="02020603050405020304" charset="0"/>
                <a:ea typeface="楷体" panose="02010609060101010101" charset="-122"/>
                <a:cs typeface="Times New Roman" panose="02020603050405020304" charset="0"/>
              </a:rPr>
              <a:t>，所以存储容量为</a:t>
            </a:r>
            <a:r>
              <a:rPr lang="en-US" altLang="zh-CN" sz="2400" b="1">
                <a:solidFill>
                  <a:srgbClr val="000066"/>
                </a:solidFill>
                <a:effectLst/>
                <a:latin typeface="Times New Roman" panose="02020603050405020304" charset="0"/>
                <a:ea typeface="楷体" panose="02010609060101010101" charset="-122"/>
                <a:cs typeface="Times New Roman" panose="02020603050405020304" charset="0"/>
              </a:rPr>
              <a:t>	</a:t>
            </a:r>
            <a:r>
              <a:rPr lang="en-US" altLang="zh-CN" sz="2400" b="1" i="1">
                <a:solidFill>
                  <a:srgbClr val="000066"/>
                </a:solidFill>
                <a:effectLst/>
                <a:latin typeface="Times New Roman" panose="02020603050405020304" charset="0"/>
                <a:ea typeface="楷体" panose="02010609060101010101" charset="-122"/>
                <a:cs typeface="Times New Roman" panose="02020603050405020304" charset="0"/>
              </a:rPr>
              <a:t>N</a:t>
            </a:r>
            <a:r>
              <a:rPr lang="en-US" altLang="zh-CN" sz="2400" b="1">
                <a:solidFill>
                  <a:srgbClr val="000066"/>
                </a:solidFill>
                <a:effectLst/>
                <a:latin typeface="Times New Roman" panose="02020603050405020304" charset="0"/>
                <a:ea typeface="楷体" panose="02010609060101010101" charset="-122"/>
                <a:cs typeface="Times New Roman" panose="02020603050405020304" charset="0"/>
              </a:rPr>
              <a:t>×</a:t>
            </a:r>
            <a:r>
              <a:rPr lang="en-US" altLang="zh-CN" sz="2400" b="1" i="1">
                <a:solidFill>
                  <a:srgbClr val="000066"/>
                </a:solidFill>
                <a:effectLst/>
                <a:latin typeface="Times New Roman" panose="02020603050405020304" charset="0"/>
                <a:ea typeface="楷体" panose="02010609060101010101" charset="-122"/>
                <a:cs typeface="Times New Roman" panose="02020603050405020304" charset="0"/>
              </a:rPr>
              <a:t>M</a:t>
            </a:r>
            <a:r>
              <a:rPr lang="zh-CN" sz="2400" b="1">
                <a:solidFill>
                  <a:srgbClr val="000066"/>
                </a:solidFill>
                <a:effectLst/>
                <a:latin typeface="Times New Roman" panose="02020603050405020304" charset="0"/>
                <a:ea typeface="楷体" panose="02010609060101010101" charset="-122"/>
                <a:sym typeface="+mn-ea"/>
              </a:rPr>
              <a:t>位。</a:t>
            </a:r>
            <a:endParaRPr lang="zh-CN" altLang="en-US" sz="2400" b="1">
              <a:solidFill>
                <a:srgbClr val="000066"/>
              </a:solidFill>
              <a:effectLst/>
              <a:latin typeface="Times New Roman" panose="02020603050405020304" charset="0"/>
              <a:ea typeface="楷体" panose="02010609060101010101" charset="-122"/>
            </a:endParaRPr>
          </a:p>
          <a:p>
            <a:pPr indent="266700"/>
            <a:endParaRPr lang="en-US" altLang="zh-CN" sz="2400" b="1" i="1">
              <a:solidFill>
                <a:srgbClr val="000066"/>
              </a:solidFill>
              <a:effectLst/>
              <a:latin typeface="Times New Roman" panose="02020603050405020304" charset="0"/>
              <a:ea typeface="楷体" panose="02010609060101010101" charset="-122"/>
              <a:cs typeface="Times New Roman" panose="02020603050405020304" charset="0"/>
            </a:endParaRPr>
          </a:p>
        </p:txBody>
      </p:sp>
      <p:sp>
        <p:nvSpPr>
          <p:cNvPr id="102" name="文本框 101"/>
          <p:cNvSpPr txBox="1"/>
          <p:nvPr/>
        </p:nvSpPr>
        <p:spPr>
          <a:xfrm>
            <a:off x="152400" y="2667635"/>
            <a:ext cx="8584565" cy="1198880"/>
          </a:xfrm>
          <a:prstGeom prst="rect">
            <a:avLst/>
          </a:prstGeom>
          <a:noFill/>
          <a:ln w="9525">
            <a:noFill/>
          </a:ln>
        </p:spPr>
        <p:txBody>
          <a:bodyPr wrap="square">
            <a:spAutoFit/>
          </a:bodyPr>
          <a:p>
            <a:pPr indent="266700"/>
            <a:r>
              <a:rPr lang="en-US" altLang="zh-CN" sz="2400" b="1">
                <a:solidFill>
                  <a:srgbClr val="000066"/>
                </a:solidFill>
                <a:effectLst/>
                <a:latin typeface="Times New Roman" panose="02020603050405020304" charset="0"/>
                <a:ea typeface="楷体" panose="02010609060101010101" charset="-122"/>
                <a:cs typeface="Times New Roman" panose="02020603050405020304" charset="0"/>
              </a:rPr>
              <a:t>  </a:t>
            </a:r>
            <a:r>
              <a:rPr lang="zh-CN" sz="2400" b="1">
                <a:solidFill>
                  <a:srgbClr val="000066"/>
                </a:solidFill>
                <a:effectLst/>
                <a:latin typeface="Times New Roman" panose="02020603050405020304" charset="0"/>
                <a:ea typeface="楷体" panose="02010609060101010101" charset="-122"/>
                <a:cs typeface="Times New Roman" panose="02020603050405020304" charset="0"/>
              </a:rPr>
              <a:t>如图所示存储器，字数为</a:t>
            </a:r>
            <a:r>
              <a:rPr lang="en-US" sz="2400" b="1">
                <a:solidFill>
                  <a:srgbClr val="000066"/>
                </a:solidFill>
                <a:effectLst/>
                <a:latin typeface="Times New Roman" panose="02020603050405020304" charset="0"/>
                <a:ea typeface="楷体" panose="02010609060101010101" charset="-122"/>
                <a:cs typeface="Times New Roman" panose="02020603050405020304" charset="0"/>
              </a:rPr>
              <a:t>4</a:t>
            </a:r>
            <a:r>
              <a:rPr lang="zh-CN" sz="2400" b="1">
                <a:solidFill>
                  <a:srgbClr val="000066"/>
                </a:solidFill>
                <a:effectLst/>
                <a:latin typeface="Times New Roman" panose="02020603050405020304" charset="0"/>
                <a:ea typeface="楷体" panose="02010609060101010101" charset="-122"/>
                <a:cs typeface="Times New Roman" panose="02020603050405020304" charset="0"/>
              </a:rPr>
              <a:t>，位数为</a:t>
            </a:r>
            <a:r>
              <a:rPr lang="en-US" sz="2400" b="1">
                <a:solidFill>
                  <a:srgbClr val="000066"/>
                </a:solidFill>
                <a:effectLst/>
                <a:latin typeface="Times New Roman" panose="02020603050405020304" charset="0"/>
                <a:ea typeface="楷体" panose="02010609060101010101" charset="-122"/>
                <a:cs typeface="Times New Roman" panose="02020603050405020304" charset="0"/>
              </a:rPr>
              <a:t>4</a:t>
            </a:r>
            <a:r>
              <a:rPr lang="zh-CN" sz="2400" b="1">
                <a:solidFill>
                  <a:srgbClr val="000066"/>
                </a:solidFill>
                <a:effectLst/>
                <a:latin typeface="Times New Roman" panose="02020603050405020304" charset="0"/>
                <a:ea typeface="楷体" panose="02010609060101010101" charset="-122"/>
                <a:cs typeface="Times New Roman" panose="02020603050405020304" charset="0"/>
              </a:rPr>
              <a:t>，所以存储容量等于</a:t>
            </a:r>
            <a:r>
              <a:rPr lang="en-US" sz="2400" b="1">
                <a:solidFill>
                  <a:srgbClr val="000066"/>
                </a:solidFill>
                <a:effectLst/>
                <a:latin typeface="Times New Roman" panose="02020603050405020304" charset="0"/>
                <a:ea typeface="楷体" panose="02010609060101010101" charset="-122"/>
                <a:cs typeface="Times New Roman" panose="02020603050405020304" charset="0"/>
              </a:rPr>
              <a:t>16</a:t>
            </a:r>
            <a:r>
              <a:rPr lang="zh-CN" sz="2400" b="1">
                <a:solidFill>
                  <a:srgbClr val="000066"/>
                </a:solidFill>
                <a:effectLst/>
                <a:latin typeface="Times New Roman" panose="02020603050405020304" charset="0"/>
                <a:ea typeface="楷体" panose="02010609060101010101" charset="-122"/>
                <a:cs typeface="Times New Roman" panose="02020603050405020304" charset="0"/>
              </a:rPr>
              <a:t>位。存储容量习惯上用</a:t>
            </a:r>
            <a:r>
              <a:rPr lang="en-US" sz="2400" b="1">
                <a:solidFill>
                  <a:srgbClr val="000066"/>
                </a:solidFill>
                <a:effectLst/>
                <a:latin typeface="Times New Roman" panose="02020603050405020304" charset="0"/>
                <a:ea typeface="楷体" panose="02010609060101010101" charset="-122"/>
                <a:cs typeface="Times New Roman" panose="02020603050405020304" charset="0"/>
              </a:rPr>
              <a:t>K(</a:t>
            </a:r>
            <a:r>
              <a:rPr lang="en-US" sz="2400" b="1">
                <a:solidFill>
                  <a:srgbClr val="000066"/>
                </a:solidFill>
                <a:effectLst/>
                <a:latin typeface="Times New Roman" panose="02020603050405020304" charset="0"/>
                <a:ea typeface="楷体" panose="02010609060101010101" charset="-122"/>
                <a:cs typeface="Times New Roman" panose="02020603050405020304" charset="0"/>
                <a:hlinkClick r:id=""/>
              </a:rPr>
              <a:t>1K</a:t>
            </a:r>
            <a:r>
              <a:rPr lang="en-US" sz="2400" b="1">
                <a:solidFill>
                  <a:srgbClr val="000066"/>
                </a:solidFill>
                <a:effectLst/>
                <a:latin typeface="Times New Roman" panose="02020603050405020304" charset="0"/>
                <a:ea typeface="楷体" panose="02010609060101010101" charset="-122"/>
                <a:cs typeface="Times New Roman" panose="02020603050405020304" charset="0"/>
              </a:rPr>
              <a:t>=1024)</a:t>
            </a:r>
            <a:r>
              <a:rPr lang="zh-CN" sz="2400" b="1">
                <a:solidFill>
                  <a:srgbClr val="000066"/>
                </a:solidFill>
                <a:effectLst/>
                <a:latin typeface="Times New Roman" panose="02020603050405020304" charset="0"/>
                <a:ea typeface="楷体" panose="02010609060101010101" charset="-122"/>
                <a:cs typeface="Times New Roman" panose="02020603050405020304" charset="0"/>
              </a:rPr>
              <a:t>为单位来表示，比如</a:t>
            </a:r>
            <a:r>
              <a:rPr lang="en-US" sz="2400" b="1">
                <a:solidFill>
                  <a:srgbClr val="000066"/>
                </a:solidFill>
                <a:effectLst/>
                <a:latin typeface="Times New Roman" panose="02020603050405020304" charset="0"/>
                <a:ea typeface="楷体" panose="02010609060101010101" charset="-122"/>
                <a:cs typeface="Times New Roman" panose="02020603050405020304" charset="0"/>
              </a:rPr>
              <a:t>1K×8</a:t>
            </a:r>
            <a:r>
              <a:rPr lang="zh-CN" sz="2400" b="1">
                <a:solidFill>
                  <a:srgbClr val="000066"/>
                </a:solidFill>
                <a:effectLst/>
                <a:latin typeface="Times New Roman" panose="02020603050405020304" charset="0"/>
                <a:ea typeface="楷体" panose="02010609060101010101" charset="-122"/>
                <a:cs typeface="Times New Roman" panose="02020603050405020304" charset="0"/>
              </a:rPr>
              <a:t>位的存储器，存储容量为</a:t>
            </a:r>
            <a:r>
              <a:rPr lang="en-US" altLang="zh-CN" sz="2400" b="1">
                <a:solidFill>
                  <a:srgbClr val="000066"/>
                </a:solidFill>
                <a:effectLst/>
                <a:latin typeface="Times New Roman" panose="02020603050405020304" charset="0"/>
                <a:ea typeface="楷体" panose="02010609060101010101" charset="-122"/>
                <a:cs typeface="Times New Roman" panose="02020603050405020304" charset="0"/>
              </a:rPr>
              <a:t>1024</a:t>
            </a:r>
            <a:r>
              <a:rPr lang="en-US" altLang="zh-CN" sz="2400" b="1">
                <a:solidFill>
                  <a:srgbClr val="000066"/>
                </a:solidFill>
                <a:effectLst/>
                <a:latin typeface="Times New Roman" panose="02020603050405020304" charset="0"/>
                <a:ea typeface="楷体" panose="02010609060101010101" charset="-122"/>
                <a:cs typeface="Times New Roman" panose="02020603050405020304" charset="0"/>
                <a:sym typeface="+mn-ea"/>
              </a:rPr>
              <a:t>×8</a:t>
            </a:r>
            <a:r>
              <a:rPr lang="zh-CN" altLang="en-US" sz="2400" b="1">
                <a:solidFill>
                  <a:srgbClr val="000066"/>
                </a:solidFill>
                <a:effectLst/>
                <a:latin typeface="Times New Roman" panose="02020603050405020304" charset="0"/>
                <a:ea typeface="楷体" panose="02010609060101010101" charset="-122"/>
                <a:cs typeface="Times New Roman" panose="02020603050405020304" charset="0"/>
                <a:sym typeface="+mn-ea"/>
              </a:rPr>
              <a:t>位。</a:t>
            </a:r>
            <a:endParaRPr lang="zh-CN" altLang="en-US" sz="2400" b="1">
              <a:solidFill>
                <a:srgbClr val="000066"/>
              </a:solidFill>
              <a:effectLst/>
              <a:latin typeface="Times New Roman" panose="02020603050405020304" charset="0"/>
              <a:ea typeface="楷体" panose="02010609060101010101" charset="-122"/>
              <a:cs typeface="Times New Roman" panose="02020603050405020304" charset="0"/>
              <a:sym typeface="+mn-ea"/>
            </a:endParaRPr>
          </a:p>
        </p:txBody>
      </p:sp>
      <p:pic>
        <p:nvPicPr>
          <p:cNvPr id="17" name="图片 16"/>
          <p:cNvPicPr>
            <a:picLocks noChangeAspect="1"/>
          </p:cNvPicPr>
          <p:nvPr/>
        </p:nvPicPr>
        <p:blipFill>
          <a:blip r:embed="rId1"/>
          <a:stretch>
            <a:fillRect/>
          </a:stretch>
        </p:blipFill>
        <p:spPr>
          <a:xfrm>
            <a:off x="2667000" y="3963035"/>
            <a:ext cx="2964180" cy="26866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wipe(down)">
                                      <p:cBhvr>
                                        <p:cTn id="7" dur="5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blinds(horizontal)">
                                      <p:cBhvr>
                                        <p:cTn id="12" dur="500"/>
                                        <p:tgtEl>
                                          <p:spTgt spid="10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linds(horizontal)">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1" grpId="1"/>
      <p:bldP spid="102" grpId="0"/>
      <p:bldP spid="102"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 name="文本框 85"/>
          <p:cNvSpPr txBox="1"/>
          <p:nvPr/>
        </p:nvSpPr>
        <p:spPr>
          <a:xfrm>
            <a:off x="0" y="5944235"/>
            <a:ext cx="9162000"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7" name="Rectangle 3"/>
          <p:cNvSpPr>
            <a:spLocks noGrp="1"/>
          </p:cNvSpPr>
          <p:nvPr/>
        </p:nvSpPr>
        <p:spPr>
          <a:xfrm>
            <a:off x="609600" y="1040765"/>
            <a:ext cx="482092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rPr>
              <a:t>      </a:t>
            </a:r>
            <a:r>
              <a:rPr 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3.</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可编程</a:t>
            </a:r>
            <a:r>
              <a:rPr 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ROM</a:t>
            </a:r>
            <a:endPar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endParaRPr>
          </a:p>
        </p:txBody>
      </p:sp>
      <p:sp>
        <p:nvSpPr>
          <p:cNvPr id="103" name="文本框 102"/>
          <p:cNvSpPr txBox="1"/>
          <p:nvPr/>
        </p:nvSpPr>
        <p:spPr>
          <a:xfrm>
            <a:off x="177165" y="1524635"/>
            <a:ext cx="8795385" cy="1198880"/>
          </a:xfrm>
          <a:prstGeom prst="rect">
            <a:avLst/>
          </a:prstGeom>
          <a:noFill/>
          <a:ln w="9525">
            <a:noFill/>
          </a:ln>
        </p:spPr>
        <p:txBody>
          <a:bodyPr wrap="square">
            <a:spAutoFit/>
          </a:bodyPr>
          <a:p>
            <a:r>
              <a:rPr lang="en-US" sz="2400" b="1">
                <a:solidFill>
                  <a:srgbClr val="000066"/>
                </a:solidFill>
                <a:latin typeface="Times New Roman" panose="02020603050405020304" charset="0"/>
                <a:ea typeface="楷体" panose="02010609060101010101" charset="-122"/>
                <a:cs typeface="Times New Roman" panose="02020603050405020304" charset="0"/>
              </a:rPr>
              <a:t>       PROM</a:t>
            </a:r>
            <a:r>
              <a:rPr lang="zh-CN" sz="2400" b="1">
                <a:solidFill>
                  <a:srgbClr val="000066"/>
                </a:solidFill>
                <a:latin typeface="Times New Roman" panose="02020603050405020304" charset="0"/>
                <a:ea typeface="楷体" panose="02010609060101010101" charset="-122"/>
                <a:cs typeface="Times New Roman" panose="02020603050405020304" charset="0"/>
              </a:rPr>
              <a:t>的总体结构与掩膜</a:t>
            </a:r>
            <a:r>
              <a:rPr lang="en-US" sz="2400" b="1">
                <a:solidFill>
                  <a:srgbClr val="000066"/>
                </a:solidFill>
                <a:latin typeface="Times New Roman" panose="02020603050405020304" charset="0"/>
                <a:ea typeface="楷体" panose="02010609060101010101" charset="-122"/>
                <a:cs typeface="Times New Roman" panose="02020603050405020304" charset="0"/>
              </a:rPr>
              <a:t>ROM</a:t>
            </a:r>
            <a:r>
              <a:rPr lang="zh-CN" sz="2400" b="1">
                <a:solidFill>
                  <a:srgbClr val="000066"/>
                </a:solidFill>
                <a:latin typeface="Times New Roman" panose="02020603050405020304" charset="0"/>
                <a:ea typeface="楷体" panose="02010609060101010101" charset="-122"/>
                <a:cs typeface="Times New Roman" panose="02020603050405020304" charset="0"/>
              </a:rPr>
              <a:t>相同，可编程</a:t>
            </a:r>
            <a:r>
              <a:rPr lang="en-US" sz="2400" b="1">
                <a:solidFill>
                  <a:srgbClr val="000066"/>
                </a:solidFill>
                <a:latin typeface="Times New Roman" panose="02020603050405020304" charset="0"/>
                <a:ea typeface="楷体" panose="02010609060101010101" charset="-122"/>
                <a:cs typeface="Times New Roman" panose="02020603050405020304" charset="0"/>
              </a:rPr>
              <a:t>ROM</a:t>
            </a:r>
            <a:r>
              <a:rPr lang="zh-CN" sz="2400" b="1">
                <a:solidFill>
                  <a:srgbClr val="000066"/>
                </a:solidFill>
                <a:latin typeface="Times New Roman" panose="02020603050405020304" charset="0"/>
                <a:ea typeface="楷体" panose="02010609060101010101" charset="-122"/>
                <a:cs typeface="Times New Roman" panose="02020603050405020304" charset="0"/>
              </a:rPr>
              <a:t>在出厂时，存储内容全为</a:t>
            </a:r>
            <a:r>
              <a:rPr lang="en-US" sz="2400" b="1">
                <a:solidFill>
                  <a:srgbClr val="000066"/>
                </a:solidFill>
                <a:latin typeface="Times New Roman" panose="02020603050405020304" charset="0"/>
                <a:ea typeface="楷体" panose="02010609060101010101" charset="-122"/>
                <a:cs typeface="Times New Roman" panose="02020603050405020304" charset="0"/>
              </a:rPr>
              <a:t>1</a:t>
            </a:r>
            <a:r>
              <a:rPr lang="zh-CN" sz="2400" b="1">
                <a:solidFill>
                  <a:srgbClr val="000066"/>
                </a:solidFill>
                <a:latin typeface="Times New Roman" panose="02020603050405020304" charset="0"/>
                <a:ea typeface="楷体" panose="02010609060101010101" charset="-122"/>
                <a:cs typeface="Times New Roman" panose="02020603050405020304" charset="0"/>
              </a:rPr>
              <a:t>或全为</a:t>
            </a:r>
            <a:r>
              <a:rPr lang="en-US" sz="2400" b="1">
                <a:solidFill>
                  <a:srgbClr val="000066"/>
                </a:solidFill>
                <a:latin typeface="Times New Roman" panose="02020603050405020304" charset="0"/>
                <a:ea typeface="楷体" panose="02010609060101010101" charset="-122"/>
                <a:cs typeface="Times New Roman" panose="02020603050405020304" charset="0"/>
              </a:rPr>
              <a:t>0</a:t>
            </a:r>
            <a:r>
              <a:rPr lang="zh-CN" sz="2400" b="1">
                <a:solidFill>
                  <a:srgbClr val="000066"/>
                </a:solidFill>
                <a:latin typeface="Times New Roman" panose="02020603050405020304" charset="0"/>
                <a:ea typeface="楷体" panose="02010609060101010101" charset="-122"/>
                <a:cs typeface="Times New Roman" panose="02020603050405020304" charset="0"/>
              </a:rPr>
              <a:t>，用户根据自己的需要进行编程，但只能写入一次，一旦写入则不能再修改。</a:t>
            </a:r>
            <a:endParaRPr lang="zh-CN" altLang="en-US" sz="24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4" name="文本框 3"/>
          <p:cNvSpPr txBox="1"/>
          <p:nvPr/>
        </p:nvSpPr>
        <p:spPr>
          <a:xfrm>
            <a:off x="177165" y="2667635"/>
            <a:ext cx="8735695" cy="829945"/>
          </a:xfrm>
          <a:prstGeom prst="rect">
            <a:avLst/>
          </a:prstGeom>
          <a:noFill/>
          <a:ln w="9525">
            <a:noFill/>
          </a:ln>
        </p:spPr>
        <p:txBody>
          <a:bodyPr wrap="square">
            <a:spAutoFit/>
          </a:bodyPr>
          <a:p>
            <a:pPr>
              <a:buClrTx/>
              <a:buSzTx/>
              <a:buFontTx/>
            </a:pPr>
            <a:r>
              <a:rPr lang="en-US" sz="2400" b="1">
                <a:solidFill>
                  <a:srgbClr val="000066"/>
                </a:solidFill>
                <a:latin typeface="Times New Roman" panose="02020603050405020304" charset="0"/>
                <a:ea typeface="楷体" panose="02010609060101010101" charset="-122"/>
                <a:cs typeface="Times New Roman" panose="02020603050405020304" charset="0"/>
                <a:sym typeface="+mn-ea"/>
              </a:rPr>
              <a:t>     </a:t>
            </a:r>
            <a:r>
              <a:rPr lang="en-US" sz="2400" b="1">
                <a:solidFill>
                  <a:srgbClr val="000066"/>
                </a:solidFill>
                <a:latin typeface="Times New Roman" panose="02020603050405020304" charset="0"/>
                <a:ea typeface="楷体" panose="02010609060101010101" charset="-122"/>
                <a:cs typeface="Times New Roman" panose="02020603050405020304" charset="0"/>
                <a:sym typeface="+mn-ea"/>
              </a:rPr>
              <a:t>存储元件通常有两种电路形式：</a:t>
            </a:r>
            <a:r>
              <a:rPr lang="en-US" sz="2400" b="1">
                <a:solidFill>
                  <a:srgbClr val="000066"/>
                </a:solidFill>
                <a:latin typeface="Times New Roman" panose="02020603050405020304" charset="0"/>
                <a:ea typeface="楷体" panose="02010609060101010101" charset="-122"/>
                <a:cs typeface="Times New Roman" panose="02020603050405020304" charset="0"/>
                <a:sym typeface="+mn-ea"/>
              </a:rPr>
              <a:t> 一种是熔丝型电路；另一种是结破坏型电路。</a:t>
            </a:r>
            <a:endParaRPr lang="en-US" sz="2400" b="1">
              <a:solidFill>
                <a:srgbClr val="000066"/>
              </a:solidFill>
              <a:latin typeface="Times New Roman" panose="02020603050405020304" charset="0"/>
              <a:ea typeface="楷体" panose="02010609060101010101" charset="-122"/>
              <a:cs typeface="Times New Roman" panose="02020603050405020304" charset="0"/>
              <a:sym typeface="+mn-ea"/>
            </a:endParaRPr>
          </a:p>
        </p:txBody>
      </p:sp>
      <p:sp>
        <p:nvSpPr>
          <p:cNvPr id="5" name="文本框 4"/>
          <p:cNvSpPr txBox="1"/>
          <p:nvPr/>
        </p:nvSpPr>
        <p:spPr>
          <a:xfrm>
            <a:off x="177165" y="3886200"/>
            <a:ext cx="8966835" cy="1198880"/>
          </a:xfrm>
          <a:prstGeom prst="rect">
            <a:avLst/>
          </a:prstGeom>
          <a:noFill/>
          <a:ln w="9525">
            <a:noFill/>
          </a:ln>
        </p:spPr>
        <p:txBody>
          <a:bodyPr wrap="square">
            <a:spAutoFit/>
          </a:bodyPr>
          <a:p>
            <a:pPr lvl="0" algn="l">
              <a:buClrTx/>
              <a:buSzTx/>
              <a:buFontTx/>
            </a:pPr>
            <a:r>
              <a:rPr lang="en-US" sz="2400" b="1">
                <a:solidFill>
                  <a:srgbClr val="000066"/>
                </a:solidFill>
                <a:latin typeface="Times New Roman" panose="02020603050405020304" charset="0"/>
                <a:ea typeface="楷体" panose="02010609060101010101" charset="-122"/>
                <a:cs typeface="Times New Roman" panose="02020603050405020304" charset="0"/>
                <a:sym typeface="+mn-ea"/>
              </a:rPr>
              <a:t>熔丝型</a:t>
            </a:r>
            <a:r>
              <a:rPr lang="en-US" sz="2400" b="1">
                <a:solidFill>
                  <a:srgbClr val="000066"/>
                </a:solidFill>
                <a:latin typeface="Times New Roman" panose="02020603050405020304" charset="0"/>
                <a:ea typeface="楷体" panose="02010609060101010101" charset="-122"/>
                <a:cs typeface="Times New Roman" panose="02020603050405020304" charset="0"/>
                <a:sym typeface="+mn-ea"/>
              </a:rPr>
              <a:t>PROM</a:t>
            </a:r>
            <a:r>
              <a:rPr lang="en-US" sz="2400" b="1">
                <a:solidFill>
                  <a:srgbClr val="000066"/>
                </a:solidFill>
                <a:latin typeface="Times New Roman" panose="02020603050405020304" charset="0"/>
                <a:ea typeface="楷体" panose="02010609060101010101" charset="-122"/>
                <a:cs typeface="Times New Roman" panose="02020603050405020304" charset="0"/>
                <a:sym typeface="+mn-ea"/>
              </a:rPr>
              <a:t>出厂之前每个存储单元的字线和位线交叉处有一根熔丝，</a:t>
            </a:r>
            <a:r>
              <a:rPr lang="en-US" sz="2400" b="1">
                <a:solidFill>
                  <a:srgbClr val="000066"/>
                </a:solidFill>
                <a:latin typeface="Times New Roman" panose="02020603050405020304" charset="0"/>
                <a:ea typeface="楷体" panose="02010609060101010101" charset="-122"/>
                <a:cs typeface="Times New Roman" panose="02020603050405020304" charset="0"/>
                <a:sym typeface="+mn-ea"/>
              </a:rPr>
              <a:t>熔丝是连通的，即存储单元为1，如欲使某些单元改写为0，只要通过编程，给这些单元通以足够大的电流将熔丝烧断即可。</a:t>
            </a:r>
            <a:endParaRPr lang="en-US" sz="2400" b="1">
              <a:solidFill>
                <a:srgbClr val="000066"/>
              </a:solidFill>
              <a:latin typeface="Times New Roman" panose="02020603050405020304" charset="0"/>
              <a:ea typeface="楷体" panose="02010609060101010101" charset="-122"/>
              <a:cs typeface="Times New Roman" panose="02020603050405020304" charset="0"/>
              <a:sym typeface="+mn-ea"/>
            </a:endParaRPr>
          </a:p>
        </p:txBody>
      </p:sp>
      <p:sp>
        <p:nvSpPr>
          <p:cNvPr id="6" name="文本框 5"/>
          <p:cNvSpPr txBox="1"/>
          <p:nvPr/>
        </p:nvSpPr>
        <p:spPr>
          <a:xfrm>
            <a:off x="304800" y="3471545"/>
            <a:ext cx="2463800" cy="460375"/>
          </a:xfrm>
          <a:prstGeom prst="rect">
            <a:avLst/>
          </a:prstGeom>
          <a:noFill/>
        </p:spPr>
        <p:txBody>
          <a:bodyPr wrap="none" rtlCol="0" anchor="t">
            <a:spAutoFit/>
          </a:bodyPr>
          <a:p>
            <a:r>
              <a:rPr lang="en-US" sz="2400" b="1">
                <a:solidFill>
                  <a:srgbClr val="1318F3"/>
                </a:solidFill>
                <a:latin typeface="Times New Roman" panose="02020603050405020304" charset="0"/>
                <a:ea typeface="楷体" panose="02010609060101010101" charset="-122"/>
                <a:cs typeface="Times New Roman" panose="02020603050405020304" charset="0"/>
                <a:sym typeface="+mn-ea"/>
              </a:rPr>
              <a:t>(1) 熔丝型PROM</a:t>
            </a:r>
            <a:endParaRPr lang="en-US" altLang="en-US" sz="2400" b="1">
              <a:solidFill>
                <a:srgbClr val="1318F3"/>
              </a:solidFill>
              <a:latin typeface="Times New Roman" panose="02020603050405020304" charset="0"/>
              <a:ea typeface="楷体" panose="02010609060101010101" charset="-122"/>
              <a:cs typeface="Times New Roman" panose="02020603050405020304" charset="0"/>
              <a:sym typeface="+mn-ea"/>
            </a:endParaRPr>
          </a:p>
        </p:txBody>
      </p:sp>
      <p:pic>
        <p:nvPicPr>
          <p:cNvPr id="7" name="图片 6"/>
          <p:cNvPicPr>
            <a:picLocks noChangeAspect="1"/>
          </p:cNvPicPr>
          <p:nvPr/>
        </p:nvPicPr>
        <p:blipFill>
          <a:blip r:embed="rId1"/>
          <a:stretch>
            <a:fillRect/>
          </a:stretch>
        </p:blipFill>
        <p:spPr>
          <a:xfrm>
            <a:off x="2482850" y="5048885"/>
            <a:ext cx="3792220" cy="16376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wipe(down)">
                                      <p:cBhvr>
                                        <p:cTn id="7" dur="500"/>
                                        <p:tgtEl>
                                          <p:spTgt spid="10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p:bldP spid="103" grpId="1"/>
      <p:bldP spid="4" grpId="0"/>
      <p:bldP spid="4" grpId="1"/>
      <p:bldP spid="6" grpId="0"/>
      <p:bldP spid="5" grpId="0"/>
      <p:bldP spid="6" grpId="1"/>
      <p:bldP spid="5"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 name="文本框 85"/>
          <p:cNvSpPr txBox="1"/>
          <p:nvPr/>
        </p:nvSpPr>
        <p:spPr>
          <a:xfrm>
            <a:off x="0" y="5944235"/>
            <a:ext cx="9162000"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5" name="文本框 4"/>
          <p:cNvSpPr txBox="1"/>
          <p:nvPr/>
        </p:nvSpPr>
        <p:spPr>
          <a:xfrm>
            <a:off x="177165" y="1828800"/>
            <a:ext cx="8966835" cy="1938020"/>
          </a:xfrm>
          <a:prstGeom prst="rect">
            <a:avLst/>
          </a:prstGeom>
          <a:noFill/>
          <a:ln w="9525">
            <a:noFill/>
          </a:ln>
        </p:spPr>
        <p:txBody>
          <a:bodyPr wrap="square">
            <a:spAutoFit/>
          </a:bodyPr>
          <a:p>
            <a:pPr lvl="0" algn="l">
              <a:buClrTx/>
              <a:buSzTx/>
              <a:buFontTx/>
            </a:pPr>
            <a:r>
              <a:rPr lang="en-US" sz="2400" b="1">
                <a:solidFill>
                  <a:srgbClr val="000066"/>
                </a:solidFill>
                <a:latin typeface="Times New Roman" panose="02020603050405020304" charset="0"/>
                <a:ea typeface="楷体" panose="02010609060101010101" charset="-122"/>
                <a:cs typeface="Times New Roman" panose="02020603050405020304" charset="0"/>
                <a:sym typeface="+mn-ea"/>
              </a:rPr>
              <a:t>       结破坏型PROM的字线和位线交叉处由两个相对的肖特基二极管串联而成，正常工作时，二极管不导通，字线和位线断开，相当于存储了数据0，如图(a)所示。若要将该单元改写，可使用一大电流使D</a:t>
            </a:r>
            <a:r>
              <a:rPr lang="en-US" sz="2400" b="1" baseline="-25000">
                <a:solidFill>
                  <a:srgbClr val="000066"/>
                </a:solidFill>
                <a:latin typeface="Times New Roman" panose="02020603050405020304" charset="0"/>
                <a:ea typeface="楷体" panose="02010609060101010101" charset="-122"/>
                <a:cs typeface="Times New Roman" panose="02020603050405020304" charset="0"/>
                <a:sym typeface="+mn-ea"/>
              </a:rPr>
              <a:t>2</a:t>
            </a:r>
            <a:r>
              <a:rPr lang="en-US" sz="2400" b="1">
                <a:solidFill>
                  <a:srgbClr val="000066"/>
                </a:solidFill>
                <a:latin typeface="Times New Roman" panose="02020603050405020304" charset="0"/>
                <a:ea typeface="楷体" panose="02010609060101010101" charset="-122"/>
                <a:cs typeface="Times New Roman" panose="02020603050405020304" charset="0"/>
                <a:sym typeface="+mn-ea"/>
              </a:rPr>
              <a:t>击穿短路，则该电路上只剩下一个正向的二极管D</a:t>
            </a:r>
            <a:r>
              <a:rPr lang="en-US" sz="2400" b="1" baseline="-25000">
                <a:solidFill>
                  <a:srgbClr val="000066"/>
                </a:solidFill>
                <a:latin typeface="Times New Roman" panose="02020603050405020304" charset="0"/>
                <a:ea typeface="楷体" panose="02010609060101010101" charset="-122"/>
                <a:cs typeface="Times New Roman" panose="02020603050405020304" charset="0"/>
                <a:sym typeface="+mn-ea"/>
              </a:rPr>
              <a:t>1</a:t>
            </a:r>
            <a:r>
              <a:rPr lang="en-US" sz="2400" b="1">
                <a:solidFill>
                  <a:srgbClr val="000066"/>
                </a:solidFill>
                <a:latin typeface="Times New Roman" panose="02020603050405020304" charset="0"/>
                <a:ea typeface="楷体" panose="02010609060101010101" charset="-122"/>
                <a:cs typeface="Times New Roman" panose="02020603050405020304" charset="0"/>
                <a:sym typeface="+mn-ea"/>
              </a:rPr>
              <a:t>，则该存储单元变成了数据1，如图(b)所示。</a:t>
            </a:r>
            <a:endParaRPr lang="en-US" sz="2400" b="1">
              <a:solidFill>
                <a:srgbClr val="000066"/>
              </a:solidFill>
              <a:latin typeface="Times New Roman" panose="02020603050405020304" charset="0"/>
              <a:ea typeface="楷体" panose="02010609060101010101" charset="-122"/>
              <a:cs typeface="Times New Roman" panose="02020603050405020304" charset="0"/>
              <a:sym typeface="+mn-ea"/>
            </a:endParaRPr>
          </a:p>
        </p:txBody>
      </p:sp>
      <p:sp>
        <p:nvSpPr>
          <p:cNvPr id="6" name="文本框 5"/>
          <p:cNvSpPr txBox="1"/>
          <p:nvPr/>
        </p:nvSpPr>
        <p:spPr>
          <a:xfrm>
            <a:off x="304800" y="1414145"/>
            <a:ext cx="2693670" cy="460375"/>
          </a:xfrm>
          <a:prstGeom prst="rect">
            <a:avLst/>
          </a:prstGeom>
          <a:noFill/>
        </p:spPr>
        <p:txBody>
          <a:bodyPr wrap="none" rtlCol="0" anchor="t">
            <a:spAutoFit/>
          </a:bodyPr>
          <a:p>
            <a:pPr algn="l"/>
            <a:r>
              <a:rPr lang="en-US" sz="2400" b="1">
                <a:solidFill>
                  <a:srgbClr val="1318F3"/>
                </a:solidFill>
                <a:latin typeface="Times New Roman" panose="02020603050405020304" charset="0"/>
                <a:ea typeface="楷体" panose="02010609060101010101" charset="-122"/>
                <a:cs typeface="Times New Roman" panose="02020603050405020304" charset="0"/>
                <a:sym typeface="+mn-ea"/>
              </a:rPr>
              <a:t>(2)</a:t>
            </a:r>
            <a:r>
              <a:rPr lang="en-US" sz="2400" b="1">
                <a:solidFill>
                  <a:srgbClr val="1318F3"/>
                </a:solidFill>
                <a:latin typeface="Times New Roman" panose="02020603050405020304" charset="0"/>
                <a:ea typeface="楷体" panose="02010609060101010101" charset="-122"/>
                <a:cs typeface="Times New Roman" panose="02020603050405020304" charset="0"/>
                <a:sym typeface="+mn-ea"/>
              </a:rPr>
              <a:t>结破坏型PROM</a:t>
            </a:r>
            <a:endParaRPr lang="en-US" altLang="en-US" sz="2400" b="1">
              <a:solidFill>
                <a:srgbClr val="1318F3"/>
              </a:solidFill>
              <a:latin typeface="Times New Roman" panose="02020603050405020304" charset="0"/>
              <a:ea typeface="楷体" panose="02010609060101010101" charset="-122"/>
              <a:cs typeface="Times New Roman" panose="02020603050405020304" charset="0"/>
              <a:sym typeface="+mn-ea"/>
            </a:endParaRPr>
          </a:p>
        </p:txBody>
      </p:sp>
      <p:pic>
        <p:nvPicPr>
          <p:cNvPr id="2" name="图片 1"/>
          <p:cNvPicPr>
            <a:picLocks noChangeAspect="1"/>
          </p:cNvPicPr>
          <p:nvPr/>
        </p:nvPicPr>
        <p:blipFill>
          <a:blip r:embed="rId1"/>
          <a:stretch>
            <a:fillRect/>
          </a:stretch>
        </p:blipFill>
        <p:spPr>
          <a:xfrm>
            <a:off x="1981200" y="4039235"/>
            <a:ext cx="5142865" cy="23044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7" name="Rectangle 3"/>
          <p:cNvSpPr>
            <a:spLocks noGrp="1"/>
          </p:cNvSpPr>
          <p:nvPr/>
        </p:nvSpPr>
        <p:spPr>
          <a:xfrm>
            <a:off x="381000" y="1296035"/>
            <a:ext cx="482092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rPr>
              <a:t>      </a:t>
            </a:r>
            <a:r>
              <a:rPr 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4.</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可擦除</a:t>
            </a:r>
            <a:r>
              <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的可编程</a:t>
            </a:r>
            <a:r>
              <a:rPr 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rPr>
              <a:t>ROM</a:t>
            </a:r>
            <a:endParaRPr lang="zh-CN" altLang="en-US" sz="2400" b="1" dirty="0">
              <a:solidFill>
                <a:schemeClr val="accent2">
                  <a:lumMod val="40000"/>
                  <a:lumOff val="60000"/>
                </a:schemeClr>
              </a:solidFill>
              <a:latin typeface="Times New Roman" panose="02020603050405020304" charset="0"/>
              <a:ea typeface="楷体" panose="02010609060101010101" charset="-122"/>
              <a:cs typeface="Times New Roman" panose="02020603050405020304" charset="0"/>
              <a:sym typeface="+mn-ea"/>
            </a:endParaRPr>
          </a:p>
        </p:txBody>
      </p:sp>
      <p:sp>
        <p:nvSpPr>
          <p:cNvPr id="103" name="文本框 102"/>
          <p:cNvSpPr txBox="1"/>
          <p:nvPr/>
        </p:nvSpPr>
        <p:spPr>
          <a:xfrm>
            <a:off x="174625" y="1905635"/>
            <a:ext cx="8795385" cy="3636010"/>
          </a:xfrm>
          <a:prstGeom prst="rect">
            <a:avLst/>
          </a:prstGeom>
          <a:noFill/>
          <a:ln w="9525">
            <a:noFill/>
          </a:ln>
        </p:spPr>
        <p:txBody>
          <a:bodyPr wrap="square">
            <a:spAutoFit/>
          </a:bodyPr>
          <a:p>
            <a:pPr>
              <a:lnSpc>
                <a:spcPct val="120000"/>
              </a:lnSpc>
            </a:pPr>
            <a:r>
              <a:rPr lang="en-US" sz="2400" b="1">
                <a:solidFill>
                  <a:srgbClr val="000066"/>
                </a:solidFill>
                <a:latin typeface="Times New Roman" panose="02020603050405020304" charset="0"/>
                <a:ea typeface="楷体" panose="02010609060101010101" charset="-122"/>
                <a:cs typeface="Times New Roman" panose="02020603050405020304" charset="0"/>
              </a:rPr>
              <a:t>       </a:t>
            </a:r>
            <a:r>
              <a:rPr sz="2400" b="1">
                <a:solidFill>
                  <a:srgbClr val="000066"/>
                </a:solidFill>
                <a:latin typeface="Times New Roman" panose="02020603050405020304" charset="0"/>
                <a:ea typeface="楷体" panose="02010609060101010101" charset="-122"/>
                <a:cs typeface="Times New Roman" panose="02020603050405020304" charset="0"/>
              </a:rPr>
              <a:t>因为PROM只能写入一次，后来又出现了可多次擦除和编程的存储器，其擦除和编程的方式主要又两种，一种是电写入紫外线擦除的EPROM，另一种是电写入电擦除的E</a:t>
            </a:r>
            <a:r>
              <a:rPr sz="2400" b="1" baseline="30000">
                <a:solidFill>
                  <a:srgbClr val="000066"/>
                </a:solidFill>
                <a:latin typeface="Times New Roman" panose="02020603050405020304" charset="0"/>
                <a:ea typeface="楷体" panose="02010609060101010101" charset="-122"/>
                <a:cs typeface="Times New Roman" panose="02020603050405020304" charset="0"/>
              </a:rPr>
              <a:t>2</a:t>
            </a:r>
            <a:r>
              <a:rPr sz="2400" b="1">
                <a:solidFill>
                  <a:srgbClr val="000066"/>
                </a:solidFill>
                <a:latin typeface="Times New Roman" panose="02020603050405020304" charset="0"/>
                <a:ea typeface="楷体" panose="02010609060101010101" charset="-122"/>
                <a:cs typeface="Times New Roman" panose="02020603050405020304" charset="0"/>
              </a:rPr>
              <a:t>PROM。 可擦除的可编程的ROM采用浮栅MOS管（Floating gate Avalanche injection MOS，FAMOS）</a:t>
            </a:r>
            <a:r>
              <a:rPr sz="2400" b="1">
                <a:solidFill>
                  <a:srgbClr val="000066"/>
                </a:solidFill>
                <a:latin typeface="Times New Roman" panose="02020603050405020304" charset="0"/>
                <a:ea typeface="楷体" panose="02010609060101010101" charset="-122"/>
                <a:cs typeface="Times New Roman" panose="02020603050405020304" charset="0"/>
                <a:sym typeface="+mn-ea"/>
              </a:rPr>
              <a:t>管</a:t>
            </a:r>
            <a:r>
              <a:rPr sz="2400" b="1">
                <a:solidFill>
                  <a:srgbClr val="000066"/>
                </a:solidFill>
                <a:latin typeface="Times New Roman" panose="02020603050405020304" charset="0"/>
                <a:ea typeface="楷体" panose="02010609060101010101" charset="-122"/>
                <a:cs typeface="Times New Roman" panose="02020603050405020304" charset="0"/>
              </a:rPr>
              <a:t>进行编程，浮栅MOS管又分为叠栅注入MOS(Stacked-gate Injection Metal Oxide Semiconductor，SIMOS)</a:t>
            </a:r>
            <a:r>
              <a:rPr sz="2400" b="1">
                <a:solidFill>
                  <a:srgbClr val="000066"/>
                </a:solidFill>
                <a:latin typeface="Times New Roman" panose="02020603050405020304" charset="0"/>
                <a:ea typeface="楷体" panose="02010609060101010101" charset="-122"/>
                <a:cs typeface="Times New Roman" panose="02020603050405020304" charset="0"/>
                <a:sym typeface="+mn-ea"/>
              </a:rPr>
              <a:t>管</a:t>
            </a:r>
            <a:r>
              <a:rPr sz="2400" b="1">
                <a:solidFill>
                  <a:srgbClr val="000066"/>
                </a:solidFill>
                <a:latin typeface="Times New Roman" panose="02020603050405020304" charset="0"/>
                <a:ea typeface="楷体" panose="02010609060101010101" charset="-122"/>
                <a:cs typeface="Times New Roman" panose="02020603050405020304" charset="0"/>
              </a:rPr>
              <a:t>、浮栅隧道氧化层MOS(Floating-gate Tunnel Oxide，Flotox)</a:t>
            </a:r>
            <a:r>
              <a:rPr sz="2400" b="1">
                <a:solidFill>
                  <a:srgbClr val="000066"/>
                </a:solidFill>
                <a:latin typeface="Times New Roman" panose="02020603050405020304" charset="0"/>
                <a:ea typeface="楷体" panose="02010609060101010101" charset="-122"/>
                <a:cs typeface="Times New Roman" panose="02020603050405020304" charset="0"/>
                <a:sym typeface="+mn-ea"/>
              </a:rPr>
              <a:t>管</a:t>
            </a:r>
            <a:r>
              <a:rPr sz="2400" b="1">
                <a:solidFill>
                  <a:srgbClr val="000066"/>
                </a:solidFill>
                <a:latin typeface="Times New Roman" panose="02020603050405020304" charset="0"/>
                <a:ea typeface="楷体" panose="02010609060101010101" charset="-122"/>
                <a:cs typeface="Times New Roman" panose="02020603050405020304" charset="0"/>
              </a:rPr>
              <a:t>和快闪(Flash)叠栅MOS管。</a:t>
            </a:r>
            <a:endParaRPr sz="2400" b="1">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blinds(horizontal)">
                                      <p:cBhvr>
                                        <p:cTn id="7"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p:bldP spid="103"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7" name="Rectangle 3"/>
          <p:cNvSpPr>
            <a:spLocks noGrp="1"/>
          </p:cNvSpPr>
          <p:nvPr/>
        </p:nvSpPr>
        <p:spPr>
          <a:xfrm>
            <a:off x="381000" y="1067435"/>
            <a:ext cx="482092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1318F3"/>
                </a:solidFill>
                <a:latin typeface="Times New Roman" panose="02020603050405020304" charset="0"/>
                <a:ea typeface="楷体" panose="02010609060101010101" charset="-122"/>
                <a:cs typeface="Times New Roman" panose="02020603050405020304" charset="0"/>
              </a:rPr>
              <a:t>      </a:t>
            </a:r>
            <a:r>
              <a:rPr sz="2400" b="1" dirty="0">
                <a:solidFill>
                  <a:srgbClr val="1318F3"/>
                </a:solidFill>
                <a:latin typeface="Times New Roman" panose="02020603050405020304" charset="0"/>
                <a:ea typeface="楷体" panose="02010609060101010101" charset="-122"/>
                <a:cs typeface="Times New Roman" panose="02020603050405020304" charset="0"/>
                <a:sym typeface="+mn-ea"/>
              </a:rPr>
              <a:t>(1)EPROM</a:t>
            </a:r>
            <a:endParaRPr sz="2400" b="1" dirty="0">
              <a:solidFill>
                <a:srgbClr val="1318F3"/>
              </a:solidFill>
              <a:latin typeface="Times New Roman" panose="02020603050405020304" charset="0"/>
              <a:ea typeface="楷体" panose="02010609060101010101" charset="-122"/>
              <a:cs typeface="Times New Roman" panose="02020603050405020304" charset="0"/>
              <a:sym typeface="+mn-ea"/>
            </a:endParaRPr>
          </a:p>
        </p:txBody>
      </p:sp>
      <p:sp>
        <p:nvSpPr>
          <p:cNvPr id="189444" name="文本框 189443">
            <a:hlinkClick r:id="rId1" action="ppaction://hlinkpres?slideindex=1&amp;slidetitle="/>
          </p:cNvPr>
          <p:cNvSpPr txBox="1"/>
          <p:nvPr/>
        </p:nvSpPr>
        <p:spPr>
          <a:xfrm>
            <a:off x="228600" y="5714048"/>
            <a:ext cx="8907463" cy="377825"/>
          </a:xfrm>
          <a:prstGeom prst="rect">
            <a:avLst/>
          </a:prstGeom>
          <a:solidFill>
            <a:srgbClr val="FFFFFF">
              <a:alpha val="0"/>
            </a:srgbClr>
          </a:solidFill>
          <a:ln w="9525">
            <a:noFill/>
          </a:ln>
        </p:spPr>
        <p:txBody>
          <a:bodyPr lIns="0" tIns="0" rIns="0" anchor="ctr" anchorCtr="0">
            <a:spAutoFit/>
          </a:bodyPr>
          <a:p>
            <a:pPr algn="l">
              <a:lnSpc>
                <a:spcPct val="90000"/>
              </a:lnSpc>
              <a:spcBef>
                <a:spcPct val="50000"/>
              </a:spcBef>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若要擦除，可用紫外线或</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X</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射线，距管子</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2</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厘米处照射</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0</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-30</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分钟。</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139" name="对象 138"/>
          <p:cNvGraphicFramePr/>
          <p:nvPr/>
        </p:nvGraphicFramePr>
        <p:xfrm>
          <a:off x="1116013" y="2720975"/>
          <a:ext cx="2952750" cy="2800350"/>
        </p:xfrm>
        <a:graphic>
          <a:graphicData uri="http://schemas.openxmlformats.org/presentationml/2006/ole">
            <mc:AlternateContent xmlns:mc="http://schemas.openxmlformats.org/markup-compatibility/2006">
              <mc:Choice xmlns:v="urn:schemas-microsoft-com:vml" Requires="v">
                <p:oleObj spid="_x0000_s140" name="" r:id="rId2" imgW="1477645" imgH="1413510" progId="Word.Picture.8">
                  <p:embed/>
                </p:oleObj>
              </mc:Choice>
              <mc:Fallback>
                <p:oleObj name="" r:id="rId2" imgW="1477645" imgH="1413510" progId="Word.Picture.8">
                  <p:embed/>
                  <p:pic>
                    <p:nvPicPr>
                      <p:cNvPr id="0" name="图片 3078"/>
                      <p:cNvPicPr/>
                      <p:nvPr/>
                    </p:nvPicPr>
                    <p:blipFill>
                      <a:blip r:embed="rId3"/>
                      <a:srcRect t="-1273"/>
                      <a:stretch>
                        <a:fillRect/>
                      </a:stretch>
                    </p:blipFill>
                    <p:spPr>
                      <a:xfrm>
                        <a:off x="1116013" y="2720975"/>
                        <a:ext cx="2952750" cy="2800350"/>
                      </a:xfrm>
                      <a:prstGeom prst="rect">
                        <a:avLst/>
                      </a:prstGeom>
                      <a:solidFill>
                        <a:schemeClr val="bg1"/>
                      </a:solidFill>
                      <a:ln w="28575" cap="flat" cmpd="sng">
                        <a:solidFill>
                          <a:srgbClr val="00FFFF"/>
                        </a:solidFill>
                        <a:prstDash val="dash"/>
                        <a:miter/>
                        <a:headEnd type="none" w="med" len="med"/>
                        <a:tailEnd type="none" w="med" len="med"/>
                      </a:ln>
                    </p:spPr>
                  </p:pic>
                </p:oleObj>
              </mc:Fallback>
            </mc:AlternateContent>
          </a:graphicData>
        </a:graphic>
      </p:graphicFrame>
      <p:sp>
        <p:nvSpPr>
          <p:cNvPr id="141" name="文本框 140">
            <a:hlinkClick r:id="rId1" action="ppaction://hlinkpres?slideindex=1&amp;slidetitle="/>
          </p:cNvPr>
          <p:cNvSpPr txBox="1"/>
          <p:nvPr/>
        </p:nvSpPr>
        <p:spPr>
          <a:xfrm>
            <a:off x="250825" y="1666717"/>
            <a:ext cx="8204200" cy="709930"/>
          </a:xfrm>
          <a:prstGeom prst="rect">
            <a:avLst/>
          </a:prstGeom>
          <a:solidFill>
            <a:schemeClr val="bg1"/>
          </a:solidFill>
          <a:ln w="9525">
            <a:noFill/>
          </a:ln>
        </p:spPr>
        <p:txBody>
          <a:bodyPr lIns="0" tIns="0" rIns="0" anchor="ctr" anchorCtr="0">
            <a:spAutoFit/>
          </a:bodyPr>
          <a:p>
            <a:pPr algn="l">
              <a:lnSpc>
                <a:spcPct val="90000"/>
              </a:lnSpc>
              <a:spcBef>
                <a:spcPct val="50000"/>
              </a:spcBef>
            </a:pPr>
            <a:r>
              <a:rPr lang="en-US" altLang="zh-CN" sz="2400" b="1">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当浮栅上带有负电荷时，使得</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MOS</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管的开启电压变高，如果给控制栅加上</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1" baseline="-25000">
                <a:solidFill>
                  <a:srgbClr val="000066"/>
                </a:solidFill>
                <a:latin typeface="Times New Roman" panose="02020603050405020304" charset="0"/>
                <a:ea typeface="楷体" panose="02010609060101010101" charset="-122"/>
                <a:cs typeface="Times New Roman" panose="02020603050405020304" charset="0"/>
              </a:rPr>
              <a:t>T1</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控制电压，</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MOS</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管仍处于截止状态。</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grpSp>
        <p:nvGrpSpPr>
          <p:cNvPr id="145" name="组合 144"/>
          <p:cNvGrpSpPr/>
          <p:nvPr/>
        </p:nvGrpSpPr>
        <p:grpSpPr>
          <a:xfrm>
            <a:off x="1520825" y="3217863"/>
            <a:ext cx="3124200" cy="409575"/>
            <a:chOff x="624" y="1920"/>
            <a:chExt cx="1968" cy="456"/>
          </a:xfrm>
        </p:grpSpPr>
        <p:sp>
          <p:nvSpPr>
            <p:cNvPr id="146" name="文本框 145"/>
            <p:cNvSpPr txBox="1"/>
            <p:nvPr/>
          </p:nvSpPr>
          <p:spPr>
            <a:xfrm>
              <a:off x="1968" y="1968"/>
              <a:ext cx="624" cy="408"/>
            </a:xfrm>
            <a:prstGeom prst="rect">
              <a:avLst/>
            </a:prstGeom>
            <a:noFill/>
            <a:ln w="9525">
              <a:noFill/>
            </a:ln>
          </p:spPr>
          <p:txBody>
            <a:bodyPr>
              <a:spAutoFit/>
            </a:bodyPr>
            <a:p>
              <a:pPr algn="l">
                <a:spcBef>
                  <a:spcPct val="50000"/>
                </a:spcBef>
              </a:pPr>
              <a:r>
                <a:rPr lang="en-US" altLang="zh-CN" sz="1800">
                  <a:solidFill>
                    <a:srgbClr val="FF0000"/>
                  </a:solidFill>
                  <a:latin typeface="Times New Roman" panose="02020603050405020304" charset="0"/>
                  <a:ea typeface="宋体" panose="02010600030101010101" pitchFamily="2" charset="-122"/>
                </a:rPr>
                <a:t>25V</a:t>
              </a:r>
              <a:endParaRPr lang="en-US" altLang="zh-CN" sz="1800">
                <a:solidFill>
                  <a:srgbClr val="FF0000"/>
                </a:solidFill>
                <a:latin typeface="Times New Roman" panose="02020603050405020304" charset="0"/>
                <a:ea typeface="宋体" panose="02010600030101010101" pitchFamily="2" charset="-122"/>
              </a:endParaRPr>
            </a:p>
          </p:txBody>
        </p:sp>
        <p:sp>
          <p:nvSpPr>
            <p:cNvPr id="147" name="文本框 146"/>
            <p:cNvSpPr txBox="1"/>
            <p:nvPr/>
          </p:nvSpPr>
          <p:spPr>
            <a:xfrm>
              <a:off x="1296" y="1920"/>
              <a:ext cx="624" cy="408"/>
            </a:xfrm>
            <a:prstGeom prst="rect">
              <a:avLst/>
            </a:prstGeom>
            <a:noFill/>
            <a:ln w="9525">
              <a:noFill/>
            </a:ln>
          </p:spPr>
          <p:txBody>
            <a:bodyPr>
              <a:spAutoFit/>
            </a:bodyPr>
            <a:p>
              <a:pPr algn="l">
                <a:spcBef>
                  <a:spcPct val="50000"/>
                </a:spcBef>
              </a:pPr>
              <a:r>
                <a:rPr lang="en-US" altLang="zh-CN" sz="1800">
                  <a:solidFill>
                    <a:srgbClr val="FF0000"/>
                  </a:solidFill>
                  <a:latin typeface="Times New Roman" panose="02020603050405020304" charset="0"/>
                  <a:ea typeface="宋体" panose="02010600030101010101" pitchFamily="2" charset="-122"/>
                </a:rPr>
                <a:t>25V</a:t>
              </a:r>
              <a:endParaRPr lang="en-US" altLang="zh-CN" sz="1800">
                <a:solidFill>
                  <a:srgbClr val="FF0000"/>
                </a:solidFill>
                <a:latin typeface="Times New Roman" panose="02020603050405020304" charset="0"/>
                <a:ea typeface="宋体" panose="02010600030101010101" pitchFamily="2" charset="-122"/>
              </a:endParaRPr>
            </a:p>
          </p:txBody>
        </p:sp>
        <p:sp>
          <p:nvSpPr>
            <p:cNvPr id="148" name="文本框 147"/>
            <p:cNvSpPr txBox="1"/>
            <p:nvPr/>
          </p:nvSpPr>
          <p:spPr>
            <a:xfrm>
              <a:off x="624" y="1920"/>
              <a:ext cx="624" cy="408"/>
            </a:xfrm>
            <a:prstGeom prst="rect">
              <a:avLst/>
            </a:prstGeom>
            <a:noFill/>
            <a:ln w="9525">
              <a:noFill/>
            </a:ln>
          </p:spPr>
          <p:txBody>
            <a:bodyPr>
              <a:spAutoFit/>
            </a:bodyPr>
            <a:p>
              <a:pPr algn="l">
                <a:spcBef>
                  <a:spcPct val="50000"/>
                </a:spcBef>
              </a:pPr>
              <a:r>
                <a:rPr lang="en-US" altLang="zh-CN" sz="1800">
                  <a:solidFill>
                    <a:srgbClr val="FF0000"/>
                  </a:solidFill>
                  <a:latin typeface="Times New Roman" panose="02020603050405020304" charset="0"/>
                  <a:ea typeface="宋体" panose="02010600030101010101" pitchFamily="2" charset="-122"/>
                </a:rPr>
                <a:t>GND</a:t>
              </a:r>
              <a:endParaRPr lang="en-US" altLang="zh-CN" sz="1800">
                <a:solidFill>
                  <a:srgbClr val="FF0000"/>
                </a:solidFill>
                <a:latin typeface="Times New Roman" panose="02020603050405020304" charset="0"/>
                <a:ea typeface="宋体" panose="02010600030101010101" pitchFamily="2" charset="-122"/>
              </a:endParaRPr>
            </a:p>
          </p:txBody>
        </p:sp>
      </p:grpSp>
      <p:grpSp>
        <p:nvGrpSpPr>
          <p:cNvPr id="149" name="组合 148"/>
          <p:cNvGrpSpPr/>
          <p:nvPr/>
        </p:nvGrpSpPr>
        <p:grpSpPr>
          <a:xfrm>
            <a:off x="1476375" y="3206750"/>
            <a:ext cx="2819400" cy="442913"/>
            <a:chOff x="204" y="482"/>
            <a:chExt cx="1776" cy="279"/>
          </a:xfrm>
        </p:grpSpPr>
        <p:sp>
          <p:nvSpPr>
            <p:cNvPr id="150" name="文本框 149"/>
            <p:cNvSpPr txBox="1"/>
            <p:nvPr/>
          </p:nvSpPr>
          <p:spPr>
            <a:xfrm>
              <a:off x="876" y="482"/>
              <a:ext cx="384" cy="231"/>
            </a:xfrm>
            <a:prstGeom prst="rect">
              <a:avLst/>
            </a:prstGeom>
            <a:noFill/>
            <a:ln w="9525">
              <a:noFill/>
            </a:ln>
          </p:spPr>
          <p:txBody>
            <a:bodyPr>
              <a:spAutoFit/>
            </a:bodyPr>
            <a:p>
              <a:pPr>
                <a:spcBef>
                  <a:spcPct val="50000"/>
                </a:spcBef>
              </a:pPr>
              <a:r>
                <a:rPr lang="en-US" altLang="zh-CN" sz="1800">
                  <a:solidFill>
                    <a:srgbClr val="FF0000"/>
                  </a:solidFill>
                  <a:latin typeface="Times New Roman" panose="02020603050405020304" charset="0"/>
                  <a:ea typeface="宋体" panose="02010600030101010101" pitchFamily="2" charset="-122"/>
                </a:rPr>
                <a:t>5V</a:t>
              </a:r>
              <a:endParaRPr lang="en-US" altLang="zh-CN" sz="1800">
                <a:solidFill>
                  <a:schemeClr val="tx1"/>
                </a:solidFill>
                <a:latin typeface="Times New Roman" panose="02020603050405020304" charset="0"/>
                <a:ea typeface="宋体" panose="02010600030101010101" pitchFamily="2" charset="-122"/>
              </a:endParaRPr>
            </a:p>
          </p:txBody>
        </p:sp>
        <p:sp>
          <p:nvSpPr>
            <p:cNvPr id="151" name="文本框 150"/>
            <p:cNvSpPr txBox="1"/>
            <p:nvPr/>
          </p:nvSpPr>
          <p:spPr>
            <a:xfrm>
              <a:off x="1596" y="530"/>
              <a:ext cx="384" cy="231"/>
            </a:xfrm>
            <a:prstGeom prst="rect">
              <a:avLst/>
            </a:prstGeom>
            <a:noFill/>
            <a:ln w="9525">
              <a:noFill/>
            </a:ln>
          </p:spPr>
          <p:txBody>
            <a:bodyPr>
              <a:spAutoFit/>
            </a:bodyPr>
            <a:p>
              <a:pPr>
                <a:spcBef>
                  <a:spcPct val="50000"/>
                </a:spcBef>
              </a:pPr>
              <a:r>
                <a:rPr lang="en-US" altLang="zh-CN" sz="1800">
                  <a:solidFill>
                    <a:srgbClr val="FF0000"/>
                  </a:solidFill>
                  <a:latin typeface="Times New Roman" panose="02020603050405020304" charset="0"/>
                  <a:ea typeface="宋体" panose="02010600030101010101" pitchFamily="2" charset="-122"/>
                </a:rPr>
                <a:t>5V</a:t>
              </a:r>
              <a:endParaRPr lang="en-US" altLang="zh-CN" sz="1800">
                <a:solidFill>
                  <a:schemeClr val="tx1"/>
                </a:solidFill>
                <a:latin typeface="Times New Roman" panose="02020603050405020304" charset="0"/>
                <a:ea typeface="宋体" panose="02010600030101010101" pitchFamily="2" charset="-122"/>
              </a:endParaRPr>
            </a:p>
          </p:txBody>
        </p:sp>
        <p:sp>
          <p:nvSpPr>
            <p:cNvPr id="152" name="文本框 151"/>
            <p:cNvSpPr txBox="1"/>
            <p:nvPr/>
          </p:nvSpPr>
          <p:spPr>
            <a:xfrm>
              <a:off x="204" y="482"/>
              <a:ext cx="528" cy="231"/>
            </a:xfrm>
            <a:prstGeom prst="rect">
              <a:avLst/>
            </a:prstGeom>
            <a:noFill/>
            <a:ln w="9525">
              <a:noFill/>
            </a:ln>
          </p:spPr>
          <p:txBody>
            <a:bodyPr>
              <a:spAutoFit/>
            </a:bodyPr>
            <a:p>
              <a:pPr>
                <a:spcBef>
                  <a:spcPct val="50000"/>
                </a:spcBef>
              </a:pPr>
              <a:r>
                <a:rPr lang="en-US" altLang="zh-CN" sz="1800">
                  <a:solidFill>
                    <a:srgbClr val="FF0000"/>
                  </a:solidFill>
                  <a:latin typeface="Times New Roman" panose="02020603050405020304" charset="0"/>
                  <a:ea typeface="宋体" panose="02010600030101010101" pitchFamily="2" charset="-122"/>
                </a:rPr>
                <a:t>GND</a:t>
              </a:r>
              <a:endParaRPr lang="en-US" altLang="zh-CN" sz="1800">
                <a:solidFill>
                  <a:schemeClr val="tx1"/>
                </a:solidFill>
                <a:latin typeface="Times New Roman" panose="02020603050405020304" charset="0"/>
                <a:ea typeface="宋体" panose="02010600030101010101" pitchFamily="2" charset="-122"/>
              </a:endParaRPr>
            </a:p>
          </p:txBody>
        </p:sp>
      </p:grpSp>
      <p:grpSp>
        <p:nvGrpSpPr>
          <p:cNvPr id="153" name="组合 152"/>
          <p:cNvGrpSpPr/>
          <p:nvPr/>
        </p:nvGrpSpPr>
        <p:grpSpPr>
          <a:xfrm>
            <a:off x="1908175" y="4360863"/>
            <a:ext cx="1296988" cy="152400"/>
            <a:chOff x="657" y="2523"/>
            <a:chExt cx="817" cy="96"/>
          </a:xfrm>
        </p:grpSpPr>
        <p:grpSp>
          <p:nvGrpSpPr>
            <p:cNvPr id="154" name="组合 153"/>
            <p:cNvGrpSpPr/>
            <p:nvPr/>
          </p:nvGrpSpPr>
          <p:grpSpPr>
            <a:xfrm>
              <a:off x="1138" y="2523"/>
              <a:ext cx="336" cy="96"/>
              <a:chOff x="3840" y="3504"/>
              <a:chExt cx="480" cy="140"/>
            </a:xfrm>
          </p:grpSpPr>
          <p:sp>
            <p:nvSpPr>
              <p:cNvPr id="155" name="椭圆 154"/>
              <p:cNvSpPr/>
              <p:nvPr/>
            </p:nvSpPr>
            <p:spPr>
              <a:xfrm>
                <a:off x="3840" y="3504"/>
                <a:ext cx="48" cy="48"/>
              </a:xfrm>
              <a:prstGeom prst="ellipse">
                <a:avLst/>
              </a:prstGeom>
              <a:solidFill>
                <a:schemeClr val="accent2"/>
              </a:solidFill>
              <a:ln w="9525" cap="flat" cmpd="sng">
                <a:solidFill>
                  <a:schemeClr val="accent2"/>
                </a:solidFill>
                <a:prstDash val="solid"/>
                <a:headEnd type="none" w="med" len="med"/>
                <a:tailEnd type="none" w="med" len="med"/>
              </a:ln>
            </p:spPr>
            <p:txBody>
              <a:bodyPr/>
              <a:p>
                <a:endParaRPr lang="zh-CN" altLang="en-US"/>
              </a:p>
            </p:txBody>
          </p:sp>
          <p:sp>
            <p:nvSpPr>
              <p:cNvPr id="156" name="椭圆 155"/>
              <p:cNvSpPr/>
              <p:nvPr/>
            </p:nvSpPr>
            <p:spPr>
              <a:xfrm>
                <a:off x="3984" y="3504"/>
                <a:ext cx="48" cy="48"/>
              </a:xfrm>
              <a:prstGeom prst="ellipse">
                <a:avLst/>
              </a:prstGeom>
              <a:solidFill>
                <a:schemeClr val="accent2"/>
              </a:solidFill>
              <a:ln w="9525" cap="flat" cmpd="sng">
                <a:solidFill>
                  <a:schemeClr val="accent2"/>
                </a:solidFill>
                <a:prstDash val="solid"/>
                <a:headEnd type="none" w="med" len="med"/>
                <a:tailEnd type="none" w="med" len="med"/>
              </a:ln>
            </p:spPr>
            <p:txBody>
              <a:bodyPr/>
              <a:p>
                <a:endParaRPr lang="zh-CN" altLang="en-US"/>
              </a:p>
            </p:txBody>
          </p:sp>
          <p:sp>
            <p:nvSpPr>
              <p:cNvPr id="157" name="椭圆 156"/>
              <p:cNvSpPr/>
              <p:nvPr/>
            </p:nvSpPr>
            <p:spPr>
              <a:xfrm>
                <a:off x="4272" y="3504"/>
                <a:ext cx="48" cy="48"/>
              </a:xfrm>
              <a:prstGeom prst="ellipse">
                <a:avLst/>
              </a:prstGeom>
              <a:solidFill>
                <a:schemeClr val="accent2"/>
              </a:solidFill>
              <a:ln w="9525" cap="flat" cmpd="sng">
                <a:solidFill>
                  <a:schemeClr val="accent2"/>
                </a:solidFill>
                <a:prstDash val="solid"/>
                <a:headEnd type="none" w="med" len="med"/>
                <a:tailEnd type="none" w="med" len="med"/>
              </a:ln>
            </p:spPr>
            <p:txBody>
              <a:bodyPr/>
              <a:p>
                <a:endParaRPr lang="zh-CN" altLang="en-US"/>
              </a:p>
            </p:txBody>
          </p:sp>
          <p:sp>
            <p:nvSpPr>
              <p:cNvPr id="158" name="椭圆 157"/>
              <p:cNvSpPr/>
              <p:nvPr/>
            </p:nvSpPr>
            <p:spPr>
              <a:xfrm>
                <a:off x="4128" y="3504"/>
                <a:ext cx="48" cy="48"/>
              </a:xfrm>
              <a:prstGeom prst="ellipse">
                <a:avLst/>
              </a:prstGeom>
              <a:solidFill>
                <a:schemeClr val="accent2"/>
              </a:solidFill>
              <a:ln w="9525" cap="flat" cmpd="sng">
                <a:solidFill>
                  <a:schemeClr val="accent2"/>
                </a:solidFill>
                <a:prstDash val="solid"/>
                <a:headEnd type="none" w="med" len="med"/>
                <a:tailEnd type="none" w="med" len="med"/>
              </a:ln>
            </p:spPr>
            <p:txBody>
              <a:bodyPr/>
              <a:p>
                <a:endParaRPr lang="zh-CN" altLang="en-US"/>
              </a:p>
            </p:txBody>
          </p:sp>
          <p:sp>
            <p:nvSpPr>
              <p:cNvPr id="159" name="椭圆 158"/>
              <p:cNvSpPr/>
              <p:nvPr/>
            </p:nvSpPr>
            <p:spPr>
              <a:xfrm>
                <a:off x="3851" y="3585"/>
                <a:ext cx="48" cy="48"/>
              </a:xfrm>
              <a:prstGeom prst="ellipse">
                <a:avLst/>
              </a:prstGeom>
              <a:solidFill>
                <a:schemeClr val="accent2"/>
              </a:solidFill>
              <a:ln w="9525" cap="flat" cmpd="sng">
                <a:solidFill>
                  <a:schemeClr val="accent2"/>
                </a:solidFill>
                <a:prstDash val="solid"/>
                <a:headEnd type="none" w="med" len="med"/>
                <a:tailEnd type="none" w="med" len="med"/>
              </a:ln>
            </p:spPr>
            <p:txBody>
              <a:bodyPr/>
              <a:p>
                <a:endParaRPr lang="zh-CN" altLang="en-US"/>
              </a:p>
            </p:txBody>
          </p:sp>
          <p:sp>
            <p:nvSpPr>
              <p:cNvPr id="160" name="椭圆 159"/>
              <p:cNvSpPr/>
              <p:nvPr/>
            </p:nvSpPr>
            <p:spPr>
              <a:xfrm>
                <a:off x="4001" y="3577"/>
                <a:ext cx="48" cy="48"/>
              </a:xfrm>
              <a:prstGeom prst="ellipse">
                <a:avLst/>
              </a:prstGeom>
              <a:solidFill>
                <a:schemeClr val="accent2"/>
              </a:solidFill>
              <a:ln w="9525" cap="flat" cmpd="sng">
                <a:solidFill>
                  <a:schemeClr val="accent2"/>
                </a:solidFill>
                <a:prstDash val="solid"/>
                <a:headEnd type="none" w="med" len="med"/>
                <a:tailEnd type="none" w="med" len="med"/>
              </a:ln>
            </p:spPr>
            <p:txBody>
              <a:bodyPr/>
              <a:p>
                <a:endParaRPr lang="zh-CN" altLang="en-US"/>
              </a:p>
            </p:txBody>
          </p:sp>
          <p:sp>
            <p:nvSpPr>
              <p:cNvPr id="161" name="椭圆 160"/>
              <p:cNvSpPr/>
              <p:nvPr/>
            </p:nvSpPr>
            <p:spPr>
              <a:xfrm>
                <a:off x="4128" y="3596"/>
                <a:ext cx="48" cy="48"/>
              </a:xfrm>
              <a:prstGeom prst="ellipse">
                <a:avLst/>
              </a:prstGeom>
              <a:solidFill>
                <a:schemeClr val="accent2"/>
              </a:solidFill>
              <a:ln w="9525" cap="flat" cmpd="sng">
                <a:solidFill>
                  <a:schemeClr val="accent2"/>
                </a:solidFill>
                <a:prstDash val="solid"/>
                <a:headEnd type="none" w="med" len="med"/>
                <a:tailEnd type="none" w="med" len="med"/>
              </a:ln>
            </p:spPr>
            <p:txBody>
              <a:bodyPr/>
              <a:p>
                <a:endParaRPr lang="zh-CN" altLang="en-US"/>
              </a:p>
            </p:txBody>
          </p:sp>
          <p:sp>
            <p:nvSpPr>
              <p:cNvPr id="162" name="椭圆 161"/>
              <p:cNvSpPr/>
              <p:nvPr/>
            </p:nvSpPr>
            <p:spPr>
              <a:xfrm>
                <a:off x="4266" y="3596"/>
                <a:ext cx="48" cy="48"/>
              </a:xfrm>
              <a:prstGeom prst="ellipse">
                <a:avLst/>
              </a:prstGeom>
              <a:solidFill>
                <a:schemeClr val="accent2"/>
              </a:solidFill>
              <a:ln w="9525" cap="flat" cmpd="sng">
                <a:solidFill>
                  <a:schemeClr val="accent2"/>
                </a:solidFill>
                <a:prstDash val="solid"/>
                <a:headEnd type="none" w="med" len="med"/>
                <a:tailEnd type="none" w="med" len="med"/>
              </a:ln>
            </p:spPr>
            <p:txBody>
              <a:bodyPr/>
              <a:p>
                <a:endParaRPr lang="zh-CN" altLang="en-US"/>
              </a:p>
            </p:txBody>
          </p:sp>
        </p:grpSp>
        <p:grpSp>
          <p:nvGrpSpPr>
            <p:cNvPr id="163" name="组合 162"/>
            <p:cNvGrpSpPr/>
            <p:nvPr/>
          </p:nvGrpSpPr>
          <p:grpSpPr>
            <a:xfrm>
              <a:off x="657" y="2523"/>
              <a:ext cx="336" cy="96"/>
              <a:chOff x="3840" y="3504"/>
              <a:chExt cx="480" cy="140"/>
            </a:xfrm>
          </p:grpSpPr>
          <p:sp>
            <p:nvSpPr>
              <p:cNvPr id="164" name="椭圆 163"/>
              <p:cNvSpPr/>
              <p:nvPr/>
            </p:nvSpPr>
            <p:spPr>
              <a:xfrm>
                <a:off x="3840" y="3504"/>
                <a:ext cx="48" cy="48"/>
              </a:xfrm>
              <a:prstGeom prst="ellipse">
                <a:avLst/>
              </a:prstGeom>
              <a:solidFill>
                <a:schemeClr val="accent2"/>
              </a:solidFill>
              <a:ln w="9525" cap="flat" cmpd="sng">
                <a:solidFill>
                  <a:schemeClr val="accent2"/>
                </a:solidFill>
                <a:prstDash val="solid"/>
                <a:headEnd type="none" w="med" len="med"/>
                <a:tailEnd type="none" w="med" len="med"/>
              </a:ln>
            </p:spPr>
            <p:txBody>
              <a:bodyPr/>
              <a:p>
                <a:endParaRPr lang="zh-CN" altLang="en-US"/>
              </a:p>
            </p:txBody>
          </p:sp>
          <p:sp>
            <p:nvSpPr>
              <p:cNvPr id="165" name="椭圆 164"/>
              <p:cNvSpPr/>
              <p:nvPr/>
            </p:nvSpPr>
            <p:spPr>
              <a:xfrm>
                <a:off x="3984" y="3504"/>
                <a:ext cx="48" cy="48"/>
              </a:xfrm>
              <a:prstGeom prst="ellipse">
                <a:avLst/>
              </a:prstGeom>
              <a:solidFill>
                <a:schemeClr val="accent2"/>
              </a:solidFill>
              <a:ln w="9525" cap="flat" cmpd="sng">
                <a:solidFill>
                  <a:schemeClr val="accent2"/>
                </a:solidFill>
                <a:prstDash val="solid"/>
                <a:headEnd type="none" w="med" len="med"/>
                <a:tailEnd type="none" w="med" len="med"/>
              </a:ln>
            </p:spPr>
            <p:txBody>
              <a:bodyPr/>
              <a:p>
                <a:endParaRPr lang="zh-CN" altLang="en-US"/>
              </a:p>
            </p:txBody>
          </p:sp>
          <p:sp>
            <p:nvSpPr>
              <p:cNvPr id="166" name="椭圆 165"/>
              <p:cNvSpPr/>
              <p:nvPr/>
            </p:nvSpPr>
            <p:spPr>
              <a:xfrm>
                <a:off x="4272" y="3504"/>
                <a:ext cx="48" cy="48"/>
              </a:xfrm>
              <a:prstGeom prst="ellipse">
                <a:avLst/>
              </a:prstGeom>
              <a:solidFill>
                <a:schemeClr val="accent2"/>
              </a:solidFill>
              <a:ln w="9525" cap="flat" cmpd="sng">
                <a:solidFill>
                  <a:schemeClr val="accent2"/>
                </a:solidFill>
                <a:prstDash val="solid"/>
                <a:headEnd type="none" w="med" len="med"/>
                <a:tailEnd type="none" w="med" len="med"/>
              </a:ln>
            </p:spPr>
            <p:txBody>
              <a:bodyPr/>
              <a:p>
                <a:endParaRPr lang="zh-CN" altLang="en-US"/>
              </a:p>
            </p:txBody>
          </p:sp>
          <p:sp>
            <p:nvSpPr>
              <p:cNvPr id="167" name="椭圆 166"/>
              <p:cNvSpPr/>
              <p:nvPr/>
            </p:nvSpPr>
            <p:spPr>
              <a:xfrm>
                <a:off x="4128" y="3504"/>
                <a:ext cx="48" cy="48"/>
              </a:xfrm>
              <a:prstGeom prst="ellipse">
                <a:avLst/>
              </a:prstGeom>
              <a:solidFill>
                <a:schemeClr val="accent2"/>
              </a:solidFill>
              <a:ln w="9525" cap="flat" cmpd="sng">
                <a:solidFill>
                  <a:schemeClr val="accent2"/>
                </a:solidFill>
                <a:prstDash val="solid"/>
                <a:headEnd type="none" w="med" len="med"/>
                <a:tailEnd type="none" w="med" len="med"/>
              </a:ln>
            </p:spPr>
            <p:txBody>
              <a:bodyPr/>
              <a:p>
                <a:endParaRPr lang="zh-CN" altLang="en-US"/>
              </a:p>
            </p:txBody>
          </p:sp>
          <p:sp>
            <p:nvSpPr>
              <p:cNvPr id="168" name="椭圆 167"/>
              <p:cNvSpPr/>
              <p:nvPr/>
            </p:nvSpPr>
            <p:spPr>
              <a:xfrm>
                <a:off x="3851" y="3585"/>
                <a:ext cx="48" cy="48"/>
              </a:xfrm>
              <a:prstGeom prst="ellipse">
                <a:avLst/>
              </a:prstGeom>
              <a:solidFill>
                <a:schemeClr val="accent2"/>
              </a:solidFill>
              <a:ln w="9525" cap="flat" cmpd="sng">
                <a:solidFill>
                  <a:schemeClr val="accent2"/>
                </a:solidFill>
                <a:prstDash val="solid"/>
                <a:headEnd type="none" w="med" len="med"/>
                <a:tailEnd type="none" w="med" len="med"/>
              </a:ln>
            </p:spPr>
            <p:txBody>
              <a:bodyPr/>
              <a:p>
                <a:endParaRPr lang="zh-CN" altLang="en-US"/>
              </a:p>
            </p:txBody>
          </p:sp>
          <p:sp>
            <p:nvSpPr>
              <p:cNvPr id="169" name="椭圆 168"/>
              <p:cNvSpPr/>
              <p:nvPr/>
            </p:nvSpPr>
            <p:spPr>
              <a:xfrm>
                <a:off x="4001" y="3577"/>
                <a:ext cx="48" cy="48"/>
              </a:xfrm>
              <a:prstGeom prst="ellipse">
                <a:avLst/>
              </a:prstGeom>
              <a:solidFill>
                <a:schemeClr val="accent2"/>
              </a:solidFill>
              <a:ln w="9525" cap="flat" cmpd="sng">
                <a:solidFill>
                  <a:schemeClr val="accent2"/>
                </a:solidFill>
                <a:prstDash val="solid"/>
                <a:headEnd type="none" w="med" len="med"/>
                <a:tailEnd type="none" w="med" len="med"/>
              </a:ln>
            </p:spPr>
            <p:txBody>
              <a:bodyPr/>
              <a:p>
                <a:endParaRPr lang="zh-CN" altLang="en-US"/>
              </a:p>
            </p:txBody>
          </p:sp>
          <p:sp>
            <p:nvSpPr>
              <p:cNvPr id="170" name="椭圆 169"/>
              <p:cNvSpPr/>
              <p:nvPr/>
            </p:nvSpPr>
            <p:spPr>
              <a:xfrm>
                <a:off x="4128" y="3596"/>
                <a:ext cx="48" cy="48"/>
              </a:xfrm>
              <a:prstGeom prst="ellipse">
                <a:avLst/>
              </a:prstGeom>
              <a:solidFill>
                <a:schemeClr val="accent2"/>
              </a:solidFill>
              <a:ln w="9525" cap="flat" cmpd="sng">
                <a:solidFill>
                  <a:schemeClr val="accent2"/>
                </a:solidFill>
                <a:prstDash val="solid"/>
                <a:headEnd type="none" w="med" len="med"/>
                <a:tailEnd type="none" w="med" len="med"/>
              </a:ln>
            </p:spPr>
            <p:txBody>
              <a:bodyPr/>
              <a:p>
                <a:endParaRPr lang="zh-CN" altLang="en-US"/>
              </a:p>
            </p:txBody>
          </p:sp>
          <p:sp>
            <p:nvSpPr>
              <p:cNvPr id="171" name="椭圆 170"/>
              <p:cNvSpPr/>
              <p:nvPr/>
            </p:nvSpPr>
            <p:spPr>
              <a:xfrm>
                <a:off x="4266" y="3596"/>
                <a:ext cx="48" cy="48"/>
              </a:xfrm>
              <a:prstGeom prst="ellipse">
                <a:avLst/>
              </a:prstGeom>
              <a:solidFill>
                <a:schemeClr val="accent2"/>
              </a:solidFill>
              <a:ln w="9525" cap="flat" cmpd="sng">
                <a:solidFill>
                  <a:schemeClr val="accent2"/>
                </a:solidFill>
                <a:prstDash val="solid"/>
                <a:headEnd type="none" w="med" len="med"/>
                <a:tailEnd type="none" w="med" len="med"/>
              </a:ln>
            </p:spPr>
            <p:txBody>
              <a:bodyPr/>
              <a:p>
                <a:endParaRPr lang="zh-CN" altLang="en-US"/>
              </a:p>
            </p:txBody>
          </p:sp>
        </p:grpSp>
      </p:grpSp>
      <p:grpSp>
        <p:nvGrpSpPr>
          <p:cNvPr id="172" name="组合 171"/>
          <p:cNvGrpSpPr/>
          <p:nvPr/>
        </p:nvGrpSpPr>
        <p:grpSpPr>
          <a:xfrm>
            <a:off x="4716463" y="2865438"/>
            <a:ext cx="3832225" cy="2657475"/>
            <a:chOff x="2971" y="1661"/>
            <a:chExt cx="2414" cy="1674"/>
          </a:xfrm>
        </p:grpSpPr>
        <p:sp>
          <p:nvSpPr>
            <p:cNvPr id="173" name="矩形 172"/>
            <p:cNvSpPr/>
            <p:nvPr/>
          </p:nvSpPr>
          <p:spPr>
            <a:xfrm>
              <a:off x="2971" y="1661"/>
              <a:ext cx="38" cy="182"/>
            </a:xfrm>
            <a:prstGeom prst="rect">
              <a:avLst/>
            </a:prstGeom>
            <a:noFill/>
            <a:ln w="9525">
              <a:noFill/>
            </a:ln>
          </p:spPr>
          <p:txBody>
            <a:bodyPr wrap="none" lIns="0" tIns="0" rIns="0" bIns="0">
              <a:spAutoFit/>
            </a:bodyPr>
            <a:p>
              <a:pPr algn="l"/>
              <a:r>
                <a:rPr lang="en-US" altLang="zh-CN" sz="1900" b="0">
                  <a:solidFill>
                    <a:srgbClr val="000000"/>
                  </a:solidFill>
                  <a:latin typeface="Times New Roman" panose="02020603050405020304" charset="0"/>
                  <a:ea typeface="楷体_GB2312" panose="02010609030101010101" pitchFamily="49" charset="-122"/>
                </a:rPr>
                <a:t> </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174" name="任意多边形 173"/>
            <p:cNvSpPr/>
            <p:nvPr/>
          </p:nvSpPr>
          <p:spPr>
            <a:xfrm>
              <a:off x="3246" y="1693"/>
              <a:ext cx="32" cy="148"/>
            </a:xfrm>
            <a:custGeom>
              <a:avLst/>
              <a:gdLst/>
              <a:ahLst/>
              <a:cxnLst/>
              <a:pathLst>
                <a:path w="32" h="148">
                  <a:moveTo>
                    <a:pt x="0" y="148"/>
                  </a:moveTo>
                  <a:lnTo>
                    <a:pt x="32" y="148"/>
                  </a:lnTo>
                  <a:lnTo>
                    <a:pt x="21" y="0"/>
                  </a:lnTo>
                  <a:lnTo>
                    <a:pt x="0" y="148"/>
                  </a:lnTo>
                  <a:close/>
                </a:path>
              </a:pathLst>
            </a:custGeom>
            <a:solidFill>
              <a:srgbClr val="000000"/>
            </a:solidFill>
            <a:ln w="17463" cap="flat" cmpd="sng">
              <a:solidFill>
                <a:srgbClr val="000000"/>
              </a:solidFill>
              <a:prstDash val="solid"/>
              <a:headEnd type="none" w="med" len="med"/>
              <a:tailEnd type="none" w="med" len="med"/>
            </a:ln>
          </p:spPr>
          <p:txBody>
            <a:bodyPr/>
            <a:p>
              <a:endParaRPr lang="zh-CN" altLang="en-US"/>
            </a:p>
          </p:txBody>
        </p:sp>
        <p:sp>
          <p:nvSpPr>
            <p:cNvPr id="175" name="直接连接符 174"/>
            <p:cNvSpPr/>
            <p:nvPr/>
          </p:nvSpPr>
          <p:spPr>
            <a:xfrm flipV="1">
              <a:off x="3267" y="1830"/>
              <a:ext cx="1" cy="1113"/>
            </a:xfrm>
            <a:prstGeom prst="line">
              <a:avLst/>
            </a:prstGeom>
            <a:ln w="17463" cap="flat" cmpd="sng">
              <a:solidFill>
                <a:srgbClr val="000000"/>
              </a:solidFill>
              <a:prstDash val="solid"/>
              <a:headEnd type="none" w="med" len="med"/>
              <a:tailEnd type="none" w="med" len="med"/>
            </a:ln>
          </p:spPr>
        </p:sp>
        <p:sp>
          <p:nvSpPr>
            <p:cNvPr id="176" name="任意多边形 175"/>
            <p:cNvSpPr/>
            <p:nvPr/>
          </p:nvSpPr>
          <p:spPr>
            <a:xfrm>
              <a:off x="5141" y="2932"/>
              <a:ext cx="159" cy="32"/>
            </a:xfrm>
            <a:custGeom>
              <a:avLst/>
              <a:gdLst/>
              <a:ahLst/>
              <a:cxnLst/>
              <a:pathLst>
                <a:path w="159" h="32">
                  <a:moveTo>
                    <a:pt x="0" y="0"/>
                  </a:moveTo>
                  <a:lnTo>
                    <a:pt x="0" y="32"/>
                  </a:lnTo>
                  <a:lnTo>
                    <a:pt x="159" y="21"/>
                  </a:lnTo>
                  <a:lnTo>
                    <a:pt x="0" y="0"/>
                  </a:lnTo>
                  <a:close/>
                </a:path>
              </a:pathLst>
            </a:custGeom>
            <a:solidFill>
              <a:srgbClr val="000000"/>
            </a:solidFill>
            <a:ln w="17463" cap="flat" cmpd="sng">
              <a:solidFill>
                <a:srgbClr val="000000"/>
              </a:solidFill>
              <a:prstDash val="solid"/>
              <a:headEnd type="none" w="med" len="med"/>
              <a:tailEnd type="none" w="med" len="med"/>
            </a:ln>
          </p:spPr>
          <p:txBody>
            <a:bodyPr/>
            <a:p>
              <a:endParaRPr lang="zh-CN" altLang="en-US"/>
            </a:p>
          </p:txBody>
        </p:sp>
        <p:sp>
          <p:nvSpPr>
            <p:cNvPr id="177" name="直接连接符 176"/>
            <p:cNvSpPr/>
            <p:nvPr/>
          </p:nvSpPr>
          <p:spPr>
            <a:xfrm>
              <a:off x="3267" y="2953"/>
              <a:ext cx="2033" cy="1"/>
            </a:xfrm>
            <a:prstGeom prst="line">
              <a:avLst/>
            </a:prstGeom>
            <a:ln w="17463" cap="flat" cmpd="sng">
              <a:solidFill>
                <a:srgbClr val="000000"/>
              </a:solidFill>
              <a:prstDash val="solid"/>
              <a:headEnd type="none" w="med" len="med"/>
              <a:tailEnd type="none" w="med" len="med"/>
            </a:ln>
          </p:spPr>
        </p:sp>
        <p:sp>
          <p:nvSpPr>
            <p:cNvPr id="178" name="任意多边形 177"/>
            <p:cNvSpPr/>
            <p:nvPr/>
          </p:nvSpPr>
          <p:spPr>
            <a:xfrm>
              <a:off x="3596" y="1989"/>
              <a:ext cx="285" cy="975"/>
            </a:xfrm>
            <a:custGeom>
              <a:avLst/>
              <a:gdLst/>
              <a:ahLst/>
              <a:cxnLst/>
              <a:pathLst>
                <a:path w="285" h="975">
                  <a:moveTo>
                    <a:pt x="285" y="0"/>
                  </a:moveTo>
                  <a:lnTo>
                    <a:pt x="264" y="0"/>
                  </a:lnTo>
                  <a:lnTo>
                    <a:pt x="232" y="191"/>
                  </a:lnTo>
                  <a:lnTo>
                    <a:pt x="201" y="361"/>
                  </a:lnTo>
                  <a:lnTo>
                    <a:pt x="169" y="519"/>
                  </a:lnTo>
                  <a:lnTo>
                    <a:pt x="127" y="657"/>
                  </a:lnTo>
                  <a:lnTo>
                    <a:pt x="95" y="774"/>
                  </a:lnTo>
                  <a:lnTo>
                    <a:pt x="52" y="858"/>
                  </a:lnTo>
                  <a:lnTo>
                    <a:pt x="63" y="858"/>
                  </a:lnTo>
                  <a:lnTo>
                    <a:pt x="63" y="848"/>
                  </a:lnTo>
                  <a:lnTo>
                    <a:pt x="31" y="911"/>
                  </a:lnTo>
                  <a:lnTo>
                    <a:pt x="21" y="922"/>
                  </a:lnTo>
                  <a:lnTo>
                    <a:pt x="0" y="964"/>
                  </a:lnTo>
                  <a:lnTo>
                    <a:pt x="21" y="975"/>
                  </a:lnTo>
                  <a:lnTo>
                    <a:pt x="42" y="922"/>
                  </a:lnTo>
                  <a:lnTo>
                    <a:pt x="31" y="922"/>
                  </a:lnTo>
                  <a:lnTo>
                    <a:pt x="42" y="933"/>
                  </a:lnTo>
                  <a:lnTo>
                    <a:pt x="74" y="869"/>
                  </a:lnTo>
                  <a:lnTo>
                    <a:pt x="74" y="858"/>
                  </a:lnTo>
                  <a:lnTo>
                    <a:pt x="74" y="858"/>
                  </a:lnTo>
                  <a:lnTo>
                    <a:pt x="116" y="774"/>
                  </a:lnTo>
                  <a:lnTo>
                    <a:pt x="148" y="668"/>
                  </a:lnTo>
                  <a:lnTo>
                    <a:pt x="190" y="519"/>
                  </a:lnTo>
                  <a:lnTo>
                    <a:pt x="222" y="361"/>
                  </a:lnTo>
                  <a:lnTo>
                    <a:pt x="254" y="191"/>
                  </a:lnTo>
                  <a:lnTo>
                    <a:pt x="285" y="0"/>
                  </a:lnTo>
                  <a:close/>
                </a:path>
              </a:pathLst>
            </a:custGeom>
            <a:solidFill>
              <a:srgbClr val="000000"/>
            </a:solidFill>
            <a:ln w="9525">
              <a:noFill/>
            </a:ln>
          </p:spPr>
          <p:txBody>
            <a:bodyPr/>
            <a:p>
              <a:endParaRPr lang="zh-CN" altLang="en-US"/>
            </a:p>
          </p:txBody>
        </p:sp>
        <p:sp>
          <p:nvSpPr>
            <p:cNvPr id="179" name="矩形 178"/>
            <p:cNvSpPr/>
            <p:nvPr/>
          </p:nvSpPr>
          <p:spPr>
            <a:xfrm>
              <a:off x="2971" y="1672"/>
              <a:ext cx="254" cy="222"/>
            </a:xfrm>
            <a:prstGeom prst="rect">
              <a:avLst/>
            </a:prstGeom>
            <a:noFill/>
            <a:ln w="9525">
              <a:noFill/>
            </a:ln>
          </p:spPr>
          <p:txBody>
            <a:bodyPr/>
            <a:p>
              <a:endParaRPr lang="zh-CN" altLang="en-US"/>
            </a:p>
          </p:txBody>
        </p:sp>
        <p:sp>
          <p:nvSpPr>
            <p:cNvPr id="180" name="矩形 179"/>
            <p:cNvSpPr/>
            <p:nvPr/>
          </p:nvSpPr>
          <p:spPr>
            <a:xfrm>
              <a:off x="3045" y="1682"/>
              <a:ext cx="36" cy="154"/>
            </a:xfrm>
            <a:prstGeom prst="rect">
              <a:avLst/>
            </a:prstGeom>
            <a:noFill/>
            <a:ln w="9525">
              <a:noFill/>
            </a:ln>
          </p:spPr>
          <p:txBody>
            <a:bodyPr wrap="none" lIns="0" tIns="0" rIns="0" bIns="0">
              <a:spAutoFit/>
            </a:bodyPr>
            <a:p>
              <a:pPr algn="l"/>
              <a:r>
                <a:rPr lang="en-US" altLang="zh-CN" sz="1600" b="0" i="1">
                  <a:solidFill>
                    <a:srgbClr val="000000"/>
                  </a:solidFill>
                  <a:latin typeface="Times New Roman" panose="02020603050405020304" charset="0"/>
                  <a:ea typeface="楷体_GB2312" panose="02010609030101010101" pitchFamily="49" charset="-122"/>
                </a:rPr>
                <a:t>i</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181" name="矩形 180"/>
            <p:cNvSpPr/>
            <p:nvPr/>
          </p:nvSpPr>
          <p:spPr>
            <a:xfrm>
              <a:off x="3077" y="1746"/>
              <a:ext cx="64" cy="106"/>
            </a:xfrm>
            <a:prstGeom prst="rect">
              <a:avLst/>
            </a:prstGeom>
            <a:noFill/>
            <a:ln w="9525">
              <a:noFill/>
            </a:ln>
          </p:spPr>
          <p:txBody>
            <a:bodyPr wrap="none" lIns="0" tIns="0" rIns="0" bIns="0">
              <a:spAutoFit/>
            </a:bodyPr>
            <a:p>
              <a:pPr algn="l"/>
              <a:r>
                <a:rPr lang="en-US" altLang="zh-CN" sz="1100" b="0">
                  <a:solidFill>
                    <a:srgbClr val="000000"/>
                  </a:solidFill>
                  <a:latin typeface="Times New Roman" panose="02020603050405020304" charset="0"/>
                  <a:ea typeface="楷体_GB2312" panose="02010609030101010101" pitchFamily="49" charset="-122"/>
                </a:rPr>
                <a:t>D</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182" name="矩形 181"/>
            <p:cNvSpPr/>
            <p:nvPr/>
          </p:nvSpPr>
          <p:spPr>
            <a:xfrm>
              <a:off x="3140" y="1682"/>
              <a:ext cx="32" cy="154"/>
            </a:xfrm>
            <a:prstGeom prst="rect">
              <a:avLst/>
            </a:prstGeom>
            <a:noFill/>
            <a:ln w="9525">
              <a:noFill/>
            </a:ln>
          </p:spPr>
          <p:txBody>
            <a:bodyPr wrap="none" lIns="0" tIns="0" rIns="0" bIns="0">
              <a:spAutoFit/>
            </a:bodyPr>
            <a:p>
              <a:pPr algn="l"/>
              <a:r>
                <a:rPr lang="en-US" altLang="zh-CN" sz="1600" b="0">
                  <a:solidFill>
                    <a:srgbClr val="000000"/>
                  </a:solidFill>
                  <a:latin typeface="Times New Roman" panose="02020603050405020304" charset="0"/>
                  <a:ea typeface="楷体_GB2312" panose="02010609030101010101" pitchFamily="49" charset="-122"/>
                </a:rPr>
                <a:t> </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183" name="矩形 182"/>
            <p:cNvSpPr/>
            <p:nvPr/>
          </p:nvSpPr>
          <p:spPr>
            <a:xfrm>
              <a:off x="3511" y="2964"/>
              <a:ext cx="243" cy="222"/>
            </a:xfrm>
            <a:prstGeom prst="rect">
              <a:avLst/>
            </a:prstGeom>
            <a:noFill/>
            <a:ln w="9525">
              <a:noFill/>
            </a:ln>
          </p:spPr>
          <p:txBody>
            <a:bodyPr/>
            <a:p>
              <a:endParaRPr lang="zh-CN" altLang="en-US"/>
            </a:p>
          </p:txBody>
        </p:sp>
        <p:sp>
          <p:nvSpPr>
            <p:cNvPr id="184" name="矩形 183"/>
            <p:cNvSpPr/>
            <p:nvPr/>
          </p:nvSpPr>
          <p:spPr>
            <a:xfrm>
              <a:off x="3543" y="2974"/>
              <a:ext cx="78" cy="154"/>
            </a:xfrm>
            <a:prstGeom prst="rect">
              <a:avLst/>
            </a:prstGeom>
            <a:noFill/>
            <a:ln w="9525">
              <a:noFill/>
            </a:ln>
          </p:spPr>
          <p:txBody>
            <a:bodyPr wrap="none" lIns="0" tIns="0" rIns="0" bIns="0">
              <a:spAutoFit/>
            </a:bodyPr>
            <a:p>
              <a:pPr algn="l"/>
              <a:r>
                <a:rPr lang="en-US" altLang="zh-CN" sz="1600" b="0" i="1">
                  <a:solidFill>
                    <a:srgbClr val="000000"/>
                  </a:solidFill>
                  <a:latin typeface="Times New Roman" panose="02020603050405020304" charset="0"/>
                  <a:ea typeface="楷体_GB2312" panose="02010609030101010101" pitchFamily="49" charset="-122"/>
                </a:rPr>
                <a:t>V</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185" name="矩形 184"/>
            <p:cNvSpPr/>
            <p:nvPr/>
          </p:nvSpPr>
          <p:spPr>
            <a:xfrm>
              <a:off x="3617" y="3038"/>
              <a:ext cx="98" cy="106"/>
            </a:xfrm>
            <a:prstGeom prst="rect">
              <a:avLst/>
            </a:prstGeom>
            <a:noFill/>
            <a:ln w="9525">
              <a:noFill/>
            </a:ln>
          </p:spPr>
          <p:txBody>
            <a:bodyPr wrap="none" lIns="0" tIns="0" rIns="0" bIns="0">
              <a:spAutoFit/>
            </a:bodyPr>
            <a:p>
              <a:pPr algn="l"/>
              <a:r>
                <a:rPr lang="en-US" altLang="zh-CN" sz="1100" b="0">
                  <a:solidFill>
                    <a:srgbClr val="000000"/>
                  </a:solidFill>
                  <a:latin typeface="Times New Roman" panose="02020603050405020304" charset="0"/>
                  <a:ea typeface="楷体_GB2312" panose="02010609030101010101" pitchFamily="49" charset="-122"/>
                </a:rPr>
                <a:t>T1</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186" name="矩形 185"/>
            <p:cNvSpPr/>
            <p:nvPr/>
          </p:nvSpPr>
          <p:spPr>
            <a:xfrm>
              <a:off x="3712" y="2974"/>
              <a:ext cx="32" cy="154"/>
            </a:xfrm>
            <a:prstGeom prst="rect">
              <a:avLst/>
            </a:prstGeom>
            <a:noFill/>
            <a:ln w="9525">
              <a:noFill/>
            </a:ln>
          </p:spPr>
          <p:txBody>
            <a:bodyPr wrap="none" lIns="0" tIns="0" rIns="0" bIns="0">
              <a:spAutoFit/>
            </a:bodyPr>
            <a:p>
              <a:pPr algn="l"/>
              <a:r>
                <a:rPr lang="en-US" altLang="zh-CN" sz="1600" b="0">
                  <a:solidFill>
                    <a:srgbClr val="000000"/>
                  </a:solidFill>
                  <a:latin typeface="Times New Roman" panose="02020603050405020304" charset="0"/>
                  <a:ea typeface="楷体_GB2312" panose="02010609030101010101" pitchFamily="49" charset="-122"/>
                </a:rPr>
                <a:t> </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187" name="矩形 186"/>
            <p:cNvSpPr/>
            <p:nvPr/>
          </p:nvSpPr>
          <p:spPr>
            <a:xfrm>
              <a:off x="4294" y="2985"/>
              <a:ext cx="254" cy="223"/>
            </a:xfrm>
            <a:prstGeom prst="rect">
              <a:avLst/>
            </a:prstGeom>
            <a:noFill/>
            <a:ln w="9525">
              <a:noFill/>
            </a:ln>
          </p:spPr>
          <p:txBody>
            <a:bodyPr/>
            <a:p>
              <a:endParaRPr lang="zh-CN" altLang="en-US"/>
            </a:p>
          </p:txBody>
        </p:sp>
        <p:sp>
          <p:nvSpPr>
            <p:cNvPr id="188" name="矩形 187"/>
            <p:cNvSpPr/>
            <p:nvPr/>
          </p:nvSpPr>
          <p:spPr>
            <a:xfrm>
              <a:off x="4326" y="2996"/>
              <a:ext cx="78" cy="154"/>
            </a:xfrm>
            <a:prstGeom prst="rect">
              <a:avLst/>
            </a:prstGeom>
            <a:noFill/>
            <a:ln w="9525">
              <a:noFill/>
            </a:ln>
          </p:spPr>
          <p:txBody>
            <a:bodyPr wrap="none" lIns="0" tIns="0" rIns="0" bIns="0">
              <a:spAutoFit/>
            </a:bodyPr>
            <a:p>
              <a:pPr algn="l"/>
              <a:r>
                <a:rPr lang="en-US" altLang="zh-CN" sz="1600" b="0" i="1">
                  <a:solidFill>
                    <a:srgbClr val="000000"/>
                  </a:solidFill>
                  <a:latin typeface="Times New Roman" panose="02020603050405020304" charset="0"/>
                  <a:ea typeface="楷体_GB2312" panose="02010609030101010101" pitchFamily="49" charset="-122"/>
                </a:rPr>
                <a:t>V</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189" name="矩形 188"/>
            <p:cNvSpPr/>
            <p:nvPr/>
          </p:nvSpPr>
          <p:spPr>
            <a:xfrm>
              <a:off x="4400" y="3059"/>
              <a:ext cx="98" cy="106"/>
            </a:xfrm>
            <a:prstGeom prst="rect">
              <a:avLst/>
            </a:prstGeom>
            <a:noFill/>
            <a:ln w="9525">
              <a:noFill/>
            </a:ln>
          </p:spPr>
          <p:txBody>
            <a:bodyPr wrap="none" lIns="0" tIns="0" rIns="0" bIns="0">
              <a:spAutoFit/>
            </a:bodyPr>
            <a:p>
              <a:pPr algn="l"/>
              <a:r>
                <a:rPr lang="en-US" altLang="zh-CN" sz="1100" b="0">
                  <a:solidFill>
                    <a:srgbClr val="000000"/>
                  </a:solidFill>
                  <a:latin typeface="Times New Roman" panose="02020603050405020304" charset="0"/>
                  <a:ea typeface="楷体_GB2312" panose="02010609030101010101" pitchFamily="49" charset="-122"/>
                </a:rPr>
                <a:t>T2</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190" name="矩形 189"/>
            <p:cNvSpPr/>
            <p:nvPr/>
          </p:nvSpPr>
          <p:spPr>
            <a:xfrm>
              <a:off x="4495" y="2996"/>
              <a:ext cx="32" cy="154"/>
            </a:xfrm>
            <a:prstGeom prst="rect">
              <a:avLst/>
            </a:prstGeom>
            <a:noFill/>
            <a:ln w="9525">
              <a:noFill/>
            </a:ln>
          </p:spPr>
          <p:txBody>
            <a:bodyPr wrap="none" lIns="0" tIns="0" rIns="0" bIns="0">
              <a:spAutoFit/>
            </a:bodyPr>
            <a:p>
              <a:pPr algn="l"/>
              <a:r>
                <a:rPr lang="en-US" altLang="zh-CN" sz="1600" b="0">
                  <a:solidFill>
                    <a:srgbClr val="000000"/>
                  </a:solidFill>
                  <a:latin typeface="Times New Roman" panose="02020603050405020304" charset="0"/>
                  <a:ea typeface="楷体_GB2312" panose="02010609030101010101" pitchFamily="49" charset="-122"/>
                </a:rPr>
                <a:t> </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191" name="矩形 190"/>
            <p:cNvSpPr/>
            <p:nvPr/>
          </p:nvSpPr>
          <p:spPr>
            <a:xfrm>
              <a:off x="5131" y="3006"/>
              <a:ext cx="254" cy="223"/>
            </a:xfrm>
            <a:prstGeom prst="rect">
              <a:avLst/>
            </a:prstGeom>
            <a:noFill/>
            <a:ln w="9525">
              <a:noFill/>
            </a:ln>
          </p:spPr>
          <p:txBody>
            <a:bodyPr/>
            <a:p>
              <a:endParaRPr lang="zh-CN" altLang="en-US"/>
            </a:p>
          </p:txBody>
        </p:sp>
        <p:sp>
          <p:nvSpPr>
            <p:cNvPr id="192" name="矩形 191"/>
            <p:cNvSpPr/>
            <p:nvPr/>
          </p:nvSpPr>
          <p:spPr>
            <a:xfrm>
              <a:off x="5162" y="3017"/>
              <a:ext cx="57" cy="154"/>
            </a:xfrm>
            <a:prstGeom prst="rect">
              <a:avLst/>
            </a:prstGeom>
            <a:noFill/>
            <a:ln w="9525">
              <a:noFill/>
            </a:ln>
          </p:spPr>
          <p:txBody>
            <a:bodyPr wrap="none" lIns="0" tIns="0" rIns="0" bIns="0">
              <a:spAutoFit/>
            </a:bodyPr>
            <a:p>
              <a:pPr algn="l"/>
              <a:r>
                <a:rPr lang="en-US" altLang="zh-CN" sz="1600" b="0" i="1">
                  <a:solidFill>
                    <a:srgbClr val="000000"/>
                  </a:solidFill>
                  <a:latin typeface="Times New Roman" panose="02020603050405020304" charset="0"/>
                  <a:ea typeface="楷体_GB2312" panose="02010609030101010101" pitchFamily="49" charset="-122"/>
                </a:rPr>
                <a:t>v</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193" name="矩形 192"/>
            <p:cNvSpPr/>
            <p:nvPr/>
          </p:nvSpPr>
          <p:spPr>
            <a:xfrm>
              <a:off x="5226" y="3080"/>
              <a:ext cx="113" cy="106"/>
            </a:xfrm>
            <a:prstGeom prst="rect">
              <a:avLst/>
            </a:prstGeom>
            <a:noFill/>
            <a:ln w="9525">
              <a:noFill/>
            </a:ln>
          </p:spPr>
          <p:txBody>
            <a:bodyPr wrap="none" lIns="0" tIns="0" rIns="0" bIns="0">
              <a:spAutoFit/>
            </a:bodyPr>
            <a:p>
              <a:pPr algn="l"/>
              <a:r>
                <a:rPr lang="en-US" altLang="zh-CN" sz="1100" b="0">
                  <a:solidFill>
                    <a:srgbClr val="000000"/>
                  </a:solidFill>
                  <a:latin typeface="Times New Roman" panose="02020603050405020304" charset="0"/>
                  <a:ea typeface="楷体_GB2312" panose="02010609030101010101" pitchFamily="49" charset="-122"/>
                </a:rPr>
                <a:t>GS</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194" name="矩形 193"/>
            <p:cNvSpPr/>
            <p:nvPr/>
          </p:nvSpPr>
          <p:spPr>
            <a:xfrm>
              <a:off x="5332" y="3017"/>
              <a:ext cx="32" cy="154"/>
            </a:xfrm>
            <a:prstGeom prst="rect">
              <a:avLst/>
            </a:prstGeom>
            <a:noFill/>
            <a:ln w="9525">
              <a:noFill/>
            </a:ln>
          </p:spPr>
          <p:txBody>
            <a:bodyPr wrap="none" lIns="0" tIns="0" rIns="0" bIns="0">
              <a:spAutoFit/>
            </a:bodyPr>
            <a:p>
              <a:pPr algn="l"/>
              <a:r>
                <a:rPr lang="en-US" altLang="zh-CN" sz="1600" b="0">
                  <a:solidFill>
                    <a:srgbClr val="000000"/>
                  </a:solidFill>
                  <a:latin typeface="Times New Roman" panose="02020603050405020304" charset="0"/>
                  <a:ea typeface="楷体_GB2312" panose="02010609030101010101" pitchFamily="49" charset="-122"/>
                </a:rPr>
                <a:t> </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195" name="矩形 194"/>
            <p:cNvSpPr/>
            <p:nvPr/>
          </p:nvSpPr>
          <p:spPr>
            <a:xfrm>
              <a:off x="3426" y="1693"/>
              <a:ext cx="731" cy="243"/>
            </a:xfrm>
            <a:prstGeom prst="rect">
              <a:avLst/>
            </a:prstGeom>
            <a:noFill/>
            <a:ln w="9525">
              <a:noFill/>
            </a:ln>
          </p:spPr>
          <p:txBody>
            <a:bodyPr/>
            <a:p>
              <a:endParaRPr lang="zh-CN" altLang="en-US"/>
            </a:p>
          </p:txBody>
        </p:sp>
        <p:sp>
          <p:nvSpPr>
            <p:cNvPr id="196" name="矩形 195"/>
            <p:cNvSpPr/>
            <p:nvPr/>
          </p:nvSpPr>
          <p:spPr>
            <a:xfrm>
              <a:off x="3469" y="1714"/>
              <a:ext cx="640" cy="154"/>
            </a:xfrm>
            <a:prstGeom prst="rect">
              <a:avLst/>
            </a:prstGeom>
            <a:noFill/>
            <a:ln w="9525">
              <a:noFill/>
            </a:ln>
          </p:spPr>
          <p:txBody>
            <a:bodyPr wrap="none" lIns="0" tIns="0" rIns="0" bIns="0">
              <a:spAutoFit/>
            </a:bodyPr>
            <a:p>
              <a:pPr algn="l"/>
              <a:r>
                <a:rPr lang="zh-CN" altLang="en-US" sz="1600" b="0" dirty="0">
                  <a:solidFill>
                    <a:srgbClr val="000000"/>
                  </a:solidFill>
                  <a:latin typeface="宋体" panose="02010600030101010101" pitchFamily="2" charset="-122"/>
                  <a:ea typeface="宋体" panose="02010600030101010101" pitchFamily="2" charset="-122"/>
                </a:rPr>
                <a:t>浮栅无电子</a:t>
              </a:r>
              <a:endParaRPr lang="zh-CN" altLang="en-US" sz="2400" dirty="0">
                <a:solidFill>
                  <a:schemeClr val="tx1"/>
                </a:solidFill>
                <a:latin typeface="Tahoma" panose="020B0604030504040204" pitchFamily="34" charset="0"/>
                <a:ea typeface="楷体_GB2312" panose="02010609030101010101" pitchFamily="49" charset="-122"/>
              </a:endParaRPr>
            </a:p>
          </p:txBody>
        </p:sp>
        <p:sp>
          <p:nvSpPr>
            <p:cNvPr id="197" name="矩形 196"/>
            <p:cNvSpPr/>
            <p:nvPr/>
          </p:nvSpPr>
          <p:spPr>
            <a:xfrm>
              <a:off x="4104" y="1693"/>
              <a:ext cx="32" cy="154"/>
            </a:xfrm>
            <a:prstGeom prst="rect">
              <a:avLst/>
            </a:prstGeom>
            <a:noFill/>
            <a:ln w="9525">
              <a:noFill/>
            </a:ln>
          </p:spPr>
          <p:txBody>
            <a:bodyPr wrap="none" lIns="0" tIns="0" rIns="0" bIns="0">
              <a:spAutoFit/>
            </a:bodyPr>
            <a:p>
              <a:pPr algn="l"/>
              <a:r>
                <a:rPr lang="en-US" altLang="zh-CN" sz="1600" b="0">
                  <a:solidFill>
                    <a:srgbClr val="000000"/>
                  </a:solidFill>
                  <a:latin typeface="Times New Roman" panose="02020603050405020304" charset="0"/>
                  <a:ea typeface="楷体_GB2312" panose="02010609030101010101" pitchFamily="49" charset="-122"/>
                </a:rPr>
                <a:t> </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198" name="矩形 197"/>
            <p:cNvSpPr/>
            <p:nvPr/>
          </p:nvSpPr>
          <p:spPr>
            <a:xfrm>
              <a:off x="3066" y="2964"/>
              <a:ext cx="254" cy="222"/>
            </a:xfrm>
            <a:prstGeom prst="rect">
              <a:avLst/>
            </a:prstGeom>
            <a:noFill/>
            <a:ln w="9525">
              <a:noFill/>
            </a:ln>
          </p:spPr>
          <p:txBody>
            <a:bodyPr/>
            <a:p>
              <a:endParaRPr lang="zh-CN" altLang="en-US"/>
            </a:p>
          </p:txBody>
        </p:sp>
        <p:sp>
          <p:nvSpPr>
            <p:cNvPr id="199" name="矩形 198"/>
            <p:cNvSpPr/>
            <p:nvPr/>
          </p:nvSpPr>
          <p:spPr>
            <a:xfrm>
              <a:off x="3140" y="2974"/>
              <a:ext cx="92" cy="154"/>
            </a:xfrm>
            <a:prstGeom prst="rect">
              <a:avLst/>
            </a:prstGeom>
            <a:noFill/>
            <a:ln w="9525">
              <a:noFill/>
            </a:ln>
          </p:spPr>
          <p:txBody>
            <a:bodyPr wrap="none" lIns="0" tIns="0" rIns="0" bIns="0">
              <a:spAutoFit/>
            </a:bodyPr>
            <a:p>
              <a:pPr algn="l"/>
              <a:r>
                <a:rPr lang="en-US" altLang="zh-CN" sz="1600" b="0" i="1">
                  <a:solidFill>
                    <a:srgbClr val="000000"/>
                  </a:solidFill>
                  <a:latin typeface="Times New Roman" panose="02020603050405020304" charset="0"/>
                  <a:ea typeface="楷体_GB2312" panose="02010609030101010101" pitchFamily="49" charset="-122"/>
                </a:rPr>
                <a:t>O</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200" name="矩形 199"/>
            <p:cNvSpPr/>
            <p:nvPr/>
          </p:nvSpPr>
          <p:spPr>
            <a:xfrm>
              <a:off x="3236" y="2974"/>
              <a:ext cx="32" cy="154"/>
            </a:xfrm>
            <a:prstGeom prst="rect">
              <a:avLst/>
            </a:prstGeom>
            <a:noFill/>
            <a:ln w="9525">
              <a:noFill/>
            </a:ln>
          </p:spPr>
          <p:txBody>
            <a:bodyPr wrap="none" lIns="0" tIns="0" rIns="0" bIns="0">
              <a:spAutoFit/>
            </a:bodyPr>
            <a:p>
              <a:pPr algn="l"/>
              <a:r>
                <a:rPr lang="en-US" altLang="zh-CN" sz="1600" b="0" i="1">
                  <a:solidFill>
                    <a:srgbClr val="000000"/>
                  </a:solidFill>
                  <a:latin typeface="Times New Roman" panose="02020603050405020304" charset="0"/>
                  <a:ea typeface="楷体_GB2312" panose="02010609030101010101" pitchFamily="49" charset="-122"/>
                </a:rPr>
                <a:t> </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201" name="矩形 200"/>
            <p:cNvSpPr/>
            <p:nvPr/>
          </p:nvSpPr>
          <p:spPr>
            <a:xfrm>
              <a:off x="3469" y="3165"/>
              <a:ext cx="730" cy="170"/>
            </a:xfrm>
            <a:prstGeom prst="rect">
              <a:avLst/>
            </a:prstGeom>
            <a:noFill/>
            <a:ln w="9525">
              <a:noFill/>
            </a:ln>
          </p:spPr>
          <p:txBody>
            <a:bodyPr/>
            <a:p>
              <a:endParaRPr lang="zh-CN" altLang="en-US"/>
            </a:p>
          </p:txBody>
        </p:sp>
        <p:sp>
          <p:nvSpPr>
            <p:cNvPr id="202" name="矩形 201"/>
            <p:cNvSpPr/>
            <p:nvPr/>
          </p:nvSpPr>
          <p:spPr>
            <a:xfrm>
              <a:off x="3638" y="3176"/>
              <a:ext cx="384" cy="154"/>
            </a:xfrm>
            <a:prstGeom prst="rect">
              <a:avLst/>
            </a:prstGeom>
            <a:noFill/>
            <a:ln w="9525">
              <a:noFill/>
            </a:ln>
          </p:spPr>
          <p:txBody>
            <a:bodyPr wrap="none" lIns="0" tIns="0" rIns="0" bIns="0">
              <a:spAutoFit/>
            </a:bodyPr>
            <a:p>
              <a:pPr algn="l"/>
              <a:r>
                <a:rPr lang="zh-CN" altLang="en-US" sz="1600" b="0" dirty="0">
                  <a:solidFill>
                    <a:srgbClr val="000000"/>
                  </a:solidFill>
                  <a:latin typeface="宋体" panose="02010600030101010101" pitchFamily="2" charset="-122"/>
                  <a:ea typeface="宋体" panose="02010600030101010101" pitchFamily="2" charset="-122"/>
                </a:rPr>
                <a:t>编程前</a:t>
              </a:r>
              <a:endParaRPr lang="zh-CN" altLang="en-US" sz="2400" dirty="0">
                <a:solidFill>
                  <a:schemeClr val="tx1"/>
                </a:solidFill>
                <a:latin typeface="Tahoma" panose="020B0604030504040204" pitchFamily="34" charset="0"/>
                <a:ea typeface="楷体_GB2312" panose="02010609030101010101" pitchFamily="49" charset="-122"/>
              </a:endParaRPr>
            </a:p>
          </p:txBody>
        </p:sp>
        <p:sp>
          <p:nvSpPr>
            <p:cNvPr id="203" name="矩形 202"/>
            <p:cNvSpPr/>
            <p:nvPr/>
          </p:nvSpPr>
          <p:spPr>
            <a:xfrm>
              <a:off x="4019" y="3155"/>
              <a:ext cx="32" cy="154"/>
            </a:xfrm>
            <a:prstGeom prst="rect">
              <a:avLst/>
            </a:prstGeom>
            <a:noFill/>
            <a:ln w="9525">
              <a:noFill/>
            </a:ln>
          </p:spPr>
          <p:txBody>
            <a:bodyPr wrap="none" lIns="0" tIns="0" rIns="0" bIns="0">
              <a:spAutoFit/>
            </a:bodyPr>
            <a:p>
              <a:pPr algn="l"/>
              <a:r>
                <a:rPr lang="en-US" altLang="zh-CN" sz="1600" b="0">
                  <a:solidFill>
                    <a:srgbClr val="000000"/>
                  </a:solidFill>
                  <a:latin typeface="Times New Roman" panose="02020603050405020304" charset="0"/>
                  <a:ea typeface="楷体_GB2312" panose="02010609030101010101" pitchFamily="49" charset="-122"/>
                </a:rPr>
                <a:t> </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204" name="矩形 203"/>
            <p:cNvSpPr/>
            <p:nvPr/>
          </p:nvSpPr>
          <p:spPr>
            <a:xfrm>
              <a:off x="4453" y="3165"/>
              <a:ext cx="730" cy="170"/>
            </a:xfrm>
            <a:prstGeom prst="rect">
              <a:avLst/>
            </a:prstGeom>
            <a:noFill/>
            <a:ln w="9525">
              <a:noFill/>
            </a:ln>
          </p:spPr>
          <p:txBody>
            <a:bodyPr/>
            <a:p>
              <a:endParaRPr lang="zh-CN" altLang="en-US"/>
            </a:p>
          </p:txBody>
        </p:sp>
        <p:sp>
          <p:nvSpPr>
            <p:cNvPr id="205" name="矩形 204"/>
            <p:cNvSpPr/>
            <p:nvPr/>
          </p:nvSpPr>
          <p:spPr>
            <a:xfrm>
              <a:off x="5003" y="3155"/>
              <a:ext cx="32" cy="154"/>
            </a:xfrm>
            <a:prstGeom prst="rect">
              <a:avLst/>
            </a:prstGeom>
            <a:noFill/>
            <a:ln w="9525">
              <a:noFill/>
            </a:ln>
          </p:spPr>
          <p:txBody>
            <a:bodyPr wrap="none" lIns="0" tIns="0" rIns="0" bIns="0">
              <a:spAutoFit/>
            </a:bodyPr>
            <a:p>
              <a:pPr algn="l"/>
              <a:r>
                <a:rPr lang="en-US" altLang="zh-CN" sz="1600" b="0">
                  <a:solidFill>
                    <a:srgbClr val="000000"/>
                  </a:solidFill>
                  <a:latin typeface="Times New Roman" panose="02020603050405020304" charset="0"/>
                  <a:ea typeface="楷体_GB2312" panose="02010609030101010101" pitchFamily="49" charset="-122"/>
                </a:rPr>
                <a:t> </a:t>
              </a:r>
              <a:endParaRPr lang="en-US" altLang="zh-CN" sz="2400">
                <a:solidFill>
                  <a:schemeClr val="tx1"/>
                </a:solidFill>
                <a:latin typeface="Tahoma" panose="020B0604030504040204" pitchFamily="34" charset="0"/>
                <a:ea typeface="楷体_GB2312" panose="02010609030101010101" pitchFamily="49" charset="-122"/>
              </a:endParaRPr>
            </a:p>
          </p:txBody>
        </p:sp>
      </p:grpSp>
      <p:grpSp>
        <p:nvGrpSpPr>
          <p:cNvPr id="206" name="组合 205"/>
          <p:cNvGrpSpPr/>
          <p:nvPr/>
        </p:nvGrpSpPr>
        <p:grpSpPr>
          <a:xfrm>
            <a:off x="2268538" y="4081463"/>
            <a:ext cx="588962" cy="0"/>
            <a:chOff x="1015" y="2387"/>
            <a:chExt cx="371" cy="0"/>
          </a:xfrm>
        </p:grpSpPr>
        <p:sp>
          <p:nvSpPr>
            <p:cNvPr id="207" name="直接连接符 206"/>
            <p:cNvSpPr/>
            <p:nvPr/>
          </p:nvSpPr>
          <p:spPr>
            <a:xfrm>
              <a:off x="1015" y="2387"/>
              <a:ext cx="48" cy="0"/>
            </a:xfrm>
            <a:prstGeom prst="line">
              <a:avLst/>
            </a:prstGeom>
            <a:ln w="57150" cap="flat" cmpd="sng">
              <a:solidFill>
                <a:srgbClr val="FF0000"/>
              </a:solidFill>
              <a:prstDash val="solid"/>
              <a:headEnd type="none" w="med" len="med"/>
              <a:tailEnd type="none" w="med" len="med"/>
            </a:ln>
          </p:spPr>
        </p:sp>
        <p:sp>
          <p:nvSpPr>
            <p:cNvPr id="208" name="直接连接符 207"/>
            <p:cNvSpPr/>
            <p:nvPr/>
          </p:nvSpPr>
          <p:spPr>
            <a:xfrm>
              <a:off x="1111" y="2387"/>
              <a:ext cx="48" cy="0"/>
            </a:xfrm>
            <a:prstGeom prst="line">
              <a:avLst/>
            </a:prstGeom>
            <a:ln w="57150" cap="flat" cmpd="sng">
              <a:solidFill>
                <a:srgbClr val="FF0000"/>
              </a:solidFill>
              <a:prstDash val="solid"/>
              <a:headEnd type="none" w="med" len="med"/>
              <a:tailEnd type="none" w="med" len="med"/>
            </a:ln>
          </p:spPr>
        </p:sp>
        <p:sp>
          <p:nvSpPr>
            <p:cNvPr id="209" name="直接连接符 208"/>
            <p:cNvSpPr/>
            <p:nvPr/>
          </p:nvSpPr>
          <p:spPr>
            <a:xfrm>
              <a:off x="1242" y="2387"/>
              <a:ext cx="48" cy="0"/>
            </a:xfrm>
            <a:prstGeom prst="line">
              <a:avLst/>
            </a:prstGeom>
            <a:ln w="57150" cap="flat" cmpd="sng">
              <a:solidFill>
                <a:srgbClr val="FF0000"/>
              </a:solidFill>
              <a:prstDash val="solid"/>
              <a:headEnd type="none" w="med" len="med"/>
              <a:tailEnd type="none" w="med" len="med"/>
            </a:ln>
          </p:spPr>
        </p:sp>
        <p:sp>
          <p:nvSpPr>
            <p:cNvPr id="210" name="直接连接符 209"/>
            <p:cNvSpPr/>
            <p:nvPr/>
          </p:nvSpPr>
          <p:spPr>
            <a:xfrm>
              <a:off x="1338" y="2387"/>
              <a:ext cx="48" cy="0"/>
            </a:xfrm>
            <a:prstGeom prst="line">
              <a:avLst/>
            </a:prstGeom>
            <a:ln w="57150" cap="flat" cmpd="sng">
              <a:solidFill>
                <a:srgbClr val="FF0000"/>
              </a:solidFill>
              <a:prstDash val="solid"/>
              <a:headEnd type="none" w="med" len="med"/>
              <a:tailEnd type="none" w="med" len="med"/>
            </a:ln>
          </p:spPr>
        </p:sp>
      </p:grpSp>
      <p:grpSp>
        <p:nvGrpSpPr>
          <p:cNvPr id="211" name="组合 210"/>
          <p:cNvGrpSpPr>
            <a:grpSpLocks noChangeAspect="1"/>
          </p:cNvGrpSpPr>
          <p:nvPr/>
        </p:nvGrpSpPr>
        <p:grpSpPr>
          <a:xfrm>
            <a:off x="4716463" y="2865438"/>
            <a:ext cx="3832225" cy="2724150"/>
            <a:chOff x="2426" y="1661"/>
            <a:chExt cx="2414" cy="1716"/>
          </a:xfrm>
        </p:grpSpPr>
        <p:sp>
          <p:nvSpPr>
            <p:cNvPr id="212" name="矩形 211"/>
            <p:cNvSpPr>
              <a:spLocks noChangeAspect="1" noTextEdit="1"/>
            </p:cNvSpPr>
            <p:nvPr/>
          </p:nvSpPr>
          <p:spPr>
            <a:xfrm>
              <a:off x="2426" y="1661"/>
              <a:ext cx="2403" cy="1716"/>
            </a:xfrm>
            <a:prstGeom prst="rect">
              <a:avLst/>
            </a:prstGeom>
            <a:noFill/>
            <a:ln w="9525">
              <a:noFill/>
            </a:ln>
          </p:spPr>
          <p:txBody>
            <a:bodyPr/>
            <a:p>
              <a:endParaRPr lang="zh-CN" altLang="en-US"/>
            </a:p>
          </p:txBody>
        </p:sp>
        <p:sp>
          <p:nvSpPr>
            <p:cNvPr id="213" name="矩形 212"/>
            <p:cNvSpPr/>
            <p:nvPr/>
          </p:nvSpPr>
          <p:spPr>
            <a:xfrm>
              <a:off x="2426" y="1661"/>
              <a:ext cx="38" cy="182"/>
            </a:xfrm>
            <a:prstGeom prst="rect">
              <a:avLst/>
            </a:prstGeom>
            <a:noFill/>
            <a:ln w="9525">
              <a:noFill/>
            </a:ln>
          </p:spPr>
          <p:txBody>
            <a:bodyPr wrap="none" lIns="0" tIns="0" rIns="0" bIns="0">
              <a:spAutoFit/>
            </a:bodyPr>
            <a:p>
              <a:pPr algn="l"/>
              <a:r>
                <a:rPr lang="en-US" altLang="zh-CN" sz="1900" b="0">
                  <a:solidFill>
                    <a:srgbClr val="000000"/>
                  </a:solidFill>
                  <a:latin typeface="Times New Roman" panose="02020603050405020304" charset="0"/>
                  <a:ea typeface="楷体_GB2312" panose="02010609030101010101" pitchFamily="49" charset="-122"/>
                </a:rPr>
                <a:t> </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214" name="任意多边形 213"/>
            <p:cNvSpPr/>
            <p:nvPr/>
          </p:nvSpPr>
          <p:spPr>
            <a:xfrm>
              <a:off x="2701" y="1693"/>
              <a:ext cx="32" cy="148"/>
            </a:xfrm>
            <a:custGeom>
              <a:avLst/>
              <a:gdLst/>
              <a:ahLst/>
              <a:cxnLst/>
              <a:pathLst>
                <a:path w="32" h="148">
                  <a:moveTo>
                    <a:pt x="0" y="148"/>
                  </a:moveTo>
                  <a:lnTo>
                    <a:pt x="32" y="148"/>
                  </a:lnTo>
                  <a:lnTo>
                    <a:pt x="21" y="0"/>
                  </a:lnTo>
                  <a:lnTo>
                    <a:pt x="0" y="148"/>
                  </a:lnTo>
                  <a:close/>
                </a:path>
              </a:pathLst>
            </a:custGeom>
            <a:solidFill>
              <a:srgbClr val="000000"/>
            </a:solidFill>
            <a:ln w="17463" cap="flat" cmpd="sng">
              <a:solidFill>
                <a:srgbClr val="000000"/>
              </a:solidFill>
              <a:prstDash val="solid"/>
              <a:headEnd type="none" w="med" len="med"/>
              <a:tailEnd type="none" w="med" len="med"/>
            </a:ln>
          </p:spPr>
          <p:txBody>
            <a:bodyPr/>
            <a:p>
              <a:endParaRPr lang="zh-CN" altLang="en-US"/>
            </a:p>
          </p:txBody>
        </p:sp>
        <p:sp>
          <p:nvSpPr>
            <p:cNvPr id="215" name="直接连接符 214"/>
            <p:cNvSpPr/>
            <p:nvPr/>
          </p:nvSpPr>
          <p:spPr>
            <a:xfrm flipV="1">
              <a:off x="2722" y="1830"/>
              <a:ext cx="1" cy="1113"/>
            </a:xfrm>
            <a:prstGeom prst="line">
              <a:avLst/>
            </a:prstGeom>
            <a:ln w="17463" cap="flat" cmpd="sng">
              <a:solidFill>
                <a:srgbClr val="000000"/>
              </a:solidFill>
              <a:prstDash val="solid"/>
              <a:headEnd type="none" w="med" len="med"/>
              <a:tailEnd type="none" w="med" len="med"/>
            </a:ln>
          </p:spPr>
        </p:sp>
        <p:sp>
          <p:nvSpPr>
            <p:cNvPr id="216" name="任意多边形 215"/>
            <p:cNvSpPr/>
            <p:nvPr/>
          </p:nvSpPr>
          <p:spPr>
            <a:xfrm>
              <a:off x="4596" y="2932"/>
              <a:ext cx="159" cy="32"/>
            </a:xfrm>
            <a:custGeom>
              <a:avLst/>
              <a:gdLst/>
              <a:ahLst/>
              <a:cxnLst/>
              <a:pathLst>
                <a:path w="159" h="32">
                  <a:moveTo>
                    <a:pt x="0" y="0"/>
                  </a:moveTo>
                  <a:lnTo>
                    <a:pt x="0" y="32"/>
                  </a:lnTo>
                  <a:lnTo>
                    <a:pt x="159" y="21"/>
                  </a:lnTo>
                  <a:lnTo>
                    <a:pt x="0" y="0"/>
                  </a:lnTo>
                  <a:close/>
                </a:path>
              </a:pathLst>
            </a:custGeom>
            <a:solidFill>
              <a:srgbClr val="000000"/>
            </a:solidFill>
            <a:ln w="17463" cap="flat" cmpd="sng">
              <a:solidFill>
                <a:srgbClr val="000000"/>
              </a:solidFill>
              <a:prstDash val="solid"/>
              <a:headEnd type="none" w="med" len="med"/>
              <a:tailEnd type="none" w="med" len="med"/>
            </a:ln>
          </p:spPr>
          <p:txBody>
            <a:bodyPr/>
            <a:p>
              <a:endParaRPr lang="zh-CN" altLang="en-US"/>
            </a:p>
          </p:txBody>
        </p:sp>
        <p:sp>
          <p:nvSpPr>
            <p:cNvPr id="217" name="直接连接符 216"/>
            <p:cNvSpPr/>
            <p:nvPr/>
          </p:nvSpPr>
          <p:spPr>
            <a:xfrm>
              <a:off x="2722" y="2953"/>
              <a:ext cx="2033" cy="1"/>
            </a:xfrm>
            <a:prstGeom prst="line">
              <a:avLst/>
            </a:prstGeom>
            <a:ln w="17463" cap="flat" cmpd="sng">
              <a:solidFill>
                <a:srgbClr val="000000"/>
              </a:solidFill>
              <a:prstDash val="solid"/>
              <a:headEnd type="none" w="med" len="med"/>
              <a:tailEnd type="none" w="med" len="med"/>
            </a:ln>
          </p:spPr>
        </p:sp>
        <p:sp>
          <p:nvSpPr>
            <p:cNvPr id="218" name="任意多边形 217"/>
            <p:cNvSpPr/>
            <p:nvPr/>
          </p:nvSpPr>
          <p:spPr>
            <a:xfrm>
              <a:off x="3051" y="1989"/>
              <a:ext cx="285" cy="975"/>
            </a:xfrm>
            <a:custGeom>
              <a:avLst/>
              <a:gdLst/>
              <a:ahLst/>
              <a:cxnLst/>
              <a:pathLst>
                <a:path w="285" h="975">
                  <a:moveTo>
                    <a:pt x="285" y="0"/>
                  </a:moveTo>
                  <a:lnTo>
                    <a:pt x="264" y="0"/>
                  </a:lnTo>
                  <a:lnTo>
                    <a:pt x="232" y="191"/>
                  </a:lnTo>
                  <a:lnTo>
                    <a:pt x="201" y="361"/>
                  </a:lnTo>
                  <a:lnTo>
                    <a:pt x="169" y="519"/>
                  </a:lnTo>
                  <a:lnTo>
                    <a:pt x="127" y="657"/>
                  </a:lnTo>
                  <a:lnTo>
                    <a:pt x="95" y="774"/>
                  </a:lnTo>
                  <a:lnTo>
                    <a:pt x="52" y="858"/>
                  </a:lnTo>
                  <a:lnTo>
                    <a:pt x="63" y="858"/>
                  </a:lnTo>
                  <a:lnTo>
                    <a:pt x="63" y="848"/>
                  </a:lnTo>
                  <a:lnTo>
                    <a:pt x="31" y="911"/>
                  </a:lnTo>
                  <a:lnTo>
                    <a:pt x="21" y="922"/>
                  </a:lnTo>
                  <a:lnTo>
                    <a:pt x="0" y="964"/>
                  </a:lnTo>
                  <a:lnTo>
                    <a:pt x="21" y="975"/>
                  </a:lnTo>
                  <a:lnTo>
                    <a:pt x="42" y="922"/>
                  </a:lnTo>
                  <a:lnTo>
                    <a:pt x="31" y="922"/>
                  </a:lnTo>
                  <a:lnTo>
                    <a:pt x="42" y="933"/>
                  </a:lnTo>
                  <a:lnTo>
                    <a:pt x="74" y="869"/>
                  </a:lnTo>
                  <a:lnTo>
                    <a:pt x="74" y="858"/>
                  </a:lnTo>
                  <a:lnTo>
                    <a:pt x="74" y="858"/>
                  </a:lnTo>
                  <a:lnTo>
                    <a:pt x="116" y="774"/>
                  </a:lnTo>
                  <a:lnTo>
                    <a:pt x="148" y="668"/>
                  </a:lnTo>
                  <a:lnTo>
                    <a:pt x="190" y="519"/>
                  </a:lnTo>
                  <a:lnTo>
                    <a:pt x="222" y="361"/>
                  </a:lnTo>
                  <a:lnTo>
                    <a:pt x="254" y="191"/>
                  </a:lnTo>
                  <a:lnTo>
                    <a:pt x="285" y="0"/>
                  </a:lnTo>
                  <a:close/>
                </a:path>
              </a:pathLst>
            </a:custGeom>
            <a:solidFill>
              <a:srgbClr val="000000"/>
            </a:solidFill>
            <a:ln w="9525">
              <a:noFill/>
            </a:ln>
          </p:spPr>
          <p:txBody>
            <a:bodyPr/>
            <a:p>
              <a:endParaRPr lang="zh-CN" altLang="en-US"/>
            </a:p>
          </p:txBody>
        </p:sp>
        <p:sp>
          <p:nvSpPr>
            <p:cNvPr id="219" name="任意多边形 218"/>
            <p:cNvSpPr/>
            <p:nvPr/>
          </p:nvSpPr>
          <p:spPr>
            <a:xfrm>
              <a:off x="3855" y="1968"/>
              <a:ext cx="286" cy="996"/>
            </a:xfrm>
            <a:custGeom>
              <a:avLst/>
              <a:gdLst/>
              <a:ahLst/>
              <a:cxnLst/>
              <a:pathLst>
                <a:path w="286" h="996">
                  <a:moveTo>
                    <a:pt x="286" y="0"/>
                  </a:moveTo>
                  <a:lnTo>
                    <a:pt x="265" y="0"/>
                  </a:lnTo>
                  <a:lnTo>
                    <a:pt x="233" y="191"/>
                  </a:lnTo>
                  <a:lnTo>
                    <a:pt x="201" y="371"/>
                  </a:lnTo>
                  <a:lnTo>
                    <a:pt x="169" y="540"/>
                  </a:lnTo>
                  <a:lnTo>
                    <a:pt x="127" y="678"/>
                  </a:lnTo>
                  <a:lnTo>
                    <a:pt x="95" y="784"/>
                  </a:lnTo>
                  <a:lnTo>
                    <a:pt x="53" y="869"/>
                  </a:lnTo>
                  <a:lnTo>
                    <a:pt x="21" y="943"/>
                  </a:lnTo>
                  <a:lnTo>
                    <a:pt x="0" y="985"/>
                  </a:lnTo>
                  <a:lnTo>
                    <a:pt x="21" y="996"/>
                  </a:lnTo>
                  <a:lnTo>
                    <a:pt x="42" y="943"/>
                  </a:lnTo>
                  <a:lnTo>
                    <a:pt x="74" y="869"/>
                  </a:lnTo>
                  <a:lnTo>
                    <a:pt x="117" y="784"/>
                  </a:lnTo>
                  <a:lnTo>
                    <a:pt x="148" y="689"/>
                  </a:lnTo>
                  <a:lnTo>
                    <a:pt x="191" y="540"/>
                  </a:lnTo>
                  <a:lnTo>
                    <a:pt x="222" y="371"/>
                  </a:lnTo>
                  <a:lnTo>
                    <a:pt x="254" y="191"/>
                  </a:lnTo>
                  <a:lnTo>
                    <a:pt x="286" y="0"/>
                  </a:lnTo>
                  <a:close/>
                </a:path>
              </a:pathLst>
            </a:custGeom>
            <a:solidFill>
              <a:srgbClr val="000000"/>
            </a:solidFill>
            <a:ln w="9525">
              <a:noFill/>
            </a:ln>
          </p:spPr>
          <p:txBody>
            <a:bodyPr/>
            <a:p>
              <a:endParaRPr lang="zh-CN" altLang="en-US"/>
            </a:p>
          </p:txBody>
        </p:sp>
        <p:sp>
          <p:nvSpPr>
            <p:cNvPr id="220" name="矩形 219"/>
            <p:cNvSpPr/>
            <p:nvPr/>
          </p:nvSpPr>
          <p:spPr>
            <a:xfrm>
              <a:off x="2426" y="1672"/>
              <a:ext cx="254" cy="222"/>
            </a:xfrm>
            <a:prstGeom prst="rect">
              <a:avLst/>
            </a:prstGeom>
            <a:noFill/>
            <a:ln w="9525">
              <a:noFill/>
            </a:ln>
          </p:spPr>
          <p:txBody>
            <a:bodyPr/>
            <a:p>
              <a:endParaRPr lang="zh-CN" altLang="en-US"/>
            </a:p>
          </p:txBody>
        </p:sp>
        <p:sp>
          <p:nvSpPr>
            <p:cNvPr id="221" name="矩形 220"/>
            <p:cNvSpPr/>
            <p:nvPr/>
          </p:nvSpPr>
          <p:spPr>
            <a:xfrm>
              <a:off x="2500" y="1682"/>
              <a:ext cx="36" cy="154"/>
            </a:xfrm>
            <a:prstGeom prst="rect">
              <a:avLst/>
            </a:prstGeom>
            <a:noFill/>
            <a:ln w="9525">
              <a:noFill/>
            </a:ln>
          </p:spPr>
          <p:txBody>
            <a:bodyPr wrap="none" lIns="0" tIns="0" rIns="0" bIns="0">
              <a:spAutoFit/>
            </a:bodyPr>
            <a:p>
              <a:pPr algn="l"/>
              <a:r>
                <a:rPr lang="en-US" altLang="zh-CN" sz="1600" b="0" i="1">
                  <a:solidFill>
                    <a:srgbClr val="000000"/>
                  </a:solidFill>
                  <a:latin typeface="Times New Roman" panose="02020603050405020304" charset="0"/>
                  <a:ea typeface="楷体_GB2312" panose="02010609030101010101" pitchFamily="49" charset="-122"/>
                </a:rPr>
                <a:t>i</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222" name="矩形 221"/>
            <p:cNvSpPr/>
            <p:nvPr/>
          </p:nvSpPr>
          <p:spPr>
            <a:xfrm>
              <a:off x="2532" y="1746"/>
              <a:ext cx="64" cy="106"/>
            </a:xfrm>
            <a:prstGeom prst="rect">
              <a:avLst/>
            </a:prstGeom>
            <a:noFill/>
            <a:ln w="9525">
              <a:noFill/>
            </a:ln>
          </p:spPr>
          <p:txBody>
            <a:bodyPr wrap="none" lIns="0" tIns="0" rIns="0" bIns="0">
              <a:spAutoFit/>
            </a:bodyPr>
            <a:p>
              <a:pPr algn="l"/>
              <a:r>
                <a:rPr lang="en-US" altLang="zh-CN" sz="1100" b="0">
                  <a:solidFill>
                    <a:srgbClr val="000000"/>
                  </a:solidFill>
                  <a:latin typeface="Times New Roman" panose="02020603050405020304" charset="0"/>
                  <a:ea typeface="楷体_GB2312" panose="02010609030101010101" pitchFamily="49" charset="-122"/>
                </a:rPr>
                <a:t>D</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223" name="矩形 222"/>
            <p:cNvSpPr/>
            <p:nvPr/>
          </p:nvSpPr>
          <p:spPr>
            <a:xfrm>
              <a:off x="2595" y="1682"/>
              <a:ext cx="32" cy="154"/>
            </a:xfrm>
            <a:prstGeom prst="rect">
              <a:avLst/>
            </a:prstGeom>
            <a:noFill/>
            <a:ln w="9525">
              <a:noFill/>
            </a:ln>
          </p:spPr>
          <p:txBody>
            <a:bodyPr wrap="none" lIns="0" tIns="0" rIns="0" bIns="0">
              <a:spAutoFit/>
            </a:bodyPr>
            <a:p>
              <a:pPr algn="l"/>
              <a:r>
                <a:rPr lang="en-US" altLang="zh-CN" sz="1600" b="0">
                  <a:solidFill>
                    <a:srgbClr val="000000"/>
                  </a:solidFill>
                  <a:latin typeface="Times New Roman" panose="02020603050405020304" charset="0"/>
                  <a:ea typeface="楷体_GB2312" panose="02010609030101010101" pitchFamily="49" charset="-122"/>
                </a:rPr>
                <a:t> </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224" name="矩形 223"/>
            <p:cNvSpPr/>
            <p:nvPr/>
          </p:nvSpPr>
          <p:spPr>
            <a:xfrm>
              <a:off x="2966" y="2964"/>
              <a:ext cx="243" cy="222"/>
            </a:xfrm>
            <a:prstGeom prst="rect">
              <a:avLst/>
            </a:prstGeom>
            <a:noFill/>
            <a:ln w="9525">
              <a:noFill/>
            </a:ln>
          </p:spPr>
          <p:txBody>
            <a:bodyPr/>
            <a:p>
              <a:endParaRPr lang="zh-CN" altLang="en-US"/>
            </a:p>
          </p:txBody>
        </p:sp>
        <p:sp>
          <p:nvSpPr>
            <p:cNvPr id="225" name="矩形 224"/>
            <p:cNvSpPr/>
            <p:nvPr/>
          </p:nvSpPr>
          <p:spPr>
            <a:xfrm>
              <a:off x="2998" y="2974"/>
              <a:ext cx="78" cy="154"/>
            </a:xfrm>
            <a:prstGeom prst="rect">
              <a:avLst/>
            </a:prstGeom>
            <a:noFill/>
            <a:ln w="9525">
              <a:noFill/>
            </a:ln>
          </p:spPr>
          <p:txBody>
            <a:bodyPr wrap="none" lIns="0" tIns="0" rIns="0" bIns="0">
              <a:spAutoFit/>
            </a:bodyPr>
            <a:p>
              <a:pPr algn="l"/>
              <a:r>
                <a:rPr lang="en-US" altLang="zh-CN" sz="1600" b="0" i="1">
                  <a:solidFill>
                    <a:srgbClr val="000000"/>
                  </a:solidFill>
                  <a:latin typeface="Times New Roman" panose="02020603050405020304" charset="0"/>
                  <a:ea typeface="楷体_GB2312" panose="02010609030101010101" pitchFamily="49" charset="-122"/>
                </a:rPr>
                <a:t>V</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226" name="矩形 225"/>
            <p:cNvSpPr/>
            <p:nvPr/>
          </p:nvSpPr>
          <p:spPr>
            <a:xfrm>
              <a:off x="3072" y="3038"/>
              <a:ext cx="98" cy="106"/>
            </a:xfrm>
            <a:prstGeom prst="rect">
              <a:avLst/>
            </a:prstGeom>
            <a:noFill/>
            <a:ln w="9525">
              <a:noFill/>
            </a:ln>
          </p:spPr>
          <p:txBody>
            <a:bodyPr wrap="none" lIns="0" tIns="0" rIns="0" bIns="0">
              <a:spAutoFit/>
            </a:bodyPr>
            <a:p>
              <a:pPr algn="l"/>
              <a:r>
                <a:rPr lang="en-US" altLang="zh-CN" sz="1100" b="0">
                  <a:solidFill>
                    <a:srgbClr val="000000"/>
                  </a:solidFill>
                  <a:latin typeface="Times New Roman" panose="02020603050405020304" charset="0"/>
                  <a:ea typeface="楷体_GB2312" panose="02010609030101010101" pitchFamily="49" charset="-122"/>
                </a:rPr>
                <a:t>T1</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227" name="矩形 226"/>
            <p:cNvSpPr/>
            <p:nvPr/>
          </p:nvSpPr>
          <p:spPr>
            <a:xfrm>
              <a:off x="3167" y="2974"/>
              <a:ext cx="32" cy="154"/>
            </a:xfrm>
            <a:prstGeom prst="rect">
              <a:avLst/>
            </a:prstGeom>
            <a:noFill/>
            <a:ln w="9525">
              <a:noFill/>
            </a:ln>
          </p:spPr>
          <p:txBody>
            <a:bodyPr wrap="none" lIns="0" tIns="0" rIns="0" bIns="0">
              <a:spAutoFit/>
            </a:bodyPr>
            <a:p>
              <a:pPr algn="l"/>
              <a:r>
                <a:rPr lang="en-US" altLang="zh-CN" sz="1600" b="0">
                  <a:solidFill>
                    <a:srgbClr val="000000"/>
                  </a:solidFill>
                  <a:latin typeface="Times New Roman" panose="02020603050405020304" charset="0"/>
                  <a:ea typeface="楷体_GB2312" panose="02010609030101010101" pitchFamily="49" charset="-122"/>
                </a:rPr>
                <a:t> </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228" name="矩形 227"/>
            <p:cNvSpPr/>
            <p:nvPr/>
          </p:nvSpPr>
          <p:spPr>
            <a:xfrm>
              <a:off x="3749" y="2985"/>
              <a:ext cx="254" cy="223"/>
            </a:xfrm>
            <a:prstGeom prst="rect">
              <a:avLst/>
            </a:prstGeom>
            <a:noFill/>
            <a:ln w="9525">
              <a:noFill/>
            </a:ln>
          </p:spPr>
          <p:txBody>
            <a:bodyPr/>
            <a:p>
              <a:endParaRPr lang="zh-CN" altLang="en-US"/>
            </a:p>
          </p:txBody>
        </p:sp>
        <p:sp>
          <p:nvSpPr>
            <p:cNvPr id="229" name="矩形 228"/>
            <p:cNvSpPr/>
            <p:nvPr/>
          </p:nvSpPr>
          <p:spPr>
            <a:xfrm>
              <a:off x="3781" y="2996"/>
              <a:ext cx="78" cy="154"/>
            </a:xfrm>
            <a:prstGeom prst="rect">
              <a:avLst/>
            </a:prstGeom>
            <a:noFill/>
            <a:ln w="9525">
              <a:noFill/>
            </a:ln>
          </p:spPr>
          <p:txBody>
            <a:bodyPr wrap="none" lIns="0" tIns="0" rIns="0" bIns="0">
              <a:spAutoFit/>
            </a:bodyPr>
            <a:p>
              <a:pPr algn="l"/>
              <a:r>
                <a:rPr lang="en-US" altLang="zh-CN" sz="1600" b="0" i="1">
                  <a:solidFill>
                    <a:srgbClr val="000000"/>
                  </a:solidFill>
                  <a:latin typeface="Times New Roman" panose="02020603050405020304" charset="0"/>
                  <a:ea typeface="楷体_GB2312" panose="02010609030101010101" pitchFamily="49" charset="-122"/>
                </a:rPr>
                <a:t>V</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230" name="矩形 229"/>
            <p:cNvSpPr/>
            <p:nvPr/>
          </p:nvSpPr>
          <p:spPr>
            <a:xfrm>
              <a:off x="3855" y="3059"/>
              <a:ext cx="98" cy="106"/>
            </a:xfrm>
            <a:prstGeom prst="rect">
              <a:avLst/>
            </a:prstGeom>
            <a:noFill/>
            <a:ln w="9525">
              <a:noFill/>
            </a:ln>
          </p:spPr>
          <p:txBody>
            <a:bodyPr wrap="none" lIns="0" tIns="0" rIns="0" bIns="0">
              <a:spAutoFit/>
            </a:bodyPr>
            <a:p>
              <a:pPr algn="l"/>
              <a:r>
                <a:rPr lang="en-US" altLang="zh-CN" sz="1100" b="0">
                  <a:solidFill>
                    <a:srgbClr val="000000"/>
                  </a:solidFill>
                  <a:latin typeface="Times New Roman" panose="02020603050405020304" charset="0"/>
                  <a:ea typeface="楷体_GB2312" panose="02010609030101010101" pitchFamily="49" charset="-122"/>
                </a:rPr>
                <a:t>T2</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231" name="矩形 230"/>
            <p:cNvSpPr/>
            <p:nvPr/>
          </p:nvSpPr>
          <p:spPr>
            <a:xfrm>
              <a:off x="3950" y="2996"/>
              <a:ext cx="32" cy="154"/>
            </a:xfrm>
            <a:prstGeom prst="rect">
              <a:avLst/>
            </a:prstGeom>
            <a:noFill/>
            <a:ln w="9525">
              <a:noFill/>
            </a:ln>
          </p:spPr>
          <p:txBody>
            <a:bodyPr wrap="none" lIns="0" tIns="0" rIns="0" bIns="0">
              <a:spAutoFit/>
            </a:bodyPr>
            <a:p>
              <a:pPr algn="l"/>
              <a:r>
                <a:rPr lang="en-US" altLang="zh-CN" sz="1600" b="0">
                  <a:solidFill>
                    <a:srgbClr val="000000"/>
                  </a:solidFill>
                  <a:latin typeface="Times New Roman" panose="02020603050405020304" charset="0"/>
                  <a:ea typeface="楷体_GB2312" panose="02010609030101010101" pitchFamily="49" charset="-122"/>
                </a:rPr>
                <a:t> </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232" name="矩形 231"/>
            <p:cNvSpPr/>
            <p:nvPr/>
          </p:nvSpPr>
          <p:spPr>
            <a:xfrm>
              <a:off x="4586" y="3006"/>
              <a:ext cx="254" cy="223"/>
            </a:xfrm>
            <a:prstGeom prst="rect">
              <a:avLst/>
            </a:prstGeom>
            <a:noFill/>
            <a:ln w="9525">
              <a:noFill/>
            </a:ln>
          </p:spPr>
          <p:txBody>
            <a:bodyPr/>
            <a:p>
              <a:endParaRPr lang="zh-CN" altLang="en-US"/>
            </a:p>
          </p:txBody>
        </p:sp>
        <p:sp>
          <p:nvSpPr>
            <p:cNvPr id="233" name="矩形 232"/>
            <p:cNvSpPr/>
            <p:nvPr/>
          </p:nvSpPr>
          <p:spPr>
            <a:xfrm>
              <a:off x="4617" y="3017"/>
              <a:ext cx="57" cy="154"/>
            </a:xfrm>
            <a:prstGeom prst="rect">
              <a:avLst/>
            </a:prstGeom>
            <a:noFill/>
            <a:ln w="9525">
              <a:noFill/>
            </a:ln>
          </p:spPr>
          <p:txBody>
            <a:bodyPr wrap="none" lIns="0" tIns="0" rIns="0" bIns="0">
              <a:spAutoFit/>
            </a:bodyPr>
            <a:p>
              <a:pPr algn="l"/>
              <a:r>
                <a:rPr lang="en-US" altLang="zh-CN" sz="1600" b="0" i="1">
                  <a:solidFill>
                    <a:srgbClr val="000000"/>
                  </a:solidFill>
                  <a:latin typeface="Times New Roman" panose="02020603050405020304" charset="0"/>
                  <a:ea typeface="楷体_GB2312" panose="02010609030101010101" pitchFamily="49" charset="-122"/>
                </a:rPr>
                <a:t>v</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234" name="矩形 233"/>
            <p:cNvSpPr/>
            <p:nvPr/>
          </p:nvSpPr>
          <p:spPr>
            <a:xfrm>
              <a:off x="4681" y="3080"/>
              <a:ext cx="113" cy="106"/>
            </a:xfrm>
            <a:prstGeom prst="rect">
              <a:avLst/>
            </a:prstGeom>
            <a:noFill/>
            <a:ln w="9525">
              <a:noFill/>
            </a:ln>
          </p:spPr>
          <p:txBody>
            <a:bodyPr wrap="none" lIns="0" tIns="0" rIns="0" bIns="0">
              <a:spAutoFit/>
            </a:bodyPr>
            <a:p>
              <a:pPr algn="l"/>
              <a:r>
                <a:rPr lang="en-US" altLang="zh-CN" sz="1100" b="0">
                  <a:solidFill>
                    <a:srgbClr val="000000"/>
                  </a:solidFill>
                  <a:latin typeface="Times New Roman" panose="02020603050405020304" charset="0"/>
                  <a:ea typeface="楷体_GB2312" panose="02010609030101010101" pitchFamily="49" charset="-122"/>
                </a:rPr>
                <a:t>GS</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235" name="矩形 234"/>
            <p:cNvSpPr/>
            <p:nvPr/>
          </p:nvSpPr>
          <p:spPr>
            <a:xfrm>
              <a:off x="4787" y="3017"/>
              <a:ext cx="32" cy="154"/>
            </a:xfrm>
            <a:prstGeom prst="rect">
              <a:avLst/>
            </a:prstGeom>
            <a:noFill/>
            <a:ln w="9525">
              <a:noFill/>
            </a:ln>
          </p:spPr>
          <p:txBody>
            <a:bodyPr wrap="none" lIns="0" tIns="0" rIns="0" bIns="0">
              <a:spAutoFit/>
            </a:bodyPr>
            <a:p>
              <a:pPr algn="l"/>
              <a:r>
                <a:rPr lang="en-US" altLang="zh-CN" sz="1600" b="0">
                  <a:solidFill>
                    <a:srgbClr val="000000"/>
                  </a:solidFill>
                  <a:latin typeface="Times New Roman" panose="02020603050405020304" charset="0"/>
                  <a:ea typeface="楷体_GB2312" panose="02010609030101010101" pitchFamily="49" charset="-122"/>
                </a:rPr>
                <a:t> </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236" name="矩形 235"/>
            <p:cNvSpPr/>
            <p:nvPr/>
          </p:nvSpPr>
          <p:spPr>
            <a:xfrm>
              <a:off x="2881" y="1693"/>
              <a:ext cx="731" cy="243"/>
            </a:xfrm>
            <a:prstGeom prst="rect">
              <a:avLst/>
            </a:prstGeom>
            <a:noFill/>
            <a:ln w="9525">
              <a:noFill/>
            </a:ln>
          </p:spPr>
          <p:txBody>
            <a:bodyPr/>
            <a:p>
              <a:endParaRPr lang="zh-CN" altLang="en-US"/>
            </a:p>
          </p:txBody>
        </p:sp>
        <p:sp>
          <p:nvSpPr>
            <p:cNvPr id="237" name="矩形 236"/>
            <p:cNvSpPr/>
            <p:nvPr/>
          </p:nvSpPr>
          <p:spPr>
            <a:xfrm>
              <a:off x="2924" y="1714"/>
              <a:ext cx="640" cy="154"/>
            </a:xfrm>
            <a:prstGeom prst="rect">
              <a:avLst/>
            </a:prstGeom>
            <a:noFill/>
            <a:ln w="9525">
              <a:noFill/>
            </a:ln>
          </p:spPr>
          <p:txBody>
            <a:bodyPr wrap="none" lIns="0" tIns="0" rIns="0" bIns="0">
              <a:spAutoFit/>
            </a:bodyPr>
            <a:p>
              <a:pPr algn="l"/>
              <a:r>
                <a:rPr lang="zh-CN" altLang="en-US" sz="1600" b="0" dirty="0">
                  <a:solidFill>
                    <a:srgbClr val="000000"/>
                  </a:solidFill>
                  <a:latin typeface="宋体" panose="02010600030101010101" pitchFamily="2" charset="-122"/>
                  <a:ea typeface="宋体" panose="02010600030101010101" pitchFamily="2" charset="-122"/>
                </a:rPr>
                <a:t>浮栅无电子</a:t>
              </a:r>
              <a:endParaRPr lang="zh-CN" altLang="en-US" sz="2400" dirty="0">
                <a:solidFill>
                  <a:schemeClr val="tx1"/>
                </a:solidFill>
                <a:latin typeface="Tahoma" panose="020B0604030504040204" pitchFamily="34" charset="0"/>
                <a:ea typeface="楷体_GB2312" panose="02010609030101010101" pitchFamily="49" charset="-122"/>
              </a:endParaRPr>
            </a:p>
          </p:txBody>
        </p:sp>
        <p:sp>
          <p:nvSpPr>
            <p:cNvPr id="238" name="矩形 237"/>
            <p:cNvSpPr/>
            <p:nvPr/>
          </p:nvSpPr>
          <p:spPr>
            <a:xfrm>
              <a:off x="3559" y="1693"/>
              <a:ext cx="32" cy="154"/>
            </a:xfrm>
            <a:prstGeom prst="rect">
              <a:avLst/>
            </a:prstGeom>
            <a:noFill/>
            <a:ln w="9525">
              <a:noFill/>
            </a:ln>
          </p:spPr>
          <p:txBody>
            <a:bodyPr wrap="none" lIns="0" tIns="0" rIns="0" bIns="0">
              <a:spAutoFit/>
            </a:bodyPr>
            <a:p>
              <a:pPr algn="l"/>
              <a:r>
                <a:rPr lang="en-US" altLang="zh-CN" sz="1600" b="0">
                  <a:solidFill>
                    <a:srgbClr val="000000"/>
                  </a:solidFill>
                  <a:latin typeface="Times New Roman" panose="02020603050405020304" charset="0"/>
                  <a:ea typeface="楷体_GB2312" panose="02010609030101010101" pitchFamily="49" charset="-122"/>
                </a:rPr>
                <a:t> </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239" name="矩形 238"/>
            <p:cNvSpPr/>
            <p:nvPr/>
          </p:nvSpPr>
          <p:spPr>
            <a:xfrm>
              <a:off x="3993" y="1714"/>
              <a:ext cx="730" cy="233"/>
            </a:xfrm>
            <a:prstGeom prst="rect">
              <a:avLst/>
            </a:prstGeom>
            <a:noFill/>
            <a:ln w="9525">
              <a:noFill/>
            </a:ln>
          </p:spPr>
          <p:txBody>
            <a:bodyPr/>
            <a:p>
              <a:endParaRPr lang="zh-CN" altLang="en-US"/>
            </a:p>
          </p:txBody>
        </p:sp>
        <p:sp>
          <p:nvSpPr>
            <p:cNvPr id="240" name="矩形 239"/>
            <p:cNvSpPr/>
            <p:nvPr/>
          </p:nvSpPr>
          <p:spPr>
            <a:xfrm>
              <a:off x="4035" y="1735"/>
              <a:ext cx="640" cy="154"/>
            </a:xfrm>
            <a:prstGeom prst="rect">
              <a:avLst/>
            </a:prstGeom>
            <a:noFill/>
            <a:ln w="9525">
              <a:noFill/>
            </a:ln>
          </p:spPr>
          <p:txBody>
            <a:bodyPr wrap="none" lIns="0" tIns="0" rIns="0" bIns="0">
              <a:spAutoFit/>
            </a:bodyPr>
            <a:p>
              <a:pPr algn="l"/>
              <a:r>
                <a:rPr lang="zh-CN" altLang="en-US" sz="1600" b="0" dirty="0">
                  <a:solidFill>
                    <a:srgbClr val="000000"/>
                  </a:solidFill>
                  <a:latin typeface="宋体" panose="02010600030101010101" pitchFamily="2" charset="-122"/>
                  <a:ea typeface="宋体" panose="02010600030101010101" pitchFamily="2" charset="-122"/>
                </a:rPr>
                <a:t>浮栅有电子</a:t>
              </a:r>
              <a:endParaRPr lang="zh-CN" altLang="en-US" sz="2400" dirty="0">
                <a:solidFill>
                  <a:schemeClr val="tx1"/>
                </a:solidFill>
                <a:latin typeface="Tahoma" panose="020B0604030504040204" pitchFamily="34" charset="0"/>
                <a:ea typeface="楷体_GB2312" panose="02010609030101010101" pitchFamily="49" charset="-122"/>
              </a:endParaRPr>
            </a:p>
          </p:txBody>
        </p:sp>
        <p:sp>
          <p:nvSpPr>
            <p:cNvPr id="241" name="矩形 240"/>
            <p:cNvSpPr/>
            <p:nvPr/>
          </p:nvSpPr>
          <p:spPr>
            <a:xfrm>
              <a:off x="4670" y="1714"/>
              <a:ext cx="32" cy="154"/>
            </a:xfrm>
            <a:prstGeom prst="rect">
              <a:avLst/>
            </a:prstGeom>
            <a:noFill/>
            <a:ln w="9525">
              <a:noFill/>
            </a:ln>
          </p:spPr>
          <p:txBody>
            <a:bodyPr wrap="none" lIns="0" tIns="0" rIns="0" bIns="0">
              <a:spAutoFit/>
            </a:bodyPr>
            <a:p>
              <a:pPr algn="l"/>
              <a:r>
                <a:rPr lang="en-US" altLang="zh-CN" sz="1600" b="0">
                  <a:solidFill>
                    <a:srgbClr val="000000"/>
                  </a:solidFill>
                  <a:latin typeface="Times New Roman" panose="02020603050405020304" charset="0"/>
                  <a:ea typeface="楷体_GB2312" panose="02010609030101010101" pitchFamily="49" charset="-122"/>
                </a:rPr>
                <a:t> </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242" name="矩形 241"/>
            <p:cNvSpPr/>
            <p:nvPr/>
          </p:nvSpPr>
          <p:spPr>
            <a:xfrm>
              <a:off x="2521" y="2964"/>
              <a:ext cx="254" cy="222"/>
            </a:xfrm>
            <a:prstGeom prst="rect">
              <a:avLst/>
            </a:prstGeom>
            <a:noFill/>
            <a:ln w="9525">
              <a:noFill/>
            </a:ln>
          </p:spPr>
          <p:txBody>
            <a:bodyPr/>
            <a:p>
              <a:endParaRPr lang="zh-CN" altLang="en-US"/>
            </a:p>
          </p:txBody>
        </p:sp>
        <p:sp>
          <p:nvSpPr>
            <p:cNvPr id="243" name="矩形 242"/>
            <p:cNvSpPr/>
            <p:nvPr/>
          </p:nvSpPr>
          <p:spPr>
            <a:xfrm>
              <a:off x="2595" y="2974"/>
              <a:ext cx="92" cy="154"/>
            </a:xfrm>
            <a:prstGeom prst="rect">
              <a:avLst/>
            </a:prstGeom>
            <a:noFill/>
            <a:ln w="9525">
              <a:noFill/>
            </a:ln>
          </p:spPr>
          <p:txBody>
            <a:bodyPr wrap="none" lIns="0" tIns="0" rIns="0" bIns="0">
              <a:spAutoFit/>
            </a:bodyPr>
            <a:p>
              <a:pPr algn="l"/>
              <a:r>
                <a:rPr lang="en-US" altLang="zh-CN" sz="1600" b="0" i="1">
                  <a:solidFill>
                    <a:srgbClr val="000000"/>
                  </a:solidFill>
                  <a:latin typeface="Times New Roman" panose="02020603050405020304" charset="0"/>
                  <a:ea typeface="楷体_GB2312" panose="02010609030101010101" pitchFamily="49" charset="-122"/>
                </a:rPr>
                <a:t>O</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244" name="矩形 243"/>
            <p:cNvSpPr/>
            <p:nvPr/>
          </p:nvSpPr>
          <p:spPr>
            <a:xfrm>
              <a:off x="2691" y="2974"/>
              <a:ext cx="32" cy="154"/>
            </a:xfrm>
            <a:prstGeom prst="rect">
              <a:avLst/>
            </a:prstGeom>
            <a:noFill/>
            <a:ln w="9525">
              <a:noFill/>
            </a:ln>
          </p:spPr>
          <p:txBody>
            <a:bodyPr wrap="none" lIns="0" tIns="0" rIns="0" bIns="0">
              <a:spAutoFit/>
            </a:bodyPr>
            <a:p>
              <a:pPr algn="l"/>
              <a:r>
                <a:rPr lang="en-US" altLang="zh-CN" sz="1600" b="0" i="1">
                  <a:solidFill>
                    <a:srgbClr val="000000"/>
                  </a:solidFill>
                  <a:latin typeface="Times New Roman" panose="02020603050405020304" charset="0"/>
                  <a:ea typeface="楷体_GB2312" panose="02010609030101010101" pitchFamily="49" charset="-122"/>
                </a:rPr>
                <a:t> </a:t>
              </a:r>
              <a:endParaRPr lang="en-US" altLang="zh-CN" sz="2400">
                <a:solidFill>
                  <a:schemeClr val="tx1"/>
                </a:solidFill>
                <a:latin typeface="Tahoma" panose="020B0604030504040204" pitchFamily="34" charset="0"/>
                <a:ea typeface="楷体_GB2312" panose="02010609030101010101" pitchFamily="49" charset="-122"/>
              </a:endParaRPr>
            </a:p>
          </p:txBody>
        </p:sp>
        <p:grpSp>
          <p:nvGrpSpPr>
            <p:cNvPr id="245" name="组合 244"/>
            <p:cNvGrpSpPr/>
            <p:nvPr/>
          </p:nvGrpSpPr>
          <p:grpSpPr>
            <a:xfrm>
              <a:off x="3696" y="1672"/>
              <a:ext cx="11" cy="1684"/>
              <a:chOff x="3696" y="1672"/>
              <a:chExt cx="11" cy="1684"/>
            </a:xfrm>
          </p:grpSpPr>
          <p:sp>
            <p:nvSpPr>
              <p:cNvPr id="246" name="任意多边形 245"/>
              <p:cNvSpPr/>
              <p:nvPr/>
            </p:nvSpPr>
            <p:spPr>
              <a:xfrm>
                <a:off x="3696" y="1672"/>
                <a:ext cx="11" cy="84"/>
              </a:xfrm>
              <a:custGeom>
                <a:avLst/>
                <a:gdLst/>
                <a:ahLst/>
                <a:cxnLst/>
                <a:pathLst>
                  <a:path w="11" h="84">
                    <a:moveTo>
                      <a:pt x="11" y="0"/>
                    </a:moveTo>
                    <a:lnTo>
                      <a:pt x="0" y="0"/>
                    </a:lnTo>
                    <a:lnTo>
                      <a:pt x="0" y="0"/>
                    </a:lnTo>
                    <a:lnTo>
                      <a:pt x="0" y="84"/>
                    </a:lnTo>
                    <a:lnTo>
                      <a:pt x="0" y="84"/>
                    </a:lnTo>
                    <a:lnTo>
                      <a:pt x="11" y="84"/>
                    </a:lnTo>
                    <a:lnTo>
                      <a:pt x="11" y="0"/>
                    </a:lnTo>
                    <a:close/>
                  </a:path>
                </a:pathLst>
              </a:custGeom>
              <a:solidFill>
                <a:srgbClr val="000000"/>
              </a:solidFill>
              <a:ln w="9525">
                <a:noFill/>
              </a:ln>
            </p:spPr>
            <p:txBody>
              <a:bodyPr/>
              <a:p>
                <a:endParaRPr lang="zh-CN" altLang="en-US"/>
              </a:p>
            </p:txBody>
          </p:sp>
          <p:sp>
            <p:nvSpPr>
              <p:cNvPr id="247" name="任意多边形 246"/>
              <p:cNvSpPr/>
              <p:nvPr/>
            </p:nvSpPr>
            <p:spPr>
              <a:xfrm>
                <a:off x="3696" y="1778"/>
                <a:ext cx="11" cy="95"/>
              </a:xfrm>
              <a:custGeom>
                <a:avLst/>
                <a:gdLst/>
                <a:ahLst/>
                <a:cxnLst/>
                <a:pathLst>
                  <a:path w="11" h="95">
                    <a:moveTo>
                      <a:pt x="11" y="10"/>
                    </a:moveTo>
                    <a:lnTo>
                      <a:pt x="0" y="0"/>
                    </a:lnTo>
                    <a:lnTo>
                      <a:pt x="0" y="10"/>
                    </a:lnTo>
                    <a:lnTo>
                      <a:pt x="0" y="95"/>
                    </a:lnTo>
                    <a:lnTo>
                      <a:pt x="0" y="95"/>
                    </a:lnTo>
                    <a:lnTo>
                      <a:pt x="11" y="95"/>
                    </a:lnTo>
                    <a:lnTo>
                      <a:pt x="11" y="10"/>
                    </a:lnTo>
                    <a:close/>
                  </a:path>
                </a:pathLst>
              </a:custGeom>
              <a:solidFill>
                <a:srgbClr val="000000"/>
              </a:solidFill>
              <a:ln w="9525">
                <a:noFill/>
              </a:ln>
            </p:spPr>
            <p:txBody>
              <a:bodyPr/>
              <a:p>
                <a:endParaRPr lang="zh-CN" altLang="en-US"/>
              </a:p>
            </p:txBody>
          </p:sp>
          <p:sp>
            <p:nvSpPr>
              <p:cNvPr id="248" name="任意多边形 247"/>
              <p:cNvSpPr/>
              <p:nvPr/>
            </p:nvSpPr>
            <p:spPr>
              <a:xfrm>
                <a:off x="3696" y="1894"/>
                <a:ext cx="11" cy="95"/>
              </a:xfrm>
              <a:custGeom>
                <a:avLst/>
                <a:gdLst/>
                <a:ahLst/>
                <a:cxnLst/>
                <a:pathLst>
                  <a:path w="11" h="95">
                    <a:moveTo>
                      <a:pt x="11" y="11"/>
                    </a:moveTo>
                    <a:lnTo>
                      <a:pt x="0" y="0"/>
                    </a:lnTo>
                    <a:lnTo>
                      <a:pt x="0" y="11"/>
                    </a:lnTo>
                    <a:lnTo>
                      <a:pt x="0" y="95"/>
                    </a:lnTo>
                    <a:lnTo>
                      <a:pt x="0" y="95"/>
                    </a:lnTo>
                    <a:lnTo>
                      <a:pt x="11" y="95"/>
                    </a:lnTo>
                    <a:lnTo>
                      <a:pt x="11" y="11"/>
                    </a:lnTo>
                    <a:close/>
                  </a:path>
                </a:pathLst>
              </a:custGeom>
              <a:solidFill>
                <a:srgbClr val="000000"/>
              </a:solidFill>
              <a:ln w="9525">
                <a:noFill/>
              </a:ln>
            </p:spPr>
            <p:txBody>
              <a:bodyPr/>
              <a:p>
                <a:endParaRPr lang="zh-CN" altLang="en-US"/>
              </a:p>
            </p:txBody>
          </p:sp>
          <p:sp>
            <p:nvSpPr>
              <p:cNvPr id="249" name="任意多边形 248"/>
              <p:cNvSpPr/>
              <p:nvPr/>
            </p:nvSpPr>
            <p:spPr>
              <a:xfrm>
                <a:off x="3696" y="2011"/>
                <a:ext cx="11" cy="95"/>
              </a:xfrm>
              <a:custGeom>
                <a:avLst/>
                <a:gdLst/>
                <a:ahLst/>
                <a:cxnLst/>
                <a:pathLst>
                  <a:path w="11" h="95">
                    <a:moveTo>
                      <a:pt x="11" y="10"/>
                    </a:moveTo>
                    <a:lnTo>
                      <a:pt x="0" y="0"/>
                    </a:lnTo>
                    <a:lnTo>
                      <a:pt x="0" y="10"/>
                    </a:lnTo>
                    <a:lnTo>
                      <a:pt x="0" y="95"/>
                    </a:lnTo>
                    <a:lnTo>
                      <a:pt x="0" y="95"/>
                    </a:lnTo>
                    <a:lnTo>
                      <a:pt x="11" y="95"/>
                    </a:lnTo>
                    <a:lnTo>
                      <a:pt x="11" y="10"/>
                    </a:lnTo>
                    <a:close/>
                  </a:path>
                </a:pathLst>
              </a:custGeom>
              <a:solidFill>
                <a:srgbClr val="000000"/>
              </a:solidFill>
              <a:ln w="9525">
                <a:noFill/>
              </a:ln>
            </p:spPr>
            <p:txBody>
              <a:bodyPr/>
              <a:p>
                <a:endParaRPr lang="zh-CN" altLang="en-US"/>
              </a:p>
            </p:txBody>
          </p:sp>
          <p:sp>
            <p:nvSpPr>
              <p:cNvPr id="250" name="任意多边形 249"/>
              <p:cNvSpPr/>
              <p:nvPr/>
            </p:nvSpPr>
            <p:spPr>
              <a:xfrm>
                <a:off x="3696" y="2127"/>
                <a:ext cx="11" cy="95"/>
              </a:xfrm>
              <a:custGeom>
                <a:avLst/>
                <a:gdLst/>
                <a:ahLst/>
                <a:cxnLst/>
                <a:pathLst>
                  <a:path w="11" h="95">
                    <a:moveTo>
                      <a:pt x="11" y="11"/>
                    </a:moveTo>
                    <a:lnTo>
                      <a:pt x="0" y="0"/>
                    </a:lnTo>
                    <a:lnTo>
                      <a:pt x="0" y="11"/>
                    </a:lnTo>
                    <a:lnTo>
                      <a:pt x="0" y="95"/>
                    </a:lnTo>
                    <a:lnTo>
                      <a:pt x="0" y="95"/>
                    </a:lnTo>
                    <a:lnTo>
                      <a:pt x="11" y="95"/>
                    </a:lnTo>
                    <a:lnTo>
                      <a:pt x="11" y="11"/>
                    </a:lnTo>
                    <a:close/>
                  </a:path>
                </a:pathLst>
              </a:custGeom>
              <a:solidFill>
                <a:srgbClr val="000000"/>
              </a:solidFill>
              <a:ln w="9525">
                <a:noFill/>
              </a:ln>
            </p:spPr>
            <p:txBody>
              <a:bodyPr/>
              <a:p>
                <a:endParaRPr lang="zh-CN" altLang="en-US"/>
              </a:p>
            </p:txBody>
          </p:sp>
          <p:sp>
            <p:nvSpPr>
              <p:cNvPr id="251" name="任意多边形 250"/>
              <p:cNvSpPr/>
              <p:nvPr/>
            </p:nvSpPr>
            <p:spPr>
              <a:xfrm>
                <a:off x="3696" y="2244"/>
                <a:ext cx="11" cy="95"/>
              </a:xfrm>
              <a:custGeom>
                <a:avLst/>
                <a:gdLst/>
                <a:ahLst/>
                <a:cxnLst/>
                <a:pathLst>
                  <a:path w="11" h="95">
                    <a:moveTo>
                      <a:pt x="11" y="10"/>
                    </a:moveTo>
                    <a:lnTo>
                      <a:pt x="0" y="0"/>
                    </a:lnTo>
                    <a:lnTo>
                      <a:pt x="0" y="10"/>
                    </a:lnTo>
                    <a:lnTo>
                      <a:pt x="0" y="95"/>
                    </a:lnTo>
                    <a:lnTo>
                      <a:pt x="0" y="95"/>
                    </a:lnTo>
                    <a:lnTo>
                      <a:pt x="11" y="95"/>
                    </a:lnTo>
                    <a:lnTo>
                      <a:pt x="11" y="10"/>
                    </a:lnTo>
                    <a:close/>
                  </a:path>
                </a:pathLst>
              </a:custGeom>
              <a:solidFill>
                <a:srgbClr val="000000"/>
              </a:solidFill>
              <a:ln w="9525">
                <a:noFill/>
              </a:ln>
            </p:spPr>
            <p:txBody>
              <a:bodyPr/>
              <a:p>
                <a:endParaRPr lang="zh-CN" altLang="en-US"/>
              </a:p>
            </p:txBody>
          </p:sp>
          <p:sp>
            <p:nvSpPr>
              <p:cNvPr id="252" name="任意多边形 251"/>
              <p:cNvSpPr/>
              <p:nvPr/>
            </p:nvSpPr>
            <p:spPr>
              <a:xfrm>
                <a:off x="3696" y="2360"/>
                <a:ext cx="11" cy="95"/>
              </a:xfrm>
              <a:custGeom>
                <a:avLst/>
                <a:gdLst/>
                <a:ahLst/>
                <a:cxnLst/>
                <a:pathLst>
                  <a:path w="11" h="95">
                    <a:moveTo>
                      <a:pt x="11" y="11"/>
                    </a:moveTo>
                    <a:lnTo>
                      <a:pt x="0" y="0"/>
                    </a:lnTo>
                    <a:lnTo>
                      <a:pt x="0" y="11"/>
                    </a:lnTo>
                    <a:lnTo>
                      <a:pt x="0" y="95"/>
                    </a:lnTo>
                    <a:lnTo>
                      <a:pt x="0" y="95"/>
                    </a:lnTo>
                    <a:lnTo>
                      <a:pt x="11" y="95"/>
                    </a:lnTo>
                    <a:lnTo>
                      <a:pt x="11" y="11"/>
                    </a:lnTo>
                    <a:close/>
                  </a:path>
                </a:pathLst>
              </a:custGeom>
              <a:solidFill>
                <a:srgbClr val="000000"/>
              </a:solidFill>
              <a:ln w="9525">
                <a:noFill/>
              </a:ln>
            </p:spPr>
            <p:txBody>
              <a:bodyPr/>
              <a:p>
                <a:endParaRPr lang="zh-CN" altLang="en-US"/>
              </a:p>
            </p:txBody>
          </p:sp>
          <p:sp>
            <p:nvSpPr>
              <p:cNvPr id="253" name="任意多边形 252"/>
              <p:cNvSpPr/>
              <p:nvPr/>
            </p:nvSpPr>
            <p:spPr>
              <a:xfrm>
                <a:off x="3696" y="2477"/>
                <a:ext cx="11" cy="95"/>
              </a:xfrm>
              <a:custGeom>
                <a:avLst/>
                <a:gdLst/>
                <a:ahLst/>
                <a:cxnLst/>
                <a:pathLst>
                  <a:path w="11" h="95">
                    <a:moveTo>
                      <a:pt x="11" y="10"/>
                    </a:moveTo>
                    <a:lnTo>
                      <a:pt x="0" y="0"/>
                    </a:lnTo>
                    <a:lnTo>
                      <a:pt x="0" y="10"/>
                    </a:lnTo>
                    <a:lnTo>
                      <a:pt x="0" y="95"/>
                    </a:lnTo>
                    <a:lnTo>
                      <a:pt x="0" y="95"/>
                    </a:lnTo>
                    <a:lnTo>
                      <a:pt x="11" y="95"/>
                    </a:lnTo>
                    <a:lnTo>
                      <a:pt x="11" y="10"/>
                    </a:lnTo>
                    <a:close/>
                  </a:path>
                </a:pathLst>
              </a:custGeom>
              <a:solidFill>
                <a:srgbClr val="000000"/>
              </a:solidFill>
              <a:ln w="9525">
                <a:noFill/>
              </a:ln>
            </p:spPr>
            <p:txBody>
              <a:bodyPr/>
              <a:p>
                <a:endParaRPr lang="zh-CN" altLang="en-US"/>
              </a:p>
            </p:txBody>
          </p:sp>
          <p:sp>
            <p:nvSpPr>
              <p:cNvPr id="254" name="任意多边形 253"/>
              <p:cNvSpPr/>
              <p:nvPr/>
            </p:nvSpPr>
            <p:spPr>
              <a:xfrm>
                <a:off x="3696" y="2593"/>
                <a:ext cx="11" cy="95"/>
              </a:xfrm>
              <a:custGeom>
                <a:avLst/>
                <a:gdLst/>
                <a:ahLst/>
                <a:cxnLst/>
                <a:pathLst>
                  <a:path w="11" h="95">
                    <a:moveTo>
                      <a:pt x="11" y="11"/>
                    </a:moveTo>
                    <a:lnTo>
                      <a:pt x="0" y="0"/>
                    </a:lnTo>
                    <a:lnTo>
                      <a:pt x="0" y="11"/>
                    </a:lnTo>
                    <a:lnTo>
                      <a:pt x="0" y="95"/>
                    </a:lnTo>
                    <a:lnTo>
                      <a:pt x="0" y="95"/>
                    </a:lnTo>
                    <a:lnTo>
                      <a:pt x="11" y="95"/>
                    </a:lnTo>
                    <a:lnTo>
                      <a:pt x="11" y="11"/>
                    </a:lnTo>
                    <a:close/>
                  </a:path>
                </a:pathLst>
              </a:custGeom>
              <a:solidFill>
                <a:srgbClr val="000000"/>
              </a:solidFill>
              <a:ln w="9525">
                <a:noFill/>
              </a:ln>
            </p:spPr>
            <p:txBody>
              <a:bodyPr/>
              <a:p>
                <a:endParaRPr lang="zh-CN" altLang="en-US"/>
              </a:p>
            </p:txBody>
          </p:sp>
          <p:sp>
            <p:nvSpPr>
              <p:cNvPr id="255" name="任意多边形 254"/>
              <p:cNvSpPr/>
              <p:nvPr/>
            </p:nvSpPr>
            <p:spPr>
              <a:xfrm>
                <a:off x="3696" y="2710"/>
                <a:ext cx="11" cy="95"/>
              </a:xfrm>
              <a:custGeom>
                <a:avLst/>
                <a:gdLst/>
                <a:ahLst/>
                <a:cxnLst/>
                <a:pathLst>
                  <a:path w="11" h="95">
                    <a:moveTo>
                      <a:pt x="11" y="10"/>
                    </a:moveTo>
                    <a:lnTo>
                      <a:pt x="0" y="0"/>
                    </a:lnTo>
                    <a:lnTo>
                      <a:pt x="0" y="10"/>
                    </a:lnTo>
                    <a:lnTo>
                      <a:pt x="0" y="95"/>
                    </a:lnTo>
                    <a:lnTo>
                      <a:pt x="0" y="95"/>
                    </a:lnTo>
                    <a:lnTo>
                      <a:pt x="11" y="95"/>
                    </a:lnTo>
                    <a:lnTo>
                      <a:pt x="11" y="10"/>
                    </a:lnTo>
                    <a:close/>
                  </a:path>
                </a:pathLst>
              </a:custGeom>
              <a:solidFill>
                <a:srgbClr val="000000"/>
              </a:solidFill>
              <a:ln w="9525">
                <a:noFill/>
              </a:ln>
            </p:spPr>
            <p:txBody>
              <a:bodyPr/>
              <a:p>
                <a:endParaRPr lang="zh-CN" altLang="en-US"/>
              </a:p>
            </p:txBody>
          </p:sp>
          <p:sp>
            <p:nvSpPr>
              <p:cNvPr id="256" name="任意多边形 255"/>
              <p:cNvSpPr/>
              <p:nvPr/>
            </p:nvSpPr>
            <p:spPr>
              <a:xfrm>
                <a:off x="3696" y="2826"/>
                <a:ext cx="11" cy="96"/>
              </a:xfrm>
              <a:custGeom>
                <a:avLst/>
                <a:gdLst/>
                <a:ahLst/>
                <a:cxnLst/>
                <a:pathLst>
                  <a:path w="11" h="96">
                    <a:moveTo>
                      <a:pt x="11" y="11"/>
                    </a:moveTo>
                    <a:lnTo>
                      <a:pt x="0" y="0"/>
                    </a:lnTo>
                    <a:lnTo>
                      <a:pt x="0" y="11"/>
                    </a:lnTo>
                    <a:lnTo>
                      <a:pt x="0" y="96"/>
                    </a:lnTo>
                    <a:lnTo>
                      <a:pt x="0" y="96"/>
                    </a:lnTo>
                    <a:lnTo>
                      <a:pt x="11" y="96"/>
                    </a:lnTo>
                    <a:lnTo>
                      <a:pt x="11" y="11"/>
                    </a:lnTo>
                    <a:close/>
                  </a:path>
                </a:pathLst>
              </a:custGeom>
              <a:solidFill>
                <a:srgbClr val="000000"/>
              </a:solidFill>
              <a:ln w="9525">
                <a:noFill/>
              </a:ln>
            </p:spPr>
            <p:txBody>
              <a:bodyPr/>
              <a:p>
                <a:endParaRPr lang="zh-CN" altLang="en-US"/>
              </a:p>
            </p:txBody>
          </p:sp>
          <p:sp>
            <p:nvSpPr>
              <p:cNvPr id="257" name="任意多边形 256"/>
              <p:cNvSpPr/>
              <p:nvPr/>
            </p:nvSpPr>
            <p:spPr>
              <a:xfrm>
                <a:off x="3696" y="2943"/>
                <a:ext cx="11" cy="95"/>
              </a:xfrm>
              <a:custGeom>
                <a:avLst/>
                <a:gdLst/>
                <a:ahLst/>
                <a:cxnLst/>
                <a:pathLst>
                  <a:path w="11" h="95">
                    <a:moveTo>
                      <a:pt x="11" y="10"/>
                    </a:moveTo>
                    <a:lnTo>
                      <a:pt x="0" y="0"/>
                    </a:lnTo>
                    <a:lnTo>
                      <a:pt x="0" y="10"/>
                    </a:lnTo>
                    <a:lnTo>
                      <a:pt x="0" y="95"/>
                    </a:lnTo>
                    <a:lnTo>
                      <a:pt x="0" y="95"/>
                    </a:lnTo>
                    <a:lnTo>
                      <a:pt x="11" y="95"/>
                    </a:lnTo>
                    <a:lnTo>
                      <a:pt x="11" y="10"/>
                    </a:lnTo>
                    <a:close/>
                  </a:path>
                </a:pathLst>
              </a:custGeom>
              <a:solidFill>
                <a:srgbClr val="000000"/>
              </a:solidFill>
              <a:ln w="9525">
                <a:noFill/>
              </a:ln>
            </p:spPr>
            <p:txBody>
              <a:bodyPr/>
              <a:p>
                <a:endParaRPr lang="zh-CN" altLang="en-US"/>
              </a:p>
            </p:txBody>
          </p:sp>
          <p:sp>
            <p:nvSpPr>
              <p:cNvPr id="258" name="任意多边形 257"/>
              <p:cNvSpPr/>
              <p:nvPr/>
            </p:nvSpPr>
            <p:spPr>
              <a:xfrm>
                <a:off x="3696" y="3059"/>
                <a:ext cx="11" cy="96"/>
              </a:xfrm>
              <a:custGeom>
                <a:avLst/>
                <a:gdLst/>
                <a:ahLst/>
                <a:cxnLst/>
                <a:pathLst>
                  <a:path w="11" h="96">
                    <a:moveTo>
                      <a:pt x="11" y="11"/>
                    </a:moveTo>
                    <a:lnTo>
                      <a:pt x="0" y="0"/>
                    </a:lnTo>
                    <a:lnTo>
                      <a:pt x="0" y="11"/>
                    </a:lnTo>
                    <a:lnTo>
                      <a:pt x="0" y="96"/>
                    </a:lnTo>
                    <a:lnTo>
                      <a:pt x="0" y="96"/>
                    </a:lnTo>
                    <a:lnTo>
                      <a:pt x="11" y="96"/>
                    </a:lnTo>
                    <a:lnTo>
                      <a:pt x="11" y="11"/>
                    </a:lnTo>
                    <a:close/>
                  </a:path>
                </a:pathLst>
              </a:custGeom>
              <a:solidFill>
                <a:srgbClr val="000000"/>
              </a:solidFill>
              <a:ln w="9525">
                <a:noFill/>
              </a:ln>
            </p:spPr>
            <p:txBody>
              <a:bodyPr/>
              <a:p>
                <a:endParaRPr lang="zh-CN" altLang="en-US"/>
              </a:p>
            </p:txBody>
          </p:sp>
          <p:sp>
            <p:nvSpPr>
              <p:cNvPr id="259" name="任意多边形 258"/>
              <p:cNvSpPr/>
              <p:nvPr/>
            </p:nvSpPr>
            <p:spPr>
              <a:xfrm>
                <a:off x="3696" y="3176"/>
                <a:ext cx="11" cy="95"/>
              </a:xfrm>
              <a:custGeom>
                <a:avLst/>
                <a:gdLst/>
                <a:ahLst/>
                <a:cxnLst/>
                <a:pathLst>
                  <a:path w="11" h="95">
                    <a:moveTo>
                      <a:pt x="11" y="10"/>
                    </a:moveTo>
                    <a:lnTo>
                      <a:pt x="0" y="0"/>
                    </a:lnTo>
                    <a:lnTo>
                      <a:pt x="0" y="10"/>
                    </a:lnTo>
                    <a:lnTo>
                      <a:pt x="0" y="95"/>
                    </a:lnTo>
                    <a:lnTo>
                      <a:pt x="0" y="95"/>
                    </a:lnTo>
                    <a:lnTo>
                      <a:pt x="11" y="95"/>
                    </a:lnTo>
                    <a:lnTo>
                      <a:pt x="11" y="10"/>
                    </a:lnTo>
                    <a:close/>
                  </a:path>
                </a:pathLst>
              </a:custGeom>
              <a:solidFill>
                <a:srgbClr val="000000"/>
              </a:solidFill>
              <a:ln w="9525">
                <a:noFill/>
              </a:ln>
            </p:spPr>
            <p:txBody>
              <a:bodyPr/>
              <a:p>
                <a:endParaRPr lang="zh-CN" altLang="en-US"/>
              </a:p>
            </p:txBody>
          </p:sp>
          <p:sp>
            <p:nvSpPr>
              <p:cNvPr id="260" name="任意多边形 259"/>
              <p:cNvSpPr/>
              <p:nvPr/>
            </p:nvSpPr>
            <p:spPr>
              <a:xfrm>
                <a:off x="3696" y="3292"/>
                <a:ext cx="11" cy="64"/>
              </a:xfrm>
              <a:custGeom>
                <a:avLst/>
                <a:gdLst/>
                <a:ahLst/>
                <a:cxnLst/>
                <a:pathLst>
                  <a:path w="11" h="64">
                    <a:moveTo>
                      <a:pt x="11" y="11"/>
                    </a:moveTo>
                    <a:lnTo>
                      <a:pt x="0" y="0"/>
                    </a:lnTo>
                    <a:lnTo>
                      <a:pt x="0" y="11"/>
                    </a:lnTo>
                    <a:lnTo>
                      <a:pt x="0" y="64"/>
                    </a:lnTo>
                    <a:lnTo>
                      <a:pt x="0" y="64"/>
                    </a:lnTo>
                    <a:lnTo>
                      <a:pt x="11" y="64"/>
                    </a:lnTo>
                    <a:lnTo>
                      <a:pt x="11" y="11"/>
                    </a:lnTo>
                    <a:close/>
                  </a:path>
                </a:pathLst>
              </a:custGeom>
              <a:solidFill>
                <a:srgbClr val="000000"/>
              </a:solidFill>
              <a:ln w="9525">
                <a:noFill/>
              </a:ln>
            </p:spPr>
            <p:txBody>
              <a:bodyPr/>
              <a:p>
                <a:endParaRPr lang="zh-CN" altLang="en-US"/>
              </a:p>
            </p:txBody>
          </p:sp>
        </p:grpSp>
        <p:sp>
          <p:nvSpPr>
            <p:cNvPr id="261" name="矩形 260"/>
            <p:cNvSpPr/>
            <p:nvPr/>
          </p:nvSpPr>
          <p:spPr>
            <a:xfrm>
              <a:off x="2924" y="3165"/>
              <a:ext cx="730" cy="170"/>
            </a:xfrm>
            <a:prstGeom prst="rect">
              <a:avLst/>
            </a:prstGeom>
            <a:noFill/>
            <a:ln w="9525">
              <a:noFill/>
            </a:ln>
          </p:spPr>
          <p:txBody>
            <a:bodyPr/>
            <a:p>
              <a:endParaRPr lang="zh-CN" altLang="en-US"/>
            </a:p>
          </p:txBody>
        </p:sp>
        <p:sp>
          <p:nvSpPr>
            <p:cNvPr id="262" name="矩形 261"/>
            <p:cNvSpPr/>
            <p:nvPr/>
          </p:nvSpPr>
          <p:spPr>
            <a:xfrm>
              <a:off x="3093" y="3176"/>
              <a:ext cx="384" cy="154"/>
            </a:xfrm>
            <a:prstGeom prst="rect">
              <a:avLst/>
            </a:prstGeom>
            <a:noFill/>
            <a:ln w="9525">
              <a:noFill/>
            </a:ln>
          </p:spPr>
          <p:txBody>
            <a:bodyPr wrap="none" lIns="0" tIns="0" rIns="0" bIns="0">
              <a:spAutoFit/>
            </a:bodyPr>
            <a:p>
              <a:pPr algn="l"/>
              <a:r>
                <a:rPr lang="zh-CN" altLang="en-US" sz="1600" b="0" dirty="0">
                  <a:solidFill>
                    <a:srgbClr val="000000"/>
                  </a:solidFill>
                  <a:latin typeface="宋体" panose="02010600030101010101" pitchFamily="2" charset="-122"/>
                  <a:ea typeface="宋体" panose="02010600030101010101" pitchFamily="2" charset="-122"/>
                </a:rPr>
                <a:t>编程前</a:t>
              </a:r>
              <a:endParaRPr lang="zh-CN" altLang="en-US" sz="2400" dirty="0">
                <a:solidFill>
                  <a:schemeClr val="tx1"/>
                </a:solidFill>
                <a:latin typeface="Tahoma" panose="020B0604030504040204" pitchFamily="34" charset="0"/>
                <a:ea typeface="楷体_GB2312" panose="02010609030101010101" pitchFamily="49" charset="-122"/>
              </a:endParaRPr>
            </a:p>
          </p:txBody>
        </p:sp>
        <p:sp>
          <p:nvSpPr>
            <p:cNvPr id="263" name="矩形 262"/>
            <p:cNvSpPr/>
            <p:nvPr/>
          </p:nvSpPr>
          <p:spPr>
            <a:xfrm>
              <a:off x="3474" y="3155"/>
              <a:ext cx="32" cy="154"/>
            </a:xfrm>
            <a:prstGeom prst="rect">
              <a:avLst/>
            </a:prstGeom>
            <a:noFill/>
            <a:ln w="9525">
              <a:noFill/>
            </a:ln>
          </p:spPr>
          <p:txBody>
            <a:bodyPr wrap="none" lIns="0" tIns="0" rIns="0" bIns="0">
              <a:spAutoFit/>
            </a:bodyPr>
            <a:p>
              <a:pPr algn="l"/>
              <a:r>
                <a:rPr lang="en-US" altLang="zh-CN" sz="1600" b="0">
                  <a:solidFill>
                    <a:srgbClr val="000000"/>
                  </a:solidFill>
                  <a:latin typeface="Times New Roman" panose="02020603050405020304" charset="0"/>
                  <a:ea typeface="楷体_GB2312" panose="02010609030101010101" pitchFamily="49" charset="-122"/>
                </a:rPr>
                <a:t> </a:t>
              </a:r>
              <a:endParaRPr lang="en-US" altLang="zh-CN" sz="2400">
                <a:solidFill>
                  <a:schemeClr val="tx1"/>
                </a:solidFill>
                <a:latin typeface="Tahoma" panose="020B0604030504040204" pitchFamily="34" charset="0"/>
                <a:ea typeface="楷体_GB2312" panose="02010609030101010101" pitchFamily="49" charset="-122"/>
              </a:endParaRPr>
            </a:p>
          </p:txBody>
        </p:sp>
        <p:sp>
          <p:nvSpPr>
            <p:cNvPr id="264" name="矩形 263"/>
            <p:cNvSpPr/>
            <p:nvPr/>
          </p:nvSpPr>
          <p:spPr>
            <a:xfrm>
              <a:off x="3908" y="3165"/>
              <a:ext cx="730" cy="170"/>
            </a:xfrm>
            <a:prstGeom prst="rect">
              <a:avLst/>
            </a:prstGeom>
            <a:noFill/>
            <a:ln w="9525">
              <a:noFill/>
            </a:ln>
          </p:spPr>
          <p:txBody>
            <a:bodyPr/>
            <a:p>
              <a:endParaRPr lang="zh-CN" altLang="en-US"/>
            </a:p>
          </p:txBody>
        </p:sp>
        <p:sp>
          <p:nvSpPr>
            <p:cNvPr id="265" name="矩形 264"/>
            <p:cNvSpPr/>
            <p:nvPr/>
          </p:nvSpPr>
          <p:spPr>
            <a:xfrm>
              <a:off x="4077" y="3176"/>
              <a:ext cx="384" cy="154"/>
            </a:xfrm>
            <a:prstGeom prst="rect">
              <a:avLst/>
            </a:prstGeom>
            <a:noFill/>
            <a:ln w="9525">
              <a:noFill/>
            </a:ln>
          </p:spPr>
          <p:txBody>
            <a:bodyPr wrap="none" lIns="0" tIns="0" rIns="0" bIns="0">
              <a:spAutoFit/>
            </a:bodyPr>
            <a:p>
              <a:pPr algn="l"/>
              <a:r>
                <a:rPr lang="zh-CN" altLang="en-US" sz="1600" b="0" dirty="0">
                  <a:solidFill>
                    <a:srgbClr val="000000"/>
                  </a:solidFill>
                  <a:latin typeface="宋体" panose="02010600030101010101" pitchFamily="2" charset="-122"/>
                  <a:ea typeface="宋体" panose="02010600030101010101" pitchFamily="2" charset="-122"/>
                </a:rPr>
                <a:t>编程后</a:t>
              </a:r>
              <a:endParaRPr lang="zh-CN" altLang="en-US" sz="2400" dirty="0">
                <a:solidFill>
                  <a:schemeClr val="tx1"/>
                </a:solidFill>
                <a:latin typeface="Tahoma" panose="020B0604030504040204" pitchFamily="34" charset="0"/>
                <a:ea typeface="楷体_GB2312" panose="02010609030101010101" pitchFamily="49" charset="-122"/>
              </a:endParaRPr>
            </a:p>
          </p:txBody>
        </p:sp>
        <p:sp>
          <p:nvSpPr>
            <p:cNvPr id="266" name="矩形 265"/>
            <p:cNvSpPr/>
            <p:nvPr/>
          </p:nvSpPr>
          <p:spPr>
            <a:xfrm>
              <a:off x="4458" y="3155"/>
              <a:ext cx="32" cy="154"/>
            </a:xfrm>
            <a:prstGeom prst="rect">
              <a:avLst/>
            </a:prstGeom>
            <a:noFill/>
            <a:ln w="9525">
              <a:noFill/>
            </a:ln>
          </p:spPr>
          <p:txBody>
            <a:bodyPr wrap="none" lIns="0" tIns="0" rIns="0" bIns="0">
              <a:spAutoFit/>
            </a:bodyPr>
            <a:p>
              <a:pPr algn="l"/>
              <a:r>
                <a:rPr lang="en-US" altLang="zh-CN" sz="1600" b="0">
                  <a:solidFill>
                    <a:srgbClr val="000000"/>
                  </a:solidFill>
                  <a:latin typeface="Times New Roman" panose="02020603050405020304" charset="0"/>
                  <a:ea typeface="楷体_GB2312" panose="02010609030101010101" pitchFamily="49" charset="-122"/>
                </a:rPr>
                <a:t> </a:t>
              </a:r>
              <a:endParaRPr lang="en-US" altLang="zh-CN" sz="2400">
                <a:solidFill>
                  <a:schemeClr val="tx1"/>
                </a:solidFill>
                <a:latin typeface="Tahoma" panose="020B0604030504040204" pitchFamily="34" charset="0"/>
                <a:ea typeface="楷体_GB2312" panose="02010609030101010101" pitchFamily="49" charset="-122"/>
              </a:endParaRPr>
            </a:p>
          </p:txBody>
        </p:sp>
      </p:grpSp>
      <p:sp>
        <p:nvSpPr>
          <p:cNvPr id="267" name="直接连接符 266"/>
          <p:cNvSpPr/>
          <p:nvPr/>
        </p:nvSpPr>
        <p:spPr>
          <a:xfrm>
            <a:off x="6011863" y="3225800"/>
            <a:ext cx="0" cy="1728788"/>
          </a:xfrm>
          <a:prstGeom prst="line">
            <a:avLst/>
          </a:prstGeom>
          <a:ln w="19050" cap="flat" cmpd="sng">
            <a:solidFill>
              <a:schemeClr val="accent2"/>
            </a:solidFill>
            <a:prstDash val="dash"/>
            <a:miter/>
            <a:headEnd type="none" w="med" len="med"/>
            <a:tailEnd type="none" w="med" len="med"/>
          </a:ln>
        </p:spPr>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39"/>
                                        </p:tgtEl>
                                        <p:attrNameLst>
                                          <p:attrName>style.visibility</p:attrName>
                                        </p:attrNameLst>
                                      </p:cBhvr>
                                      <p:to>
                                        <p:strVal val="visible"/>
                                      </p:to>
                                    </p:set>
                                    <p:animEffect transition="in" filter="wipe(up)">
                                      <p:cBhvr>
                                        <p:cTn id="7" dur="500"/>
                                        <p:tgtEl>
                                          <p:spTgt spid="1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9"/>
                                        </p:tgtEl>
                                        <p:attrNameLst>
                                          <p:attrName>style.visibility</p:attrName>
                                        </p:attrNameLst>
                                      </p:cBhvr>
                                      <p:to>
                                        <p:strVal val="visible"/>
                                      </p:to>
                                    </p:set>
                                    <p:animEffect transition="in" filter="wipe(up)">
                                      <p:cBhvr>
                                        <p:cTn id="12" dur="500"/>
                                        <p:tgtEl>
                                          <p:spTgt spid="1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53"/>
                                        </p:tgtEl>
                                        <p:attrNameLst>
                                          <p:attrName>style.visibility</p:attrName>
                                        </p:attrNameLst>
                                      </p:cBhvr>
                                      <p:to>
                                        <p:strVal val="visible"/>
                                      </p:to>
                                    </p:set>
                                    <p:animEffect transition="in" filter="wipe(up)">
                                      <p:cBhvr>
                                        <p:cTn id="17" dur="500"/>
                                        <p:tgtEl>
                                          <p:spTgt spid="15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2"/>
                                        </p:tgtEl>
                                        <p:attrNameLst>
                                          <p:attrName>style.visibility</p:attrName>
                                        </p:attrNameLst>
                                      </p:cBhvr>
                                      <p:to>
                                        <p:strVal val="visible"/>
                                      </p:to>
                                    </p:set>
                                    <p:animEffect transition="in" filter="wipe(left)">
                                      <p:cBhvr>
                                        <p:cTn id="22" dur="500"/>
                                        <p:tgtEl>
                                          <p:spTgt spid="172"/>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xit" presetSubtype="16" fill="hold" nodeType="clickEffect">
                                  <p:stCondLst>
                                    <p:cond delay="0"/>
                                  </p:stCondLst>
                                  <p:childTnLst>
                                    <p:animEffect transition="out" filter="box(in)">
                                      <p:cBhvr>
                                        <p:cTn id="26" dur="500"/>
                                        <p:tgtEl>
                                          <p:spTgt spid="149"/>
                                        </p:tgtEl>
                                      </p:cBhvr>
                                    </p:animEffect>
                                    <p:set>
                                      <p:cBhvr>
                                        <p:cTn id="27" dur="1" fill="hold">
                                          <p:stCondLst>
                                            <p:cond delay="499"/>
                                          </p:stCondLst>
                                        </p:cTn>
                                        <p:tgtEl>
                                          <p:spTgt spid="149"/>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4" presetClass="exit" presetSubtype="16" fill="hold" nodeType="clickEffect">
                                  <p:stCondLst>
                                    <p:cond delay="0"/>
                                  </p:stCondLst>
                                  <p:childTnLst>
                                    <p:animEffect transition="out" filter="box(in)">
                                      <p:cBhvr>
                                        <p:cTn id="31" dur="500"/>
                                        <p:tgtEl>
                                          <p:spTgt spid="153"/>
                                        </p:tgtEl>
                                      </p:cBhvr>
                                    </p:animEffect>
                                    <p:set>
                                      <p:cBhvr>
                                        <p:cTn id="32" dur="1" fill="hold">
                                          <p:stCondLst>
                                            <p:cond delay="499"/>
                                          </p:stCondLst>
                                        </p:cTn>
                                        <p:tgtEl>
                                          <p:spTgt spid="15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45"/>
                                        </p:tgtEl>
                                        <p:attrNameLst>
                                          <p:attrName>style.visibility</p:attrName>
                                        </p:attrNameLst>
                                      </p:cBhvr>
                                      <p:to>
                                        <p:strVal val="visible"/>
                                      </p:to>
                                    </p:set>
                                    <p:animEffect transition="in" filter="wipe(up)">
                                      <p:cBhvr>
                                        <p:cTn id="37" dur="500"/>
                                        <p:tgtEl>
                                          <p:spTgt spid="14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06"/>
                                        </p:tgtEl>
                                        <p:attrNameLst>
                                          <p:attrName>style.visibility</p:attrName>
                                        </p:attrNameLst>
                                      </p:cBhvr>
                                      <p:to>
                                        <p:strVal val="visible"/>
                                      </p:to>
                                    </p:set>
                                    <p:animEffect transition="in" filter="wipe(left)">
                                      <p:cBhvr>
                                        <p:cTn id="42" dur="500"/>
                                        <p:tgtEl>
                                          <p:spTgt spid="20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41"/>
                                        </p:tgtEl>
                                        <p:attrNameLst>
                                          <p:attrName>style.visibility</p:attrName>
                                        </p:attrNameLst>
                                      </p:cBhvr>
                                      <p:to>
                                        <p:strVal val="visible"/>
                                      </p:to>
                                    </p:set>
                                    <p:animEffect transition="in" filter="wipe(up)">
                                      <p:cBhvr>
                                        <p:cTn id="47" dur="500"/>
                                        <p:tgtEl>
                                          <p:spTgt spid="14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11"/>
                                        </p:tgtEl>
                                        <p:attrNameLst>
                                          <p:attrName>style.visibility</p:attrName>
                                        </p:attrNameLst>
                                      </p:cBhvr>
                                      <p:to>
                                        <p:strVal val="visible"/>
                                      </p:to>
                                    </p:set>
                                    <p:animEffect transition="in" filter="wipe(left)">
                                      <p:cBhvr>
                                        <p:cTn id="52" dur="500"/>
                                        <p:tgtEl>
                                          <p:spTgt spid="2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267"/>
                                        </p:tgtEl>
                                        <p:attrNameLst>
                                          <p:attrName>style.visibility</p:attrName>
                                        </p:attrNameLst>
                                      </p:cBhvr>
                                      <p:to>
                                        <p:strVal val="visible"/>
                                      </p:to>
                                    </p:set>
                                    <p:animEffect transition="in" filter="wipe(up)">
                                      <p:cBhvr>
                                        <p:cTn id="57" dur="500"/>
                                        <p:tgtEl>
                                          <p:spTgt spid="267"/>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6" fill="hold" grpId="0" nodeType="clickEffect">
                                  <p:stCondLst>
                                    <p:cond delay="0"/>
                                  </p:stCondLst>
                                  <p:childTnLst>
                                    <p:set>
                                      <p:cBhvr>
                                        <p:cTn id="61" dur="1" fill="hold">
                                          <p:stCondLst>
                                            <p:cond delay="0"/>
                                          </p:stCondLst>
                                        </p:cTn>
                                        <p:tgtEl>
                                          <p:spTgt spid="189444"/>
                                        </p:tgtEl>
                                        <p:attrNameLst>
                                          <p:attrName>style.visibility</p:attrName>
                                        </p:attrNameLst>
                                      </p:cBhvr>
                                      <p:to>
                                        <p:strVal val="visible"/>
                                      </p:to>
                                    </p:set>
                                    <p:animEffect transition="in" filter="strips(downRight)">
                                      <p:cBhvr>
                                        <p:cTn id="62" dur="500"/>
                                        <p:tgtEl>
                                          <p:spTgt spid="189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4" grpId="0" bldLvl="0" animBg="1"/>
      <p:bldP spid="141"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7" name="Rectangle 3"/>
          <p:cNvSpPr>
            <a:spLocks noGrp="1"/>
          </p:cNvSpPr>
          <p:nvPr/>
        </p:nvSpPr>
        <p:spPr>
          <a:xfrm>
            <a:off x="381000" y="1067435"/>
            <a:ext cx="482092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1318F3"/>
                </a:solidFill>
                <a:latin typeface="Times New Roman" panose="02020603050405020304" charset="0"/>
                <a:ea typeface="楷体" panose="02010609060101010101" charset="-122"/>
                <a:cs typeface="Times New Roman" panose="02020603050405020304" charset="0"/>
              </a:rPr>
              <a:t>      </a:t>
            </a:r>
            <a:r>
              <a:rPr sz="2400" b="1" dirty="0">
                <a:solidFill>
                  <a:srgbClr val="1318F3"/>
                </a:solidFill>
                <a:latin typeface="Times New Roman" panose="02020603050405020304" charset="0"/>
                <a:ea typeface="楷体" panose="02010609060101010101" charset="-122"/>
                <a:cs typeface="Times New Roman" panose="02020603050405020304" charset="0"/>
                <a:sym typeface="+mn-ea"/>
              </a:rPr>
              <a:t>(</a:t>
            </a:r>
            <a:r>
              <a:rPr lang="en-US" sz="2400" b="1" dirty="0">
                <a:solidFill>
                  <a:srgbClr val="1318F3"/>
                </a:solidFill>
                <a:latin typeface="Times New Roman" panose="02020603050405020304" charset="0"/>
                <a:ea typeface="楷体" panose="02010609060101010101" charset="-122"/>
                <a:cs typeface="Times New Roman" panose="02020603050405020304" charset="0"/>
                <a:sym typeface="+mn-ea"/>
              </a:rPr>
              <a:t>2</a:t>
            </a:r>
            <a:r>
              <a:rPr sz="2400" b="1" dirty="0">
                <a:solidFill>
                  <a:srgbClr val="1318F3"/>
                </a:solidFill>
                <a:latin typeface="Times New Roman" panose="02020603050405020304" charset="0"/>
                <a:ea typeface="楷体" panose="02010609060101010101" charset="-122"/>
                <a:cs typeface="Times New Roman" panose="02020603050405020304" charset="0"/>
                <a:sym typeface="+mn-ea"/>
              </a:rPr>
              <a:t>)E</a:t>
            </a:r>
            <a:r>
              <a:rPr sz="2400" b="1" baseline="30000" dirty="0">
                <a:solidFill>
                  <a:srgbClr val="1318F3"/>
                </a:solidFill>
                <a:latin typeface="Times New Roman" panose="02020603050405020304" charset="0"/>
                <a:ea typeface="楷体" panose="02010609060101010101" charset="-122"/>
                <a:cs typeface="Times New Roman" panose="02020603050405020304" charset="0"/>
                <a:sym typeface="+mn-ea"/>
              </a:rPr>
              <a:t>2</a:t>
            </a:r>
            <a:r>
              <a:rPr sz="2400" b="1" dirty="0">
                <a:solidFill>
                  <a:srgbClr val="1318F3"/>
                </a:solidFill>
                <a:latin typeface="Times New Roman" panose="02020603050405020304" charset="0"/>
                <a:ea typeface="楷体" panose="02010609060101010101" charset="-122"/>
                <a:cs typeface="Times New Roman" panose="02020603050405020304" charset="0"/>
                <a:sym typeface="+mn-ea"/>
              </a:rPr>
              <a:t>PROM</a:t>
            </a:r>
            <a:endParaRPr sz="2400" b="1" dirty="0">
              <a:solidFill>
                <a:srgbClr val="1318F3"/>
              </a:solidFill>
              <a:latin typeface="Times New Roman" panose="02020603050405020304" charset="0"/>
              <a:ea typeface="楷体" panose="02010609060101010101" charset="-122"/>
              <a:cs typeface="Times New Roman" panose="02020603050405020304" charset="0"/>
              <a:sym typeface="+mn-ea"/>
            </a:endParaRPr>
          </a:p>
        </p:txBody>
      </p:sp>
      <p:sp>
        <p:nvSpPr>
          <p:cNvPr id="210946" name="矩形 210945"/>
          <p:cNvSpPr/>
          <p:nvPr/>
        </p:nvSpPr>
        <p:spPr>
          <a:xfrm>
            <a:off x="4203700" y="1628775"/>
            <a:ext cx="4716463" cy="1585595"/>
          </a:xfrm>
          <a:prstGeom prst="rect">
            <a:avLst/>
          </a:prstGeom>
          <a:noFill/>
          <a:ln w="9525">
            <a:noFill/>
          </a:ln>
        </p:spPr>
        <p:txBody>
          <a:bodyPr>
            <a:spAutoFit/>
          </a:bodyPr>
          <a:p>
            <a:pPr algn="l">
              <a:lnSpc>
                <a:spcPct val="135000"/>
              </a:lnSpc>
              <a:spcBef>
                <a:spcPct val="50000"/>
              </a:spcBef>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浮栅延长区与漏区</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N</a:t>
            </a:r>
            <a:r>
              <a:rPr lang="en-US" altLang="zh-CN" sz="2400" b="1" baseline="30000">
                <a:solidFill>
                  <a:srgbClr val="000066"/>
                </a:solidFill>
                <a:latin typeface="Times New Roman" panose="02020603050405020304" charset="0"/>
                <a:ea typeface="楷体" panose="02010609060101010101" charset="-122"/>
                <a:cs typeface="Times New Roman" panose="02020603050405020304" charset="0"/>
              </a:rPr>
              <a: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之间的交叠处有一个厚度约为</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80A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埃</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的薄绝缘层</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遂道区。</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210947" name="矩形 210946"/>
          <p:cNvSpPr/>
          <p:nvPr/>
        </p:nvSpPr>
        <p:spPr>
          <a:xfrm>
            <a:off x="4203700" y="3295650"/>
            <a:ext cx="4787900" cy="1585595"/>
          </a:xfrm>
          <a:prstGeom prst="rect">
            <a:avLst/>
          </a:prstGeom>
          <a:noFill/>
          <a:ln w="9525">
            <a:noFill/>
          </a:ln>
        </p:spPr>
        <p:txBody>
          <a:bodyPr>
            <a:spAutoFit/>
          </a:bodyPr>
          <a:p>
            <a:pPr algn="l">
              <a:lnSpc>
                <a:spcPct val="135000"/>
              </a:lnSpc>
              <a:spcBef>
                <a:spcPct val="50000"/>
              </a:spcBef>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当遂道区的电场强度大到一定程度，使漏区与浮栅间出现导电遂道，形成电流将浮栅电荷泄放掉。</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210948" name="矩形 210947"/>
          <p:cNvSpPr/>
          <p:nvPr/>
        </p:nvSpPr>
        <p:spPr>
          <a:xfrm>
            <a:off x="4275138" y="5270500"/>
            <a:ext cx="4537075" cy="829945"/>
          </a:xfrm>
          <a:prstGeom prst="rect">
            <a:avLst/>
          </a:prstGeom>
          <a:noFill/>
          <a:ln w="9525">
            <a:noFill/>
          </a:ln>
        </p:spPr>
        <p:txBody>
          <a:bodyPr>
            <a:spAutoFit/>
          </a:bodyPr>
          <a:p>
            <a:pPr algn="l">
              <a:spcBef>
                <a:spcPct val="50000"/>
              </a:spcBef>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遂道</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MOS</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管是用电擦除的，擦除速度快。</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210950" name="对象 210949"/>
          <p:cNvGraphicFramePr/>
          <p:nvPr/>
        </p:nvGraphicFramePr>
        <p:xfrm>
          <a:off x="819150" y="2798763"/>
          <a:ext cx="2738438" cy="2935287"/>
        </p:xfrm>
        <a:graphic>
          <a:graphicData uri="http://schemas.openxmlformats.org/presentationml/2006/ole">
            <mc:AlternateContent xmlns:mc="http://schemas.openxmlformats.org/markup-compatibility/2006">
              <mc:Choice xmlns:v="urn:schemas-microsoft-com:vml" Requires="v">
                <p:oleObj spid="_x0000_s3087" name="" r:id="rId1" imgW="1372235" imgH="1310005" progId="Word.Picture.8">
                  <p:embed/>
                </p:oleObj>
              </mc:Choice>
              <mc:Fallback>
                <p:oleObj name="" r:id="rId1" imgW="1372235" imgH="1310005" progId="Word.Picture.8">
                  <p:embed/>
                  <p:pic>
                    <p:nvPicPr>
                      <p:cNvPr id="0" name="图片 3086"/>
                      <p:cNvPicPr/>
                      <p:nvPr/>
                    </p:nvPicPr>
                    <p:blipFill>
                      <a:blip r:embed="rId2"/>
                      <a:stretch>
                        <a:fillRect/>
                      </a:stretch>
                    </p:blipFill>
                    <p:spPr>
                      <a:xfrm>
                        <a:off x="819150" y="2798763"/>
                        <a:ext cx="2738438" cy="2935287"/>
                      </a:xfrm>
                      <a:prstGeom prst="rect">
                        <a:avLst/>
                      </a:prstGeom>
                      <a:noFill/>
                      <a:ln w="38100">
                        <a:noFill/>
                        <a:miter/>
                      </a:ln>
                    </p:spPr>
                  </p:pic>
                </p:oleObj>
              </mc:Fallback>
            </mc:AlternateContent>
          </a:graphicData>
        </a:graphic>
      </p:graphicFrame>
      <p:grpSp>
        <p:nvGrpSpPr>
          <p:cNvPr id="210956" name="组合 210955"/>
          <p:cNvGrpSpPr/>
          <p:nvPr/>
        </p:nvGrpSpPr>
        <p:grpSpPr>
          <a:xfrm>
            <a:off x="2224088" y="4302125"/>
            <a:ext cx="376237" cy="598488"/>
            <a:chOff x="1111" y="2509"/>
            <a:chExt cx="237" cy="377"/>
          </a:xfrm>
        </p:grpSpPr>
        <p:sp>
          <p:nvSpPr>
            <p:cNvPr id="210957" name="直接连接符 210956"/>
            <p:cNvSpPr/>
            <p:nvPr/>
          </p:nvSpPr>
          <p:spPr>
            <a:xfrm flipV="1">
              <a:off x="1111" y="2567"/>
              <a:ext cx="164" cy="319"/>
            </a:xfrm>
            <a:prstGeom prst="line">
              <a:avLst/>
            </a:prstGeom>
            <a:ln w="38100" cap="flat" cmpd="sng">
              <a:solidFill>
                <a:srgbClr val="FF5050"/>
              </a:solidFill>
              <a:prstDash val="solid"/>
              <a:headEnd type="none" w="med" len="med"/>
              <a:tailEnd type="none" w="med" len="med"/>
            </a:ln>
          </p:spPr>
        </p:sp>
        <p:sp>
          <p:nvSpPr>
            <p:cNvPr id="210958" name="矩形 210957"/>
            <p:cNvSpPr/>
            <p:nvPr/>
          </p:nvSpPr>
          <p:spPr>
            <a:xfrm>
              <a:off x="1257" y="2509"/>
              <a:ext cx="91" cy="32"/>
            </a:xfrm>
            <a:prstGeom prst="rect">
              <a:avLst/>
            </a:prstGeom>
            <a:solidFill>
              <a:srgbClr val="FF5050"/>
            </a:solidFill>
            <a:ln w="9525" cap="flat" cmpd="sng">
              <a:solidFill>
                <a:srgbClr val="FF5050"/>
              </a:solidFill>
              <a:prstDash val="solid"/>
              <a:miter/>
              <a:headEnd type="none" w="med" len="med"/>
              <a:tailEnd type="none" w="med" len="med"/>
            </a:ln>
          </p:spPr>
          <p:txBody>
            <a:bodyPr/>
            <a:p>
              <a:endParaRPr lang="zh-CN" altLang="en-US" b="1">
                <a:solidFill>
                  <a:srgbClr val="000066"/>
                </a:solidFill>
                <a:latin typeface="Times New Roman" panose="02020603050405020304" charset="0"/>
                <a:ea typeface="楷体" panose="02010609060101010101" charset="-122"/>
                <a:cs typeface="Times New Roman" panose="02020603050405020304" charset="0"/>
              </a:endParaRPr>
            </a:p>
          </p:txBody>
        </p:sp>
      </p:grpSp>
      <p:graphicFrame>
        <p:nvGraphicFramePr>
          <p:cNvPr id="210959" name="对象 210958"/>
          <p:cNvGraphicFramePr/>
          <p:nvPr/>
        </p:nvGraphicFramePr>
        <p:xfrm>
          <a:off x="387350" y="2816225"/>
          <a:ext cx="3529013" cy="3136900"/>
        </p:xfrm>
        <a:graphic>
          <a:graphicData uri="http://schemas.openxmlformats.org/presentationml/2006/ole">
            <mc:AlternateContent xmlns:mc="http://schemas.openxmlformats.org/markup-compatibility/2006">
              <mc:Choice xmlns:v="urn:schemas-microsoft-com:vml" Requires="v">
                <p:oleObj spid="_x0000_s3088" name="" r:id="rId3" imgW="2736850" imgH="1825625" progId="Word.Picture.8">
                  <p:embed/>
                </p:oleObj>
              </mc:Choice>
              <mc:Fallback>
                <p:oleObj name="" r:id="rId3" imgW="2736850" imgH="1825625" progId="Word.Picture.8">
                  <p:embed/>
                  <p:pic>
                    <p:nvPicPr>
                      <p:cNvPr id="0" name="图片 3087"/>
                      <p:cNvPicPr/>
                      <p:nvPr/>
                    </p:nvPicPr>
                    <p:blipFill>
                      <a:blip r:embed="rId4"/>
                      <a:stretch>
                        <a:fillRect/>
                      </a:stretch>
                    </p:blipFill>
                    <p:spPr>
                      <a:xfrm>
                        <a:off x="387350" y="2816225"/>
                        <a:ext cx="3529013" cy="3136900"/>
                      </a:xfrm>
                      <a:prstGeom prst="rect">
                        <a:avLst/>
                      </a:prstGeom>
                      <a:noFill/>
                      <a:ln w="19050" cap="flat" cmpd="sng">
                        <a:solidFill>
                          <a:srgbClr val="FF33CC"/>
                        </a:solidFill>
                        <a:prstDash val="dash"/>
                        <a:miter/>
                        <a:headEnd type="none" w="med" len="med"/>
                        <a:tailEnd type="none" w="med" len="med"/>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10950"/>
                                        </p:tgtEl>
                                        <p:attrNameLst>
                                          <p:attrName>style.visibility</p:attrName>
                                        </p:attrNameLst>
                                      </p:cBhvr>
                                      <p:to>
                                        <p:strVal val="visible"/>
                                      </p:to>
                                    </p:set>
                                    <p:animEffect transition="in" filter="wipe(up)">
                                      <p:cBhvr>
                                        <p:cTn id="7" dur="500"/>
                                        <p:tgtEl>
                                          <p:spTgt spid="2109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10956"/>
                                        </p:tgtEl>
                                        <p:attrNameLst>
                                          <p:attrName>style.visibility</p:attrName>
                                        </p:attrNameLst>
                                      </p:cBhvr>
                                      <p:to>
                                        <p:strVal val="visible"/>
                                      </p:to>
                                    </p:set>
                                    <p:animEffect transition="in" filter="wipe(down)">
                                      <p:cBhvr>
                                        <p:cTn id="12" dur="500"/>
                                        <p:tgtEl>
                                          <p:spTgt spid="2109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10946"/>
                                        </p:tgtEl>
                                        <p:attrNameLst>
                                          <p:attrName>style.visibility</p:attrName>
                                        </p:attrNameLst>
                                      </p:cBhvr>
                                      <p:to>
                                        <p:strVal val="visible"/>
                                      </p:to>
                                    </p:set>
                                    <p:animEffect transition="in" filter="wipe(up)">
                                      <p:cBhvr>
                                        <p:cTn id="17" dur="500"/>
                                        <p:tgtEl>
                                          <p:spTgt spid="21094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10947"/>
                                        </p:tgtEl>
                                        <p:attrNameLst>
                                          <p:attrName>style.visibility</p:attrName>
                                        </p:attrNameLst>
                                      </p:cBhvr>
                                      <p:to>
                                        <p:strVal val="visible"/>
                                      </p:to>
                                    </p:set>
                                    <p:animEffect transition="in" filter="wipe(up)">
                                      <p:cBhvr>
                                        <p:cTn id="22" dur="500"/>
                                        <p:tgtEl>
                                          <p:spTgt spid="21094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10948"/>
                                        </p:tgtEl>
                                        <p:attrNameLst>
                                          <p:attrName>style.visibility</p:attrName>
                                        </p:attrNameLst>
                                      </p:cBhvr>
                                      <p:to>
                                        <p:strVal val="visible"/>
                                      </p:to>
                                    </p:set>
                                    <p:animEffect transition="in" filter="wipe(up)">
                                      <p:cBhvr>
                                        <p:cTn id="27" dur="500"/>
                                        <p:tgtEl>
                                          <p:spTgt spid="210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6" grpId="0"/>
      <p:bldP spid="210947" grpId="0"/>
      <p:bldP spid="21094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 name="文本框 85"/>
          <p:cNvSpPr txBox="1"/>
          <p:nvPr/>
        </p:nvSpPr>
        <p:spPr>
          <a:xfrm>
            <a:off x="0" y="5944235"/>
            <a:ext cx="9162000"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7" name="Rectangle 3"/>
          <p:cNvSpPr>
            <a:spLocks noGrp="1"/>
          </p:cNvSpPr>
          <p:nvPr/>
        </p:nvSpPr>
        <p:spPr>
          <a:xfrm>
            <a:off x="457200" y="1067435"/>
            <a:ext cx="482092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1318F3"/>
                </a:solidFill>
                <a:latin typeface="Times New Roman" panose="02020603050405020304" charset="0"/>
                <a:ea typeface="楷体" panose="02010609060101010101" charset="-122"/>
                <a:cs typeface="Times New Roman" panose="02020603050405020304" charset="0"/>
              </a:rPr>
              <a:t>      </a:t>
            </a:r>
            <a:r>
              <a:rPr sz="2400" b="1" dirty="0">
                <a:solidFill>
                  <a:srgbClr val="1318F3"/>
                </a:solidFill>
                <a:latin typeface="Times New Roman" panose="02020603050405020304" charset="0"/>
                <a:ea typeface="楷体" panose="02010609060101010101" charset="-122"/>
                <a:cs typeface="Times New Roman" panose="02020603050405020304" charset="0"/>
                <a:sym typeface="+mn-ea"/>
              </a:rPr>
              <a:t>(</a:t>
            </a:r>
            <a:r>
              <a:rPr lang="en-US" sz="2400" b="1" dirty="0">
                <a:solidFill>
                  <a:srgbClr val="1318F3"/>
                </a:solidFill>
                <a:latin typeface="Times New Roman" panose="02020603050405020304" charset="0"/>
                <a:ea typeface="楷体" panose="02010609060101010101" charset="-122"/>
                <a:cs typeface="Times New Roman" panose="02020603050405020304" charset="0"/>
                <a:sym typeface="+mn-ea"/>
              </a:rPr>
              <a:t>3</a:t>
            </a:r>
            <a:r>
              <a:rPr sz="2400" b="1" dirty="0">
                <a:solidFill>
                  <a:srgbClr val="1318F3"/>
                </a:solidFill>
                <a:latin typeface="Times New Roman" panose="02020603050405020304" charset="0"/>
                <a:ea typeface="楷体" panose="02010609060101010101" charset="-122"/>
                <a:cs typeface="Times New Roman" panose="02020603050405020304" charset="0"/>
                <a:sym typeface="+mn-ea"/>
              </a:rPr>
              <a:t>)Flash Memory</a:t>
            </a:r>
            <a:endParaRPr sz="2400" b="1" dirty="0">
              <a:solidFill>
                <a:srgbClr val="1318F3"/>
              </a:solidFill>
              <a:latin typeface="Times New Roman" panose="02020603050405020304" charset="0"/>
              <a:ea typeface="楷体" panose="02010609060101010101" charset="-122"/>
              <a:cs typeface="Times New Roman" panose="02020603050405020304" charset="0"/>
              <a:sym typeface="+mn-ea"/>
            </a:endParaRPr>
          </a:p>
        </p:txBody>
      </p:sp>
      <p:graphicFrame>
        <p:nvGraphicFramePr>
          <p:cNvPr id="2" name="对象 1"/>
          <p:cNvGraphicFramePr/>
          <p:nvPr/>
        </p:nvGraphicFramePr>
        <p:xfrm>
          <a:off x="381000" y="1600200"/>
          <a:ext cx="5660390" cy="3066415"/>
        </p:xfrm>
        <a:graphic>
          <a:graphicData uri="http://schemas.openxmlformats.org/presentationml/2006/ole">
            <mc:AlternateContent xmlns:mc="http://schemas.openxmlformats.org/markup-compatibility/2006">
              <mc:Choice xmlns:v="urn:schemas-microsoft-com:vml" Requires="v">
                <p:oleObj spid="_x0000_s3" name="" r:id="rId1" imgW="8867140" imgH="9001125" progId="Paint.Picture">
                  <p:embed/>
                </p:oleObj>
              </mc:Choice>
              <mc:Fallback>
                <p:oleObj name="" r:id="rId1" imgW="8867140" imgH="9001125" progId="Paint.Picture">
                  <p:embed/>
                  <p:pic>
                    <p:nvPicPr>
                      <p:cNvPr id="0" name="图片 2"/>
                      <p:cNvPicPr/>
                      <p:nvPr/>
                    </p:nvPicPr>
                    <p:blipFill>
                      <a:blip r:embed="rId2"/>
                      <a:stretch>
                        <a:fillRect/>
                      </a:stretch>
                    </p:blipFill>
                    <p:spPr>
                      <a:xfrm>
                        <a:off x="381000" y="1600200"/>
                        <a:ext cx="5660390" cy="3066415"/>
                      </a:xfrm>
                      <a:prstGeom prst="rect">
                        <a:avLst/>
                      </a:prstGeom>
                    </p:spPr>
                  </p:pic>
                </p:oleObj>
              </mc:Fallback>
            </mc:AlternateContent>
          </a:graphicData>
        </a:graphic>
      </p:graphicFrame>
      <p:sp>
        <p:nvSpPr>
          <p:cNvPr id="185353" name="圆角矩形标注 185352"/>
          <p:cNvSpPr/>
          <p:nvPr/>
        </p:nvSpPr>
        <p:spPr>
          <a:xfrm>
            <a:off x="1066800" y="4114800"/>
            <a:ext cx="1079500" cy="443865"/>
          </a:xfrm>
          <a:prstGeom prst="wedgeRoundRectCallout">
            <a:avLst>
              <a:gd name="adj1" fmla="val -7060"/>
              <a:gd name="adj2" fmla="val -230167"/>
              <a:gd name="adj3" fmla="val 16667"/>
            </a:avLst>
          </a:prstGeom>
          <a:noFill/>
          <a:ln w="28575" cap="flat" cmpd="sng">
            <a:solidFill>
              <a:srgbClr val="800000"/>
            </a:solidFill>
            <a:prstDash val="solid"/>
            <a:miter/>
            <a:headEnd type="none" w="med" len="med"/>
            <a:tailEnd type="none" w="med" len="med"/>
          </a:ln>
        </p:spPr>
        <p:txBody>
          <a:bodyPr lIns="90000" tIns="46800" rIns="90000" bIns="46800"/>
          <a:p>
            <a:pPr algn="ctr"/>
            <a:r>
              <a:rPr lang="zh-CN" altLang="en-US" sz="2400" b="1" dirty="0">
                <a:solidFill>
                  <a:srgbClr val="FF0000"/>
                </a:solidFill>
                <a:latin typeface="Times New Roman" panose="02020603050405020304" charset="0"/>
                <a:ea typeface="楷体" panose="02010609060101010101" charset="-122"/>
              </a:rPr>
              <a:t>较大</a:t>
            </a:r>
            <a:endParaRPr lang="zh-CN" altLang="en-US" sz="2400" b="1" dirty="0">
              <a:solidFill>
                <a:srgbClr val="FF0000"/>
              </a:solidFill>
              <a:latin typeface="Times New Roman" panose="02020603050405020304" charset="0"/>
              <a:ea typeface="楷体" panose="02010609060101010101" charset="-122"/>
            </a:endParaRPr>
          </a:p>
        </p:txBody>
      </p:sp>
      <p:sp>
        <p:nvSpPr>
          <p:cNvPr id="185354" name="圆角矩形标注 185353"/>
          <p:cNvSpPr/>
          <p:nvPr/>
        </p:nvSpPr>
        <p:spPr>
          <a:xfrm>
            <a:off x="3505200" y="1371600"/>
            <a:ext cx="1558925" cy="863600"/>
          </a:xfrm>
          <a:prstGeom prst="wedgeRoundRectCallout">
            <a:avLst>
              <a:gd name="adj1" fmla="val -122324"/>
              <a:gd name="adj2" fmla="val 123345"/>
              <a:gd name="adj3" fmla="val 16667"/>
            </a:avLst>
          </a:prstGeom>
          <a:noFill/>
          <a:ln w="28575" cap="flat" cmpd="sng">
            <a:solidFill>
              <a:srgbClr val="800000"/>
            </a:solidFill>
            <a:prstDash val="solid"/>
            <a:miter/>
            <a:headEnd type="none" w="med" len="med"/>
            <a:tailEnd type="none" w="med" len="med"/>
          </a:ln>
        </p:spPr>
        <p:txBody>
          <a:bodyPr lIns="90000" tIns="46800" rIns="90000" bIns="46800"/>
          <a:p>
            <a:pPr algn="ctr"/>
            <a:r>
              <a:rPr lang="zh-CN" altLang="en-US" sz="2400" b="1" dirty="0">
                <a:solidFill>
                  <a:srgbClr val="FF0000"/>
                </a:solidFill>
                <a:latin typeface="Times New Roman" panose="02020603050405020304" charset="0"/>
                <a:ea typeface="楷体" panose="02010609060101010101" charset="-122"/>
              </a:rPr>
              <a:t>氧化绝缘层更薄</a:t>
            </a:r>
            <a:endParaRPr lang="zh-CN" altLang="en-US" sz="2400" b="1" dirty="0">
              <a:solidFill>
                <a:srgbClr val="FF0000"/>
              </a:solidFill>
              <a:latin typeface="Times New Roman" panose="02020603050405020304" charset="0"/>
              <a:ea typeface="楷体" panose="02010609060101010101" charset="-122"/>
            </a:endParaRPr>
          </a:p>
        </p:txBody>
      </p:sp>
      <p:sp>
        <p:nvSpPr>
          <p:cNvPr id="185347" name="文本框 185346"/>
          <p:cNvSpPr txBox="1"/>
          <p:nvPr/>
        </p:nvSpPr>
        <p:spPr>
          <a:xfrm>
            <a:off x="5943600" y="1447800"/>
            <a:ext cx="2915920" cy="2750820"/>
          </a:xfrm>
          <a:prstGeom prst="rect">
            <a:avLst/>
          </a:prstGeom>
          <a:noFill/>
          <a:ln w="28575">
            <a:noFill/>
          </a:ln>
        </p:spPr>
        <p:txBody>
          <a:bodyPr wrap="square" lIns="90000" tIns="46800" rIns="90000" bIns="46800">
            <a:spAutoFit/>
          </a:bodyPr>
          <a:p>
            <a:pPr>
              <a:lnSpc>
                <a:spcPct val="120000"/>
              </a:lnSpc>
              <a:spcBef>
                <a:spcPts val="0"/>
              </a:spcBef>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结合</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EPROM</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结构简单、编程可靠的优点和</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E</a:t>
            </a:r>
            <a:r>
              <a:rPr lang="en-US" altLang="zh-CN" sz="2400" b="1" baseline="30000">
                <a:solidFill>
                  <a:srgbClr val="000066"/>
                </a:solidFill>
                <a:latin typeface="Times New Roman" panose="02020603050405020304" charset="0"/>
                <a:ea typeface="楷体" panose="02010609060101010101" charset="-122"/>
                <a:cs typeface="Times New Roman" panose="02020603050405020304" charset="0"/>
              </a:rPr>
              <a:t>2</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PROM</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擦除快捷的特性。集成度高，可靠性好。</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85355" name="文本框 185354"/>
          <p:cNvSpPr txBox="1"/>
          <p:nvPr/>
        </p:nvSpPr>
        <p:spPr>
          <a:xfrm>
            <a:off x="456883" y="4666298"/>
            <a:ext cx="1100137" cy="457200"/>
          </a:xfrm>
          <a:prstGeom prst="rect">
            <a:avLst/>
          </a:prstGeom>
          <a:noFill/>
          <a:ln w="28575">
            <a:noFill/>
          </a:ln>
        </p:spPr>
        <p:txBody>
          <a:bodyPr wrap="none" lIns="90000" tIns="46800" rIns="90000" bIns="46800" anchor="t" anchorCtr="0">
            <a:spAutoFit/>
          </a:bodyPr>
          <a:p>
            <a:r>
              <a:rPr lang="zh-CN" altLang="en-US" sz="2400" b="1" dirty="0">
                <a:solidFill>
                  <a:srgbClr val="1318F3"/>
                </a:solidFill>
                <a:latin typeface="Times New Roman" panose="02020603050405020304" charset="0"/>
                <a:ea typeface="楷体" panose="02010609060101010101" charset="-122"/>
              </a:rPr>
              <a:t>特点：</a:t>
            </a:r>
            <a:endParaRPr lang="zh-CN" altLang="en-US" sz="2400" b="1" dirty="0">
              <a:solidFill>
                <a:srgbClr val="1318F3"/>
              </a:solidFill>
              <a:latin typeface="Times New Roman" panose="02020603050405020304" charset="0"/>
              <a:ea typeface="楷体" panose="02010609060101010101" charset="-122"/>
            </a:endParaRPr>
          </a:p>
        </p:txBody>
      </p:sp>
      <p:sp>
        <p:nvSpPr>
          <p:cNvPr id="185356" name="文本框 185355"/>
          <p:cNvSpPr txBox="1"/>
          <p:nvPr/>
        </p:nvSpPr>
        <p:spPr>
          <a:xfrm>
            <a:off x="539750" y="5060950"/>
            <a:ext cx="8012113" cy="457200"/>
          </a:xfrm>
          <a:prstGeom prst="rect">
            <a:avLst/>
          </a:prstGeom>
          <a:noFill/>
          <a:ln w="28575">
            <a:noFill/>
          </a:ln>
        </p:spPr>
        <p:txBody>
          <a:bodyPr lIns="90000" tIns="46800" rIns="90000" bIns="46800">
            <a:spAutoFit/>
          </a:bodyPr>
          <a:p>
            <a:r>
              <a:rPr lang="en-US" altLang="zh-CN" sz="2400" b="1">
                <a:solidFill>
                  <a:srgbClr val="000066"/>
                </a:solidFill>
                <a:latin typeface="Times New Roman" panose="02020603050405020304" charset="0"/>
                <a:ea typeface="楷体" panose="02010609060101010101" charset="-122"/>
                <a:cs typeface="Times New Roman" panose="02020603050405020304" charset="0"/>
              </a:rPr>
              <a:t>a.</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通过在源极上加正压，使浮栅放电，擦除写入的数据。</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85357" name="矩形 185356"/>
          <p:cNvSpPr/>
          <p:nvPr/>
        </p:nvSpPr>
        <p:spPr>
          <a:xfrm>
            <a:off x="539750" y="5492750"/>
            <a:ext cx="8064500" cy="822325"/>
          </a:xfrm>
          <a:prstGeom prst="rect">
            <a:avLst/>
          </a:prstGeom>
          <a:noFill/>
          <a:ln w="28575">
            <a:noFill/>
          </a:ln>
        </p:spPr>
        <p:txBody>
          <a:bodyPr lIns="90000" tIns="46800" rIns="90000" bIns="46800">
            <a:spAutoFit/>
          </a:bodyPr>
          <a:p>
            <a:r>
              <a:rPr lang="en-US" altLang="zh-CN" sz="2400" b="1">
                <a:solidFill>
                  <a:srgbClr val="000066"/>
                </a:solidFill>
                <a:latin typeface="Times New Roman" panose="02020603050405020304" charset="0"/>
                <a:ea typeface="楷体" panose="02010609060101010101" charset="-122"/>
                <a:cs typeface="Times New Roman" panose="02020603050405020304" charset="0"/>
              </a:rPr>
              <a:t>b.</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因为个存储单元</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MOS</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管的源极是连在一起的，所以擦除是整片或分块擦除。</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85358" name="矩形 185357"/>
          <p:cNvSpPr/>
          <p:nvPr/>
        </p:nvSpPr>
        <p:spPr>
          <a:xfrm>
            <a:off x="544513" y="6284913"/>
            <a:ext cx="7843837" cy="457200"/>
          </a:xfrm>
          <a:prstGeom prst="rect">
            <a:avLst/>
          </a:prstGeom>
          <a:noFill/>
          <a:ln w="28575">
            <a:noFill/>
          </a:ln>
        </p:spPr>
        <p:txBody>
          <a:bodyPr lIns="90000" tIns="46800" rIns="90000" bIns="46800">
            <a:spAutoFit/>
          </a:bodyPr>
          <a:p>
            <a:r>
              <a:rPr lang="en-US" altLang="zh-CN" sz="2400" b="1">
                <a:solidFill>
                  <a:srgbClr val="000066"/>
                </a:solidFill>
                <a:latin typeface="Times New Roman" panose="02020603050405020304" charset="0"/>
                <a:ea typeface="楷体" panose="02010609060101010101" charset="-122"/>
                <a:cs typeface="Times New Roman" panose="02020603050405020304" charset="0"/>
              </a:rPr>
              <a:t>c.</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擦除速度很快，一般整片擦除只需几秒钟。</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85353"/>
                                        </p:tgtEl>
                                        <p:attrNameLst>
                                          <p:attrName>style.visibility</p:attrName>
                                        </p:attrNameLst>
                                      </p:cBhvr>
                                      <p:to>
                                        <p:strVal val="visible"/>
                                      </p:to>
                                    </p:set>
                                    <p:animEffect transition="in" filter="wipe(down)">
                                      <p:cBhvr>
                                        <p:cTn id="7" dur="500"/>
                                        <p:tgtEl>
                                          <p:spTgt spid="1853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85354"/>
                                        </p:tgtEl>
                                        <p:attrNameLst>
                                          <p:attrName>style.visibility</p:attrName>
                                        </p:attrNameLst>
                                      </p:cBhvr>
                                      <p:to>
                                        <p:strVal val="visible"/>
                                      </p:to>
                                    </p:set>
                                    <p:animEffect transition="in" filter="wipe(right)">
                                      <p:cBhvr>
                                        <p:cTn id="12" dur="500"/>
                                        <p:tgtEl>
                                          <p:spTgt spid="18535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5347"/>
                                        </p:tgtEl>
                                        <p:attrNameLst>
                                          <p:attrName>style.visibility</p:attrName>
                                        </p:attrNameLst>
                                      </p:cBhvr>
                                      <p:to>
                                        <p:strVal val="visible"/>
                                      </p:to>
                                    </p:set>
                                    <p:animEffect transition="in" filter="blinds(horizontal)">
                                      <p:cBhvr>
                                        <p:cTn id="17" dur="500"/>
                                        <p:tgtEl>
                                          <p:spTgt spid="18534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85355"/>
                                        </p:tgtEl>
                                        <p:attrNameLst>
                                          <p:attrName>style.visibility</p:attrName>
                                        </p:attrNameLst>
                                      </p:cBhvr>
                                      <p:to>
                                        <p:strVal val="visible"/>
                                      </p:to>
                                    </p:set>
                                    <p:animEffect transition="in" filter="blinds(horizontal)">
                                      <p:cBhvr>
                                        <p:cTn id="22" dur="500"/>
                                        <p:tgtEl>
                                          <p:spTgt spid="18535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5356"/>
                                        </p:tgtEl>
                                        <p:attrNameLst>
                                          <p:attrName>style.visibility</p:attrName>
                                        </p:attrNameLst>
                                      </p:cBhvr>
                                      <p:to>
                                        <p:strVal val="visible"/>
                                      </p:to>
                                    </p:set>
                                    <p:animEffect transition="in" filter="wipe(left)">
                                      <p:cBhvr>
                                        <p:cTn id="27" dur="500"/>
                                        <p:tgtEl>
                                          <p:spTgt spid="18535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5357"/>
                                        </p:tgtEl>
                                        <p:attrNameLst>
                                          <p:attrName>style.visibility</p:attrName>
                                        </p:attrNameLst>
                                      </p:cBhvr>
                                      <p:to>
                                        <p:strVal val="visible"/>
                                      </p:to>
                                    </p:set>
                                    <p:animEffect transition="in" filter="wipe(left)">
                                      <p:cBhvr>
                                        <p:cTn id="32" dur="500"/>
                                        <p:tgtEl>
                                          <p:spTgt spid="18535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85358"/>
                                        </p:tgtEl>
                                        <p:attrNameLst>
                                          <p:attrName>style.visibility</p:attrName>
                                        </p:attrNameLst>
                                      </p:cBhvr>
                                      <p:to>
                                        <p:strVal val="visible"/>
                                      </p:to>
                                    </p:set>
                                    <p:animEffect transition="in" filter="wipe(left)">
                                      <p:cBhvr>
                                        <p:cTn id="37" dur="500"/>
                                        <p:tgtEl>
                                          <p:spTgt spid="185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53" grpId="0" bldLvl="0" animBg="1"/>
      <p:bldP spid="185354" grpId="0" bldLvl="0" animBg="1"/>
      <p:bldP spid="185347" grpId="0"/>
      <p:bldP spid="185355" grpId="0"/>
      <p:bldP spid="185356" grpId="0"/>
      <p:bldP spid="185357" grpId="0"/>
      <p:bldP spid="18535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762000" y="1143000"/>
            <a:ext cx="8068945"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8.2.2 </a:t>
            </a:r>
            <a:r>
              <a:rPr lang="zh-CN" altLang="en-US" sz="2800" i="0" dirty="0">
                <a:solidFill>
                  <a:srgbClr val="0070C0"/>
                </a:solidFill>
                <a:latin typeface="黑体" panose="02010609060101010101" pitchFamily="49" charset="-122"/>
                <a:ea typeface="黑体" panose="02010609060101010101" pitchFamily="49" charset="-122"/>
              </a:rPr>
              <a:t>随机存储器</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2" name="文本框 1"/>
          <p:cNvSpPr txBox="1"/>
          <p:nvPr/>
        </p:nvSpPr>
        <p:spPr>
          <a:xfrm>
            <a:off x="539750" y="2286000"/>
            <a:ext cx="7920038" cy="1292860"/>
          </a:xfrm>
          <a:prstGeom prst="rect">
            <a:avLst/>
          </a:prstGeom>
          <a:noFill/>
          <a:ln w="9525">
            <a:noFill/>
          </a:ln>
        </p:spPr>
        <p:txBody>
          <a:bodyPr lIns="90000" tIns="46800" rIns="90000" bIns="46800">
            <a:spAutoFit/>
          </a:bodyPr>
          <a:p>
            <a:pPr marL="1339850" indent="-1339850"/>
            <a:r>
              <a:rPr lang="en-US" altLang="zh-CN" sz="2600" b="1">
                <a:solidFill>
                  <a:srgbClr val="0000CC"/>
                </a:solidFill>
                <a:latin typeface="Times New Roman" panose="02020603050405020304" charset="0"/>
                <a:ea typeface="楷体" panose="02010609060101010101" charset="-122"/>
                <a:cs typeface="Times New Roman" panose="02020603050405020304" charset="0"/>
              </a:rPr>
              <a:t>   RAM</a:t>
            </a:r>
            <a:r>
              <a:rPr lang="zh-CN" altLang="en-US" sz="2600" b="1" dirty="0">
                <a:solidFill>
                  <a:srgbClr val="0000CC"/>
                </a:solidFill>
                <a:latin typeface="Times New Roman" panose="02020603050405020304" charset="0"/>
                <a:ea typeface="楷体" panose="02010609060101010101" charset="-122"/>
                <a:cs typeface="Times New Roman" panose="02020603050405020304" charset="0"/>
              </a:rPr>
              <a:t>：</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在工作过程中，既可随时从存储器的任意单元读出信息，又可以随时把外界信息写入任意单元。</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3" name="矩形 2"/>
          <p:cNvSpPr/>
          <p:nvPr/>
        </p:nvSpPr>
        <p:spPr>
          <a:xfrm>
            <a:off x="539750" y="3933825"/>
            <a:ext cx="8135938" cy="1282700"/>
          </a:xfrm>
          <a:prstGeom prst="rect">
            <a:avLst/>
          </a:prstGeom>
          <a:noFill/>
          <a:ln w="28575">
            <a:noFill/>
          </a:ln>
        </p:spPr>
        <p:txBody>
          <a:bodyPr lIns="90000" tIns="46800" rIns="90000" bIns="46800">
            <a:spAutoFit/>
          </a:bodyPr>
          <a:p>
            <a:r>
              <a:rPr lang="zh-CN" altLang="en-US" sz="2600" b="1" dirty="0">
                <a:solidFill>
                  <a:srgbClr val="CC0000"/>
                </a:solidFill>
                <a:latin typeface="Times New Roman" panose="02020603050405020304" charset="0"/>
                <a:ea typeface="楷体" panose="02010609060101010101" charset="-122"/>
                <a:cs typeface="Times New Roman" panose="02020603050405020304" charset="0"/>
              </a:rPr>
              <a:t>特点：</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使用灵活、方便。但具有易失性，即：掉电后，数据就消失</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也有非易失性的</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RAM</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，实际上类似于</a:t>
            </a:r>
            <a:r>
              <a:rPr lang="en-US" altLang="zh-CN" sz="2600" b="1">
                <a:solidFill>
                  <a:srgbClr val="000066"/>
                </a:solidFill>
                <a:latin typeface="Times New Roman" panose="02020603050405020304" charset="0"/>
                <a:ea typeface="楷体" panose="02010609060101010101" charset="-122"/>
                <a:cs typeface="Times New Roman" panose="02020603050405020304" charset="0"/>
              </a:rPr>
              <a:t>ROM)</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74082" name="矩形 174081"/>
          <p:cNvSpPr/>
          <p:nvPr/>
        </p:nvSpPr>
        <p:spPr>
          <a:xfrm>
            <a:off x="1116013" y="2781300"/>
            <a:ext cx="7056437" cy="1532890"/>
          </a:xfrm>
          <a:prstGeom prst="rect">
            <a:avLst/>
          </a:prstGeom>
          <a:noFill/>
          <a:ln w="28575">
            <a:noFill/>
          </a:ln>
        </p:spPr>
        <p:txBody>
          <a:bodyPr lIns="90000" tIns="46800" rIns="90000" bIns="46800">
            <a:spAutoFit/>
          </a:bodyPr>
          <a:p>
            <a:pPr>
              <a:spcBef>
                <a:spcPct val="30000"/>
              </a:spcBef>
            </a:pPr>
            <a:r>
              <a:rPr lang="en-US" altLang="zh-CN" sz="2600" b="1">
                <a:solidFill>
                  <a:srgbClr val="000066"/>
                </a:solidFill>
                <a:latin typeface="Times New Roman" panose="02020603050405020304" charset="0"/>
                <a:ea typeface="楷体" panose="02010609060101010101" charset="-122"/>
                <a:cs typeface="Times New Roman" panose="02020603050405020304" charset="0"/>
              </a:rPr>
              <a:t>SRAM</a:t>
            </a:r>
            <a:r>
              <a:rPr lang="zh-CN" altLang="en-US" sz="2600" b="1">
                <a:solidFill>
                  <a:srgbClr val="000066"/>
                </a:solidFill>
                <a:latin typeface="Times New Roman" panose="02020603050405020304" charset="0"/>
                <a:ea typeface="楷体" panose="02010609060101010101" charset="-122"/>
                <a:cs typeface="Times New Roman" panose="02020603050405020304" charset="0"/>
              </a:rPr>
              <a:t>（</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静态）：存取速度快</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a:p>
            <a:pPr>
              <a:spcBef>
                <a:spcPct val="30000"/>
              </a:spcBef>
            </a:pPr>
            <a:r>
              <a:rPr lang="en-US" altLang="zh-CN" sz="2600" b="1">
                <a:solidFill>
                  <a:srgbClr val="000066"/>
                </a:solidFill>
                <a:latin typeface="Times New Roman" panose="02020603050405020304" charset="0"/>
                <a:ea typeface="楷体" panose="02010609060101010101" charset="-122"/>
                <a:cs typeface="Times New Roman" panose="02020603050405020304" charset="0"/>
              </a:rPr>
              <a:t>DRAM</a:t>
            </a:r>
            <a:r>
              <a:rPr lang="zh-CN" altLang="en-US" sz="2600" b="1">
                <a:solidFill>
                  <a:srgbClr val="000066"/>
                </a:solidFill>
                <a:latin typeface="Times New Roman" panose="02020603050405020304" charset="0"/>
                <a:ea typeface="楷体" panose="02010609060101010101" charset="-122"/>
                <a:cs typeface="Times New Roman" panose="02020603050405020304" charset="0"/>
              </a:rPr>
              <a:t>（</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动态）：结构简单、集成度高</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a:p>
            <a:pPr>
              <a:spcBef>
                <a:spcPct val="30000"/>
              </a:spcBef>
            </a:pPr>
            <a:r>
              <a:rPr lang="en-US" altLang="zh-CN" sz="2600" b="1">
                <a:solidFill>
                  <a:srgbClr val="000066"/>
                </a:solidFill>
                <a:latin typeface="Times New Roman" panose="02020603050405020304" charset="0"/>
                <a:ea typeface="楷体" panose="02010609060101010101" charset="-122"/>
                <a:cs typeface="Times New Roman" panose="02020603050405020304" charset="0"/>
              </a:rPr>
              <a:t>NVRAM</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（非易失性）</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74083" name="左大括号 174082"/>
          <p:cNvSpPr/>
          <p:nvPr/>
        </p:nvSpPr>
        <p:spPr>
          <a:xfrm>
            <a:off x="900113" y="2925763"/>
            <a:ext cx="215900" cy="1223962"/>
          </a:xfrm>
          <a:prstGeom prst="leftBrace">
            <a:avLst>
              <a:gd name="adj1" fmla="val 47242"/>
              <a:gd name="adj2" fmla="val 50000"/>
            </a:avLst>
          </a:prstGeom>
          <a:noFill/>
          <a:ln w="38100" cap="flat" cmpd="sng">
            <a:solidFill>
              <a:srgbClr val="FF0000"/>
            </a:solidFill>
            <a:prstDash val="solid"/>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174084" name="文本框 174083"/>
          <p:cNvSpPr txBox="1"/>
          <p:nvPr/>
        </p:nvSpPr>
        <p:spPr>
          <a:xfrm>
            <a:off x="684213" y="2103438"/>
            <a:ext cx="6551612" cy="523240"/>
          </a:xfrm>
          <a:prstGeom prst="rect">
            <a:avLst/>
          </a:prstGeom>
          <a:noFill/>
          <a:ln w="28575">
            <a:noFill/>
          </a:ln>
        </p:spPr>
        <p:txBody>
          <a:bodyPr lIns="90000" tIns="46800" rIns="90000" bIns="46800">
            <a:spAutoFit/>
          </a:bodyPr>
          <a:p>
            <a:r>
              <a:rPr lang="en-US" altLang="zh-CN" sz="2800" b="1">
                <a:solidFill>
                  <a:srgbClr val="0000CC"/>
                </a:solidFill>
                <a:latin typeface="Times New Roman" panose="02020603050405020304" charset="0"/>
                <a:ea typeface="楷体" panose="02010609060101010101" charset="-122"/>
                <a:cs typeface="Times New Roman" panose="02020603050405020304" charset="0"/>
              </a:rPr>
              <a:t>RAM</a:t>
            </a:r>
            <a:r>
              <a:rPr lang="zh-CN" altLang="en-US" sz="2800" b="1" dirty="0">
                <a:solidFill>
                  <a:srgbClr val="0000CC"/>
                </a:solidFill>
                <a:latin typeface="Times New Roman" panose="02020603050405020304" charset="0"/>
                <a:ea typeface="楷体" panose="02010609060101010101" charset="-122"/>
                <a:cs typeface="Times New Roman" panose="02020603050405020304" charset="0"/>
              </a:rPr>
              <a:t>按存储单元工作原理不同分为</a:t>
            </a:r>
            <a:endParaRPr lang="zh-CN" altLang="en-US" sz="2800" b="1" dirty="0">
              <a:solidFill>
                <a:srgbClr val="0000CC"/>
              </a:solidFill>
              <a:latin typeface="Times New Roman" panose="02020603050405020304" charset="0"/>
              <a:ea typeface="楷体" panose="02010609060101010101" charset="-122"/>
              <a:cs typeface="Times New Roman" panose="02020603050405020304" charset="0"/>
            </a:endParaRPr>
          </a:p>
        </p:txBody>
      </p:sp>
      <p:sp>
        <p:nvSpPr>
          <p:cNvPr id="174087" name="文本框 174086"/>
          <p:cNvSpPr txBox="1"/>
          <p:nvPr/>
        </p:nvSpPr>
        <p:spPr>
          <a:xfrm>
            <a:off x="674688" y="4551363"/>
            <a:ext cx="8001000" cy="1814830"/>
          </a:xfrm>
          <a:prstGeom prst="rect">
            <a:avLst/>
          </a:prstGeom>
          <a:noFill/>
          <a:ln w="9525">
            <a:noFill/>
          </a:ln>
        </p:spPr>
        <p:txBody>
          <a:bodyPr>
            <a:spAutoFit/>
          </a:bodyPr>
          <a:p>
            <a:pPr>
              <a:spcBef>
                <a:spcPct val="50000"/>
              </a:spcBef>
            </a:pPr>
            <a:r>
              <a:rPr lang="en-US" altLang="zh-CN" sz="2800" b="1">
                <a:solidFill>
                  <a:srgbClr val="0000CC"/>
                </a:solidFill>
                <a:latin typeface="Times New Roman" panose="02020603050405020304" charset="0"/>
                <a:ea typeface="楷体" panose="02010609060101010101" charset="-122"/>
                <a:cs typeface="Times New Roman" panose="02020603050405020304" charset="0"/>
              </a:rPr>
              <a:t>RAM </a:t>
            </a:r>
            <a:r>
              <a:rPr lang="zh-CN" altLang="en-US" sz="2800" b="1" dirty="0">
                <a:solidFill>
                  <a:srgbClr val="0000CC"/>
                </a:solidFill>
                <a:latin typeface="Times New Roman" panose="02020603050405020304" charset="0"/>
                <a:ea typeface="楷体" panose="02010609060101010101" charset="-122"/>
                <a:cs typeface="Times New Roman" panose="02020603050405020304" charset="0"/>
              </a:rPr>
              <a:t>按所用器件可分为</a:t>
            </a:r>
            <a:endParaRPr lang="zh-CN" altLang="en-US" sz="2800" b="1" dirty="0">
              <a:solidFill>
                <a:srgbClr val="0000CC"/>
              </a:solidFill>
              <a:latin typeface="Times New Roman" panose="02020603050405020304" charset="0"/>
              <a:ea typeface="楷体" panose="02010609060101010101" charset="-122"/>
              <a:cs typeface="Times New Roman" panose="02020603050405020304" charset="0"/>
            </a:endParaRPr>
          </a:p>
          <a:p>
            <a:pPr>
              <a:spcBef>
                <a:spcPct val="50000"/>
              </a:spcBef>
            </a:pPr>
            <a:r>
              <a:rPr lang="zh-CN" altLang="en-US" sz="2800" b="1" dirty="0">
                <a:latin typeface="Times New Roman" panose="02020603050405020304" charset="0"/>
                <a:ea typeface="楷体" panose="02010609060101010101" charset="-122"/>
                <a:cs typeface="Times New Roman" panose="02020603050405020304" charset="0"/>
              </a:rPr>
              <a:t>      </a:t>
            </a:r>
            <a:r>
              <a:rPr lang="zh-CN" altLang="en-US" sz="2800" b="1" dirty="0">
                <a:solidFill>
                  <a:srgbClr val="000066"/>
                </a:solidFill>
                <a:latin typeface="Times New Roman" panose="02020603050405020304" charset="0"/>
                <a:ea typeface="楷体" panose="02010609060101010101" charset="-122"/>
                <a:cs typeface="Times New Roman" panose="02020603050405020304" charset="0"/>
              </a:rPr>
              <a:t>双极型</a:t>
            </a:r>
            <a:endParaRPr lang="zh-CN" altLang="en-US" sz="2800" b="1" dirty="0">
              <a:solidFill>
                <a:srgbClr val="000066"/>
              </a:solidFill>
              <a:latin typeface="Times New Roman" panose="02020603050405020304" charset="0"/>
              <a:ea typeface="楷体" panose="02010609060101010101" charset="-122"/>
              <a:cs typeface="Times New Roman" panose="02020603050405020304" charset="0"/>
            </a:endParaRPr>
          </a:p>
          <a:p>
            <a:pPr>
              <a:spcBef>
                <a:spcPct val="50000"/>
              </a:spcBef>
            </a:pPr>
            <a:r>
              <a:rPr lang="zh-CN" altLang="en-US" sz="2800" b="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800" b="1">
                <a:solidFill>
                  <a:srgbClr val="000066"/>
                </a:solidFill>
                <a:latin typeface="Times New Roman" panose="02020603050405020304" charset="0"/>
                <a:ea typeface="楷体" panose="02010609060101010101" charset="-122"/>
                <a:cs typeface="Times New Roman" panose="02020603050405020304" charset="0"/>
              </a:rPr>
              <a:t>MOS</a:t>
            </a:r>
            <a:r>
              <a:rPr lang="zh-CN" altLang="en-US" sz="2800" b="1" dirty="0">
                <a:solidFill>
                  <a:srgbClr val="000066"/>
                </a:solidFill>
                <a:latin typeface="Times New Roman" panose="02020603050405020304" charset="0"/>
                <a:ea typeface="楷体" panose="02010609060101010101" charset="-122"/>
                <a:cs typeface="Times New Roman" panose="02020603050405020304" charset="0"/>
              </a:rPr>
              <a:t>型</a:t>
            </a:r>
            <a:endParaRPr lang="zh-CN" altLang="en-US" sz="28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74088" name="左大括号 174087"/>
          <p:cNvSpPr/>
          <p:nvPr/>
        </p:nvSpPr>
        <p:spPr>
          <a:xfrm>
            <a:off x="971550" y="5343525"/>
            <a:ext cx="215900" cy="863600"/>
          </a:xfrm>
          <a:prstGeom prst="leftBrace">
            <a:avLst>
              <a:gd name="adj1" fmla="val 33333"/>
              <a:gd name="adj2" fmla="val 50000"/>
            </a:avLst>
          </a:prstGeom>
          <a:noFill/>
          <a:ln w="38100" cap="flat" cmpd="sng">
            <a:solidFill>
              <a:srgbClr val="FF0000"/>
            </a:solidFill>
            <a:prstDash val="solid"/>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174089" name="文本框 174088"/>
          <p:cNvSpPr txBox="1"/>
          <p:nvPr/>
        </p:nvSpPr>
        <p:spPr>
          <a:xfrm>
            <a:off x="539750" y="1454150"/>
            <a:ext cx="7007225" cy="523240"/>
          </a:xfrm>
          <a:prstGeom prst="rect">
            <a:avLst/>
          </a:prstGeom>
          <a:noFill/>
          <a:ln w="28575">
            <a:noFill/>
          </a:ln>
        </p:spPr>
        <p:txBody>
          <a:bodyPr lIns="90000" tIns="46800" rIns="90000" bIns="46800">
            <a:spAutoFit/>
          </a:bodyPr>
          <a:p>
            <a:pPr defTabSz="558800"/>
            <a:r>
              <a:rPr lang="zh-CN" altLang="en-US" sz="2800" b="1" dirty="0">
                <a:solidFill>
                  <a:srgbClr val="FE09D6"/>
                </a:solidFill>
                <a:latin typeface="Times New Roman" panose="02020603050405020304" charset="0"/>
                <a:ea typeface="楷体" panose="02010609060101010101" charset="-122"/>
              </a:rPr>
              <a:t>分类：</a:t>
            </a:r>
            <a:endParaRPr lang="zh-CN" altLang="en-US" sz="2800" b="1" dirty="0">
              <a:solidFill>
                <a:srgbClr val="FE09D6"/>
              </a:solidFill>
              <a:latin typeface="Times New Roman" panose="02020603050405020304" charset="0"/>
              <a:ea typeface="楷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084"/>
                                        </p:tgtEl>
                                        <p:attrNameLst>
                                          <p:attrName>style.visibility</p:attrName>
                                        </p:attrNameLst>
                                      </p:cBhvr>
                                      <p:to>
                                        <p:strVal val="visible"/>
                                      </p:to>
                                    </p:set>
                                    <p:animEffect transition="in" filter="blinds(horizontal)">
                                      <p:cBhvr>
                                        <p:cTn id="7" dur="500"/>
                                        <p:tgtEl>
                                          <p:spTgt spid="17408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7408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74082"/>
                                        </p:tgtEl>
                                        <p:attrNameLst>
                                          <p:attrName>style.visibility</p:attrName>
                                        </p:attrNameLst>
                                      </p:cBhvr>
                                      <p:to>
                                        <p:strVal val="visible"/>
                                      </p:to>
                                    </p:set>
                                    <p:animEffect transition="in" filter="wipe(up)">
                                      <p:cBhvr>
                                        <p:cTn id="16" dur="2000"/>
                                        <p:tgtEl>
                                          <p:spTgt spid="17408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74087"/>
                                        </p:tgtEl>
                                        <p:attrNameLst>
                                          <p:attrName>style.visibility</p:attrName>
                                        </p:attrNameLst>
                                      </p:cBhvr>
                                      <p:to>
                                        <p:strVal val="visible"/>
                                      </p:to>
                                    </p:set>
                                    <p:animEffect transition="in" filter="wipe(left)">
                                      <p:cBhvr>
                                        <p:cTn id="21" dur="500"/>
                                        <p:tgtEl>
                                          <p:spTgt spid="174087"/>
                                        </p:tgtEl>
                                      </p:cBhvr>
                                    </p:animEffect>
                                  </p:childTnLst>
                                </p:cTn>
                              </p:par>
                            </p:childTnLst>
                          </p:cTn>
                        </p:par>
                        <p:par>
                          <p:cTn id="22" fill="hold">
                            <p:stCondLst>
                              <p:cond delay="500"/>
                            </p:stCondLst>
                            <p:childTnLst>
                              <p:par>
                                <p:cTn id="23" presetID="1" presetClass="entr" presetSubtype="0" fill="hold" nodeType="afterEffect">
                                  <p:stCondLst>
                                    <p:cond delay="0"/>
                                  </p:stCondLst>
                                  <p:childTnLst>
                                    <p:set>
                                      <p:cBhvr>
                                        <p:cTn id="24" dur="1" fill="hold">
                                          <p:stCondLst>
                                            <p:cond delay="0"/>
                                          </p:stCondLst>
                                        </p:cTn>
                                        <p:tgtEl>
                                          <p:spTgt spid="1740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2" grpId="0"/>
      <p:bldP spid="174084" grpId="0"/>
      <p:bldP spid="17408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 name="文本框 85"/>
          <p:cNvSpPr txBox="1"/>
          <p:nvPr/>
        </p:nvSpPr>
        <p:spPr>
          <a:xfrm>
            <a:off x="0" y="5935980"/>
            <a:ext cx="9162000"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pic>
        <p:nvPicPr>
          <p:cNvPr id="2" name="图片 1"/>
          <p:cNvPicPr>
            <a:picLocks noChangeAspect="1"/>
          </p:cNvPicPr>
          <p:nvPr/>
        </p:nvPicPr>
        <p:blipFill>
          <a:blip r:embed="rId1"/>
          <a:stretch>
            <a:fillRect/>
          </a:stretch>
        </p:blipFill>
        <p:spPr>
          <a:xfrm>
            <a:off x="1371600" y="2362200"/>
            <a:ext cx="5002530" cy="4305935"/>
          </a:xfrm>
          <a:prstGeom prst="rect">
            <a:avLst/>
          </a:prstGeom>
        </p:spPr>
      </p:pic>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7588" name="矩形 67587"/>
          <p:cNvSpPr/>
          <p:nvPr/>
        </p:nvSpPr>
        <p:spPr>
          <a:xfrm>
            <a:off x="761683" y="1371600"/>
            <a:ext cx="7848600" cy="539750"/>
          </a:xfrm>
          <a:prstGeom prst="rect">
            <a:avLst/>
          </a:prstGeom>
          <a:noFill/>
          <a:ln w="9525">
            <a:noFill/>
          </a:ln>
        </p:spPr>
        <p:txBody>
          <a:bodyPr anchor="ctr" anchorCtr="0"/>
          <a:lstStyle>
            <a:lvl1pPr marL="0" lvl="0" indent="0" algn="l" defTabSz="914400" rtl="0" eaLnBrk="1" fontAlgn="base" latinLnBrk="0" hangingPunct="1">
              <a:lnSpc>
                <a:spcPct val="100000"/>
              </a:lnSpc>
              <a:spcBef>
                <a:spcPct val="0"/>
              </a:spcBef>
              <a:spcAft>
                <a:spcPct val="0"/>
              </a:spcAft>
              <a:buNone/>
              <a:defRPr sz="4400" u="none" kern="1200" baseline="0">
                <a:solidFill>
                  <a:schemeClr val="tx1"/>
                </a:solidFill>
                <a:latin typeface="Arial" panose="020B0604020202020204" pitchFamily="34" charset="0"/>
                <a:ea typeface="宋体" panose="02010600030101010101" pitchFamily="2" charset="-122"/>
              </a:defRPr>
            </a:lvl1pPr>
          </a:lstStyle>
          <a:p>
            <a:pPr marL="609600" lvl="0" indent="-609600"/>
            <a:r>
              <a:rPr lang="en-US" altLang="zh-CN" sz="2800" b="1">
                <a:solidFill>
                  <a:srgbClr val="FE09D6"/>
                </a:solidFill>
                <a:latin typeface="Times New Roman" panose="02020603050405020304" charset="0"/>
                <a:ea typeface="楷体" panose="02010609060101010101" charset="-122"/>
                <a:cs typeface="Times New Roman" panose="02020603050405020304" charset="0"/>
              </a:rPr>
              <a:t>RAM</a:t>
            </a:r>
            <a:r>
              <a:rPr lang="zh-CN" altLang="en-US" sz="2800" b="1" dirty="0">
                <a:solidFill>
                  <a:srgbClr val="FE09D6"/>
                </a:solidFill>
                <a:latin typeface="Times New Roman" panose="02020603050405020304" charset="0"/>
                <a:ea typeface="楷体" panose="02010609060101010101" charset="-122"/>
                <a:cs typeface="Times New Roman" panose="02020603050405020304" charset="0"/>
              </a:rPr>
              <a:t>存储器的基本结构</a:t>
            </a:r>
            <a:endParaRPr lang="zh-CN" altLang="en-US" sz="2800" b="1" dirty="0">
              <a:solidFill>
                <a:srgbClr val="FE09D6"/>
              </a:solidFill>
              <a:latin typeface="Times New Roman" panose="02020603050405020304" charset="0"/>
              <a:ea typeface="楷体" panose="02010609060101010101" charset="-122"/>
              <a:cs typeface="Times New Roman" panose="02020603050405020304" charset="0"/>
            </a:endParaRPr>
          </a:p>
        </p:txBody>
      </p:sp>
      <p:grpSp>
        <p:nvGrpSpPr>
          <p:cNvPr id="67621" name="组合 67620"/>
          <p:cNvGrpSpPr/>
          <p:nvPr/>
        </p:nvGrpSpPr>
        <p:grpSpPr>
          <a:xfrm>
            <a:off x="1295036" y="2333625"/>
            <a:ext cx="3918314" cy="4224092"/>
            <a:chOff x="121" y="240"/>
            <a:chExt cx="2423" cy="3213"/>
          </a:xfrm>
        </p:grpSpPr>
        <p:grpSp>
          <p:nvGrpSpPr>
            <p:cNvPr id="67622" name="组合 67621"/>
            <p:cNvGrpSpPr/>
            <p:nvPr/>
          </p:nvGrpSpPr>
          <p:grpSpPr>
            <a:xfrm>
              <a:off x="144" y="240"/>
              <a:ext cx="2400" cy="2304"/>
              <a:chOff x="144" y="240"/>
              <a:chExt cx="2400" cy="2304"/>
            </a:xfrm>
          </p:grpSpPr>
          <p:sp>
            <p:nvSpPr>
              <p:cNvPr id="67623" name="直接连接符 67622"/>
              <p:cNvSpPr/>
              <p:nvPr/>
            </p:nvSpPr>
            <p:spPr>
              <a:xfrm>
                <a:off x="144" y="240"/>
                <a:ext cx="336" cy="0"/>
              </a:xfrm>
              <a:prstGeom prst="line">
                <a:avLst/>
              </a:prstGeom>
              <a:ln w="12700" cap="flat" cmpd="sng">
                <a:solidFill>
                  <a:schemeClr val="tx1"/>
                </a:solidFill>
                <a:prstDash val="lgDash"/>
                <a:headEnd type="none" w="med" len="med"/>
                <a:tailEnd type="none" w="med" len="med"/>
              </a:ln>
            </p:spPr>
          </p:sp>
          <p:sp>
            <p:nvSpPr>
              <p:cNvPr id="67624" name="直接连接符 67623"/>
              <p:cNvSpPr/>
              <p:nvPr/>
            </p:nvSpPr>
            <p:spPr>
              <a:xfrm>
                <a:off x="480" y="240"/>
                <a:ext cx="0" cy="2016"/>
              </a:xfrm>
              <a:prstGeom prst="line">
                <a:avLst/>
              </a:prstGeom>
              <a:ln w="28575" cap="flat" cmpd="sng">
                <a:solidFill>
                  <a:srgbClr val="1318F3"/>
                </a:solidFill>
                <a:prstDash val="lgDash"/>
                <a:headEnd type="none" w="med" len="med"/>
                <a:tailEnd type="none" w="med" len="med"/>
              </a:ln>
            </p:spPr>
          </p:sp>
          <p:sp>
            <p:nvSpPr>
              <p:cNvPr id="67625" name="直接连接符 67624"/>
              <p:cNvSpPr/>
              <p:nvPr/>
            </p:nvSpPr>
            <p:spPr>
              <a:xfrm>
                <a:off x="480" y="2256"/>
                <a:ext cx="2064" cy="0"/>
              </a:xfrm>
              <a:prstGeom prst="line">
                <a:avLst/>
              </a:prstGeom>
              <a:ln w="28575" cap="flat" cmpd="sng">
                <a:solidFill>
                  <a:srgbClr val="1318F3"/>
                </a:solidFill>
                <a:prstDash val="lgDash"/>
                <a:headEnd type="none" w="med" len="med"/>
                <a:tailEnd type="none" w="med" len="med"/>
              </a:ln>
            </p:spPr>
          </p:sp>
          <p:sp>
            <p:nvSpPr>
              <p:cNvPr id="67626" name="直接连接符 67625"/>
              <p:cNvSpPr/>
              <p:nvPr/>
            </p:nvSpPr>
            <p:spPr>
              <a:xfrm>
                <a:off x="2544" y="2256"/>
                <a:ext cx="0" cy="288"/>
              </a:xfrm>
              <a:prstGeom prst="line">
                <a:avLst/>
              </a:prstGeom>
              <a:ln w="12700" cap="flat" cmpd="sng">
                <a:solidFill>
                  <a:schemeClr val="tx1"/>
                </a:solidFill>
                <a:prstDash val="lgDash"/>
                <a:headEnd type="none" w="med" len="med"/>
                <a:tailEnd type="none" w="med" len="med"/>
              </a:ln>
            </p:spPr>
          </p:sp>
          <p:sp>
            <p:nvSpPr>
              <p:cNvPr id="67627" name="直接连接符 67626"/>
              <p:cNvSpPr/>
              <p:nvPr/>
            </p:nvSpPr>
            <p:spPr>
              <a:xfrm>
                <a:off x="144" y="240"/>
                <a:ext cx="0" cy="2304"/>
              </a:xfrm>
              <a:prstGeom prst="line">
                <a:avLst/>
              </a:prstGeom>
              <a:ln w="28575" cap="flat" cmpd="sng">
                <a:solidFill>
                  <a:srgbClr val="1318F3"/>
                </a:solidFill>
                <a:prstDash val="lgDash"/>
                <a:headEnd type="none" w="med" len="med"/>
                <a:tailEnd type="none" w="med" len="med"/>
              </a:ln>
            </p:spPr>
          </p:sp>
          <p:sp>
            <p:nvSpPr>
              <p:cNvPr id="67628" name="直接连接符 67627"/>
              <p:cNvSpPr/>
              <p:nvPr/>
            </p:nvSpPr>
            <p:spPr>
              <a:xfrm>
                <a:off x="144" y="2544"/>
                <a:ext cx="2400" cy="0"/>
              </a:xfrm>
              <a:prstGeom prst="line">
                <a:avLst/>
              </a:prstGeom>
              <a:ln w="28575" cap="flat" cmpd="sng">
                <a:solidFill>
                  <a:srgbClr val="1318F3"/>
                </a:solidFill>
                <a:prstDash val="lgDash"/>
                <a:headEnd type="none" w="med" len="med"/>
                <a:tailEnd type="none" w="med" len="med"/>
              </a:ln>
            </p:spPr>
          </p:sp>
        </p:grpSp>
        <p:sp>
          <p:nvSpPr>
            <p:cNvPr id="67629" name="文本框 67628"/>
            <p:cNvSpPr txBox="1"/>
            <p:nvPr/>
          </p:nvSpPr>
          <p:spPr>
            <a:xfrm>
              <a:off x="121" y="3102"/>
              <a:ext cx="886" cy="351"/>
            </a:xfrm>
            <a:prstGeom prst="rect">
              <a:avLst/>
            </a:prstGeom>
            <a:noFill/>
            <a:ln w="28575">
              <a:noFill/>
            </a:ln>
          </p:spPr>
          <p:txBody>
            <a:bodyPr lIns="90000" tIns="46800" rIns="90000" bIns="46800">
              <a:spAutoFit/>
            </a:bodyPr>
            <a:p>
              <a:r>
                <a:rPr lang="zh-CN" altLang="en-US" sz="2400" b="1" dirty="0">
                  <a:solidFill>
                    <a:srgbClr val="800000"/>
                  </a:solidFill>
                  <a:latin typeface="Times New Roman" panose="02020603050405020304" charset="0"/>
                  <a:ea typeface="楷体" panose="02010609060101010101" charset="-122"/>
                </a:rPr>
                <a:t>地址输入</a:t>
              </a:r>
              <a:endParaRPr lang="zh-CN" altLang="en-US" sz="2400" b="1" dirty="0">
                <a:solidFill>
                  <a:srgbClr val="800000"/>
                </a:solidFill>
                <a:latin typeface="Times New Roman" panose="02020603050405020304" charset="0"/>
                <a:ea typeface="楷体" panose="02010609060101010101" charset="-122"/>
              </a:endParaRPr>
            </a:p>
          </p:txBody>
        </p:sp>
      </p:grpSp>
      <p:grpSp>
        <p:nvGrpSpPr>
          <p:cNvPr id="67630" name="组合 67629"/>
          <p:cNvGrpSpPr/>
          <p:nvPr/>
        </p:nvGrpSpPr>
        <p:grpSpPr>
          <a:xfrm>
            <a:off x="3196788" y="5362575"/>
            <a:ext cx="4578325" cy="1043064"/>
            <a:chOff x="2736" y="1968"/>
            <a:chExt cx="1477" cy="1222"/>
          </a:xfrm>
        </p:grpSpPr>
        <p:sp>
          <p:nvSpPr>
            <p:cNvPr id="67631" name="矩形 67630"/>
            <p:cNvSpPr/>
            <p:nvPr/>
          </p:nvSpPr>
          <p:spPr>
            <a:xfrm>
              <a:off x="2736" y="1968"/>
              <a:ext cx="720" cy="576"/>
            </a:xfrm>
            <a:prstGeom prst="rect">
              <a:avLst/>
            </a:prstGeom>
            <a:noFill/>
            <a:ln w="28575" cap="flat" cmpd="sng">
              <a:solidFill>
                <a:srgbClr val="FF0000"/>
              </a:solidFill>
              <a:prstDash val="lgDash"/>
              <a:miter/>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67632" name="文本框 67631"/>
            <p:cNvSpPr txBox="1"/>
            <p:nvPr/>
          </p:nvSpPr>
          <p:spPr>
            <a:xfrm>
              <a:off x="3327" y="2649"/>
              <a:ext cx="886" cy="541"/>
            </a:xfrm>
            <a:prstGeom prst="rect">
              <a:avLst/>
            </a:prstGeom>
            <a:noFill/>
            <a:ln w="28575">
              <a:noFill/>
            </a:ln>
          </p:spPr>
          <p:txBody>
            <a:bodyPr lIns="90000" tIns="46800" rIns="90000" bIns="46800">
              <a:spAutoFit/>
            </a:bodyPr>
            <a:p>
              <a:r>
                <a:rPr lang="zh-CN" altLang="en-US" sz="2400" b="1" dirty="0">
                  <a:solidFill>
                    <a:srgbClr val="800000"/>
                  </a:solidFill>
                  <a:latin typeface="Times New Roman" panose="02020603050405020304" charset="0"/>
                  <a:ea typeface="楷体" panose="02010609060101010101" charset="-122"/>
                </a:rPr>
                <a:t>控制输入</a:t>
              </a:r>
              <a:endParaRPr lang="zh-CN" altLang="en-US" sz="2400" b="1" dirty="0">
                <a:solidFill>
                  <a:srgbClr val="800000"/>
                </a:solidFill>
                <a:latin typeface="Times New Roman" panose="02020603050405020304" charset="0"/>
                <a:ea typeface="楷体" panose="02010609060101010101" charset="-122"/>
              </a:endParaRPr>
            </a:p>
          </p:txBody>
        </p:sp>
      </p:grpSp>
      <p:sp>
        <p:nvSpPr>
          <p:cNvPr id="67636" name="文本框 67635"/>
          <p:cNvSpPr txBox="1"/>
          <p:nvPr/>
        </p:nvSpPr>
        <p:spPr>
          <a:xfrm>
            <a:off x="5825490" y="4572000"/>
            <a:ext cx="3318510" cy="978535"/>
          </a:xfrm>
          <a:prstGeom prst="rect">
            <a:avLst/>
          </a:prstGeom>
          <a:noFill/>
          <a:ln w="28575">
            <a:noFill/>
          </a:ln>
        </p:spPr>
        <p:txBody>
          <a:bodyPr wrap="square" lIns="90000" tIns="46800" rIns="90000" bIns="46800">
            <a:spAutoFit/>
          </a:bodyPr>
          <a:p>
            <a:pPr>
              <a:lnSpc>
                <a:spcPct val="120000"/>
              </a:lnSpc>
              <a:spcBef>
                <a:spcPct val="30000"/>
              </a:spcBef>
            </a:pPr>
            <a:r>
              <a:rPr lang="zh-CN" altLang="en-US" sz="2400" b="1" dirty="0">
                <a:solidFill>
                  <a:srgbClr val="0000CC"/>
                </a:solidFill>
                <a:latin typeface="Times New Roman" panose="02020603050405020304" charset="0"/>
                <a:ea typeface="楷体" panose="02010609060101010101" charset="-122"/>
              </a:rPr>
              <a:t>三类信号线：</a:t>
            </a:r>
            <a:r>
              <a:rPr lang="zh-CN" altLang="en-US" sz="2400" b="1" dirty="0">
                <a:solidFill>
                  <a:srgbClr val="CC0000"/>
                </a:solidFill>
                <a:latin typeface="Times New Roman" panose="02020603050405020304" charset="0"/>
                <a:ea typeface="楷体" panose="02010609060101010101" charset="-122"/>
              </a:rPr>
              <a:t>地址线、数据线和控制线</a:t>
            </a:r>
            <a:endParaRPr lang="zh-CN" altLang="en-US" sz="2400" b="1" dirty="0">
              <a:solidFill>
                <a:srgbClr val="CC0000"/>
              </a:solidFill>
              <a:latin typeface="Times New Roman" panose="02020603050405020304" charset="0"/>
              <a:ea typeface="楷体" panose="02010609060101010101" charset="-122"/>
            </a:endParaRPr>
          </a:p>
        </p:txBody>
      </p:sp>
      <p:sp>
        <p:nvSpPr>
          <p:cNvPr id="67637" name="文本框 67636"/>
          <p:cNvSpPr txBox="1"/>
          <p:nvPr/>
        </p:nvSpPr>
        <p:spPr>
          <a:xfrm>
            <a:off x="5715000" y="2590800"/>
            <a:ext cx="3163570" cy="1200150"/>
          </a:xfrm>
          <a:prstGeom prst="rect">
            <a:avLst/>
          </a:prstGeom>
          <a:noFill/>
          <a:ln w="28575">
            <a:noFill/>
          </a:ln>
        </p:spPr>
        <p:txBody>
          <a:bodyPr wrap="square" lIns="90000" tIns="46800" rIns="90000" bIns="46800">
            <a:spAutoFit/>
          </a:bodyPr>
          <a:p>
            <a:r>
              <a:rPr lang="zh-CN" altLang="en-US" sz="2400" b="1" dirty="0">
                <a:latin typeface="Times New Roman" panose="02020603050405020304" charset="0"/>
                <a:ea typeface="楷体" panose="02010609060101010101" charset="-122"/>
                <a:cs typeface="Times New Roman" panose="02020603050405020304" charset="0"/>
              </a:rPr>
              <a:t>由存储矩阵、地址译码器、输入</a:t>
            </a:r>
            <a:r>
              <a:rPr lang="en-US" altLang="zh-CN" sz="2400" b="1">
                <a:latin typeface="Times New Roman" panose="02020603050405020304" charset="0"/>
                <a:ea typeface="楷体" panose="02010609060101010101" charset="-122"/>
                <a:cs typeface="Times New Roman" panose="02020603050405020304" charset="0"/>
              </a:rPr>
              <a:t>/</a:t>
            </a:r>
            <a:r>
              <a:rPr lang="zh-CN" altLang="en-US" sz="2400" b="1" dirty="0">
                <a:latin typeface="Times New Roman" panose="02020603050405020304" charset="0"/>
                <a:ea typeface="楷体" panose="02010609060101010101" charset="-122"/>
                <a:cs typeface="Times New Roman" panose="02020603050405020304" charset="0"/>
              </a:rPr>
              <a:t>输出控制电路组成。</a:t>
            </a:r>
            <a:endParaRPr lang="zh-CN" altLang="en-US" sz="2400" b="1" dirty="0">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637"/>
                                        </p:tgtEl>
                                        <p:attrNameLst>
                                          <p:attrName>style.visibility</p:attrName>
                                        </p:attrNameLst>
                                      </p:cBhvr>
                                      <p:to>
                                        <p:strVal val="visible"/>
                                      </p:to>
                                    </p:set>
                                    <p:animEffect transition="in" filter="blinds(horizontal)">
                                      <p:cBhvr>
                                        <p:cTn id="7" dur="500"/>
                                        <p:tgtEl>
                                          <p:spTgt spid="676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7636"/>
                                        </p:tgtEl>
                                        <p:attrNameLst>
                                          <p:attrName>style.visibility</p:attrName>
                                        </p:attrNameLst>
                                      </p:cBhvr>
                                      <p:to>
                                        <p:strVal val="visible"/>
                                      </p:to>
                                    </p:set>
                                    <p:animEffect transition="in" filter="wipe(up)">
                                      <p:cBhvr>
                                        <p:cTn id="12" dur="500"/>
                                        <p:tgtEl>
                                          <p:spTgt spid="676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7621"/>
                                        </p:tgtEl>
                                        <p:attrNameLst>
                                          <p:attrName>style.visibility</p:attrName>
                                        </p:attrNameLst>
                                      </p:cBhvr>
                                      <p:to>
                                        <p:strVal val="visible"/>
                                      </p:to>
                                    </p:set>
                                    <p:animEffect transition="in" filter="wipe(up)">
                                      <p:cBhvr>
                                        <p:cTn id="17" dur="500"/>
                                        <p:tgtEl>
                                          <p:spTgt spid="676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7630"/>
                                        </p:tgtEl>
                                        <p:attrNameLst>
                                          <p:attrName>style.visibility</p:attrName>
                                        </p:attrNameLst>
                                      </p:cBhvr>
                                      <p:to>
                                        <p:strVal val="visible"/>
                                      </p:to>
                                    </p:set>
                                    <p:animEffect transition="in" filter="wipe(up)">
                                      <p:cBhvr>
                                        <p:cTn id="22" dur="500"/>
                                        <p:tgtEl>
                                          <p:spTgt spid="67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36" grpId="0"/>
      <p:bldP spid="6763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86" name="文本框 85"/>
          <p:cNvSpPr txBox="1"/>
          <p:nvPr/>
        </p:nvSpPr>
        <p:spPr>
          <a:xfrm>
            <a:off x="0" y="5935980"/>
            <a:ext cx="9162000"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3" name="灯片编号占位符 2"/>
          <p:cNvSpPr/>
          <p:nvPr>
            <p:ph type="sldNum" sz="quarter" idx="12"/>
          </p:nvPr>
        </p:nvSpPr>
        <p:spPr/>
        <p:txBody>
          <a:bodyPr/>
          <a:p>
            <a:pPr lvl="0"/>
            <a:fld id="{9A0DB2DC-4C9A-4742-B13C-FB6460FD3503}" type="slidenum">
              <a:rPr lang="zh-CN" altLang="en-US" b="1" dirty="0">
                <a:latin typeface="Times New Roman" panose="02020603050405020304" charset="0"/>
                <a:ea typeface="楷体" panose="02010609060101010101" charset="-122"/>
                <a:cs typeface="Times New Roman" panose="02020603050405020304" charset="0"/>
              </a:rPr>
            </a:fld>
            <a:endParaRPr lang="zh-CN" altLang="en-US" b="1" dirty="0">
              <a:latin typeface="Times New Roman" panose="02020603050405020304" charset="0"/>
              <a:ea typeface="楷体" panose="02010609060101010101" charset="-122"/>
              <a:cs typeface="Times New Roman" panose="02020603050405020304" charset="0"/>
            </a:endParaRPr>
          </a:p>
        </p:txBody>
      </p:sp>
      <p:sp>
        <p:nvSpPr>
          <p:cNvPr id="112644" name="文本框 112643"/>
          <p:cNvSpPr txBox="1"/>
          <p:nvPr/>
        </p:nvSpPr>
        <p:spPr>
          <a:xfrm>
            <a:off x="381000" y="426085"/>
            <a:ext cx="7956550" cy="1569720"/>
          </a:xfrm>
          <a:prstGeom prst="rect">
            <a:avLst/>
          </a:prstGeom>
          <a:noFill/>
          <a:ln w="9525">
            <a:noFill/>
          </a:ln>
        </p:spPr>
        <p:txBody>
          <a:bodyPr lIns="90000" tIns="46800" rIns="90000" bIns="46800">
            <a:spAutoFit/>
          </a:bodyPr>
          <a:p>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存储单元是存储器的最基本存储细胞，能存放一位二值数据。由于存储器的容量巨大，一般都把存储单元排列成矩阵形式。采用双译码（行、列译码），用两条地址线来共同选择存储单元。</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grpSp>
        <p:nvGrpSpPr>
          <p:cNvPr id="112645" name="组合 112644"/>
          <p:cNvGrpSpPr/>
          <p:nvPr/>
        </p:nvGrpSpPr>
        <p:grpSpPr>
          <a:xfrm>
            <a:off x="3733800" y="1995488"/>
            <a:ext cx="2357438" cy="2586037"/>
            <a:chOff x="2304" y="1391"/>
            <a:chExt cx="1485" cy="1537"/>
          </a:xfrm>
        </p:grpSpPr>
        <p:grpSp>
          <p:nvGrpSpPr>
            <p:cNvPr id="112646" name="组合 112645"/>
            <p:cNvGrpSpPr/>
            <p:nvPr/>
          </p:nvGrpSpPr>
          <p:grpSpPr>
            <a:xfrm>
              <a:off x="2304" y="1584"/>
              <a:ext cx="501" cy="280"/>
              <a:chOff x="363" y="1592"/>
              <a:chExt cx="501" cy="280"/>
            </a:xfrm>
          </p:grpSpPr>
          <p:sp>
            <p:nvSpPr>
              <p:cNvPr id="112647" name="直接连接符 112646"/>
              <p:cNvSpPr/>
              <p:nvPr/>
            </p:nvSpPr>
            <p:spPr>
              <a:xfrm>
                <a:off x="528" y="1872"/>
                <a:ext cx="336" cy="0"/>
              </a:xfrm>
              <a:prstGeom prst="line">
                <a:avLst/>
              </a:prstGeom>
              <a:ln w="28575" cap="flat" cmpd="sng">
                <a:solidFill>
                  <a:schemeClr val="tx1"/>
                </a:solidFill>
                <a:prstDash val="solid"/>
                <a:headEnd type="none" w="med" len="med"/>
                <a:tailEnd type="none" w="med" len="med"/>
              </a:ln>
            </p:spPr>
          </p:sp>
          <p:sp>
            <p:nvSpPr>
              <p:cNvPr id="112648" name="文本框 112647"/>
              <p:cNvSpPr txBox="1"/>
              <p:nvPr/>
            </p:nvSpPr>
            <p:spPr>
              <a:xfrm>
                <a:off x="363" y="1592"/>
                <a:ext cx="314" cy="274"/>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A</a:t>
                </a:r>
                <a:r>
                  <a:rPr lang="en-US" altLang="zh-CN" sz="2400" b="1" baseline="-25000">
                    <a:latin typeface="Times New Roman" panose="02020603050405020304" charset="0"/>
                    <a:ea typeface="楷体" panose="02010609060101010101" charset="-122"/>
                    <a:cs typeface="Times New Roman" panose="02020603050405020304" charset="0"/>
                  </a:rPr>
                  <a:t>0</a:t>
                </a:r>
                <a:endParaRPr lang="en-US" altLang="zh-CN" sz="2400" b="1" baseline="-25000">
                  <a:latin typeface="Times New Roman" panose="02020603050405020304" charset="0"/>
                  <a:ea typeface="楷体" panose="02010609060101010101" charset="-122"/>
                  <a:cs typeface="Times New Roman" panose="02020603050405020304" charset="0"/>
                </a:endParaRPr>
              </a:p>
            </p:txBody>
          </p:sp>
        </p:grpSp>
        <p:grpSp>
          <p:nvGrpSpPr>
            <p:cNvPr id="112649" name="组合 112648"/>
            <p:cNvGrpSpPr/>
            <p:nvPr/>
          </p:nvGrpSpPr>
          <p:grpSpPr>
            <a:xfrm>
              <a:off x="2304" y="1824"/>
              <a:ext cx="501" cy="280"/>
              <a:chOff x="363" y="1592"/>
              <a:chExt cx="501" cy="280"/>
            </a:xfrm>
          </p:grpSpPr>
          <p:sp>
            <p:nvSpPr>
              <p:cNvPr id="112650" name="直接连接符 112649"/>
              <p:cNvSpPr/>
              <p:nvPr/>
            </p:nvSpPr>
            <p:spPr>
              <a:xfrm>
                <a:off x="528" y="1872"/>
                <a:ext cx="336" cy="0"/>
              </a:xfrm>
              <a:prstGeom prst="line">
                <a:avLst/>
              </a:prstGeom>
              <a:ln w="28575" cap="flat" cmpd="sng">
                <a:solidFill>
                  <a:schemeClr val="tx1"/>
                </a:solidFill>
                <a:prstDash val="solid"/>
                <a:headEnd type="none" w="med" len="med"/>
                <a:tailEnd type="none" w="med" len="med"/>
              </a:ln>
            </p:spPr>
          </p:sp>
          <p:sp>
            <p:nvSpPr>
              <p:cNvPr id="112651" name="文本框 112650"/>
              <p:cNvSpPr txBox="1"/>
              <p:nvPr/>
            </p:nvSpPr>
            <p:spPr>
              <a:xfrm>
                <a:off x="363" y="1592"/>
                <a:ext cx="314" cy="274"/>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A</a:t>
                </a:r>
                <a:r>
                  <a:rPr lang="en-US" altLang="zh-CN" sz="2400" b="1" baseline="-25000">
                    <a:latin typeface="Times New Roman" panose="02020603050405020304" charset="0"/>
                    <a:ea typeface="楷体" panose="02010609060101010101" charset="-122"/>
                    <a:cs typeface="Times New Roman" panose="02020603050405020304" charset="0"/>
                  </a:rPr>
                  <a:t>1</a:t>
                </a:r>
                <a:endParaRPr lang="en-US" altLang="zh-CN" sz="2400" b="1" baseline="-25000">
                  <a:latin typeface="Times New Roman" panose="02020603050405020304" charset="0"/>
                  <a:ea typeface="楷体" panose="02010609060101010101" charset="-122"/>
                  <a:cs typeface="Times New Roman" panose="02020603050405020304" charset="0"/>
                </a:endParaRPr>
              </a:p>
            </p:txBody>
          </p:sp>
        </p:grpSp>
        <p:grpSp>
          <p:nvGrpSpPr>
            <p:cNvPr id="112652" name="组合 112651"/>
            <p:cNvGrpSpPr/>
            <p:nvPr/>
          </p:nvGrpSpPr>
          <p:grpSpPr>
            <a:xfrm>
              <a:off x="2304" y="2064"/>
              <a:ext cx="501" cy="280"/>
              <a:chOff x="363" y="1592"/>
              <a:chExt cx="501" cy="280"/>
            </a:xfrm>
          </p:grpSpPr>
          <p:sp>
            <p:nvSpPr>
              <p:cNvPr id="112653" name="直接连接符 112652"/>
              <p:cNvSpPr/>
              <p:nvPr/>
            </p:nvSpPr>
            <p:spPr>
              <a:xfrm>
                <a:off x="528" y="1872"/>
                <a:ext cx="336" cy="0"/>
              </a:xfrm>
              <a:prstGeom prst="line">
                <a:avLst/>
              </a:prstGeom>
              <a:ln w="28575" cap="flat" cmpd="sng">
                <a:solidFill>
                  <a:schemeClr val="tx1"/>
                </a:solidFill>
                <a:prstDash val="solid"/>
                <a:headEnd type="none" w="med" len="med"/>
                <a:tailEnd type="none" w="med" len="med"/>
              </a:ln>
            </p:spPr>
          </p:sp>
          <p:sp>
            <p:nvSpPr>
              <p:cNvPr id="112654" name="文本框 112653"/>
              <p:cNvSpPr txBox="1"/>
              <p:nvPr/>
            </p:nvSpPr>
            <p:spPr>
              <a:xfrm>
                <a:off x="363" y="1592"/>
                <a:ext cx="314" cy="274"/>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A</a:t>
                </a:r>
                <a:r>
                  <a:rPr lang="en-US" altLang="zh-CN" sz="2400" b="1" baseline="-25000">
                    <a:latin typeface="Times New Roman" panose="02020603050405020304" charset="0"/>
                    <a:ea typeface="楷体" panose="02010609060101010101" charset="-122"/>
                    <a:cs typeface="Times New Roman" panose="02020603050405020304" charset="0"/>
                  </a:rPr>
                  <a:t>2</a:t>
                </a:r>
                <a:endParaRPr lang="en-US" altLang="zh-CN" sz="2400" b="1" baseline="-25000">
                  <a:latin typeface="Times New Roman" panose="02020603050405020304" charset="0"/>
                  <a:ea typeface="楷体" panose="02010609060101010101" charset="-122"/>
                  <a:cs typeface="Times New Roman" panose="02020603050405020304" charset="0"/>
                </a:endParaRPr>
              </a:p>
            </p:txBody>
          </p:sp>
        </p:grpSp>
        <p:grpSp>
          <p:nvGrpSpPr>
            <p:cNvPr id="112655" name="组合 112654"/>
            <p:cNvGrpSpPr/>
            <p:nvPr/>
          </p:nvGrpSpPr>
          <p:grpSpPr>
            <a:xfrm>
              <a:off x="2304" y="2304"/>
              <a:ext cx="501" cy="280"/>
              <a:chOff x="363" y="1592"/>
              <a:chExt cx="501" cy="280"/>
            </a:xfrm>
          </p:grpSpPr>
          <p:sp>
            <p:nvSpPr>
              <p:cNvPr id="112656" name="直接连接符 112655"/>
              <p:cNvSpPr/>
              <p:nvPr/>
            </p:nvSpPr>
            <p:spPr>
              <a:xfrm>
                <a:off x="528" y="1872"/>
                <a:ext cx="336" cy="0"/>
              </a:xfrm>
              <a:prstGeom prst="line">
                <a:avLst/>
              </a:prstGeom>
              <a:ln w="28575" cap="flat" cmpd="sng">
                <a:solidFill>
                  <a:schemeClr val="tx1"/>
                </a:solidFill>
                <a:prstDash val="solid"/>
                <a:headEnd type="none" w="med" len="med"/>
                <a:tailEnd type="none" w="med" len="med"/>
              </a:ln>
            </p:spPr>
          </p:sp>
          <p:sp>
            <p:nvSpPr>
              <p:cNvPr id="112657" name="文本框 112656"/>
              <p:cNvSpPr txBox="1"/>
              <p:nvPr/>
            </p:nvSpPr>
            <p:spPr>
              <a:xfrm>
                <a:off x="363" y="1592"/>
                <a:ext cx="314" cy="274"/>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A</a:t>
                </a:r>
                <a:r>
                  <a:rPr lang="en-US" altLang="zh-CN" sz="2400" b="1" baseline="-25000">
                    <a:latin typeface="Times New Roman" panose="02020603050405020304" charset="0"/>
                    <a:ea typeface="楷体" panose="02010609060101010101" charset="-122"/>
                    <a:cs typeface="Times New Roman" panose="02020603050405020304" charset="0"/>
                  </a:rPr>
                  <a:t>3</a:t>
                </a:r>
                <a:endParaRPr lang="en-US" altLang="zh-CN" sz="2400" b="1" baseline="-25000">
                  <a:latin typeface="Times New Roman" panose="02020603050405020304" charset="0"/>
                  <a:ea typeface="楷体" panose="02010609060101010101" charset="-122"/>
                  <a:cs typeface="Times New Roman" panose="02020603050405020304" charset="0"/>
                </a:endParaRPr>
              </a:p>
            </p:txBody>
          </p:sp>
        </p:grpSp>
        <p:sp>
          <p:nvSpPr>
            <p:cNvPr id="112658" name="直接连接符 112657"/>
            <p:cNvSpPr/>
            <p:nvPr/>
          </p:nvSpPr>
          <p:spPr>
            <a:xfrm>
              <a:off x="3024" y="1679"/>
              <a:ext cx="480" cy="0"/>
            </a:xfrm>
            <a:prstGeom prst="line">
              <a:avLst/>
            </a:prstGeom>
            <a:ln w="28575" cap="flat" cmpd="sng">
              <a:solidFill>
                <a:schemeClr val="tx1"/>
              </a:solidFill>
              <a:prstDash val="solid"/>
              <a:headEnd type="none" w="med" len="med"/>
              <a:tailEnd type="none" w="med" len="med"/>
            </a:ln>
          </p:spPr>
        </p:sp>
        <p:sp>
          <p:nvSpPr>
            <p:cNvPr id="112659" name="直接连接符 112658"/>
            <p:cNvSpPr/>
            <p:nvPr/>
          </p:nvSpPr>
          <p:spPr>
            <a:xfrm>
              <a:off x="3024" y="2784"/>
              <a:ext cx="480" cy="0"/>
            </a:xfrm>
            <a:prstGeom prst="line">
              <a:avLst/>
            </a:prstGeom>
            <a:ln w="28575" cap="flat" cmpd="sng">
              <a:solidFill>
                <a:schemeClr val="tx1"/>
              </a:solidFill>
              <a:prstDash val="solid"/>
              <a:headEnd type="none" w="med" len="med"/>
              <a:tailEnd type="none" w="med" len="med"/>
            </a:ln>
          </p:spPr>
        </p:sp>
        <p:sp>
          <p:nvSpPr>
            <p:cNvPr id="112660" name="文本框 112659"/>
            <p:cNvSpPr txBox="1"/>
            <p:nvPr/>
          </p:nvSpPr>
          <p:spPr>
            <a:xfrm>
              <a:off x="3216" y="1391"/>
              <a:ext cx="511" cy="274"/>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CS</a:t>
              </a:r>
              <a:r>
                <a:rPr lang="en-US" altLang="zh-CN" sz="2400" b="1" baseline="-25000">
                  <a:latin typeface="Times New Roman" panose="02020603050405020304" charset="0"/>
                  <a:ea typeface="楷体" panose="02010609060101010101" charset="-122"/>
                  <a:cs typeface="Times New Roman" panose="02020603050405020304" charset="0"/>
                </a:rPr>
                <a:t>X0</a:t>
              </a:r>
              <a:endParaRPr lang="en-US" altLang="zh-CN" sz="2400" b="1" baseline="-25000">
                <a:latin typeface="Times New Roman" panose="02020603050405020304" charset="0"/>
                <a:ea typeface="楷体" panose="02010609060101010101" charset="-122"/>
                <a:cs typeface="Times New Roman" panose="02020603050405020304" charset="0"/>
              </a:endParaRPr>
            </a:p>
          </p:txBody>
        </p:sp>
        <p:sp>
          <p:nvSpPr>
            <p:cNvPr id="112661" name="直接连接符 112660"/>
            <p:cNvSpPr/>
            <p:nvPr/>
          </p:nvSpPr>
          <p:spPr>
            <a:xfrm>
              <a:off x="3024" y="1967"/>
              <a:ext cx="480" cy="0"/>
            </a:xfrm>
            <a:prstGeom prst="line">
              <a:avLst/>
            </a:prstGeom>
            <a:ln w="28575" cap="flat" cmpd="sng">
              <a:solidFill>
                <a:schemeClr val="tx1"/>
              </a:solidFill>
              <a:prstDash val="solid"/>
              <a:headEnd type="none" w="med" len="med"/>
              <a:tailEnd type="none" w="med" len="med"/>
            </a:ln>
          </p:spPr>
        </p:sp>
        <p:sp>
          <p:nvSpPr>
            <p:cNvPr id="112662" name="文本框 112661"/>
            <p:cNvSpPr txBox="1"/>
            <p:nvPr/>
          </p:nvSpPr>
          <p:spPr>
            <a:xfrm>
              <a:off x="3216" y="1679"/>
              <a:ext cx="511" cy="274"/>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CS</a:t>
              </a:r>
              <a:r>
                <a:rPr lang="en-US" altLang="zh-CN" sz="2400" b="1" baseline="-25000">
                  <a:latin typeface="Times New Roman" panose="02020603050405020304" charset="0"/>
                  <a:ea typeface="楷体" panose="02010609060101010101" charset="-122"/>
                  <a:cs typeface="Times New Roman" panose="02020603050405020304" charset="0"/>
                </a:rPr>
                <a:t>X1</a:t>
              </a:r>
              <a:endParaRPr lang="en-US" altLang="zh-CN" sz="2400" b="1" baseline="-25000">
                <a:latin typeface="Times New Roman" panose="02020603050405020304" charset="0"/>
                <a:ea typeface="楷体" panose="02010609060101010101" charset="-122"/>
                <a:cs typeface="Times New Roman" panose="02020603050405020304" charset="0"/>
              </a:endParaRPr>
            </a:p>
          </p:txBody>
        </p:sp>
        <p:sp>
          <p:nvSpPr>
            <p:cNvPr id="112663" name="文本框 112662"/>
            <p:cNvSpPr txBox="1"/>
            <p:nvPr/>
          </p:nvSpPr>
          <p:spPr>
            <a:xfrm>
              <a:off x="3216" y="2496"/>
              <a:ext cx="573" cy="274"/>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CS</a:t>
              </a:r>
              <a:r>
                <a:rPr lang="en-US" altLang="zh-CN" sz="2400" b="1" baseline="-25000">
                  <a:latin typeface="Times New Roman" panose="02020603050405020304" charset="0"/>
                  <a:ea typeface="楷体" panose="02010609060101010101" charset="-122"/>
                  <a:cs typeface="Times New Roman" panose="02020603050405020304" charset="0"/>
                </a:rPr>
                <a:t>X15</a:t>
              </a:r>
              <a:endParaRPr lang="en-US" altLang="zh-CN" sz="2400" b="1" baseline="-25000">
                <a:latin typeface="Times New Roman" panose="02020603050405020304" charset="0"/>
                <a:ea typeface="楷体" panose="02010609060101010101" charset="-122"/>
                <a:cs typeface="Times New Roman" panose="02020603050405020304" charset="0"/>
              </a:endParaRPr>
            </a:p>
          </p:txBody>
        </p:sp>
        <p:sp useBgFill="1">
          <p:nvSpPr>
            <p:cNvPr id="112664" name="矩形 112663"/>
            <p:cNvSpPr/>
            <p:nvPr/>
          </p:nvSpPr>
          <p:spPr>
            <a:xfrm>
              <a:off x="2688" y="1536"/>
              <a:ext cx="432" cy="1392"/>
            </a:xfrm>
            <a:prstGeom prst="rect">
              <a:avLst/>
            </a:prstGeom>
            <a:ln w="28575" cap="flat" cmpd="sng">
              <a:solidFill>
                <a:schemeClr val="tx1"/>
              </a:solidFill>
              <a:prstDash val="solid"/>
              <a:miter/>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112665" name="文本框 112664"/>
            <p:cNvSpPr txBox="1"/>
            <p:nvPr/>
          </p:nvSpPr>
          <p:spPr>
            <a:xfrm>
              <a:off x="2735" y="1632"/>
              <a:ext cx="345" cy="1147"/>
            </a:xfrm>
            <a:prstGeom prst="rect">
              <a:avLst/>
            </a:prstGeom>
            <a:noFill/>
            <a:ln w="28575">
              <a:noFill/>
            </a:ln>
          </p:spPr>
          <p:txBody>
            <a:bodyPr vert="eaVert" wrap="none" lIns="90000" tIns="46800" rIns="90000" bIns="46800" anchor="t" anchorCtr="0">
              <a:spAutoFit/>
            </a:bodyPr>
            <a:p>
              <a:r>
                <a:rPr lang="zh-CN" altLang="en-US" sz="2400" b="1" dirty="0">
                  <a:latin typeface="Times New Roman" panose="02020603050405020304" charset="0"/>
                  <a:ea typeface="楷体" panose="02010609060101010101" charset="-122"/>
                </a:rPr>
                <a:t>行地址译码器</a:t>
              </a:r>
              <a:endParaRPr lang="zh-CN" altLang="en-US" sz="2400" b="1" dirty="0">
                <a:latin typeface="Times New Roman" panose="02020603050405020304" charset="0"/>
                <a:ea typeface="楷体" panose="02010609060101010101" charset="-122"/>
              </a:endParaRPr>
            </a:p>
          </p:txBody>
        </p:sp>
        <p:sp>
          <p:nvSpPr>
            <p:cNvPr id="112666" name="文本框 112665"/>
            <p:cNvSpPr txBox="1"/>
            <p:nvPr/>
          </p:nvSpPr>
          <p:spPr>
            <a:xfrm>
              <a:off x="3161" y="2035"/>
              <a:ext cx="345" cy="417"/>
            </a:xfrm>
            <a:prstGeom prst="rect">
              <a:avLst/>
            </a:prstGeom>
            <a:noFill/>
            <a:ln w="28575">
              <a:noFill/>
            </a:ln>
          </p:spPr>
          <p:txBody>
            <a:bodyPr vert="eaVert"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a:t>
              </a:r>
              <a:endParaRPr lang="en-US" altLang="zh-CN" sz="2400" b="1">
                <a:latin typeface="Times New Roman" panose="02020603050405020304" charset="0"/>
                <a:ea typeface="楷体" panose="02010609060101010101" charset="-122"/>
                <a:cs typeface="Times New Roman" panose="02020603050405020304" charset="0"/>
              </a:endParaRPr>
            </a:p>
          </p:txBody>
        </p:sp>
      </p:grpSp>
      <p:grpSp>
        <p:nvGrpSpPr>
          <p:cNvPr id="112667" name="组合 112666"/>
          <p:cNvGrpSpPr/>
          <p:nvPr/>
        </p:nvGrpSpPr>
        <p:grpSpPr>
          <a:xfrm>
            <a:off x="5334000" y="4505325"/>
            <a:ext cx="3576638" cy="1909763"/>
            <a:chOff x="3360" y="2976"/>
            <a:chExt cx="2253" cy="1203"/>
          </a:xfrm>
        </p:grpSpPr>
        <p:sp>
          <p:nvSpPr>
            <p:cNvPr id="112668" name="矩形 112667"/>
            <p:cNvSpPr/>
            <p:nvPr/>
          </p:nvSpPr>
          <p:spPr>
            <a:xfrm>
              <a:off x="3696" y="3456"/>
              <a:ext cx="1488" cy="384"/>
            </a:xfrm>
            <a:prstGeom prst="rect">
              <a:avLst/>
            </a:prstGeom>
            <a:noFill/>
            <a:ln w="28575" cap="flat" cmpd="sng">
              <a:solidFill>
                <a:schemeClr val="tx1"/>
              </a:solidFill>
              <a:prstDash val="solid"/>
              <a:miter/>
              <a:headEnd type="none" w="med" len="med"/>
              <a:tailEnd type="none" w="med" len="med"/>
            </a:ln>
          </p:spPr>
          <p:txBody>
            <a:bodyPr lIns="90000" tIns="46800" rIns="90000" bIns="46800" anchor="ctr" anchorCtr="0"/>
            <a:p>
              <a:pPr algn="ctr"/>
              <a:r>
                <a:rPr lang="zh-CN" altLang="en-US" sz="2400" b="1">
                  <a:latin typeface="Times New Roman" panose="02020603050405020304" charset="0"/>
                  <a:ea typeface="楷体" panose="02010609060101010101" charset="-122"/>
                </a:rPr>
                <a:t>列</a:t>
              </a:r>
              <a:r>
                <a:rPr lang="zh-CN" altLang="en-US" sz="2400" b="1" dirty="0">
                  <a:latin typeface="Times New Roman" panose="02020603050405020304" charset="0"/>
                  <a:ea typeface="楷体" panose="02010609060101010101" charset="-122"/>
                </a:rPr>
                <a:t>地址译码器</a:t>
              </a:r>
              <a:endParaRPr lang="zh-CN" altLang="en-US" sz="2400" b="1">
                <a:latin typeface="Times New Roman" panose="02020603050405020304" charset="0"/>
                <a:ea typeface="楷体" panose="02010609060101010101" charset="-122"/>
              </a:endParaRPr>
            </a:p>
          </p:txBody>
        </p:sp>
        <p:sp>
          <p:nvSpPr>
            <p:cNvPr id="112669" name="直接连接符 112668"/>
            <p:cNvSpPr/>
            <p:nvPr/>
          </p:nvSpPr>
          <p:spPr>
            <a:xfrm>
              <a:off x="4032" y="3840"/>
              <a:ext cx="0" cy="240"/>
            </a:xfrm>
            <a:prstGeom prst="line">
              <a:avLst/>
            </a:prstGeom>
            <a:ln w="28575" cap="flat" cmpd="sng">
              <a:solidFill>
                <a:schemeClr val="tx1"/>
              </a:solidFill>
              <a:prstDash val="solid"/>
              <a:headEnd type="none" w="med" len="med"/>
              <a:tailEnd type="none" w="med" len="med"/>
            </a:ln>
          </p:spPr>
        </p:sp>
        <p:sp>
          <p:nvSpPr>
            <p:cNvPr id="112670" name="直接连接符 112669"/>
            <p:cNvSpPr/>
            <p:nvPr/>
          </p:nvSpPr>
          <p:spPr>
            <a:xfrm>
              <a:off x="4320" y="3840"/>
              <a:ext cx="0" cy="240"/>
            </a:xfrm>
            <a:prstGeom prst="line">
              <a:avLst/>
            </a:prstGeom>
            <a:ln w="28575" cap="flat" cmpd="sng">
              <a:solidFill>
                <a:schemeClr val="tx1"/>
              </a:solidFill>
              <a:prstDash val="solid"/>
              <a:headEnd type="none" w="med" len="med"/>
              <a:tailEnd type="none" w="med" len="med"/>
            </a:ln>
          </p:spPr>
        </p:sp>
        <p:sp>
          <p:nvSpPr>
            <p:cNvPr id="112671" name="直接连接符 112670"/>
            <p:cNvSpPr/>
            <p:nvPr/>
          </p:nvSpPr>
          <p:spPr>
            <a:xfrm>
              <a:off x="4608" y="3840"/>
              <a:ext cx="0" cy="240"/>
            </a:xfrm>
            <a:prstGeom prst="line">
              <a:avLst/>
            </a:prstGeom>
            <a:ln w="28575" cap="flat" cmpd="sng">
              <a:solidFill>
                <a:schemeClr val="tx1"/>
              </a:solidFill>
              <a:prstDash val="solid"/>
              <a:headEnd type="none" w="med" len="med"/>
              <a:tailEnd type="none" w="med" len="med"/>
            </a:ln>
          </p:spPr>
        </p:sp>
        <p:sp>
          <p:nvSpPr>
            <p:cNvPr id="112672" name="直接连接符 112671"/>
            <p:cNvSpPr/>
            <p:nvPr/>
          </p:nvSpPr>
          <p:spPr>
            <a:xfrm>
              <a:off x="4896" y="3840"/>
              <a:ext cx="0" cy="240"/>
            </a:xfrm>
            <a:prstGeom prst="line">
              <a:avLst/>
            </a:prstGeom>
            <a:ln w="28575" cap="flat" cmpd="sng">
              <a:solidFill>
                <a:schemeClr val="tx1"/>
              </a:solidFill>
              <a:prstDash val="solid"/>
              <a:headEnd type="none" w="med" len="med"/>
              <a:tailEnd type="none" w="med" len="med"/>
            </a:ln>
          </p:spPr>
        </p:sp>
        <p:sp>
          <p:nvSpPr>
            <p:cNvPr id="112673" name="文本框 112672"/>
            <p:cNvSpPr txBox="1"/>
            <p:nvPr/>
          </p:nvSpPr>
          <p:spPr>
            <a:xfrm>
              <a:off x="3744" y="3888"/>
              <a:ext cx="314" cy="291"/>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A</a:t>
              </a:r>
              <a:r>
                <a:rPr lang="en-US" altLang="zh-CN" sz="2400" b="1" baseline="-25000">
                  <a:latin typeface="Times New Roman" panose="02020603050405020304" charset="0"/>
                  <a:ea typeface="楷体" panose="02010609060101010101" charset="-122"/>
                  <a:cs typeface="Times New Roman" panose="02020603050405020304" charset="0"/>
                </a:rPr>
                <a:t>4</a:t>
              </a:r>
              <a:endParaRPr lang="en-US" altLang="zh-CN" sz="2400" b="1" baseline="-25000">
                <a:latin typeface="Times New Roman" panose="02020603050405020304" charset="0"/>
                <a:ea typeface="楷体" panose="02010609060101010101" charset="-122"/>
                <a:cs typeface="Times New Roman" panose="02020603050405020304" charset="0"/>
              </a:endParaRPr>
            </a:p>
          </p:txBody>
        </p:sp>
        <p:sp>
          <p:nvSpPr>
            <p:cNvPr id="112674" name="文本框 112673"/>
            <p:cNvSpPr txBox="1"/>
            <p:nvPr/>
          </p:nvSpPr>
          <p:spPr>
            <a:xfrm>
              <a:off x="4032" y="3888"/>
              <a:ext cx="314" cy="291"/>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A</a:t>
              </a:r>
              <a:r>
                <a:rPr lang="en-US" altLang="zh-CN" sz="2400" b="1" baseline="-25000">
                  <a:latin typeface="Times New Roman" panose="02020603050405020304" charset="0"/>
                  <a:ea typeface="楷体" panose="02010609060101010101" charset="-122"/>
                  <a:cs typeface="Times New Roman" panose="02020603050405020304" charset="0"/>
                </a:rPr>
                <a:t>5</a:t>
              </a:r>
              <a:endParaRPr lang="en-US" altLang="zh-CN" sz="2400" b="1" baseline="-25000">
                <a:latin typeface="Times New Roman" panose="02020603050405020304" charset="0"/>
                <a:ea typeface="楷体" panose="02010609060101010101" charset="-122"/>
                <a:cs typeface="Times New Roman" panose="02020603050405020304" charset="0"/>
              </a:endParaRPr>
            </a:p>
          </p:txBody>
        </p:sp>
        <p:sp>
          <p:nvSpPr>
            <p:cNvPr id="112675" name="文本框 112674"/>
            <p:cNvSpPr txBox="1"/>
            <p:nvPr/>
          </p:nvSpPr>
          <p:spPr>
            <a:xfrm>
              <a:off x="4320" y="3888"/>
              <a:ext cx="314" cy="291"/>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A</a:t>
              </a:r>
              <a:r>
                <a:rPr lang="en-US" altLang="zh-CN" sz="2400" b="1" baseline="-25000">
                  <a:latin typeface="Times New Roman" panose="02020603050405020304" charset="0"/>
                  <a:ea typeface="楷体" panose="02010609060101010101" charset="-122"/>
                  <a:cs typeface="Times New Roman" panose="02020603050405020304" charset="0"/>
                </a:rPr>
                <a:t>6</a:t>
              </a:r>
              <a:endParaRPr lang="en-US" altLang="zh-CN" sz="2400" b="1" baseline="-25000">
                <a:latin typeface="Times New Roman" panose="02020603050405020304" charset="0"/>
                <a:ea typeface="楷体" panose="02010609060101010101" charset="-122"/>
                <a:cs typeface="Times New Roman" panose="02020603050405020304" charset="0"/>
              </a:endParaRPr>
            </a:p>
          </p:txBody>
        </p:sp>
        <p:sp>
          <p:nvSpPr>
            <p:cNvPr id="112676" name="文本框 112675"/>
            <p:cNvSpPr txBox="1"/>
            <p:nvPr/>
          </p:nvSpPr>
          <p:spPr>
            <a:xfrm>
              <a:off x="4608" y="3888"/>
              <a:ext cx="314" cy="291"/>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A</a:t>
              </a:r>
              <a:r>
                <a:rPr lang="en-US" altLang="zh-CN" sz="2400" b="1" baseline="-25000">
                  <a:latin typeface="Times New Roman" panose="02020603050405020304" charset="0"/>
                  <a:ea typeface="楷体" panose="02010609060101010101" charset="-122"/>
                  <a:cs typeface="Times New Roman" panose="02020603050405020304" charset="0"/>
                </a:rPr>
                <a:t>7</a:t>
              </a:r>
              <a:endParaRPr lang="en-US" altLang="zh-CN" sz="2400" b="1" baseline="-25000">
                <a:latin typeface="Times New Roman" panose="02020603050405020304" charset="0"/>
                <a:ea typeface="楷体" panose="02010609060101010101" charset="-122"/>
                <a:cs typeface="Times New Roman" panose="02020603050405020304" charset="0"/>
              </a:endParaRPr>
            </a:p>
          </p:txBody>
        </p:sp>
        <p:sp>
          <p:nvSpPr>
            <p:cNvPr id="112677" name="直接连接符 112676"/>
            <p:cNvSpPr/>
            <p:nvPr/>
          </p:nvSpPr>
          <p:spPr>
            <a:xfrm>
              <a:off x="3840" y="3072"/>
              <a:ext cx="0" cy="384"/>
            </a:xfrm>
            <a:prstGeom prst="line">
              <a:avLst/>
            </a:prstGeom>
            <a:ln w="28575" cap="flat" cmpd="sng">
              <a:solidFill>
                <a:schemeClr val="tx1"/>
              </a:solidFill>
              <a:prstDash val="solid"/>
              <a:headEnd type="none" w="med" len="med"/>
              <a:tailEnd type="none" w="med" len="med"/>
            </a:ln>
          </p:spPr>
        </p:sp>
        <p:sp>
          <p:nvSpPr>
            <p:cNvPr id="112678" name="直接连接符 112677"/>
            <p:cNvSpPr/>
            <p:nvPr/>
          </p:nvSpPr>
          <p:spPr>
            <a:xfrm>
              <a:off x="4128" y="3072"/>
              <a:ext cx="0" cy="384"/>
            </a:xfrm>
            <a:prstGeom prst="line">
              <a:avLst/>
            </a:prstGeom>
            <a:ln w="28575" cap="flat" cmpd="sng">
              <a:solidFill>
                <a:schemeClr val="tx1"/>
              </a:solidFill>
              <a:prstDash val="solid"/>
              <a:headEnd type="none" w="med" len="med"/>
              <a:tailEnd type="none" w="med" len="med"/>
            </a:ln>
          </p:spPr>
        </p:sp>
        <p:sp>
          <p:nvSpPr>
            <p:cNvPr id="112679" name="直接连接符 112678"/>
            <p:cNvSpPr/>
            <p:nvPr/>
          </p:nvSpPr>
          <p:spPr>
            <a:xfrm>
              <a:off x="5040" y="3072"/>
              <a:ext cx="0" cy="384"/>
            </a:xfrm>
            <a:prstGeom prst="line">
              <a:avLst/>
            </a:prstGeom>
            <a:ln w="28575" cap="flat" cmpd="sng">
              <a:solidFill>
                <a:schemeClr val="tx1"/>
              </a:solidFill>
              <a:prstDash val="solid"/>
              <a:headEnd type="none" w="med" len="med"/>
              <a:tailEnd type="none" w="med" len="med"/>
            </a:ln>
          </p:spPr>
        </p:sp>
        <p:sp>
          <p:nvSpPr>
            <p:cNvPr id="112680" name="文本框 112679"/>
            <p:cNvSpPr txBox="1"/>
            <p:nvPr/>
          </p:nvSpPr>
          <p:spPr>
            <a:xfrm>
              <a:off x="3360" y="2976"/>
              <a:ext cx="511" cy="291"/>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CS</a:t>
              </a:r>
              <a:r>
                <a:rPr lang="en-US" altLang="zh-CN" sz="2400" b="1" baseline="-25000">
                  <a:latin typeface="Times New Roman" panose="02020603050405020304" charset="0"/>
                  <a:ea typeface="楷体" panose="02010609060101010101" charset="-122"/>
                  <a:cs typeface="Times New Roman" panose="02020603050405020304" charset="0"/>
                </a:rPr>
                <a:t>Y0</a:t>
              </a:r>
              <a:endParaRPr lang="en-US" altLang="zh-CN" sz="2400" b="1" baseline="-25000">
                <a:latin typeface="Times New Roman" panose="02020603050405020304" charset="0"/>
                <a:ea typeface="楷体" panose="02010609060101010101" charset="-122"/>
                <a:cs typeface="Times New Roman" panose="02020603050405020304" charset="0"/>
              </a:endParaRPr>
            </a:p>
          </p:txBody>
        </p:sp>
        <p:sp>
          <p:nvSpPr>
            <p:cNvPr id="112681" name="文本框 112680"/>
            <p:cNvSpPr txBox="1"/>
            <p:nvPr/>
          </p:nvSpPr>
          <p:spPr>
            <a:xfrm>
              <a:off x="4080" y="2976"/>
              <a:ext cx="511" cy="291"/>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CS</a:t>
              </a:r>
              <a:r>
                <a:rPr lang="en-US" altLang="zh-CN" sz="2400" b="1" baseline="-25000">
                  <a:latin typeface="Times New Roman" panose="02020603050405020304" charset="0"/>
                  <a:ea typeface="楷体" panose="02010609060101010101" charset="-122"/>
                  <a:cs typeface="Times New Roman" panose="02020603050405020304" charset="0"/>
                </a:rPr>
                <a:t>Y1</a:t>
              </a:r>
              <a:endParaRPr lang="en-US" altLang="zh-CN" sz="2400" b="1" baseline="-25000">
                <a:latin typeface="Times New Roman" panose="02020603050405020304" charset="0"/>
                <a:ea typeface="楷体" panose="02010609060101010101" charset="-122"/>
                <a:cs typeface="Times New Roman" panose="02020603050405020304" charset="0"/>
              </a:endParaRPr>
            </a:p>
          </p:txBody>
        </p:sp>
        <p:sp>
          <p:nvSpPr>
            <p:cNvPr id="112682" name="文本框 112681"/>
            <p:cNvSpPr txBox="1"/>
            <p:nvPr/>
          </p:nvSpPr>
          <p:spPr>
            <a:xfrm>
              <a:off x="5040" y="2976"/>
              <a:ext cx="573" cy="291"/>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CS</a:t>
              </a:r>
              <a:r>
                <a:rPr lang="en-US" altLang="zh-CN" sz="2400" b="1" baseline="-25000">
                  <a:latin typeface="Times New Roman" panose="02020603050405020304" charset="0"/>
                  <a:ea typeface="楷体" panose="02010609060101010101" charset="-122"/>
                  <a:cs typeface="Times New Roman" panose="02020603050405020304" charset="0"/>
                </a:rPr>
                <a:t>Y15</a:t>
              </a:r>
              <a:endParaRPr lang="en-US" altLang="zh-CN" sz="2400" b="1" baseline="-25000">
                <a:latin typeface="Times New Roman" panose="02020603050405020304" charset="0"/>
                <a:ea typeface="楷体" panose="02010609060101010101" charset="-122"/>
                <a:cs typeface="Times New Roman" panose="02020603050405020304" charset="0"/>
              </a:endParaRPr>
            </a:p>
          </p:txBody>
        </p:sp>
      </p:grpSp>
      <p:grpSp>
        <p:nvGrpSpPr>
          <p:cNvPr id="112683" name="组合 112682"/>
          <p:cNvGrpSpPr/>
          <p:nvPr/>
        </p:nvGrpSpPr>
        <p:grpSpPr>
          <a:xfrm>
            <a:off x="323850" y="2060575"/>
            <a:ext cx="3240088" cy="3744913"/>
            <a:chOff x="204" y="1298"/>
            <a:chExt cx="2041" cy="2359"/>
          </a:xfrm>
        </p:grpSpPr>
        <p:grpSp>
          <p:nvGrpSpPr>
            <p:cNvPr id="112684" name="组合 112683"/>
            <p:cNvGrpSpPr/>
            <p:nvPr/>
          </p:nvGrpSpPr>
          <p:grpSpPr>
            <a:xfrm>
              <a:off x="204" y="1490"/>
              <a:ext cx="501" cy="291"/>
              <a:chOff x="363" y="1592"/>
              <a:chExt cx="501" cy="290"/>
            </a:xfrm>
          </p:grpSpPr>
          <p:sp>
            <p:nvSpPr>
              <p:cNvPr id="112685" name="直接连接符 112684"/>
              <p:cNvSpPr/>
              <p:nvPr/>
            </p:nvSpPr>
            <p:spPr>
              <a:xfrm>
                <a:off x="528" y="1872"/>
                <a:ext cx="336" cy="0"/>
              </a:xfrm>
              <a:prstGeom prst="line">
                <a:avLst/>
              </a:prstGeom>
              <a:ln w="28575" cap="flat" cmpd="sng">
                <a:solidFill>
                  <a:schemeClr val="tx1"/>
                </a:solidFill>
                <a:prstDash val="solid"/>
                <a:headEnd type="none" w="med" len="med"/>
                <a:tailEnd type="none" w="med" len="med"/>
              </a:ln>
            </p:spPr>
          </p:sp>
          <p:sp>
            <p:nvSpPr>
              <p:cNvPr id="112686" name="文本框 112685"/>
              <p:cNvSpPr txBox="1"/>
              <p:nvPr/>
            </p:nvSpPr>
            <p:spPr>
              <a:xfrm>
                <a:off x="363" y="1592"/>
                <a:ext cx="314" cy="290"/>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A</a:t>
                </a:r>
                <a:r>
                  <a:rPr lang="en-US" altLang="zh-CN" sz="2400" b="1" baseline="-25000">
                    <a:latin typeface="Times New Roman" panose="02020603050405020304" charset="0"/>
                    <a:ea typeface="楷体" panose="02010609060101010101" charset="-122"/>
                    <a:cs typeface="Times New Roman" panose="02020603050405020304" charset="0"/>
                  </a:rPr>
                  <a:t>0</a:t>
                </a:r>
                <a:endParaRPr lang="en-US" altLang="zh-CN" sz="2400" b="1" baseline="-25000">
                  <a:latin typeface="Times New Roman" panose="02020603050405020304" charset="0"/>
                  <a:ea typeface="楷体" panose="02010609060101010101" charset="-122"/>
                  <a:cs typeface="Times New Roman" panose="02020603050405020304" charset="0"/>
                </a:endParaRPr>
              </a:p>
            </p:txBody>
          </p:sp>
        </p:grpSp>
        <p:grpSp>
          <p:nvGrpSpPr>
            <p:cNvPr id="112687" name="组合 112686"/>
            <p:cNvGrpSpPr/>
            <p:nvPr/>
          </p:nvGrpSpPr>
          <p:grpSpPr>
            <a:xfrm>
              <a:off x="204" y="1731"/>
              <a:ext cx="501" cy="291"/>
              <a:chOff x="363" y="1592"/>
              <a:chExt cx="501" cy="290"/>
            </a:xfrm>
          </p:grpSpPr>
          <p:sp>
            <p:nvSpPr>
              <p:cNvPr id="112688" name="直接连接符 112687"/>
              <p:cNvSpPr/>
              <p:nvPr/>
            </p:nvSpPr>
            <p:spPr>
              <a:xfrm>
                <a:off x="528" y="1872"/>
                <a:ext cx="336" cy="0"/>
              </a:xfrm>
              <a:prstGeom prst="line">
                <a:avLst/>
              </a:prstGeom>
              <a:ln w="28575" cap="flat" cmpd="sng">
                <a:solidFill>
                  <a:schemeClr val="tx1"/>
                </a:solidFill>
                <a:prstDash val="solid"/>
                <a:headEnd type="none" w="med" len="med"/>
                <a:tailEnd type="none" w="med" len="med"/>
              </a:ln>
            </p:spPr>
          </p:sp>
          <p:sp>
            <p:nvSpPr>
              <p:cNvPr id="112689" name="文本框 112688"/>
              <p:cNvSpPr txBox="1"/>
              <p:nvPr/>
            </p:nvSpPr>
            <p:spPr>
              <a:xfrm>
                <a:off x="363" y="1592"/>
                <a:ext cx="314" cy="290"/>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A</a:t>
                </a:r>
                <a:r>
                  <a:rPr lang="en-US" altLang="zh-CN" sz="2400" b="1" baseline="-25000">
                    <a:latin typeface="Times New Roman" panose="02020603050405020304" charset="0"/>
                    <a:ea typeface="楷体" panose="02010609060101010101" charset="-122"/>
                    <a:cs typeface="Times New Roman" panose="02020603050405020304" charset="0"/>
                  </a:rPr>
                  <a:t>1</a:t>
                </a:r>
                <a:endParaRPr lang="en-US" altLang="zh-CN" sz="2400" b="1" baseline="-25000">
                  <a:latin typeface="Times New Roman" panose="02020603050405020304" charset="0"/>
                  <a:ea typeface="楷体" panose="02010609060101010101" charset="-122"/>
                  <a:cs typeface="Times New Roman" panose="02020603050405020304" charset="0"/>
                </a:endParaRPr>
              </a:p>
            </p:txBody>
          </p:sp>
        </p:grpSp>
        <p:grpSp>
          <p:nvGrpSpPr>
            <p:cNvPr id="112690" name="组合 112689"/>
            <p:cNvGrpSpPr/>
            <p:nvPr/>
          </p:nvGrpSpPr>
          <p:grpSpPr>
            <a:xfrm>
              <a:off x="204" y="1972"/>
              <a:ext cx="501" cy="291"/>
              <a:chOff x="363" y="1592"/>
              <a:chExt cx="501" cy="291"/>
            </a:xfrm>
          </p:grpSpPr>
          <p:sp>
            <p:nvSpPr>
              <p:cNvPr id="112691" name="直接连接符 112690"/>
              <p:cNvSpPr/>
              <p:nvPr/>
            </p:nvSpPr>
            <p:spPr>
              <a:xfrm>
                <a:off x="528" y="1872"/>
                <a:ext cx="336" cy="0"/>
              </a:xfrm>
              <a:prstGeom prst="line">
                <a:avLst/>
              </a:prstGeom>
              <a:ln w="28575" cap="flat" cmpd="sng">
                <a:solidFill>
                  <a:schemeClr val="tx1"/>
                </a:solidFill>
                <a:prstDash val="solid"/>
                <a:headEnd type="none" w="med" len="med"/>
                <a:tailEnd type="none" w="med" len="med"/>
              </a:ln>
            </p:spPr>
          </p:sp>
          <p:sp>
            <p:nvSpPr>
              <p:cNvPr id="112692" name="文本框 112691"/>
              <p:cNvSpPr txBox="1"/>
              <p:nvPr/>
            </p:nvSpPr>
            <p:spPr>
              <a:xfrm>
                <a:off x="363" y="1592"/>
                <a:ext cx="314" cy="291"/>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A</a:t>
                </a:r>
                <a:r>
                  <a:rPr lang="en-US" altLang="zh-CN" sz="2400" b="1" baseline="-25000">
                    <a:latin typeface="Times New Roman" panose="02020603050405020304" charset="0"/>
                    <a:ea typeface="楷体" panose="02010609060101010101" charset="-122"/>
                    <a:cs typeface="Times New Roman" panose="02020603050405020304" charset="0"/>
                  </a:rPr>
                  <a:t>2</a:t>
                </a:r>
                <a:endParaRPr lang="en-US" altLang="zh-CN" sz="2400" b="1" baseline="-25000">
                  <a:latin typeface="Times New Roman" panose="02020603050405020304" charset="0"/>
                  <a:ea typeface="楷体" panose="02010609060101010101" charset="-122"/>
                  <a:cs typeface="Times New Roman" panose="02020603050405020304" charset="0"/>
                </a:endParaRPr>
              </a:p>
            </p:txBody>
          </p:sp>
        </p:grpSp>
        <p:grpSp>
          <p:nvGrpSpPr>
            <p:cNvPr id="112693" name="组合 112692"/>
            <p:cNvGrpSpPr/>
            <p:nvPr/>
          </p:nvGrpSpPr>
          <p:grpSpPr>
            <a:xfrm>
              <a:off x="204" y="2212"/>
              <a:ext cx="501" cy="291"/>
              <a:chOff x="363" y="1592"/>
              <a:chExt cx="501" cy="290"/>
            </a:xfrm>
          </p:grpSpPr>
          <p:sp>
            <p:nvSpPr>
              <p:cNvPr id="112694" name="直接连接符 112693"/>
              <p:cNvSpPr/>
              <p:nvPr/>
            </p:nvSpPr>
            <p:spPr>
              <a:xfrm>
                <a:off x="528" y="1872"/>
                <a:ext cx="336" cy="0"/>
              </a:xfrm>
              <a:prstGeom prst="line">
                <a:avLst/>
              </a:prstGeom>
              <a:ln w="28575" cap="flat" cmpd="sng">
                <a:solidFill>
                  <a:schemeClr val="tx1"/>
                </a:solidFill>
                <a:prstDash val="solid"/>
                <a:headEnd type="none" w="med" len="med"/>
                <a:tailEnd type="none" w="med" len="med"/>
              </a:ln>
            </p:spPr>
          </p:sp>
          <p:sp>
            <p:nvSpPr>
              <p:cNvPr id="112695" name="文本框 112694"/>
              <p:cNvSpPr txBox="1"/>
              <p:nvPr/>
            </p:nvSpPr>
            <p:spPr>
              <a:xfrm>
                <a:off x="363" y="1592"/>
                <a:ext cx="314" cy="290"/>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A</a:t>
                </a:r>
                <a:r>
                  <a:rPr lang="en-US" altLang="zh-CN" sz="2400" b="1" baseline="-25000">
                    <a:latin typeface="Times New Roman" panose="02020603050405020304" charset="0"/>
                    <a:ea typeface="楷体" panose="02010609060101010101" charset="-122"/>
                    <a:cs typeface="Times New Roman" panose="02020603050405020304" charset="0"/>
                  </a:rPr>
                  <a:t>3</a:t>
                </a:r>
                <a:endParaRPr lang="en-US" altLang="zh-CN" sz="2400" b="1" baseline="-25000">
                  <a:latin typeface="Times New Roman" panose="02020603050405020304" charset="0"/>
                  <a:ea typeface="楷体" panose="02010609060101010101" charset="-122"/>
                  <a:cs typeface="Times New Roman" panose="02020603050405020304" charset="0"/>
                </a:endParaRPr>
              </a:p>
            </p:txBody>
          </p:sp>
        </p:grpSp>
        <p:grpSp>
          <p:nvGrpSpPr>
            <p:cNvPr id="112696" name="组合 112695"/>
            <p:cNvGrpSpPr/>
            <p:nvPr/>
          </p:nvGrpSpPr>
          <p:grpSpPr>
            <a:xfrm>
              <a:off x="204" y="2453"/>
              <a:ext cx="501" cy="291"/>
              <a:chOff x="363" y="1592"/>
              <a:chExt cx="501" cy="290"/>
            </a:xfrm>
          </p:grpSpPr>
          <p:sp>
            <p:nvSpPr>
              <p:cNvPr id="112697" name="直接连接符 112696"/>
              <p:cNvSpPr/>
              <p:nvPr/>
            </p:nvSpPr>
            <p:spPr>
              <a:xfrm>
                <a:off x="528" y="1872"/>
                <a:ext cx="336" cy="0"/>
              </a:xfrm>
              <a:prstGeom prst="line">
                <a:avLst/>
              </a:prstGeom>
              <a:ln w="28575" cap="flat" cmpd="sng">
                <a:solidFill>
                  <a:schemeClr val="tx1"/>
                </a:solidFill>
                <a:prstDash val="solid"/>
                <a:headEnd type="none" w="med" len="med"/>
                <a:tailEnd type="none" w="med" len="med"/>
              </a:ln>
            </p:spPr>
          </p:sp>
          <p:sp>
            <p:nvSpPr>
              <p:cNvPr id="112698" name="文本框 112697"/>
              <p:cNvSpPr txBox="1"/>
              <p:nvPr/>
            </p:nvSpPr>
            <p:spPr>
              <a:xfrm>
                <a:off x="363" y="1592"/>
                <a:ext cx="314" cy="290"/>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A</a:t>
                </a:r>
                <a:r>
                  <a:rPr lang="en-US" altLang="zh-CN" sz="2400" b="1" baseline="-25000">
                    <a:latin typeface="Times New Roman" panose="02020603050405020304" charset="0"/>
                    <a:ea typeface="楷体" panose="02010609060101010101" charset="-122"/>
                    <a:cs typeface="Times New Roman" panose="02020603050405020304" charset="0"/>
                  </a:rPr>
                  <a:t>4</a:t>
                </a:r>
                <a:endParaRPr lang="en-US" altLang="zh-CN" sz="2400" b="1" baseline="-25000">
                  <a:latin typeface="Times New Roman" panose="02020603050405020304" charset="0"/>
                  <a:ea typeface="楷体" panose="02010609060101010101" charset="-122"/>
                  <a:cs typeface="Times New Roman" panose="02020603050405020304" charset="0"/>
                </a:endParaRPr>
              </a:p>
            </p:txBody>
          </p:sp>
        </p:grpSp>
        <p:grpSp>
          <p:nvGrpSpPr>
            <p:cNvPr id="112699" name="组合 112698"/>
            <p:cNvGrpSpPr/>
            <p:nvPr/>
          </p:nvGrpSpPr>
          <p:grpSpPr>
            <a:xfrm>
              <a:off x="204" y="2694"/>
              <a:ext cx="501" cy="291"/>
              <a:chOff x="363" y="1592"/>
              <a:chExt cx="501" cy="291"/>
            </a:xfrm>
          </p:grpSpPr>
          <p:sp>
            <p:nvSpPr>
              <p:cNvPr id="112700" name="直接连接符 112699"/>
              <p:cNvSpPr/>
              <p:nvPr/>
            </p:nvSpPr>
            <p:spPr>
              <a:xfrm>
                <a:off x="528" y="1872"/>
                <a:ext cx="336" cy="0"/>
              </a:xfrm>
              <a:prstGeom prst="line">
                <a:avLst/>
              </a:prstGeom>
              <a:ln w="28575" cap="flat" cmpd="sng">
                <a:solidFill>
                  <a:schemeClr val="tx1"/>
                </a:solidFill>
                <a:prstDash val="solid"/>
                <a:headEnd type="none" w="med" len="med"/>
                <a:tailEnd type="none" w="med" len="med"/>
              </a:ln>
            </p:spPr>
          </p:sp>
          <p:sp>
            <p:nvSpPr>
              <p:cNvPr id="112701" name="文本框 112700"/>
              <p:cNvSpPr txBox="1"/>
              <p:nvPr/>
            </p:nvSpPr>
            <p:spPr>
              <a:xfrm>
                <a:off x="363" y="1592"/>
                <a:ext cx="314" cy="291"/>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A</a:t>
                </a:r>
                <a:r>
                  <a:rPr lang="en-US" altLang="zh-CN" sz="2400" b="1" baseline="-25000">
                    <a:latin typeface="Times New Roman" panose="02020603050405020304" charset="0"/>
                    <a:ea typeface="楷体" panose="02010609060101010101" charset="-122"/>
                    <a:cs typeface="Times New Roman" panose="02020603050405020304" charset="0"/>
                  </a:rPr>
                  <a:t>5</a:t>
                </a:r>
                <a:endParaRPr lang="en-US" altLang="zh-CN" sz="2400" b="1" baseline="-25000">
                  <a:latin typeface="Times New Roman" panose="02020603050405020304" charset="0"/>
                  <a:ea typeface="楷体" panose="02010609060101010101" charset="-122"/>
                  <a:cs typeface="Times New Roman" panose="02020603050405020304" charset="0"/>
                </a:endParaRPr>
              </a:p>
            </p:txBody>
          </p:sp>
        </p:grpSp>
        <p:grpSp>
          <p:nvGrpSpPr>
            <p:cNvPr id="112702" name="组合 112701"/>
            <p:cNvGrpSpPr/>
            <p:nvPr/>
          </p:nvGrpSpPr>
          <p:grpSpPr>
            <a:xfrm>
              <a:off x="204" y="2934"/>
              <a:ext cx="501" cy="291"/>
              <a:chOff x="363" y="1592"/>
              <a:chExt cx="501" cy="290"/>
            </a:xfrm>
          </p:grpSpPr>
          <p:sp>
            <p:nvSpPr>
              <p:cNvPr id="112703" name="直接连接符 112702"/>
              <p:cNvSpPr/>
              <p:nvPr/>
            </p:nvSpPr>
            <p:spPr>
              <a:xfrm>
                <a:off x="528" y="1872"/>
                <a:ext cx="336" cy="0"/>
              </a:xfrm>
              <a:prstGeom prst="line">
                <a:avLst/>
              </a:prstGeom>
              <a:ln w="28575" cap="flat" cmpd="sng">
                <a:solidFill>
                  <a:schemeClr val="tx1"/>
                </a:solidFill>
                <a:prstDash val="solid"/>
                <a:headEnd type="none" w="med" len="med"/>
                <a:tailEnd type="none" w="med" len="med"/>
              </a:ln>
            </p:spPr>
          </p:sp>
          <p:sp>
            <p:nvSpPr>
              <p:cNvPr id="112704" name="文本框 112703"/>
              <p:cNvSpPr txBox="1"/>
              <p:nvPr/>
            </p:nvSpPr>
            <p:spPr>
              <a:xfrm>
                <a:off x="363" y="1592"/>
                <a:ext cx="314" cy="290"/>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A</a:t>
                </a:r>
                <a:r>
                  <a:rPr lang="en-US" altLang="zh-CN" sz="2400" b="1" baseline="-25000">
                    <a:latin typeface="Times New Roman" panose="02020603050405020304" charset="0"/>
                    <a:ea typeface="楷体" panose="02010609060101010101" charset="-122"/>
                    <a:cs typeface="Times New Roman" panose="02020603050405020304" charset="0"/>
                  </a:rPr>
                  <a:t>6</a:t>
                </a:r>
                <a:endParaRPr lang="en-US" altLang="zh-CN" sz="2400" b="1" baseline="-25000">
                  <a:latin typeface="Times New Roman" panose="02020603050405020304" charset="0"/>
                  <a:ea typeface="楷体" panose="02010609060101010101" charset="-122"/>
                  <a:cs typeface="Times New Roman" panose="02020603050405020304" charset="0"/>
                </a:endParaRPr>
              </a:p>
            </p:txBody>
          </p:sp>
        </p:grpSp>
        <p:grpSp>
          <p:nvGrpSpPr>
            <p:cNvPr id="112705" name="组合 112704"/>
            <p:cNvGrpSpPr/>
            <p:nvPr/>
          </p:nvGrpSpPr>
          <p:grpSpPr>
            <a:xfrm>
              <a:off x="204" y="3175"/>
              <a:ext cx="501" cy="291"/>
              <a:chOff x="363" y="1592"/>
              <a:chExt cx="501" cy="290"/>
            </a:xfrm>
          </p:grpSpPr>
          <p:sp>
            <p:nvSpPr>
              <p:cNvPr id="112706" name="直接连接符 112705"/>
              <p:cNvSpPr/>
              <p:nvPr/>
            </p:nvSpPr>
            <p:spPr>
              <a:xfrm>
                <a:off x="528" y="1872"/>
                <a:ext cx="336" cy="0"/>
              </a:xfrm>
              <a:prstGeom prst="line">
                <a:avLst/>
              </a:prstGeom>
              <a:ln w="28575" cap="flat" cmpd="sng">
                <a:solidFill>
                  <a:schemeClr val="tx1"/>
                </a:solidFill>
                <a:prstDash val="solid"/>
                <a:headEnd type="none" w="med" len="med"/>
                <a:tailEnd type="none" w="med" len="med"/>
              </a:ln>
            </p:spPr>
          </p:sp>
          <p:sp>
            <p:nvSpPr>
              <p:cNvPr id="112707" name="文本框 112706"/>
              <p:cNvSpPr txBox="1"/>
              <p:nvPr/>
            </p:nvSpPr>
            <p:spPr>
              <a:xfrm>
                <a:off x="363" y="1592"/>
                <a:ext cx="314" cy="290"/>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A</a:t>
                </a:r>
                <a:r>
                  <a:rPr lang="en-US" altLang="zh-CN" sz="2400" b="1" baseline="-25000">
                    <a:latin typeface="Times New Roman" panose="02020603050405020304" charset="0"/>
                    <a:ea typeface="楷体" panose="02010609060101010101" charset="-122"/>
                    <a:cs typeface="Times New Roman" panose="02020603050405020304" charset="0"/>
                  </a:rPr>
                  <a:t>7</a:t>
                </a:r>
                <a:endParaRPr lang="en-US" altLang="zh-CN" sz="2400" b="1" baseline="-25000">
                  <a:latin typeface="Times New Roman" panose="02020603050405020304" charset="0"/>
                  <a:ea typeface="楷体" panose="02010609060101010101" charset="-122"/>
                  <a:cs typeface="Times New Roman" panose="02020603050405020304" charset="0"/>
                </a:endParaRPr>
              </a:p>
            </p:txBody>
          </p:sp>
        </p:grpSp>
        <p:sp>
          <p:nvSpPr>
            <p:cNvPr id="112708" name="直接连接符 112707"/>
            <p:cNvSpPr/>
            <p:nvPr/>
          </p:nvSpPr>
          <p:spPr>
            <a:xfrm>
              <a:off x="924" y="1587"/>
              <a:ext cx="480" cy="0"/>
            </a:xfrm>
            <a:prstGeom prst="line">
              <a:avLst/>
            </a:prstGeom>
            <a:ln w="28575" cap="flat" cmpd="sng">
              <a:solidFill>
                <a:schemeClr val="tx1"/>
              </a:solidFill>
              <a:prstDash val="solid"/>
              <a:headEnd type="none" w="med" len="med"/>
              <a:tailEnd type="none" w="med" len="med"/>
            </a:ln>
          </p:spPr>
        </p:sp>
        <p:sp>
          <p:nvSpPr>
            <p:cNvPr id="112709" name="直接连接符 112708"/>
            <p:cNvSpPr/>
            <p:nvPr/>
          </p:nvSpPr>
          <p:spPr>
            <a:xfrm>
              <a:off x="924" y="3560"/>
              <a:ext cx="480" cy="0"/>
            </a:xfrm>
            <a:prstGeom prst="line">
              <a:avLst/>
            </a:prstGeom>
            <a:ln w="28575" cap="flat" cmpd="sng">
              <a:solidFill>
                <a:schemeClr val="tx1"/>
              </a:solidFill>
              <a:prstDash val="solid"/>
              <a:headEnd type="none" w="med" len="med"/>
              <a:tailEnd type="none" w="med" len="med"/>
            </a:ln>
          </p:spPr>
        </p:sp>
        <p:sp>
          <p:nvSpPr>
            <p:cNvPr id="112710" name="文本框 112709"/>
            <p:cNvSpPr txBox="1"/>
            <p:nvPr/>
          </p:nvSpPr>
          <p:spPr>
            <a:xfrm>
              <a:off x="1115" y="2260"/>
              <a:ext cx="345" cy="442"/>
            </a:xfrm>
            <a:prstGeom prst="rect">
              <a:avLst/>
            </a:prstGeom>
            <a:noFill/>
            <a:ln w="28575">
              <a:noFill/>
            </a:ln>
          </p:spPr>
          <p:txBody>
            <a:bodyPr vert="eaVert"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a:t>
              </a:r>
              <a:endParaRPr lang="en-US" altLang="zh-CN" sz="2400" b="1">
                <a:latin typeface="Times New Roman" panose="02020603050405020304" charset="0"/>
                <a:ea typeface="楷体" panose="02010609060101010101" charset="-122"/>
                <a:cs typeface="Times New Roman" panose="02020603050405020304" charset="0"/>
              </a:endParaRPr>
            </a:p>
          </p:txBody>
        </p:sp>
        <p:sp>
          <p:nvSpPr>
            <p:cNvPr id="112711" name="文本框 112710"/>
            <p:cNvSpPr txBox="1"/>
            <p:nvPr/>
          </p:nvSpPr>
          <p:spPr>
            <a:xfrm>
              <a:off x="1066" y="1298"/>
              <a:ext cx="421" cy="291"/>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CS</a:t>
              </a:r>
              <a:r>
                <a:rPr lang="en-US" altLang="zh-CN" sz="2400" b="1" baseline="-25000">
                  <a:latin typeface="Times New Roman" panose="02020603050405020304" charset="0"/>
                  <a:ea typeface="楷体" panose="02010609060101010101" charset="-122"/>
                  <a:cs typeface="Times New Roman" panose="02020603050405020304" charset="0"/>
                </a:rPr>
                <a:t>0</a:t>
              </a:r>
              <a:endParaRPr lang="en-US" altLang="zh-CN" sz="2400" b="1" baseline="-25000">
                <a:latin typeface="Times New Roman" panose="02020603050405020304" charset="0"/>
                <a:ea typeface="楷体" panose="02010609060101010101" charset="-122"/>
                <a:cs typeface="Times New Roman" panose="02020603050405020304" charset="0"/>
              </a:endParaRPr>
            </a:p>
          </p:txBody>
        </p:sp>
        <p:sp>
          <p:nvSpPr>
            <p:cNvPr id="112712" name="直接连接符 112711"/>
            <p:cNvSpPr/>
            <p:nvPr/>
          </p:nvSpPr>
          <p:spPr>
            <a:xfrm>
              <a:off x="924" y="1875"/>
              <a:ext cx="480" cy="0"/>
            </a:xfrm>
            <a:prstGeom prst="line">
              <a:avLst/>
            </a:prstGeom>
            <a:ln w="28575" cap="flat" cmpd="sng">
              <a:solidFill>
                <a:schemeClr val="tx1"/>
              </a:solidFill>
              <a:prstDash val="solid"/>
              <a:headEnd type="none" w="med" len="med"/>
              <a:tailEnd type="none" w="med" len="med"/>
            </a:ln>
          </p:spPr>
        </p:sp>
        <p:sp>
          <p:nvSpPr>
            <p:cNvPr id="112713" name="文本框 112712"/>
            <p:cNvSpPr txBox="1"/>
            <p:nvPr/>
          </p:nvSpPr>
          <p:spPr>
            <a:xfrm>
              <a:off x="1066" y="1587"/>
              <a:ext cx="421" cy="291"/>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CS</a:t>
              </a:r>
              <a:r>
                <a:rPr lang="en-US" altLang="zh-CN" sz="2400" b="1" baseline="-25000">
                  <a:latin typeface="Times New Roman" panose="02020603050405020304" charset="0"/>
                  <a:ea typeface="楷体" panose="02010609060101010101" charset="-122"/>
                  <a:cs typeface="Times New Roman" panose="02020603050405020304" charset="0"/>
                </a:rPr>
                <a:t>1</a:t>
              </a:r>
              <a:endParaRPr lang="en-US" altLang="zh-CN" sz="2400" b="1" baseline="-25000">
                <a:latin typeface="Times New Roman" panose="02020603050405020304" charset="0"/>
                <a:ea typeface="楷体" panose="02010609060101010101" charset="-122"/>
                <a:cs typeface="Times New Roman" panose="02020603050405020304" charset="0"/>
              </a:endParaRPr>
            </a:p>
          </p:txBody>
        </p:sp>
        <p:sp>
          <p:nvSpPr>
            <p:cNvPr id="112714" name="文本框 112713"/>
            <p:cNvSpPr txBox="1"/>
            <p:nvPr/>
          </p:nvSpPr>
          <p:spPr>
            <a:xfrm>
              <a:off x="975" y="3271"/>
              <a:ext cx="546" cy="291"/>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CS</a:t>
              </a:r>
              <a:r>
                <a:rPr lang="en-US" altLang="zh-CN" sz="2400" b="1" baseline="-25000">
                  <a:latin typeface="Times New Roman" panose="02020603050405020304" charset="0"/>
                  <a:ea typeface="楷体" panose="02010609060101010101" charset="-122"/>
                  <a:cs typeface="Times New Roman" panose="02020603050405020304" charset="0"/>
                </a:rPr>
                <a:t>255</a:t>
              </a:r>
              <a:endParaRPr lang="en-US" altLang="zh-CN" sz="2400" b="1" baseline="-25000">
                <a:latin typeface="Times New Roman" panose="02020603050405020304" charset="0"/>
                <a:ea typeface="楷体" panose="02010609060101010101" charset="-122"/>
                <a:cs typeface="Times New Roman" panose="02020603050405020304" charset="0"/>
              </a:endParaRPr>
            </a:p>
          </p:txBody>
        </p:sp>
        <p:sp useBgFill="1">
          <p:nvSpPr>
            <p:cNvPr id="112715" name="矩形 112714"/>
            <p:cNvSpPr/>
            <p:nvPr/>
          </p:nvSpPr>
          <p:spPr>
            <a:xfrm>
              <a:off x="588" y="1443"/>
              <a:ext cx="432" cy="2214"/>
            </a:xfrm>
            <a:prstGeom prst="rect">
              <a:avLst/>
            </a:prstGeom>
            <a:ln w="28575" cap="flat" cmpd="sng">
              <a:solidFill>
                <a:schemeClr val="tx1"/>
              </a:solidFill>
              <a:prstDash val="solid"/>
              <a:miter/>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112716" name="文本框 112715"/>
            <p:cNvSpPr txBox="1"/>
            <p:nvPr/>
          </p:nvSpPr>
          <p:spPr>
            <a:xfrm>
              <a:off x="635" y="1811"/>
              <a:ext cx="345" cy="1392"/>
            </a:xfrm>
            <a:prstGeom prst="rect">
              <a:avLst/>
            </a:prstGeom>
            <a:noFill/>
            <a:ln w="28575">
              <a:noFill/>
            </a:ln>
          </p:spPr>
          <p:txBody>
            <a:bodyPr vert="eaVert" lIns="90000" tIns="46800" rIns="90000" bIns="46800">
              <a:spAutoFit/>
            </a:bodyPr>
            <a:p>
              <a:pPr algn="ctr"/>
              <a:r>
                <a:rPr lang="zh-CN" altLang="en-US" sz="2400" b="1" dirty="0">
                  <a:latin typeface="Times New Roman" panose="02020603050405020304" charset="0"/>
                  <a:ea typeface="楷体" panose="02010609060101010101" charset="-122"/>
                </a:rPr>
                <a:t>地址译码器</a:t>
              </a:r>
              <a:endParaRPr lang="zh-CN" altLang="en-US" sz="2400" b="1" dirty="0">
                <a:latin typeface="Times New Roman" panose="02020603050405020304" charset="0"/>
                <a:ea typeface="楷体" panose="02010609060101010101" charset="-122"/>
              </a:endParaRPr>
            </a:p>
          </p:txBody>
        </p:sp>
        <p:sp>
          <p:nvSpPr>
            <p:cNvPr id="112717" name="直接连接符 112716"/>
            <p:cNvSpPr/>
            <p:nvPr/>
          </p:nvSpPr>
          <p:spPr>
            <a:xfrm>
              <a:off x="1212" y="1587"/>
              <a:ext cx="288" cy="0"/>
            </a:xfrm>
            <a:prstGeom prst="line">
              <a:avLst/>
            </a:prstGeom>
            <a:ln w="12700" cap="flat" cmpd="sng">
              <a:solidFill>
                <a:schemeClr val="tx1"/>
              </a:solidFill>
              <a:prstDash val="lgDash"/>
              <a:headEnd type="none" w="med" len="med"/>
              <a:tailEnd type="none" w="med" len="med"/>
            </a:ln>
          </p:spPr>
        </p:sp>
        <p:sp>
          <p:nvSpPr>
            <p:cNvPr id="112718" name="直接连接符 112717"/>
            <p:cNvSpPr/>
            <p:nvPr/>
          </p:nvSpPr>
          <p:spPr>
            <a:xfrm>
              <a:off x="1212" y="1875"/>
              <a:ext cx="288" cy="0"/>
            </a:xfrm>
            <a:prstGeom prst="line">
              <a:avLst/>
            </a:prstGeom>
            <a:ln w="12700" cap="flat" cmpd="sng">
              <a:solidFill>
                <a:schemeClr val="tx1"/>
              </a:solidFill>
              <a:prstDash val="lgDash"/>
              <a:headEnd type="none" w="med" len="med"/>
              <a:tailEnd type="none" w="med" len="med"/>
            </a:ln>
          </p:spPr>
        </p:sp>
        <p:sp>
          <p:nvSpPr>
            <p:cNvPr id="112719" name="直接连接符 112718"/>
            <p:cNvSpPr/>
            <p:nvPr/>
          </p:nvSpPr>
          <p:spPr>
            <a:xfrm>
              <a:off x="1212" y="3560"/>
              <a:ext cx="288" cy="0"/>
            </a:xfrm>
            <a:prstGeom prst="line">
              <a:avLst/>
            </a:prstGeom>
            <a:ln w="12700" cap="flat" cmpd="sng">
              <a:solidFill>
                <a:schemeClr val="tx1"/>
              </a:solidFill>
              <a:prstDash val="lgDash"/>
              <a:headEnd type="none" w="med" len="med"/>
              <a:tailEnd type="none" w="med" len="med"/>
            </a:ln>
          </p:spPr>
        </p:sp>
        <p:sp>
          <p:nvSpPr>
            <p:cNvPr id="112720" name="矩形 112719"/>
            <p:cNvSpPr/>
            <p:nvPr/>
          </p:nvSpPr>
          <p:spPr>
            <a:xfrm>
              <a:off x="1525" y="1434"/>
              <a:ext cx="384" cy="2208"/>
            </a:xfrm>
            <a:prstGeom prst="rect">
              <a:avLst/>
            </a:prstGeom>
            <a:noFill/>
            <a:ln w="28575" cap="flat" cmpd="sng">
              <a:solidFill>
                <a:schemeClr val="tx1"/>
              </a:solidFill>
              <a:prstDash val="solid"/>
              <a:miter/>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112721" name="直接连接符 112720"/>
            <p:cNvSpPr/>
            <p:nvPr/>
          </p:nvSpPr>
          <p:spPr>
            <a:xfrm>
              <a:off x="1909" y="2490"/>
              <a:ext cx="336" cy="0"/>
            </a:xfrm>
            <a:prstGeom prst="line">
              <a:avLst/>
            </a:prstGeom>
            <a:ln w="28575" cap="flat" cmpd="sng">
              <a:solidFill>
                <a:schemeClr val="tx1"/>
              </a:solidFill>
              <a:prstDash val="solid"/>
              <a:headEnd type="none" w="med" len="med"/>
              <a:tailEnd type="none" w="med" len="med"/>
            </a:ln>
          </p:spPr>
        </p:sp>
        <p:sp>
          <p:nvSpPr>
            <p:cNvPr id="112722" name="文本框 112721"/>
            <p:cNvSpPr txBox="1"/>
            <p:nvPr/>
          </p:nvSpPr>
          <p:spPr>
            <a:xfrm>
              <a:off x="1524" y="1962"/>
              <a:ext cx="345" cy="1377"/>
            </a:xfrm>
            <a:prstGeom prst="rect">
              <a:avLst/>
            </a:prstGeom>
            <a:noFill/>
            <a:ln w="28575">
              <a:noFill/>
            </a:ln>
          </p:spPr>
          <p:txBody>
            <a:bodyPr vert="eaVert" lIns="90000" tIns="46800" rIns="90000" bIns="46800">
              <a:spAutoFit/>
            </a:bodyPr>
            <a:p>
              <a:pPr algn="ctr"/>
              <a:r>
                <a:rPr lang="zh-CN" altLang="en-US" sz="2400" b="1" dirty="0">
                  <a:latin typeface="Times New Roman" panose="02020603050405020304" charset="0"/>
                  <a:ea typeface="楷体" panose="02010609060101010101" charset="-122"/>
                </a:rPr>
                <a:t>存储器阵列</a:t>
              </a:r>
              <a:endParaRPr lang="zh-CN" altLang="en-US" sz="2400" b="1" dirty="0">
                <a:latin typeface="Times New Roman" panose="02020603050405020304" charset="0"/>
                <a:ea typeface="楷体" panose="02010609060101010101" charset="-122"/>
              </a:endParaRPr>
            </a:p>
          </p:txBody>
        </p:sp>
        <p:sp>
          <p:nvSpPr>
            <p:cNvPr id="112723" name="直接连接符 112722"/>
            <p:cNvSpPr/>
            <p:nvPr/>
          </p:nvSpPr>
          <p:spPr>
            <a:xfrm>
              <a:off x="1525" y="1722"/>
              <a:ext cx="384" cy="0"/>
            </a:xfrm>
            <a:prstGeom prst="line">
              <a:avLst/>
            </a:prstGeom>
            <a:ln w="28575" cap="flat" cmpd="sng">
              <a:solidFill>
                <a:schemeClr val="tx1"/>
              </a:solidFill>
              <a:prstDash val="solid"/>
              <a:headEnd type="none" w="med" len="med"/>
              <a:tailEnd type="none" w="med" len="med"/>
            </a:ln>
          </p:spPr>
        </p:sp>
        <p:sp>
          <p:nvSpPr>
            <p:cNvPr id="112724" name="直接连接符 112723"/>
            <p:cNvSpPr/>
            <p:nvPr/>
          </p:nvSpPr>
          <p:spPr>
            <a:xfrm>
              <a:off x="1525" y="2010"/>
              <a:ext cx="384" cy="0"/>
            </a:xfrm>
            <a:prstGeom prst="line">
              <a:avLst/>
            </a:prstGeom>
            <a:ln w="28575" cap="flat" cmpd="sng">
              <a:solidFill>
                <a:schemeClr val="tx1"/>
              </a:solidFill>
              <a:prstDash val="solid"/>
              <a:headEnd type="none" w="med" len="med"/>
              <a:tailEnd type="none" w="med" len="med"/>
            </a:ln>
          </p:spPr>
        </p:sp>
        <p:sp>
          <p:nvSpPr>
            <p:cNvPr id="112725" name="直接连接符 112724"/>
            <p:cNvSpPr/>
            <p:nvPr/>
          </p:nvSpPr>
          <p:spPr>
            <a:xfrm>
              <a:off x="1525" y="3354"/>
              <a:ext cx="384" cy="0"/>
            </a:xfrm>
            <a:prstGeom prst="line">
              <a:avLst/>
            </a:prstGeom>
            <a:ln w="28575" cap="flat" cmpd="sng">
              <a:solidFill>
                <a:schemeClr val="tx1"/>
              </a:solidFill>
              <a:prstDash val="solid"/>
              <a:headEnd type="none" w="med" len="med"/>
              <a:tailEnd type="none" w="med" len="med"/>
            </a:ln>
          </p:spPr>
        </p:sp>
        <p:sp>
          <p:nvSpPr>
            <p:cNvPr id="112726" name="文本框 112725"/>
            <p:cNvSpPr txBox="1"/>
            <p:nvPr/>
          </p:nvSpPr>
          <p:spPr>
            <a:xfrm>
              <a:off x="1621" y="1434"/>
              <a:ext cx="209" cy="291"/>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0</a:t>
              </a:r>
              <a:endParaRPr lang="en-US" altLang="zh-CN" sz="2400" b="1">
                <a:latin typeface="Times New Roman" panose="02020603050405020304" charset="0"/>
                <a:ea typeface="楷体" panose="02010609060101010101" charset="-122"/>
                <a:cs typeface="Times New Roman" panose="02020603050405020304" charset="0"/>
              </a:endParaRPr>
            </a:p>
          </p:txBody>
        </p:sp>
        <p:sp>
          <p:nvSpPr>
            <p:cNvPr id="112727" name="文本框 112726"/>
            <p:cNvSpPr txBox="1"/>
            <p:nvPr/>
          </p:nvSpPr>
          <p:spPr>
            <a:xfrm>
              <a:off x="1621" y="1722"/>
              <a:ext cx="209" cy="291"/>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1</a:t>
              </a:r>
              <a:endParaRPr lang="en-US" altLang="zh-CN" sz="2400" b="1">
                <a:latin typeface="Times New Roman" panose="02020603050405020304" charset="0"/>
                <a:ea typeface="楷体" panose="02010609060101010101" charset="-122"/>
                <a:cs typeface="Times New Roman" panose="02020603050405020304" charset="0"/>
              </a:endParaRPr>
            </a:p>
          </p:txBody>
        </p:sp>
        <p:sp>
          <p:nvSpPr>
            <p:cNvPr id="112728" name="文本框 112727"/>
            <p:cNvSpPr txBox="1"/>
            <p:nvPr/>
          </p:nvSpPr>
          <p:spPr>
            <a:xfrm>
              <a:off x="1525" y="3354"/>
              <a:ext cx="401" cy="291"/>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255</a:t>
              </a:r>
              <a:endParaRPr lang="en-US" altLang="zh-CN" sz="2400" b="1">
                <a:latin typeface="Times New Roman" panose="02020603050405020304" charset="0"/>
                <a:ea typeface="楷体" panose="02010609060101010101" charset="-122"/>
                <a:cs typeface="Times New Roman" panose="02020603050405020304" charset="0"/>
              </a:endParaRPr>
            </a:p>
          </p:txBody>
        </p:sp>
      </p:grpSp>
      <p:grpSp>
        <p:nvGrpSpPr>
          <p:cNvPr id="112729" name="组合 112728"/>
          <p:cNvGrpSpPr/>
          <p:nvPr/>
        </p:nvGrpSpPr>
        <p:grpSpPr>
          <a:xfrm>
            <a:off x="5562600" y="2124075"/>
            <a:ext cx="3036888" cy="2673350"/>
            <a:chOff x="3504" y="1440"/>
            <a:chExt cx="1913" cy="1632"/>
          </a:xfrm>
        </p:grpSpPr>
        <p:sp>
          <p:nvSpPr>
            <p:cNvPr id="112730" name="直接连接符 112729"/>
            <p:cNvSpPr/>
            <p:nvPr/>
          </p:nvSpPr>
          <p:spPr>
            <a:xfrm>
              <a:off x="3792" y="1680"/>
              <a:ext cx="1392" cy="0"/>
            </a:xfrm>
            <a:prstGeom prst="line">
              <a:avLst/>
            </a:prstGeom>
            <a:ln w="28575" cap="flat" cmpd="sng">
              <a:solidFill>
                <a:schemeClr val="tx1"/>
              </a:solidFill>
              <a:prstDash val="solid"/>
              <a:headEnd type="none" w="med" len="med"/>
              <a:tailEnd type="none" w="med" len="med"/>
            </a:ln>
          </p:spPr>
        </p:sp>
        <p:sp>
          <p:nvSpPr>
            <p:cNvPr id="112731" name="直接连接符 112730"/>
            <p:cNvSpPr/>
            <p:nvPr/>
          </p:nvSpPr>
          <p:spPr>
            <a:xfrm>
              <a:off x="5040" y="1584"/>
              <a:ext cx="0" cy="1248"/>
            </a:xfrm>
            <a:prstGeom prst="line">
              <a:avLst/>
            </a:prstGeom>
            <a:ln w="28575" cap="flat" cmpd="sng">
              <a:solidFill>
                <a:schemeClr val="tx1"/>
              </a:solidFill>
              <a:prstDash val="solid"/>
              <a:headEnd type="none" w="med" len="med"/>
              <a:tailEnd type="none" w="med" len="med"/>
            </a:ln>
          </p:spPr>
        </p:sp>
        <p:sp>
          <p:nvSpPr>
            <p:cNvPr id="112732" name="直接连接符 112731"/>
            <p:cNvSpPr/>
            <p:nvPr/>
          </p:nvSpPr>
          <p:spPr>
            <a:xfrm>
              <a:off x="4128" y="1584"/>
              <a:ext cx="0" cy="1248"/>
            </a:xfrm>
            <a:prstGeom prst="line">
              <a:avLst/>
            </a:prstGeom>
            <a:ln w="28575" cap="flat" cmpd="sng">
              <a:solidFill>
                <a:schemeClr val="tx1"/>
              </a:solidFill>
              <a:prstDash val="solid"/>
              <a:headEnd type="none" w="med" len="med"/>
              <a:tailEnd type="none" w="med" len="med"/>
            </a:ln>
          </p:spPr>
        </p:sp>
        <p:sp>
          <p:nvSpPr>
            <p:cNvPr id="112733" name="直接连接符 112732"/>
            <p:cNvSpPr/>
            <p:nvPr/>
          </p:nvSpPr>
          <p:spPr>
            <a:xfrm>
              <a:off x="3840" y="1584"/>
              <a:ext cx="0" cy="1248"/>
            </a:xfrm>
            <a:prstGeom prst="line">
              <a:avLst/>
            </a:prstGeom>
            <a:ln w="28575" cap="flat" cmpd="sng">
              <a:solidFill>
                <a:schemeClr val="tx1"/>
              </a:solidFill>
              <a:prstDash val="solid"/>
              <a:headEnd type="none" w="med" len="med"/>
              <a:tailEnd type="none" w="med" len="med"/>
            </a:ln>
          </p:spPr>
        </p:sp>
        <p:sp>
          <p:nvSpPr>
            <p:cNvPr id="112734" name="直接连接符 112733"/>
            <p:cNvSpPr/>
            <p:nvPr/>
          </p:nvSpPr>
          <p:spPr>
            <a:xfrm>
              <a:off x="3792" y="1968"/>
              <a:ext cx="1392" cy="0"/>
            </a:xfrm>
            <a:prstGeom prst="line">
              <a:avLst/>
            </a:prstGeom>
            <a:ln w="28575" cap="flat" cmpd="sng">
              <a:solidFill>
                <a:schemeClr val="tx1"/>
              </a:solidFill>
              <a:prstDash val="solid"/>
              <a:headEnd type="none" w="med" len="med"/>
              <a:tailEnd type="none" w="med" len="med"/>
            </a:ln>
          </p:spPr>
        </p:sp>
        <p:sp>
          <p:nvSpPr>
            <p:cNvPr id="112735" name="直接连接符 112734"/>
            <p:cNvSpPr/>
            <p:nvPr/>
          </p:nvSpPr>
          <p:spPr>
            <a:xfrm>
              <a:off x="3792" y="2784"/>
              <a:ext cx="1392" cy="0"/>
            </a:xfrm>
            <a:prstGeom prst="line">
              <a:avLst/>
            </a:prstGeom>
            <a:ln w="28575" cap="flat" cmpd="sng">
              <a:solidFill>
                <a:schemeClr val="tx1"/>
              </a:solidFill>
              <a:prstDash val="solid"/>
              <a:headEnd type="none" w="med" len="med"/>
              <a:tailEnd type="none" w="med" len="med"/>
            </a:ln>
          </p:spPr>
        </p:sp>
        <p:grpSp>
          <p:nvGrpSpPr>
            <p:cNvPr id="112736" name="组合 112735"/>
            <p:cNvGrpSpPr/>
            <p:nvPr/>
          </p:nvGrpSpPr>
          <p:grpSpPr>
            <a:xfrm>
              <a:off x="3504" y="1680"/>
              <a:ext cx="288" cy="1104"/>
              <a:chOff x="3504" y="1680"/>
              <a:chExt cx="288" cy="1104"/>
            </a:xfrm>
          </p:grpSpPr>
          <p:sp>
            <p:nvSpPr>
              <p:cNvPr id="112737" name="直接连接符 112736"/>
              <p:cNvSpPr/>
              <p:nvPr/>
            </p:nvSpPr>
            <p:spPr>
              <a:xfrm>
                <a:off x="3504" y="1680"/>
                <a:ext cx="288" cy="0"/>
              </a:xfrm>
              <a:prstGeom prst="line">
                <a:avLst/>
              </a:prstGeom>
              <a:ln w="12700" cap="flat" cmpd="sng">
                <a:solidFill>
                  <a:schemeClr val="tx1"/>
                </a:solidFill>
                <a:prstDash val="lgDash"/>
                <a:headEnd type="none" w="med" len="med"/>
                <a:tailEnd type="none" w="med" len="med"/>
              </a:ln>
            </p:spPr>
          </p:sp>
          <p:sp>
            <p:nvSpPr>
              <p:cNvPr id="112738" name="直接连接符 112737"/>
              <p:cNvSpPr/>
              <p:nvPr/>
            </p:nvSpPr>
            <p:spPr>
              <a:xfrm>
                <a:off x="3504" y="1968"/>
                <a:ext cx="288" cy="0"/>
              </a:xfrm>
              <a:prstGeom prst="line">
                <a:avLst/>
              </a:prstGeom>
              <a:ln w="12700" cap="flat" cmpd="sng">
                <a:solidFill>
                  <a:schemeClr val="tx1"/>
                </a:solidFill>
                <a:prstDash val="lgDash"/>
                <a:headEnd type="none" w="med" len="med"/>
                <a:tailEnd type="none" w="med" len="med"/>
              </a:ln>
            </p:spPr>
          </p:sp>
          <p:sp>
            <p:nvSpPr>
              <p:cNvPr id="112739" name="直接连接符 112738"/>
              <p:cNvSpPr/>
              <p:nvPr/>
            </p:nvSpPr>
            <p:spPr>
              <a:xfrm>
                <a:off x="3504" y="2784"/>
                <a:ext cx="288" cy="0"/>
              </a:xfrm>
              <a:prstGeom prst="line">
                <a:avLst/>
              </a:prstGeom>
              <a:ln w="12700" cap="flat" cmpd="sng">
                <a:solidFill>
                  <a:schemeClr val="tx1"/>
                </a:solidFill>
                <a:prstDash val="lgDash"/>
                <a:headEnd type="none" w="med" len="med"/>
                <a:tailEnd type="none" w="med" len="med"/>
              </a:ln>
            </p:spPr>
          </p:sp>
        </p:grpSp>
        <p:sp>
          <p:nvSpPr>
            <p:cNvPr id="112740" name="直接连接符 112739"/>
            <p:cNvSpPr/>
            <p:nvPr/>
          </p:nvSpPr>
          <p:spPr>
            <a:xfrm flipV="1">
              <a:off x="3840" y="2832"/>
              <a:ext cx="0" cy="240"/>
            </a:xfrm>
            <a:prstGeom prst="line">
              <a:avLst/>
            </a:prstGeom>
            <a:ln w="12700" cap="flat" cmpd="sng">
              <a:solidFill>
                <a:schemeClr val="tx1"/>
              </a:solidFill>
              <a:prstDash val="lgDash"/>
              <a:headEnd type="none" w="med" len="med"/>
              <a:tailEnd type="none" w="med" len="med"/>
            </a:ln>
          </p:spPr>
        </p:sp>
        <p:sp>
          <p:nvSpPr>
            <p:cNvPr id="112741" name="直接连接符 112740"/>
            <p:cNvSpPr/>
            <p:nvPr/>
          </p:nvSpPr>
          <p:spPr>
            <a:xfrm flipV="1">
              <a:off x="4128" y="2832"/>
              <a:ext cx="0" cy="240"/>
            </a:xfrm>
            <a:prstGeom prst="line">
              <a:avLst/>
            </a:prstGeom>
            <a:ln w="12700" cap="flat" cmpd="sng">
              <a:solidFill>
                <a:schemeClr val="tx1"/>
              </a:solidFill>
              <a:prstDash val="lgDash"/>
              <a:headEnd type="none" w="med" len="med"/>
              <a:tailEnd type="none" w="med" len="med"/>
            </a:ln>
          </p:spPr>
        </p:sp>
        <p:sp>
          <p:nvSpPr>
            <p:cNvPr id="112742" name="直接连接符 112741"/>
            <p:cNvSpPr/>
            <p:nvPr/>
          </p:nvSpPr>
          <p:spPr>
            <a:xfrm flipV="1">
              <a:off x="5040" y="2832"/>
              <a:ext cx="0" cy="240"/>
            </a:xfrm>
            <a:prstGeom prst="line">
              <a:avLst/>
            </a:prstGeom>
            <a:ln w="12700" cap="flat" cmpd="sng">
              <a:solidFill>
                <a:schemeClr val="tx1"/>
              </a:solidFill>
              <a:prstDash val="lgDash"/>
              <a:headEnd type="none" w="med" len="med"/>
              <a:tailEnd type="none" w="med" len="med"/>
            </a:ln>
          </p:spPr>
        </p:sp>
        <p:sp>
          <p:nvSpPr>
            <p:cNvPr id="112743" name="椭圆 112742"/>
            <p:cNvSpPr/>
            <p:nvPr/>
          </p:nvSpPr>
          <p:spPr>
            <a:xfrm>
              <a:off x="3792" y="1632"/>
              <a:ext cx="96" cy="96"/>
            </a:xfrm>
            <a:prstGeom prst="ellipse">
              <a:avLst/>
            </a:prstGeom>
            <a:noFill/>
            <a:ln w="28575" cap="flat" cmpd="sng">
              <a:solidFill>
                <a:schemeClr val="tx1"/>
              </a:solidFill>
              <a:prstDash val="solid"/>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112744" name="椭圆 112743"/>
            <p:cNvSpPr/>
            <p:nvPr/>
          </p:nvSpPr>
          <p:spPr>
            <a:xfrm>
              <a:off x="4080" y="1920"/>
              <a:ext cx="96" cy="96"/>
            </a:xfrm>
            <a:prstGeom prst="ellipse">
              <a:avLst/>
            </a:prstGeom>
            <a:noFill/>
            <a:ln w="28575" cap="flat" cmpd="sng">
              <a:solidFill>
                <a:schemeClr val="tx1"/>
              </a:solidFill>
              <a:prstDash val="solid"/>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112745" name="椭圆 112744"/>
            <p:cNvSpPr/>
            <p:nvPr/>
          </p:nvSpPr>
          <p:spPr>
            <a:xfrm>
              <a:off x="4080" y="1632"/>
              <a:ext cx="96" cy="96"/>
            </a:xfrm>
            <a:prstGeom prst="ellipse">
              <a:avLst/>
            </a:prstGeom>
            <a:noFill/>
            <a:ln w="28575" cap="flat" cmpd="sng">
              <a:solidFill>
                <a:schemeClr val="tx1"/>
              </a:solidFill>
              <a:prstDash val="solid"/>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112746" name="椭圆 112745"/>
            <p:cNvSpPr/>
            <p:nvPr/>
          </p:nvSpPr>
          <p:spPr>
            <a:xfrm>
              <a:off x="4992" y="1632"/>
              <a:ext cx="96" cy="96"/>
            </a:xfrm>
            <a:prstGeom prst="ellipse">
              <a:avLst/>
            </a:prstGeom>
            <a:noFill/>
            <a:ln w="28575" cap="flat" cmpd="sng">
              <a:solidFill>
                <a:schemeClr val="tx1"/>
              </a:solidFill>
              <a:prstDash val="solid"/>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112747" name="椭圆 112746"/>
            <p:cNvSpPr/>
            <p:nvPr/>
          </p:nvSpPr>
          <p:spPr>
            <a:xfrm>
              <a:off x="4992" y="1920"/>
              <a:ext cx="96" cy="96"/>
            </a:xfrm>
            <a:prstGeom prst="ellipse">
              <a:avLst/>
            </a:prstGeom>
            <a:noFill/>
            <a:ln w="28575" cap="flat" cmpd="sng">
              <a:solidFill>
                <a:schemeClr val="tx1"/>
              </a:solidFill>
              <a:prstDash val="solid"/>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112748" name="椭圆 112747"/>
            <p:cNvSpPr/>
            <p:nvPr/>
          </p:nvSpPr>
          <p:spPr>
            <a:xfrm>
              <a:off x="4992" y="2736"/>
              <a:ext cx="96" cy="96"/>
            </a:xfrm>
            <a:prstGeom prst="ellipse">
              <a:avLst/>
            </a:prstGeom>
            <a:noFill/>
            <a:ln w="28575" cap="flat" cmpd="sng">
              <a:solidFill>
                <a:schemeClr val="tx1"/>
              </a:solidFill>
              <a:prstDash val="solid"/>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112749" name="椭圆 112748"/>
            <p:cNvSpPr/>
            <p:nvPr/>
          </p:nvSpPr>
          <p:spPr>
            <a:xfrm>
              <a:off x="4080" y="2736"/>
              <a:ext cx="96" cy="96"/>
            </a:xfrm>
            <a:prstGeom prst="ellipse">
              <a:avLst/>
            </a:prstGeom>
            <a:noFill/>
            <a:ln w="28575" cap="flat" cmpd="sng">
              <a:solidFill>
                <a:schemeClr val="tx1"/>
              </a:solidFill>
              <a:prstDash val="solid"/>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112750" name="椭圆 112749"/>
            <p:cNvSpPr/>
            <p:nvPr/>
          </p:nvSpPr>
          <p:spPr>
            <a:xfrm>
              <a:off x="3792" y="1920"/>
              <a:ext cx="96" cy="96"/>
            </a:xfrm>
            <a:prstGeom prst="ellipse">
              <a:avLst/>
            </a:prstGeom>
            <a:noFill/>
            <a:ln w="28575" cap="flat" cmpd="sng">
              <a:solidFill>
                <a:schemeClr val="tx1"/>
              </a:solidFill>
              <a:prstDash val="solid"/>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112751" name="直接连接符 112750"/>
            <p:cNvSpPr/>
            <p:nvPr/>
          </p:nvSpPr>
          <p:spPr>
            <a:xfrm>
              <a:off x="3792" y="1968"/>
              <a:ext cx="1392" cy="0"/>
            </a:xfrm>
            <a:prstGeom prst="line">
              <a:avLst/>
            </a:prstGeom>
            <a:ln w="28575" cap="flat" cmpd="sng">
              <a:solidFill>
                <a:schemeClr val="tx1"/>
              </a:solidFill>
              <a:prstDash val="solid"/>
              <a:headEnd type="none" w="med" len="med"/>
              <a:tailEnd type="none" w="med" len="med"/>
            </a:ln>
          </p:spPr>
        </p:sp>
        <p:sp>
          <p:nvSpPr>
            <p:cNvPr id="112752" name="椭圆 112751"/>
            <p:cNvSpPr/>
            <p:nvPr/>
          </p:nvSpPr>
          <p:spPr>
            <a:xfrm>
              <a:off x="3792" y="2736"/>
              <a:ext cx="96" cy="96"/>
            </a:xfrm>
            <a:prstGeom prst="ellipse">
              <a:avLst/>
            </a:prstGeom>
            <a:noFill/>
            <a:ln w="28575" cap="flat" cmpd="sng">
              <a:solidFill>
                <a:schemeClr val="tx1"/>
              </a:solidFill>
              <a:prstDash val="solid"/>
              <a:headEnd type="none" w="med" len="med"/>
              <a:tailEnd type="none" w="med" len="med"/>
            </a:ln>
          </p:spPr>
          <p:txBody>
            <a:bodyPr/>
            <a:p>
              <a:endParaRPr lang="zh-CN" altLang="en-US" b="1">
                <a:latin typeface="Times New Roman" panose="02020603050405020304" charset="0"/>
                <a:ea typeface="楷体" panose="02010609060101010101" charset="-122"/>
                <a:cs typeface="Times New Roman" panose="02020603050405020304" charset="0"/>
              </a:endParaRPr>
            </a:p>
          </p:txBody>
        </p:sp>
        <p:sp>
          <p:nvSpPr>
            <p:cNvPr id="112753" name="文本框 112752"/>
            <p:cNvSpPr txBox="1"/>
            <p:nvPr/>
          </p:nvSpPr>
          <p:spPr>
            <a:xfrm>
              <a:off x="3840" y="1440"/>
              <a:ext cx="185" cy="226"/>
            </a:xfrm>
            <a:prstGeom prst="rect">
              <a:avLst/>
            </a:prstGeom>
            <a:noFill/>
            <a:ln w="28575">
              <a:noFill/>
            </a:ln>
          </p:spPr>
          <p:txBody>
            <a:bodyPr wrap="none" lIns="90000" tIns="46800" rIns="90000" bIns="46800" anchor="t" anchorCtr="0">
              <a:spAutoFit/>
            </a:bodyPr>
            <a:p>
              <a:r>
                <a:rPr lang="en-US" altLang="zh-CN" b="1">
                  <a:latin typeface="Times New Roman" panose="02020603050405020304" charset="0"/>
                  <a:ea typeface="楷体" panose="02010609060101010101" charset="-122"/>
                  <a:cs typeface="Times New Roman" panose="02020603050405020304" charset="0"/>
                </a:rPr>
                <a:t>0</a:t>
              </a:r>
              <a:endParaRPr lang="en-US" altLang="zh-CN" b="1">
                <a:latin typeface="Times New Roman" panose="02020603050405020304" charset="0"/>
                <a:ea typeface="楷体" panose="02010609060101010101" charset="-122"/>
                <a:cs typeface="Times New Roman" panose="02020603050405020304" charset="0"/>
              </a:endParaRPr>
            </a:p>
          </p:txBody>
        </p:sp>
        <p:sp>
          <p:nvSpPr>
            <p:cNvPr id="112754" name="文本框 112753"/>
            <p:cNvSpPr txBox="1"/>
            <p:nvPr/>
          </p:nvSpPr>
          <p:spPr>
            <a:xfrm>
              <a:off x="3840" y="1774"/>
              <a:ext cx="185" cy="226"/>
            </a:xfrm>
            <a:prstGeom prst="rect">
              <a:avLst/>
            </a:prstGeom>
            <a:noFill/>
            <a:ln w="28575">
              <a:noFill/>
            </a:ln>
          </p:spPr>
          <p:txBody>
            <a:bodyPr wrap="none" lIns="90000" tIns="46800" rIns="90000" bIns="46800" anchor="t" anchorCtr="0">
              <a:spAutoFit/>
            </a:bodyPr>
            <a:p>
              <a:r>
                <a:rPr lang="en-US" altLang="zh-CN" b="1">
                  <a:latin typeface="Times New Roman" panose="02020603050405020304" charset="0"/>
                  <a:ea typeface="楷体" panose="02010609060101010101" charset="-122"/>
                  <a:cs typeface="Times New Roman" panose="02020603050405020304" charset="0"/>
                </a:rPr>
                <a:t>1</a:t>
              </a:r>
              <a:endParaRPr lang="en-US" altLang="zh-CN" b="1">
                <a:latin typeface="Times New Roman" panose="02020603050405020304" charset="0"/>
                <a:ea typeface="楷体" panose="02010609060101010101" charset="-122"/>
                <a:cs typeface="Times New Roman" panose="02020603050405020304" charset="0"/>
              </a:endParaRPr>
            </a:p>
          </p:txBody>
        </p:sp>
        <p:sp>
          <p:nvSpPr>
            <p:cNvPr id="112755" name="文本框 112754"/>
            <p:cNvSpPr txBox="1"/>
            <p:nvPr/>
          </p:nvSpPr>
          <p:spPr>
            <a:xfrm>
              <a:off x="3840" y="2592"/>
              <a:ext cx="257" cy="226"/>
            </a:xfrm>
            <a:prstGeom prst="rect">
              <a:avLst/>
            </a:prstGeom>
            <a:noFill/>
            <a:ln w="28575">
              <a:noFill/>
            </a:ln>
          </p:spPr>
          <p:txBody>
            <a:bodyPr wrap="none" lIns="90000" tIns="46800" rIns="90000" bIns="46800" anchor="t" anchorCtr="0">
              <a:spAutoFit/>
            </a:bodyPr>
            <a:p>
              <a:r>
                <a:rPr lang="en-US" altLang="zh-CN" b="1">
                  <a:latin typeface="Times New Roman" panose="02020603050405020304" charset="0"/>
                  <a:ea typeface="楷体" panose="02010609060101010101" charset="-122"/>
                  <a:cs typeface="Times New Roman" panose="02020603050405020304" charset="0"/>
                </a:rPr>
                <a:t>15</a:t>
              </a:r>
              <a:endParaRPr lang="en-US" altLang="zh-CN" b="1">
                <a:latin typeface="Times New Roman" panose="02020603050405020304" charset="0"/>
                <a:ea typeface="楷体" panose="02010609060101010101" charset="-122"/>
                <a:cs typeface="Times New Roman" panose="02020603050405020304" charset="0"/>
              </a:endParaRPr>
            </a:p>
          </p:txBody>
        </p:sp>
        <p:sp>
          <p:nvSpPr>
            <p:cNvPr id="112756" name="文本框 112755"/>
            <p:cNvSpPr txBox="1"/>
            <p:nvPr/>
          </p:nvSpPr>
          <p:spPr>
            <a:xfrm>
              <a:off x="4128" y="1440"/>
              <a:ext cx="257" cy="226"/>
            </a:xfrm>
            <a:prstGeom prst="rect">
              <a:avLst/>
            </a:prstGeom>
            <a:noFill/>
            <a:ln w="28575">
              <a:noFill/>
            </a:ln>
          </p:spPr>
          <p:txBody>
            <a:bodyPr wrap="none" lIns="90000" tIns="46800" rIns="90000" bIns="46800" anchor="t" anchorCtr="0">
              <a:spAutoFit/>
            </a:bodyPr>
            <a:p>
              <a:r>
                <a:rPr lang="en-US" altLang="zh-CN" b="1">
                  <a:latin typeface="Times New Roman" panose="02020603050405020304" charset="0"/>
                  <a:ea typeface="楷体" panose="02010609060101010101" charset="-122"/>
                  <a:cs typeface="Times New Roman" panose="02020603050405020304" charset="0"/>
                </a:rPr>
                <a:t>16</a:t>
              </a:r>
              <a:endParaRPr lang="en-US" altLang="zh-CN" b="1">
                <a:latin typeface="Times New Roman" panose="02020603050405020304" charset="0"/>
                <a:ea typeface="楷体" panose="02010609060101010101" charset="-122"/>
                <a:cs typeface="Times New Roman" panose="02020603050405020304" charset="0"/>
              </a:endParaRPr>
            </a:p>
          </p:txBody>
        </p:sp>
        <p:sp>
          <p:nvSpPr>
            <p:cNvPr id="112757" name="文本框 112756"/>
            <p:cNvSpPr txBox="1"/>
            <p:nvPr/>
          </p:nvSpPr>
          <p:spPr>
            <a:xfrm>
              <a:off x="4128" y="1728"/>
              <a:ext cx="257" cy="226"/>
            </a:xfrm>
            <a:prstGeom prst="rect">
              <a:avLst/>
            </a:prstGeom>
            <a:noFill/>
            <a:ln w="28575">
              <a:noFill/>
            </a:ln>
          </p:spPr>
          <p:txBody>
            <a:bodyPr wrap="none" lIns="90000" tIns="46800" rIns="90000" bIns="46800" anchor="t" anchorCtr="0">
              <a:spAutoFit/>
            </a:bodyPr>
            <a:p>
              <a:r>
                <a:rPr lang="en-US" altLang="zh-CN" b="1">
                  <a:latin typeface="Times New Roman" panose="02020603050405020304" charset="0"/>
                  <a:ea typeface="楷体" panose="02010609060101010101" charset="-122"/>
                  <a:cs typeface="Times New Roman" panose="02020603050405020304" charset="0"/>
                </a:rPr>
                <a:t>17</a:t>
              </a:r>
              <a:endParaRPr lang="en-US" altLang="zh-CN" b="1">
                <a:latin typeface="Times New Roman" panose="02020603050405020304" charset="0"/>
                <a:ea typeface="楷体" panose="02010609060101010101" charset="-122"/>
                <a:cs typeface="Times New Roman" panose="02020603050405020304" charset="0"/>
              </a:endParaRPr>
            </a:p>
          </p:txBody>
        </p:sp>
        <p:sp>
          <p:nvSpPr>
            <p:cNvPr id="112758" name="文本框 112757"/>
            <p:cNvSpPr txBox="1"/>
            <p:nvPr/>
          </p:nvSpPr>
          <p:spPr>
            <a:xfrm>
              <a:off x="4176" y="2544"/>
              <a:ext cx="257" cy="226"/>
            </a:xfrm>
            <a:prstGeom prst="rect">
              <a:avLst/>
            </a:prstGeom>
            <a:noFill/>
            <a:ln w="28575">
              <a:noFill/>
            </a:ln>
          </p:spPr>
          <p:txBody>
            <a:bodyPr wrap="none" lIns="90000" tIns="46800" rIns="90000" bIns="46800" anchor="t" anchorCtr="0">
              <a:spAutoFit/>
            </a:bodyPr>
            <a:p>
              <a:r>
                <a:rPr lang="en-US" altLang="zh-CN" b="1">
                  <a:latin typeface="Times New Roman" panose="02020603050405020304" charset="0"/>
                  <a:ea typeface="楷体" panose="02010609060101010101" charset="-122"/>
                  <a:cs typeface="Times New Roman" panose="02020603050405020304" charset="0"/>
                </a:rPr>
                <a:t>32</a:t>
              </a:r>
              <a:endParaRPr lang="en-US" altLang="zh-CN" b="1">
                <a:latin typeface="Times New Roman" panose="02020603050405020304" charset="0"/>
                <a:ea typeface="楷体" panose="02010609060101010101" charset="-122"/>
                <a:cs typeface="Times New Roman" panose="02020603050405020304" charset="0"/>
              </a:endParaRPr>
            </a:p>
          </p:txBody>
        </p:sp>
        <p:sp>
          <p:nvSpPr>
            <p:cNvPr id="112759" name="文本框 112758"/>
            <p:cNvSpPr txBox="1"/>
            <p:nvPr/>
          </p:nvSpPr>
          <p:spPr>
            <a:xfrm>
              <a:off x="5088" y="1440"/>
              <a:ext cx="257" cy="226"/>
            </a:xfrm>
            <a:prstGeom prst="rect">
              <a:avLst/>
            </a:prstGeom>
            <a:noFill/>
            <a:ln w="28575">
              <a:noFill/>
            </a:ln>
          </p:spPr>
          <p:txBody>
            <a:bodyPr wrap="none" lIns="90000" tIns="46800" rIns="90000" bIns="46800" anchor="t" anchorCtr="0">
              <a:spAutoFit/>
            </a:bodyPr>
            <a:p>
              <a:r>
                <a:rPr lang="en-US" altLang="zh-CN" b="1">
                  <a:latin typeface="Times New Roman" panose="02020603050405020304" charset="0"/>
                  <a:ea typeface="楷体" panose="02010609060101010101" charset="-122"/>
                  <a:cs typeface="Times New Roman" panose="02020603050405020304" charset="0"/>
                </a:rPr>
                <a:t>32</a:t>
              </a:r>
              <a:endParaRPr lang="en-US" altLang="zh-CN" b="1">
                <a:latin typeface="Times New Roman" panose="02020603050405020304" charset="0"/>
                <a:ea typeface="楷体" panose="02010609060101010101" charset="-122"/>
                <a:cs typeface="Times New Roman" panose="02020603050405020304" charset="0"/>
              </a:endParaRPr>
            </a:p>
          </p:txBody>
        </p:sp>
        <p:sp>
          <p:nvSpPr>
            <p:cNvPr id="112760" name="文本框 112759"/>
            <p:cNvSpPr txBox="1"/>
            <p:nvPr/>
          </p:nvSpPr>
          <p:spPr>
            <a:xfrm>
              <a:off x="5088" y="1728"/>
              <a:ext cx="329" cy="226"/>
            </a:xfrm>
            <a:prstGeom prst="rect">
              <a:avLst/>
            </a:prstGeom>
            <a:noFill/>
            <a:ln w="28575">
              <a:noFill/>
            </a:ln>
          </p:spPr>
          <p:txBody>
            <a:bodyPr wrap="none" lIns="90000" tIns="46800" rIns="90000" bIns="46800" anchor="t" anchorCtr="0">
              <a:spAutoFit/>
            </a:bodyPr>
            <a:p>
              <a:r>
                <a:rPr lang="en-US" altLang="zh-CN" b="1">
                  <a:latin typeface="Times New Roman" panose="02020603050405020304" charset="0"/>
                  <a:ea typeface="楷体" panose="02010609060101010101" charset="-122"/>
                  <a:cs typeface="Times New Roman" panose="02020603050405020304" charset="0"/>
                </a:rPr>
                <a:t>241</a:t>
              </a:r>
              <a:endParaRPr lang="en-US" altLang="zh-CN" b="1">
                <a:latin typeface="Times New Roman" panose="02020603050405020304" charset="0"/>
                <a:ea typeface="楷体" panose="02010609060101010101" charset="-122"/>
                <a:cs typeface="Times New Roman" panose="02020603050405020304" charset="0"/>
              </a:endParaRPr>
            </a:p>
          </p:txBody>
        </p:sp>
        <p:sp>
          <p:nvSpPr>
            <p:cNvPr id="112761" name="文本框 112760"/>
            <p:cNvSpPr txBox="1"/>
            <p:nvPr/>
          </p:nvSpPr>
          <p:spPr>
            <a:xfrm>
              <a:off x="5088" y="2544"/>
              <a:ext cx="329" cy="226"/>
            </a:xfrm>
            <a:prstGeom prst="rect">
              <a:avLst/>
            </a:prstGeom>
            <a:noFill/>
            <a:ln w="28575">
              <a:noFill/>
            </a:ln>
          </p:spPr>
          <p:txBody>
            <a:bodyPr wrap="none" lIns="90000" tIns="46800" rIns="90000" bIns="46800" anchor="t" anchorCtr="0">
              <a:spAutoFit/>
            </a:bodyPr>
            <a:p>
              <a:r>
                <a:rPr lang="en-US" altLang="zh-CN" b="1">
                  <a:latin typeface="Times New Roman" panose="02020603050405020304" charset="0"/>
                  <a:ea typeface="楷体" panose="02010609060101010101" charset="-122"/>
                  <a:cs typeface="Times New Roman" panose="02020603050405020304" charset="0"/>
                </a:rPr>
                <a:t>255</a:t>
              </a:r>
              <a:endParaRPr lang="en-US" altLang="zh-CN" b="1">
                <a:latin typeface="Times New Roman" panose="02020603050405020304" charset="0"/>
                <a:ea typeface="楷体" panose="02010609060101010101" charset="-122"/>
                <a:cs typeface="Times New Roman" panose="02020603050405020304" charset="0"/>
              </a:endParaRPr>
            </a:p>
          </p:txBody>
        </p:sp>
      </p:grpSp>
      <p:sp>
        <p:nvSpPr>
          <p:cNvPr id="112762" name="文本框 112761"/>
          <p:cNvSpPr txBox="1"/>
          <p:nvPr/>
        </p:nvSpPr>
        <p:spPr>
          <a:xfrm>
            <a:off x="911225" y="6308725"/>
            <a:ext cx="2147888" cy="461645"/>
          </a:xfrm>
          <a:prstGeom prst="rect">
            <a:avLst/>
          </a:prstGeom>
          <a:noFill/>
          <a:ln w="28575">
            <a:noFill/>
          </a:ln>
        </p:spPr>
        <p:txBody>
          <a:bodyPr lIns="90000" tIns="46800" rIns="90000" bIns="46800">
            <a:spAutoFit/>
          </a:bodyPr>
          <a:p>
            <a:r>
              <a:rPr lang="en-US" altLang="zh-CN" sz="2400" b="1">
                <a:solidFill>
                  <a:srgbClr val="CC0000"/>
                </a:solidFill>
                <a:latin typeface="Times New Roman" panose="02020603050405020304" charset="0"/>
                <a:ea typeface="楷体" panose="02010609060101010101" charset="-122"/>
                <a:cs typeface="Times New Roman" panose="02020603050405020304" charset="0"/>
              </a:rPr>
              <a:t>256</a:t>
            </a:r>
            <a:r>
              <a:rPr lang="zh-CN" altLang="en-US" sz="2400" b="1" dirty="0">
                <a:solidFill>
                  <a:srgbClr val="CC0000"/>
                </a:solidFill>
                <a:latin typeface="Times New Roman" panose="02020603050405020304" charset="0"/>
                <a:ea typeface="楷体" panose="02010609060101010101" charset="-122"/>
                <a:cs typeface="Times New Roman" panose="02020603050405020304" charset="0"/>
              </a:rPr>
              <a:t>根选择线</a:t>
            </a:r>
            <a:endParaRPr lang="zh-CN" altLang="en-US" sz="2400" b="1">
              <a:solidFill>
                <a:srgbClr val="CC0000"/>
              </a:solidFill>
              <a:latin typeface="Times New Roman" panose="02020603050405020304" charset="0"/>
              <a:ea typeface="楷体" panose="02010609060101010101" charset="-122"/>
              <a:cs typeface="Times New Roman" panose="02020603050405020304" charset="0"/>
            </a:endParaRPr>
          </a:p>
        </p:txBody>
      </p:sp>
      <p:sp>
        <p:nvSpPr>
          <p:cNvPr id="112763" name="文本框 112762"/>
          <p:cNvSpPr txBox="1"/>
          <p:nvPr/>
        </p:nvSpPr>
        <p:spPr>
          <a:xfrm>
            <a:off x="3779838" y="5516563"/>
            <a:ext cx="2736850" cy="831215"/>
          </a:xfrm>
          <a:prstGeom prst="rect">
            <a:avLst/>
          </a:prstGeom>
          <a:noFill/>
          <a:ln w="28575">
            <a:noFill/>
          </a:ln>
        </p:spPr>
        <p:txBody>
          <a:bodyPr lIns="90000" tIns="46800" rIns="90000" bIns="46800">
            <a:spAutoFit/>
          </a:bodyPr>
          <a:p>
            <a:r>
              <a:rPr lang="en-US" altLang="zh-CN" sz="2400" b="1">
                <a:solidFill>
                  <a:srgbClr val="CC0000"/>
                </a:solidFill>
                <a:latin typeface="Times New Roman" panose="02020603050405020304" charset="0"/>
                <a:ea typeface="楷体" panose="02010609060101010101" charset="-122"/>
                <a:cs typeface="Times New Roman" panose="02020603050405020304" charset="0"/>
              </a:rPr>
              <a:t>16</a:t>
            </a:r>
            <a:r>
              <a:rPr lang="zh-CN" altLang="en-US" sz="2400" b="1" dirty="0">
                <a:solidFill>
                  <a:srgbClr val="CC0000"/>
                </a:solidFill>
                <a:latin typeface="Times New Roman" panose="02020603050405020304" charset="0"/>
                <a:ea typeface="楷体" panose="02010609060101010101" charset="-122"/>
                <a:cs typeface="Times New Roman" panose="02020603050405020304" charset="0"/>
              </a:rPr>
              <a:t>根行选择线</a:t>
            </a:r>
            <a:endParaRPr lang="zh-CN" altLang="en-US" sz="2400" b="1" dirty="0">
              <a:solidFill>
                <a:srgbClr val="CC0000"/>
              </a:solidFill>
              <a:latin typeface="Times New Roman" panose="02020603050405020304" charset="0"/>
              <a:ea typeface="楷体" panose="02010609060101010101" charset="-122"/>
              <a:cs typeface="Times New Roman" panose="02020603050405020304" charset="0"/>
            </a:endParaRPr>
          </a:p>
          <a:p>
            <a:r>
              <a:rPr lang="en-US" altLang="zh-CN" sz="2400" b="1">
                <a:solidFill>
                  <a:srgbClr val="CC0000"/>
                </a:solidFill>
                <a:latin typeface="Times New Roman" panose="02020603050405020304" charset="0"/>
                <a:ea typeface="楷体" panose="02010609060101010101" charset="-122"/>
                <a:cs typeface="Times New Roman" panose="02020603050405020304" charset="0"/>
              </a:rPr>
              <a:t>16</a:t>
            </a:r>
            <a:r>
              <a:rPr lang="zh-CN" altLang="en-US" sz="2400" b="1" dirty="0">
                <a:solidFill>
                  <a:srgbClr val="CC0000"/>
                </a:solidFill>
                <a:latin typeface="Times New Roman" panose="02020603050405020304" charset="0"/>
                <a:ea typeface="楷体" panose="02010609060101010101" charset="-122"/>
                <a:cs typeface="Times New Roman" panose="02020603050405020304" charset="0"/>
              </a:rPr>
              <a:t>根列选择线</a:t>
            </a:r>
            <a:endParaRPr lang="zh-CN" altLang="en-US" sz="2400" b="1">
              <a:solidFill>
                <a:srgbClr val="CC0000"/>
              </a:solidFill>
              <a:latin typeface="Times New Roman" panose="02020603050405020304" charset="0"/>
              <a:ea typeface="楷体" panose="02010609060101010101" charset="-122"/>
              <a:cs typeface="Times New Roman" panose="02020603050405020304" charset="0"/>
            </a:endParaRPr>
          </a:p>
        </p:txBody>
      </p:sp>
      <p:sp>
        <p:nvSpPr>
          <p:cNvPr id="112764" name="文本框 112763"/>
          <p:cNvSpPr txBox="1"/>
          <p:nvPr/>
        </p:nvSpPr>
        <p:spPr>
          <a:xfrm>
            <a:off x="3635375" y="5013325"/>
            <a:ext cx="2232025" cy="461645"/>
          </a:xfrm>
          <a:prstGeom prst="rect">
            <a:avLst/>
          </a:prstGeom>
          <a:noFill/>
          <a:ln w="28575">
            <a:noFill/>
          </a:ln>
        </p:spPr>
        <p:txBody>
          <a:bodyPr lIns="90000" tIns="46800" rIns="90000" bIns="46800">
            <a:spAutoFit/>
          </a:bodyPr>
          <a:p>
            <a:pPr algn="ctr"/>
            <a:r>
              <a:rPr lang="zh-CN" altLang="en-US" sz="2400" b="1" dirty="0">
                <a:solidFill>
                  <a:srgbClr val="0000CC"/>
                </a:solidFill>
                <a:latin typeface="Times New Roman" panose="02020603050405020304" charset="0"/>
                <a:ea typeface="楷体" panose="02010609060101010101" charset="-122"/>
              </a:rPr>
              <a:t>双译码方式</a:t>
            </a:r>
            <a:endParaRPr lang="zh-CN" altLang="en-US" sz="2400" b="1" dirty="0">
              <a:solidFill>
                <a:srgbClr val="0000CC"/>
              </a:solidFill>
              <a:latin typeface="Times New Roman" panose="02020603050405020304" charset="0"/>
              <a:ea typeface="楷体" panose="02010609060101010101" charset="-122"/>
            </a:endParaRPr>
          </a:p>
        </p:txBody>
      </p:sp>
      <p:sp>
        <p:nvSpPr>
          <p:cNvPr id="112766" name="圆角矩形标注 112765" descr="羊皮纸"/>
          <p:cNvSpPr/>
          <p:nvPr/>
        </p:nvSpPr>
        <p:spPr>
          <a:xfrm>
            <a:off x="611188" y="1268413"/>
            <a:ext cx="2160587" cy="503237"/>
          </a:xfrm>
          <a:prstGeom prst="wedgeRoundRectCallout">
            <a:avLst>
              <a:gd name="adj1" fmla="val -43755"/>
              <a:gd name="adj2" fmla="val 190380"/>
              <a:gd name="adj3" fmla="val 16667"/>
            </a:avLst>
          </a:prstGeom>
          <a:blipFill rotWithShape="1">
            <a:blip r:embed="rId1"/>
          </a:blipFill>
          <a:ln w="28575" cap="flat" cmpd="sng">
            <a:solidFill>
              <a:srgbClr val="CC0000"/>
            </a:solidFill>
            <a:prstDash val="solid"/>
            <a:miter/>
            <a:headEnd type="none" w="med" len="med"/>
            <a:tailEnd type="none" w="med" len="med"/>
          </a:ln>
        </p:spPr>
        <p:txBody>
          <a:bodyPr lIns="90000" tIns="46800" rIns="90000" bIns="46800"/>
          <a:p>
            <a:pPr algn="ctr"/>
            <a:r>
              <a:rPr lang="zh-CN" altLang="en-US" sz="2400" b="1" dirty="0">
                <a:solidFill>
                  <a:srgbClr val="800000"/>
                </a:solidFill>
                <a:latin typeface="Times New Roman" panose="02020603050405020304" charset="0"/>
                <a:ea typeface="楷体" panose="02010609060101010101" charset="-122"/>
              </a:rPr>
              <a:t>八位地址线</a:t>
            </a:r>
            <a:endParaRPr lang="zh-CN" altLang="en-US" sz="2400" b="1" dirty="0">
              <a:solidFill>
                <a:srgbClr val="800000"/>
              </a:solidFill>
              <a:latin typeface="Times New Roman" panose="02020603050405020304" charset="0"/>
              <a:ea typeface="楷体" panose="02010609060101010101" charset="-122"/>
            </a:endParaRPr>
          </a:p>
        </p:txBody>
      </p:sp>
      <p:sp>
        <p:nvSpPr>
          <p:cNvPr id="112767" name="文本框 112766"/>
          <p:cNvSpPr txBox="1"/>
          <p:nvPr/>
        </p:nvSpPr>
        <p:spPr>
          <a:xfrm>
            <a:off x="755650" y="5876925"/>
            <a:ext cx="2232025" cy="461645"/>
          </a:xfrm>
          <a:prstGeom prst="rect">
            <a:avLst/>
          </a:prstGeom>
          <a:noFill/>
          <a:ln w="28575">
            <a:noFill/>
          </a:ln>
        </p:spPr>
        <p:txBody>
          <a:bodyPr lIns="90000" tIns="46800" rIns="90000" bIns="46800">
            <a:spAutoFit/>
          </a:bodyPr>
          <a:p>
            <a:pPr algn="ctr"/>
            <a:r>
              <a:rPr lang="zh-CN" altLang="en-US" sz="2400" b="1" dirty="0">
                <a:solidFill>
                  <a:srgbClr val="0000CC"/>
                </a:solidFill>
                <a:latin typeface="Times New Roman" panose="02020603050405020304" charset="0"/>
                <a:ea typeface="楷体" panose="02010609060101010101" charset="-122"/>
              </a:rPr>
              <a:t>单译码方式</a:t>
            </a:r>
            <a:endParaRPr lang="zh-CN" altLang="en-US" sz="2400" b="1" dirty="0">
              <a:solidFill>
                <a:srgbClr val="0000CC"/>
              </a:solidFill>
              <a:latin typeface="Times New Roman" panose="02020603050405020304" charset="0"/>
              <a:ea typeface="楷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767"/>
                                        </p:tgtEl>
                                        <p:attrNameLst>
                                          <p:attrName>style.visibility</p:attrName>
                                        </p:attrNameLst>
                                      </p:cBhvr>
                                      <p:to>
                                        <p:strVal val="visible"/>
                                      </p:to>
                                    </p:set>
                                    <p:animEffect transition="in" filter="blinds(horizontal)">
                                      <p:cBhvr>
                                        <p:cTn id="7" dur="500"/>
                                        <p:tgtEl>
                                          <p:spTgt spid="11276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12683"/>
                                        </p:tgtEl>
                                        <p:attrNameLst>
                                          <p:attrName>style.visibility</p:attrName>
                                        </p:attrNameLst>
                                      </p:cBhvr>
                                      <p:to>
                                        <p:strVal val="visible"/>
                                      </p:to>
                                    </p:set>
                                    <p:animEffect transition="in" filter="strips(downLeft)">
                                      <p:cBhvr>
                                        <p:cTn id="12" dur="500"/>
                                        <p:tgtEl>
                                          <p:spTgt spid="11268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112766"/>
                                        </p:tgtEl>
                                        <p:attrNameLst>
                                          <p:attrName>style.visibility</p:attrName>
                                        </p:attrNameLst>
                                      </p:cBhvr>
                                      <p:to>
                                        <p:strVal val="visible"/>
                                      </p:to>
                                    </p:set>
                                    <p:animEffect transition="in" filter="strips(downLeft)">
                                      <p:cBhvr>
                                        <p:cTn id="17" dur="500"/>
                                        <p:tgtEl>
                                          <p:spTgt spid="112766"/>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112762"/>
                                        </p:tgtEl>
                                        <p:attrNameLst>
                                          <p:attrName>style.visibility</p:attrName>
                                        </p:attrNameLst>
                                      </p:cBhvr>
                                      <p:to>
                                        <p:strVal val="visible"/>
                                      </p:to>
                                    </p:set>
                                    <p:animEffect transition="in" filter="wipe(up)">
                                      <p:cBhvr>
                                        <p:cTn id="21" dur="500"/>
                                        <p:tgtEl>
                                          <p:spTgt spid="112762"/>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12764"/>
                                        </p:tgtEl>
                                        <p:attrNameLst>
                                          <p:attrName>style.visibility</p:attrName>
                                        </p:attrNameLst>
                                      </p:cBhvr>
                                      <p:to>
                                        <p:strVal val="visible"/>
                                      </p:to>
                                    </p:set>
                                    <p:animEffect transition="in" filter="blinds(horizontal)">
                                      <p:cBhvr>
                                        <p:cTn id="26" dur="500"/>
                                        <p:tgtEl>
                                          <p:spTgt spid="11276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12729"/>
                                        </p:tgtEl>
                                        <p:attrNameLst>
                                          <p:attrName>style.visibility</p:attrName>
                                        </p:attrNameLst>
                                      </p:cBhvr>
                                      <p:to>
                                        <p:strVal val="visible"/>
                                      </p:to>
                                    </p:set>
                                    <p:animEffect transition="in" filter="wipe(up)">
                                      <p:cBhvr>
                                        <p:cTn id="31" dur="500"/>
                                        <p:tgtEl>
                                          <p:spTgt spid="112729"/>
                                        </p:tgtEl>
                                      </p:cBhvr>
                                    </p:animEffect>
                                  </p:childTnLst>
                                </p:cTn>
                              </p:par>
                            </p:childTnLst>
                          </p:cTn>
                        </p:par>
                        <p:par>
                          <p:cTn id="32" fill="hold">
                            <p:stCondLst>
                              <p:cond delay="500"/>
                            </p:stCondLst>
                            <p:childTnLst>
                              <p:par>
                                <p:cTn id="33" presetID="22" presetClass="entr" presetSubtype="1" fill="hold" nodeType="afterEffect">
                                  <p:stCondLst>
                                    <p:cond delay="0"/>
                                  </p:stCondLst>
                                  <p:childTnLst>
                                    <p:set>
                                      <p:cBhvr>
                                        <p:cTn id="34" dur="1" fill="hold">
                                          <p:stCondLst>
                                            <p:cond delay="0"/>
                                          </p:stCondLst>
                                        </p:cTn>
                                        <p:tgtEl>
                                          <p:spTgt spid="112645"/>
                                        </p:tgtEl>
                                        <p:attrNameLst>
                                          <p:attrName>style.visibility</p:attrName>
                                        </p:attrNameLst>
                                      </p:cBhvr>
                                      <p:to>
                                        <p:strVal val="visible"/>
                                      </p:to>
                                    </p:set>
                                    <p:animEffect transition="in" filter="wipe(up)">
                                      <p:cBhvr>
                                        <p:cTn id="35" dur="500"/>
                                        <p:tgtEl>
                                          <p:spTgt spid="112645"/>
                                        </p:tgtEl>
                                      </p:cBhvr>
                                    </p:animEffect>
                                  </p:childTnLst>
                                </p:cTn>
                              </p:par>
                            </p:childTnLst>
                          </p:cTn>
                        </p:par>
                        <p:par>
                          <p:cTn id="36" fill="hold">
                            <p:stCondLst>
                              <p:cond delay="1000"/>
                            </p:stCondLst>
                            <p:childTnLst>
                              <p:par>
                                <p:cTn id="37" presetID="22" presetClass="entr" presetSubtype="1" fill="hold" nodeType="afterEffect">
                                  <p:stCondLst>
                                    <p:cond delay="0"/>
                                  </p:stCondLst>
                                  <p:childTnLst>
                                    <p:set>
                                      <p:cBhvr>
                                        <p:cTn id="38" dur="1" fill="hold">
                                          <p:stCondLst>
                                            <p:cond delay="0"/>
                                          </p:stCondLst>
                                        </p:cTn>
                                        <p:tgtEl>
                                          <p:spTgt spid="112667"/>
                                        </p:tgtEl>
                                        <p:attrNameLst>
                                          <p:attrName>style.visibility</p:attrName>
                                        </p:attrNameLst>
                                      </p:cBhvr>
                                      <p:to>
                                        <p:strVal val="visible"/>
                                      </p:to>
                                    </p:set>
                                    <p:animEffect transition="in" filter="wipe(up)">
                                      <p:cBhvr>
                                        <p:cTn id="39" dur="500"/>
                                        <p:tgtEl>
                                          <p:spTgt spid="11266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112763"/>
                                        </p:tgtEl>
                                        <p:attrNameLst>
                                          <p:attrName>style.visibility</p:attrName>
                                        </p:attrNameLst>
                                      </p:cBhvr>
                                      <p:to>
                                        <p:strVal val="visible"/>
                                      </p:to>
                                    </p:set>
                                    <p:animEffect transition="in" filter="wipe(up)">
                                      <p:cBhvr>
                                        <p:cTn id="44" dur="500"/>
                                        <p:tgtEl>
                                          <p:spTgt spid="1127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62" grpId="0"/>
      <p:bldP spid="112763" grpId="0"/>
      <p:bldP spid="112764" grpId="0"/>
      <p:bldP spid="112766" grpId="0" bldLvl="0" animBg="1"/>
      <p:bldP spid="11276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 name="文本框 85"/>
          <p:cNvSpPr txBox="1"/>
          <p:nvPr/>
        </p:nvSpPr>
        <p:spPr>
          <a:xfrm>
            <a:off x="0" y="5944235"/>
            <a:ext cx="9162000"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pic>
        <p:nvPicPr>
          <p:cNvPr id="4" name="图片 3"/>
          <p:cNvPicPr>
            <a:picLocks noChangeAspect="1"/>
          </p:cNvPicPr>
          <p:nvPr/>
        </p:nvPicPr>
        <p:blipFill>
          <a:blip r:embed="rId1"/>
          <a:stretch>
            <a:fillRect/>
          </a:stretch>
        </p:blipFill>
        <p:spPr>
          <a:xfrm>
            <a:off x="381000" y="2438400"/>
            <a:ext cx="4173855" cy="4231640"/>
          </a:xfrm>
          <a:prstGeom prst="rect">
            <a:avLst/>
          </a:prstGeom>
        </p:spPr>
      </p:pic>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7588" name="矩形 67587"/>
          <p:cNvSpPr/>
          <p:nvPr/>
        </p:nvSpPr>
        <p:spPr>
          <a:xfrm>
            <a:off x="990283" y="1143000"/>
            <a:ext cx="7848600" cy="539750"/>
          </a:xfrm>
          <a:prstGeom prst="rect">
            <a:avLst/>
          </a:prstGeom>
          <a:noFill/>
          <a:ln w="9525">
            <a:noFill/>
          </a:ln>
        </p:spPr>
        <p:txBody>
          <a:bodyPr anchor="ctr" anchorCtr="0"/>
          <a:lstStyle>
            <a:lvl1pPr marL="0" lvl="0" indent="0" algn="l" defTabSz="914400" rtl="0" eaLnBrk="1" fontAlgn="base" latinLnBrk="0" hangingPunct="1">
              <a:lnSpc>
                <a:spcPct val="100000"/>
              </a:lnSpc>
              <a:spcBef>
                <a:spcPct val="0"/>
              </a:spcBef>
              <a:spcAft>
                <a:spcPct val="0"/>
              </a:spcAft>
              <a:buNone/>
              <a:defRPr sz="4400" u="none" kern="1200" baseline="0">
                <a:solidFill>
                  <a:schemeClr val="tx1"/>
                </a:solidFill>
                <a:latin typeface="Arial" panose="020B0604020202020204" pitchFamily="34" charset="0"/>
                <a:ea typeface="宋体" panose="02010600030101010101" pitchFamily="2" charset="-122"/>
              </a:defRPr>
            </a:lvl1pPr>
          </a:lstStyle>
          <a:p>
            <a:pPr marL="609600" lvl="0" indent="-609600"/>
            <a:r>
              <a:rPr lang="en-US" sz="2400" b="1">
                <a:solidFill>
                  <a:srgbClr val="FE09D6"/>
                </a:solidFill>
                <a:latin typeface="Times New Roman" panose="02020603050405020304" charset="0"/>
                <a:ea typeface="楷体" panose="02010609060101010101" charset="-122"/>
                <a:cs typeface="Times New Roman" panose="02020603050405020304" charset="0"/>
              </a:rPr>
              <a:t>1.静态随机存储器SRAM</a:t>
            </a:r>
            <a:endParaRPr lang="en-US" sz="2400" b="1">
              <a:solidFill>
                <a:srgbClr val="FE09D6"/>
              </a:solidFill>
              <a:latin typeface="Times New Roman" panose="02020603050405020304" charset="0"/>
              <a:ea typeface="楷体" panose="02010609060101010101" charset="-122"/>
              <a:cs typeface="Times New Roman" panose="02020603050405020304" charset="0"/>
            </a:endParaRPr>
          </a:p>
        </p:txBody>
      </p:sp>
      <p:sp>
        <p:nvSpPr>
          <p:cNvPr id="3" name="灯片编号占位符 2"/>
          <p:cNvSpPr/>
          <p:nvPr>
            <p:ph type="sldNum" sz="quarter" idx="12"/>
          </p:nvPr>
        </p:nvSpPr>
        <p:spPr/>
        <p:txBody>
          <a:bodyPr/>
          <a:p>
            <a:pPr lvl="0"/>
            <a:fld id="{9A0DB2DC-4C9A-4742-B13C-FB6460FD3503}" type="slidenum">
              <a:rPr lang="zh-CN" altLang="en-US" b="1" dirty="0">
                <a:latin typeface="Times New Roman" panose="02020603050405020304" charset="0"/>
                <a:ea typeface="楷体" panose="02010609060101010101" charset="-122"/>
                <a:cs typeface="Times New Roman" panose="02020603050405020304" charset="0"/>
              </a:rPr>
            </a:fld>
            <a:endParaRPr lang="zh-CN" altLang="en-US" b="1" dirty="0">
              <a:latin typeface="Times New Roman" panose="02020603050405020304" charset="0"/>
              <a:ea typeface="楷体" panose="02010609060101010101" charset="-122"/>
              <a:cs typeface="Times New Roman" panose="02020603050405020304" charset="0"/>
            </a:endParaRPr>
          </a:p>
        </p:txBody>
      </p:sp>
      <p:sp>
        <p:nvSpPr>
          <p:cNvPr id="9219" name="文本框 9218"/>
          <p:cNvSpPr txBox="1"/>
          <p:nvPr/>
        </p:nvSpPr>
        <p:spPr>
          <a:xfrm>
            <a:off x="468313" y="1689100"/>
            <a:ext cx="3429000" cy="461645"/>
          </a:xfrm>
          <a:prstGeom prst="rect">
            <a:avLst/>
          </a:prstGeom>
          <a:noFill/>
          <a:ln w="28575">
            <a:noFill/>
          </a:ln>
        </p:spPr>
        <p:txBody>
          <a:bodyPr lIns="90000" tIns="46800" rIns="90000" bIns="46800">
            <a:spAutoFit/>
          </a:bodyPr>
          <a:p>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六管</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NMOS</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存储单元</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9326" name="文本框 9325"/>
          <p:cNvSpPr txBox="1"/>
          <p:nvPr/>
        </p:nvSpPr>
        <p:spPr>
          <a:xfrm>
            <a:off x="5148263" y="1412875"/>
            <a:ext cx="3384550" cy="1790065"/>
          </a:xfrm>
          <a:prstGeom prst="rect">
            <a:avLst/>
          </a:prstGeom>
          <a:noFill/>
          <a:ln w="28575">
            <a:noFill/>
          </a:ln>
        </p:spPr>
        <p:txBody>
          <a:bodyPr lIns="90000" tIns="46800" rIns="90000" bIns="46800">
            <a:spAutoFit/>
          </a:bodyPr>
          <a:p>
            <a:pPr>
              <a:lnSpc>
                <a:spcPct val="120000"/>
              </a:lnSpc>
            </a:pPr>
            <a:r>
              <a:rPr lang="en-US" altLang="zh-CN" sz="2300" b="1">
                <a:solidFill>
                  <a:srgbClr val="000066"/>
                </a:solidFill>
                <a:latin typeface="Times New Roman" panose="02020603050405020304" charset="0"/>
                <a:ea typeface="楷体" panose="02010609060101010101" charset="-122"/>
                <a:cs typeface="Times New Roman" panose="02020603050405020304" charset="0"/>
              </a:rPr>
              <a:t>T</a:t>
            </a:r>
            <a:r>
              <a:rPr lang="en-US" altLang="zh-CN" sz="2300" b="1" baseline="-22000">
                <a:solidFill>
                  <a:srgbClr val="000066"/>
                </a:solidFill>
                <a:latin typeface="Times New Roman" panose="02020603050405020304" charset="0"/>
                <a:ea typeface="楷体" panose="02010609060101010101" charset="-122"/>
                <a:cs typeface="Times New Roman" panose="02020603050405020304" charset="0"/>
              </a:rPr>
              <a:t>1</a:t>
            </a:r>
            <a:r>
              <a:rPr lang="zh-CN" altLang="en-US" sz="2300" b="1" dirty="0">
                <a:solidFill>
                  <a:srgbClr val="000066"/>
                </a:solidFill>
                <a:latin typeface="Times New Roman" panose="02020603050405020304" charset="0"/>
                <a:ea typeface="楷体" panose="02010609060101010101" charset="-122"/>
                <a:cs typeface="Times New Roman" panose="02020603050405020304" charset="0"/>
              </a:rPr>
              <a:t>与</a:t>
            </a:r>
            <a:r>
              <a:rPr lang="en-US" altLang="zh-CN" sz="2300" b="1">
                <a:solidFill>
                  <a:srgbClr val="000066"/>
                </a:solidFill>
                <a:latin typeface="Times New Roman" panose="02020603050405020304" charset="0"/>
                <a:ea typeface="楷体" panose="02010609060101010101" charset="-122"/>
                <a:cs typeface="Times New Roman" panose="02020603050405020304" charset="0"/>
              </a:rPr>
              <a:t>T</a:t>
            </a:r>
            <a:r>
              <a:rPr lang="en-US" altLang="zh-CN" sz="2300" b="1" baseline="-22000">
                <a:solidFill>
                  <a:srgbClr val="000066"/>
                </a:solidFill>
                <a:latin typeface="Times New Roman" panose="02020603050405020304" charset="0"/>
                <a:ea typeface="楷体" panose="02010609060101010101" charset="-122"/>
                <a:cs typeface="Times New Roman" panose="02020603050405020304" charset="0"/>
              </a:rPr>
              <a:t>3</a:t>
            </a:r>
            <a:r>
              <a:rPr lang="zh-CN" altLang="en-US" sz="2300" b="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300" b="1">
                <a:solidFill>
                  <a:srgbClr val="000066"/>
                </a:solidFill>
                <a:latin typeface="Times New Roman" panose="02020603050405020304" charset="0"/>
                <a:ea typeface="楷体" panose="02010609060101010101" charset="-122"/>
                <a:cs typeface="Times New Roman" panose="02020603050405020304" charset="0"/>
              </a:rPr>
              <a:t>T</a:t>
            </a:r>
            <a:r>
              <a:rPr lang="en-US" altLang="zh-CN" sz="2300" b="1" baseline="-22000">
                <a:solidFill>
                  <a:srgbClr val="000066"/>
                </a:solidFill>
                <a:latin typeface="Times New Roman" panose="02020603050405020304" charset="0"/>
                <a:ea typeface="楷体" panose="02010609060101010101" charset="-122"/>
                <a:cs typeface="Times New Roman" panose="02020603050405020304" charset="0"/>
              </a:rPr>
              <a:t>2</a:t>
            </a:r>
            <a:r>
              <a:rPr lang="zh-CN" altLang="en-US" sz="2300" b="1" dirty="0">
                <a:solidFill>
                  <a:srgbClr val="000066"/>
                </a:solidFill>
                <a:latin typeface="Times New Roman" panose="02020603050405020304" charset="0"/>
                <a:ea typeface="楷体" panose="02010609060101010101" charset="-122"/>
                <a:cs typeface="Times New Roman" panose="02020603050405020304" charset="0"/>
              </a:rPr>
              <a:t>与</a:t>
            </a:r>
            <a:r>
              <a:rPr lang="en-US" altLang="zh-CN" sz="2300" b="1">
                <a:solidFill>
                  <a:srgbClr val="000066"/>
                </a:solidFill>
                <a:latin typeface="Times New Roman" panose="02020603050405020304" charset="0"/>
                <a:ea typeface="楷体" panose="02010609060101010101" charset="-122"/>
                <a:cs typeface="Times New Roman" panose="02020603050405020304" charset="0"/>
              </a:rPr>
              <a:t>T</a:t>
            </a:r>
            <a:r>
              <a:rPr lang="en-US" altLang="zh-CN" sz="2300" b="1" baseline="-22000">
                <a:solidFill>
                  <a:srgbClr val="000066"/>
                </a:solidFill>
                <a:latin typeface="Times New Roman" panose="02020603050405020304" charset="0"/>
                <a:ea typeface="楷体" panose="02010609060101010101" charset="-122"/>
                <a:cs typeface="Times New Roman" panose="02020603050405020304" charset="0"/>
              </a:rPr>
              <a:t>4</a:t>
            </a:r>
            <a:r>
              <a:rPr lang="zh-CN" altLang="en-US" sz="2300" b="1" dirty="0">
                <a:solidFill>
                  <a:srgbClr val="000066"/>
                </a:solidFill>
                <a:latin typeface="Times New Roman" panose="02020603050405020304" charset="0"/>
                <a:ea typeface="楷体" panose="02010609060101010101" charset="-122"/>
                <a:cs typeface="Times New Roman" panose="02020603050405020304" charset="0"/>
              </a:rPr>
              <a:t>各构成一个</a:t>
            </a:r>
            <a:r>
              <a:rPr lang="en-US" altLang="zh-CN" sz="2300" b="1">
                <a:solidFill>
                  <a:srgbClr val="000066"/>
                </a:solidFill>
                <a:latin typeface="Times New Roman" panose="02020603050405020304" charset="0"/>
                <a:ea typeface="楷体" panose="02010609060101010101" charset="-122"/>
                <a:cs typeface="Times New Roman" panose="02020603050405020304" charset="0"/>
              </a:rPr>
              <a:t>NMOS</a:t>
            </a:r>
            <a:r>
              <a:rPr lang="zh-CN" altLang="en-US" sz="2300" b="1" dirty="0">
                <a:solidFill>
                  <a:srgbClr val="000066"/>
                </a:solidFill>
                <a:latin typeface="Times New Roman" panose="02020603050405020304" charset="0"/>
                <a:ea typeface="楷体" panose="02010609060101010101" charset="-122"/>
                <a:cs typeface="Times New Roman" panose="02020603050405020304" charset="0"/>
              </a:rPr>
              <a:t>反相器；</a:t>
            </a:r>
            <a:endParaRPr lang="zh-CN" altLang="en-US" sz="2300" b="1" dirty="0">
              <a:solidFill>
                <a:srgbClr val="000066"/>
              </a:solidFill>
              <a:latin typeface="Times New Roman" panose="02020603050405020304" charset="0"/>
              <a:ea typeface="楷体" panose="02010609060101010101" charset="-122"/>
              <a:cs typeface="Times New Roman" panose="02020603050405020304" charset="0"/>
            </a:endParaRPr>
          </a:p>
          <a:p>
            <a:pPr>
              <a:lnSpc>
                <a:spcPct val="120000"/>
              </a:lnSpc>
            </a:pPr>
            <a:r>
              <a:rPr lang="zh-CN" altLang="en-US" sz="2300" b="1" dirty="0">
                <a:solidFill>
                  <a:srgbClr val="000066"/>
                </a:solidFill>
                <a:latin typeface="Times New Roman" panose="02020603050405020304" charset="0"/>
                <a:ea typeface="楷体" panose="02010609060101010101" charset="-122"/>
                <a:cs typeface="Times New Roman" panose="02020603050405020304" charset="0"/>
              </a:rPr>
              <a:t>两个反相器交叉耦合，组成基本</a:t>
            </a:r>
            <a:r>
              <a:rPr lang="en-US" altLang="zh-CN" sz="2300" b="1">
                <a:solidFill>
                  <a:srgbClr val="000066"/>
                </a:solidFill>
                <a:latin typeface="Times New Roman" panose="02020603050405020304" charset="0"/>
                <a:ea typeface="楷体" panose="02010609060101010101" charset="-122"/>
                <a:cs typeface="Times New Roman" panose="02020603050405020304" charset="0"/>
              </a:rPr>
              <a:t>SR</a:t>
            </a:r>
            <a:r>
              <a:rPr lang="zh-CN" altLang="en-US" sz="2300" b="1" dirty="0">
                <a:solidFill>
                  <a:srgbClr val="000066"/>
                </a:solidFill>
                <a:latin typeface="Times New Roman" panose="02020603050405020304" charset="0"/>
                <a:ea typeface="楷体" panose="02010609060101010101" charset="-122"/>
                <a:cs typeface="Times New Roman" panose="02020603050405020304" charset="0"/>
              </a:rPr>
              <a:t>锁存器</a:t>
            </a:r>
            <a:endParaRPr lang="zh-CN" altLang="en-US" sz="23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9417" name="矩形 9416"/>
          <p:cNvSpPr/>
          <p:nvPr/>
        </p:nvSpPr>
        <p:spPr>
          <a:xfrm>
            <a:off x="5148263" y="4319588"/>
            <a:ext cx="3779837" cy="831215"/>
          </a:xfrm>
          <a:prstGeom prst="rect">
            <a:avLst/>
          </a:prstGeom>
          <a:noFill/>
          <a:ln w="28575">
            <a:noFill/>
          </a:ln>
        </p:spPr>
        <p:txBody>
          <a:bodyPr lIns="90000" tIns="46800" rIns="90000" bIns="46800">
            <a:spAutoFit/>
          </a:bodyPr>
          <a:p>
            <a:r>
              <a:rPr lang="en-US" altLang="zh-CN" sz="2400" b="1">
                <a:solidFill>
                  <a:srgbClr val="000066"/>
                </a:solidFill>
                <a:latin typeface="Times New Roman" panose="02020603050405020304" charset="0"/>
                <a:ea typeface="楷体" panose="02010609060101010101" charset="-122"/>
                <a:cs typeface="Times New Roman" panose="02020603050405020304" charset="0"/>
              </a:rPr>
              <a:t>T</a:t>
            </a:r>
            <a:r>
              <a:rPr lang="en-US" altLang="zh-CN" sz="2400" b="1" baseline="-22000">
                <a:solidFill>
                  <a:srgbClr val="000066"/>
                </a:solidFill>
                <a:latin typeface="Times New Roman" panose="02020603050405020304" charset="0"/>
                <a:ea typeface="楷体" panose="02010609060101010101" charset="-122"/>
                <a:cs typeface="Times New Roman" panose="02020603050405020304" charset="0"/>
              </a:rPr>
              <a:t>5</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T</a:t>
            </a:r>
            <a:r>
              <a:rPr lang="en-US" altLang="zh-CN" sz="2400" b="1" baseline="-22000">
                <a:solidFill>
                  <a:srgbClr val="000066"/>
                </a:solidFill>
                <a:latin typeface="Times New Roman" panose="02020603050405020304" charset="0"/>
                <a:ea typeface="楷体" panose="02010609060101010101" charset="-122"/>
                <a:cs typeface="Times New Roman" panose="02020603050405020304" charset="0"/>
              </a:rPr>
              <a:t>6</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：本单元控制门，由行选择线</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X</a:t>
            </a:r>
            <a:r>
              <a:rPr lang="en-US" altLang="zh-CN" sz="2400" b="1" baseline="-22000">
                <a:solidFill>
                  <a:srgbClr val="000066"/>
                </a:solidFill>
                <a:latin typeface="Times New Roman" panose="02020603050405020304" charset="0"/>
                <a:ea typeface="楷体" panose="02010609060101010101" charset="-122"/>
                <a:cs typeface="Times New Roman" panose="02020603050405020304" charset="0"/>
              </a:rPr>
              <a:t>i</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控制。</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9418" name="矩形 9417"/>
          <p:cNvSpPr/>
          <p:nvPr/>
        </p:nvSpPr>
        <p:spPr>
          <a:xfrm>
            <a:off x="5292725" y="5394325"/>
            <a:ext cx="3076575" cy="1200150"/>
          </a:xfrm>
          <a:prstGeom prst="rect">
            <a:avLst/>
          </a:prstGeom>
          <a:noFill/>
          <a:ln w="28575">
            <a:noFill/>
          </a:ln>
        </p:spPr>
        <p:txBody>
          <a:bodyPr lIns="90000" tIns="46800" rIns="90000" bIns="46800">
            <a:spAutoFit/>
          </a:bodyPr>
          <a:p>
            <a:r>
              <a:rPr lang="en-US" altLang="zh-CN" sz="2400" b="1">
                <a:solidFill>
                  <a:srgbClr val="000066"/>
                </a:solidFill>
                <a:latin typeface="Times New Roman" panose="02020603050405020304" charset="0"/>
                <a:ea typeface="楷体" panose="02010609060101010101" charset="-122"/>
                <a:cs typeface="Times New Roman" panose="02020603050405020304" charset="0"/>
              </a:rPr>
              <a:t>T</a:t>
            </a:r>
            <a:r>
              <a:rPr lang="en-US" altLang="zh-CN" sz="2400" b="1" baseline="-22000">
                <a:solidFill>
                  <a:srgbClr val="000066"/>
                </a:solidFill>
                <a:latin typeface="Times New Roman" panose="02020603050405020304" charset="0"/>
                <a:ea typeface="楷体" panose="02010609060101010101" charset="-122"/>
                <a:cs typeface="Times New Roman" panose="02020603050405020304" charset="0"/>
              </a:rPr>
              <a:t>7</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T</a:t>
            </a:r>
            <a:r>
              <a:rPr lang="en-US" altLang="zh-CN" sz="2400" b="1" baseline="-22000">
                <a:solidFill>
                  <a:srgbClr val="000066"/>
                </a:solidFill>
                <a:latin typeface="Times New Roman" panose="02020603050405020304" charset="0"/>
                <a:ea typeface="楷体" panose="02010609060101010101" charset="-122"/>
                <a:cs typeface="Times New Roman" panose="02020603050405020304" charset="0"/>
              </a:rPr>
              <a:t>8</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：一列存储单元公用的控制门，</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a:p>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由列选择线</a:t>
            </a:r>
            <a:r>
              <a:rPr lang="en-US" altLang="zh-CN" sz="2400" b="1" err="1">
                <a:solidFill>
                  <a:srgbClr val="000066"/>
                </a:solidFill>
                <a:latin typeface="Times New Roman" panose="02020603050405020304" charset="0"/>
                <a:ea typeface="楷体" panose="02010609060101010101" charset="-122"/>
                <a:cs typeface="Times New Roman" panose="02020603050405020304" charset="0"/>
              </a:rPr>
              <a:t>Y</a:t>
            </a:r>
            <a:r>
              <a:rPr lang="en-US" altLang="zh-CN" sz="2400" b="1" baseline="-22000" err="1">
                <a:solidFill>
                  <a:srgbClr val="000066"/>
                </a:solidFill>
                <a:latin typeface="Times New Roman" panose="02020603050405020304" charset="0"/>
                <a:ea typeface="楷体" panose="02010609060101010101" charset="-122"/>
                <a:cs typeface="Times New Roman" panose="02020603050405020304" charset="0"/>
              </a:rPr>
              <a:t>j</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控制。</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9528" name="圆角矩形标注 9527"/>
          <p:cNvSpPr/>
          <p:nvPr/>
        </p:nvSpPr>
        <p:spPr>
          <a:xfrm>
            <a:off x="3635375" y="1549400"/>
            <a:ext cx="1008063" cy="936625"/>
          </a:xfrm>
          <a:prstGeom prst="wedgeRoundRectCallout">
            <a:avLst>
              <a:gd name="adj1" fmla="val -158094"/>
              <a:gd name="adj2" fmla="val 130406"/>
              <a:gd name="adj3" fmla="val 16667"/>
            </a:avLst>
          </a:prstGeom>
          <a:noFill/>
          <a:ln w="28575" cap="flat" cmpd="sng">
            <a:solidFill>
              <a:srgbClr val="800000"/>
            </a:solidFill>
            <a:prstDash val="solid"/>
            <a:miter/>
            <a:headEnd type="none" w="med" len="med"/>
            <a:tailEnd type="none" w="med" len="med"/>
          </a:ln>
        </p:spPr>
        <p:txBody>
          <a:bodyPr lIns="90000" tIns="46800" rIns="90000" bIns="46800"/>
          <a:p>
            <a:pPr algn="ctr"/>
            <a:r>
              <a:rPr lang="zh-CN" altLang="en-US" sz="2400" b="1" dirty="0">
                <a:solidFill>
                  <a:srgbClr val="CC0000"/>
                </a:solidFill>
                <a:latin typeface="Times New Roman" panose="02020603050405020304" charset="0"/>
                <a:ea typeface="楷体" panose="02010609060101010101" charset="-122"/>
              </a:rPr>
              <a:t>存储单元</a:t>
            </a:r>
            <a:endParaRPr lang="zh-CN" altLang="en-US" sz="2400" b="1" dirty="0">
              <a:solidFill>
                <a:srgbClr val="CC0000"/>
              </a:solidFill>
              <a:latin typeface="Times New Roman" panose="02020603050405020304" charset="0"/>
              <a:ea typeface="楷体" panose="02010609060101010101" charset="-122"/>
            </a:endParaRPr>
          </a:p>
        </p:txBody>
      </p:sp>
      <p:grpSp>
        <p:nvGrpSpPr>
          <p:cNvPr id="9536" name="组合 9535"/>
          <p:cNvGrpSpPr/>
          <p:nvPr/>
        </p:nvGrpSpPr>
        <p:grpSpPr>
          <a:xfrm>
            <a:off x="5148263" y="3413125"/>
            <a:ext cx="3673475" cy="831850"/>
            <a:chOff x="3243" y="1706"/>
            <a:chExt cx="2314" cy="524"/>
          </a:xfrm>
        </p:grpSpPr>
        <p:sp>
          <p:nvSpPr>
            <p:cNvPr id="9534" name="矩形 9533"/>
            <p:cNvSpPr/>
            <p:nvPr/>
          </p:nvSpPr>
          <p:spPr>
            <a:xfrm>
              <a:off x="3243" y="1706"/>
              <a:ext cx="2314" cy="524"/>
            </a:xfrm>
            <a:prstGeom prst="rect">
              <a:avLst/>
            </a:prstGeom>
            <a:noFill/>
            <a:ln w="28575">
              <a:noFill/>
            </a:ln>
          </p:spPr>
          <p:txBody>
            <a:bodyPr lIns="90000" tIns="46800" rIns="90000" bIns="46800">
              <a:spAutoFit/>
            </a:bodyPr>
            <a:p>
              <a:r>
                <a:rPr lang="en-US" altLang="zh-CN" sz="2400" b="1">
                  <a:solidFill>
                    <a:srgbClr val="000066"/>
                  </a:solidFill>
                  <a:latin typeface="Times New Roman" panose="02020603050405020304" charset="0"/>
                  <a:ea typeface="楷体" panose="02010609060101010101" charset="-122"/>
                  <a:cs typeface="Times New Roman" panose="02020603050405020304" charset="0"/>
                </a:rPr>
                <a:t>D</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D</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：存储的一位二值数据。</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9535" name="直接连接符 9534"/>
            <p:cNvSpPr/>
            <p:nvPr/>
          </p:nvSpPr>
          <p:spPr>
            <a:xfrm>
              <a:off x="3696" y="1752"/>
              <a:ext cx="137" cy="0"/>
            </a:xfrm>
            <a:prstGeom prst="line">
              <a:avLst/>
            </a:prstGeom>
            <a:ln w="28575" cap="flat" cmpd="sng">
              <a:solidFill>
                <a:srgbClr val="000066"/>
              </a:solidFill>
              <a:prstDash val="solid"/>
              <a:headEnd type="none" w="med" len="med"/>
              <a:tailEnd type="none" w="med" len="med"/>
            </a:ln>
          </p:spPr>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19"/>
                                        </p:tgtEl>
                                        <p:attrNameLst>
                                          <p:attrName>style.visibility</p:attrName>
                                        </p:attrNameLst>
                                      </p:cBhvr>
                                      <p:to>
                                        <p:strVal val="visible"/>
                                      </p:to>
                                    </p:set>
                                    <p:animEffect transition="in" filter="blinds(horizontal)">
                                      <p:cBhvr>
                                        <p:cTn id="7" dur="500"/>
                                        <p:tgtEl>
                                          <p:spTgt spid="92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528"/>
                                        </p:tgtEl>
                                        <p:attrNameLst>
                                          <p:attrName>style.visibility</p:attrName>
                                        </p:attrNameLst>
                                      </p:cBhvr>
                                      <p:to>
                                        <p:strVal val="visible"/>
                                      </p:to>
                                    </p:set>
                                    <p:animEffect transition="in" filter="wipe(up)">
                                      <p:cBhvr>
                                        <p:cTn id="12" dur="500"/>
                                        <p:tgtEl>
                                          <p:spTgt spid="952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326"/>
                                        </p:tgtEl>
                                        <p:attrNameLst>
                                          <p:attrName>style.visibility</p:attrName>
                                        </p:attrNameLst>
                                      </p:cBhvr>
                                      <p:to>
                                        <p:strVal val="visible"/>
                                      </p:to>
                                    </p:set>
                                    <p:animEffect transition="in" filter="blinds(horizontal)">
                                      <p:cBhvr>
                                        <p:cTn id="17" dur="500"/>
                                        <p:tgtEl>
                                          <p:spTgt spid="932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536"/>
                                        </p:tgtEl>
                                        <p:attrNameLst>
                                          <p:attrName>style.visibility</p:attrName>
                                        </p:attrNameLst>
                                      </p:cBhvr>
                                      <p:to>
                                        <p:strVal val="visible"/>
                                      </p:to>
                                    </p:set>
                                    <p:animEffect transition="in" filter="blinds(horizontal)">
                                      <p:cBhvr>
                                        <p:cTn id="22" dur="500"/>
                                        <p:tgtEl>
                                          <p:spTgt spid="953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417"/>
                                        </p:tgtEl>
                                        <p:attrNameLst>
                                          <p:attrName>style.visibility</p:attrName>
                                        </p:attrNameLst>
                                      </p:cBhvr>
                                      <p:to>
                                        <p:strVal val="visible"/>
                                      </p:to>
                                    </p:set>
                                    <p:animEffect transition="in" filter="blinds(horizontal)">
                                      <p:cBhvr>
                                        <p:cTn id="27" dur="500"/>
                                        <p:tgtEl>
                                          <p:spTgt spid="941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9418"/>
                                        </p:tgtEl>
                                        <p:attrNameLst>
                                          <p:attrName>style.visibility</p:attrName>
                                        </p:attrNameLst>
                                      </p:cBhvr>
                                      <p:to>
                                        <p:strVal val="visible"/>
                                      </p:to>
                                    </p:set>
                                    <p:animEffect transition="in" filter="blinds(horizontal)">
                                      <p:cBhvr>
                                        <p:cTn id="32" dur="500"/>
                                        <p:tgtEl>
                                          <p:spTgt spid="9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p:bldP spid="9326" grpId="0"/>
      <p:bldP spid="9417" grpId="0"/>
      <p:bldP spid="9418" grpId="0"/>
      <p:bldP spid="9528"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449195" y="1447800"/>
            <a:ext cx="4173855" cy="4231640"/>
          </a:xfrm>
          <a:prstGeom prst="rect">
            <a:avLst/>
          </a:prstGeom>
        </p:spPr>
      </p:pic>
      <p:sp>
        <p:nvSpPr>
          <p:cNvPr id="86" name="文本框 85"/>
          <p:cNvSpPr txBox="1"/>
          <p:nvPr/>
        </p:nvSpPr>
        <p:spPr>
          <a:xfrm>
            <a:off x="0" y="5944235"/>
            <a:ext cx="9162000"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3" name="灯片编号占位符 2"/>
          <p:cNvSpPr/>
          <p:nvPr>
            <p:ph type="sldNum" sz="quarter" idx="12"/>
          </p:nvPr>
        </p:nvSpPr>
        <p:spPr/>
        <p:txBody>
          <a:bodyPr/>
          <a:p>
            <a:pPr lvl="0"/>
            <a:fld id="{9A0DB2DC-4C9A-4742-B13C-FB6460FD3503}" type="slidenum">
              <a:rPr lang="zh-CN" altLang="en-US" b="1" dirty="0">
                <a:latin typeface="Times New Roman" panose="02020603050405020304" charset="0"/>
                <a:ea typeface="楷体" panose="02010609060101010101" charset="-122"/>
                <a:cs typeface="Times New Roman" panose="02020603050405020304" charset="0"/>
              </a:rPr>
            </a:fld>
            <a:endParaRPr lang="zh-CN" altLang="en-US" b="1" dirty="0">
              <a:latin typeface="Times New Roman" panose="02020603050405020304" charset="0"/>
              <a:ea typeface="楷体" panose="02010609060101010101" charset="-122"/>
              <a:cs typeface="Times New Roman" panose="02020603050405020304" charset="0"/>
            </a:endParaRPr>
          </a:p>
        </p:txBody>
      </p:sp>
      <p:sp>
        <p:nvSpPr>
          <p:cNvPr id="10505" name="文本框 10504"/>
          <p:cNvSpPr txBox="1"/>
          <p:nvPr/>
        </p:nvSpPr>
        <p:spPr>
          <a:xfrm>
            <a:off x="696913" y="5749925"/>
            <a:ext cx="7924800" cy="904240"/>
          </a:xfrm>
          <a:prstGeom prst="rect">
            <a:avLst/>
          </a:prstGeom>
          <a:noFill/>
          <a:ln w="28575">
            <a:noFill/>
          </a:ln>
        </p:spPr>
        <p:txBody>
          <a:bodyPr lIns="90000" tIns="46800" rIns="90000" bIns="46800">
            <a:spAutoFit/>
          </a:bodyPr>
          <a:p>
            <a:pPr>
              <a:lnSpc>
                <a:spcPct val="110000"/>
              </a:lnSpc>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显然，只有</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X,Y</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选择线都是高电平，内部输入、输出才和外部数据线连接，也就是该存储单元被选中。</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grpSp>
        <p:nvGrpSpPr>
          <p:cNvPr id="10753" name="组合 10752"/>
          <p:cNvGrpSpPr/>
          <p:nvPr/>
        </p:nvGrpSpPr>
        <p:grpSpPr>
          <a:xfrm>
            <a:off x="3009265" y="2994025"/>
            <a:ext cx="2587625" cy="2057400"/>
            <a:chOff x="385" y="1162"/>
            <a:chExt cx="2439" cy="1296"/>
          </a:xfrm>
        </p:grpSpPr>
        <p:grpSp>
          <p:nvGrpSpPr>
            <p:cNvPr id="10521" name="组合 10520"/>
            <p:cNvGrpSpPr/>
            <p:nvPr/>
          </p:nvGrpSpPr>
          <p:grpSpPr>
            <a:xfrm>
              <a:off x="385" y="1162"/>
              <a:ext cx="672" cy="1296"/>
              <a:chOff x="192" y="1392"/>
              <a:chExt cx="672" cy="1296"/>
            </a:xfrm>
          </p:grpSpPr>
          <p:sp>
            <p:nvSpPr>
              <p:cNvPr id="10506" name="直接连接符 10505"/>
              <p:cNvSpPr/>
              <p:nvPr/>
            </p:nvSpPr>
            <p:spPr>
              <a:xfrm>
                <a:off x="192" y="1392"/>
                <a:ext cx="0" cy="1296"/>
              </a:xfrm>
              <a:prstGeom prst="line">
                <a:avLst/>
              </a:prstGeom>
              <a:ln w="57150" cap="flat" cmpd="sng">
                <a:solidFill>
                  <a:srgbClr val="FF0000"/>
                </a:solidFill>
                <a:prstDash val="solid"/>
                <a:headEnd type="none" w="med" len="med"/>
                <a:tailEnd type="triangle" w="med" len="med"/>
              </a:ln>
            </p:spPr>
          </p:sp>
          <p:sp>
            <p:nvSpPr>
              <p:cNvPr id="10507" name="直接连接符 10506"/>
              <p:cNvSpPr/>
              <p:nvPr/>
            </p:nvSpPr>
            <p:spPr>
              <a:xfrm>
                <a:off x="192" y="1392"/>
                <a:ext cx="672" cy="0"/>
              </a:xfrm>
              <a:prstGeom prst="line">
                <a:avLst/>
              </a:prstGeom>
              <a:ln w="57150" cap="flat" cmpd="sng">
                <a:solidFill>
                  <a:srgbClr val="FF0000"/>
                </a:solidFill>
                <a:prstDash val="solid"/>
                <a:headEnd type="none" w="med" len="med"/>
                <a:tailEnd type="none" w="med" len="med"/>
              </a:ln>
            </p:spPr>
          </p:sp>
        </p:grpSp>
        <p:grpSp>
          <p:nvGrpSpPr>
            <p:cNvPr id="10510" name="组合 10509"/>
            <p:cNvGrpSpPr/>
            <p:nvPr/>
          </p:nvGrpSpPr>
          <p:grpSpPr>
            <a:xfrm flipH="1">
              <a:off x="2200" y="1162"/>
              <a:ext cx="624" cy="1296"/>
              <a:chOff x="2208" y="1344"/>
              <a:chExt cx="672" cy="1296"/>
            </a:xfrm>
          </p:grpSpPr>
          <p:sp>
            <p:nvSpPr>
              <p:cNvPr id="10508" name="直接连接符 10507"/>
              <p:cNvSpPr/>
              <p:nvPr/>
            </p:nvSpPr>
            <p:spPr>
              <a:xfrm>
                <a:off x="2208" y="1344"/>
                <a:ext cx="0" cy="1296"/>
              </a:xfrm>
              <a:prstGeom prst="line">
                <a:avLst/>
              </a:prstGeom>
              <a:ln w="57150" cap="flat" cmpd="sng">
                <a:solidFill>
                  <a:srgbClr val="FF0000"/>
                </a:solidFill>
                <a:prstDash val="solid"/>
                <a:headEnd type="none" w="med" len="med"/>
                <a:tailEnd type="triangle" w="med" len="med"/>
              </a:ln>
            </p:spPr>
          </p:sp>
          <p:sp>
            <p:nvSpPr>
              <p:cNvPr id="10509" name="直接连接符 10508"/>
              <p:cNvSpPr/>
              <p:nvPr/>
            </p:nvSpPr>
            <p:spPr>
              <a:xfrm>
                <a:off x="2208" y="1344"/>
                <a:ext cx="672" cy="0"/>
              </a:xfrm>
              <a:prstGeom prst="line">
                <a:avLst/>
              </a:prstGeom>
              <a:ln w="57150" cap="flat" cmpd="sng">
                <a:solidFill>
                  <a:srgbClr val="FF0000"/>
                </a:solidFill>
                <a:prstDash val="solid"/>
                <a:headEnd type="none" w="med" len="med"/>
                <a:tailEnd type="none" w="med" len="med"/>
              </a:ln>
            </p:spPr>
          </p:sp>
        </p:grpSp>
      </p:grpSp>
      <p:grpSp>
        <p:nvGrpSpPr>
          <p:cNvPr id="10636" name="组合 10635"/>
          <p:cNvGrpSpPr/>
          <p:nvPr/>
        </p:nvGrpSpPr>
        <p:grpSpPr>
          <a:xfrm>
            <a:off x="2901950" y="3306763"/>
            <a:ext cx="2928938" cy="461963"/>
            <a:chOff x="612" y="2750"/>
            <a:chExt cx="1845" cy="291"/>
          </a:xfrm>
        </p:grpSpPr>
        <p:sp>
          <p:nvSpPr>
            <p:cNvPr id="10501" name="文本框 10500"/>
            <p:cNvSpPr txBox="1"/>
            <p:nvPr/>
          </p:nvSpPr>
          <p:spPr>
            <a:xfrm>
              <a:off x="612" y="2750"/>
              <a:ext cx="252" cy="291"/>
            </a:xfrm>
            <a:prstGeom prst="rect">
              <a:avLst/>
            </a:prstGeom>
            <a:noFill/>
            <a:ln w="28575">
              <a:noFill/>
            </a:ln>
          </p:spPr>
          <p:txBody>
            <a:bodyPr wrap="none" lIns="90000" tIns="46800" rIns="90000" bIns="46800" anchor="t" anchorCtr="0">
              <a:spAutoFit/>
            </a:bodyPr>
            <a:p>
              <a:r>
                <a:rPr lang="en-US" altLang="zh-CN" sz="2400" b="1">
                  <a:latin typeface="Times New Roman" panose="02020603050405020304" charset="0"/>
                  <a:ea typeface="楷体" panose="02010609060101010101" charset="-122"/>
                  <a:cs typeface="Times New Roman" panose="02020603050405020304" charset="0"/>
                </a:rPr>
                <a:t>D</a:t>
              </a:r>
              <a:endParaRPr lang="en-US" altLang="zh-CN" sz="2400" b="1">
                <a:latin typeface="Times New Roman" panose="02020603050405020304" charset="0"/>
                <a:ea typeface="楷体" panose="02010609060101010101" charset="-122"/>
                <a:cs typeface="Times New Roman" panose="02020603050405020304" charset="0"/>
              </a:endParaRPr>
            </a:p>
          </p:txBody>
        </p:sp>
        <p:sp>
          <p:nvSpPr>
            <p:cNvPr id="10502" name="文本框 10501"/>
            <p:cNvSpPr txBox="1"/>
            <p:nvPr/>
          </p:nvSpPr>
          <p:spPr>
            <a:xfrm>
              <a:off x="2221" y="2750"/>
              <a:ext cx="236" cy="291"/>
            </a:xfrm>
            <a:prstGeom prst="rect">
              <a:avLst/>
            </a:prstGeom>
            <a:noFill/>
            <a:ln w="28575">
              <a:noFill/>
            </a:ln>
          </p:spPr>
          <p:txBody>
            <a:bodyPr lIns="90000" tIns="46800" rIns="90000" bIns="46800">
              <a:spAutoFit/>
            </a:bodyPr>
            <a:p>
              <a:r>
                <a:rPr lang="en-US" altLang="zh-CN" sz="2400" b="1">
                  <a:latin typeface="Times New Roman" panose="02020603050405020304" charset="0"/>
                  <a:ea typeface="楷体" panose="02010609060101010101" charset="-122"/>
                  <a:cs typeface="Times New Roman" panose="02020603050405020304" charset="0"/>
                </a:rPr>
                <a:t>D</a:t>
              </a:r>
              <a:endParaRPr lang="en-US" altLang="zh-CN" sz="2400" b="1">
                <a:latin typeface="Times New Roman" panose="02020603050405020304" charset="0"/>
                <a:ea typeface="楷体" panose="02010609060101010101" charset="-122"/>
                <a:cs typeface="Times New Roman" panose="02020603050405020304" charset="0"/>
              </a:endParaRPr>
            </a:p>
          </p:txBody>
        </p:sp>
        <p:sp>
          <p:nvSpPr>
            <p:cNvPr id="10523" name="直接连接符 10522"/>
            <p:cNvSpPr/>
            <p:nvPr/>
          </p:nvSpPr>
          <p:spPr>
            <a:xfrm>
              <a:off x="654" y="2795"/>
              <a:ext cx="127" cy="0"/>
            </a:xfrm>
            <a:prstGeom prst="line">
              <a:avLst/>
            </a:prstGeom>
            <a:ln w="28575" cap="flat" cmpd="sng">
              <a:solidFill>
                <a:schemeClr val="tx1"/>
              </a:solidFill>
              <a:prstDash val="solid"/>
              <a:headEnd type="none" w="med" len="med"/>
              <a:tailEnd type="none" w="med" len="med"/>
            </a:ln>
          </p:spPr>
        </p:sp>
      </p:grpSp>
      <p:grpSp>
        <p:nvGrpSpPr>
          <p:cNvPr id="10747" name="组合 10746"/>
          <p:cNvGrpSpPr/>
          <p:nvPr/>
        </p:nvGrpSpPr>
        <p:grpSpPr>
          <a:xfrm>
            <a:off x="2865438" y="4824413"/>
            <a:ext cx="2786400" cy="0"/>
            <a:chOff x="624" y="2160"/>
            <a:chExt cx="2208" cy="0"/>
          </a:xfrm>
        </p:grpSpPr>
        <p:sp>
          <p:nvSpPr>
            <p:cNvPr id="10748" name="直接连接符 10747"/>
            <p:cNvSpPr/>
            <p:nvPr/>
          </p:nvSpPr>
          <p:spPr>
            <a:xfrm flipH="1">
              <a:off x="624" y="2160"/>
              <a:ext cx="1056" cy="0"/>
            </a:xfrm>
            <a:prstGeom prst="line">
              <a:avLst/>
            </a:prstGeom>
            <a:ln w="76200" cap="flat" cmpd="sng">
              <a:solidFill>
                <a:srgbClr val="0000CC"/>
              </a:solidFill>
              <a:prstDash val="solid"/>
              <a:headEnd type="none" w="med" len="med"/>
              <a:tailEnd type="triangle" w="med" len="med"/>
            </a:ln>
          </p:spPr>
        </p:sp>
        <p:sp>
          <p:nvSpPr>
            <p:cNvPr id="10749" name="直接连接符 10748"/>
            <p:cNvSpPr/>
            <p:nvPr/>
          </p:nvSpPr>
          <p:spPr>
            <a:xfrm flipV="1">
              <a:off x="1776" y="2160"/>
              <a:ext cx="1056" cy="0"/>
            </a:xfrm>
            <a:prstGeom prst="line">
              <a:avLst/>
            </a:prstGeom>
            <a:ln w="76200" cap="flat" cmpd="sng">
              <a:solidFill>
                <a:srgbClr val="0000CC"/>
              </a:solidFill>
              <a:prstDash val="solid"/>
              <a:headEnd type="none" w="med" len="med"/>
              <a:tailEnd type="triangle" w="med" len="med"/>
            </a:ln>
          </p:spPr>
        </p:sp>
      </p:grpSp>
      <p:grpSp>
        <p:nvGrpSpPr>
          <p:cNvPr id="10750" name="组合 10749"/>
          <p:cNvGrpSpPr/>
          <p:nvPr/>
        </p:nvGrpSpPr>
        <p:grpSpPr>
          <a:xfrm>
            <a:off x="2968625" y="1932305"/>
            <a:ext cx="2557145" cy="1079500"/>
            <a:chOff x="816" y="480"/>
            <a:chExt cx="1920" cy="576"/>
          </a:xfrm>
        </p:grpSpPr>
        <p:sp>
          <p:nvSpPr>
            <p:cNvPr id="10751" name="直接连接符 10750"/>
            <p:cNvSpPr/>
            <p:nvPr/>
          </p:nvSpPr>
          <p:spPr>
            <a:xfrm>
              <a:off x="816" y="480"/>
              <a:ext cx="0" cy="576"/>
            </a:xfrm>
            <a:prstGeom prst="line">
              <a:avLst/>
            </a:prstGeom>
            <a:ln w="76200" cap="flat" cmpd="sng">
              <a:solidFill>
                <a:srgbClr val="008000"/>
              </a:solidFill>
              <a:prstDash val="solid"/>
              <a:headEnd type="none" w="med" len="med"/>
              <a:tailEnd type="triangle" w="med" len="med"/>
            </a:ln>
          </p:spPr>
        </p:sp>
        <p:sp>
          <p:nvSpPr>
            <p:cNvPr id="10752" name="直接连接符 10751"/>
            <p:cNvSpPr/>
            <p:nvPr/>
          </p:nvSpPr>
          <p:spPr>
            <a:xfrm>
              <a:off x="2736" y="480"/>
              <a:ext cx="0" cy="576"/>
            </a:xfrm>
            <a:prstGeom prst="line">
              <a:avLst/>
            </a:prstGeom>
            <a:ln w="76200" cap="flat" cmpd="sng">
              <a:solidFill>
                <a:srgbClr val="008000"/>
              </a:solidFill>
              <a:prstDash val="solid"/>
              <a:headEnd type="none" w="med" len="med"/>
              <a:tailEnd type="triangle" w="med" len="med"/>
            </a:ln>
          </p:spPr>
        </p:sp>
      </p:grpSp>
      <p:sp>
        <p:nvSpPr>
          <p:cNvPr id="10760" name="矩形 10759"/>
          <p:cNvSpPr/>
          <p:nvPr/>
        </p:nvSpPr>
        <p:spPr>
          <a:xfrm>
            <a:off x="1965325" y="2082800"/>
            <a:ext cx="331470" cy="461645"/>
          </a:xfrm>
          <a:prstGeom prst="rect">
            <a:avLst/>
          </a:prstGeom>
          <a:solidFill>
            <a:srgbClr val="99FF99"/>
          </a:solidFill>
          <a:ln w="28575">
            <a:noFill/>
          </a:ln>
        </p:spPr>
        <p:txBody>
          <a:bodyPr wrap="none" lIns="90000" tIns="46800" rIns="90000" bIns="46800" anchor="t" anchorCtr="0">
            <a:spAutoFit/>
          </a:bodyPr>
          <a:p>
            <a:r>
              <a:rPr lang="en-US" altLang="zh-CN" sz="2400" b="1">
                <a:solidFill>
                  <a:schemeClr val="tx2"/>
                </a:solidFill>
                <a:latin typeface="Times New Roman" panose="02020603050405020304" charset="0"/>
                <a:ea typeface="楷体" panose="02010609060101010101" charset="-122"/>
                <a:cs typeface="Times New Roman" panose="02020603050405020304" charset="0"/>
              </a:rPr>
              <a:t>1</a:t>
            </a:r>
            <a:endParaRPr lang="en-US" altLang="zh-CN" sz="2400" b="1">
              <a:solidFill>
                <a:schemeClr val="tx2"/>
              </a:solidFill>
              <a:latin typeface="Times New Roman" panose="02020603050405020304" charset="0"/>
              <a:ea typeface="楷体" panose="02010609060101010101" charset="-122"/>
              <a:cs typeface="Times New Roman" panose="02020603050405020304" charset="0"/>
            </a:endParaRPr>
          </a:p>
        </p:txBody>
      </p:sp>
      <p:sp>
        <p:nvSpPr>
          <p:cNvPr id="10761" name="矩形 10760"/>
          <p:cNvSpPr/>
          <p:nvPr/>
        </p:nvSpPr>
        <p:spPr>
          <a:xfrm>
            <a:off x="3863975" y="4649788"/>
            <a:ext cx="331470" cy="461645"/>
          </a:xfrm>
          <a:prstGeom prst="rect">
            <a:avLst/>
          </a:prstGeom>
          <a:solidFill>
            <a:srgbClr val="66CCFF"/>
          </a:solidFill>
          <a:ln w="28575">
            <a:noFill/>
          </a:ln>
        </p:spPr>
        <p:txBody>
          <a:bodyPr wrap="none" lIns="90000" tIns="46800" rIns="90000" bIns="46800" anchor="t" anchorCtr="0">
            <a:spAutoFit/>
          </a:bodyPr>
          <a:p>
            <a:r>
              <a:rPr lang="en-US" altLang="zh-CN" sz="2400" b="1">
                <a:solidFill>
                  <a:schemeClr val="tx2"/>
                </a:solidFill>
                <a:latin typeface="Times New Roman" panose="02020603050405020304" charset="0"/>
                <a:ea typeface="楷体" panose="02010609060101010101" charset="-122"/>
                <a:cs typeface="Times New Roman" panose="02020603050405020304" charset="0"/>
              </a:rPr>
              <a:t>1</a:t>
            </a:r>
            <a:endParaRPr lang="en-US" altLang="zh-CN" sz="2400" b="1">
              <a:solidFill>
                <a:schemeClr val="tx2"/>
              </a:solidFill>
              <a:latin typeface="Times New Roman" panose="02020603050405020304" charset="0"/>
              <a:ea typeface="楷体" panose="02010609060101010101" charset="-122"/>
              <a:cs typeface="Times New Roman" panose="02020603050405020304" charset="0"/>
            </a:endParaRPr>
          </a:p>
        </p:txBody>
      </p:sp>
      <p:sp>
        <p:nvSpPr>
          <p:cNvPr id="10762" name="文本框 10761"/>
          <p:cNvSpPr txBox="1"/>
          <p:nvPr/>
        </p:nvSpPr>
        <p:spPr>
          <a:xfrm>
            <a:off x="990283" y="1142683"/>
            <a:ext cx="4302125" cy="492760"/>
          </a:xfrm>
          <a:prstGeom prst="rect">
            <a:avLst/>
          </a:prstGeom>
          <a:noFill/>
          <a:ln w="28575">
            <a:noFill/>
          </a:ln>
        </p:spPr>
        <p:txBody>
          <a:bodyPr lIns="90000" tIns="46800" rIns="90000" bIns="46800">
            <a:spAutoFit/>
          </a:bodyPr>
          <a:p>
            <a:pPr>
              <a:spcBef>
                <a:spcPct val="50000"/>
              </a:spcBef>
            </a:pPr>
            <a:r>
              <a:rPr lang="zh-CN" altLang="en-US" sz="2600" b="1" dirty="0">
                <a:solidFill>
                  <a:srgbClr val="0000FF"/>
                </a:solidFill>
                <a:latin typeface="Times New Roman" panose="02020603050405020304" charset="0"/>
                <a:ea typeface="楷体" panose="02010609060101010101" charset="-122"/>
              </a:rPr>
              <a:t>工作原理：</a:t>
            </a:r>
            <a:endParaRPr lang="zh-CN" altLang="en-US" sz="2600" b="1" dirty="0">
              <a:solidFill>
                <a:srgbClr val="0000FF"/>
              </a:solidFill>
              <a:latin typeface="Times New Roman" panose="02020603050405020304" charset="0"/>
              <a:ea typeface="楷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0750"/>
                                        </p:tgtEl>
                                        <p:attrNameLst>
                                          <p:attrName>style.visibility</p:attrName>
                                        </p:attrNameLst>
                                      </p:cBhvr>
                                      <p:to>
                                        <p:strVal val="visible"/>
                                      </p:to>
                                    </p:set>
                                    <p:animEffect transition="in" filter="wipe(up)">
                                      <p:cBhvr>
                                        <p:cTn id="11" dur="500"/>
                                        <p:tgtEl>
                                          <p:spTgt spid="1075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76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nodeType="clickEffect">
                                  <p:stCondLst>
                                    <p:cond delay="0"/>
                                  </p:stCondLst>
                                  <p:childTnLst>
                                    <p:set>
                                      <p:cBhvr>
                                        <p:cTn id="19" dur="1" fill="hold">
                                          <p:stCondLst>
                                            <p:cond delay="0"/>
                                          </p:stCondLst>
                                        </p:cTn>
                                        <p:tgtEl>
                                          <p:spTgt spid="10747"/>
                                        </p:tgtEl>
                                        <p:attrNameLst>
                                          <p:attrName>style.visibility</p:attrName>
                                        </p:attrNameLst>
                                      </p:cBhvr>
                                      <p:to>
                                        <p:strVal val="visible"/>
                                      </p:to>
                                    </p:set>
                                    <p:anim calcmode="lin" valueType="num">
                                      <p:cBhvr>
                                        <p:cTn id="20" dur="1000" fill="hold"/>
                                        <p:tgtEl>
                                          <p:spTgt spid="10747"/>
                                        </p:tgtEl>
                                        <p:attrNameLst>
                                          <p:attrName>ppt_w</p:attrName>
                                        </p:attrNameLst>
                                      </p:cBhvr>
                                      <p:tavLst>
                                        <p:tav tm="0">
                                          <p:val>
                                            <p:strVal val="#ppt_w*0.70"/>
                                          </p:val>
                                        </p:tav>
                                        <p:tav tm="100000">
                                          <p:val>
                                            <p:strVal val="#ppt_w"/>
                                          </p:val>
                                        </p:tav>
                                      </p:tavLst>
                                    </p:anim>
                                    <p:anim calcmode="lin" valueType="num">
                                      <p:cBhvr>
                                        <p:cTn id="21" dur="1000" fill="hold"/>
                                        <p:tgtEl>
                                          <p:spTgt spid="10747"/>
                                        </p:tgtEl>
                                        <p:attrNameLst>
                                          <p:attrName>ppt_h</p:attrName>
                                        </p:attrNameLst>
                                      </p:cBhvr>
                                      <p:tavLst>
                                        <p:tav tm="0">
                                          <p:val>
                                            <p:strVal val="#ppt_h"/>
                                          </p:val>
                                        </p:tav>
                                        <p:tav tm="100000">
                                          <p:val>
                                            <p:strVal val="#ppt_h"/>
                                          </p:val>
                                        </p:tav>
                                      </p:tavLst>
                                    </p:anim>
                                    <p:animEffect transition="in" filter="fade">
                                      <p:cBhvr>
                                        <p:cTn id="22" dur="1000"/>
                                        <p:tgtEl>
                                          <p:spTgt spid="1074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505"/>
                                        </p:tgtEl>
                                        <p:attrNameLst>
                                          <p:attrName>style.visibility</p:attrName>
                                        </p:attrNameLst>
                                      </p:cBhvr>
                                      <p:to>
                                        <p:strVal val="visible"/>
                                      </p:to>
                                    </p:set>
                                    <p:animEffect transition="in" filter="wipe(left)">
                                      <p:cBhvr>
                                        <p:cTn id="27" dur="500"/>
                                        <p:tgtEl>
                                          <p:spTgt spid="1050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0753"/>
                                        </p:tgtEl>
                                        <p:attrNameLst>
                                          <p:attrName>style.visibility</p:attrName>
                                        </p:attrNameLst>
                                      </p:cBhvr>
                                      <p:to>
                                        <p:strVal val="visible"/>
                                      </p:to>
                                    </p:set>
                                    <p:animEffect transition="in" filter="wipe(up)">
                                      <p:cBhvr>
                                        <p:cTn id="32" dur="500"/>
                                        <p:tgtEl>
                                          <p:spTgt spid="107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05" grpId="0"/>
      <p:bldP spid="10760" grpId="0" bldLvl="0" animBg="1"/>
      <p:bldP spid="10761"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 name="文本框 85"/>
          <p:cNvSpPr txBox="1"/>
          <p:nvPr/>
        </p:nvSpPr>
        <p:spPr>
          <a:xfrm>
            <a:off x="0" y="5944235"/>
            <a:ext cx="9162000"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7588" name="矩形 67587"/>
          <p:cNvSpPr/>
          <p:nvPr/>
        </p:nvSpPr>
        <p:spPr>
          <a:xfrm>
            <a:off x="990283" y="1143000"/>
            <a:ext cx="7848600" cy="539750"/>
          </a:xfrm>
          <a:prstGeom prst="rect">
            <a:avLst/>
          </a:prstGeom>
          <a:noFill/>
          <a:ln w="9525">
            <a:noFill/>
          </a:ln>
        </p:spPr>
        <p:txBody>
          <a:bodyPr anchor="ctr" anchorCtr="0"/>
          <a:lstStyle>
            <a:lvl1pPr marL="0" lvl="0" indent="0" algn="l" defTabSz="914400" rtl="0" eaLnBrk="1" fontAlgn="base" latinLnBrk="0" hangingPunct="1">
              <a:lnSpc>
                <a:spcPct val="100000"/>
              </a:lnSpc>
              <a:spcBef>
                <a:spcPct val="0"/>
              </a:spcBef>
              <a:spcAft>
                <a:spcPct val="0"/>
              </a:spcAft>
              <a:buNone/>
              <a:defRPr sz="4400" u="none" kern="1200" baseline="0">
                <a:solidFill>
                  <a:schemeClr val="tx1"/>
                </a:solidFill>
                <a:latin typeface="Arial" panose="020B0604020202020204" pitchFamily="34" charset="0"/>
                <a:ea typeface="宋体" panose="02010600030101010101" pitchFamily="2" charset="-122"/>
              </a:defRPr>
            </a:lvl1pPr>
          </a:lstStyle>
          <a:p>
            <a:pPr marL="609600" lvl="0" indent="-609600"/>
            <a:r>
              <a:rPr lang="en-US" sz="2400" b="1">
                <a:solidFill>
                  <a:srgbClr val="FE09D6"/>
                </a:solidFill>
                <a:latin typeface="Times New Roman" panose="02020603050405020304" charset="0"/>
                <a:ea typeface="楷体" panose="02010609060101010101" charset="-122"/>
                <a:cs typeface="Times New Roman" panose="02020603050405020304" charset="0"/>
              </a:rPr>
              <a:t>2.</a:t>
            </a:r>
            <a:r>
              <a:rPr lang="zh-CN" altLang="en-US" sz="2400" b="1">
                <a:solidFill>
                  <a:srgbClr val="FE09D6"/>
                </a:solidFill>
                <a:latin typeface="Times New Roman" panose="02020603050405020304" charset="0"/>
                <a:ea typeface="楷体" panose="02010609060101010101" charset="-122"/>
                <a:cs typeface="Times New Roman" panose="02020603050405020304" charset="0"/>
              </a:rPr>
              <a:t>动态</a:t>
            </a:r>
            <a:r>
              <a:rPr lang="en-US" sz="2400" b="1">
                <a:solidFill>
                  <a:srgbClr val="FE09D6"/>
                </a:solidFill>
                <a:latin typeface="Times New Roman" panose="02020603050405020304" charset="0"/>
                <a:ea typeface="楷体" panose="02010609060101010101" charset="-122"/>
                <a:cs typeface="Times New Roman" panose="02020603050405020304" charset="0"/>
              </a:rPr>
              <a:t>随机存储器DRAM</a:t>
            </a:r>
            <a:endParaRPr lang="en-US" sz="2400" b="1">
              <a:solidFill>
                <a:srgbClr val="FE09D6"/>
              </a:solidFill>
              <a:latin typeface="Times New Roman" panose="02020603050405020304" charset="0"/>
              <a:ea typeface="楷体" panose="02010609060101010101" charset="-122"/>
              <a:cs typeface="Times New Roman" panose="02020603050405020304" charset="0"/>
            </a:endParaRPr>
          </a:p>
        </p:txBody>
      </p:sp>
      <p:sp>
        <p:nvSpPr>
          <p:cNvPr id="3" name="灯片编号占位符 2"/>
          <p:cNvSpPr/>
          <p:nvPr>
            <p:ph type="sldNum" sz="quarter" idx="12"/>
          </p:nvPr>
        </p:nvSpPr>
        <p:spPr/>
        <p:txBody>
          <a:bodyPr/>
          <a:p>
            <a:pPr lvl="0"/>
            <a:fld id="{9A0DB2DC-4C9A-4742-B13C-FB6460FD3503}" type="slidenum">
              <a:rPr lang="zh-CN" altLang="en-US" b="1" dirty="0">
                <a:latin typeface="Times New Roman" panose="02020603050405020304" charset="0"/>
                <a:ea typeface="楷体" panose="02010609060101010101" charset="-122"/>
                <a:cs typeface="Times New Roman" panose="02020603050405020304" charset="0"/>
              </a:rPr>
            </a:fld>
            <a:endParaRPr lang="zh-CN" altLang="en-US" b="1" dirty="0">
              <a:latin typeface="Times New Roman" panose="02020603050405020304" charset="0"/>
              <a:ea typeface="楷体" panose="02010609060101010101" charset="-122"/>
              <a:cs typeface="Times New Roman" panose="02020603050405020304" charset="0"/>
            </a:endParaRPr>
          </a:p>
        </p:txBody>
      </p:sp>
      <p:pic>
        <p:nvPicPr>
          <p:cNvPr id="2" name="图片 1"/>
          <p:cNvPicPr>
            <a:picLocks noChangeAspect="1"/>
          </p:cNvPicPr>
          <p:nvPr/>
        </p:nvPicPr>
        <p:blipFill>
          <a:blip r:embed="rId1"/>
          <a:stretch>
            <a:fillRect/>
          </a:stretch>
        </p:blipFill>
        <p:spPr>
          <a:xfrm>
            <a:off x="152400" y="1708785"/>
            <a:ext cx="3886200" cy="4758690"/>
          </a:xfrm>
          <a:prstGeom prst="rect">
            <a:avLst/>
          </a:prstGeom>
        </p:spPr>
      </p:pic>
      <p:sp>
        <p:nvSpPr>
          <p:cNvPr id="103" name="文本框 102"/>
          <p:cNvSpPr txBox="1"/>
          <p:nvPr/>
        </p:nvSpPr>
        <p:spPr>
          <a:xfrm>
            <a:off x="4038600" y="1676717"/>
            <a:ext cx="5080000" cy="1014730"/>
          </a:xfrm>
          <a:prstGeom prst="rect">
            <a:avLst/>
          </a:prstGeom>
          <a:noFill/>
          <a:ln w="9525">
            <a:noFill/>
          </a:ln>
        </p:spPr>
        <p:txBody>
          <a:bodyPr>
            <a:spAutoFit/>
          </a:bodyPr>
          <a:p>
            <a:pPr algn="ctr"/>
            <a:r>
              <a:rPr lang="zh-CN" sz="2000" b="1">
                <a:solidFill>
                  <a:srgbClr val="000066"/>
                </a:solidFill>
                <a:latin typeface="Times New Roman" panose="02020603050405020304" charset="0"/>
                <a:ea typeface="楷体" panose="02010609060101010101" charset="-122"/>
                <a:cs typeface="Times New Roman" panose="02020603050405020304" charset="0"/>
              </a:rPr>
              <a:t>栅极电容</a:t>
            </a:r>
            <a:r>
              <a:rPr lang="en-US" sz="2000" b="1" i="1">
                <a:solidFill>
                  <a:srgbClr val="000066"/>
                </a:solidFill>
                <a:latin typeface="Times New Roman" panose="02020603050405020304" charset="0"/>
                <a:ea typeface="楷体" panose="02010609060101010101" charset="-122"/>
                <a:cs typeface="Times New Roman" panose="02020603050405020304" charset="0"/>
              </a:rPr>
              <a:t>C</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1</a:t>
            </a:r>
            <a:r>
              <a:rPr lang="zh-CN" sz="2000" b="1">
                <a:solidFill>
                  <a:srgbClr val="000066"/>
                </a:solidFill>
                <a:latin typeface="Times New Roman" panose="02020603050405020304" charset="0"/>
                <a:ea typeface="楷体" panose="02010609060101010101" charset="-122"/>
                <a:cs typeface="Times New Roman" panose="02020603050405020304" charset="0"/>
              </a:rPr>
              <a:t>和</a:t>
            </a:r>
            <a:r>
              <a:rPr lang="en-US" sz="2000" b="1" i="1">
                <a:solidFill>
                  <a:srgbClr val="000066"/>
                </a:solidFill>
                <a:latin typeface="Times New Roman" panose="02020603050405020304" charset="0"/>
                <a:ea typeface="楷体" panose="02010609060101010101" charset="-122"/>
                <a:cs typeface="Times New Roman" panose="02020603050405020304" charset="0"/>
              </a:rPr>
              <a:t>C</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2</a:t>
            </a:r>
            <a:r>
              <a:rPr lang="zh-CN" sz="2000" b="1">
                <a:solidFill>
                  <a:srgbClr val="000066"/>
                </a:solidFill>
                <a:latin typeface="Times New Roman" panose="02020603050405020304" charset="0"/>
                <a:ea typeface="楷体" panose="02010609060101010101" charset="-122"/>
                <a:cs typeface="Times New Roman" panose="02020603050405020304" charset="0"/>
              </a:rPr>
              <a:t>上的电压控制</a:t>
            </a:r>
            <a:r>
              <a:rPr lang="en-US" sz="2000" b="1">
                <a:solidFill>
                  <a:srgbClr val="000066"/>
                </a:solidFill>
                <a:latin typeface="Times New Roman" panose="02020603050405020304" charset="0"/>
                <a:ea typeface="楷体" panose="02010609060101010101" charset="-122"/>
                <a:cs typeface="Times New Roman" panose="02020603050405020304" charset="0"/>
              </a:rPr>
              <a:t>T</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1</a:t>
            </a:r>
            <a:r>
              <a:rPr lang="zh-CN" sz="2000" b="1">
                <a:solidFill>
                  <a:srgbClr val="000066"/>
                </a:solidFill>
                <a:latin typeface="Times New Roman" panose="02020603050405020304" charset="0"/>
                <a:ea typeface="楷体" panose="02010609060101010101" charset="-122"/>
                <a:cs typeface="Times New Roman" panose="02020603050405020304" charset="0"/>
              </a:rPr>
              <a:t>和</a:t>
            </a:r>
            <a:r>
              <a:rPr lang="en-US" sz="2000" b="1">
                <a:solidFill>
                  <a:srgbClr val="000066"/>
                </a:solidFill>
                <a:latin typeface="Times New Roman" panose="02020603050405020304" charset="0"/>
                <a:ea typeface="楷体" panose="02010609060101010101" charset="-122"/>
                <a:cs typeface="Times New Roman" panose="02020603050405020304" charset="0"/>
              </a:rPr>
              <a:t>T</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2</a:t>
            </a:r>
            <a:r>
              <a:rPr lang="zh-CN" sz="2000" b="1">
                <a:solidFill>
                  <a:srgbClr val="000066"/>
                </a:solidFill>
                <a:latin typeface="Times New Roman" panose="02020603050405020304" charset="0"/>
                <a:ea typeface="楷体" panose="02010609060101010101" charset="-122"/>
                <a:cs typeface="Times New Roman" panose="02020603050405020304" charset="0"/>
              </a:rPr>
              <a:t>的导通和截止，以决定存储单元存储</a:t>
            </a:r>
            <a:r>
              <a:rPr lang="en-US" sz="2000" b="1">
                <a:solidFill>
                  <a:srgbClr val="000066"/>
                </a:solidFill>
                <a:latin typeface="Times New Roman" panose="02020603050405020304" charset="0"/>
                <a:ea typeface="楷体" panose="02010609060101010101" charset="-122"/>
                <a:cs typeface="Times New Roman" panose="02020603050405020304" charset="0"/>
              </a:rPr>
              <a:t>1</a:t>
            </a:r>
            <a:r>
              <a:rPr lang="zh-CN" sz="2000" b="1">
                <a:solidFill>
                  <a:srgbClr val="000066"/>
                </a:solidFill>
                <a:latin typeface="Times New Roman" panose="02020603050405020304" charset="0"/>
                <a:ea typeface="楷体" panose="02010609060101010101" charset="-122"/>
                <a:cs typeface="Times New Roman" panose="02020603050405020304" charset="0"/>
              </a:rPr>
              <a:t>或存储</a:t>
            </a:r>
            <a:r>
              <a:rPr lang="en-US" sz="2000" b="1">
                <a:solidFill>
                  <a:srgbClr val="000066"/>
                </a:solidFill>
                <a:latin typeface="Times New Roman" panose="02020603050405020304" charset="0"/>
                <a:ea typeface="楷体" panose="02010609060101010101" charset="-122"/>
                <a:cs typeface="Times New Roman" panose="02020603050405020304" charset="0"/>
              </a:rPr>
              <a:t>0</a:t>
            </a:r>
            <a:r>
              <a:rPr lang="zh-CN" sz="2000" b="1">
                <a:solidFill>
                  <a:srgbClr val="000066"/>
                </a:solidFill>
                <a:latin typeface="Times New Roman" panose="02020603050405020304" charset="0"/>
                <a:ea typeface="楷体" panose="02010609060101010101" charset="-122"/>
                <a:cs typeface="Times New Roman" panose="02020603050405020304" charset="0"/>
              </a:rPr>
              <a:t>。 </a:t>
            </a:r>
            <a:r>
              <a:rPr lang="en-US" sz="2000" b="1">
                <a:solidFill>
                  <a:srgbClr val="000066"/>
                </a:solidFill>
                <a:latin typeface="Times New Roman" panose="02020603050405020304" charset="0"/>
                <a:ea typeface="楷体" panose="02010609060101010101" charset="-122"/>
                <a:cs typeface="Times New Roman" panose="02020603050405020304" charset="0"/>
              </a:rPr>
              <a:t>T</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5</a:t>
            </a:r>
            <a:r>
              <a:rPr lang="zh-CN" sz="2000" b="1">
                <a:solidFill>
                  <a:srgbClr val="000066"/>
                </a:solidFill>
                <a:latin typeface="Times New Roman" panose="02020603050405020304" charset="0"/>
                <a:ea typeface="楷体" panose="02010609060101010101" charset="-122"/>
                <a:cs typeface="Times New Roman" panose="02020603050405020304" charset="0"/>
              </a:rPr>
              <a:t>、</a:t>
            </a:r>
            <a:r>
              <a:rPr lang="en-US" sz="2000" b="1">
                <a:solidFill>
                  <a:srgbClr val="000066"/>
                </a:solidFill>
                <a:latin typeface="Times New Roman" panose="02020603050405020304" charset="0"/>
                <a:ea typeface="楷体" panose="02010609060101010101" charset="-122"/>
                <a:cs typeface="Times New Roman" panose="02020603050405020304" charset="0"/>
              </a:rPr>
              <a:t>T</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6</a:t>
            </a:r>
            <a:r>
              <a:rPr lang="zh-CN" sz="2000" b="1">
                <a:solidFill>
                  <a:srgbClr val="000066"/>
                </a:solidFill>
                <a:latin typeface="Times New Roman" panose="02020603050405020304" charset="0"/>
                <a:ea typeface="楷体" panose="02010609060101010101" charset="-122"/>
                <a:cs typeface="Times New Roman" panose="02020603050405020304" charset="0"/>
              </a:rPr>
              <a:t>是位线上分布电容预充电的门控开关。</a:t>
            </a:r>
            <a:endParaRPr lang="zh-CN" altLang="en-US" sz="2000" b="1">
              <a:solidFill>
                <a:srgbClr val="000066"/>
              </a:solidFill>
              <a:latin typeface="Times New Roman" panose="02020603050405020304" charset="0"/>
              <a:ea typeface="楷体" panose="02010609060101010101" charset="-122"/>
              <a:cs typeface="Times New Roman" panose="02020603050405020304" charset="0"/>
            </a:endParaRPr>
          </a:p>
        </p:txBody>
      </p:sp>
      <p:grpSp>
        <p:nvGrpSpPr>
          <p:cNvPr id="22" name="组合 21"/>
          <p:cNvGrpSpPr/>
          <p:nvPr/>
        </p:nvGrpSpPr>
        <p:grpSpPr>
          <a:xfrm>
            <a:off x="4081780" y="2803525"/>
            <a:ext cx="5080000" cy="706120"/>
            <a:chOff x="6428" y="4175"/>
            <a:chExt cx="8000" cy="1112"/>
          </a:xfrm>
        </p:grpSpPr>
        <p:sp>
          <p:nvSpPr>
            <p:cNvPr id="5" name="文本框 4"/>
            <p:cNvSpPr txBox="1"/>
            <p:nvPr/>
          </p:nvSpPr>
          <p:spPr>
            <a:xfrm>
              <a:off x="6428" y="4175"/>
              <a:ext cx="8000" cy="1113"/>
            </a:xfrm>
            <a:prstGeom prst="rect">
              <a:avLst/>
            </a:prstGeom>
            <a:noFill/>
            <a:ln w="9525">
              <a:noFill/>
            </a:ln>
          </p:spPr>
          <p:txBody>
            <a:bodyPr>
              <a:spAutoFit/>
            </a:bodyPr>
            <a:p>
              <a:pPr indent="266700"/>
              <a:r>
                <a:rPr lang="zh-CN" sz="2000" b="1">
                  <a:solidFill>
                    <a:srgbClr val="000066"/>
                  </a:solidFill>
                  <a:latin typeface="Times New Roman" panose="02020603050405020304" charset="0"/>
                  <a:ea typeface="楷体" panose="02010609060101010101" charset="-122"/>
                  <a:cs typeface="Times New Roman" panose="02020603050405020304" charset="0"/>
                </a:rPr>
                <a:t>读操作开始时，在</a:t>
              </a:r>
              <a:r>
                <a:rPr lang="en-US" sz="2000" b="1">
                  <a:solidFill>
                    <a:srgbClr val="000066"/>
                  </a:solidFill>
                  <a:latin typeface="Times New Roman" panose="02020603050405020304" charset="0"/>
                  <a:ea typeface="楷体" panose="02010609060101010101" charset="-122"/>
                  <a:cs typeface="Times New Roman" panose="02020603050405020304" charset="0"/>
                </a:rPr>
                <a:t> T</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5</a:t>
              </a:r>
              <a:r>
                <a:rPr lang="zh-CN" sz="2000" b="1">
                  <a:solidFill>
                    <a:srgbClr val="000066"/>
                  </a:solidFill>
                  <a:latin typeface="Times New Roman" panose="02020603050405020304" charset="0"/>
                  <a:ea typeface="楷体" panose="02010609060101010101" charset="-122"/>
                  <a:cs typeface="Times New Roman" panose="02020603050405020304" charset="0"/>
                </a:rPr>
                <a:t>、</a:t>
              </a:r>
              <a:r>
                <a:rPr lang="en-US" sz="2000" b="1">
                  <a:solidFill>
                    <a:srgbClr val="000066"/>
                  </a:solidFill>
                  <a:latin typeface="Times New Roman" panose="02020603050405020304" charset="0"/>
                  <a:ea typeface="楷体" panose="02010609060101010101" charset="-122"/>
                  <a:cs typeface="Times New Roman" panose="02020603050405020304" charset="0"/>
                </a:rPr>
                <a:t>T</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6</a:t>
              </a:r>
              <a:r>
                <a:rPr lang="zh-CN" sz="2000" b="1">
                  <a:solidFill>
                    <a:srgbClr val="000066"/>
                  </a:solidFill>
                  <a:latin typeface="Times New Roman" panose="02020603050405020304" charset="0"/>
                  <a:ea typeface="楷体" panose="02010609060101010101" charset="-122"/>
                  <a:cs typeface="Times New Roman" panose="02020603050405020304" charset="0"/>
                </a:rPr>
                <a:t>管的栅极上加预充电脉冲， 则</a:t>
              </a:r>
              <a:r>
                <a:rPr lang="en-US" altLang="zh-CN" sz="2000" b="1">
                  <a:solidFill>
                    <a:srgbClr val="000066"/>
                  </a:solidFill>
                  <a:latin typeface="Times New Roman" panose="02020603050405020304" charset="0"/>
                  <a:ea typeface="楷体" panose="02010609060101010101" charset="-122"/>
                  <a:cs typeface="Times New Roman" panose="02020603050405020304" charset="0"/>
                </a:rPr>
                <a:t>          </a:t>
              </a:r>
              <a:r>
                <a:rPr lang="zh-CN" sz="2000" b="1">
                  <a:solidFill>
                    <a:srgbClr val="000066"/>
                  </a:solidFill>
                  <a:latin typeface="Times New Roman" panose="02020603050405020304" charset="0"/>
                  <a:ea typeface="楷体" panose="02010609060101010101" charset="-122"/>
                  <a:cs typeface="Times New Roman" panose="02020603050405020304" charset="0"/>
                  <a:sym typeface="+mn-ea"/>
                </a:rPr>
                <a:t>充电到高电平。</a:t>
              </a:r>
              <a:endParaRPr lang="en-US" altLang="zh-CN" sz="2000" b="1">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9" name="对象 8"/>
            <p:cNvGraphicFramePr/>
            <p:nvPr/>
          </p:nvGraphicFramePr>
          <p:xfrm>
            <a:off x="9480" y="4802"/>
            <a:ext cx="541" cy="418"/>
          </p:xfrm>
          <a:graphic>
            <a:graphicData uri="http://schemas.openxmlformats.org/presentationml/2006/ole">
              <mc:AlternateContent xmlns:mc="http://schemas.openxmlformats.org/markup-compatibility/2006">
                <mc:Choice xmlns:v="urn:schemas-microsoft-com:vml" Requires="v">
                  <p:oleObj spid="_x0000_s10" name="" r:id="rId2" imgW="215900" imgH="215900" progId="Equation.KSEE3">
                    <p:embed/>
                  </p:oleObj>
                </mc:Choice>
                <mc:Fallback>
                  <p:oleObj name="" r:id="rId2" imgW="215900" imgH="215900" progId="Equation.KSEE3">
                    <p:embed/>
                    <p:pic>
                      <p:nvPicPr>
                        <p:cNvPr id="0" name="图片 9"/>
                        <p:cNvPicPr/>
                        <p:nvPr/>
                      </p:nvPicPr>
                      <p:blipFill>
                        <a:blip r:embed="rId3"/>
                        <a:stretch>
                          <a:fillRect/>
                        </a:stretch>
                      </p:blipFill>
                      <p:spPr>
                        <a:xfrm>
                          <a:off x="9480" y="4802"/>
                          <a:ext cx="541" cy="418"/>
                        </a:xfrm>
                        <a:prstGeom prst="rect">
                          <a:avLst/>
                        </a:prstGeom>
                      </p:spPr>
                    </p:pic>
                  </p:oleObj>
                </mc:Fallback>
              </mc:AlternateContent>
            </a:graphicData>
          </a:graphic>
        </p:graphicFrame>
        <p:graphicFrame>
          <p:nvGraphicFramePr>
            <p:cNvPr id="11" name="对象 10"/>
            <p:cNvGraphicFramePr/>
            <p:nvPr/>
          </p:nvGraphicFramePr>
          <p:xfrm>
            <a:off x="10021" y="4782"/>
            <a:ext cx="394" cy="458"/>
          </p:xfrm>
          <a:graphic>
            <a:graphicData uri="http://schemas.openxmlformats.org/presentationml/2006/ole">
              <mc:AlternateContent xmlns:mc="http://schemas.openxmlformats.org/markup-compatibility/2006">
                <mc:Choice xmlns:v="urn:schemas-microsoft-com:vml" Requires="v">
                  <p:oleObj spid="_x0000_s12" name="" r:id="rId4" imgW="215900" imgH="241300" progId="Equation.KSEE3">
                    <p:embed/>
                  </p:oleObj>
                </mc:Choice>
                <mc:Fallback>
                  <p:oleObj name="" r:id="rId4" imgW="215900" imgH="241300" progId="Equation.KSEE3">
                    <p:embed/>
                    <p:pic>
                      <p:nvPicPr>
                        <p:cNvPr id="0" name="图片 11"/>
                        <p:cNvPicPr/>
                        <p:nvPr/>
                      </p:nvPicPr>
                      <p:blipFill>
                        <a:blip r:embed="rId5"/>
                        <a:stretch>
                          <a:fillRect/>
                        </a:stretch>
                      </p:blipFill>
                      <p:spPr>
                        <a:xfrm>
                          <a:off x="10021" y="4782"/>
                          <a:ext cx="394" cy="458"/>
                        </a:xfrm>
                        <a:prstGeom prst="rect">
                          <a:avLst/>
                        </a:prstGeom>
                      </p:spPr>
                    </p:pic>
                  </p:oleObj>
                </mc:Fallback>
              </mc:AlternateContent>
            </a:graphicData>
          </a:graphic>
        </p:graphicFrame>
      </p:grpSp>
      <p:grpSp>
        <p:nvGrpSpPr>
          <p:cNvPr id="15" name="组合 14"/>
          <p:cNvGrpSpPr/>
          <p:nvPr/>
        </p:nvGrpSpPr>
        <p:grpSpPr>
          <a:xfrm>
            <a:off x="4081780" y="3571875"/>
            <a:ext cx="5080000" cy="1938020"/>
            <a:chOff x="6428" y="5336"/>
            <a:chExt cx="8000" cy="3052"/>
          </a:xfrm>
        </p:grpSpPr>
        <p:sp>
          <p:nvSpPr>
            <p:cNvPr id="105" name="文本框 104"/>
            <p:cNvSpPr txBox="1"/>
            <p:nvPr/>
          </p:nvSpPr>
          <p:spPr>
            <a:xfrm>
              <a:off x="6428" y="5336"/>
              <a:ext cx="8000" cy="3052"/>
            </a:xfrm>
            <a:prstGeom prst="rect">
              <a:avLst/>
            </a:prstGeom>
            <a:noFill/>
            <a:ln w="9525">
              <a:noFill/>
            </a:ln>
          </p:spPr>
          <p:txBody>
            <a:bodyPr>
              <a:spAutoFit/>
            </a:bodyPr>
            <a:p>
              <a:pPr indent="266700"/>
              <a:r>
                <a:rPr lang="zh-CN" sz="2000" b="1">
                  <a:solidFill>
                    <a:srgbClr val="000066"/>
                  </a:solidFill>
                  <a:latin typeface="Times New Roman" panose="02020603050405020304" charset="0"/>
                  <a:ea typeface="楷体" panose="02010609060101010101" charset="-122"/>
                  <a:cs typeface="Times New Roman" panose="02020603050405020304" charset="0"/>
                </a:rPr>
                <a:t>当</a:t>
              </a:r>
              <a:r>
                <a:rPr lang="en-US" sz="2000" b="1">
                  <a:solidFill>
                    <a:srgbClr val="000066"/>
                  </a:solidFill>
                  <a:latin typeface="Times New Roman" panose="02020603050405020304" charset="0"/>
                  <a:ea typeface="楷体" panose="02010609060101010101" charset="-122"/>
                  <a:cs typeface="Times New Roman" panose="02020603050405020304" charset="0"/>
                </a:rPr>
                <a:t>X</a:t>
              </a:r>
              <a:r>
                <a:rPr lang="zh-CN" sz="2000" b="1">
                  <a:solidFill>
                    <a:srgbClr val="000066"/>
                  </a:solidFill>
                  <a:latin typeface="Times New Roman" panose="02020603050405020304" charset="0"/>
                  <a:ea typeface="楷体" panose="02010609060101010101" charset="-122"/>
                  <a:cs typeface="Times New Roman" panose="02020603050405020304" charset="0"/>
                </a:rPr>
                <a:t>、</a:t>
              </a:r>
              <a:r>
                <a:rPr lang="en-US" sz="2000" b="1">
                  <a:solidFill>
                    <a:srgbClr val="000066"/>
                  </a:solidFill>
                  <a:latin typeface="Times New Roman" panose="02020603050405020304" charset="0"/>
                  <a:ea typeface="楷体" panose="02010609060101010101" charset="-122"/>
                  <a:cs typeface="Times New Roman" panose="02020603050405020304" charset="0"/>
                </a:rPr>
                <a:t>Y</a:t>
              </a:r>
              <a:r>
                <a:rPr lang="zh-CN" sz="2000" b="1">
                  <a:solidFill>
                    <a:srgbClr val="000066"/>
                  </a:solidFill>
                  <a:latin typeface="Times New Roman" panose="02020603050405020304" charset="0"/>
                  <a:ea typeface="楷体" panose="02010609060101010101" charset="-122"/>
                  <a:cs typeface="Times New Roman" panose="02020603050405020304" charset="0"/>
                </a:rPr>
                <a:t>同时为高电平时，则</a:t>
              </a:r>
              <a:r>
                <a:rPr lang="en-US" sz="2000" b="1">
                  <a:solidFill>
                    <a:srgbClr val="000066"/>
                  </a:solidFill>
                  <a:latin typeface="Times New Roman" panose="02020603050405020304" charset="0"/>
                  <a:ea typeface="楷体" panose="02010609060101010101" charset="-122"/>
                  <a:cs typeface="Times New Roman" panose="02020603050405020304" charset="0"/>
                </a:rPr>
                <a:t>T</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3</a:t>
              </a:r>
              <a:r>
                <a:rPr lang="zh-CN" sz="2000" b="1">
                  <a:solidFill>
                    <a:srgbClr val="000066"/>
                  </a:solidFill>
                  <a:latin typeface="Times New Roman" panose="02020603050405020304" charset="0"/>
                  <a:ea typeface="楷体" panose="02010609060101010101" charset="-122"/>
                  <a:cs typeface="Times New Roman" panose="02020603050405020304" charset="0"/>
                </a:rPr>
                <a:t>、</a:t>
              </a:r>
              <a:r>
                <a:rPr lang="en-US" sz="2000" b="1">
                  <a:solidFill>
                    <a:srgbClr val="000066"/>
                  </a:solidFill>
                  <a:latin typeface="Times New Roman" panose="02020603050405020304" charset="0"/>
                  <a:ea typeface="楷体" panose="02010609060101010101" charset="-122"/>
                  <a:cs typeface="Times New Roman" panose="02020603050405020304" charset="0"/>
                </a:rPr>
                <a:t>T</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4</a:t>
              </a:r>
              <a:r>
                <a:rPr lang="zh-CN" sz="2000" b="1">
                  <a:solidFill>
                    <a:srgbClr val="000066"/>
                  </a:solidFill>
                  <a:latin typeface="Times New Roman" panose="02020603050405020304" charset="0"/>
                  <a:ea typeface="楷体" panose="02010609060101010101" charset="-122"/>
                  <a:cs typeface="Times New Roman" panose="02020603050405020304" charset="0"/>
                </a:rPr>
                <a:t>、</a:t>
              </a:r>
              <a:r>
                <a:rPr lang="en-US" sz="2000" b="1">
                  <a:solidFill>
                    <a:srgbClr val="000066"/>
                  </a:solidFill>
                  <a:latin typeface="Times New Roman" panose="02020603050405020304" charset="0"/>
                  <a:ea typeface="楷体" panose="02010609060101010101" charset="-122"/>
                  <a:cs typeface="Times New Roman" panose="02020603050405020304" charset="0"/>
                </a:rPr>
                <a:t>T</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7</a:t>
              </a:r>
              <a:r>
                <a:rPr lang="zh-CN" sz="2000" b="1">
                  <a:solidFill>
                    <a:srgbClr val="000066"/>
                  </a:solidFill>
                  <a:latin typeface="Times New Roman" panose="02020603050405020304" charset="0"/>
                  <a:ea typeface="楷体" panose="02010609060101010101" charset="-122"/>
                  <a:cs typeface="Times New Roman" panose="02020603050405020304" charset="0"/>
                </a:rPr>
                <a:t>和</a:t>
              </a:r>
              <a:r>
                <a:rPr lang="en-US" sz="2000" b="1">
                  <a:solidFill>
                    <a:srgbClr val="000066"/>
                  </a:solidFill>
                  <a:latin typeface="Times New Roman" panose="02020603050405020304" charset="0"/>
                  <a:ea typeface="楷体" panose="02010609060101010101" charset="-122"/>
                  <a:cs typeface="Times New Roman" panose="02020603050405020304" charset="0"/>
                </a:rPr>
                <a:t>T</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8</a:t>
              </a:r>
              <a:r>
                <a:rPr lang="zh-CN" sz="2000" b="1">
                  <a:solidFill>
                    <a:srgbClr val="000066"/>
                  </a:solidFill>
                  <a:latin typeface="Times New Roman" panose="02020603050405020304" charset="0"/>
                  <a:ea typeface="楷体" panose="02010609060101010101" charset="-122"/>
                  <a:cs typeface="Times New Roman" panose="02020603050405020304" charset="0"/>
                </a:rPr>
                <a:t>同时导通。假设存储单元为</a:t>
              </a:r>
              <a:r>
                <a:rPr lang="en-US" sz="2000" b="1">
                  <a:solidFill>
                    <a:srgbClr val="000066"/>
                  </a:solidFill>
                  <a:latin typeface="Times New Roman" panose="02020603050405020304" charset="0"/>
                  <a:ea typeface="楷体" panose="02010609060101010101" charset="-122"/>
                  <a:cs typeface="Times New Roman" panose="02020603050405020304" charset="0"/>
                </a:rPr>
                <a:t>0</a:t>
              </a:r>
              <a:r>
                <a:rPr lang="zh-CN" sz="2000" b="1">
                  <a:solidFill>
                    <a:srgbClr val="000066"/>
                  </a:solidFill>
                  <a:latin typeface="Times New Roman" panose="02020603050405020304" charset="0"/>
                  <a:ea typeface="楷体" panose="02010609060101010101" charset="-122"/>
                  <a:cs typeface="Times New Roman" panose="02020603050405020304" charset="0"/>
                </a:rPr>
                <a:t>状态，即</a:t>
              </a:r>
              <a:r>
                <a:rPr lang="en-US" sz="2000" b="1">
                  <a:solidFill>
                    <a:srgbClr val="000066"/>
                  </a:solidFill>
                  <a:latin typeface="Times New Roman" panose="02020603050405020304" charset="0"/>
                  <a:ea typeface="楷体" panose="02010609060101010101" charset="-122"/>
                  <a:cs typeface="Times New Roman" panose="02020603050405020304" charset="0"/>
                </a:rPr>
                <a:t>T</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1</a:t>
              </a:r>
              <a:r>
                <a:rPr lang="zh-CN" sz="2000" b="1">
                  <a:solidFill>
                    <a:srgbClr val="000066"/>
                  </a:solidFill>
                  <a:latin typeface="Times New Roman" panose="02020603050405020304" charset="0"/>
                  <a:ea typeface="楷体" panose="02010609060101010101" charset="-122"/>
                  <a:cs typeface="Times New Roman" panose="02020603050405020304" charset="0"/>
                </a:rPr>
                <a:t>导通，</a:t>
              </a:r>
              <a:r>
                <a:rPr lang="en-US" sz="2000" b="1">
                  <a:solidFill>
                    <a:srgbClr val="000066"/>
                  </a:solidFill>
                  <a:latin typeface="Times New Roman" panose="02020603050405020304" charset="0"/>
                  <a:ea typeface="楷体" panose="02010609060101010101" charset="-122"/>
                  <a:cs typeface="Times New Roman" panose="02020603050405020304" charset="0"/>
                </a:rPr>
                <a:t>T</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2</a:t>
              </a:r>
              <a:r>
                <a:rPr lang="zh-CN" sz="2000" b="1">
                  <a:solidFill>
                    <a:srgbClr val="000066"/>
                  </a:solidFill>
                  <a:latin typeface="Times New Roman" panose="02020603050405020304" charset="0"/>
                  <a:ea typeface="楷体" panose="02010609060101010101" charset="-122"/>
                  <a:cs typeface="Times New Roman" panose="02020603050405020304" charset="0"/>
                </a:rPr>
                <a:t>截止，</a:t>
              </a:r>
              <a:r>
                <a:rPr lang="en-US" sz="2000" b="1" i="1">
                  <a:solidFill>
                    <a:srgbClr val="000066"/>
                  </a:solidFill>
                  <a:latin typeface="Times New Roman" panose="02020603050405020304" charset="0"/>
                  <a:ea typeface="楷体" panose="02010609060101010101" charset="-122"/>
                  <a:cs typeface="Times New Roman" panose="02020603050405020304" charset="0"/>
                </a:rPr>
                <a:t>Q</a:t>
              </a:r>
              <a:r>
                <a:rPr lang="zh-CN" sz="2000" b="1">
                  <a:solidFill>
                    <a:srgbClr val="000066"/>
                  </a:solidFill>
                  <a:latin typeface="Times New Roman" panose="02020603050405020304" charset="0"/>
                  <a:ea typeface="楷体" panose="02010609060101010101" charset="-122"/>
                  <a:cs typeface="Times New Roman" panose="02020603050405020304" charset="0"/>
                </a:rPr>
                <a:t>为</a:t>
              </a:r>
              <a:r>
                <a:rPr lang="en-US" sz="2000" b="1">
                  <a:solidFill>
                    <a:srgbClr val="000066"/>
                  </a:solidFill>
                  <a:latin typeface="Times New Roman" panose="02020603050405020304" charset="0"/>
                  <a:ea typeface="楷体" panose="02010609060101010101" charset="-122"/>
                  <a:cs typeface="Times New Roman" panose="02020603050405020304" charset="0"/>
                </a:rPr>
                <a:t>0</a:t>
              </a:r>
              <a:r>
                <a:rPr lang="zh-CN" sz="2000" b="1">
                  <a:solidFill>
                    <a:srgbClr val="000066"/>
                  </a:solidFill>
                  <a:latin typeface="Times New Roman" panose="02020603050405020304" charset="0"/>
                  <a:ea typeface="楷体" panose="02010609060101010101" charset="-122"/>
                  <a:cs typeface="Times New Roman" panose="02020603050405020304" charset="0"/>
                </a:rPr>
                <a:t>，</a:t>
              </a:r>
              <a:r>
                <a:rPr lang="en-US" altLang="zh-CN" sz="2000" b="1">
                  <a:solidFill>
                    <a:srgbClr val="000066"/>
                  </a:solidFill>
                  <a:latin typeface="Times New Roman" panose="02020603050405020304" charset="0"/>
                  <a:ea typeface="楷体" panose="02010609060101010101" charset="-122"/>
                  <a:cs typeface="Times New Roman" panose="02020603050405020304" charset="0"/>
                </a:rPr>
                <a:t>      </a:t>
              </a:r>
              <a:r>
                <a:rPr lang="zh-CN" sz="2000" b="1">
                  <a:solidFill>
                    <a:srgbClr val="000066"/>
                  </a:solidFill>
                  <a:latin typeface="Times New Roman" panose="02020603050405020304" charset="0"/>
                  <a:ea typeface="楷体" panose="02010609060101010101" charset="-122"/>
                  <a:cs typeface="Times New Roman" panose="02020603050405020304" charset="0"/>
                  <a:sym typeface="+mn-ea"/>
                </a:rPr>
                <a:t>为</a:t>
              </a:r>
              <a:r>
                <a:rPr lang="en-US" sz="2000" b="1">
                  <a:solidFill>
                    <a:srgbClr val="000066"/>
                  </a:solidFill>
                  <a:latin typeface="Times New Roman" panose="02020603050405020304" charset="0"/>
                  <a:ea typeface="楷体" panose="02010609060101010101" charset="-122"/>
                  <a:cs typeface="Times New Roman" panose="02020603050405020304" charset="0"/>
                  <a:sym typeface="+mn-ea"/>
                </a:rPr>
                <a:t>1</a:t>
              </a:r>
              <a:r>
                <a:rPr lang="zh-CN" sz="2000" b="1">
                  <a:solidFill>
                    <a:srgbClr val="000066"/>
                  </a:solidFill>
                  <a:latin typeface="Times New Roman" panose="02020603050405020304" charset="0"/>
                  <a:ea typeface="楷体" panose="02010609060101010101" charset="-122"/>
                  <a:cs typeface="Times New Roman" panose="02020603050405020304" charset="0"/>
                  <a:sym typeface="+mn-ea"/>
                </a:rPr>
                <a:t>，这时</a:t>
              </a:r>
              <a:r>
                <a:rPr lang="en-US" sz="2000" b="1" i="1">
                  <a:solidFill>
                    <a:srgbClr val="000066"/>
                  </a:solidFill>
                  <a:latin typeface="Times New Roman" panose="02020603050405020304" charset="0"/>
                  <a:ea typeface="楷体" panose="02010609060101010101" charset="-122"/>
                  <a:cs typeface="Times New Roman" panose="02020603050405020304" charset="0"/>
                  <a:sym typeface="+mn-ea"/>
                </a:rPr>
                <a:t>C</a:t>
              </a:r>
              <a:r>
                <a:rPr lang="en-US" sz="2000" b="1" baseline="-25000">
                  <a:solidFill>
                    <a:srgbClr val="000066"/>
                  </a:solidFill>
                  <a:latin typeface="Times New Roman" panose="02020603050405020304" charset="0"/>
                  <a:ea typeface="楷体" panose="02010609060101010101" charset="-122"/>
                  <a:cs typeface="Times New Roman" panose="02020603050405020304" charset="0"/>
                  <a:sym typeface="+mn-ea"/>
                </a:rPr>
                <a:t>B</a:t>
              </a:r>
              <a:r>
                <a:rPr lang="zh-CN" sz="2000" b="1">
                  <a:solidFill>
                    <a:srgbClr val="000066"/>
                  </a:solidFill>
                  <a:latin typeface="Times New Roman" panose="02020603050405020304" charset="0"/>
                  <a:ea typeface="楷体" panose="02010609060101010101" charset="-122"/>
                  <a:cs typeface="Times New Roman" panose="02020603050405020304" charset="0"/>
                  <a:sym typeface="+mn-ea"/>
                </a:rPr>
                <a:t>放电，使位线</a:t>
              </a:r>
              <a:r>
                <a:rPr lang="en-US" sz="2000" b="1" i="1">
                  <a:solidFill>
                    <a:srgbClr val="000066"/>
                  </a:solidFill>
                  <a:latin typeface="Times New Roman" panose="02020603050405020304" charset="0"/>
                  <a:ea typeface="楷体" panose="02010609060101010101" charset="-122"/>
                  <a:cs typeface="Times New Roman" panose="02020603050405020304" charset="0"/>
                  <a:sym typeface="+mn-ea"/>
                </a:rPr>
                <a:t>B</a:t>
              </a:r>
              <a:r>
                <a:rPr lang="zh-CN" sz="2000" b="1">
                  <a:solidFill>
                    <a:srgbClr val="000066"/>
                  </a:solidFill>
                  <a:latin typeface="Times New Roman" panose="02020603050405020304" charset="0"/>
                  <a:ea typeface="楷体" panose="02010609060101010101" charset="-122"/>
                  <a:cs typeface="Times New Roman" panose="02020603050405020304" charset="0"/>
                  <a:sym typeface="+mn-ea"/>
                </a:rPr>
                <a:t>变为低电平。同时，另一位线保持高电平不变。这样，就把存储单元的数据送到数据线</a:t>
              </a:r>
              <a:r>
                <a:rPr lang="en-US" sz="2000" b="1" i="1">
                  <a:solidFill>
                    <a:srgbClr val="000066"/>
                  </a:solidFill>
                  <a:latin typeface="Times New Roman" panose="02020603050405020304" charset="0"/>
                  <a:ea typeface="楷体" panose="02010609060101010101" charset="-122"/>
                  <a:cs typeface="Times New Roman" panose="02020603050405020304" charset="0"/>
                  <a:sym typeface="+mn-ea"/>
                </a:rPr>
                <a:t>D</a:t>
              </a:r>
              <a:r>
                <a:rPr lang="zh-CN" sz="2000" b="1">
                  <a:solidFill>
                    <a:srgbClr val="000066"/>
                  </a:solidFill>
                  <a:latin typeface="Times New Roman" panose="02020603050405020304" charset="0"/>
                  <a:ea typeface="楷体" panose="02010609060101010101" charset="-122"/>
                  <a:cs typeface="Times New Roman" panose="02020603050405020304" charset="0"/>
                  <a:sym typeface="+mn-ea"/>
                </a:rPr>
                <a:t>上。</a:t>
              </a:r>
              <a:endParaRPr lang="en-US" altLang="zh-CN" sz="2000" b="1">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13" name="对象 12"/>
            <p:cNvGraphicFramePr/>
            <p:nvPr/>
          </p:nvGraphicFramePr>
          <p:xfrm>
            <a:off x="10920" y="6288"/>
            <a:ext cx="619" cy="592"/>
          </p:xfrm>
          <a:graphic>
            <a:graphicData uri="http://schemas.openxmlformats.org/presentationml/2006/ole">
              <mc:AlternateContent xmlns:mc="http://schemas.openxmlformats.org/markup-compatibility/2006">
                <mc:Choice xmlns:v="urn:schemas-microsoft-com:vml" Requires="v">
                  <p:oleObj spid="_x0000_s14" name="" r:id="rId6" imgW="335280" imgH="361950" progId="Equation.KSEE3">
                    <p:embed/>
                  </p:oleObj>
                </mc:Choice>
                <mc:Fallback>
                  <p:oleObj name="" r:id="rId6" imgW="335280" imgH="361950" progId="Equation.KSEE3">
                    <p:embed/>
                    <p:pic>
                      <p:nvPicPr>
                        <p:cNvPr id="0" name="图片 13"/>
                        <p:cNvPicPr/>
                        <p:nvPr/>
                      </p:nvPicPr>
                      <p:blipFill>
                        <a:blip r:embed="rId7"/>
                        <a:stretch>
                          <a:fillRect/>
                        </a:stretch>
                      </p:blipFill>
                      <p:spPr>
                        <a:xfrm>
                          <a:off x="10920" y="6288"/>
                          <a:ext cx="619" cy="592"/>
                        </a:xfrm>
                        <a:prstGeom prst="rect">
                          <a:avLst/>
                        </a:prstGeom>
                      </p:spPr>
                    </p:pic>
                  </p:oleObj>
                </mc:Fallback>
              </mc:AlternateContent>
            </a:graphicData>
          </a:graphic>
        </p:graphicFrame>
      </p:grpSp>
      <p:sp>
        <p:nvSpPr>
          <p:cNvPr id="23" name="文本框 22"/>
          <p:cNvSpPr txBox="1"/>
          <p:nvPr/>
        </p:nvSpPr>
        <p:spPr>
          <a:xfrm>
            <a:off x="4064000" y="5571490"/>
            <a:ext cx="5080000" cy="1014730"/>
          </a:xfrm>
          <a:prstGeom prst="rect">
            <a:avLst/>
          </a:prstGeom>
          <a:noFill/>
          <a:ln w="9525">
            <a:noFill/>
          </a:ln>
        </p:spPr>
        <p:txBody>
          <a:bodyPr>
            <a:spAutoFit/>
          </a:bodyPr>
          <a:p>
            <a:pPr indent="266700"/>
            <a:r>
              <a:rPr lang="zh-CN" sz="2000" b="1">
                <a:solidFill>
                  <a:srgbClr val="000066"/>
                </a:solidFill>
                <a:latin typeface="Times New Roman" panose="02020603050405020304" charset="0"/>
                <a:ea typeface="楷体" panose="02010609060101010101" charset="-122"/>
                <a:cs typeface="Times New Roman" panose="02020603050405020304" charset="0"/>
              </a:rPr>
              <a:t>写操作时，当</a:t>
            </a:r>
            <a:r>
              <a:rPr lang="en-US" sz="2000" b="1">
                <a:solidFill>
                  <a:srgbClr val="000066"/>
                </a:solidFill>
                <a:latin typeface="Times New Roman" panose="02020603050405020304" charset="0"/>
                <a:ea typeface="楷体" panose="02010609060101010101" charset="-122"/>
                <a:cs typeface="Times New Roman" panose="02020603050405020304" charset="0"/>
              </a:rPr>
              <a:t>X</a:t>
            </a:r>
            <a:r>
              <a:rPr lang="zh-CN" sz="2000" b="1">
                <a:solidFill>
                  <a:srgbClr val="000066"/>
                </a:solidFill>
                <a:latin typeface="Times New Roman" panose="02020603050405020304" charset="0"/>
                <a:ea typeface="楷体" panose="02010609060101010101" charset="-122"/>
                <a:cs typeface="Times New Roman" panose="02020603050405020304" charset="0"/>
              </a:rPr>
              <a:t>、</a:t>
            </a:r>
            <a:r>
              <a:rPr lang="en-US" sz="2000" b="1">
                <a:solidFill>
                  <a:srgbClr val="000066"/>
                </a:solidFill>
                <a:latin typeface="Times New Roman" panose="02020603050405020304" charset="0"/>
                <a:ea typeface="楷体" panose="02010609060101010101" charset="-122"/>
                <a:cs typeface="Times New Roman" panose="02020603050405020304" charset="0"/>
              </a:rPr>
              <a:t>Y</a:t>
            </a:r>
            <a:r>
              <a:rPr lang="zh-CN" sz="2000" b="1">
                <a:solidFill>
                  <a:srgbClr val="000066"/>
                </a:solidFill>
                <a:latin typeface="Times New Roman" panose="02020603050405020304" charset="0"/>
                <a:ea typeface="楷体" panose="02010609060101010101" charset="-122"/>
                <a:cs typeface="Times New Roman" panose="02020603050405020304" charset="0"/>
              </a:rPr>
              <a:t>同时为高电平，数据线上的数据通过</a:t>
            </a:r>
            <a:r>
              <a:rPr lang="en-US" sz="2000" b="1">
                <a:solidFill>
                  <a:srgbClr val="000066"/>
                </a:solidFill>
                <a:latin typeface="Times New Roman" panose="02020603050405020304" charset="0"/>
                <a:ea typeface="楷体" panose="02010609060101010101" charset="-122"/>
                <a:cs typeface="Times New Roman" panose="02020603050405020304" charset="0"/>
              </a:rPr>
              <a:t>T</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7</a:t>
            </a:r>
            <a:r>
              <a:rPr lang="zh-CN" sz="2000" b="1">
                <a:solidFill>
                  <a:srgbClr val="000066"/>
                </a:solidFill>
                <a:latin typeface="Times New Roman" panose="02020603050405020304" charset="0"/>
                <a:ea typeface="楷体" panose="02010609060101010101" charset="-122"/>
                <a:cs typeface="Times New Roman" panose="02020603050405020304" charset="0"/>
              </a:rPr>
              <a:t>和</a:t>
            </a:r>
            <a:r>
              <a:rPr lang="en-US" sz="2000" b="1">
                <a:solidFill>
                  <a:srgbClr val="000066"/>
                </a:solidFill>
                <a:latin typeface="Times New Roman" panose="02020603050405020304" charset="0"/>
                <a:ea typeface="楷体" panose="02010609060101010101" charset="-122"/>
                <a:cs typeface="Times New Roman" panose="02020603050405020304" charset="0"/>
              </a:rPr>
              <a:t>T</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8</a:t>
            </a:r>
            <a:r>
              <a:rPr lang="zh-CN" sz="2000" b="1">
                <a:solidFill>
                  <a:srgbClr val="000066"/>
                </a:solidFill>
                <a:latin typeface="Times New Roman" panose="02020603050405020304" charset="0"/>
                <a:ea typeface="楷体" panose="02010609060101010101" charset="-122"/>
                <a:cs typeface="Times New Roman" panose="02020603050405020304" charset="0"/>
              </a:rPr>
              <a:t>管传到位线上，再经过</a:t>
            </a:r>
            <a:r>
              <a:rPr lang="en-US" sz="2000" b="1">
                <a:solidFill>
                  <a:srgbClr val="000066"/>
                </a:solidFill>
                <a:latin typeface="Times New Roman" panose="02020603050405020304" charset="0"/>
                <a:ea typeface="楷体" panose="02010609060101010101" charset="-122"/>
                <a:cs typeface="Times New Roman" panose="02020603050405020304" charset="0"/>
              </a:rPr>
              <a:t>T</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3</a:t>
            </a:r>
            <a:r>
              <a:rPr lang="zh-CN" sz="2000" b="1">
                <a:solidFill>
                  <a:srgbClr val="000066"/>
                </a:solidFill>
                <a:latin typeface="Times New Roman" panose="02020603050405020304" charset="0"/>
                <a:ea typeface="楷体" panose="02010609060101010101" charset="-122"/>
                <a:cs typeface="Times New Roman" panose="02020603050405020304" charset="0"/>
              </a:rPr>
              <a:t>、</a:t>
            </a:r>
            <a:r>
              <a:rPr lang="en-US" sz="2000" b="1">
                <a:solidFill>
                  <a:srgbClr val="000066"/>
                </a:solidFill>
                <a:latin typeface="Times New Roman" panose="02020603050405020304" charset="0"/>
                <a:ea typeface="楷体" panose="02010609060101010101" charset="-122"/>
                <a:cs typeface="Times New Roman" panose="02020603050405020304" charset="0"/>
              </a:rPr>
              <a:t>T</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4</a:t>
            </a:r>
            <a:r>
              <a:rPr lang="zh-CN" sz="2000" b="1">
                <a:solidFill>
                  <a:srgbClr val="000066"/>
                </a:solidFill>
                <a:latin typeface="Times New Roman" panose="02020603050405020304" charset="0"/>
                <a:ea typeface="楷体" panose="02010609060101010101" charset="-122"/>
                <a:cs typeface="Times New Roman" panose="02020603050405020304" charset="0"/>
              </a:rPr>
              <a:t>管将数据存入</a:t>
            </a:r>
            <a:r>
              <a:rPr lang="en-US" sz="2000" b="1" i="1">
                <a:solidFill>
                  <a:srgbClr val="000066"/>
                </a:solidFill>
                <a:latin typeface="Times New Roman" panose="02020603050405020304" charset="0"/>
                <a:ea typeface="楷体" panose="02010609060101010101" charset="-122"/>
                <a:cs typeface="Times New Roman" panose="02020603050405020304" charset="0"/>
              </a:rPr>
              <a:t>C</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1</a:t>
            </a:r>
            <a:r>
              <a:rPr lang="zh-CN" sz="2000" b="1">
                <a:solidFill>
                  <a:srgbClr val="000066"/>
                </a:solidFill>
                <a:latin typeface="Times New Roman" panose="02020603050405020304" charset="0"/>
                <a:ea typeface="楷体" panose="02010609060101010101" charset="-122"/>
                <a:cs typeface="Times New Roman" panose="02020603050405020304" charset="0"/>
              </a:rPr>
              <a:t>和</a:t>
            </a:r>
            <a:r>
              <a:rPr lang="en-US" sz="2000" b="1" i="1">
                <a:solidFill>
                  <a:srgbClr val="000066"/>
                </a:solidFill>
                <a:latin typeface="Times New Roman" panose="02020603050405020304" charset="0"/>
                <a:ea typeface="楷体" panose="02010609060101010101" charset="-122"/>
                <a:cs typeface="Times New Roman" panose="02020603050405020304" charset="0"/>
              </a:rPr>
              <a:t>C</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2</a:t>
            </a:r>
            <a:r>
              <a:rPr lang="zh-CN" sz="2000" b="1">
                <a:solidFill>
                  <a:srgbClr val="000066"/>
                </a:solidFill>
                <a:latin typeface="Times New Roman" panose="02020603050405020304" charset="0"/>
                <a:ea typeface="楷体" panose="02010609060101010101" charset="-122"/>
                <a:cs typeface="Times New Roman" panose="02020603050405020304" charset="0"/>
              </a:rPr>
              <a:t>中。</a:t>
            </a:r>
            <a:endParaRPr lang="zh-CN" altLang="en-US" sz="2000" b="1">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blinds(horizontal)">
                                      <p:cBhvr>
                                        <p:cTn id="7" dur="500"/>
                                        <p:tgtEl>
                                          <p:spTgt spid="10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linds(horizontal)">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linds(horizont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blinds(horizontal)">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p:bldP spid="103" grpId="1"/>
      <p:bldP spid="23" grpId="0"/>
      <p:bldP spid="23"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914400" y="990600"/>
            <a:ext cx="8068945" cy="705485"/>
          </a:xfrm>
        </p:spPr>
        <p:txBody>
          <a:bodyPr vert="horz" wrap="square" lIns="91440" tIns="45720" rIns="91440" bIns="45720" anchor="ctr" anchorCtr="0"/>
          <a:p>
            <a:pPr algn="l" eaLnBrk="1" hangingPunct="1"/>
            <a:r>
              <a:rPr lang="en-US" altLang="zh-CN" sz="2400" i="0" dirty="0">
                <a:solidFill>
                  <a:srgbClr val="0070C0"/>
                </a:solidFill>
                <a:latin typeface="黑体" panose="02010609060101010101" pitchFamily="49" charset="-122"/>
                <a:ea typeface="黑体" panose="02010609060101010101" pitchFamily="49" charset="-122"/>
              </a:rPr>
              <a:t>8.2.3 </a:t>
            </a:r>
            <a:r>
              <a:rPr lang="zh-CN" altLang="en-US" sz="2400" i="0" dirty="0">
                <a:solidFill>
                  <a:srgbClr val="0070C0"/>
                </a:solidFill>
                <a:latin typeface="黑体" panose="02010609060101010101" pitchFamily="49" charset="-122"/>
                <a:ea typeface="黑体" panose="02010609060101010101" pitchFamily="49" charset="-122"/>
              </a:rPr>
              <a:t>半导体存储器的</a:t>
            </a:r>
            <a:r>
              <a:rPr lang="zh-CN" altLang="en-US" sz="2400" i="0" dirty="0">
                <a:solidFill>
                  <a:srgbClr val="0070C0"/>
                </a:solidFill>
                <a:latin typeface="黑体" panose="02010609060101010101" pitchFamily="49" charset="-122"/>
                <a:ea typeface="黑体" panose="02010609060101010101" pitchFamily="49" charset="-122"/>
              </a:rPr>
              <a:t>应用</a:t>
            </a:r>
            <a:endParaRPr lang="zh-CN" altLang="en-US" sz="2400" i="0" dirty="0">
              <a:solidFill>
                <a:srgbClr val="0070C0"/>
              </a:solidFill>
              <a:latin typeface="黑体" panose="02010609060101010101" pitchFamily="49" charset="-122"/>
              <a:ea typeface="黑体" panose="02010609060101010101" pitchFamily="49" charset="-122"/>
            </a:endParaRPr>
          </a:p>
        </p:txBody>
      </p:sp>
      <p:sp>
        <p:nvSpPr>
          <p:cNvPr id="106" name="文本框 105"/>
          <p:cNvSpPr txBox="1"/>
          <p:nvPr/>
        </p:nvSpPr>
        <p:spPr>
          <a:xfrm>
            <a:off x="200660" y="1543685"/>
            <a:ext cx="8742680" cy="1014730"/>
          </a:xfrm>
          <a:prstGeom prst="rect">
            <a:avLst/>
          </a:prstGeom>
          <a:noFill/>
          <a:ln w="9525">
            <a:noFill/>
          </a:ln>
        </p:spPr>
        <p:txBody>
          <a:bodyPr wrap="square">
            <a:spAutoFit/>
          </a:bodyPr>
          <a:p>
            <a:pPr indent="266700"/>
            <a:r>
              <a:rPr lang="en-US" altLang="zh-CN" sz="2000" b="1">
                <a:solidFill>
                  <a:srgbClr val="000066"/>
                </a:solidFill>
                <a:latin typeface="Times New Roman" panose="02020603050405020304" charset="0"/>
                <a:ea typeface="楷体" panose="02010609060101010101" charset="-122"/>
              </a:rPr>
              <a:t>  </a:t>
            </a:r>
            <a:r>
              <a:rPr lang="zh-CN" sz="2000" b="1">
                <a:solidFill>
                  <a:srgbClr val="000066"/>
                </a:solidFill>
                <a:latin typeface="Times New Roman" panose="02020603050405020304" charset="0"/>
                <a:ea typeface="楷体" panose="02010609060101010101" charset="-122"/>
              </a:rPr>
              <a:t>存储器的主要构成是存储矩阵，基本由与阵列和或阵列构成，存储器的编程即对与阵列和或阵列的器件进行操作。为了便于绘制与、或阵列的结构图，采用了一种简化的表示方法，其符号及其含义如下：</a:t>
            </a:r>
            <a:endParaRPr lang="zh-CN" altLang="en-US" sz="2000" b="1">
              <a:solidFill>
                <a:srgbClr val="000066"/>
              </a:solidFill>
              <a:latin typeface="Times New Roman" panose="02020603050405020304" charset="0"/>
              <a:ea typeface="楷体" panose="02010609060101010101" charset="-122"/>
            </a:endParaRPr>
          </a:p>
        </p:txBody>
      </p:sp>
      <p:grpSp>
        <p:nvGrpSpPr>
          <p:cNvPr id="6" name="组合 5"/>
          <p:cNvGrpSpPr/>
          <p:nvPr/>
        </p:nvGrpSpPr>
        <p:grpSpPr>
          <a:xfrm>
            <a:off x="594995" y="2581275"/>
            <a:ext cx="7927340" cy="1014730"/>
            <a:chOff x="937" y="4785"/>
            <a:chExt cx="12484" cy="1598"/>
          </a:xfrm>
        </p:grpSpPr>
        <p:sp>
          <p:nvSpPr>
            <p:cNvPr id="4" name="文本框 3"/>
            <p:cNvSpPr txBox="1"/>
            <p:nvPr/>
          </p:nvSpPr>
          <p:spPr>
            <a:xfrm>
              <a:off x="937" y="4785"/>
              <a:ext cx="12485" cy="1598"/>
            </a:xfrm>
            <a:prstGeom prst="rect">
              <a:avLst/>
            </a:prstGeom>
            <a:noFill/>
            <a:ln w="9525">
              <a:noFill/>
            </a:ln>
          </p:spPr>
          <p:txBody>
            <a:bodyPr wrap="square">
              <a:spAutoFit/>
            </a:bodyPr>
            <a:p>
              <a:pPr indent="266700"/>
              <a:r>
                <a:rPr lang="en-US" sz="2000" b="1">
                  <a:solidFill>
                    <a:srgbClr val="000066"/>
                  </a:solidFill>
                  <a:latin typeface="Times New Roman" panose="02020603050405020304" charset="0"/>
                  <a:ea typeface="楷体" panose="02010609060101010101" charset="-122"/>
                  <a:cs typeface="Times New Roman" panose="02020603050405020304" charset="0"/>
                </a:rPr>
                <a:t>(1) </a:t>
              </a:r>
              <a:r>
                <a:rPr lang="zh-CN" sz="2000" b="1">
                  <a:solidFill>
                    <a:srgbClr val="000066"/>
                  </a:solidFill>
                  <a:latin typeface="Times New Roman" panose="02020603050405020304" charset="0"/>
                  <a:ea typeface="楷体" panose="02010609060101010101" charset="-122"/>
                  <a:cs typeface="Times New Roman" panose="02020603050405020304" charset="0"/>
                </a:rPr>
                <a:t>硬线连接单元：硬线连接是固定连接，不可以编程改变，阵列交叉处添加</a:t>
              </a:r>
              <a:r>
                <a:rPr lang="en-US" sz="2000" b="1">
                  <a:solidFill>
                    <a:srgbClr val="000066"/>
                  </a:solidFill>
                  <a:latin typeface="Times New Roman" panose="02020603050405020304" charset="0"/>
                  <a:ea typeface="楷体" panose="02010609060101010101" charset="-122"/>
                  <a:cs typeface="Times New Roman" panose="02020603050405020304" charset="0"/>
                </a:rPr>
                <a:t>“   </a:t>
              </a:r>
              <a:r>
                <a:rPr lang="zh-CN" sz="2000" b="1">
                  <a:solidFill>
                    <a:srgbClr val="000066"/>
                  </a:solidFill>
                  <a:latin typeface="Times New Roman" panose="02020603050405020304" charset="0"/>
                  <a:ea typeface="楷体" panose="02010609060101010101" charset="-122"/>
                  <a:cs typeface="Times New Roman" panose="02020603050405020304" charset="0"/>
                  <a:sym typeface="+mn-ea"/>
                </a:rPr>
                <a:t>”表示。</a:t>
              </a:r>
              <a:endParaRPr lang="zh-CN" altLang="en-US" sz="2000" b="1">
                <a:solidFill>
                  <a:srgbClr val="000066"/>
                </a:solidFill>
                <a:latin typeface="Times New Roman" panose="02020603050405020304" charset="0"/>
                <a:ea typeface="楷体" panose="02010609060101010101" charset="-122"/>
                <a:cs typeface="Times New Roman" panose="02020603050405020304" charset="0"/>
              </a:endParaRPr>
            </a:p>
            <a:p>
              <a:pPr indent="266700"/>
              <a:endParaRPr lang="zh-CN" altLang="en-US" sz="2000" b="1">
                <a:solidFill>
                  <a:srgbClr val="000066"/>
                </a:solidFill>
                <a:latin typeface="Times New Roman" panose="02020603050405020304" charset="0"/>
                <a:ea typeface="楷体" panose="02010609060101010101" charset="-122"/>
                <a:cs typeface="Times New Roman" panose="02020603050405020304" charset="0"/>
              </a:endParaRPr>
            </a:p>
          </p:txBody>
        </p:sp>
        <p:pic>
          <p:nvPicPr>
            <p:cNvPr id="5" name="图片 4"/>
            <p:cNvPicPr/>
            <p:nvPr/>
          </p:nvPicPr>
          <p:blipFill>
            <a:blip r:embed="rId1"/>
            <a:stretch>
              <a:fillRect/>
            </a:stretch>
          </p:blipFill>
          <p:spPr>
            <a:xfrm>
              <a:off x="3320" y="5557"/>
              <a:ext cx="180" cy="180"/>
            </a:xfrm>
            <a:prstGeom prst="rect">
              <a:avLst/>
            </a:prstGeom>
            <a:noFill/>
            <a:ln w="9525">
              <a:noFill/>
            </a:ln>
          </p:spPr>
        </p:pic>
      </p:grpSp>
      <p:grpSp>
        <p:nvGrpSpPr>
          <p:cNvPr id="9" name="组合 8"/>
          <p:cNvGrpSpPr/>
          <p:nvPr/>
        </p:nvGrpSpPr>
        <p:grpSpPr>
          <a:xfrm>
            <a:off x="528320" y="3261995"/>
            <a:ext cx="8555990" cy="1014730"/>
            <a:chOff x="832" y="5137"/>
            <a:chExt cx="13474" cy="1598"/>
          </a:xfrm>
        </p:grpSpPr>
        <p:sp>
          <p:nvSpPr>
            <p:cNvPr id="7" name="文本框 6"/>
            <p:cNvSpPr txBox="1"/>
            <p:nvPr/>
          </p:nvSpPr>
          <p:spPr>
            <a:xfrm>
              <a:off x="832" y="5137"/>
              <a:ext cx="13475" cy="1598"/>
            </a:xfrm>
            <a:prstGeom prst="rect">
              <a:avLst/>
            </a:prstGeom>
            <a:noFill/>
            <a:ln w="9525">
              <a:noFill/>
            </a:ln>
          </p:spPr>
          <p:txBody>
            <a:bodyPr wrap="square">
              <a:spAutoFit/>
            </a:bodyPr>
            <a:p>
              <a:pPr indent="266700"/>
              <a:r>
                <a:rPr lang="en-US" sz="2000" b="1">
                  <a:solidFill>
                    <a:srgbClr val="000066"/>
                  </a:solidFill>
                  <a:latin typeface="Times New Roman" panose="02020603050405020304" charset="0"/>
                  <a:ea typeface="楷体" panose="02010609060101010101" charset="-122"/>
                  <a:cs typeface="Times New Roman" panose="02020603050405020304" charset="0"/>
                </a:rPr>
                <a:t>(2) </a:t>
              </a:r>
              <a:r>
                <a:rPr lang="zh-CN" sz="2000" b="1">
                  <a:solidFill>
                    <a:srgbClr val="000066"/>
                  </a:solidFill>
                  <a:latin typeface="Times New Roman" panose="02020603050405020304" charset="0"/>
                  <a:ea typeface="楷体" panose="02010609060101010101" charset="-122"/>
                  <a:cs typeface="Times New Roman" panose="02020603050405020304" charset="0"/>
                </a:rPr>
                <a:t>可编程连通单元：依靠用户编程来实现连接，阵列交叉处添加</a:t>
              </a:r>
              <a:r>
                <a:rPr lang="en-US" sz="2000" b="1">
                  <a:solidFill>
                    <a:srgbClr val="000066"/>
                  </a:solidFill>
                  <a:latin typeface="Times New Roman" panose="02020603050405020304" charset="0"/>
                  <a:ea typeface="楷体" panose="02010609060101010101" charset="-122"/>
                  <a:cs typeface="Times New Roman" panose="02020603050405020304" charset="0"/>
                </a:rPr>
                <a:t>“    </a:t>
              </a:r>
              <a:r>
                <a:rPr lang="zh-CN" sz="2000" b="1">
                  <a:solidFill>
                    <a:srgbClr val="000066"/>
                  </a:solidFill>
                  <a:latin typeface="Times New Roman" panose="02020603050405020304" charset="0"/>
                  <a:ea typeface="楷体" panose="02010609060101010101" charset="-122"/>
                  <a:cs typeface="Times New Roman" panose="02020603050405020304" charset="0"/>
                  <a:sym typeface="+mn-ea"/>
                </a:rPr>
                <a:t>” 表示。</a:t>
              </a:r>
              <a:endParaRPr lang="zh-CN" altLang="en-US" sz="2000" b="1">
                <a:solidFill>
                  <a:srgbClr val="000066"/>
                </a:solidFill>
                <a:latin typeface="Times New Roman" panose="02020603050405020304" charset="0"/>
                <a:ea typeface="楷体" panose="02010609060101010101" charset="-122"/>
                <a:cs typeface="Times New Roman" panose="02020603050405020304" charset="0"/>
              </a:endParaRPr>
            </a:p>
            <a:p>
              <a:pPr indent="266700"/>
              <a:endParaRPr lang="en-US" altLang="en-US" sz="2000" b="1">
                <a:solidFill>
                  <a:srgbClr val="000066"/>
                </a:solidFill>
                <a:latin typeface="Times New Roman" panose="02020603050405020304" charset="0"/>
                <a:ea typeface="楷体" panose="02010609060101010101" charset="-122"/>
                <a:cs typeface="Times New Roman" panose="02020603050405020304" charset="0"/>
              </a:endParaRPr>
            </a:p>
          </p:txBody>
        </p:sp>
        <p:pic>
          <p:nvPicPr>
            <p:cNvPr id="8" name="图片 7"/>
            <p:cNvPicPr/>
            <p:nvPr/>
          </p:nvPicPr>
          <p:blipFill>
            <a:blip r:embed="rId2"/>
            <a:stretch>
              <a:fillRect/>
            </a:stretch>
          </p:blipFill>
          <p:spPr>
            <a:xfrm>
              <a:off x="13107" y="5318"/>
              <a:ext cx="315" cy="345"/>
            </a:xfrm>
            <a:prstGeom prst="rect">
              <a:avLst/>
            </a:prstGeom>
            <a:noFill/>
            <a:ln w="9525">
              <a:noFill/>
            </a:ln>
          </p:spPr>
        </p:pic>
      </p:grpSp>
      <p:sp>
        <p:nvSpPr>
          <p:cNvPr id="10" name="文本框 9"/>
          <p:cNvSpPr txBox="1"/>
          <p:nvPr/>
        </p:nvSpPr>
        <p:spPr>
          <a:xfrm>
            <a:off x="766445" y="3962400"/>
            <a:ext cx="8097520" cy="398780"/>
          </a:xfrm>
          <a:prstGeom prst="rect">
            <a:avLst/>
          </a:prstGeom>
          <a:noFill/>
          <a:ln w="9525">
            <a:noFill/>
          </a:ln>
        </p:spPr>
        <p:txBody>
          <a:bodyPr wrap="square">
            <a:spAutoFit/>
          </a:bodyPr>
          <a:p>
            <a:r>
              <a:rPr lang="en-US" altLang="zh-CN" sz="2000" b="1">
                <a:solidFill>
                  <a:srgbClr val="000066"/>
                </a:solidFill>
                <a:latin typeface="Times New Roman" panose="02020603050405020304" charset="0"/>
                <a:ea typeface="楷体" panose="02010609060101010101" charset="-122"/>
              </a:rPr>
              <a:t>(3)</a:t>
            </a:r>
            <a:r>
              <a:rPr lang="zh-CN" sz="2000" b="1">
                <a:solidFill>
                  <a:srgbClr val="000066"/>
                </a:solidFill>
                <a:latin typeface="Times New Roman" panose="02020603050405020304" charset="0"/>
                <a:ea typeface="楷体" panose="02010609060101010101" charset="-122"/>
              </a:rPr>
              <a:t>可编程断开单元：编程实现断开状态，阵列交叉处无添加。</a:t>
            </a:r>
            <a:endParaRPr lang="zh-CN" altLang="en-US" sz="2000" b="1">
              <a:solidFill>
                <a:srgbClr val="000066"/>
              </a:solidFill>
              <a:latin typeface="Times New Roman" panose="02020603050405020304" charset="0"/>
              <a:ea typeface="楷体" panose="02010609060101010101" charset="-122"/>
            </a:endParaRPr>
          </a:p>
        </p:txBody>
      </p:sp>
      <p:pic>
        <p:nvPicPr>
          <p:cNvPr id="11" name="图片 10"/>
          <p:cNvPicPr>
            <a:picLocks noChangeAspect="1"/>
          </p:cNvPicPr>
          <p:nvPr/>
        </p:nvPicPr>
        <p:blipFill>
          <a:blip r:embed="rId3"/>
          <a:stretch>
            <a:fillRect/>
          </a:stretch>
        </p:blipFill>
        <p:spPr>
          <a:xfrm>
            <a:off x="914400" y="4561205"/>
            <a:ext cx="6870700" cy="15640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blinds(horizontal)">
                                      <p:cBhvr>
                                        <p:cTn id="7" dur="500"/>
                                        <p:tgtEl>
                                          <p:spTgt spid="10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blinds(horizontal)">
                                      <p:cBhvr>
                                        <p:cTn id="22" dur="500"/>
                                        <p:tgtEl>
                                          <p:spTgt spid="1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down)">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p:bldP spid="106"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6" name="文本框 105"/>
          <p:cNvSpPr txBox="1"/>
          <p:nvPr/>
        </p:nvSpPr>
        <p:spPr>
          <a:xfrm>
            <a:off x="200660" y="1543685"/>
            <a:ext cx="8742680" cy="829945"/>
          </a:xfrm>
          <a:prstGeom prst="rect">
            <a:avLst/>
          </a:prstGeom>
          <a:noFill/>
          <a:ln w="9525">
            <a:noFill/>
          </a:ln>
        </p:spPr>
        <p:txBody>
          <a:bodyPr wrap="square">
            <a:spAutoFit/>
          </a:bodyPr>
          <a:p>
            <a:pPr indent="266700"/>
            <a:r>
              <a:rPr lang="en-US" altLang="zh-CN" sz="2400" b="1">
                <a:solidFill>
                  <a:srgbClr val="000066"/>
                </a:solidFill>
                <a:latin typeface="Times New Roman" panose="02020603050405020304" charset="0"/>
                <a:ea typeface="楷体" panose="02010609060101010101" charset="-122"/>
              </a:rPr>
              <a:t>  </a:t>
            </a:r>
            <a:r>
              <a:rPr lang="zh-CN" sz="2400" b="1">
                <a:solidFill>
                  <a:srgbClr val="000066"/>
                </a:solidFill>
                <a:latin typeface="Times New Roman" panose="02020603050405020304" charset="0"/>
                <a:ea typeface="楷体" panose="02010609060101010101" charset="-122"/>
              </a:rPr>
              <a:t>如果将输入变量作为ROM的地址码，输出作为存储内容，将内容按地址写入ROM，即可实现任意组合逻辑函数。</a:t>
            </a:r>
            <a:endParaRPr lang="zh-CN" sz="2400" b="1">
              <a:solidFill>
                <a:srgbClr val="000066"/>
              </a:solidFill>
              <a:latin typeface="Times New Roman" panose="02020603050405020304" charset="0"/>
              <a:ea typeface="楷体" panose="02010609060101010101" charset="-122"/>
            </a:endParaRPr>
          </a:p>
        </p:txBody>
      </p:sp>
      <p:sp>
        <p:nvSpPr>
          <p:cNvPr id="67588" name="矩形 67587"/>
          <p:cNvSpPr/>
          <p:nvPr/>
        </p:nvSpPr>
        <p:spPr>
          <a:xfrm>
            <a:off x="990283" y="1143000"/>
            <a:ext cx="7848600" cy="539750"/>
          </a:xfrm>
          <a:prstGeom prst="rect">
            <a:avLst/>
          </a:prstGeom>
          <a:noFill/>
          <a:ln w="9525">
            <a:noFill/>
          </a:ln>
        </p:spPr>
        <p:txBody>
          <a:bodyPr anchor="ctr" anchorCtr="0"/>
          <a:lstStyle>
            <a:lvl1pPr marL="0" lvl="0" indent="0" algn="l" defTabSz="914400" rtl="0" eaLnBrk="1" fontAlgn="base" latinLnBrk="0" hangingPunct="1">
              <a:lnSpc>
                <a:spcPct val="100000"/>
              </a:lnSpc>
              <a:spcBef>
                <a:spcPct val="0"/>
              </a:spcBef>
              <a:spcAft>
                <a:spcPct val="0"/>
              </a:spcAft>
              <a:buNone/>
              <a:defRPr sz="4400" u="none" kern="1200" baseline="0">
                <a:solidFill>
                  <a:schemeClr val="tx1"/>
                </a:solidFill>
                <a:latin typeface="Arial" panose="020B0604020202020204" pitchFamily="34" charset="0"/>
                <a:ea typeface="宋体" panose="02010600030101010101" pitchFamily="2" charset="-122"/>
              </a:defRPr>
            </a:lvl1pPr>
          </a:lstStyle>
          <a:p>
            <a:pPr marL="609600" lvl="0" indent="-609600"/>
            <a:r>
              <a:rPr lang="en-US" sz="2400" b="1">
                <a:solidFill>
                  <a:srgbClr val="FE09D6"/>
                </a:solidFill>
                <a:latin typeface="Times New Roman" panose="02020603050405020304" charset="0"/>
                <a:ea typeface="楷体" panose="02010609060101010101" charset="-122"/>
                <a:cs typeface="Times New Roman" panose="02020603050405020304" charset="0"/>
              </a:rPr>
              <a:t>1.ROM</a:t>
            </a:r>
            <a:r>
              <a:rPr lang="zh-CN" altLang="en-US" sz="2400" b="1">
                <a:solidFill>
                  <a:srgbClr val="FE09D6"/>
                </a:solidFill>
                <a:latin typeface="Times New Roman" panose="02020603050405020304" charset="0"/>
                <a:ea typeface="楷体" panose="02010609060101010101" charset="-122"/>
                <a:cs typeface="Times New Roman" panose="02020603050405020304" charset="0"/>
              </a:rPr>
              <a:t>实现任意组合逻辑</a:t>
            </a:r>
            <a:r>
              <a:rPr lang="zh-CN" altLang="en-US" sz="2400" b="1">
                <a:solidFill>
                  <a:srgbClr val="FE09D6"/>
                </a:solidFill>
                <a:latin typeface="Times New Roman" panose="02020603050405020304" charset="0"/>
                <a:ea typeface="楷体" panose="02010609060101010101" charset="-122"/>
                <a:cs typeface="Times New Roman" panose="02020603050405020304" charset="0"/>
              </a:rPr>
              <a:t>函数</a:t>
            </a:r>
            <a:endParaRPr lang="zh-CN" altLang="en-US" sz="2400" b="1">
              <a:solidFill>
                <a:srgbClr val="FE09D6"/>
              </a:solidFill>
              <a:latin typeface="Times New Roman" panose="02020603050405020304" charset="0"/>
              <a:ea typeface="楷体" panose="02010609060101010101" charset="-122"/>
              <a:cs typeface="Times New Roman" panose="02020603050405020304" charset="0"/>
            </a:endParaRPr>
          </a:p>
        </p:txBody>
      </p:sp>
      <p:graphicFrame>
        <p:nvGraphicFramePr>
          <p:cNvPr id="15" name="对象 14"/>
          <p:cNvGraphicFramePr/>
          <p:nvPr/>
        </p:nvGraphicFramePr>
        <p:xfrm>
          <a:off x="685800" y="3288030"/>
          <a:ext cx="2834005" cy="360045"/>
        </p:xfrm>
        <a:graphic>
          <a:graphicData uri="http://schemas.openxmlformats.org/presentationml/2006/ole">
            <mc:AlternateContent xmlns:mc="http://schemas.openxmlformats.org/markup-compatibility/2006">
              <mc:Choice xmlns:v="urn:schemas-microsoft-com:vml" Requires="v">
                <p:oleObj spid="_x0000_s16" name="" r:id="rId1" imgW="1752600" imgH="254000" progId="Equation.KSEE3">
                  <p:embed/>
                </p:oleObj>
              </mc:Choice>
              <mc:Fallback>
                <p:oleObj name="" r:id="rId1" imgW="1752600" imgH="254000" progId="Equation.KSEE3">
                  <p:embed/>
                  <p:pic>
                    <p:nvPicPr>
                      <p:cNvPr id="0" name="图片 15"/>
                      <p:cNvPicPr/>
                      <p:nvPr/>
                    </p:nvPicPr>
                    <p:blipFill>
                      <a:blip r:embed="rId2"/>
                      <a:stretch>
                        <a:fillRect/>
                      </a:stretch>
                    </p:blipFill>
                    <p:spPr>
                      <a:xfrm>
                        <a:off x="685800" y="3288030"/>
                        <a:ext cx="2834005" cy="360045"/>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686435" y="3657600"/>
          <a:ext cx="2833370" cy="360045"/>
        </p:xfrm>
        <a:graphic>
          <a:graphicData uri="http://schemas.openxmlformats.org/presentationml/2006/ole">
            <mc:AlternateContent xmlns:mc="http://schemas.openxmlformats.org/markup-compatibility/2006">
              <mc:Choice xmlns:v="urn:schemas-microsoft-com:vml" Requires="v">
                <p:oleObj spid="_x0000_s18" name="" r:id="rId3" imgW="1854200" imgH="241300" progId="Equation.KSEE3">
                  <p:embed/>
                </p:oleObj>
              </mc:Choice>
              <mc:Fallback>
                <p:oleObj name="" r:id="rId3" imgW="1854200" imgH="241300" progId="Equation.KSEE3">
                  <p:embed/>
                  <p:pic>
                    <p:nvPicPr>
                      <p:cNvPr id="0" name="图片 17"/>
                      <p:cNvPicPr/>
                      <p:nvPr/>
                    </p:nvPicPr>
                    <p:blipFill>
                      <a:blip r:embed="rId4"/>
                      <a:stretch>
                        <a:fillRect/>
                      </a:stretch>
                    </p:blipFill>
                    <p:spPr>
                      <a:xfrm>
                        <a:off x="686435" y="3657600"/>
                        <a:ext cx="2833370" cy="360045"/>
                      </a:xfrm>
                      <a:prstGeom prst="rect">
                        <a:avLst/>
                      </a:prstGeom>
                    </p:spPr>
                  </p:pic>
                </p:oleObj>
              </mc:Fallback>
            </mc:AlternateContent>
          </a:graphicData>
        </a:graphic>
      </p:graphicFrame>
      <p:sp>
        <p:nvSpPr>
          <p:cNvPr id="19" name="文本框 18"/>
          <p:cNvSpPr txBox="1"/>
          <p:nvPr/>
        </p:nvSpPr>
        <p:spPr>
          <a:xfrm>
            <a:off x="76200" y="4114800"/>
            <a:ext cx="5080000" cy="398780"/>
          </a:xfrm>
          <a:prstGeom prst="rect">
            <a:avLst/>
          </a:prstGeom>
          <a:noFill/>
          <a:ln w="9525">
            <a:noFill/>
          </a:ln>
        </p:spPr>
        <p:txBody>
          <a:bodyPr>
            <a:spAutoFit/>
          </a:bodyPr>
          <a:p>
            <a:r>
              <a:rPr lang="zh-CN" sz="2000" b="1">
                <a:solidFill>
                  <a:srgbClr val="000066"/>
                </a:solidFill>
                <a:latin typeface="Times New Roman" panose="02020603050405020304" charset="0"/>
                <a:ea typeface="楷体" panose="02010609060101010101" charset="-122"/>
                <a:cs typeface="Times New Roman" panose="02020603050405020304" charset="0"/>
              </a:rPr>
              <a:t>解：</a:t>
            </a:r>
            <a:r>
              <a:rPr lang="zh-CN" altLang="en-US" sz="2000" b="1">
                <a:solidFill>
                  <a:srgbClr val="000066"/>
                </a:solidFill>
                <a:latin typeface="Times New Roman" panose="02020603050405020304" charset="0"/>
                <a:ea typeface="楷体" panose="02010609060101010101" charset="-122"/>
                <a:cs typeface="Times New Roman" panose="02020603050405020304" charset="0"/>
              </a:rPr>
              <a:t>将输出函数转换成最小项之和的表达式</a:t>
            </a:r>
            <a:endParaRPr lang="zh-CN" altLang="en-US" sz="2000" b="1">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20" name="对象 19"/>
          <p:cNvGraphicFramePr>
            <a:graphicFrameLocks noChangeAspect="1"/>
          </p:cNvGraphicFramePr>
          <p:nvPr/>
        </p:nvGraphicFramePr>
        <p:xfrm>
          <a:off x="635000" y="4615180"/>
          <a:ext cx="4860290" cy="360045"/>
        </p:xfrm>
        <a:graphic>
          <a:graphicData uri="http://schemas.openxmlformats.org/presentationml/2006/ole">
            <mc:AlternateContent xmlns:mc="http://schemas.openxmlformats.org/markup-compatibility/2006">
              <mc:Choice xmlns:v="urn:schemas-microsoft-com:vml" Requires="v">
                <p:oleObj spid="_x0000_s21" name="" r:id="rId5" imgW="3695700" imgH="254000" progId="Equation.KSEE3">
                  <p:embed/>
                </p:oleObj>
              </mc:Choice>
              <mc:Fallback>
                <p:oleObj name="" r:id="rId5" imgW="3695700" imgH="254000" progId="Equation.KSEE3">
                  <p:embed/>
                  <p:pic>
                    <p:nvPicPr>
                      <p:cNvPr id="0" name="图片 20"/>
                      <p:cNvPicPr/>
                      <p:nvPr/>
                    </p:nvPicPr>
                    <p:blipFill>
                      <a:blip r:embed="rId6"/>
                      <a:stretch>
                        <a:fillRect/>
                      </a:stretch>
                    </p:blipFill>
                    <p:spPr>
                      <a:xfrm>
                        <a:off x="635000" y="4615180"/>
                        <a:ext cx="4860290" cy="360045"/>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635000" y="5029200"/>
          <a:ext cx="4426585" cy="360045"/>
        </p:xfrm>
        <a:graphic>
          <a:graphicData uri="http://schemas.openxmlformats.org/presentationml/2006/ole">
            <mc:AlternateContent xmlns:mc="http://schemas.openxmlformats.org/markup-compatibility/2006">
              <mc:Choice xmlns:v="urn:schemas-microsoft-com:vml" Requires="v">
                <p:oleObj spid="_x0000_s23" name="" r:id="rId7" imgW="3162300" imgH="254000" progId="Equation.KSEE3">
                  <p:embed/>
                </p:oleObj>
              </mc:Choice>
              <mc:Fallback>
                <p:oleObj name="" r:id="rId7" imgW="3162300" imgH="254000" progId="Equation.KSEE3">
                  <p:embed/>
                  <p:pic>
                    <p:nvPicPr>
                      <p:cNvPr id="0" name="图片 22"/>
                      <p:cNvPicPr/>
                      <p:nvPr/>
                    </p:nvPicPr>
                    <p:blipFill>
                      <a:blip r:embed="rId8"/>
                      <a:stretch>
                        <a:fillRect/>
                      </a:stretch>
                    </p:blipFill>
                    <p:spPr>
                      <a:xfrm>
                        <a:off x="635000" y="5029200"/>
                        <a:ext cx="4426585" cy="360045"/>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609283" y="5409883"/>
          <a:ext cx="5956119" cy="360000"/>
        </p:xfrm>
        <a:graphic>
          <a:graphicData uri="http://schemas.openxmlformats.org/presentationml/2006/ole">
            <mc:AlternateContent xmlns:mc="http://schemas.openxmlformats.org/markup-compatibility/2006">
              <mc:Choice xmlns:v="urn:schemas-microsoft-com:vml" Requires="v">
                <p:oleObj spid="_x0000_s25" name="" r:id="rId9" imgW="6509385" imgH="360045" progId="Equation.KSEE3">
                  <p:embed/>
                </p:oleObj>
              </mc:Choice>
              <mc:Fallback>
                <p:oleObj name="" r:id="rId9" imgW="6509385" imgH="360045" progId="Equation.KSEE3">
                  <p:embed/>
                  <p:pic>
                    <p:nvPicPr>
                      <p:cNvPr id="0" name="图片 24"/>
                      <p:cNvPicPr/>
                      <p:nvPr/>
                    </p:nvPicPr>
                    <p:blipFill>
                      <a:blip r:embed="rId10"/>
                      <a:stretch>
                        <a:fillRect/>
                      </a:stretch>
                    </p:blipFill>
                    <p:spPr>
                      <a:xfrm>
                        <a:off x="609283" y="5409883"/>
                        <a:ext cx="5956119" cy="360000"/>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588645" y="5849303"/>
          <a:ext cx="6732984" cy="360000"/>
        </p:xfrm>
        <a:graphic>
          <a:graphicData uri="http://schemas.openxmlformats.org/presentationml/2006/ole">
            <mc:AlternateContent xmlns:mc="http://schemas.openxmlformats.org/markup-compatibility/2006">
              <mc:Choice xmlns:v="urn:schemas-microsoft-com:vml" Requires="v">
                <p:oleObj spid="_x0000_s27" name="" r:id="rId11" imgW="6458585" imgH="360045" progId="Equation.KSEE3">
                  <p:embed/>
                </p:oleObj>
              </mc:Choice>
              <mc:Fallback>
                <p:oleObj name="" r:id="rId11" imgW="6458585" imgH="360045" progId="Equation.KSEE3">
                  <p:embed/>
                  <p:pic>
                    <p:nvPicPr>
                      <p:cNvPr id="0" name="图片 26"/>
                      <p:cNvPicPr/>
                      <p:nvPr/>
                    </p:nvPicPr>
                    <p:blipFill>
                      <a:blip r:embed="rId12"/>
                      <a:stretch>
                        <a:fillRect/>
                      </a:stretch>
                    </p:blipFill>
                    <p:spPr>
                      <a:xfrm>
                        <a:off x="588645" y="5849303"/>
                        <a:ext cx="6732984" cy="360000"/>
                      </a:xfrm>
                      <a:prstGeom prst="rect">
                        <a:avLst/>
                      </a:prstGeom>
                    </p:spPr>
                  </p:pic>
                </p:oleObj>
              </mc:Fallback>
            </mc:AlternateContent>
          </a:graphicData>
        </a:graphic>
      </p:graphicFrame>
      <p:sp>
        <p:nvSpPr>
          <p:cNvPr id="28" name="文本框 27"/>
          <p:cNvSpPr txBox="1"/>
          <p:nvPr/>
        </p:nvSpPr>
        <p:spPr>
          <a:xfrm>
            <a:off x="228600" y="2286000"/>
            <a:ext cx="5080000" cy="398780"/>
          </a:xfrm>
          <a:prstGeom prst="rect">
            <a:avLst/>
          </a:prstGeom>
          <a:noFill/>
          <a:ln w="9525">
            <a:noFill/>
          </a:ln>
        </p:spPr>
        <p:txBody>
          <a:bodyPr>
            <a:spAutoFit/>
          </a:bodyPr>
          <a:p>
            <a:r>
              <a:rPr lang="zh-CN" sz="2000" b="1">
                <a:solidFill>
                  <a:srgbClr val="000066"/>
                </a:solidFill>
                <a:latin typeface="Times New Roman" panose="02020603050405020304" charset="0"/>
                <a:ea typeface="楷体" panose="02010609060101010101" charset="-122"/>
                <a:cs typeface="Times New Roman" panose="02020603050405020304" charset="0"/>
              </a:rPr>
              <a:t>【例</a:t>
            </a:r>
            <a:r>
              <a:rPr lang="en-US" sz="2000" b="1">
                <a:solidFill>
                  <a:srgbClr val="000066"/>
                </a:solidFill>
                <a:latin typeface="Times New Roman" panose="02020603050405020304" charset="0"/>
                <a:ea typeface="楷体" panose="02010609060101010101" charset="-122"/>
                <a:cs typeface="Times New Roman" panose="02020603050405020304" charset="0"/>
              </a:rPr>
              <a:t>8-1</a:t>
            </a:r>
            <a:r>
              <a:rPr lang="zh-CN" sz="2000" b="1">
                <a:solidFill>
                  <a:srgbClr val="000066"/>
                </a:solidFill>
                <a:latin typeface="Times New Roman" panose="02020603050405020304" charset="0"/>
                <a:ea typeface="楷体" panose="02010609060101010101" charset="-122"/>
                <a:cs typeface="Times New Roman" panose="02020603050405020304" charset="0"/>
              </a:rPr>
              <a:t>】试用</a:t>
            </a:r>
            <a:r>
              <a:rPr lang="en-US" sz="2000" b="1">
                <a:solidFill>
                  <a:srgbClr val="000066"/>
                </a:solidFill>
                <a:latin typeface="Times New Roman" panose="02020603050405020304" charset="0"/>
                <a:ea typeface="楷体" panose="02010609060101010101" charset="-122"/>
                <a:cs typeface="Times New Roman" panose="02020603050405020304" charset="0"/>
              </a:rPr>
              <a:t>ROM</a:t>
            </a:r>
            <a:r>
              <a:rPr lang="zh-CN" sz="2000" b="1">
                <a:solidFill>
                  <a:srgbClr val="000066"/>
                </a:solidFill>
                <a:latin typeface="Times New Roman" panose="02020603050405020304" charset="0"/>
                <a:ea typeface="楷体" panose="02010609060101010101" charset="-122"/>
                <a:cs typeface="Times New Roman" panose="02020603050405020304" charset="0"/>
              </a:rPr>
              <a:t>实现下列函数</a:t>
            </a:r>
            <a:endParaRPr lang="zh-CN" altLang="en-US" sz="2000" b="1">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29" name="对象 28"/>
          <p:cNvGraphicFramePr>
            <a:graphicFrameLocks noChangeAspect="1"/>
          </p:cNvGraphicFramePr>
          <p:nvPr/>
        </p:nvGraphicFramePr>
        <p:xfrm>
          <a:off x="675323" y="2591095"/>
          <a:ext cx="2359408" cy="360000"/>
        </p:xfrm>
        <a:graphic>
          <a:graphicData uri="http://schemas.openxmlformats.org/presentationml/2006/ole">
            <mc:AlternateContent xmlns:mc="http://schemas.openxmlformats.org/markup-compatibility/2006">
              <mc:Choice xmlns:v="urn:schemas-microsoft-com:vml" Requires="v">
                <p:oleObj spid="_x0000_s30" name="" r:id="rId13" imgW="2201545" imgH="360045" progId="Equation.KSEE3">
                  <p:embed/>
                </p:oleObj>
              </mc:Choice>
              <mc:Fallback>
                <p:oleObj name="" r:id="rId13" imgW="2201545" imgH="360045" progId="Equation.KSEE3">
                  <p:embed/>
                  <p:pic>
                    <p:nvPicPr>
                      <p:cNvPr id="0" name="图片 11"/>
                      <p:cNvPicPr/>
                      <p:nvPr/>
                    </p:nvPicPr>
                    <p:blipFill>
                      <a:blip r:embed="rId14"/>
                      <a:stretch>
                        <a:fillRect/>
                      </a:stretch>
                    </p:blipFill>
                    <p:spPr>
                      <a:xfrm>
                        <a:off x="675323" y="2591095"/>
                        <a:ext cx="2359408" cy="360000"/>
                      </a:xfrm>
                      <a:prstGeom prst="rect">
                        <a:avLst/>
                      </a:prstGeom>
                    </p:spPr>
                  </p:pic>
                </p:oleObj>
              </mc:Fallback>
            </mc:AlternateContent>
          </a:graphicData>
        </a:graphic>
      </p:graphicFrame>
      <p:graphicFrame>
        <p:nvGraphicFramePr>
          <p:cNvPr id="31" name="对象 30"/>
          <p:cNvGraphicFramePr>
            <a:graphicFrameLocks noChangeAspect="1"/>
          </p:cNvGraphicFramePr>
          <p:nvPr/>
        </p:nvGraphicFramePr>
        <p:xfrm>
          <a:off x="685800" y="2937510"/>
          <a:ext cx="2400300" cy="354330"/>
        </p:xfrm>
        <a:graphic>
          <a:graphicData uri="http://schemas.openxmlformats.org/presentationml/2006/ole">
            <mc:AlternateContent xmlns:mc="http://schemas.openxmlformats.org/markup-compatibility/2006">
              <mc:Choice xmlns:v="urn:schemas-microsoft-com:vml" Requires="v">
                <p:oleObj spid="_x0000_s32" name="" r:id="rId15" imgW="1422400" imgH="215900" progId="Equation.KSEE3">
                  <p:embed/>
                </p:oleObj>
              </mc:Choice>
              <mc:Fallback>
                <p:oleObj name="" r:id="rId15" imgW="1422400" imgH="215900" progId="Equation.KSEE3">
                  <p:embed/>
                  <p:pic>
                    <p:nvPicPr>
                      <p:cNvPr id="0" name="图片 13"/>
                      <p:cNvPicPr/>
                      <p:nvPr/>
                    </p:nvPicPr>
                    <p:blipFill>
                      <a:blip r:embed="rId16"/>
                      <a:stretch>
                        <a:fillRect/>
                      </a:stretch>
                    </p:blipFill>
                    <p:spPr>
                      <a:xfrm>
                        <a:off x="685800" y="2937510"/>
                        <a:ext cx="2400300" cy="35433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wipe(down)">
                                      <p:cBhvr>
                                        <p:cTn id="7" dur="500"/>
                                        <p:tgtEl>
                                          <p:spTgt spid="10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blinds(horizontal)">
                                      <p:cBhvr>
                                        <p:cTn id="12" dur="500"/>
                                        <p:tgtEl>
                                          <p:spTgt spid="28"/>
                                        </p:tgtEl>
                                      </p:cBhvr>
                                    </p:animEffect>
                                  </p:childTnLst>
                                </p:cTn>
                              </p:par>
                              <p:par>
                                <p:cTn id="13" presetID="3" presetClass="entr" presetSubtype="1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blinds(horizontal)">
                                      <p:cBhvr>
                                        <p:cTn id="15" dur="500"/>
                                        <p:tgtEl>
                                          <p:spTgt spid="29"/>
                                        </p:tgtEl>
                                      </p:cBhvr>
                                    </p:animEffect>
                                  </p:childTnLst>
                                </p:cTn>
                              </p:par>
                              <p:par>
                                <p:cTn id="16" presetID="3" presetClass="entr" presetSubtype="1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blinds(horizontal)">
                                      <p:cBhvr>
                                        <p:cTn id="18" dur="500"/>
                                        <p:tgtEl>
                                          <p:spTgt spid="31"/>
                                        </p:tgtEl>
                                      </p:cBhvr>
                                    </p:animEffect>
                                  </p:childTnLst>
                                </p:cTn>
                              </p:par>
                              <p:par>
                                <p:cTn id="19" presetID="3" presetClass="entr" presetSubtype="1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linds(horizontal)">
                                      <p:cBhvr>
                                        <p:cTn id="21" dur="500"/>
                                        <p:tgtEl>
                                          <p:spTgt spid="15"/>
                                        </p:tgtEl>
                                      </p:cBhvr>
                                    </p:animEffect>
                                  </p:childTnLst>
                                </p:cTn>
                              </p:par>
                              <p:par>
                                <p:cTn id="22" presetID="3" presetClass="entr" presetSubtype="1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blinds(horizontal)">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wipe(down)">
                                      <p:cBhvr>
                                        <p:cTn id="29" dur="500"/>
                                        <p:tgtEl>
                                          <p:spTgt spid="19"/>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blinds(horizontal)">
                                      <p:cBhvr>
                                        <p:cTn id="34" dur="500"/>
                                        <p:tgtEl>
                                          <p:spTgt spid="20"/>
                                        </p:tgtEl>
                                      </p:cBhvr>
                                    </p:animEffect>
                                  </p:childTnLst>
                                </p:cTn>
                              </p:par>
                              <p:par>
                                <p:cTn id="35" presetID="3" presetClass="entr" presetSubtype="1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blinds(horizontal)">
                                      <p:cBhvr>
                                        <p:cTn id="37" dur="500"/>
                                        <p:tgtEl>
                                          <p:spTgt spid="22"/>
                                        </p:tgtEl>
                                      </p:cBhvr>
                                    </p:animEffect>
                                  </p:childTnLst>
                                </p:cTn>
                              </p:par>
                              <p:par>
                                <p:cTn id="38" presetID="3" presetClass="entr" presetSubtype="10" fill="hold"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blinds(horizontal)">
                                      <p:cBhvr>
                                        <p:cTn id="40" dur="500"/>
                                        <p:tgtEl>
                                          <p:spTgt spid="24"/>
                                        </p:tgtEl>
                                      </p:cBhvr>
                                    </p:animEffect>
                                  </p:childTnLst>
                                </p:cTn>
                              </p:par>
                              <p:par>
                                <p:cTn id="41" presetID="3" presetClass="entr" presetSubtype="1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blinds(horizontal)">
                                      <p:cBhvr>
                                        <p:cTn id="4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p:bldP spid="106" grpId="1"/>
      <p:bldP spid="28" grpId="0"/>
      <p:bldP spid="28" grpId="1"/>
      <p:bldP spid="19" grpId="0"/>
      <p:bldP spid="19"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6" name="文本框 105"/>
          <p:cNvSpPr txBox="1"/>
          <p:nvPr/>
        </p:nvSpPr>
        <p:spPr>
          <a:xfrm>
            <a:off x="457200" y="1371600"/>
            <a:ext cx="8742680" cy="460375"/>
          </a:xfrm>
          <a:prstGeom prst="rect">
            <a:avLst/>
          </a:prstGeom>
          <a:noFill/>
          <a:ln w="9525">
            <a:noFill/>
          </a:ln>
        </p:spPr>
        <p:txBody>
          <a:bodyPr wrap="square">
            <a:spAutoFit/>
          </a:bodyPr>
          <a:p>
            <a:pPr indent="266700"/>
            <a:r>
              <a:rPr sz="2400" b="1">
                <a:solidFill>
                  <a:srgbClr val="000066"/>
                </a:solidFill>
                <a:latin typeface="Times New Roman" panose="02020603050405020304" charset="0"/>
                <a:ea typeface="楷体" panose="02010609060101010101" charset="-122"/>
              </a:rPr>
              <a:t>选择合适的ROM，画出逻辑函数的阵列图，如图所示。</a:t>
            </a:r>
            <a:endParaRPr sz="2400" b="1">
              <a:solidFill>
                <a:srgbClr val="000066"/>
              </a:solidFill>
              <a:latin typeface="Times New Roman" panose="02020603050405020304" charset="0"/>
              <a:ea typeface="楷体" panose="02010609060101010101" charset="-122"/>
            </a:endParaRPr>
          </a:p>
        </p:txBody>
      </p:sp>
      <p:pic>
        <p:nvPicPr>
          <p:cNvPr id="2" name="图片 1"/>
          <p:cNvPicPr>
            <a:picLocks noChangeAspect="1"/>
          </p:cNvPicPr>
          <p:nvPr/>
        </p:nvPicPr>
        <p:blipFill>
          <a:blip r:embed="rId1"/>
          <a:stretch>
            <a:fillRect/>
          </a:stretch>
        </p:blipFill>
        <p:spPr>
          <a:xfrm>
            <a:off x="2590800" y="1905000"/>
            <a:ext cx="3529965" cy="44132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6" name="文本框 105"/>
          <p:cNvSpPr txBox="1"/>
          <p:nvPr/>
        </p:nvSpPr>
        <p:spPr>
          <a:xfrm>
            <a:off x="200660" y="1543685"/>
            <a:ext cx="8742680" cy="1014730"/>
          </a:xfrm>
          <a:prstGeom prst="rect">
            <a:avLst/>
          </a:prstGeom>
          <a:noFill/>
          <a:ln w="9525">
            <a:noFill/>
          </a:ln>
        </p:spPr>
        <p:txBody>
          <a:bodyPr wrap="square">
            <a:spAutoFit/>
          </a:bodyPr>
          <a:p>
            <a:pPr indent="266700"/>
            <a:r>
              <a:rPr lang="en-US" altLang="zh-CN" sz="2000" b="1">
                <a:solidFill>
                  <a:srgbClr val="000066"/>
                </a:solidFill>
                <a:latin typeface="Times New Roman" panose="02020603050405020304" charset="0"/>
                <a:ea typeface="楷体" panose="02010609060101010101" charset="-122"/>
              </a:rPr>
              <a:t>  代码转换器是将一种代码转换成另外一种代码，</a:t>
            </a:r>
            <a:r>
              <a:rPr lang="zh-CN" altLang="en-US" sz="2000" b="1">
                <a:solidFill>
                  <a:srgbClr val="000066"/>
                </a:solidFill>
                <a:latin typeface="Times New Roman" panose="02020603050405020304" charset="0"/>
                <a:ea typeface="楷体" panose="02010609060101010101" charset="-122"/>
              </a:rPr>
              <a:t>其转换过程为</a:t>
            </a:r>
            <a:r>
              <a:rPr lang="en-US" altLang="zh-CN" sz="2000" b="1">
                <a:solidFill>
                  <a:srgbClr val="000066"/>
                </a:solidFill>
                <a:latin typeface="Times New Roman" panose="02020603050405020304" charset="0"/>
                <a:ea typeface="楷体" panose="02010609060101010101" charset="-122"/>
              </a:rPr>
              <a:t>将要转换的代码送到PROM的地址码输入端，通过PROM输出转换后的代码。PROM的存储单元应按代码转换的真值表存储相应的值以实现各种代码之间的转换。</a:t>
            </a:r>
            <a:endParaRPr lang="en-US" altLang="zh-CN" sz="2000" b="1">
              <a:solidFill>
                <a:srgbClr val="000066"/>
              </a:solidFill>
              <a:latin typeface="Times New Roman" panose="02020603050405020304" charset="0"/>
              <a:ea typeface="楷体" panose="02010609060101010101" charset="-122"/>
            </a:endParaRPr>
          </a:p>
        </p:txBody>
      </p:sp>
      <p:sp>
        <p:nvSpPr>
          <p:cNvPr id="67588" name="矩形 67587"/>
          <p:cNvSpPr/>
          <p:nvPr/>
        </p:nvSpPr>
        <p:spPr>
          <a:xfrm>
            <a:off x="990283" y="1143000"/>
            <a:ext cx="7848600" cy="539750"/>
          </a:xfrm>
          <a:prstGeom prst="rect">
            <a:avLst/>
          </a:prstGeom>
          <a:noFill/>
          <a:ln w="9525">
            <a:noFill/>
          </a:ln>
        </p:spPr>
        <p:txBody>
          <a:bodyPr anchor="ctr" anchorCtr="0"/>
          <a:lstStyle>
            <a:lvl1pPr marL="0" lvl="0" indent="0" algn="l" defTabSz="914400" rtl="0" eaLnBrk="1" fontAlgn="base" latinLnBrk="0" hangingPunct="1">
              <a:lnSpc>
                <a:spcPct val="100000"/>
              </a:lnSpc>
              <a:spcBef>
                <a:spcPct val="0"/>
              </a:spcBef>
              <a:spcAft>
                <a:spcPct val="0"/>
              </a:spcAft>
              <a:buNone/>
              <a:defRPr sz="4400" u="none" kern="1200" baseline="0">
                <a:solidFill>
                  <a:schemeClr val="tx1"/>
                </a:solidFill>
                <a:latin typeface="Arial" panose="020B0604020202020204" pitchFamily="34" charset="0"/>
                <a:ea typeface="宋体" panose="02010600030101010101" pitchFamily="2" charset="-122"/>
              </a:defRPr>
            </a:lvl1pPr>
          </a:lstStyle>
          <a:p>
            <a:pPr marL="609600" lvl="0" indent="-609600"/>
            <a:r>
              <a:rPr lang="en-US" sz="2400" b="1">
                <a:solidFill>
                  <a:srgbClr val="FE09D6"/>
                </a:solidFill>
                <a:latin typeface="Times New Roman" panose="02020603050405020304" charset="0"/>
                <a:ea typeface="楷体" panose="02010609060101010101" charset="-122"/>
                <a:cs typeface="Times New Roman" panose="02020603050405020304" charset="0"/>
              </a:rPr>
              <a:t>2.PROM</a:t>
            </a:r>
            <a:r>
              <a:rPr lang="zh-CN" altLang="en-US" sz="2400" b="1">
                <a:solidFill>
                  <a:srgbClr val="FE09D6"/>
                </a:solidFill>
                <a:latin typeface="Times New Roman" panose="02020603050405020304" charset="0"/>
                <a:ea typeface="楷体" panose="02010609060101010101" charset="-122"/>
                <a:cs typeface="Times New Roman" panose="02020603050405020304" charset="0"/>
              </a:rPr>
              <a:t>实现代码</a:t>
            </a:r>
            <a:r>
              <a:rPr lang="zh-CN" altLang="en-US" sz="2400" b="1">
                <a:solidFill>
                  <a:srgbClr val="FE09D6"/>
                </a:solidFill>
                <a:latin typeface="Times New Roman" panose="02020603050405020304" charset="0"/>
                <a:ea typeface="楷体" panose="02010609060101010101" charset="-122"/>
                <a:cs typeface="Times New Roman" panose="02020603050405020304" charset="0"/>
              </a:rPr>
              <a:t>转换器</a:t>
            </a:r>
            <a:endParaRPr lang="zh-CN" altLang="en-US" sz="2400" b="1">
              <a:solidFill>
                <a:srgbClr val="FE09D6"/>
              </a:solidFill>
              <a:latin typeface="Times New Roman" panose="02020603050405020304" charset="0"/>
              <a:ea typeface="楷体" panose="02010609060101010101" charset="-122"/>
              <a:cs typeface="Times New Roman" panose="02020603050405020304" charset="0"/>
            </a:endParaRPr>
          </a:p>
        </p:txBody>
      </p:sp>
      <p:sp>
        <p:nvSpPr>
          <p:cNvPr id="19" name="文本框 18"/>
          <p:cNvSpPr txBox="1"/>
          <p:nvPr/>
        </p:nvSpPr>
        <p:spPr>
          <a:xfrm>
            <a:off x="76200" y="2985135"/>
            <a:ext cx="8638540" cy="706755"/>
          </a:xfrm>
          <a:prstGeom prst="rect">
            <a:avLst/>
          </a:prstGeom>
          <a:noFill/>
          <a:ln w="9525">
            <a:noFill/>
          </a:ln>
        </p:spPr>
        <p:txBody>
          <a:bodyPr wrap="square">
            <a:spAutoFit/>
          </a:bodyPr>
          <a:p>
            <a:r>
              <a:rPr lang="zh-CN" sz="2000" b="1">
                <a:solidFill>
                  <a:srgbClr val="000066"/>
                </a:solidFill>
                <a:latin typeface="Times New Roman" panose="02020603050405020304" charset="0"/>
                <a:ea typeface="楷体" panose="02010609060101010101" charset="-122"/>
                <a:cs typeface="Times New Roman" panose="02020603050405020304" charset="0"/>
              </a:rPr>
              <a:t>解：</a:t>
            </a:r>
            <a:r>
              <a:rPr lang="zh-CN" altLang="en-US" sz="2000" b="1">
                <a:solidFill>
                  <a:srgbClr val="000066"/>
                </a:solidFill>
                <a:latin typeface="Times New Roman" panose="02020603050405020304" charset="0"/>
                <a:ea typeface="楷体" panose="02010609060101010101" charset="-122"/>
                <a:cs typeface="Times New Roman" panose="02020603050405020304" charset="0"/>
              </a:rPr>
              <a:t>输入二级制代码为</a:t>
            </a:r>
            <a:r>
              <a:rPr lang="zh-CN" altLang="en-US" sz="2000" b="1" i="1">
                <a:solidFill>
                  <a:srgbClr val="000066"/>
                </a:solidFill>
                <a:latin typeface="Times New Roman" panose="02020603050405020304" charset="0"/>
                <a:ea typeface="楷体" panose="02010609060101010101" charset="-122"/>
                <a:cs typeface="Times New Roman" panose="02020603050405020304" charset="0"/>
              </a:rPr>
              <a:t>B</a:t>
            </a:r>
            <a:r>
              <a:rPr lang="zh-CN" altLang="en-US" sz="2000" b="1" baseline="-25000">
                <a:solidFill>
                  <a:srgbClr val="000066"/>
                </a:solidFill>
                <a:latin typeface="Times New Roman" panose="02020603050405020304" charset="0"/>
                <a:ea typeface="楷体" panose="02010609060101010101" charset="-122"/>
                <a:cs typeface="Times New Roman" panose="02020603050405020304" charset="0"/>
              </a:rPr>
              <a:t>3</a:t>
            </a:r>
            <a:r>
              <a:rPr lang="zh-CN" altLang="en-US" sz="2000" b="1">
                <a:solidFill>
                  <a:srgbClr val="000066"/>
                </a:solidFill>
                <a:latin typeface="Times New Roman" panose="02020603050405020304" charset="0"/>
                <a:ea typeface="楷体" panose="02010609060101010101" charset="-122"/>
                <a:cs typeface="Times New Roman" panose="02020603050405020304" charset="0"/>
              </a:rPr>
              <a:t>~</a:t>
            </a:r>
            <a:r>
              <a:rPr lang="zh-CN" altLang="en-US" sz="2000" b="1" i="1">
                <a:solidFill>
                  <a:srgbClr val="000066"/>
                </a:solidFill>
                <a:latin typeface="Times New Roman" panose="02020603050405020304" charset="0"/>
                <a:ea typeface="楷体" panose="02010609060101010101" charset="-122"/>
                <a:cs typeface="Times New Roman" panose="02020603050405020304" charset="0"/>
              </a:rPr>
              <a:t>B</a:t>
            </a:r>
            <a:r>
              <a:rPr lang="zh-CN" altLang="en-US" sz="2000" b="1" baseline="-25000">
                <a:solidFill>
                  <a:srgbClr val="000066"/>
                </a:solidFill>
                <a:latin typeface="Times New Roman" panose="02020603050405020304" charset="0"/>
                <a:ea typeface="楷体" panose="02010609060101010101" charset="-122"/>
                <a:cs typeface="Times New Roman" panose="02020603050405020304" charset="0"/>
              </a:rPr>
              <a:t>0</a:t>
            </a:r>
            <a:r>
              <a:rPr lang="zh-CN" altLang="en-US" sz="2000" b="1">
                <a:solidFill>
                  <a:srgbClr val="000066"/>
                </a:solidFill>
                <a:latin typeface="Times New Roman" panose="02020603050405020304" charset="0"/>
                <a:ea typeface="楷体" panose="02010609060101010101" charset="-122"/>
                <a:cs typeface="Times New Roman" panose="02020603050405020304" charset="0"/>
              </a:rPr>
              <a:t>，输出格雷码为</a:t>
            </a:r>
            <a:r>
              <a:rPr lang="zh-CN" altLang="en-US" sz="2000" b="1" i="1">
                <a:solidFill>
                  <a:srgbClr val="000066"/>
                </a:solidFill>
                <a:latin typeface="Times New Roman" panose="02020603050405020304" charset="0"/>
                <a:ea typeface="楷体" panose="02010609060101010101" charset="-122"/>
                <a:cs typeface="Times New Roman" panose="02020603050405020304" charset="0"/>
              </a:rPr>
              <a:t>G</a:t>
            </a:r>
            <a:r>
              <a:rPr lang="zh-CN" altLang="en-US" sz="2000" b="1" baseline="-25000">
                <a:solidFill>
                  <a:srgbClr val="000066"/>
                </a:solidFill>
                <a:latin typeface="Times New Roman" panose="02020603050405020304" charset="0"/>
                <a:ea typeface="楷体" panose="02010609060101010101" charset="-122"/>
                <a:cs typeface="Times New Roman" panose="02020603050405020304" charset="0"/>
              </a:rPr>
              <a:t>3</a:t>
            </a:r>
            <a:r>
              <a:rPr lang="zh-CN" altLang="en-US" sz="2000" b="1">
                <a:solidFill>
                  <a:srgbClr val="000066"/>
                </a:solidFill>
                <a:latin typeface="Times New Roman" panose="02020603050405020304" charset="0"/>
                <a:ea typeface="楷体" panose="02010609060101010101" charset="-122"/>
                <a:cs typeface="Times New Roman" panose="02020603050405020304" charset="0"/>
              </a:rPr>
              <a:t>~</a:t>
            </a:r>
            <a:r>
              <a:rPr lang="zh-CN" altLang="en-US" sz="2000" b="1" i="1">
                <a:solidFill>
                  <a:srgbClr val="000066"/>
                </a:solidFill>
                <a:latin typeface="Times New Roman" panose="02020603050405020304" charset="0"/>
                <a:ea typeface="楷体" panose="02010609060101010101" charset="-122"/>
                <a:cs typeface="Times New Roman" panose="02020603050405020304" charset="0"/>
              </a:rPr>
              <a:t>G</a:t>
            </a:r>
            <a:r>
              <a:rPr lang="zh-CN" altLang="en-US" sz="2000" b="1" baseline="-25000">
                <a:solidFill>
                  <a:srgbClr val="000066"/>
                </a:solidFill>
                <a:latin typeface="Times New Roman" panose="02020603050405020304" charset="0"/>
                <a:ea typeface="楷体" panose="02010609060101010101" charset="-122"/>
                <a:cs typeface="Times New Roman" panose="02020603050405020304" charset="0"/>
              </a:rPr>
              <a:t>0</a:t>
            </a:r>
            <a:r>
              <a:rPr lang="zh-CN" altLang="en-US" sz="2000" b="1">
                <a:solidFill>
                  <a:srgbClr val="000066"/>
                </a:solidFill>
                <a:latin typeface="Times New Roman" panose="02020603050405020304" charset="0"/>
                <a:ea typeface="楷体" panose="02010609060101010101" charset="-122"/>
                <a:cs typeface="Times New Roman" panose="02020603050405020304" charset="0"/>
              </a:rPr>
              <a:t>，输入变量4个，共16种组合，每种码长度为4，故选16×4的PROM。转换真值表如教材表8</a:t>
            </a:r>
            <a:r>
              <a:rPr lang="en-US" altLang="zh-CN" sz="2000" b="1">
                <a:solidFill>
                  <a:srgbClr val="000066"/>
                </a:solidFill>
                <a:latin typeface="Times New Roman" panose="02020603050405020304" charset="0"/>
                <a:ea typeface="楷体" panose="02010609060101010101" charset="-122"/>
                <a:cs typeface="Times New Roman" panose="02020603050405020304" charset="0"/>
              </a:rPr>
              <a:t>-</a:t>
            </a:r>
            <a:r>
              <a:rPr lang="zh-CN" altLang="en-US" sz="2000" b="1">
                <a:solidFill>
                  <a:srgbClr val="000066"/>
                </a:solidFill>
                <a:latin typeface="Times New Roman" panose="02020603050405020304" charset="0"/>
                <a:ea typeface="楷体" panose="02010609060101010101" charset="-122"/>
                <a:cs typeface="Times New Roman" panose="02020603050405020304" charset="0"/>
              </a:rPr>
              <a:t>1所示。</a:t>
            </a:r>
            <a:endParaRPr lang="zh-CN" altLang="en-US" sz="20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28" name="文本框 27"/>
          <p:cNvSpPr txBox="1"/>
          <p:nvPr/>
        </p:nvSpPr>
        <p:spPr>
          <a:xfrm>
            <a:off x="228600" y="2558415"/>
            <a:ext cx="8486140" cy="398780"/>
          </a:xfrm>
          <a:prstGeom prst="rect">
            <a:avLst/>
          </a:prstGeom>
          <a:noFill/>
          <a:ln w="9525">
            <a:noFill/>
          </a:ln>
        </p:spPr>
        <p:txBody>
          <a:bodyPr wrap="square">
            <a:spAutoFit/>
          </a:bodyPr>
          <a:p>
            <a:r>
              <a:rPr lang="zh-CN" sz="2000" b="1">
                <a:solidFill>
                  <a:srgbClr val="000066"/>
                </a:solidFill>
                <a:latin typeface="Times New Roman" panose="02020603050405020304" charset="0"/>
                <a:ea typeface="楷体" panose="02010609060101010101" charset="-122"/>
                <a:cs typeface="Times New Roman" panose="02020603050405020304" charset="0"/>
              </a:rPr>
              <a:t>【例</a:t>
            </a:r>
            <a:r>
              <a:rPr lang="en-US" sz="2000" b="1">
                <a:solidFill>
                  <a:srgbClr val="000066"/>
                </a:solidFill>
                <a:latin typeface="Times New Roman" panose="02020603050405020304" charset="0"/>
                <a:ea typeface="楷体" panose="02010609060101010101" charset="-122"/>
                <a:cs typeface="Times New Roman" panose="02020603050405020304" charset="0"/>
              </a:rPr>
              <a:t>8-2</a:t>
            </a:r>
            <a:r>
              <a:rPr lang="zh-CN" sz="2000" b="1">
                <a:solidFill>
                  <a:srgbClr val="000066"/>
                </a:solidFill>
                <a:latin typeface="Times New Roman" panose="02020603050405020304" charset="0"/>
                <a:ea typeface="楷体" panose="02010609060101010101" charset="-122"/>
                <a:cs typeface="Times New Roman" panose="02020603050405020304" charset="0"/>
              </a:rPr>
              <a:t>】</a:t>
            </a:r>
            <a:r>
              <a:rPr sz="2000" b="1">
                <a:solidFill>
                  <a:srgbClr val="000066"/>
                </a:solidFill>
                <a:latin typeface="Times New Roman" panose="02020603050405020304" charset="0"/>
                <a:ea typeface="楷体" panose="02010609060101010101" charset="-122"/>
                <a:cs typeface="Times New Roman" panose="02020603050405020304" charset="0"/>
              </a:rPr>
              <a:t>用PROM设计一个4位二进制码转换为格雷码的代码转换电路。</a:t>
            </a:r>
            <a:endParaRPr sz="20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2" name="文本框 1"/>
          <p:cNvSpPr txBox="1"/>
          <p:nvPr/>
        </p:nvSpPr>
        <p:spPr>
          <a:xfrm>
            <a:off x="381000" y="3719830"/>
            <a:ext cx="7336155" cy="398780"/>
          </a:xfrm>
          <a:prstGeom prst="rect">
            <a:avLst/>
          </a:prstGeom>
          <a:noFill/>
          <a:ln w="9525">
            <a:noFill/>
          </a:ln>
        </p:spPr>
        <p:txBody>
          <a:bodyPr wrap="square">
            <a:spAutoFit/>
          </a:bodyPr>
          <a:p>
            <a:r>
              <a:rPr lang="zh-CN" sz="2000" b="1">
                <a:solidFill>
                  <a:srgbClr val="000066"/>
                </a:solidFill>
                <a:latin typeface="Times New Roman" panose="02020603050405020304" charset="0"/>
                <a:ea typeface="楷体" panose="02010609060101010101" charset="-122"/>
              </a:rPr>
              <a:t>根据表可以得到输出函数的最小项之和的表达式为：</a:t>
            </a:r>
            <a:endParaRPr lang="zh-CN" altLang="en-US" sz="2000" b="1">
              <a:solidFill>
                <a:srgbClr val="000066"/>
              </a:solidFill>
              <a:latin typeface="Times New Roman" panose="02020603050405020304" charset="0"/>
              <a:ea typeface="楷体" panose="02010609060101010101" charset="-122"/>
            </a:endParaRPr>
          </a:p>
        </p:txBody>
      </p:sp>
      <p:graphicFrame>
        <p:nvGraphicFramePr>
          <p:cNvPr id="3" name="对象 2"/>
          <p:cNvGraphicFramePr/>
          <p:nvPr/>
        </p:nvGraphicFramePr>
        <p:xfrm>
          <a:off x="609600" y="4375150"/>
          <a:ext cx="3388360" cy="360045"/>
        </p:xfrm>
        <a:graphic>
          <a:graphicData uri="http://schemas.openxmlformats.org/presentationml/2006/ole">
            <mc:AlternateContent xmlns:mc="http://schemas.openxmlformats.org/markup-compatibility/2006">
              <mc:Choice xmlns:v="urn:schemas-microsoft-com:vml" Requires="v">
                <p:oleObj spid="_x0000_s4" name="" r:id="rId1" imgW="2970530" imgH="360045" progId="Equation.KSEE3">
                  <p:embed/>
                </p:oleObj>
              </mc:Choice>
              <mc:Fallback>
                <p:oleObj name="" r:id="rId1" imgW="2970530" imgH="360045" progId="Equation.KSEE3">
                  <p:embed/>
                  <p:pic>
                    <p:nvPicPr>
                      <p:cNvPr id="0" name="图片 3"/>
                      <p:cNvPicPr/>
                      <p:nvPr/>
                    </p:nvPicPr>
                    <p:blipFill>
                      <a:blip r:embed="rId2"/>
                      <a:stretch>
                        <a:fillRect/>
                      </a:stretch>
                    </p:blipFill>
                    <p:spPr>
                      <a:xfrm>
                        <a:off x="609600" y="4375150"/>
                        <a:ext cx="3388360" cy="360045"/>
                      </a:xfrm>
                      <a:prstGeom prst="rect">
                        <a:avLst/>
                      </a:prstGeom>
                    </p:spPr>
                  </p:pic>
                </p:oleObj>
              </mc:Fallback>
            </mc:AlternateContent>
          </a:graphicData>
        </a:graphic>
      </p:graphicFrame>
      <p:graphicFrame>
        <p:nvGraphicFramePr>
          <p:cNvPr id="5" name="对象 4"/>
          <p:cNvGraphicFramePr/>
          <p:nvPr/>
        </p:nvGraphicFramePr>
        <p:xfrm>
          <a:off x="609600" y="4770755"/>
          <a:ext cx="3521710" cy="342900"/>
        </p:xfrm>
        <a:graphic>
          <a:graphicData uri="http://schemas.openxmlformats.org/presentationml/2006/ole">
            <mc:AlternateContent xmlns:mc="http://schemas.openxmlformats.org/markup-compatibility/2006">
              <mc:Choice xmlns:v="urn:schemas-microsoft-com:vml" Requires="v">
                <p:oleObj spid="_x0000_s6" name="" r:id="rId3" imgW="3209925" imgH="370205" progId="Equation.KSEE3">
                  <p:embed/>
                </p:oleObj>
              </mc:Choice>
              <mc:Fallback>
                <p:oleObj name="" r:id="rId3" imgW="3209925" imgH="370205" progId="Equation.KSEE3">
                  <p:embed/>
                  <p:pic>
                    <p:nvPicPr>
                      <p:cNvPr id="0" name="图片 5"/>
                      <p:cNvPicPr/>
                      <p:nvPr/>
                    </p:nvPicPr>
                    <p:blipFill>
                      <a:blip r:embed="rId4"/>
                      <a:stretch>
                        <a:fillRect/>
                      </a:stretch>
                    </p:blipFill>
                    <p:spPr>
                      <a:xfrm>
                        <a:off x="609600" y="4770755"/>
                        <a:ext cx="3521710" cy="342900"/>
                      </a:xfrm>
                      <a:prstGeom prst="rect">
                        <a:avLst/>
                      </a:prstGeom>
                    </p:spPr>
                  </p:pic>
                </p:oleObj>
              </mc:Fallback>
            </mc:AlternateContent>
          </a:graphicData>
        </a:graphic>
      </p:graphicFrame>
      <p:graphicFrame>
        <p:nvGraphicFramePr>
          <p:cNvPr id="7" name="对象 6"/>
          <p:cNvGraphicFramePr/>
          <p:nvPr/>
        </p:nvGraphicFramePr>
        <p:xfrm>
          <a:off x="609600" y="5166360"/>
          <a:ext cx="2985135" cy="355600"/>
        </p:xfrm>
        <a:graphic>
          <a:graphicData uri="http://schemas.openxmlformats.org/presentationml/2006/ole">
            <mc:AlternateContent xmlns:mc="http://schemas.openxmlformats.org/markup-compatibility/2006">
              <mc:Choice xmlns:v="urn:schemas-microsoft-com:vml" Requires="v">
                <p:oleObj spid="_x0000_s8" name="" r:id="rId5" imgW="2748280" imgH="360045" progId="Equation.KSEE3">
                  <p:embed/>
                </p:oleObj>
              </mc:Choice>
              <mc:Fallback>
                <p:oleObj name="" r:id="rId5" imgW="2748280" imgH="360045" progId="Equation.KSEE3">
                  <p:embed/>
                  <p:pic>
                    <p:nvPicPr>
                      <p:cNvPr id="0" name="图片 7"/>
                      <p:cNvPicPr/>
                      <p:nvPr/>
                    </p:nvPicPr>
                    <p:blipFill>
                      <a:blip r:embed="rId6"/>
                      <a:stretch>
                        <a:fillRect/>
                      </a:stretch>
                    </p:blipFill>
                    <p:spPr>
                      <a:xfrm>
                        <a:off x="609600" y="5166360"/>
                        <a:ext cx="2985135" cy="355600"/>
                      </a:xfrm>
                      <a:prstGeom prst="rect">
                        <a:avLst/>
                      </a:prstGeom>
                    </p:spPr>
                  </p:pic>
                </p:oleObj>
              </mc:Fallback>
            </mc:AlternateContent>
          </a:graphicData>
        </a:graphic>
      </p:graphicFrame>
      <p:graphicFrame>
        <p:nvGraphicFramePr>
          <p:cNvPr id="9" name="对象 8"/>
          <p:cNvGraphicFramePr/>
          <p:nvPr/>
        </p:nvGraphicFramePr>
        <p:xfrm>
          <a:off x="609600" y="5561965"/>
          <a:ext cx="3388360" cy="360045"/>
        </p:xfrm>
        <a:graphic>
          <a:graphicData uri="http://schemas.openxmlformats.org/presentationml/2006/ole">
            <mc:AlternateContent xmlns:mc="http://schemas.openxmlformats.org/markup-compatibility/2006">
              <mc:Choice xmlns:v="urn:schemas-microsoft-com:vml" Requires="v">
                <p:oleObj spid="_x0000_s10" name="" r:id="rId7" imgW="3064510" imgH="360045" progId="Equation.KSEE3">
                  <p:embed/>
                </p:oleObj>
              </mc:Choice>
              <mc:Fallback>
                <p:oleObj name="" r:id="rId7" imgW="3064510" imgH="360045" progId="Equation.KSEE3">
                  <p:embed/>
                  <p:pic>
                    <p:nvPicPr>
                      <p:cNvPr id="0" name="图片 9"/>
                      <p:cNvPicPr/>
                      <p:nvPr/>
                    </p:nvPicPr>
                    <p:blipFill>
                      <a:blip r:embed="rId8"/>
                      <a:stretch>
                        <a:fillRect/>
                      </a:stretch>
                    </p:blipFill>
                    <p:spPr>
                      <a:xfrm>
                        <a:off x="609600" y="5561965"/>
                        <a:ext cx="3388360" cy="360045"/>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wipe(down)">
                                      <p:cBhvr>
                                        <p:cTn id="7" dur="500"/>
                                        <p:tgtEl>
                                          <p:spTgt spid="10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blinds(horizontal)">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down)">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down)">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linds(horizontal)">
                                      <p:cBhvr>
                                        <p:cTn id="27" dur="500"/>
                                        <p:tgtEl>
                                          <p:spTgt spid="3"/>
                                        </p:tgtEl>
                                      </p:cBhvr>
                                    </p:animEffect>
                                  </p:childTnLst>
                                </p:cTn>
                              </p:par>
                              <p:par>
                                <p:cTn id="28" presetID="3" presetClass="entr" presetSubtype="10" fill="hold"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blinds(horizontal)">
                                      <p:cBhvr>
                                        <p:cTn id="30" dur="500"/>
                                        <p:tgtEl>
                                          <p:spTgt spid="5"/>
                                        </p:tgtEl>
                                      </p:cBhvr>
                                    </p:animEffect>
                                  </p:childTnLst>
                                </p:cTn>
                              </p:par>
                              <p:par>
                                <p:cTn id="31" presetID="3" presetClass="entr" presetSubtype="1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blinds(horizontal)">
                                      <p:cBhvr>
                                        <p:cTn id="33" dur="500"/>
                                        <p:tgtEl>
                                          <p:spTgt spid="7"/>
                                        </p:tgtEl>
                                      </p:cBhvr>
                                    </p:animEffect>
                                  </p:childTnLst>
                                </p:cTn>
                              </p:par>
                              <p:par>
                                <p:cTn id="34" presetID="3" presetClass="entr" presetSubtype="1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blinds(horizontal)">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p:bldP spid="106" grpId="1"/>
      <p:bldP spid="28" grpId="0"/>
      <p:bldP spid="28" grpId="1"/>
      <p:bldP spid="19" grpId="0"/>
      <p:bldP spid="19" grpId="1"/>
      <p:bldP spid="2" grpId="0"/>
      <p:bldP spid="2"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 name="文本框 85"/>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6" name="文本框 105"/>
          <p:cNvSpPr txBox="1"/>
          <p:nvPr/>
        </p:nvSpPr>
        <p:spPr>
          <a:xfrm>
            <a:off x="381000" y="1600200"/>
            <a:ext cx="5165725" cy="829945"/>
          </a:xfrm>
          <a:prstGeom prst="rect">
            <a:avLst/>
          </a:prstGeom>
          <a:noFill/>
          <a:ln w="9525">
            <a:noFill/>
          </a:ln>
        </p:spPr>
        <p:txBody>
          <a:bodyPr wrap="square">
            <a:spAutoFit/>
          </a:bodyPr>
          <a:p>
            <a:pPr indent="266700"/>
            <a:r>
              <a:rPr sz="2400" b="1">
                <a:solidFill>
                  <a:srgbClr val="000066"/>
                </a:solidFill>
                <a:latin typeface="Times New Roman" panose="02020603050405020304" charset="0"/>
                <a:ea typeface="楷体" panose="02010609060101010101" charset="-122"/>
              </a:rPr>
              <a:t>用PROM实现转换电路的阵列图如图所示</a:t>
            </a:r>
            <a:endParaRPr sz="2400" b="1">
              <a:solidFill>
                <a:srgbClr val="000066"/>
              </a:solidFill>
              <a:latin typeface="Times New Roman" panose="02020603050405020304" charset="0"/>
              <a:ea typeface="楷体" panose="02010609060101010101" charset="-122"/>
            </a:endParaRPr>
          </a:p>
        </p:txBody>
      </p:sp>
      <p:pic>
        <p:nvPicPr>
          <p:cNvPr id="3" name="图片 2"/>
          <p:cNvPicPr>
            <a:picLocks noChangeAspect="1"/>
          </p:cNvPicPr>
          <p:nvPr/>
        </p:nvPicPr>
        <p:blipFill>
          <a:blip r:embed="rId1"/>
          <a:stretch>
            <a:fillRect/>
          </a:stretch>
        </p:blipFill>
        <p:spPr>
          <a:xfrm>
            <a:off x="5562600" y="1219200"/>
            <a:ext cx="2914015" cy="54286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6" name="文本框 105"/>
          <p:cNvSpPr txBox="1"/>
          <p:nvPr/>
        </p:nvSpPr>
        <p:spPr>
          <a:xfrm>
            <a:off x="284480" y="1543685"/>
            <a:ext cx="8658860" cy="706755"/>
          </a:xfrm>
          <a:prstGeom prst="rect">
            <a:avLst/>
          </a:prstGeom>
          <a:noFill/>
          <a:ln w="9525">
            <a:noFill/>
          </a:ln>
        </p:spPr>
        <p:txBody>
          <a:bodyPr wrap="square">
            <a:spAutoFit/>
          </a:bodyPr>
          <a:p>
            <a:pPr indent="266700"/>
            <a:r>
              <a:rPr lang="en-US" altLang="zh-CN" sz="2000" b="1">
                <a:solidFill>
                  <a:srgbClr val="000066"/>
                </a:solidFill>
                <a:latin typeface="Times New Roman" panose="02020603050405020304" charset="0"/>
                <a:ea typeface="楷体" panose="02010609060101010101" charset="-122"/>
              </a:rPr>
              <a:t>   </a:t>
            </a:r>
            <a:r>
              <a:rPr sz="2000" b="1">
                <a:solidFill>
                  <a:srgbClr val="000066"/>
                </a:solidFill>
                <a:latin typeface="Times New Roman" panose="02020603050405020304" charset="0"/>
                <a:ea typeface="楷体" panose="02010609060101010101" charset="-122"/>
              </a:rPr>
              <a:t>因为存储器是以矩阵的形式存储数据，所以用PROM可以很容易产生字符和简单图案</a:t>
            </a:r>
            <a:r>
              <a:rPr lang="zh-CN" sz="2000" b="1">
                <a:solidFill>
                  <a:srgbClr val="000066"/>
                </a:solidFill>
                <a:latin typeface="Times New Roman" panose="02020603050405020304" charset="0"/>
                <a:ea typeface="楷体" panose="02010609060101010101" charset="-122"/>
              </a:rPr>
              <a:t>。</a:t>
            </a:r>
            <a:endParaRPr lang="zh-CN" sz="2000" b="1">
              <a:solidFill>
                <a:srgbClr val="000066"/>
              </a:solidFill>
              <a:latin typeface="Times New Roman" panose="02020603050405020304" charset="0"/>
              <a:ea typeface="楷体" panose="02010609060101010101" charset="-122"/>
            </a:endParaRPr>
          </a:p>
        </p:txBody>
      </p:sp>
      <p:sp>
        <p:nvSpPr>
          <p:cNvPr id="67588" name="矩形 67587"/>
          <p:cNvSpPr/>
          <p:nvPr/>
        </p:nvSpPr>
        <p:spPr>
          <a:xfrm>
            <a:off x="990283" y="1143000"/>
            <a:ext cx="7848600" cy="539750"/>
          </a:xfrm>
          <a:prstGeom prst="rect">
            <a:avLst/>
          </a:prstGeom>
          <a:noFill/>
          <a:ln w="9525">
            <a:noFill/>
          </a:ln>
        </p:spPr>
        <p:txBody>
          <a:bodyPr anchor="ctr" anchorCtr="0"/>
          <a:lstStyle>
            <a:lvl1pPr marL="0" lvl="0" indent="0" algn="l" defTabSz="914400" rtl="0" eaLnBrk="1" fontAlgn="base" latinLnBrk="0" hangingPunct="1">
              <a:lnSpc>
                <a:spcPct val="100000"/>
              </a:lnSpc>
              <a:spcBef>
                <a:spcPct val="0"/>
              </a:spcBef>
              <a:spcAft>
                <a:spcPct val="0"/>
              </a:spcAft>
              <a:buNone/>
              <a:defRPr sz="4400" u="none" kern="1200" baseline="0">
                <a:solidFill>
                  <a:schemeClr val="tx1"/>
                </a:solidFill>
                <a:latin typeface="Arial" panose="020B0604020202020204" pitchFamily="34" charset="0"/>
                <a:ea typeface="宋体" panose="02010600030101010101" pitchFamily="2" charset="-122"/>
              </a:defRPr>
            </a:lvl1pPr>
          </a:lstStyle>
          <a:p>
            <a:pPr marL="609600" lvl="0" indent="-609600"/>
            <a:r>
              <a:rPr lang="en-US" sz="2400" b="1">
                <a:solidFill>
                  <a:srgbClr val="FE09D6"/>
                </a:solidFill>
                <a:latin typeface="Times New Roman" panose="02020603050405020304" charset="0"/>
                <a:ea typeface="楷体" panose="02010609060101010101" charset="-122"/>
                <a:cs typeface="Times New Roman" panose="02020603050405020304" charset="0"/>
              </a:rPr>
              <a:t>3.</a:t>
            </a:r>
            <a:r>
              <a:rPr sz="2400" b="1">
                <a:solidFill>
                  <a:srgbClr val="FE09D6"/>
                </a:solidFill>
                <a:latin typeface="Times New Roman" panose="02020603050405020304" charset="0"/>
                <a:ea typeface="楷体" panose="02010609060101010101" charset="-122"/>
                <a:cs typeface="Times New Roman" panose="02020603050405020304" charset="0"/>
              </a:rPr>
              <a:t>字符发生器</a:t>
            </a:r>
            <a:endParaRPr sz="2400" b="1">
              <a:solidFill>
                <a:srgbClr val="FE09D6"/>
              </a:solidFill>
              <a:latin typeface="Times New Roman" panose="02020603050405020304" charset="0"/>
              <a:ea typeface="楷体" panose="02010609060101010101" charset="-122"/>
              <a:cs typeface="Times New Roman" panose="02020603050405020304" charset="0"/>
            </a:endParaRPr>
          </a:p>
        </p:txBody>
      </p:sp>
      <p:sp>
        <p:nvSpPr>
          <p:cNvPr id="28" name="文本框 27"/>
          <p:cNvSpPr txBox="1"/>
          <p:nvPr/>
        </p:nvSpPr>
        <p:spPr>
          <a:xfrm>
            <a:off x="284480" y="2209800"/>
            <a:ext cx="8486140" cy="1322070"/>
          </a:xfrm>
          <a:prstGeom prst="rect">
            <a:avLst/>
          </a:prstGeom>
          <a:noFill/>
          <a:ln w="9525">
            <a:noFill/>
          </a:ln>
        </p:spPr>
        <p:txBody>
          <a:bodyPr wrap="square">
            <a:spAutoFit/>
          </a:bodyPr>
          <a:p>
            <a:r>
              <a:rPr lang="en-US" sz="2000" b="1">
                <a:solidFill>
                  <a:srgbClr val="000066"/>
                </a:solidFill>
                <a:latin typeface="Times New Roman" panose="02020603050405020304" charset="0"/>
                <a:ea typeface="楷体" panose="02010609060101010101" charset="-122"/>
                <a:cs typeface="Times New Roman" panose="02020603050405020304" charset="0"/>
              </a:rPr>
              <a:t>        </a:t>
            </a:r>
            <a:r>
              <a:rPr sz="2000" b="1">
                <a:solidFill>
                  <a:srgbClr val="000066"/>
                </a:solidFill>
                <a:latin typeface="Times New Roman" panose="02020603050405020304" charset="0"/>
                <a:ea typeface="楷体" panose="02010609060101010101" charset="-122"/>
                <a:cs typeface="Times New Roman" panose="02020603050405020304" charset="0"/>
              </a:rPr>
              <a:t>用存储器实现字符发生器的方法是将字符点阵存储到存储器中，按照顺序给出地址码，行译码器控制逐行扫描，从上到下每次读出一行数据送到输出端，控制发光二极管，显示每行的信息，适当设置逐行扫描的时间，利用人的视觉暂留效应，则能在不闪烁的情况下显示完整的字符。</a:t>
            </a:r>
            <a:endParaRPr sz="2000" b="1">
              <a:solidFill>
                <a:srgbClr val="000066"/>
              </a:solidFill>
              <a:latin typeface="Times New Roman" panose="02020603050405020304" charset="0"/>
              <a:ea typeface="楷体" panose="02010609060101010101" charset="-122"/>
              <a:cs typeface="Times New Roman" panose="02020603050405020304" charset="0"/>
            </a:endParaRPr>
          </a:p>
        </p:txBody>
      </p:sp>
      <p:pic>
        <p:nvPicPr>
          <p:cNvPr id="11" name="图片 10"/>
          <p:cNvPicPr>
            <a:picLocks noChangeAspect="1"/>
          </p:cNvPicPr>
          <p:nvPr/>
        </p:nvPicPr>
        <p:blipFill>
          <a:blip r:embed="rId1"/>
          <a:stretch>
            <a:fillRect/>
          </a:stretch>
        </p:blipFill>
        <p:spPr>
          <a:xfrm>
            <a:off x="2133600" y="3531870"/>
            <a:ext cx="5095240" cy="26212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wipe(down)">
                                      <p:cBhvr>
                                        <p:cTn id="7" dur="500"/>
                                        <p:tgtEl>
                                          <p:spTgt spid="10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blinds(horizontal)">
                                      <p:cBhvr>
                                        <p:cTn id="1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p:bldP spid="106" grpId="1"/>
      <p:bldP spid="28" grpId="0"/>
      <p:bldP spid="28"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6" name="文本框 105"/>
          <p:cNvSpPr txBox="1"/>
          <p:nvPr/>
        </p:nvSpPr>
        <p:spPr>
          <a:xfrm>
            <a:off x="180975" y="2895600"/>
            <a:ext cx="8658860" cy="460375"/>
          </a:xfrm>
          <a:prstGeom prst="rect">
            <a:avLst/>
          </a:prstGeom>
          <a:noFill/>
          <a:ln w="9525">
            <a:noFill/>
          </a:ln>
        </p:spPr>
        <p:txBody>
          <a:bodyPr wrap="square">
            <a:spAutoFit/>
          </a:bodyPr>
          <a:p>
            <a:pPr indent="266700"/>
            <a:r>
              <a:rPr lang="en-US" sz="2400" b="1">
                <a:solidFill>
                  <a:srgbClr val="000066"/>
                </a:solidFill>
                <a:latin typeface="Times New Roman" panose="02020603050405020304" charset="0"/>
                <a:ea typeface="楷体" panose="02010609060101010101" charset="-122"/>
              </a:rPr>
              <a:t>  </a:t>
            </a:r>
            <a:r>
              <a:rPr sz="2400" b="1">
                <a:solidFill>
                  <a:srgbClr val="000066"/>
                </a:solidFill>
                <a:latin typeface="Times New Roman" panose="02020603050405020304" charset="0"/>
                <a:ea typeface="楷体" panose="02010609060101010101" charset="-122"/>
              </a:rPr>
              <a:t>存储器扩展包括</a:t>
            </a:r>
            <a:r>
              <a:rPr sz="2400" b="1">
                <a:solidFill>
                  <a:srgbClr val="FF0000"/>
                </a:solidFill>
                <a:latin typeface="Times New Roman" panose="02020603050405020304" charset="0"/>
                <a:ea typeface="楷体" panose="02010609060101010101" charset="-122"/>
              </a:rPr>
              <a:t>位扩展</a:t>
            </a:r>
            <a:r>
              <a:rPr sz="2400" b="1">
                <a:solidFill>
                  <a:srgbClr val="000066"/>
                </a:solidFill>
                <a:latin typeface="Times New Roman" panose="02020603050405020304" charset="0"/>
                <a:ea typeface="楷体" panose="02010609060101010101" charset="-122"/>
              </a:rPr>
              <a:t>和</a:t>
            </a:r>
            <a:r>
              <a:rPr sz="2400" b="1">
                <a:solidFill>
                  <a:srgbClr val="FF0000"/>
                </a:solidFill>
                <a:latin typeface="Times New Roman" panose="02020603050405020304" charset="0"/>
                <a:ea typeface="楷体" panose="02010609060101010101" charset="-122"/>
              </a:rPr>
              <a:t>字扩展</a:t>
            </a:r>
            <a:r>
              <a:rPr sz="2400" b="1">
                <a:solidFill>
                  <a:srgbClr val="000066"/>
                </a:solidFill>
                <a:latin typeface="Times New Roman" panose="02020603050405020304" charset="0"/>
                <a:ea typeface="楷体" panose="02010609060101010101" charset="-122"/>
              </a:rPr>
              <a:t>两种方式。</a:t>
            </a:r>
            <a:endParaRPr sz="2400" b="1">
              <a:solidFill>
                <a:srgbClr val="000066"/>
              </a:solidFill>
              <a:latin typeface="Times New Roman" panose="02020603050405020304" charset="0"/>
              <a:ea typeface="楷体" panose="02010609060101010101" charset="-122"/>
            </a:endParaRPr>
          </a:p>
        </p:txBody>
      </p:sp>
      <p:sp>
        <p:nvSpPr>
          <p:cNvPr id="67588" name="矩形 67587"/>
          <p:cNvSpPr/>
          <p:nvPr/>
        </p:nvSpPr>
        <p:spPr>
          <a:xfrm>
            <a:off x="990283" y="1143000"/>
            <a:ext cx="7848600" cy="539750"/>
          </a:xfrm>
          <a:prstGeom prst="rect">
            <a:avLst/>
          </a:prstGeom>
          <a:noFill/>
          <a:ln w="9525">
            <a:noFill/>
          </a:ln>
        </p:spPr>
        <p:txBody>
          <a:bodyPr anchor="ctr" anchorCtr="0"/>
          <a:lstStyle>
            <a:lvl1pPr marL="0" lvl="0" indent="0" algn="l" defTabSz="914400" rtl="0" eaLnBrk="1" fontAlgn="base" latinLnBrk="0" hangingPunct="1">
              <a:lnSpc>
                <a:spcPct val="100000"/>
              </a:lnSpc>
              <a:spcBef>
                <a:spcPct val="0"/>
              </a:spcBef>
              <a:spcAft>
                <a:spcPct val="0"/>
              </a:spcAft>
              <a:buNone/>
              <a:defRPr sz="4400" u="none" kern="1200" baseline="0">
                <a:solidFill>
                  <a:schemeClr val="tx1"/>
                </a:solidFill>
                <a:latin typeface="Arial" panose="020B0604020202020204" pitchFamily="34" charset="0"/>
                <a:ea typeface="宋体" panose="02010600030101010101" pitchFamily="2" charset="-122"/>
              </a:defRPr>
            </a:lvl1pPr>
          </a:lstStyle>
          <a:p>
            <a:pPr marL="609600" lvl="0" indent="-609600"/>
            <a:r>
              <a:rPr lang="en-US" sz="2400" b="1">
                <a:solidFill>
                  <a:srgbClr val="FE09D6"/>
                </a:solidFill>
                <a:latin typeface="Times New Roman" panose="02020603050405020304" charset="0"/>
                <a:ea typeface="楷体" panose="02010609060101010101" charset="-122"/>
                <a:cs typeface="Times New Roman" panose="02020603050405020304" charset="0"/>
              </a:rPr>
              <a:t>4.</a:t>
            </a:r>
            <a:r>
              <a:rPr sz="2400" b="1">
                <a:solidFill>
                  <a:srgbClr val="FE09D6"/>
                </a:solidFill>
                <a:latin typeface="Times New Roman" panose="02020603050405020304" charset="0"/>
                <a:ea typeface="楷体" panose="02010609060101010101" charset="-122"/>
                <a:cs typeface="Times New Roman" panose="02020603050405020304" charset="0"/>
              </a:rPr>
              <a:t>存储容量的扩展</a:t>
            </a:r>
            <a:endParaRPr sz="2400" b="1">
              <a:solidFill>
                <a:srgbClr val="FE09D6"/>
              </a:solidFill>
              <a:latin typeface="Times New Roman" panose="02020603050405020304" charset="0"/>
              <a:ea typeface="楷体" panose="02010609060101010101" charset="-122"/>
              <a:cs typeface="Times New Roman" panose="02020603050405020304" charset="0"/>
            </a:endParaRPr>
          </a:p>
        </p:txBody>
      </p:sp>
      <p:sp>
        <p:nvSpPr>
          <p:cNvPr id="28" name="文本框 27"/>
          <p:cNvSpPr txBox="1"/>
          <p:nvPr/>
        </p:nvSpPr>
        <p:spPr>
          <a:xfrm>
            <a:off x="76835" y="3449320"/>
            <a:ext cx="8486140" cy="1346835"/>
          </a:xfrm>
          <a:prstGeom prst="rect">
            <a:avLst/>
          </a:prstGeom>
          <a:noFill/>
          <a:ln w="9525">
            <a:noFill/>
          </a:ln>
        </p:spPr>
        <p:txBody>
          <a:bodyPr wrap="square">
            <a:spAutoFit/>
          </a:bodyPr>
          <a:p>
            <a:pPr>
              <a:lnSpc>
                <a:spcPct val="120000"/>
              </a:lnSpc>
            </a:pPr>
            <a:r>
              <a:rPr lang="en-US" sz="2400" b="1">
                <a:solidFill>
                  <a:srgbClr val="000066"/>
                </a:solidFill>
                <a:latin typeface="Times New Roman" panose="02020603050405020304" charset="0"/>
                <a:ea typeface="楷体" panose="02010609060101010101" charset="-122"/>
                <a:cs typeface="Times New Roman" panose="02020603050405020304" charset="0"/>
              </a:rPr>
              <a:t>       </a:t>
            </a:r>
            <a:r>
              <a:rPr sz="2400" b="1">
                <a:solidFill>
                  <a:srgbClr val="000066"/>
                </a:solidFill>
                <a:latin typeface="Times New Roman" panose="02020603050405020304" charset="0"/>
                <a:ea typeface="楷体" panose="02010609060101010101" charset="-122"/>
                <a:sym typeface="+mn-ea"/>
              </a:rPr>
              <a:t>位扩展是对</a:t>
            </a:r>
            <a:r>
              <a:rPr sz="2400" b="1">
                <a:solidFill>
                  <a:srgbClr val="FF0000"/>
                </a:solidFill>
                <a:latin typeface="Times New Roman" panose="02020603050405020304" charset="0"/>
                <a:ea typeface="楷体" panose="02010609060101010101" charset="-122"/>
                <a:sym typeface="+mn-ea"/>
              </a:rPr>
              <a:t>数据线</a:t>
            </a:r>
            <a:r>
              <a:rPr sz="2400" b="1">
                <a:solidFill>
                  <a:srgbClr val="000066"/>
                </a:solidFill>
                <a:latin typeface="Times New Roman" panose="02020603050405020304" charset="0"/>
                <a:ea typeface="楷体" panose="02010609060101010101" charset="-122"/>
                <a:sym typeface="+mn-ea"/>
              </a:rPr>
              <a:t>数目进行扩展。</a:t>
            </a:r>
            <a:endParaRPr sz="2400" b="1">
              <a:solidFill>
                <a:srgbClr val="000066"/>
              </a:solidFill>
              <a:latin typeface="Times New Roman" panose="02020603050405020304" charset="0"/>
              <a:ea typeface="楷体" panose="02010609060101010101" charset="-122"/>
              <a:sym typeface="+mn-ea"/>
            </a:endParaRPr>
          </a:p>
          <a:p>
            <a:pPr>
              <a:lnSpc>
                <a:spcPct val="120000"/>
              </a:lnSpc>
            </a:pPr>
            <a:r>
              <a:rPr sz="2400" b="1">
                <a:solidFill>
                  <a:srgbClr val="000066"/>
                </a:solidFill>
                <a:latin typeface="Times New Roman" panose="02020603050405020304" charset="0"/>
                <a:ea typeface="楷体" panose="02010609060101010101" charset="-122"/>
                <a:sym typeface="+mn-ea"/>
              </a:rPr>
              <a:t> </a:t>
            </a:r>
            <a:r>
              <a:rPr lang="en-US" sz="2400" b="1">
                <a:solidFill>
                  <a:srgbClr val="000066"/>
                </a:solidFill>
                <a:latin typeface="Times New Roman" panose="02020603050405020304" charset="0"/>
                <a:ea typeface="楷体" panose="02010609060101010101" charset="-122"/>
                <a:sym typeface="+mn-ea"/>
              </a:rPr>
              <a:t>      </a:t>
            </a:r>
            <a:r>
              <a:rPr sz="2400" b="1">
                <a:solidFill>
                  <a:srgbClr val="000066"/>
                </a:solidFill>
                <a:latin typeface="Times New Roman" panose="02020603050405020304" charset="0"/>
                <a:ea typeface="楷体" panose="02010609060101010101" charset="-122"/>
                <a:sym typeface="+mn-ea"/>
              </a:rPr>
              <a:t>字扩展是对</a:t>
            </a:r>
            <a:r>
              <a:rPr sz="2400" b="1">
                <a:solidFill>
                  <a:srgbClr val="FF0000"/>
                </a:solidFill>
                <a:latin typeface="Times New Roman" panose="02020603050405020304" charset="0"/>
                <a:ea typeface="楷体" panose="02010609060101010101" charset="-122"/>
                <a:sym typeface="+mn-ea"/>
              </a:rPr>
              <a:t>地址线</a:t>
            </a:r>
            <a:r>
              <a:rPr sz="2400" b="1">
                <a:solidFill>
                  <a:srgbClr val="000066"/>
                </a:solidFill>
                <a:latin typeface="Times New Roman" panose="02020603050405020304" charset="0"/>
                <a:ea typeface="楷体" panose="02010609060101010101" charset="-122"/>
                <a:sym typeface="+mn-ea"/>
              </a:rPr>
              <a:t>数目进行扩展。</a:t>
            </a:r>
            <a:endParaRPr sz="2400" b="1">
              <a:solidFill>
                <a:srgbClr val="000066"/>
              </a:solidFill>
              <a:latin typeface="Times New Roman" panose="02020603050405020304" charset="0"/>
              <a:ea typeface="楷体" panose="02010609060101010101" charset="-122"/>
            </a:endParaRPr>
          </a:p>
          <a:p>
            <a:endParaRPr sz="24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00" name="文本框 99"/>
          <p:cNvSpPr txBox="1"/>
          <p:nvPr/>
        </p:nvSpPr>
        <p:spPr>
          <a:xfrm>
            <a:off x="76200" y="4496435"/>
            <a:ext cx="5080000" cy="460375"/>
          </a:xfrm>
          <a:prstGeom prst="rect">
            <a:avLst/>
          </a:prstGeom>
          <a:noFill/>
          <a:ln w="9525">
            <a:noFill/>
          </a:ln>
        </p:spPr>
        <p:txBody>
          <a:bodyPr>
            <a:spAutoFit/>
          </a:bodyPr>
          <a:p>
            <a:pPr indent="266700"/>
            <a:r>
              <a:rPr lang="en-US" sz="2400" b="1">
                <a:solidFill>
                  <a:srgbClr val="1318F3"/>
                </a:solidFill>
                <a:latin typeface="Times New Roman" panose="02020603050405020304" charset="0"/>
                <a:ea typeface="楷体" panose="02010609060101010101" charset="-122"/>
                <a:cs typeface="Times New Roman" panose="02020603050405020304" charset="0"/>
              </a:rPr>
              <a:t>(1) </a:t>
            </a:r>
            <a:r>
              <a:rPr lang="zh-CN" sz="2400" b="1">
                <a:solidFill>
                  <a:srgbClr val="1318F3"/>
                </a:solidFill>
                <a:latin typeface="Times New Roman" panose="02020603050405020304" charset="0"/>
                <a:ea typeface="楷体" panose="02010609060101010101" charset="-122"/>
                <a:cs typeface="Times New Roman" panose="02020603050405020304" charset="0"/>
              </a:rPr>
              <a:t>位扩展</a:t>
            </a:r>
            <a:endParaRPr lang="zh-CN" altLang="en-US" sz="2400" b="1">
              <a:solidFill>
                <a:srgbClr val="1318F3"/>
              </a:solidFill>
              <a:latin typeface="Times New Roman" panose="02020603050405020304" charset="0"/>
              <a:ea typeface="楷体" panose="02010609060101010101" charset="-122"/>
              <a:cs typeface="Times New Roman" panose="02020603050405020304" charset="0"/>
            </a:endParaRPr>
          </a:p>
        </p:txBody>
      </p:sp>
      <p:sp>
        <p:nvSpPr>
          <p:cNvPr id="2" name="文本框 1"/>
          <p:cNvSpPr txBox="1"/>
          <p:nvPr/>
        </p:nvSpPr>
        <p:spPr>
          <a:xfrm>
            <a:off x="180975" y="5029835"/>
            <a:ext cx="8669020" cy="1198880"/>
          </a:xfrm>
          <a:prstGeom prst="rect">
            <a:avLst/>
          </a:prstGeom>
          <a:noFill/>
          <a:ln w="9525">
            <a:noFill/>
          </a:ln>
        </p:spPr>
        <p:txBody>
          <a:bodyPr wrap="square">
            <a:spAutoFit/>
          </a:bodyPr>
          <a:p>
            <a:pPr indent="266700"/>
            <a:r>
              <a:rPr lang="en-US" altLang="zh-CN" sz="2400" b="1">
                <a:solidFill>
                  <a:srgbClr val="000066"/>
                </a:solidFill>
                <a:latin typeface="Times New Roman" panose="02020603050405020304" charset="0"/>
                <a:ea typeface="楷体" panose="02010609060101010101" charset="-122"/>
                <a:cs typeface="Times New Roman" panose="02020603050405020304" charset="0"/>
              </a:rPr>
              <a:t>  </a:t>
            </a:r>
            <a:r>
              <a:rPr lang="zh-CN" sz="2400" b="1">
                <a:solidFill>
                  <a:srgbClr val="000066"/>
                </a:solidFill>
                <a:latin typeface="Times New Roman" panose="02020603050405020304" charset="0"/>
                <a:ea typeface="楷体" panose="02010609060101010101" charset="-122"/>
                <a:cs typeface="Times New Roman" panose="02020603050405020304" charset="0"/>
              </a:rPr>
              <a:t>将多片存储器的地址线、读</a:t>
            </a:r>
            <a:r>
              <a:rPr lang="en-US" sz="2400" b="1">
                <a:solidFill>
                  <a:srgbClr val="000066"/>
                </a:solidFill>
                <a:latin typeface="Times New Roman" panose="02020603050405020304" charset="0"/>
                <a:ea typeface="楷体" panose="02010609060101010101" charset="-122"/>
                <a:cs typeface="Times New Roman" panose="02020603050405020304" charset="0"/>
              </a:rPr>
              <a:t>/</a:t>
            </a:r>
            <a:r>
              <a:rPr lang="zh-CN" sz="2400" b="1">
                <a:solidFill>
                  <a:srgbClr val="000066"/>
                </a:solidFill>
                <a:latin typeface="Times New Roman" panose="02020603050405020304" charset="0"/>
                <a:ea typeface="楷体" panose="02010609060101010101" charset="-122"/>
                <a:cs typeface="Times New Roman" panose="02020603050405020304" charset="0"/>
              </a:rPr>
              <a:t>写控制线和片选线对应的并联，各个芯片的数据输入</a:t>
            </a:r>
            <a:r>
              <a:rPr lang="en-US" sz="2400" b="1">
                <a:solidFill>
                  <a:srgbClr val="000066"/>
                </a:solidFill>
                <a:latin typeface="Times New Roman" panose="02020603050405020304" charset="0"/>
                <a:ea typeface="楷体" panose="02010609060101010101" charset="-122"/>
                <a:cs typeface="Times New Roman" panose="02020603050405020304" charset="0"/>
              </a:rPr>
              <a:t>/</a:t>
            </a:r>
            <a:r>
              <a:rPr lang="zh-CN" sz="2400" b="1">
                <a:solidFill>
                  <a:srgbClr val="000066"/>
                </a:solidFill>
                <a:latin typeface="Times New Roman" panose="02020603050405020304" charset="0"/>
                <a:ea typeface="楷体" panose="02010609060101010101" charset="-122"/>
                <a:cs typeface="Times New Roman" panose="02020603050405020304" charset="0"/>
              </a:rPr>
              <a:t>输出端作为字的各位线，即可实现位的扩展。</a:t>
            </a:r>
            <a:endParaRPr lang="zh-CN" altLang="en-US" sz="24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4" name="文本框 3"/>
          <p:cNvSpPr txBox="1"/>
          <p:nvPr/>
        </p:nvSpPr>
        <p:spPr>
          <a:xfrm>
            <a:off x="152400" y="1676400"/>
            <a:ext cx="8446135" cy="1198880"/>
          </a:xfrm>
          <a:prstGeom prst="rect">
            <a:avLst/>
          </a:prstGeom>
          <a:noFill/>
        </p:spPr>
        <p:txBody>
          <a:bodyPr wrap="square" rtlCol="0" anchor="t">
            <a:spAutoFit/>
          </a:bodyPr>
          <a:p>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当一片</a:t>
            </a:r>
            <a:r>
              <a:rPr lang="en-US" altLang="zh-CN" sz="2400" b="1">
                <a:solidFill>
                  <a:srgbClr val="000066"/>
                </a:solidFill>
                <a:latin typeface="Times New Roman" panose="02020603050405020304" charset="0"/>
                <a:ea typeface="楷体" panose="02010609060101010101" charset="-122"/>
                <a:cs typeface="Times New Roman" panose="02020603050405020304" charset="0"/>
                <a:sym typeface="+mn-ea"/>
              </a:rPr>
              <a:t>RAM(</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或</a:t>
            </a:r>
            <a:r>
              <a:rPr lang="en-US" altLang="zh-CN" sz="2400" b="1">
                <a:solidFill>
                  <a:srgbClr val="000066"/>
                </a:solidFill>
                <a:latin typeface="Times New Roman" panose="02020603050405020304" charset="0"/>
                <a:ea typeface="楷体" panose="02010609060101010101" charset="-122"/>
                <a:cs typeface="Times New Roman" panose="02020603050405020304" charset="0"/>
                <a:sym typeface="+mn-ea"/>
              </a:rPr>
              <a:t>ROM)</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不能满足存储容量位数</a:t>
            </a:r>
            <a:r>
              <a:rPr lang="en-US" altLang="zh-CN" sz="2400" b="1">
                <a:solidFill>
                  <a:srgbClr val="000066"/>
                </a:solidFill>
                <a:latin typeface="Times New Roman" panose="02020603050405020304" charset="0"/>
                <a:ea typeface="楷体" panose="02010609060101010101" charset="-122"/>
                <a:cs typeface="Times New Roman" panose="02020603050405020304" charset="0"/>
                <a:sym typeface="+mn-ea"/>
              </a:rPr>
              <a: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或字数</a:t>
            </a:r>
            <a:r>
              <a:rPr lang="en-US" altLang="zh-CN" sz="2400" b="1">
                <a:solidFill>
                  <a:srgbClr val="000066"/>
                </a:solidFill>
                <a:latin typeface="Times New Roman" panose="02020603050405020304" charset="0"/>
                <a:ea typeface="楷体" panose="02010609060101010101" charset="-122"/>
                <a:cs typeface="Times New Roman" panose="02020603050405020304" charset="0"/>
                <a:sym typeface="+mn-ea"/>
              </a:rPr>
              <a: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要求时，需要多片存储芯片进行扩展，形成一个容量更大、字数位数更多的存储器。</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wipe(down)">
                                      <p:cBhvr>
                                        <p:cTn id="7" dur="500"/>
                                        <p:tgtEl>
                                          <p:spTgt spid="10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blinds(horizontal)">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0"/>
                                        </p:tgtEl>
                                        <p:attrNameLst>
                                          <p:attrName>style.visibility</p:attrName>
                                        </p:attrNameLst>
                                      </p:cBhvr>
                                      <p:to>
                                        <p:strVal val="visible"/>
                                      </p:to>
                                    </p:set>
                                    <p:animEffect transition="in" filter="wipe(down)">
                                      <p:cBhvr>
                                        <p:cTn id="17" dur="500"/>
                                        <p:tgtEl>
                                          <p:spTgt spid="10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p:bldP spid="106" grpId="1"/>
      <p:bldP spid="28" grpId="0"/>
      <p:bldP spid="28" grpId="1"/>
      <p:bldP spid="100" grpId="0"/>
      <p:bldP spid="100" grpId="1"/>
      <p:bldP spid="2" grpId="0"/>
      <p:bldP spid="2"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3" name="文本框 2"/>
          <p:cNvSpPr txBox="1"/>
          <p:nvPr/>
        </p:nvSpPr>
        <p:spPr>
          <a:xfrm>
            <a:off x="534035" y="1206500"/>
            <a:ext cx="8486140" cy="398780"/>
          </a:xfrm>
          <a:prstGeom prst="rect">
            <a:avLst/>
          </a:prstGeom>
          <a:noFill/>
          <a:ln w="9525">
            <a:noFill/>
          </a:ln>
        </p:spPr>
        <p:txBody>
          <a:bodyPr wrap="square">
            <a:spAutoFit/>
          </a:bodyPr>
          <a:p>
            <a:r>
              <a:rPr lang="en-US" sz="2000" b="1">
                <a:solidFill>
                  <a:srgbClr val="000066"/>
                </a:solidFill>
                <a:latin typeface="Times New Roman" panose="02020603050405020304" charset="0"/>
                <a:ea typeface="楷体" panose="02010609060101010101" charset="-122"/>
                <a:cs typeface="Times New Roman" panose="02020603050405020304" charset="0"/>
              </a:rPr>
              <a:t>      </a:t>
            </a:r>
            <a:r>
              <a:rPr sz="2000" b="1">
                <a:solidFill>
                  <a:srgbClr val="000066"/>
                </a:solidFill>
                <a:latin typeface="Times New Roman" panose="02020603050405020304" charset="0"/>
                <a:ea typeface="楷体" panose="02010609060101010101" charset="-122"/>
              </a:rPr>
              <a:t>【例8</a:t>
            </a:r>
            <a:r>
              <a:rPr lang="en-US" sz="2000" b="1">
                <a:solidFill>
                  <a:srgbClr val="000066"/>
                </a:solidFill>
                <a:latin typeface="Times New Roman" panose="02020603050405020304" charset="0"/>
                <a:ea typeface="楷体" panose="02010609060101010101" charset="-122"/>
              </a:rPr>
              <a:t>-</a:t>
            </a:r>
            <a:r>
              <a:rPr sz="2000" b="1">
                <a:solidFill>
                  <a:srgbClr val="000066"/>
                </a:solidFill>
                <a:latin typeface="Times New Roman" panose="02020603050405020304" charset="0"/>
                <a:ea typeface="楷体" panose="02010609060101010101" charset="-122"/>
              </a:rPr>
              <a:t>3】用8片1K×1位RAM构成的1K×8位RAM系统。</a:t>
            </a:r>
            <a:r>
              <a:rPr sz="2000" b="1">
                <a:solidFill>
                  <a:srgbClr val="000066"/>
                </a:solidFill>
                <a:latin typeface="Times New Roman" panose="02020603050405020304" charset="0"/>
                <a:ea typeface="楷体" panose="02010609060101010101" charset="-122"/>
                <a:sym typeface="+mn-ea"/>
              </a:rPr>
              <a:t> </a:t>
            </a:r>
            <a:r>
              <a:rPr lang="en-US" sz="2000" b="1">
                <a:solidFill>
                  <a:srgbClr val="000066"/>
                </a:solidFill>
                <a:latin typeface="Times New Roman" panose="02020603050405020304" charset="0"/>
                <a:ea typeface="楷体" panose="02010609060101010101" charset="-122"/>
                <a:sym typeface="+mn-ea"/>
              </a:rPr>
              <a:t>      </a:t>
            </a:r>
            <a:endParaRPr lang="en-US" sz="2000" b="1">
              <a:solidFill>
                <a:srgbClr val="000066"/>
              </a:solidFill>
              <a:latin typeface="Times New Roman" panose="02020603050405020304" charset="0"/>
              <a:ea typeface="楷体" panose="02010609060101010101" charset="-122"/>
              <a:cs typeface="Times New Roman" panose="02020603050405020304" charset="0"/>
              <a:sym typeface="+mn-ea"/>
            </a:endParaRPr>
          </a:p>
        </p:txBody>
      </p:sp>
      <p:sp>
        <p:nvSpPr>
          <p:cNvPr id="4" name="文本框 3"/>
          <p:cNvSpPr txBox="1"/>
          <p:nvPr/>
        </p:nvSpPr>
        <p:spPr>
          <a:xfrm>
            <a:off x="305435" y="1694815"/>
            <a:ext cx="8486140" cy="706755"/>
          </a:xfrm>
          <a:prstGeom prst="rect">
            <a:avLst/>
          </a:prstGeom>
          <a:noFill/>
          <a:ln w="9525">
            <a:noFill/>
          </a:ln>
        </p:spPr>
        <p:txBody>
          <a:bodyPr wrap="square">
            <a:spAutoFit/>
          </a:bodyPr>
          <a:p>
            <a:r>
              <a:rPr lang="en-US" sz="2000" b="1">
                <a:solidFill>
                  <a:srgbClr val="000066"/>
                </a:solidFill>
                <a:latin typeface="Times New Roman" panose="02020603050405020304" charset="0"/>
                <a:ea typeface="楷体" panose="02010609060101010101" charset="-122"/>
                <a:cs typeface="Times New Roman" panose="02020603050405020304" charset="0"/>
              </a:rPr>
              <a:t>      </a:t>
            </a:r>
            <a:r>
              <a:rPr sz="2000" b="1">
                <a:solidFill>
                  <a:srgbClr val="000066"/>
                </a:solidFill>
                <a:latin typeface="Times New Roman" panose="02020603050405020304" charset="0"/>
                <a:ea typeface="楷体" panose="02010609060101010101" charset="-122"/>
              </a:rPr>
              <a:t>解：将每一片RAM的地址线、读/写控制线和片选线并联在一起，如图所示。</a:t>
            </a:r>
            <a:endParaRPr sz="2000" b="1">
              <a:solidFill>
                <a:srgbClr val="000066"/>
              </a:solidFill>
              <a:latin typeface="Times New Roman" panose="02020603050405020304" charset="0"/>
              <a:ea typeface="楷体" panose="02010609060101010101" charset="-122"/>
            </a:endParaRPr>
          </a:p>
        </p:txBody>
      </p:sp>
      <p:pic>
        <p:nvPicPr>
          <p:cNvPr id="5" name="图片 4"/>
          <p:cNvPicPr>
            <a:picLocks noChangeAspect="1"/>
          </p:cNvPicPr>
          <p:nvPr/>
        </p:nvPicPr>
        <p:blipFill>
          <a:blip r:embed="rId1"/>
          <a:stretch>
            <a:fillRect/>
          </a:stretch>
        </p:blipFill>
        <p:spPr>
          <a:xfrm>
            <a:off x="691515" y="2667635"/>
            <a:ext cx="7827010" cy="31584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 name="文本框 85"/>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8.2 </a:t>
            </a:r>
            <a:r>
              <a:rPr lang="zh-CN" altLang="en-US" b="1" dirty="0">
                <a:solidFill>
                  <a:srgbClr val="FF0000"/>
                </a:solidFill>
                <a:latin typeface="黑体" panose="02010609060101010101" pitchFamily="49" charset="-122"/>
                <a:ea typeface="黑体" panose="02010609060101010101" pitchFamily="49" charset="-122"/>
              </a:rPr>
              <a:t>半导体</a:t>
            </a:r>
            <a:r>
              <a:rPr lang="zh-CN" altLang="en-US" b="1" dirty="0">
                <a:solidFill>
                  <a:srgbClr val="FF0000"/>
                </a:solidFill>
                <a:latin typeface="黑体" panose="02010609060101010101" pitchFamily="49" charset="-122"/>
                <a:ea typeface="黑体" panose="02010609060101010101" pitchFamily="49" charset="-122"/>
              </a:rPr>
              <a:t>存储器</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0" name="文本框 99"/>
          <p:cNvSpPr txBox="1"/>
          <p:nvPr/>
        </p:nvSpPr>
        <p:spPr>
          <a:xfrm>
            <a:off x="838200" y="1167130"/>
            <a:ext cx="5080000" cy="460375"/>
          </a:xfrm>
          <a:prstGeom prst="rect">
            <a:avLst/>
          </a:prstGeom>
          <a:noFill/>
          <a:ln w="9525">
            <a:noFill/>
          </a:ln>
        </p:spPr>
        <p:txBody>
          <a:bodyPr>
            <a:spAutoFit/>
          </a:bodyPr>
          <a:p>
            <a:pPr indent="266700"/>
            <a:r>
              <a:rPr lang="en-US" sz="2400" b="1">
                <a:solidFill>
                  <a:srgbClr val="1318F3"/>
                </a:solidFill>
                <a:latin typeface="Times New Roman" panose="02020603050405020304" charset="0"/>
                <a:ea typeface="楷体" panose="02010609060101010101" charset="-122"/>
                <a:cs typeface="Times New Roman" panose="02020603050405020304" charset="0"/>
              </a:rPr>
              <a:t>(2) </a:t>
            </a:r>
            <a:r>
              <a:rPr lang="zh-CN" sz="2400" b="1">
                <a:solidFill>
                  <a:srgbClr val="1318F3"/>
                </a:solidFill>
                <a:latin typeface="Times New Roman" panose="02020603050405020304" charset="0"/>
                <a:ea typeface="楷体" panose="02010609060101010101" charset="-122"/>
                <a:cs typeface="Times New Roman" panose="02020603050405020304" charset="0"/>
              </a:rPr>
              <a:t>字扩展</a:t>
            </a:r>
            <a:endParaRPr lang="zh-CN" altLang="en-US" sz="2400" b="1">
              <a:solidFill>
                <a:srgbClr val="1318F3"/>
              </a:solidFill>
              <a:latin typeface="Times New Roman" panose="02020603050405020304" charset="0"/>
              <a:ea typeface="楷体" panose="02010609060101010101" charset="-122"/>
              <a:cs typeface="Times New Roman" panose="02020603050405020304" charset="0"/>
            </a:endParaRPr>
          </a:p>
        </p:txBody>
      </p:sp>
      <p:sp>
        <p:nvSpPr>
          <p:cNvPr id="2" name="文本框 1"/>
          <p:cNvSpPr txBox="1"/>
          <p:nvPr/>
        </p:nvSpPr>
        <p:spPr>
          <a:xfrm>
            <a:off x="381635" y="1600835"/>
            <a:ext cx="8669020" cy="1198880"/>
          </a:xfrm>
          <a:prstGeom prst="rect">
            <a:avLst/>
          </a:prstGeom>
          <a:noFill/>
          <a:ln w="9525">
            <a:noFill/>
          </a:ln>
        </p:spPr>
        <p:txBody>
          <a:bodyPr wrap="square">
            <a:spAutoFit/>
          </a:bodyPr>
          <a:p>
            <a:pPr indent="266700"/>
            <a:r>
              <a:rPr lang="en-US" sz="2400" b="1">
                <a:solidFill>
                  <a:srgbClr val="000066"/>
                </a:solidFill>
                <a:latin typeface="Times New Roman" panose="02020603050405020304" charset="0"/>
                <a:ea typeface="楷体" panose="02010609060101010101" charset="-122"/>
                <a:cs typeface="Times New Roman" panose="02020603050405020304" charset="0"/>
              </a:rPr>
              <a:t>  </a:t>
            </a:r>
            <a:r>
              <a:rPr sz="2400" b="1">
                <a:solidFill>
                  <a:srgbClr val="000066"/>
                </a:solidFill>
                <a:latin typeface="Times New Roman" panose="02020603050405020304" charset="0"/>
                <a:ea typeface="楷体" panose="02010609060101010101" charset="-122"/>
                <a:cs typeface="Times New Roman" panose="02020603050405020304" charset="0"/>
              </a:rPr>
              <a:t>将各芯片数据线、读/写控制线、低位地址线连接在一起，要增加的高位地址线，通过译码器译码后分别接至各片的片选控制端，各芯片位线连接在一起。</a:t>
            </a:r>
            <a:endParaRPr sz="24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3" name="文本框 2"/>
          <p:cNvSpPr txBox="1"/>
          <p:nvPr/>
        </p:nvSpPr>
        <p:spPr>
          <a:xfrm>
            <a:off x="304800" y="2799715"/>
            <a:ext cx="8486140" cy="398780"/>
          </a:xfrm>
          <a:prstGeom prst="rect">
            <a:avLst/>
          </a:prstGeom>
          <a:noFill/>
          <a:ln w="9525">
            <a:noFill/>
          </a:ln>
        </p:spPr>
        <p:txBody>
          <a:bodyPr wrap="square">
            <a:spAutoFit/>
          </a:bodyPr>
          <a:p>
            <a:r>
              <a:rPr lang="en-US" sz="2000" b="1">
                <a:solidFill>
                  <a:srgbClr val="000066"/>
                </a:solidFill>
                <a:latin typeface="Times New Roman" panose="02020603050405020304" charset="0"/>
                <a:ea typeface="楷体" panose="02010609060101010101" charset="-122"/>
                <a:cs typeface="Times New Roman" panose="02020603050405020304" charset="0"/>
              </a:rPr>
              <a:t>      </a:t>
            </a:r>
            <a:r>
              <a:rPr sz="2000" b="1">
                <a:solidFill>
                  <a:srgbClr val="000066"/>
                </a:solidFill>
                <a:latin typeface="Times New Roman" panose="02020603050405020304" charset="0"/>
                <a:ea typeface="楷体" panose="02010609060101010101" charset="-122"/>
              </a:rPr>
              <a:t>【例8</a:t>
            </a:r>
            <a:r>
              <a:rPr lang="en-US" sz="2000" b="1">
                <a:solidFill>
                  <a:srgbClr val="000066"/>
                </a:solidFill>
                <a:latin typeface="Times New Roman" panose="02020603050405020304" charset="0"/>
                <a:ea typeface="楷体" panose="02010609060101010101" charset="-122"/>
              </a:rPr>
              <a:t>-4</a:t>
            </a:r>
            <a:r>
              <a:rPr sz="2000" b="1">
                <a:solidFill>
                  <a:srgbClr val="000066"/>
                </a:solidFill>
                <a:latin typeface="Times New Roman" panose="02020603050405020304" charset="0"/>
                <a:ea typeface="楷体" panose="02010609060101010101" charset="-122"/>
              </a:rPr>
              <a:t>】用8片1K×8位RAM构成的8K×8位RAM。</a:t>
            </a:r>
            <a:r>
              <a:rPr lang="en-US" sz="2000" b="1">
                <a:solidFill>
                  <a:srgbClr val="000066"/>
                </a:solidFill>
                <a:latin typeface="Times New Roman" panose="02020603050405020304" charset="0"/>
                <a:ea typeface="楷体" panose="02010609060101010101" charset="-122"/>
                <a:sym typeface="+mn-ea"/>
              </a:rPr>
              <a:t>     </a:t>
            </a:r>
            <a:endParaRPr lang="en-US" sz="2000" b="1">
              <a:solidFill>
                <a:srgbClr val="000066"/>
              </a:solidFill>
              <a:latin typeface="Times New Roman" panose="02020603050405020304" charset="0"/>
              <a:ea typeface="楷体" panose="02010609060101010101" charset="-122"/>
              <a:cs typeface="Times New Roman" panose="02020603050405020304" charset="0"/>
              <a:sym typeface="+mn-ea"/>
            </a:endParaRPr>
          </a:p>
        </p:txBody>
      </p:sp>
      <p:pic>
        <p:nvPicPr>
          <p:cNvPr id="5" name="图片 4"/>
          <p:cNvPicPr>
            <a:picLocks noChangeAspect="1"/>
          </p:cNvPicPr>
          <p:nvPr/>
        </p:nvPicPr>
        <p:blipFill>
          <a:blip r:embed="rId1"/>
          <a:stretch>
            <a:fillRect/>
          </a:stretch>
        </p:blipFill>
        <p:spPr>
          <a:xfrm>
            <a:off x="1981200" y="3198495"/>
            <a:ext cx="5231130" cy="36347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wipe(down)">
                                      <p:cBhvr>
                                        <p:cTn id="7" dur="500"/>
                                        <p:tgtEl>
                                          <p:spTgt spid="10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00" grpId="1"/>
      <p:bldP spid="2" grpId="0"/>
      <p:bldP spid="2" grpId="1"/>
      <p:bldP spid="3" grpId="0"/>
      <p:bldP spid="3"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2971800" y="533400"/>
            <a:ext cx="398843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8.3 </a:t>
            </a:r>
            <a:r>
              <a:rPr lang="zh-CN" altLang="en-US" b="1" dirty="0">
                <a:solidFill>
                  <a:srgbClr val="FF0000"/>
                </a:solidFill>
                <a:latin typeface="黑体" panose="02010609060101010101" pitchFamily="49" charset="-122"/>
                <a:ea typeface="黑体" panose="02010609060101010101" pitchFamily="49" charset="-122"/>
              </a:rPr>
              <a:t>可编程逻辑</a:t>
            </a:r>
            <a:r>
              <a:rPr lang="zh-CN" altLang="en-US" b="1" dirty="0">
                <a:solidFill>
                  <a:srgbClr val="FF0000"/>
                </a:solidFill>
                <a:latin typeface="黑体" panose="02010609060101010101" pitchFamily="49" charset="-122"/>
                <a:ea typeface="黑体" panose="02010609060101010101" pitchFamily="49" charset="-122"/>
              </a:rPr>
              <a:t>器件</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762000" y="1143000"/>
            <a:ext cx="8068945"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8.3.1 </a:t>
            </a:r>
            <a:r>
              <a:rPr lang="zh-CN" altLang="en-US" sz="2800" i="0" dirty="0">
                <a:solidFill>
                  <a:srgbClr val="0070C0"/>
                </a:solidFill>
                <a:latin typeface="黑体" panose="02010609060101010101" pitchFamily="49" charset="-122"/>
                <a:ea typeface="黑体" panose="02010609060101010101" pitchFamily="49" charset="-122"/>
              </a:rPr>
              <a:t>可编程逻辑器件的基本结构及</a:t>
            </a:r>
            <a:r>
              <a:rPr lang="zh-CN" altLang="en-US" sz="2800" i="0" dirty="0">
                <a:solidFill>
                  <a:srgbClr val="0070C0"/>
                </a:solidFill>
                <a:latin typeface="黑体" panose="02010609060101010101" pitchFamily="49" charset="-122"/>
                <a:ea typeface="黑体" panose="02010609060101010101" pitchFamily="49" charset="-122"/>
              </a:rPr>
              <a:t>分类</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364563" name="矩形 364562"/>
          <p:cNvSpPr/>
          <p:nvPr/>
        </p:nvSpPr>
        <p:spPr>
          <a:xfrm>
            <a:off x="228600" y="2413953"/>
            <a:ext cx="8543925" cy="2675255"/>
          </a:xfrm>
          <a:prstGeom prst="rect">
            <a:avLst/>
          </a:prstGeom>
          <a:noFill/>
          <a:ln w="9525">
            <a:noFill/>
          </a:ln>
        </p:spPr>
        <p:txBody>
          <a:bodyPr wrap="square" anchor="ctr" anchorCtr="0">
            <a:spAutoFit/>
          </a:bodyPr>
          <a:p>
            <a:pPr algn="l">
              <a:lnSpc>
                <a:spcPct val="120000"/>
              </a:lnSpc>
            </a:pPr>
            <a:r>
              <a:rPr lang="en-US" altLang="zh-CN" sz="2800" b="1" dirty="0">
                <a:solidFill>
                  <a:srgbClr val="000066"/>
                </a:solidFill>
                <a:latin typeface="Times New Roman" panose="02020603050405020304" charset="0"/>
                <a:ea typeface="楷体" panose="02010609060101010101" charset="-122"/>
              </a:rPr>
              <a:t>      </a:t>
            </a:r>
            <a:r>
              <a:rPr lang="zh-CN" altLang="en-US" sz="2800" b="1" dirty="0">
                <a:solidFill>
                  <a:srgbClr val="000066"/>
                </a:solidFill>
                <a:latin typeface="Times New Roman" panose="02020603050405020304" charset="0"/>
                <a:ea typeface="楷体" panose="02010609060101010101" charset="-122"/>
              </a:rPr>
              <a:t>可编程逻辑器件 (</a:t>
            </a:r>
            <a:r>
              <a:rPr lang="zh-CN" altLang="en-US" sz="2800" b="1" dirty="0">
                <a:solidFill>
                  <a:srgbClr val="1318F3"/>
                </a:solidFill>
                <a:latin typeface="Times New Roman" panose="02020603050405020304" charset="0"/>
                <a:ea typeface="楷体" panose="02010609060101010101" charset="-122"/>
              </a:rPr>
              <a:t>Programmable Logic Device，PLD</a:t>
            </a:r>
            <a:r>
              <a:rPr lang="zh-CN" altLang="en-US" sz="2800" b="1" dirty="0">
                <a:solidFill>
                  <a:srgbClr val="000066"/>
                </a:solidFill>
                <a:latin typeface="Times New Roman" panose="02020603050405020304" charset="0"/>
                <a:ea typeface="楷体" panose="02010609060101010101" charset="-122"/>
              </a:rPr>
              <a:t>)是一种由用户定义、编程以实现某种逻辑功能的逻辑器件，是一种“与-或”结构的逻辑器件，属于专用集成电路(</a:t>
            </a:r>
            <a:r>
              <a:rPr lang="zh-CN" altLang="en-US" sz="2800" b="1" dirty="0">
                <a:solidFill>
                  <a:srgbClr val="1318F3"/>
                </a:solidFill>
                <a:latin typeface="Times New Roman" panose="02020603050405020304" charset="0"/>
                <a:ea typeface="楷体" panose="02010609060101010101" charset="-122"/>
              </a:rPr>
              <a:t>ASIC</a:t>
            </a:r>
            <a:r>
              <a:rPr lang="zh-CN" altLang="en-US" sz="2800" b="1" dirty="0">
                <a:solidFill>
                  <a:srgbClr val="000066"/>
                </a:solidFill>
                <a:latin typeface="Times New Roman" panose="02020603050405020304" charset="0"/>
                <a:ea typeface="楷体" panose="02010609060101010101" charset="-122"/>
              </a:rPr>
              <a:t>)。该类器件具有集成度高、速度快、功耗小、可靠性高等特点。</a:t>
            </a:r>
            <a:endParaRPr lang="zh-CN" altLang="en-US" sz="2800" b="1" dirty="0">
              <a:solidFill>
                <a:srgbClr val="000066"/>
              </a:solidFill>
              <a:latin typeface="Times New Roman" panose="02020603050405020304" charset="0"/>
              <a:ea typeface="楷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2971800" y="533400"/>
            <a:ext cx="398843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8.3 </a:t>
            </a:r>
            <a:r>
              <a:rPr lang="zh-CN" altLang="en-US" b="1" dirty="0">
                <a:solidFill>
                  <a:srgbClr val="FF0000"/>
                </a:solidFill>
                <a:latin typeface="黑体" panose="02010609060101010101" pitchFamily="49" charset="-122"/>
                <a:ea typeface="黑体" panose="02010609060101010101" pitchFamily="49" charset="-122"/>
              </a:rPr>
              <a:t>可编程逻辑</a:t>
            </a:r>
            <a:r>
              <a:rPr lang="zh-CN" altLang="en-US" b="1" dirty="0">
                <a:solidFill>
                  <a:srgbClr val="FF0000"/>
                </a:solidFill>
                <a:latin typeface="黑体" panose="02010609060101010101" pitchFamily="49" charset="-122"/>
                <a:ea typeface="黑体" panose="02010609060101010101" pitchFamily="49" charset="-122"/>
              </a:rPr>
              <a:t>器件</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7588" name="矩形 67587"/>
          <p:cNvSpPr/>
          <p:nvPr/>
        </p:nvSpPr>
        <p:spPr>
          <a:xfrm>
            <a:off x="990283" y="1143000"/>
            <a:ext cx="7848600" cy="539750"/>
          </a:xfrm>
          <a:prstGeom prst="rect">
            <a:avLst/>
          </a:prstGeom>
          <a:noFill/>
          <a:ln w="9525">
            <a:noFill/>
          </a:ln>
        </p:spPr>
        <p:txBody>
          <a:bodyPr anchor="ctr" anchorCtr="0"/>
          <a:lstStyle>
            <a:lvl1pPr marL="0" lvl="0" indent="0" algn="l" defTabSz="914400" rtl="0" eaLnBrk="1" fontAlgn="base" latinLnBrk="0" hangingPunct="1">
              <a:lnSpc>
                <a:spcPct val="100000"/>
              </a:lnSpc>
              <a:spcBef>
                <a:spcPct val="0"/>
              </a:spcBef>
              <a:spcAft>
                <a:spcPct val="0"/>
              </a:spcAft>
              <a:buNone/>
              <a:defRPr sz="4400" u="none" kern="1200" baseline="0">
                <a:solidFill>
                  <a:schemeClr val="tx1"/>
                </a:solidFill>
                <a:latin typeface="Arial" panose="020B0604020202020204" pitchFamily="34" charset="0"/>
                <a:ea typeface="宋体" panose="02010600030101010101" pitchFamily="2" charset="-122"/>
              </a:defRPr>
            </a:lvl1pPr>
          </a:lstStyle>
          <a:p>
            <a:pPr marL="609600" lvl="0" indent="-609600"/>
            <a:r>
              <a:rPr lang="en-US" sz="2400" b="1">
                <a:solidFill>
                  <a:srgbClr val="FE09D6"/>
                </a:solidFill>
                <a:latin typeface="Times New Roman" panose="02020603050405020304" charset="0"/>
                <a:ea typeface="楷体" panose="02010609060101010101" charset="-122"/>
                <a:cs typeface="Times New Roman" panose="02020603050405020304" charset="0"/>
              </a:rPr>
              <a:t>1.PLD</a:t>
            </a:r>
            <a:r>
              <a:rPr lang="zh-CN" altLang="en-US" sz="2400" b="1">
                <a:solidFill>
                  <a:srgbClr val="FE09D6"/>
                </a:solidFill>
                <a:latin typeface="Times New Roman" panose="02020603050405020304" charset="0"/>
                <a:ea typeface="楷体" panose="02010609060101010101" charset="-122"/>
                <a:cs typeface="Times New Roman" panose="02020603050405020304" charset="0"/>
              </a:rPr>
              <a:t>的基本</a:t>
            </a:r>
            <a:r>
              <a:rPr lang="zh-CN" altLang="en-US" sz="2400" b="1">
                <a:solidFill>
                  <a:srgbClr val="FE09D6"/>
                </a:solidFill>
                <a:latin typeface="Times New Roman" panose="02020603050405020304" charset="0"/>
                <a:ea typeface="楷体" panose="02010609060101010101" charset="-122"/>
                <a:cs typeface="Times New Roman" panose="02020603050405020304" charset="0"/>
              </a:rPr>
              <a:t>结构</a:t>
            </a:r>
            <a:endParaRPr lang="zh-CN" altLang="en-US" sz="2400" b="1">
              <a:solidFill>
                <a:srgbClr val="FE09D6"/>
              </a:solidFill>
              <a:latin typeface="Times New Roman" panose="02020603050405020304" charset="0"/>
              <a:ea typeface="楷体" panose="02010609060101010101" charset="-122"/>
              <a:cs typeface="Times New Roman" panose="02020603050405020304" charset="0"/>
            </a:endParaRPr>
          </a:p>
        </p:txBody>
      </p:sp>
      <p:sp>
        <p:nvSpPr>
          <p:cNvPr id="88073" name="矩形 88072"/>
          <p:cNvSpPr/>
          <p:nvPr/>
        </p:nvSpPr>
        <p:spPr>
          <a:xfrm>
            <a:off x="3367088" y="3354388"/>
            <a:ext cx="838200" cy="1371600"/>
          </a:xfrm>
          <a:prstGeom prst="rect">
            <a:avLst/>
          </a:prstGeom>
          <a:solidFill>
            <a:schemeClr val="bg1"/>
          </a:solidFill>
          <a:ln w="38100" cap="flat" cmpd="sng">
            <a:solidFill>
              <a:srgbClr val="0000CC"/>
            </a:solidFill>
            <a:prstDash val="solid"/>
            <a:miter/>
            <a:headEnd type="none" w="med" len="med"/>
            <a:tailEnd type="none" w="med" len="med"/>
          </a:ln>
        </p:spPr>
        <p:txBody>
          <a:bodyPr wrap="none" anchor="ctr" anchorCtr="0"/>
          <a:p>
            <a:pPr algn="ctr"/>
            <a:r>
              <a:rPr lang="zh-CN" altLang="en-US" sz="2400" b="1" dirty="0">
                <a:solidFill>
                  <a:srgbClr val="000066"/>
                </a:solidFill>
                <a:latin typeface="Times New Roman" panose="02020603050405020304" charset="0"/>
                <a:ea typeface="楷体" panose="02010609060101010101" charset="-122"/>
              </a:rPr>
              <a:t>与门</a:t>
            </a:r>
            <a:endParaRPr lang="zh-CN" altLang="en-US" sz="2400" b="1" dirty="0">
              <a:solidFill>
                <a:srgbClr val="000066"/>
              </a:solidFill>
              <a:latin typeface="Times New Roman" panose="02020603050405020304" charset="0"/>
              <a:ea typeface="楷体" panose="02010609060101010101" charset="-122"/>
            </a:endParaRPr>
          </a:p>
          <a:p>
            <a:pPr algn="ctr"/>
            <a:r>
              <a:rPr lang="zh-CN" altLang="en-US" sz="2400" b="1" dirty="0">
                <a:solidFill>
                  <a:srgbClr val="000066"/>
                </a:solidFill>
                <a:latin typeface="Times New Roman" panose="02020603050405020304" charset="0"/>
                <a:ea typeface="楷体" panose="02010609060101010101" charset="-122"/>
              </a:rPr>
              <a:t>阵列</a:t>
            </a:r>
            <a:endParaRPr lang="zh-CN" altLang="en-US" b="1">
              <a:solidFill>
                <a:srgbClr val="000066"/>
              </a:solidFill>
              <a:latin typeface="Times New Roman" panose="02020603050405020304" charset="0"/>
              <a:ea typeface="楷体" panose="02010609060101010101" charset="-122"/>
            </a:endParaRPr>
          </a:p>
        </p:txBody>
      </p:sp>
      <p:sp>
        <p:nvSpPr>
          <p:cNvPr id="88074" name="矩形 88073"/>
          <p:cNvSpPr/>
          <p:nvPr/>
        </p:nvSpPr>
        <p:spPr>
          <a:xfrm>
            <a:off x="5195888" y="3354388"/>
            <a:ext cx="838200" cy="1371600"/>
          </a:xfrm>
          <a:prstGeom prst="rect">
            <a:avLst/>
          </a:prstGeom>
          <a:solidFill>
            <a:schemeClr val="bg1"/>
          </a:solidFill>
          <a:ln w="28575" cap="flat" cmpd="sng">
            <a:solidFill>
              <a:srgbClr val="0000CC"/>
            </a:solidFill>
            <a:prstDash val="solid"/>
            <a:miter/>
            <a:headEnd type="none" w="med" len="med"/>
            <a:tailEnd type="none" w="med" len="med"/>
          </a:ln>
        </p:spPr>
        <p:txBody>
          <a:bodyPr wrap="none" anchor="ctr" anchorCtr="0"/>
          <a:p>
            <a:pPr algn="ctr"/>
            <a:r>
              <a:rPr lang="zh-CN" altLang="en-US" sz="2400" b="1" dirty="0">
                <a:solidFill>
                  <a:srgbClr val="000066"/>
                </a:solidFill>
                <a:latin typeface="Times New Roman" panose="02020603050405020304" charset="0"/>
                <a:ea typeface="楷体" panose="02010609060101010101" charset="-122"/>
              </a:rPr>
              <a:t>或门</a:t>
            </a:r>
            <a:endParaRPr lang="zh-CN" altLang="en-US" sz="2400" dirty="0">
              <a:solidFill>
                <a:srgbClr val="000066"/>
              </a:solidFill>
              <a:latin typeface="Times New Roman" panose="02020603050405020304" charset="0"/>
              <a:ea typeface="楷体" panose="02010609060101010101" charset="-122"/>
            </a:endParaRPr>
          </a:p>
          <a:p>
            <a:pPr algn="ctr"/>
            <a:r>
              <a:rPr lang="zh-CN" altLang="en-US" sz="2400" b="1" dirty="0">
                <a:solidFill>
                  <a:srgbClr val="000066"/>
                </a:solidFill>
                <a:latin typeface="Times New Roman" panose="02020603050405020304" charset="0"/>
                <a:ea typeface="楷体" panose="02010609060101010101" charset="-122"/>
              </a:rPr>
              <a:t>阵列</a:t>
            </a:r>
            <a:endParaRPr lang="zh-CN" altLang="en-US">
              <a:solidFill>
                <a:srgbClr val="000066"/>
              </a:solidFill>
              <a:latin typeface="Times New Roman" panose="02020603050405020304" charset="0"/>
              <a:ea typeface="楷体" panose="02010609060101010101" charset="-122"/>
            </a:endParaRPr>
          </a:p>
        </p:txBody>
      </p:sp>
      <p:sp>
        <p:nvSpPr>
          <p:cNvPr id="88075" name="右箭头 88074"/>
          <p:cNvSpPr/>
          <p:nvPr/>
        </p:nvSpPr>
        <p:spPr>
          <a:xfrm>
            <a:off x="4205288" y="3735388"/>
            <a:ext cx="990600" cy="685800"/>
          </a:xfrm>
          <a:prstGeom prst="rightArrow">
            <a:avLst>
              <a:gd name="adj1" fmla="val 50000"/>
              <a:gd name="adj2" fmla="val 36111"/>
            </a:avLst>
          </a:prstGeom>
          <a:solidFill>
            <a:srgbClr val="FFCC99">
              <a:alpha val="49001"/>
            </a:srgbClr>
          </a:solidFill>
          <a:ln w="38100" cap="flat" cmpd="sng">
            <a:solidFill>
              <a:srgbClr val="CC0000"/>
            </a:solidFill>
            <a:prstDash val="solid"/>
            <a:miter/>
            <a:headEnd type="none" w="med" len="med"/>
            <a:tailEnd type="none" w="med" len="med"/>
          </a:ln>
        </p:spPr>
        <p:txBody>
          <a:bodyPr wrap="none" anchor="ctr" anchorCtr="0"/>
          <a:p>
            <a:pPr algn="ctr"/>
            <a:r>
              <a:rPr lang="zh-CN" altLang="en-US" sz="2000" b="1" dirty="0">
                <a:latin typeface="Times New Roman" panose="02020603050405020304" charset="0"/>
                <a:ea typeface="楷体" panose="02010609060101010101" charset="-122"/>
              </a:rPr>
              <a:t>乘积项</a:t>
            </a:r>
            <a:endParaRPr lang="zh-CN" altLang="en-US" sz="2000" b="1" dirty="0">
              <a:latin typeface="Times New Roman" panose="02020603050405020304" charset="0"/>
              <a:ea typeface="楷体" panose="02010609060101010101" charset="-122"/>
            </a:endParaRPr>
          </a:p>
        </p:txBody>
      </p:sp>
      <p:sp>
        <p:nvSpPr>
          <p:cNvPr id="88076" name="右箭头 88075"/>
          <p:cNvSpPr/>
          <p:nvPr/>
        </p:nvSpPr>
        <p:spPr>
          <a:xfrm>
            <a:off x="6034088" y="3735388"/>
            <a:ext cx="838200" cy="685800"/>
          </a:xfrm>
          <a:prstGeom prst="rightArrow">
            <a:avLst>
              <a:gd name="adj1" fmla="val 50000"/>
              <a:gd name="adj2" fmla="val 30555"/>
            </a:avLst>
          </a:prstGeom>
          <a:solidFill>
            <a:srgbClr val="FFCC99">
              <a:alpha val="50000"/>
            </a:srgbClr>
          </a:solidFill>
          <a:ln w="38100" cap="flat" cmpd="sng">
            <a:solidFill>
              <a:srgbClr val="CC0000"/>
            </a:solidFill>
            <a:prstDash val="solid"/>
            <a:miter/>
            <a:headEnd type="none" w="med" len="med"/>
            <a:tailEnd type="none" w="med" len="med"/>
          </a:ln>
        </p:spPr>
        <p:txBody>
          <a:bodyPr wrap="none" anchor="ctr" anchorCtr="0"/>
          <a:p>
            <a:pPr algn="ctr"/>
            <a:r>
              <a:rPr lang="zh-CN" altLang="en-US" sz="2000" b="1" dirty="0">
                <a:latin typeface="Times New Roman" panose="02020603050405020304" charset="0"/>
                <a:ea typeface="楷体" panose="02010609060101010101" charset="-122"/>
              </a:rPr>
              <a:t>和项</a:t>
            </a:r>
            <a:endParaRPr lang="zh-CN" altLang="en-US" sz="2000" b="1" dirty="0">
              <a:latin typeface="Times New Roman" panose="02020603050405020304" charset="0"/>
              <a:ea typeface="楷体" panose="02010609060101010101" charset="-122"/>
            </a:endParaRPr>
          </a:p>
        </p:txBody>
      </p:sp>
      <p:sp>
        <p:nvSpPr>
          <p:cNvPr id="88077" name="矩形 88076"/>
          <p:cNvSpPr/>
          <p:nvPr/>
        </p:nvSpPr>
        <p:spPr>
          <a:xfrm>
            <a:off x="3138488" y="3125788"/>
            <a:ext cx="3048000" cy="1828800"/>
          </a:xfrm>
          <a:prstGeom prst="rect">
            <a:avLst/>
          </a:prstGeom>
          <a:noFill/>
          <a:ln w="19050" cap="flat" cmpd="sng">
            <a:solidFill>
              <a:srgbClr val="E507BB"/>
            </a:solidFill>
            <a:prstDash val="dash"/>
            <a:miter/>
            <a:headEnd type="none" w="med" len="med"/>
            <a:tailEnd type="none" w="med" len="med"/>
          </a:ln>
        </p:spPr>
        <p:txBody>
          <a:bodyPr wrap="none" anchor="ctr" anchorCtr="0"/>
          <a:p>
            <a:pPr algn="ctr"/>
            <a:endParaRPr lang="en-GB" altLang="x-none" sz="2400">
              <a:solidFill>
                <a:srgbClr val="4F899D"/>
              </a:solidFill>
              <a:latin typeface="Times New Roman" panose="02020603050405020304" charset="0"/>
              <a:ea typeface="楷体" panose="02010609060101010101" charset="-122"/>
              <a:cs typeface="Times New Roman" panose="02020603050405020304" charset="0"/>
            </a:endParaRPr>
          </a:p>
        </p:txBody>
      </p:sp>
      <p:sp>
        <p:nvSpPr>
          <p:cNvPr id="88078" name="圆角矩形标注 88077"/>
          <p:cNvSpPr/>
          <p:nvPr/>
        </p:nvSpPr>
        <p:spPr>
          <a:xfrm>
            <a:off x="4586288" y="2058988"/>
            <a:ext cx="1676400" cy="762000"/>
          </a:xfrm>
          <a:prstGeom prst="wedgeRoundRectCallout">
            <a:avLst>
              <a:gd name="adj1" fmla="val -55116"/>
              <a:gd name="adj2" fmla="val 97083"/>
              <a:gd name="adj3" fmla="val 16667"/>
            </a:avLst>
          </a:prstGeom>
          <a:solidFill>
            <a:srgbClr val="3399FF">
              <a:alpha val="30000"/>
            </a:srgbClr>
          </a:solidFill>
          <a:ln w="9525">
            <a:noFill/>
          </a:ln>
        </p:spPr>
        <p:txBody>
          <a:bodyPr wrap="none" anchor="ctr" anchorCtr="0"/>
          <a:p>
            <a:pPr algn="ctr"/>
            <a:r>
              <a:rPr lang="en-US" altLang="zh-CN" sz="2400" b="1">
                <a:solidFill>
                  <a:srgbClr val="990033"/>
                </a:solidFill>
                <a:latin typeface="Times New Roman" panose="02020603050405020304" charset="0"/>
                <a:ea typeface="楷体" panose="02010609060101010101" charset="-122"/>
                <a:cs typeface="Times New Roman" panose="02020603050405020304" charset="0"/>
              </a:rPr>
              <a:t>PLD</a:t>
            </a:r>
            <a:r>
              <a:rPr lang="zh-CN" altLang="zh-CN" sz="2400" b="1" dirty="0">
                <a:solidFill>
                  <a:srgbClr val="990033"/>
                </a:solidFill>
                <a:latin typeface="Times New Roman" panose="02020603050405020304" charset="0"/>
                <a:ea typeface="楷体" panose="02010609060101010101" charset="-122"/>
                <a:cs typeface="Times New Roman" panose="02020603050405020304" charset="0"/>
              </a:rPr>
              <a:t>主体</a:t>
            </a:r>
            <a:endParaRPr lang="zh-CN" altLang="en-US" sz="2400" b="1">
              <a:solidFill>
                <a:srgbClr val="990033"/>
              </a:solidFill>
              <a:latin typeface="Times New Roman" panose="02020603050405020304" charset="0"/>
              <a:ea typeface="楷体" panose="02010609060101010101" charset="-122"/>
              <a:cs typeface="Times New Roman" panose="02020603050405020304" charset="0"/>
            </a:endParaRPr>
          </a:p>
        </p:txBody>
      </p:sp>
      <p:sp>
        <p:nvSpPr>
          <p:cNvPr id="88079" name="矩形 88078"/>
          <p:cNvSpPr/>
          <p:nvPr/>
        </p:nvSpPr>
        <p:spPr>
          <a:xfrm>
            <a:off x="1538288" y="3354388"/>
            <a:ext cx="838200" cy="1371600"/>
          </a:xfrm>
          <a:prstGeom prst="rect">
            <a:avLst/>
          </a:prstGeom>
          <a:solidFill>
            <a:schemeClr val="bg1"/>
          </a:solidFill>
          <a:ln w="28575" cap="flat" cmpd="sng">
            <a:solidFill>
              <a:srgbClr val="0000CC"/>
            </a:solidFill>
            <a:prstDash val="solid"/>
            <a:miter/>
            <a:headEnd type="none" w="med" len="med"/>
            <a:tailEnd type="none" w="med" len="med"/>
          </a:ln>
        </p:spPr>
        <p:txBody>
          <a:bodyPr wrap="none" anchor="ctr" anchorCtr="0"/>
          <a:p>
            <a:pPr algn="ctr"/>
            <a:r>
              <a:rPr lang="zh-CN" altLang="en-US" sz="2400" b="1" dirty="0">
                <a:solidFill>
                  <a:srgbClr val="000066"/>
                </a:solidFill>
                <a:latin typeface="Times New Roman" panose="02020603050405020304" charset="0"/>
                <a:ea typeface="楷体" panose="02010609060101010101" charset="-122"/>
              </a:rPr>
              <a:t>输入</a:t>
            </a:r>
            <a:endParaRPr lang="zh-CN" altLang="en-US" sz="2400" b="1" dirty="0">
              <a:solidFill>
                <a:srgbClr val="000066"/>
              </a:solidFill>
              <a:latin typeface="Times New Roman" panose="02020603050405020304" charset="0"/>
              <a:ea typeface="楷体" panose="02010609060101010101" charset="-122"/>
            </a:endParaRPr>
          </a:p>
          <a:p>
            <a:pPr algn="ctr"/>
            <a:r>
              <a:rPr lang="zh-CN" altLang="en-US" sz="2400" b="1" dirty="0">
                <a:solidFill>
                  <a:srgbClr val="000066"/>
                </a:solidFill>
                <a:latin typeface="Times New Roman" panose="02020603050405020304" charset="0"/>
                <a:ea typeface="楷体" panose="02010609060101010101" charset="-122"/>
              </a:rPr>
              <a:t>电路</a:t>
            </a:r>
            <a:endParaRPr lang="zh-CN" altLang="en-US" b="1">
              <a:solidFill>
                <a:srgbClr val="000066"/>
              </a:solidFill>
              <a:latin typeface="Times New Roman" panose="02020603050405020304" charset="0"/>
              <a:ea typeface="楷体" panose="02010609060101010101" charset="-122"/>
            </a:endParaRPr>
          </a:p>
        </p:txBody>
      </p:sp>
      <p:sp>
        <p:nvSpPr>
          <p:cNvPr id="88080" name="右箭头 88079"/>
          <p:cNvSpPr/>
          <p:nvPr/>
        </p:nvSpPr>
        <p:spPr>
          <a:xfrm>
            <a:off x="395288" y="3348038"/>
            <a:ext cx="1143000" cy="685800"/>
          </a:xfrm>
          <a:prstGeom prst="rightArrow">
            <a:avLst>
              <a:gd name="adj1" fmla="val 50000"/>
              <a:gd name="adj2" fmla="val 41666"/>
            </a:avLst>
          </a:prstGeom>
          <a:solidFill>
            <a:srgbClr val="FFCC99">
              <a:alpha val="53000"/>
            </a:srgbClr>
          </a:solidFill>
          <a:ln w="38100" cap="flat" cmpd="sng">
            <a:solidFill>
              <a:srgbClr val="CC0000"/>
            </a:solidFill>
            <a:prstDash val="solid"/>
            <a:miter/>
            <a:headEnd type="none" w="med" len="med"/>
            <a:tailEnd type="none" w="med" len="med"/>
          </a:ln>
        </p:spPr>
        <p:txBody>
          <a:bodyPr wrap="none" anchor="ctr" anchorCtr="0"/>
          <a:p>
            <a:pPr algn="ctr"/>
            <a:r>
              <a:rPr lang="zh-CN" altLang="en-US" sz="2000" b="1" dirty="0">
                <a:latin typeface="Times New Roman" panose="02020603050405020304" charset="0"/>
                <a:ea typeface="楷体" panose="02010609060101010101" charset="-122"/>
              </a:rPr>
              <a:t>输入信号</a:t>
            </a:r>
            <a:endParaRPr lang="zh-CN" altLang="en-US" sz="2000" b="1" dirty="0">
              <a:latin typeface="Times New Roman" panose="02020603050405020304" charset="0"/>
              <a:ea typeface="楷体" panose="02010609060101010101" charset="-122"/>
            </a:endParaRPr>
          </a:p>
        </p:txBody>
      </p:sp>
      <p:sp>
        <p:nvSpPr>
          <p:cNvPr id="88081" name="右箭头 88080"/>
          <p:cNvSpPr/>
          <p:nvPr/>
        </p:nvSpPr>
        <p:spPr>
          <a:xfrm>
            <a:off x="2411413" y="3670300"/>
            <a:ext cx="990600" cy="685800"/>
          </a:xfrm>
          <a:prstGeom prst="rightArrow">
            <a:avLst>
              <a:gd name="adj1" fmla="val 50000"/>
              <a:gd name="adj2" fmla="val 51157"/>
            </a:avLst>
          </a:prstGeom>
          <a:solidFill>
            <a:srgbClr val="FFCC99">
              <a:alpha val="46001"/>
            </a:srgbClr>
          </a:solidFill>
          <a:ln w="38100" cap="flat" cmpd="sng">
            <a:solidFill>
              <a:srgbClr val="CC0000"/>
            </a:solidFill>
            <a:prstDash val="solid"/>
            <a:miter/>
            <a:headEnd type="none" w="med" len="med"/>
            <a:tailEnd type="none" w="med" len="med"/>
          </a:ln>
        </p:spPr>
        <p:txBody>
          <a:bodyPr wrap="none" anchor="ctr" anchorCtr="0"/>
          <a:p>
            <a:pPr algn="ctr"/>
            <a:r>
              <a:rPr lang="zh-CN" altLang="en-US" sz="2000" b="1" dirty="0">
                <a:solidFill>
                  <a:srgbClr val="000066"/>
                </a:solidFill>
                <a:latin typeface="Times New Roman" panose="02020603050405020304" charset="0"/>
                <a:ea typeface="楷体" panose="02010609060101010101" charset="-122"/>
              </a:rPr>
              <a:t>互补</a:t>
            </a:r>
            <a:endParaRPr lang="zh-CN" altLang="en-US" sz="2000" dirty="0">
              <a:solidFill>
                <a:srgbClr val="000066"/>
              </a:solidFill>
              <a:latin typeface="Times New Roman" panose="02020603050405020304" charset="0"/>
              <a:ea typeface="楷体" panose="02010609060101010101" charset="-122"/>
            </a:endParaRPr>
          </a:p>
          <a:p>
            <a:pPr algn="ctr"/>
            <a:endParaRPr lang="zh-CN" altLang="en-US" sz="2000" dirty="0">
              <a:solidFill>
                <a:srgbClr val="000066"/>
              </a:solidFill>
              <a:latin typeface="Times New Roman" panose="02020603050405020304" charset="0"/>
              <a:ea typeface="楷体" panose="02010609060101010101" charset="-122"/>
            </a:endParaRPr>
          </a:p>
          <a:p>
            <a:pPr algn="ctr"/>
            <a:endParaRPr lang="zh-CN" altLang="en-US" sz="2000" dirty="0">
              <a:solidFill>
                <a:srgbClr val="000066"/>
              </a:solidFill>
              <a:latin typeface="Times New Roman" panose="02020603050405020304" charset="0"/>
              <a:ea typeface="楷体" panose="02010609060101010101" charset="-122"/>
            </a:endParaRPr>
          </a:p>
          <a:p>
            <a:pPr algn="ctr"/>
            <a:r>
              <a:rPr lang="zh-CN" altLang="en-US" sz="2000" b="1" dirty="0">
                <a:solidFill>
                  <a:srgbClr val="000066"/>
                </a:solidFill>
                <a:latin typeface="Times New Roman" panose="02020603050405020304" charset="0"/>
                <a:ea typeface="楷体" panose="02010609060101010101" charset="-122"/>
              </a:rPr>
              <a:t>输入</a:t>
            </a:r>
            <a:endParaRPr lang="zh-CN" altLang="en-US" sz="2400" dirty="0">
              <a:solidFill>
                <a:srgbClr val="000066"/>
              </a:solidFill>
              <a:latin typeface="Times New Roman" panose="02020603050405020304" charset="0"/>
              <a:ea typeface="楷体" panose="02010609060101010101" charset="-122"/>
            </a:endParaRPr>
          </a:p>
        </p:txBody>
      </p:sp>
      <p:sp>
        <p:nvSpPr>
          <p:cNvPr id="88082" name="矩形 88081"/>
          <p:cNvSpPr/>
          <p:nvPr/>
        </p:nvSpPr>
        <p:spPr>
          <a:xfrm>
            <a:off x="6872288" y="3354388"/>
            <a:ext cx="838200" cy="1371600"/>
          </a:xfrm>
          <a:prstGeom prst="rect">
            <a:avLst/>
          </a:prstGeom>
          <a:solidFill>
            <a:schemeClr val="bg1"/>
          </a:solidFill>
          <a:ln w="38100" cap="flat" cmpd="sng">
            <a:solidFill>
              <a:srgbClr val="0000CC"/>
            </a:solidFill>
            <a:prstDash val="solid"/>
            <a:miter/>
            <a:headEnd type="none" w="med" len="med"/>
            <a:tailEnd type="none" w="med" len="med"/>
          </a:ln>
        </p:spPr>
        <p:txBody>
          <a:bodyPr wrap="none" anchor="ctr" anchorCtr="0"/>
          <a:p>
            <a:pPr algn="ctr"/>
            <a:r>
              <a:rPr lang="zh-CN" altLang="en-US" sz="2400" b="1" dirty="0">
                <a:solidFill>
                  <a:srgbClr val="000066"/>
                </a:solidFill>
                <a:latin typeface="Times New Roman" panose="02020603050405020304" charset="0"/>
                <a:ea typeface="楷体" panose="02010609060101010101" charset="-122"/>
              </a:rPr>
              <a:t>输出</a:t>
            </a:r>
            <a:endParaRPr lang="zh-CN" altLang="en-US" sz="2400" b="1" dirty="0">
              <a:solidFill>
                <a:srgbClr val="000066"/>
              </a:solidFill>
              <a:latin typeface="Times New Roman" panose="02020603050405020304" charset="0"/>
              <a:ea typeface="楷体" panose="02010609060101010101" charset="-122"/>
            </a:endParaRPr>
          </a:p>
          <a:p>
            <a:pPr algn="ctr"/>
            <a:r>
              <a:rPr lang="zh-CN" altLang="en-US" sz="2400" b="1" dirty="0">
                <a:solidFill>
                  <a:srgbClr val="000066"/>
                </a:solidFill>
                <a:latin typeface="Times New Roman" panose="02020603050405020304" charset="0"/>
                <a:ea typeface="楷体" panose="02010609060101010101" charset="-122"/>
              </a:rPr>
              <a:t>电路</a:t>
            </a:r>
            <a:endParaRPr lang="zh-CN" altLang="en-US" b="1">
              <a:solidFill>
                <a:srgbClr val="000066"/>
              </a:solidFill>
              <a:latin typeface="Times New Roman" panose="02020603050405020304" charset="0"/>
              <a:ea typeface="楷体" panose="02010609060101010101" charset="-122"/>
            </a:endParaRPr>
          </a:p>
        </p:txBody>
      </p:sp>
      <p:sp>
        <p:nvSpPr>
          <p:cNvPr id="88083" name="右箭头 88082"/>
          <p:cNvSpPr/>
          <p:nvPr/>
        </p:nvSpPr>
        <p:spPr>
          <a:xfrm>
            <a:off x="7710488" y="3278188"/>
            <a:ext cx="1143000" cy="685800"/>
          </a:xfrm>
          <a:prstGeom prst="rightArrow">
            <a:avLst>
              <a:gd name="adj1" fmla="val 50000"/>
              <a:gd name="adj2" fmla="val 41666"/>
            </a:avLst>
          </a:prstGeom>
          <a:solidFill>
            <a:srgbClr val="FFCC99">
              <a:alpha val="50999"/>
            </a:srgbClr>
          </a:solidFill>
          <a:ln w="38100" cap="flat" cmpd="sng">
            <a:solidFill>
              <a:srgbClr val="CC0000"/>
            </a:solidFill>
            <a:prstDash val="solid"/>
            <a:miter/>
            <a:headEnd type="none" w="med" len="med"/>
            <a:tailEnd type="none" w="med" len="med"/>
          </a:ln>
        </p:spPr>
        <p:txBody>
          <a:bodyPr wrap="none" anchor="ctr" anchorCtr="0"/>
          <a:p>
            <a:pPr algn="ctr"/>
            <a:r>
              <a:rPr lang="zh-CN" altLang="en-US" sz="2000" b="1" dirty="0">
                <a:latin typeface="Times New Roman" panose="02020603050405020304" charset="0"/>
                <a:ea typeface="楷体" panose="02010609060101010101" charset="-122"/>
              </a:rPr>
              <a:t>输出函数</a:t>
            </a:r>
            <a:endParaRPr lang="zh-CN" altLang="en-US" sz="2000" b="1" dirty="0">
              <a:latin typeface="Times New Roman" panose="02020603050405020304" charset="0"/>
              <a:ea typeface="楷体" panose="02010609060101010101" charset="-122"/>
            </a:endParaRPr>
          </a:p>
        </p:txBody>
      </p:sp>
      <p:grpSp>
        <p:nvGrpSpPr>
          <p:cNvPr id="88095" name="组合 88094"/>
          <p:cNvGrpSpPr/>
          <p:nvPr/>
        </p:nvGrpSpPr>
        <p:grpSpPr>
          <a:xfrm>
            <a:off x="1385888" y="5472113"/>
            <a:ext cx="5105400" cy="396875"/>
            <a:chOff x="912" y="3744"/>
            <a:chExt cx="3216" cy="250"/>
          </a:xfrm>
        </p:grpSpPr>
        <p:sp>
          <p:nvSpPr>
            <p:cNvPr id="88096" name="直接连接符 88095"/>
            <p:cNvSpPr/>
            <p:nvPr/>
          </p:nvSpPr>
          <p:spPr>
            <a:xfrm flipH="1">
              <a:off x="2016" y="3888"/>
              <a:ext cx="2112" cy="0"/>
            </a:xfrm>
            <a:prstGeom prst="line">
              <a:avLst/>
            </a:prstGeom>
            <a:ln w="57150" cap="flat" cmpd="sng">
              <a:solidFill>
                <a:srgbClr val="800000"/>
              </a:solidFill>
              <a:prstDash val="solid"/>
              <a:headEnd type="none" w="med" len="med"/>
              <a:tailEnd type="triangle" w="med" len="med"/>
            </a:ln>
          </p:spPr>
        </p:sp>
        <p:sp>
          <p:nvSpPr>
            <p:cNvPr id="88097" name="文本框 88096"/>
            <p:cNvSpPr txBox="1"/>
            <p:nvPr/>
          </p:nvSpPr>
          <p:spPr>
            <a:xfrm>
              <a:off x="912" y="3744"/>
              <a:ext cx="1200" cy="250"/>
            </a:xfrm>
            <a:prstGeom prst="rect">
              <a:avLst/>
            </a:prstGeom>
            <a:noFill/>
            <a:ln w="57150">
              <a:noFill/>
            </a:ln>
          </p:spPr>
          <p:txBody>
            <a:bodyPr>
              <a:spAutoFit/>
            </a:bodyPr>
            <a:p>
              <a:pPr>
                <a:spcBef>
                  <a:spcPct val="50000"/>
                </a:spcBef>
              </a:pPr>
              <a:r>
                <a:rPr lang="zh-CN" altLang="en-US" sz="2000" b="1" dirty="0">
                  <a:solidFill>
                    <a:srgbClr val="000066"/>
                  </a:solidFill>
                  <a:latin typeface="Times New Roman" panose="02020603050405020304" charset="0"/>
                  <a:ea typeface="楷体" panose="02010609060101010101" charset="-122"/>
                </a:rPr>
                <a:t>反馈输入信号</a:t>
              </a:r>
              <a:endParaRPr lang="zh-CN" altLang="en-US" sz="2000" b="1" dirty="0">
                <a:solidFill>
                  <a:srgbClr val="000066"/>
                </a:solidFill>
                <a:latin typeface="Times New Roman" panose="02020603050405020304" charset="0"/>
                <a:ea typeface="楷体" panose="02010609060101010101" charset="-122"/>
              </a:endParaRPr>
            </a:p>
          </p:txBody>
        </p:sp>
      </p:grpSp>
      <p:sp>
        <p:nvSpPr>
          <p:cNvPr id="88098" name="圆角矩形标注 88097"/>
          <p:cNvSpPr/>
          <p:nvPr/>
        </p:nvSpPr>
        <p:spPr>
          <a:xfrm>
            <a:off x="3070225" y="1692275"/>
            <a:ext cx="5894388" cy="1204913"/>
          </a:xfrm>
          <a:prstGeom prst="wedgeRoundRectCallout">
            <a:avLst>
              <a:gd name="adj1" fmla="val 20644"/>
              <a:gd name="adj2" fmla="val 104940"/>
              <a:gd name="adj3" fmla="val 16667"/>
            </a:avLst>
          </a:prstGeom>
          <a:solidFill>
            <a:schemeClr val="bg1"/>
          </a:solidFill>
          <a:ln w="9525" cap="flat" cmpd="sng">
            <a:solidFill>
              <a:srgbClr val="800000"/>
            </a:solidFill>
            <a:prstDash val="solid"/>
            <a:miter/>
            <a:headEnd type="none" w="med" len="med"/>
            <a:tailEnd type="none" w="med" len="med"/>
          </a:ln>
        </p:spPr>
        <p:txBody>
          <a:bodyPr wrap="none" anchor="ctr" anchorCtr="0"/>
          <a:p>
            <a:pPr algn="just">
              <a:buChar char="•"/>
            </a:pPr>
            <a:r>
              <a:rPr lang="en-US" altLang="zh-CN" sz="2400" b="1">
                <a:solidFill>
                  <a:srgbClr val="990033"/>
                </a:solidFill>
                <a:latin typeface="Times New Roman" panose="02020603050405020304" charset="0"/>
                <a:ea typeface="楷体" panose="02010609060101010101" charset="-122"/>
                <a:cs typeface="Times New Roman" panose="02020603050405020304" charset="0"/>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可由或阵列直接输出，构成组合输出；</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a:p>
            <a:pPr algn="just">
              <a:buChar char="•"/>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 通过寄存器输出，构成时序方式输出。</a:t>
            </a:r>
            <a:endParaRPr lang="zh-CN" altLang="en-US" sz="2400" b="1">
              <a:solidFill>
                <a:srgbClr val="000066"/>
              </a:solidFill>
              <a:latin typeface="Times New Roman" panose="02020603050405020304" charset="0"/>
              <a:ea typeface="楷体" panose="02010609060101010101" charset="-122"/>
              <a:cs typeface="Times New Roman" panose="02020603050405020304" charset="0"/>
            </a:endParaRPr>
          </a:p>
        </p:txBody>
      </p:sp>
      <p:grpSp>
        <p:nvGrpSpPr>
          <p:cNvPr id="88099" name="组合 88098"/>
          <p:cNvGrpSpPr/>
          <p:nvPr/>
        </p:nvGrpSpPr>
        <p:grpSpPr>
          <a:xfrm>
            <a:off x="852488" y="4268788"/>
            <a:ext cx="7607300" cy="1600200"/>
            <a:chOff x="537" y="2785"/>
            <a:chExt cx="4792" cy="1008"/>
          </a:xfrm>
        </p:grpSpPr>
        <p:sp>
          <p:nvSpPr>
            <p:cNvPr id="88100" name="直接连接符 88099"/>
            <p:cNvSpPr/>
            <p:nvPr/>
          </p:nvSpPr>
          <p:spPr>
            <a:xfrm>
              <a:off x="4850" y="2785"/>
              <a:ext cx="479" cy="0"/>
            </a:xfrm>
            <a:prstGeom prst="line">
              <a:avLst/>
            </a:prstGeom>
            <a:ln w="38100" cap="flat" cmpd="sng">
              <a:solidFill>
                <a:srgbClr val="0000CC"/>
              </a:solidFill>
              <a:prstDash val="solid"/>
              <a:headEnd type="none" w="med" len="med"/>
              <a:tailEnd type="none" w="med" len="med"/>
            </a:ln>
          </p:spPr>
        </p:sp>
        <p:sp>
          <p:nvSpPr>
            <p:cNvPr id="88101" name="直接连接符 88100"/>
            <p:cNvSpPr/>
            <p:nvPr/>
          </p:nvSpPr>
          <p:spPr>
            <a:xfrm>
              <a:off x="5329" y="2785"/>
              <a:ext cx="0" cy="1008"/>
            </a:xfrm>
            <a:prstGeom prst="line">
              <a:avLst/>
            </a:prstGeom>
            <a:ln w="38100" cap="flat" cmpd="sng">
              <a:solidFill>
                <a:srgbClr val="0000CC"/>
              </a:solidFill>
              <a:prstDash val="solid"/>
              <a:headEnd type="none" w="med" len="med"/>
              <a:tailEnd type="none" w="med" len="med"/>
            </a:ln>
          </p:spPr>
        </p:sp>
        <p:sp>
          <p:nvSpPr>
            <p:cNvPr id="88102" name="直接连接符 88101"/>
            <p:cNvSpPr/>
            <p:nvPr/>
          </p:nvSpPr>
          <p:spPr>
            <a:xfrm>
              <a:off x="4850" y="2987"/>
              <a:ext cx="287" cy="0"/>
            </a:xfrm>
            <a:prstGeom prst="line">
              <a:avLst/>
            </a:prstGeom>
            <a:ln w="38100" cap="flat" cmpd="sng">
              <a:solidFill>
                <a:srgbClr val="0000CC"/>
              </a:solidFill>
              <a:prstDash val="solid"/>
              <a:headEnd type="none" w="med" len="med"/>
              <a:tailEnd type="none" w="med" len="med"/>
            </a:ln>
          </p:spPr>
        </p:sp>
        <p:sp>
          <p:nvSpPr>
            <p:cNvPr id="88103" name="直接连接符 88102"/>
            <p:cNvSpPr/>
            <p:nvPr/>
          </p:nvSpPr>
          <p:spPr>
            <a:xfrm>
              <a:off x="5137" y="2987"/>
              <a:ext cx="0" cy="604"/>
            </a:xfrm>
            <a:prstGeom prst="line">
              <a:avLst/>
            </a:prstGeom>
            <a:ln w="38100" cap="flat" cmpd="sng">
              <a:solidFill>
                <a:srgbClr val="0000CC"/>
              </a:solidFill>
              <a:prstDash val="solid"/>
              <a:headEnd type="none" w="med" len="med"/>
              <a:tailEnd type="none" w="med" len="med"/>
            </a:ln>
          </p:spPr>
        </p:sp>
        <p:sp>
          <p:nvSpPr>
            <p:cNvPr id="88104" name="直接连接符 88103"/>
            <p:cNvSpPr/>
            <p:nvPr/>
          </p:nvSpPr>
          <p:spPr>
            <a:xfrm flipH="1">
              <a:off x="729" y="3591"/>
              <a:ext cx="4408" cy="0"/>
            </a:xfrm>
            <a:prstGeom prst="line">
              <a:avLst/>
            </a:prstGeom>
            <a:ln w="38100" cap="flat" cmpd="sng">
              <a:solidFill>
                <a:srgbClr val="0000CC"/>
              </a:solidFill>
              <a:prstDash val="solid"/>
              <a:headEnd type="none" w="med" len="med"/>
              <a:tailEnd type="none" w="med" len="med"/>
            </a:ln>
          </p:spPr>
        </p:sp>
        <p:sp>
          <p:nvSpPr>
            <p:cNvPr id="88105" name="直接连接符 88104"/>
            <p:cNvSpPr/>
            <p:nvPr/>
          </p:nvSpPr>
          <p:spPr>
            <a:xfrm flipV="1">
              <a:off x="729" y="2987"/>
              <a:ext cx="0" cy="604"/>
            </a:xfrm>
            <a:prstGeom prst="line">
              <a:avLst/>
            </a:prstGeom>
            <a:ln w="38100" cap="flat" cmpd="sng">
              <a:solidFill>
                <a:srgbClr val="0000CC"/>
              </a:solidFill>
              <a:prstDash val="solid"/>
              <a:headEnd type="none" w="med" len="med"/>
              <a:tailEnd type="none" w="med" len="med"/>
            </a:ln>
          </p:spPr>
        </p:sp>
        <p:sp>
          <p:nvSpPr>
            <p:cNvPr id="88106" name="直接连接符 88105"/>
            <p:cNvSpPr/>
            <p:nvPr/>
          </p:nvSpPr>
          <p:spPr>
            <a:xfrm>
              <a:off x="729" y="2987"/>
              <a:ext cx="239" cy="0"/>
            </a:xfrm>
            <a:prstGeom prst="line">
              <a:avLst/>
            </a:prstGeom>
            <a:ln w="38100" cap="flat" cmpd="sng">
              <a:solidFill>
                <a:srgbClr val="0000CC"/>
              </a:solidFill>
              <a:prstDash val="solid"/>
              <a:headEnd type="none" w="med" len="med"/>
              <a:tailEnd type="none" w="med" len="med"/>
            </a:ln>
          </p:spPr>
        </p:sp>
        <p:sp>
          <p:nvSpPr>
            <p:cNvPr id="88107" name="直接连接符 88106"/>
            <p:cNvSpPr/>
            <p:nvPr/>
          </p:nvSpPr>
          <p:spPr>
            <a:xfrm flipH="1">
              <a:off x="537" y="2785"/>
              <a:ext cx="431" cy="0"/>
            </a:xfrm>
            <a:prstGeom prst="line">
              <a:avLst/>
            </a:prstGeom>
            <a:ln w="38100" cap="flat" cmpd="sng">
              <a:solidFill>
                <a:srgbClr val="0000CC"/>
              </a:solidFill>
              <a:prstDash val="solid"/>
              <a:headEnd type="none" w="med" len="med"/>
              <a:tailEnd type="none" w="med" len="med"/>
            </a:ln>
          </p:spPr>
        </p:sp>
        <p:sp>
          <p:nvSpPr>
            <p:cNvPr id="88108" name="直接连接符 88107"/>
            <p:cNvSpPr/>
            <p:nvPr/>
          </p:nvSpPr>
          <p:spPr>
            <a:xfrm>
              <a:off x="537" y="2785"/>
              <a:ext cx="0" cy="1008"/>
            </a:xfrm>
            <a:prstGeom prst="line">
              <a:avLst/>
            </a:prstGeom>
            <a:ln w="38100" cap="flat" cmpd="sng">
              <a:solidFill>
                <a:srgbClr val="0000CC"/>
              </a:solidFill>
              <a:prstDash val="solid"/>
              <a:headEnd type="none" w="med" len="med"/>
              <a:tailEnd type="none" w="med" len="med"/>
            </a:ln>
          </p:spPr>
        </p:sp>
        <p:sp>
          <p:nvSpPr>
            <p:cNvPr id="88109" name="直接连接符 88108"/>
            <p:cNvSpPr/>
            <p:nvPr/>
          </p:nvSpPr>
          <p:spPr>
            <a:xfrm>
              <a:off x="537" y="3793"/>
              <a:ext cx="4792" cy="0"/>
            </a:xfrm>
            <a:prstGeom prst="line">
              <a:avLst/>
            </a:prstGeom>
            <a:ln w="38100" cap="flat" cmpd="sng">
              <a:solidFill>
                <a:srgbClr val="0000CC"/>
              </a:solidFill>
              <a:prstDash val="solid"/>
              <a:headEnd type="none" w="med" len="med"/>
              <a:tailEnd type="none" w="med" len="med"/>
            </a:ln>
          </p:spPr>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80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88075"/>
                                        </p:tgtEl>
                                        <p:attrNameLst>
                                          <p:attrName>style.visibility</p:attrName>
                                        </p:attrNameLst>
                                      </p:cBhvr>
                                      <p:to>
                                        <p:strVal val="visible"/>
                                      </p:to>
                                    </p:set>
                                    <p:animEffect transition="in" filter="wipe(left)">
                                      <p:cBhvr>
                                        <p:cTn id="11" dur="500"/>
                                        <p:tgtEl>
                                          <p:spTgt spid="88075"/>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grpId="0" nodeType="clickEffect">
                                  <p:stCondLst>
                                    <p:cond delay="0"/>
                                  </p:stCondLst>
                                  <p:childTnLst>
                                    <p:set>
                                      <p:cBhvr>
                                        <p:cTn id="15" dur="1" fill="hold">
                                          <p:stCondLst>
                                            <p:cond delay="0"/>
                                          </p:stCondLst>
                                        </p:cTn>
                                        <p:tgtEl>
                                          <p:spTgt spid="88074"/>
                                        </p:tgtEl>
                                        <p:attrNameLst>
                                          <p:attrName>style.visibility</p:attrName>
                                        </p:attrNameLst>
                                      </p:cBhvr>
                                      <p:to>
                                        <p:strVal val="visible"/>
                                      </p:to>
                                    </p:set>
                                    <p:animEffect transition="in" filter="strips(downRight)">
                                      <p:cBhvr>
                                        <p:cTn id="16" dur="500"/>
                                        <p:tgtEl>
                                          <p:spTgt spid="8807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8076"/>
                                        </p:tgtEl>
                                        <p:attrNameLst>
                                          <p:attrName>style.visibility</p:attrName>
                                        </p:attrNameLst>
                                      </p:cBhvr>
                                      <p:to>
                                        <p:strVal val="visible"/>
                                      </p:to>
                                    </p:set>
                                    <p:animEffect transition="in" filter="wipe(left)">
                                      <p:cBhvr>
                                        <p:cTn id="21" dur="500"/>
                                        <p:tgtEl>
                                          <p:spTgt spid="88076"/>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88077"/>
                                        </p:tgtEl>
                                        <p:attrNameLst>
                                          <p:attrName>style.visibility</p:attrName>
                                        </p:attrNameLst>
                                      </p:cBhvr>
                                      <p:to>
                                        <p:strVal val="visible"/>
                                      </p:to>
                                    </p:set>
                                    <p:animEffect transition="in" filter="box(out)">
                                      <p:cBhvr>
                                        <p:cTn id="26" dur="500"/>
                                        <p:tgtEl>
                                          <p:spTgt spid="88077"/>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grpId="0" nodeType="clickEffect">
                                  <p:stCondLst>
                                    <p:cond delay="0"/>
                                  </p:stCondLst>
                                  <p:childTnLst>
                                    <p:set>
                                      <p:cBhvr>
                                        <p:cTn id="30" dur="1" fill="hold">
                                          <p:stCondLst>
                                            <p:cond delay="0"/>
                                          </p:stCondLst>
                                        </p:cTn>
                                        <p:tgtEl>
                                          <p:spTgt spid="88078"/>
                                        </p:tgtEl>
                                        <p:attrNameLst>
                                          <p:attrName>style.visibility</p:attrName>
                                        </p:attrNameLst>
                                      </p:cBhvr>
                                      <p:to>
                                        <p:strVal val="visible"/>
                                      </p:to>
                                    </p:set>
                                    <p:animEffect transition="in" filter="strips(downRight)">
                                      <p:cBhvr>
                                        <p:cTn id="31" dur="500"/>
                                        <p:tgtEl>
                                          <p:spTgt spid="88078"/>
                                        </p:tgtEl>
                                      </p:cBhvr>
                                    </p:animEffect>
                                  </p:childTnLst>
                                  <p:subTnLst>
                                    <p:set>
                                      <p:cBhvr override="childStyle">
                                        <p:cTn dur="1" fill="hold" display="0" masterRel="nextClick" afterEffect="1"/>
                                        <p:tgtEl>
                                          <p:spTgt spid="88078"/>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18" presetClass="entr" presetSubtype="6" fill="hold" grpId="0" nodeType="clickEffect">
                                  <p:stCondLst>
                                    <p:cond delay="0"/>
                                  </p:stCondLst>
                                  <p:childTnLst>
                                    <p:set>
                                      <p:cBhvr>
                                        <p:cTn id="35" dur="1" fill="hold">
                                          <p:stCondLst>
                                            <p:cond delay="0"/>
                                          </p:stCondLst>
                                        </p:cTn>
                                        <p:tgtEl>
                                          <p:spTgt spid="88079"/>
                                        </p:tgtEl>
                                        <p:attrNameLst>
                                          <p:attrName>style.visibility</p:attrName>
                                        </p:attrNameLst>
                                      </p:cBhvr>
                                      <p:to>
                                        <p:strVal val="visible"/>
                                      </p:to>
                                    </p:set>
                                    <p:animEffect transition="in" filter="strips(downRight)">
                                      <p:cBhvr>
                                        <p:cTn id="36" dur="500"/>
                                        <p:tgtEl>
                                          <p:spTgt spid="8807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88080"/>
                                        </p:tgtEl>
                                        <p:attrNameLst>
                                          <p:attrName>style.visibility</p:attrName>
                                        </p:attrNameLst>
                                      </p:cBhvr>
                                      <p:to>
                                        <p:strVal val="visible"/>
                                      </p:to>
                                    </p:set>
                                    <p:animEffect transition="in" filter="wipe(left)">
                                      <p:cBhvr>
                                        <p:cTn id="41" dur="500"/>
                                        <p:tgtEl>
                                          <p:spTgt spid="8808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88081"/>
                                        </p:tgtEl>
                                        <p:attrNameLst>
                                          <p:attrName>style.visibility</p:attrName>
                                        </p:attrNameLst>
                                      </p:cBhvr>
                                      <p:to>
                                        <p:strVal val="visible"/>
                                      </p:to>
                                    </p:set>
                                    <p:animEffect transition="in" filter="wipe(left)">
                                      <p:cBhvr>
                                        <p:cTn id="46" dur="500"/>
                                        <p:tgtEl>
                                          <p:spTgt spid="8808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88082"/>
                                        </p:tgtEl>
                                        <p:attrNameLst>
                                          <p:attrName>style.visibility</p:attrName>
                                        </p:attrNameLst>
                                      </p:cBhvr>
                                      <p:to>
                                        <p:strVal val="visible"/>
                                      </p:to>
                                    </p:set>
                                    <p:animEffect transition="in" filter="wipe(up)">
                                      <p:cBhvr>
                                        <p:cTn id="51" dur="500"/>
                                        <p:tgtEl>
                                          <p:spTgt spid="8808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88098"/>
                                        </p:tgtEl>
                                        <p:attrNameLst>
                                          <p:attrName>style.visibility</p:attrName>
                                        </p:attrNameLst>
                                      </p:cBhvr>
                                      <p:to>
                                        <p:strVal val="visible"/>
                                      </p:to>
                                    </p:set>
                                    <p:animEffect transition="in" filter="wipe(up)">
                                      <p:cBhvr>
                                        <p:cTn id="56" dur="500"/>
                                        <p:tgtEl>
                                          <p:spTgt spid="88098"/>
                                        </p:tgtEl>
                                      </p:cBhvr>
                                    </p:animEffect>
                                  </p:childTnLst>
                                  <p:subTnLst>
                                    <p:set>
                                      <p:cBhvr override="childStyle">
                                        <p:cTn dur="1" fill="hold" display="0" masterRel="nextClick" afterEffect="1"/>
                                        <p:tgtEl>
                                          <p:spTgt spid="88098"/>
                                        </p:tgtEl>
                                        <p:attrNameLst>
                                          <p:attrName>style.visibility</p:attrName>
                                        </p:attrNameLst>
                                      </p:cBhvr>
                                      <p:to>
                                        <p:strVal val="hidden"/>
                                      </p:to>
                                    </p:set>
                                  </p:sub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88083"/>
                                        </p:tgtEl>
                                        <p:attrNameLst>
                                          <p:attrName>style.visibility</p:attrName>
                                        </p:attrNameLst>
                                      </p:cBhvr>
                                      <p:to>
                                        <p:strVal val="visible"/>
                                      </p:to>
                                    </p:set>
                                    <p:animEffect transition="in" filter="wipe(left)">
                                      <p:cBhvr>
                                        <p:cTn id="61" dur="500"/>
                                        <p:tgtEl>
                                          <p:spTgt spid="8808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nodeType="clickEffect">
                                  <p:stCondLst>
                                    <p:cond delay="0"/>
                                  </p:stCondLst>
                                  <p:childTnLst>
                                    <p:set>
                                      <p:cBhvr>
                                        <p:cTn id="65" dur="1" fill="hold">
                                          <p:stCondLst>
                                            <p:cond delay="0"/>
                                          </p:stCondLst>
                                        </p:cTn>
                                        <p:tgtEl>
                                          <p:spTgt spid="88099"/>
                                        </p:tgtEl>
                                        <p:attrNameLst>
                                          <p:attrName>style.visibility</p:attrName>
                                        </p:attrNameLst>
                                      </p:cBhvr>
                                      <p:to>
                                        <p:strVal val="visible"/>
                                      </p:to>
                                    </p:set>
                                    <p:animEffect transition="in" filter="wipe(down)">
                                      <p:cBhvr>
                                        <p:cTn id="66" dur="500"/>
                                        <p:tgtEl>
                                          <p:spTgt spid="88099"/>
                                        </p:tgtEl>
                                      </p:cBhvr>
                                    </p:animEffect>
                                  </p:childTnLst>
                                </p:cTn>
                              </p:par>
                            </p:childTnLst>
                          </p:cTn>
                        </p:par>
                        <p:par>
                          <p:cTn id="67" fill="hold">
                            <p:stCondLst>
                              <p:cond delay="500"/>
                            </p:stCondLst>
                            <p:childTnLst>
                              <p:par>
                                <p:cTn id="68" presetID="22" presetClass="entr" presetSubtype="2" fill="hold" nodeType="afterEffect">
                                  <p:stCondLst>
                                    <p:cond delay="0"/>
                                  </p:stCondLst>
                                  <p:childTnLst>
                                    <p:set>
                                      <p:cBhvr>
                                        <p:cTn id="69" dur="1" fill="hold">
                                          <p:stCondLst>
                                            <p:cond delay="0"/>
                                          </p:stCondLst>
                                        </p:cTn>
                                        <p:tgtEl>
                                          <p:spTgt spid="88095"/>
                                        </p:tgtEl>
                                        <p:attrNameLst>
                                          <p:attrName>style.visibility</p:attrName>
                                        </p:attrNameLst>
                                      </p:cBhvr>
                                      <p:to>
                                        <p:strVal val="visible"/>
                                      </p:to>
                                    </p:set>
                                    <p:animEffect transition="in" filter="wipe(right)">
                                      <p:cBhvr>
                                        <p:cTn id="70" dur="500"/>
                                        <p:tgtEl>
                                          <p:spTgt spid="880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3" grpId="0" bldLvl="0" animBg="1"/>
      <p:bldP spid="88074" grpId="0" bldLvl="0" animBg="1"/>
      <p:bldP spid="88075" grpId="0" bldLvl="0" animBg="1"/>
      <p:bldP spid="88076" grpId="0" bldLvl="0" animBg="1"/>
      <p:bldP spid="88077" grpId="0" bldLvl="0" animBg="1"/>
      <p:bldP spid="88078" grpId="0" bldLvl="0" animBg="1"/>
      <p:bldP spid="88079" grpId="0" bldLvl="0" animBg="1"/>
      <p:bldP spid="88080" grpId="0" bldLvl="0" animBg="1"/>
      <p:bldP spid="88081" grpId="0" bldLvl="0" animBg="1"/>
      <p:bldP spid="88082" grpId="0" bldLvl="0" animBg="1"/>
      <p:bldP spid="88083"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2971800" y="533400"/>
            <a:ext cx="398843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8.3 </a:t>
            </a:r>
            <a:r>
              <a:rPr lang="zh-CN" altLang="en-US" b="1" dirty="0">
                <a:solidFill>
                  <a:srgbClr val="FF0000"/>
                </a:solidFill>
                <a:latin typeface="黑体" panose="02010609060101010101" pitchFamily="49" charset="-122"/>
                <a:ea typeface="黑体" panose="02010609060101010101" pitchFamily="49" charset="-122"/>
              </a:rPr>
              <a:t>可编程逻辑</a:t>
            </a:r>
            <a:r>
              <a:rPr lang="zh-CN" altLang="en-US" b="1" dirty="0">
                <a:solidFill>
                  <a:srgbClr val="FF0000"/>
                </a:solidFill>
                <a:latin typeface="黑体" panose="02010609060101010101" pitchFamily="49" charset="-122"/>
                <a:ea typeface="黑体" panose="02010609060101010101" pitchFamily="49" charset="-122"/>
              </a:rPr>
              <a:t>器件</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89092" name="文本框 89091"/>
          <p:cNvSpPr txBox="1"/>
          <p:nvPr/>
        </p:nvSpPr>
        <p:spPr>
          <a:xfrm>
            <a:off x="692150" y="1382713"/>
            <a:ext cx="5040313" cy="460375"/>
          </a:xfrm>
          <a:prstGeom prst="rect">
            <a:avLst/>
          </a:prstGeom>
          <a:noFill/>
          <a:ln w="9525">
            <a:noFill/>
          </a:ln>
        </p:spPr>
        <p:txBody>
          <a:bodyPr>
            <a:spAutoFit/>
          </a:bodyPr>
          <a:p>
            <a:pPr>
              <a:spcBef>
                <a:spcPct val="50000"/>
              </a:spcBef>
            </a:pPr>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基本电路结构</a:t>
            </a:r>
            <a:endParaRPr lang="zh-CN" altLang="en-US" sz="2400" b="1" dirty="0">
              <a:solidFill>
                <a:srgbClr val="1318F3"/>
              </a:solidFill>
              <a:latin typeface="Times New Roman" panose="02020603050405020304" charset="0"/>
              <a:ea typeface="楷体" panose="02010609060101010101" charset="-122"/>
              <a:cs typeface="Times New Roman" panose="02020603050405020304" charset="0"/>
            </a:endParaRPr>
          </a:p>
        </p:txBody>
      </p:sp>
      <p:graphicFrame>
        <p:nvGraphicFramePr>
          <p:cNvPr id="89093" name="对象 89092"/>
          <p:cNvGraphicFramePr/>
          <p:nvPr/>
        </p:nvGraphicFramePr>
        <p:xfrm>
          <a:off x="4364038" y="2174875"/>
          <a:ext cx="4392612" cy="4105275"/>
        </p:xfrm>
        <a:graphic>
          <a:graphicData uri="http://schemas.openxmlformats.org/presentationml/2006/ole">
            <mc:AlternateContent xmlns:mc="http://schemas.openxmlformats.org/markup-compatibility/2006">
              <mc:Choice xmlns:v="urn:schemas-microsoft-com:vml" Requires="v">
                <p:oleObj spid="_x0000_s3082" name="" r:id="rId1" imgW="1914525" imgH="2276475" progId="Word.Picture.8">
                  <p:embed/>
                </p:oleObj>
              </mc:Choice>
              <mc:Fallback>
                <p:oleObj name="" r:id="rId1" imgW="1914525" imgH="2276475" progId="Word.Picture.8">
                  <p:embed/>
                  <p:pic>
                    <p:nvPicPr>
                      <p:cNvPr id="0" name="图片 3081"/>
                      <p:cNvPicPr/>
                      <p:nvPr/>
                    </p:nvPicPr>
                    <p:blipFill>
                      <a:blip r:embed="rId2"/>
                      <a:stretch>
                        <a:fillRect/>
                      </a:stretch>
                    </p:blipFill>
                    <p:spPr>
                      <a:xfrm>
                        <a:off x="4364038" y="2174875"/>
                        <a:ext cx="4392612" cy="4105275"/>
                      </a:xfrm>
                      <a:prstGeom prst="rect">
                        <a:avLst/>
                      </a:prstGeom>
                      <a:noFill/>
                      <a:ln w="28575" cap="flat" cmpd="sng">
                        <a:solidFill>
                          <a:srgbClr val="FF33CC"/>
                        </a:solidFill>
                        <a:prstDash val="dash"/>
                        <a:miter/>
                        <a:headEnd type="none" w="med" len="med"/>
                        <a:tailEnd type="none" w="med" len="med"/>
                      </a:ln>
                    </p:spPr>
                  </p:pic>
                </p:oleObj>
              </mc:Fallback>
            </mc:AlternateContent>
          </a:graphicData>
        </a:graphic>
      </p:graphicFrame>
      <p:grpSp>
        <p:nvGrpSpPr>
          <p:cNvPr id="89094" name="组合 89093"/>
          <p:cNvGrpSpPr/>
          <p:nvPr/>
        </p:nvGrpSpPr>
        <p:grpSpPr>
          <a:xfrm>
            <a:off x="428625" y="3327400"/>
            <a:ext cx="3790950" cy="1828800"/>
            <a:chOff x="-159" y="1888"/>
            <a:chExt cx="2841" cy="1152"/>
          </a:xfrm>
        </p:grpSpPr>
        <p:sp>
          <p:nvSpPr>
            <p:cNvPr id="89095" name="矩形 89094"/>
            <p:cNvSpPr/>
            <p:nvPr/>
          </p:nvSpPr>
          <p:spPr>
            <a:xfrm>
              <a:off x="484" y="2032"/>
              <a:ext cx="528" cy="864"/>
            </a:xfrm>
            <a:prstGeom prst="rect">
              <a:avLst/>
            </a:prstGeom>
            <a:solidFill>
              <a:schemeClr val="bg1"/>
            </a:solidFill>
            <a:ln w="38100" cap="flat" cmpd="sng">
              <a:solidFill>
                <a:srgbClr val="0000CC"/>
              </a:solidFill>
              <a:prstDash val="solid"/>
              <a:miter/>
              <a:headEnd type="none" w="med" len="med"/>
              <a:tailEnd type="none" w="med" len="med"/>
            </a:ln>
          </p:spPr>
          <p:txBody>
            <a:bodyPr wrap="none" anchor="ctr" anchorCtr="0"/>
            <a:p>
              <a:pPr algn="ctr"/>
              <a:r>
                <a:rPr lang="zh-CN" altLang="en-US" sz="2400" b="1" dirty="0">
                  <a:solidFill>
                    <a:srgbClr val="990033"/>
                  </a:solidFill>
                  <a:latin typeface="Times New Roman" panose="02020603050405020304" charset="0"/>
                  <a:ea typeface="楷体" panose="02010609060101010101" charset="-122"/>
                </a:rPr>
                <a:t>与门</a:t>
              </a:r>
              <a:endParaRPr lang="zh-CN" altLang="en-US" sz="2400" b="1" dirty="0">
                <a:solidFill>
                  <a:srgbClr val="990033"/>
                </a:solidFill>
                <a:latin typeface="Times New Roman" panose="02020603050405020304" charset="0"/>
                <a:ea typeface="楷体" panose="02010609060101010101" charset="-122"/>
              </a:endParaRPr>
            </a:p>
            <a:p>
              <a:pPr algn="ctr"/>
              <a:r>
                <a:rPr lang="zh-CN" altLang="en-US" sz="2400" b="1" dirty="0">
                  <a:solidFill>
                    <a:srgbClr val="990033"/>
                  </a:solidFill>
                  <a:latin typeface="Times New Roman" panose="02020603050405020304" charset="0"/>
                  <a:ea typeface="楷体" panose="02010609060101010101" charset="-122"/>
                </a:rPr>
                <a:t>阵列</a:t>
              </a:r>
              <a:endParaRPr lang="zh-CN" altLang="en-US" b="1">
                <a:solidFill>
                  <a:srgbClr val="990033"/>
                </a:solidFill>
                <a:latin typeface="Times New Roman" panose="02020603050405020304" charset="0"/>
                <a:ea typeface="楷体" panose="02010609060101010101" charset="-122"/>
              </a:endParaRPr>
            </a:p>
          </p:txBody>
        </p:sp>
        <p:sp>
          <p:nvSpPr>
            <p:cNvPr id="89096" name="矩形 89095"/>
            <p:cNvSpPr/>
            <p:nvPr/>
          </p:nvSpPr>
          <p:spPr>
            <a:xfrm>
              <a:off x="1636" y="2032"/>
              <a:ext cx="528" cy="864"/>
            </a:xfrm>
            <a:prstGeom prst="rect">
              <a:avLst/>
            </a:prstGeom>
            <a:solidFill>
              <a:schemeClr val="bg1"/>
            </a:solidFill>
            <a:ln w="28575" cap="flat" cmpd="sng">
              <a:solidFill>
                <a:srgbClr val="0000CC"/>
              </a:solidFill>
              <a:prstDash val="solid"/>
              <a:miter/>
              <a:headEnd type="none" w="med" len="med"/>
              <a:tailEnd type="none" w="med" len="med"/>
            </a:ln>
          </p:spPr>
          <p:txBody>
            <a:bodyPr wrap="none" anchor="ctr" anchorCtr="0"/>
            <a:p>
              <a:pPr algn="ctr"/>
              <a:r>
                <a:rPr lang="zh-CN" altLang="en-US" sz="2400" b="1" dirty="0">
                  <a:solidFill>
                    <a:srgbClr val="990033"/>
                  </a:solidFill>
                  <a:latin typeface="Times New Roman" panose="02020603050405020304" charset="0"/>
                  <a:ea typeface="楷体" panose="02010609060101010101" charset="-122"/>
                </a:rPr>
                <a:t>或门</a:t>
              </a:r>
              <a:endParaRPr lang="zh-CN" altLang="en-US" sz="2400" dirty="0">
                <a:solidFill>
                  <a:srgbClr val="990033"/>
                </a:solidFill>
                <a:latin typeface="Times New Roman" panose="02020603050405020304" charset="0"/>
                <a:ea typeface="楷体" panose="02010609060101010101" charset="-122"/>
              </a:endParaRPr>
            </a:p>
            <a:p>
              <a:pPr algn="ctr"/>
              <a:r>
                <a:rPr lang="zh-CN" altLang="en-US" sz="2400" b="1" dirty="0">
                  <a:solidFill>
                    <a:srgbClr val="990033"/>
                  </a:solidFill>
                  <a:latin typeface="Times New Roman" panose="02020603050405020304" charset="0"/>
                  <a:ea typeface="楷体" panose="02010609060101010101" charset="-122"/>
                </a:rPr>
                <a:t>阵列</a:t>
              </a:r>
              <a:endParaRPr lang="zh-CN" altLang="en-US">
                <a:solidFill>
                  <a:srgbClr val="990033"/>
                </a:solidFill>
                <a:latin typeface="Times New Roman" panose="02020603050405020304" charset="0"/>
                <a:ea typeface="楷体" panose="02010609060101010101" charset="-122"/>
              </a:endParaRPr>
            </a:p>
          </p:txBody>
        </p:sp>
        <p:sp>
          <p:nvSpPr>
            <p:cNvPr id="89097" name="右箭头 89096"/>
            <p:cNvSpPr/>
            <p:nvPr/>
          </p:nvSpPr>
          <p:spPr>
            <a:xfrm>
              <a:off x="1012" y="2272"/>
              <a:ext cx="624" cy="432"/>
            </a:xfrm>
            <a:prstGeom prst="rightArrow">
              <a:avLst>
                <a:gd name="adj1" fmla="val 50000"/>
                <a:gd name="adj2" fmla="val 36111"/>
              </a:avLst>
            </a:prstGeom>
            <a:noFill/>
            <a:ln w="38100" cap="flat" cmpd="sng">
              <a:solidFill>
                <a:srgbClr val="CC3399"/>
              </a:solidFill>
              <a:prstDash val="solid"/>
              <a:miter/>
              <a:headEnd type="none" w="med" len="med"/>
              <a:tailEnd type="none" w="med" len="med"/>
            </a:ln>
          </p:spPr>
          <p:txBody>
            <a:bodyPr wrap="none" anchor="ctr" anchorCtr="0"/>
            <a:p>
              <a:pPr algn="ctr"/>
              <a:r>
                <a:rPr lang="zh-CN" altLang="en-US" sz="2000" b="1" dirty="0">
                  <a:solidFill>
                    <a:srgbClr val="990033"/>
                  </a:solidFill>
                  <a:latin typeface="Times New Roman" panose="02020603050405020304" charset="0"/>
                  <a:ea typeface="楷体" panose="02010609060101010101" charset="-122"/>
                </a:rPr>
                <a:t>乘积项</a:t>
              </a:r>
              <a:endParaRPr lang="zh-CN" altLang="en-US" sz="2000" b="1" dirty="0">
                <a:solidFill>
                  <a:srgbClr val="990033"/>
                </a:solidFill>
                <a:latin typeface="Times New Roman" panose="02020603050405020304" charset="0"/>
                <a:ea typeface="楷体" panose="02010609060101010101" charset="-122"/>
              </a:endParaRPr>
            </a:p>
          </p:txBody>
        </p:sp>
        <p:sp>
          <p:nvSpPr>
            <p:cNvPr id="89098" name="矩形 89097"/>
            <p:cNvSpPr/>
            <p:nvPr/>
          </p:nvSpPr>
          <p:spPr>
            <a:xfrm>
              <a:off x="340" y="1888"/>
              <a:ext cx="1920" cy="1152"/>
            </a:xfrm>
            <a:prstGeom prst="rect">
              <a:avLst/>
            </a:prstGeom>
            <a:noFill/>
            <a:ln w="28575" cap="flat" cmpd="sng">
              <a:solidFill>
                <a:srgbClr val="E507BB"/>
              </a:solidFill>
              <a:prstDash val="dash"/>
              <a:miter/>
              <a:headEnd type="none" w="med" len="med"/>
              <a:tailEnd type="none" w="med" len="med"/>
            </a:ln>
          </p:spPr>
          <p:txBody>
            <a:bodyPr wrap="none" anchor="ctr" anchorCtr="0"/>
            <a:p>
              <a:pPr algn="ctr"/>
              <a:endParaRPr lang="en-GB" altLang="x-none" sz="2400">
                <a:solidFill>
                  <a:srgbClr val="4F899D"/>
                </a:solidFill>
                <a:latin typeface="Times New Roman" panose="02020603050405020304" charset="0"/>
                <a:ea typeface="楷体" panose="02010609060101010101" charset="-122"/>
                <a:cs typeface="Times New Roman" panose="02020603050405020304" charset="0"/>
              </a:endParaRPr>
            </a:p>
          </p:txBody>
        </p:sp>
        <p:sp>
          <p:nvSpPr>
            <p:cNvPr id="89099" name="右箭头 89098"/>
            <p:cNvSpPr/>
            <p:nvPr/>
          </p:nvSpPr>
          <p:spPr>
            <a:xfrm>
              <a:off x="2154" y="2205"/>
              <a:ext cx="528" cy="482"/>
            </a:xfrm>
            <a:prstGeom prst="rightArrow">
              <a:avLst>
                <a:gd name="adj1" fmla="val 50000"/>
                <a:gd name="adj2" fmla="val 27385"/>
              </a:avLst>
            </a:prstGeom>
            <a:noFill/>
            <a:ln w="38100" cap="flat" cmpd="sng">
              <a:solidFill>
                <a:srgbClr val="CC3399"/>
              </a:solidFill>
              <a:prstDash val="solid"/>
              <a:miter/>
              <a:headEnd type="none" w="med" len="med"/>
              <a:tailEnd type="none" w="med" len="med"/>
            </a:ln>
          </p:spPr>
          <p:txBody>
            <a:bodyPr wrap="none" anchor="ctr" anchorCtr="0"/>
            <a:p>
              <a:pPr algn="ctr"/>
              <a:r>
                <a:rPr lang="zh-CN" altLang="en-US" sz="2000" b="1" dirty="0">
                  <a:solidFill>
                    <a:srgbClr val="990033"/>
                  </a:solidFill>
                  <a:latin typeface="Times New Roman" panose="02020603050405020304" charset="0"/>
                  <a:ea typeface="楷体" panose="02010609060101010101" charset="-122"/>
                </a:rPr>
                <a:t>和项</a:t>
              </a:r>
              <a:endParaRPr lang="zh-CN" altLang="en-US" sz="2000" b="1" dirty="0">
                <a:solidFill>
                  <a:srgbClr val="990033"/>
                </a:solidFill>
                <a:latin typeface="Times New Roman" panose="02020603050405020304" charset="0"/>
                <a:ea typeface="楷体" panose="02010609060101010101" charset="-122"/>
              </a:endParaRPr>
            </a:p>
          </p:txBody>
        </p:sp>
        <p:sp>
          <p:nvSpPr>
            <p:cNvPr id="89100" name="右箭头 89099"/>
            <p:cNvSpPr/>
            <p:nvPr/>
          </p:nvSpPr>
          <p:spPr>
            <a:xfrm>
              <a:off x="-159" y="2160"/>
              <a:ext cx="624" cy="432"/>
            </a:xfrm>
            <a:prstGeom prst="rightArrow">
              <a:avLst>
                <a:gd name="adj1" fmla="val 50000"/>
                <a:gd name="adj2" fmla="val 51157"/>
              </a:avLst>
            </a:prstGeom>
            <a:noFill/>
            <a:ln w="38100" cap="flat" cmpd="sng">
              <a:solidFill>
                <a:srgbClr val="CC3399"/>
              </a:solidFill>
              <a:prstDash val="solid"/>
              <a:miter/>
              <a:headEnd type="none" w="med" len="med"/>
              <a:tailEnd type="none" w="med" len="med"/>
            </a:ln>
          </p:spPr>
          <p:txBody>
            <a:bodyPr wrap="none" anchor="ctr" anchorCtr="0"/>
            <a:p>
              <a:pPr algn="ctr"/>
              <a:r>
                <a:rPr lang="zh-CN" altLang="en-US" sz="2000" b="1" dirty="0">
                  <a:solidFill>
                    <a:srgbClr val="990033"/>
                  </a:solidFill>
                  <a:latin typeface="Times New Roman" panose="02020603050405020304" charset="0"/>
                  <a:ea typeface="楷体" panose="02010609060101010101" charset="-122"/>
                </a:rPr>
                <a:t>互补</a:t>
              </a:r>
              <a:endParaRPr lang="zh-CN" altLang="en-US" sz="2000" dirty="0">
                <a:solidFill>
                  <a:srgbClr val="990033"/>
                </a:solidFill>
                <a:latin typeface="Times New Roman" panose="02020603050405020304" charset="0"/>
                <a:ea typeface="楷体" panose="02010609060101010101" charset="-122"/>
              </a:endParaRPr>
            </a:p>
            <a:p>
              <a:pPr algn="ctr"/>
              <a:endParaRPr lang="zh-CN" altLang="en-US" sz="2000" dirty="0">
                <a:solidFill>
                  <a:srgbClr val="990033"/>
                </a:solidFill>
                <a:latin typeface="Times New Roman" panose="02020603050405020304" charset="0"/>
                <a:ea typeface="楷体" panose="02010609060101010101" charset="-122"/>
              </a:endParaRPr>
            </a:p>
            <a:p>
              <a:pPr algn="ctr"/>
              <a:endParaRPr lang="zh-CN" altLang="en-US" sz="2000" dirty="0">
                <a:solidFill>
                  <a:srgbClr val="990033"/>
                </a:solidFill>
                <a:latin typeface="Times New Roman" panose="02020603050405020304" charset="0"/>
                <a:ea typeface="楷体" panose="02010609060101010101" charset="-122"/>
              </a:endParaRPr>
            </a:p>
            <a:p>
              <a:pPr algn="ctr"/>
              <a:r>
                <a:rPr lang="zh-CN" altLang="en-US" sz="2000" b="1" dirty="0">
                  <a:solidFill>
                    <a:srgbClr val="990033"/>
                  </a:solidFill>
                  <a:latin typeface="Times New Roman" panose="02020603050405020304" charset="0"/>
                  <a:ea typeface="楷体" panose="02010609060101010101" charset="-122"/>
                </a:rPr>
                <a:t>输入</a:t>
              </a:r>
              <a:endParaRPr lang="zh-CN" altLang="en-US" sz="2400" dirty="0">
                <a:solidFill>
                  <a:srgbClr val="990033"/>
                </a:solidFill>
                <a:latin typeface="Times New Roman" panose="02020603050405020304" charset="0"/>
                <a:ea typeface="楷体" panose="0201060906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092"/>
                                        </p:tgtEl>
                                        <p:attrNameLst>
                                          <p:attrName>style.visibility</p:attrName>
                                        </p:attrNameLst>
                                      </p:cBhvr>
                                      <p:to>
                                        <p:strVal val="visible"/>
                                      </p:to>
                                    </p:set>
                                    <p:animEffect transition="in" filter="wipe(left)">
                                      <p:cBhvr>
                                        <p:cTn id="7" dur="500"/>
                                        <p:tgtEl>
                                          <p:spTgt spid="8909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9094"/>
                                        </p:tgtEl>
                                        <p:attrNameLst>
                                          <p:attrName>style.visibility</p:attrName>
                                        </p:attrNameLst>
                                      </p:cBhvr>
                                      <p:to>
                                        <p:strVal val="visible"/>
                                      </p:to>
                                    </p:set>
                                    <p:animEffect transition="in" filter="wipe(left)">
                                      <p:cBhvr>
                                        <p:cTn id="12" dur="500"/>
                                        <p:tgtEl>
                                          <p:spTgt spid="8909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89093"/>
                                        </p:tgtEl>
                                        <p:attrNameLst>
                                          <p:attrName>style.visibility</p:attrName>
                                        </p:attrNameLst>
                                      </p:cBhvr>
                                      <p:to>
                                        <p:strVal val="visible"/>
                                      </p:to>
                                    </p:set>
                                    <p:animEffect transition="in" filter="box(in)">
                                      <p:cBhvr>
                                        <p:cTn id="17" dur="500"/>
                                        <p:tgtEl>
                                          <p:spTgt spid="890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2971800" y="533400"/>
            <a:ext cx="398843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8.3 </a:t>
            </a:r>
            <a:r>
              <a:rPr lang="zh-CN" altLang="en-US" b="1" dirty="0">
                <a:solidFill>
                  <a:srgbClr val="FF0000"/>
                </a:solidFill>
                <a:latin typeface="黑体" panose="02010609060101010101" pitchFamily="49" charset="-122"/>
                <a:ea typeface="黑体" panose="02010609060101010101" pitchFamily="49" charset="-122"/>
              </a:rPr>
              <a:t>可编程逻辑</a:t>
            </a:r>
            <a:r>
              <a:rPr lang="zh-CN" altLang="en-US" b="1" dirty="0">
                <a:solidFill>
                  <a:srgbClr val="FF0000"/>
                </a:solidFill>
                <a:latin typeface="黑体" panose="02010609060101010101" pitchFamily="49" charset="-122"/>
                <a:ea typeface="黑体" panose="02010609060101010101" pitchFamily="49" charset="-122"/>
              </a:rPr>
              <a:t>器件</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7588" name="矩形 67587"/>
          <p:cNvSpPr/>
          <p:nvPr/>
        </p:nvSpPr>
        <p:spPr>
          <a:xfrm>
            <a:off x="990283" y="1143000"/>
            <a:ext cx="7848600" cy="539750"/>
          </a:xfrm>
          <a:prstGeom prst="rect">
            <a:avLst/>
          </a:prstGeom>
          <a:noFill/>
          <a:ln w="9525">
            <a:noFill/>
          </a:ln>
        </p:spPr>
        <p:txBody>
          <a:bodyPr anchor="ctr" anchorCtr="0"/>
          <a:lstStyle>
            <a:lvl1pPr marL="0" lvl="0" indent="0" algn="l" defTabSz="914400" rtl="0" eaLnBrk="1" fontAlgn="base" latinLnBrk="0" hangingPunct="1">
              <a:lnSpc>
                <a:spcPct val="100000"/>
              </a:lnSpc>
              <a:spcBef>
                <a:spcPct val="0"/>
              </a:spcBef>
              <a:spcAft>
                <a:spcPct val="0"/>
              </a:spcAft>
              <a:buNone/>
              <a:defRPr sz="4400" u="none" kern="1200" baseline="0">
                <a:solidFill>
                  <a:schemeClr val="tx1"/>
                </a:solidFill>
                <a:latin typeface="Arial" panose="020B0604020202020204" pitchFamily="34" charset="0"/>
                <a:ea typeface="宋体" panose="02010600030101010101" pitchFamily="2" charset="-122"/>
              </a:defRPr>
            </a:lvl1pPr>
          </a:lstStyle>
          <a:p>
            <a:pPr marL="609600" lvl="0" indent="-609600"/>
            <a:r>
              <a:rPr lang="en-US" sz="2400" b="1">
                <a:solidFill>
                  <a:srgbClr val="FE09D6"/>
                </a:solidFill>
                <a:latin typeface="Times New Roman" panose="02020603050405020304" charset="0"/>
                <a:ea typeface="楷体" panose="02010609060101010101" charset="-122"/>
                <a:cs typeface="Times New Roman" panose="02020603050405020304" charset="0"/>
              </a:rPr>
              <a:t>2.PLD</a:t>
            </a:r>
            <a:r>
              <a:rPr lang="zh-CN" altLang="en-US" sz="2400" b="1">
                <a:solidFill>
                  <a:srgbClr val="FE09D6"/>
                </a:solidFill>
                <a:latin typeface="Times New Roman" panose="02020603050405020304" charset="0"/>
                <a:ea typeface="楷体" panose="02010609060101010101" charset="-122"/>
                <a:cs typeface="Times New Roman" panose="02020603050405020304" charset="0"/>
              </a:rPr>
              <a:t>的</a:t>
            </a:r>
            <a:r>
              <a:rPr lang="zh-CN" altLang="en-US" sz="2400" b="1">
                <a:solidFill>
                  <a:srgbClr val="FE09D6"/>
                </a:solidFill>
                <a:latin typeface="Times New Roman" panose="02020603050405020304" charset="0"/>
                <a:ea typeface="楷体" panose="02010609060101010101" charset="-122"/>
                <a:cs typeface="Times New Roman" panose="02020603050405020304" charset="0"/>
              </a:rPr>
              <a:t>分类</a:t>
            </a:r>
            <a:endParaRPr lang="zh-CN" altLang="en-US" sz="2400" b="1">
              <a:solidFill>
                <a:srgbClr val="FE09D6"/>
              </a:solidFill>
              <a:latin typeface="Times New Roman" panose="02020603050405020304" charset="0"/>
              <a:ea typeface="楷体" panose="02010609060101010101" charset="-122"/>
              <a:cs typeface="Times New Roman" panose="02020603050405020304" charset="0"/>
            </a:endParaRPr>
          </a:p>
        </p:txBody>
      </p:sp>
      <p:grpSp>
        <p:nvGrpSpPr>
          <p:cNvPr id="97348" name="组合 97347"/>
          <p:cNvGrpSpPr/>
          <p:nvPr/>
        </p:nvGrpSpPr>
        <p:grpSpPr>
          <a:xfrm>
            <a:off x="2652713" y="3354388"/>
            <a:ext cx="3984625" cy="568325"/>
            <a:chOff x="1720" y="1924"/>
            <a:chExt cx="2510" cy="358"/>
          </a:xfrm>
        </p:grpSpPr>
        <p:sp>
          <p:nvSpPr>
            <p:cNvPr id="97349" name="直接连接符 97348"/>
            <p:cNvSpPr/>
            <p:nvPr/>
          </p:nvSpPr>
          <p:spPr>
            <a:xfrm>
              <a:off x="2795" y="1924"/>
              <a:ext cx="1" cy="179"/>
            </a:xfrm>
            <a:prstGeom prst="line">
              <a:avLst/>
            </a:prstGeom>
            <a:ln w="38100" cap="flat" cmpd="sng">
              <a:solidFill>
                <a:srgbClr val="000099"/>
              </a:solidFill>
              <a:prstDash val="solid"/>
              <a:headEnd type="none" w="med" len="med"/>
              <a:tailEnd type="none" w="med" len="med"/>
            </a:ln>
          </p:spPr>
        </p:sp>
        <p:sp>
          <p:nvSpPr>
            <p:cNvPr id="97350" name="直接连接符 97349"/>
            <p:cNvSpPr/>
            <p:nvPr/>
          </p:nvSpPr>
          <p:spPr>
            <a:xfrm>
              <a:off x="1720" y="2103"/>
              <a:ext cx="1" cy="179"/>
            </a:xfrm>
            <a:prstGeom prst="line">
              <a:avLst/>
            </a:prstGeom>
            <a:ln w="38100" cap="flat" cmpd="sng">
              <a:solidFill>
                <a:srgbClr val="000099"/>
              </a:solidFill>
              <a:prstDash val="solid"/>
              <a:headEnd type="none" w="med" len="med"/>
              <a:tailEnd type="none" w="med" len="med"/>
            </a:ln>
          </p:spPr>
        </p:sp>
        <p:sp>
          <p:nvSpPr>
            <p:cNvPr id="97351" name="直接连接符 97350"/>
            <p:cNvSpPr/>
            <p:nvPr/>
          </p:nvSpPr>
          <p:spPr>
            <a:xfrm>
              <a:off x="4229" y="2103"/>
              <a:ext cx="1" cy="179"/>
            </a:xfrm>
            <a:prstGeom prst="line">
              <a:avLst/>
            </a:prstGeom>
            <a:ln w="38100" cap="flat" cmpd="sng">
              <a:solidFill>
                <a:srgbClr val="000099"/>
              </a:solidFill>
              <a:prstDash val="solid"/>
              <a:headEnd type="none" w="med" len="med"/>
              <a:tailEnd type="none" w="med" len="med"/>
            </a:ln>
          </p:spPr>
        </p:sp>
        <p:sp>
          <p:nvSpPr>
            <p:cNvPr id="97352" name="直接连接符 97351"/>
            <p:cNvSpPr/>
            <p:nvPr/>
          </p:nvSpPr>
          <p:spPr>
            <a:xfrm>
              <a:off x="1720" y="2103"/>
              <a:ext cx="1075" cy="1"/>
            </a:xfrm>
            <a:prstGeom prst="line">
              <a:avLst/>
            </a:prstGeom>
            <a:ln w="38100" cap="flat" cmpd="sng">
              <a:solidFill>
                <a:srgbClr val="000099"/>
              </a:solidFill>
              <a:prstDash val="solid"/>
              <a:headEnd type="none" w="med" len="med"/>
              <a:tailEnd type="none" w="med" len="med"/>
            </a:ln>
          </p:spPr>
        </p:sp>
        <p:sp>
          <p:nvSpPr>
            <p:cNvPr id="97353" name="直接连接符 97352"/>
            <p:cNvSpPr/>
            <p:nvPr/>
          </p:nvSpPr>
          <p:spPr>
            <a:xfrm>
              <a:off x="2795" y="2103"/>
              <a:ext cx="1434" cy="1"/>
            </a:xfrm>
            <a:prstGeom prst="line">
              <a:avLst/>
            </a:prstGeom>
            <a:ln w="38100" cap="flat" cmpd="sng">
              <a:solidFill>
                <a:srgbClr val="000099"/>
              </a:solidFill>
              <a:prstDash val="solid"/>
              <a:headEnd type="none" w="med" len="med"/>
              <a:tailEnd type="none" w="med" len="med"/>
            </a:ln>
          </p:spPr>
        </p:sp>
      </p:grpSp>
      <p:grpSp>
        <p:nvGrpSpPr>
          <p:cNvPr id="97354" name="组合 97353"/>
          <p:cNvGrpSpPr/>
          <p:nvPr/>
        </p:nvGrpSpPr>
        <p:grpSpPr>
          <a:xfrm>
            <a:off x="944563" y="4946650"/>
            <a:ext cx="3416300" cy="566738"/>
            <a:chOff x="644" y="2927"/>
            <a:chExt cx="2152" cy="357"/>
          </a:xfrm>
        </p:grpSpPr>
        <p:sp>
          <p:nvSpPr>
            <p:cNvPr id="97355" name="直接连接符 97354"/>
            <p:cNvSpPr/>
            <p:nvPr/>
          </p:nvSpPr>
          <p:spPr>
            <a:xfrm>
              <a:off x="1720" y="2927"/>
              <a:ext cx="1" cy="178"/>
            </a:xfrm>
            <a:prstGeom prst="line">
              <a:avLst/>
            </a:prstGeom>
            <a:ln w="38100" cap="flat" cmpd="sng">
              <a:solidFill>
                <a:srgbClr val="000099"/>
              </a:solidFill>
              <a:prstDash val="solid"/>
              <a:headEnd type="none" w="med" len="med"/>
              <a:tailEnd type="none" w="med" len="med"/>
            </a:ln>
          </p:spPr>
        </p:sp>
        <p:sp>
          <p:nvSpPr>
            <p:cNvPr id="97356" name="直接连接符 97355"/>
            <p:cNvSpPr/>
            <p:nvPr/>
          </p:nvSpPr>
          <p:spPr>
            <a:xfrm>
              <a:off x="644" y="3105"/>
              <a:ext cx="1" cy="179"/>
            </a:xfrm>
            <a:prstGeom prst="line">
              <a:avLst/>
            </a:prstGeom>
            <a:ln w="38100" cap="flat" cmpd="sng">
              <a:solidFill>
                <a:srgbClr val="000099"/>
              </a:solidFill>
              <a:prstDash val="solid"/>
              <a:headEnd type="none" w="med" len="med"/>
              <a:tailEnd type="none" w="med" len="med"/>
            </a:ln>
          </p:spPr>
        </p:sp>
        <p:sp>
          <p:nvSpPr>
            <p:cNvPr id="97357" name="直接连接符 97356"/>
            <p:cNvSpPr/>
            <p:nvPr/>
          </p:nvSpPr>
          <p:spPr>
            <a:xfrm>
              <a:off x="1361" y="3105"/>
              <a:ext cx="1" cy="179"/>
            </a:xfrm>
            <a:prstGeom prst="line">
              <a:avLst/>
            </a:prstGeom>
            <a:ln w="38100" cap="flat" cmpd="sng">
              <a:solidFill>
                <a:srgbClr val="000099"/>
              </a:solidFill>
              <a:prstDash val="solid"/>
              <a:headEnd type="none" w="med" len="med"/>
              <a:tailEnd type="none" w="med" len="med"/>
            </a:ln>
          </p:spPr>
        </p:sp>
        <p:sp>
          <p:nvSpPr>
            <p:cNvPr id="97358" name="直接连接符 97357"/>
            <p:cNvSpPr/>
            <p:nvPr/>
          </p:nvSpPr>
          <p:spPr>
            <a:xfrm>
              <a:off x="2078" y="3105"/>
              <a:ext cx="1" cy="179"/>
            </a:xfrm>
            <a:prstGeom prst="line">
              <a:avLst/>
            </a:prstGeom>
            <a:ln w="38100" cap="flat" cmpd="sng">
              <a:solidFill>
                <a:srgbClr val="000099"/>
              </a:solidFill>
              <a:prstDash val="solid"/>
              <a:headEnd type="none" w="med" len="med"/>
              <a:tailEnd type="none" w="med" len="med"/>
            </a:ln>
          </p:spPr>
        </p:sp>
        <p:sp>
          <p:nvSpPr>
            <p:cNvPr id="97359" name="直接连接符 97358"/>
            <p:cNvSpPr/>
            <p:nvPr/>
          </p:nvSpPr>
          <p:spPr>
            <a:xfrm>
              <a:off x="2795" y="3105"/>
              <a:ext cx="1" cy="179"/>
            </a:xfrm>
            <a:prstGeom prst="line">
              <a:avLst/>
            </a:prstGeom>
            <a:ln w="38100" cap="flat" cmpd="sng">
              <a:solidFill>
                <a:srgbClr val="000099"/>
              </a:solidFill>
              <a:prstDash val="solid"/>
              <a:headEnd type="none" w="med" len="med"/>
              <a:tailEnd type="none" w="med" len="med"/>
            </a:ln>
          </p:spPr>
        </p:sp>
        <p:sp>
          <p:nvSpPr>
            <p:cNvPr id="97360" name="直接连接符 97359"/>
            <p:cNvSpPr/>
            <p:nvPr/>
          </p:nvSpPr>
          <p:spPr>
            <a:xfrm>
              <a:off x="644" y="3105"/>
              <a:ext cx="717" cy="1"/>
            </a:xfrm>
            <a:prstGeom prst="line">
              <a:avLst/>
            </a:prstGeom>
            <a:ln w="38100" cap="flat" cmpd="sng">
              <a:solidFill>
                <a:srgbClr val="000099"/>
              </a:solidFill>
              <a:prstDash val="solid"/>
              <a:headEnd type="none" w="med" len="med"/>
              <a:tailEnd type="none" w="med" len="med"/>
            </a:ln>
          </p:spPr>
        </p:sp>
        <p:sp>
          <p:nvSpPr>
            <p:cNvPr id="97361" name="直接连接符 97360"/>
            <p:cNvSpPr/>
            <p:nvPr/>
          </p:nvSpPr>
          <p:spPr>
            <a:xfrm>
              <a:off x="1361" y="3105"/>
              <a:ext cx="359" cy="1"/>
            </a:xfrm>
            <a:prstGeom prst="line">
              <a:avLst/>
            </a:prstGeom>
            <a:ln w="38100" cap="flat" cmpd="sng">
              <a:solidFill>
                <a:srgbClr val="000099"/>
              </a:solidFill>
              <a:prstDash val="solid"/>
              <a:headEnd type="none" w="med" len="med"/>
              <a:tailEnd type="none" w="med" len="med"/>
            </a:ln>
          </p:spPr>
        </p:sp>
        <p:sp>
          <p:nvSpPr>
            <p:cNvPr id="97362" name="直接连接符 97361"/>
            <p:cNvSpPr/>
            <p:nvPr/>
          </p:nvSpPr>
          <p:spPr>
            <a:xfrm>
              <a:off x="1720" y="3105"/>
              <a:ext cx="358" cy="1"/>
            </a:xfrm>
            <a:prstGeom prst="line">
              <a:avLst/>
            </a:prstGeom>
            <a:ln w="38100" cap="flat" cmpd="sng">
              <a:solidFill>
                <a:srgbClr val="000099"/>
              </a:solidFill>
              <a:prstDash val="solid"/>
              <a:headEnd type="none" w="med" len="med"/>
              <a:tailEnd type="none" w="med" len="med"/>
            </a:ln>
          </p:spPr>
        </p:sp>
        <p:sp>
          <p:nvSpPr>
            <p:cNvPr id="97363" name="直接连接符 97362"/>
            <p:cNvSpPr/>
            <p:nvPr/>
          </p:nvSpPr>
          <p:spPr>
            <a:xfrm>
              <a:off x="2078" y="3105"/>
              <a:ext cx="717" cy="1"/>
            </a:xfrm>
            <a:prstGeom prst="line">
              <a:avLst/>
            </a:prstGeom>
            <a:ln w="38100" cap="flat" cmpd="sng">
              <a:solidFill>
                <a:srgbClr val="000099"/>
              </a:solidFill>
              <a:prstDash val="solid"/>
              <a:headEnd type="none" w="med" len="med"/>
              <a:tailEnd type="none" w="med" len="med"/>
            </a:ln>
          </p:spPr>
        </p:sp>
      </p:grpSp>
      <p:grpSp>
        <p:nvGrpSpPr>
          <p:cNvPr id="97411" name="组合 97410"/>
          <p:cNvGrpSpPr/>
          <p:nvPr/>
        </p:nvGrpSpPr>
        <p:grpSpPr>
          <a:xfrm>
            <a:off x="350838" y="5487988"/>
            <a:ext cx="4457700" cy="630237"/>
            <a:chOff x="204" y="3548"/>
            <a:chExt cx="2808" cy="397"/>
          </a:xfrm>
        </p:grpSpPr>
        <p:sp>
          <p:nvSpPr>
            <p:cNvPr id="97365" name="矩形 97364"/>
            <p:cNvSpPr/>
            <p:nvPr/>
          </p:nvSpPr>
          <p:spPr>
            <a:xfrm>
              <a:off x="204" y="3564"/>
              <a:ext cx="680" cy="381"/>
            </a:xfrm>
            <a:prstGeom prst="rect">
              <a:avLst/>
            </a:prstGeom>
            <a:solidFill>
              <a:srgbClr val="FFCCFF">
                <a:alpha val="16000"/>
              </a:srgbClr>
            </a:solidFill>
            <a:ln w="20638" cap="flat" cmpd="sng">
              <a:solidFill>
                <a:srgbClr val="FF0000"/>
              </a:solidFill>
              <a:prstDash val="solid"/>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97366" name="矩形 97365"/>
            <p:cNvSpPr/>
            <p:nvPr/>
          </p:nvSpPr>
          <p:spPr>
            <a:xfrm>
              <a:off x="204" y="3548"/>
              <a:ext cx="726" cy="381"/>
            </a:xfrm>
            <a:prstGeom prst="rect">
              <a:avLst/>
            </a:prstGeom>
            <a:solidFill>
              <a:srgbClr val="FFFF00">
                <a:alpha val="16000"/>
              </a:srgbClr>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97367" name="矩形 97366"/>
            <p:cNvSpPr/>
            <p:nvPr/>
          </p:nvSpPr>
          <p:spPr>
            <a:xfrm>
              <a:off x="249" y="3654"/>
              <a:ext cx="586" cy="230"/>
            </a:xfrm>
            <a:prstGeom prst="rect">
              <a:avLst/>
            </a:prstGeom>
            <a:noFill/>
            <a:ln w="9525">
              <a:noFill/>
            </a:ln>
          </p:spPr>
          <p:txBody>
            <a:bodyPr wrap="none" lIns="0" tIns="0" rIns="0" bIns="0">
              <a:spAutoFit/>
            </a:bodyPr>
            <a:p>
              <a:pPr>
                <a:spcBef>
                  <a:spcPct val="50000"/>
                </a:spcBef>
              </a:pPr>
              <a:r>
                <a:rPr lang="en-US" altLang="zh-CN" sz="2400" b="1">
                  <a:solidFill>
                    <a:srgbClr val="000099"/>
                  </a:solidFill>
                  <a:latin typeface="Times New Roman" panose="02020603050405020304" charset="0"/>
                  <a:ea typeface="楷体" panose="02010609060101010101" charset="-122"/>
                  <a:cs typeface="Times New Roman" panose="02020603050405020304" charset="0"/>
                </a:rPr>
                <a:t>PROM</a:t>
              </a:r>
              <a:endParaRPr lang="en-US" altLang="zh-CN" sz="2400" b="1">
                <a:solidFill>
                  <a:srgbClr val="000099"/>
                </a:solidFill>
                <a:latin typeface="Times New Roman" panose="02020603050405020304" charset="0"/>
                <a:ea typeface="楷体" panose="02010609060101010101" charset="-122"/>
                <a:cs typeface="Times New Roman" panose="02020603050405020304" charset="0"/>
              </a:endParaRPr>
            </a:p>
          </p:txBody>
        </p:sp>
        <p:sp>
          <p:nvSpPr>
            <p:cNvPr id="97368" name="矩形 97367"/>
            <p:cNvSpPr/>
            <p:nvPr/>
          </p:nvSpPr>
          <p:spPr>
            <a:xfrm>
              <a:off x="1012" y="3564"/>
              <a:ext cx="566" cy="381"/>
            </a:xfrm>
            <a:prstGeom prst="rect">
              <a:avLst/>
            </a:prstGeom>
            <a:solidFill>
              <a:srgbClr val="FFFF00">
                <a:alpha val="16000"/>
              </a:srgbClr>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97369" name="矩形 97368"/>
            <p:cNvSpPr/>
            <p:nvPr/>
          </p:nvSpPr>
          <p:spPr>
            <a:xfrm>
              <a:off x="1144" y="3634"/>
              <a:ext cx="384" cy="230"/>
            </a:xfrm>
            <a:prstGeom prst="rect">
              <a:avLst/>
            </a:prstGeom>
            <a:noFill/>
            <a:ln w="9525">
              <a:noFill/>
            </a:ln>
          </p:spPr>
          <p:txBody>
            <a:bodyPr wrap="none" lIns="0" tIns="0" rIns="0" bIns="0">
              <a:spAutoFit/>
            </a:bodyPr>
            <a:p>
              <a:pPr>
                <a:spcBef>
                  <a:spcPct val="50000"/>
                </a:spcBef>
              </a:pPr>
              <a:r>
                <a:rPr lang="en-US" altLang="zh-CN" sz="2400" b="1">
                  <a:solidFill>
                    <a:srgbClr val="000099"/>
                  </a:solidFill>
                  <a:latin typeface="Times New Roman" panose="02020603050405020304" charset="0"/>
                  <a:ea typeface="楷体" panose="02010609060101010101" charset="-122"/>
                  <a:cs typeface="Times New Roman" panose="02020603050405020304" charset="0"/>
                </a:rPr>
                <a:t>PLA</a:t>
              </a:r>
              <a:endParaRPr lang="en-US" altLang="zh-CN" sz="2400" b="1">
                <a:solidFill>
                  <a:srgbClr val="000099"/>
                </a:solidFill>
                <a:latin typeface="Times New Roman" panose="02020603050405020304" charset="0"/>
                <a:ea typeface="楷体" panose="02010609060101010101" charset="-122"/>
                <a:cs typeface="Times New Roman" panose="02020603050405020304" charset="0"/>
              </a:endParaRPr>
            </a:p>
          </p:txBody>
        </p:sp>
        <p:sp>
          <p:nvSpPr>
            <p:cNvPr id="97370" name="矩形 97369"/>
            <p:cNvSpPr/>
            <p:nvPr/>
          </p:nvSpPr>
          <p:spPr>
            <a:xfrm>
              <a:off x="1012" y="3564"/>
              <a:ext cx="566" cy="381"/>
            </a:xfrm>
            <a:prstGeom prst="rect">
              <a:avLst/>
            </a:prstGeom>
            <a:noFill/>
            <a:ln w="20638" cap="flat" cmpd="sng">
              <a:solidFill>
                <a:srgbClr val="FF0000"/>
              </a:solidFill>
              <a:prstDash val="solid"/>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97371" name="矩形 97370"/>
            <p:cNvSpPr/>
            <p:nvPr/>
          </p:nvSpPr>
          <p:spPr>
            <a:xfrm>
              <a:off x="1729" y="3564"/>
              <a:ext cx="566" cy="381"/>
            </a:xfrm>
            <a:prstGeom prst="rect">
              <a:avLst/>
            </a:prstGeom>
            <a:solidFill>
              <a:srgbClr val="FFFF00">
                <a:alpha val="16000"/>
              </a:srgbClr>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97372" name="矩形 97371"/>
            <p:cNvSpPr/>
            <p:nvPr/>
          </p:nvSpPr>
          <p:spPr>
            <a:xfrm>
              <a:off x="1861" y="3634"/>
              <a:ext cx="384" cy="230"/>
            </a:xfrm>
            <a:prstGeom prst="rect">
              <a:avLst/>
            </a:prstGeom>
            <a:noFill/>
            <a:ln w="9525">
              <a:noFill/>
            </a:ln>
          </p:spPr>
          <p:txBody>
            <a:bodyPr wrap="none" lIns="0" tIns="0" rIns="0" bIns="0">
              <a:spAutoFit/>
            </a:bodyPr>
            <a:p>
              <a:pPr>
                <a:spcBef>
                  <a:spcPct val="50000"/>
                </a:spcBef>
              </a:pPr>
              <a:r>
                <a:rPr lang="en-US" altLang="zh-CN" sz="2400" b="1">
                  <a:solidFill>
                    <a:srgbClr val="000099"/>
                  </a:solidFill>
                  <a:latin typeface="Times New Roman" panose="02020603050405020304" charset="0"/>
                  <a:ea typeface="楷体" panose="02010609060101010101" charset="-122"/>
                  <a:cs typeface="Times New Roman" panose="02020603050405020304" charset="0"/>
                </a:rPr>
                <a:t>PAL</a:t>
              </a:r>
              <a:endParaRPr lang="en-US" altLang="zh-CN" sz="2400" b="1">
                <a:solidFill>
                  <a:srgbClr val="000099"/>
                </a:solidFill>
                <a:latin typeface="Times New Roman" panose="02020603050405020304" charset="0"/>
                <a:ea typeface="楷体" panose="02010609060101010101" charset="-122"/>
                <a:cs typeface="Times New Roman" panose="02020603050405020304" charset="0"/>
              </a:endParaRPr>
            </a:p>
          </p:txBody>
        </p:sp>
        <p:sp>
          <p:nvSpPr>
            <p:cNvPr id="97373" name="矩形 97372"/>
            <p:cNvSpPr/>
            <p:nvPr/>
          </p:nvSpPr>
          <p:spPr>
            <a:xfrm>
              <a:off x="1729" y="3564"/>
              <a:ext cx="566" cy="381"/>
            </a:xfrm>
            <a:prstGeom prst="rect">
              <a:avLst/>
            </a:prstGeom>
            <a:noFill/>
            <a:ln w="20638" cap="flat" cmpd="sng">
              <a:solidFill>
                <a:srgbClr val="FF0000"/>
              </a:solidFill>
              <a:prstDash val="solid"/>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97374" name="矩形 97373"/>
            <p:cNvSpPr/>
            <p:nvPr/>
          </p:nvSpPr>
          <p:spPr>
            <a:xfrm>
              <a:off x="2446" y="3564"/>
              <a:ext cx="566" cy="381"/>
            </a:xfrm>
            <a:prstGeom prst="rect">
              <a:avLst/>
            </a:prstGeom>
            <a:solidFill>
              <a:srgbClr val="FFFF00">
                <a:alpha val="16000"/>
              </a:srgbClr>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97375" name="矩形 97374"/>
            <p:cNvSpPr/>
            <p:nvPr/>
          </p:nvSpPr>
          <p:spPr>
            <a:xfrm>
              <a:off x="2565" y="3634"/>
              <a:ext cx="416" cy="230"/>
            </a:xfrm>
            <a:prstGeom prst="rect">
              <a:avLst/>
            </a:prstGeom>
            <a:noFill/>
            <a:ln w="9525">
              <a:noFill/>
            </a:ln>
          </p:spPr>
          <p:txBody>
            <a:bodyPr wrap="none" lIns="0" tIns="0" rIns="0" bIns="0">
              <a:spAutoFit/>
            </a:bodyPr>
            <a:p>
              <a:pPr>
                <a:spcBef>
                  <a:spcPct val="50000"/>
                </a:spcBef>
              </a:pPr>
              <a:r>
                <a:rPr lang="en-US" altLang="zh-CN" sz="2400" b="1">
                  <a:solidFill>
                    <a:srgbClr val="000099"/>
                  </a:solidFill>
                  <a:latin typeface="Times New Roman" panose="02020603050405020304" charset="0"/>
                  <a:ea typeface="楷体" panose="02010609060101010101" charset="-122"/>
                  <a:cs typeface="Times New Roman" panose="02020603050405020304" charset="0"/>
                </a:rPr>
                <a:t>GAL</a:t>
              </a:r>
              <a:endParaRPr lang="en-US" altLang="zh-CN" sz="2400" b="1">
                <a:solidFill>
                  <a:srgbClr val="000099"/>
                </a:solidFill>
                <a:latin typeface="Times New Roman" panose="02020603050405020304" charset="0"/>
                <a:ea typeface="楷体" panose="02010609060101010101" charset="-122"/>
                <a:cs typeface="Times New Roman" panose="02020603050405020304" charset="0"/>
              </a:endParaRPr>
            </a:p>
          </p:txBody>
        </p:sp>
        <p:sp>
          <p:nvSpPr>
            <p:cNvPr id="97376" name="矩形 97375"/>
            <p:cNvSpPr/>
            <p:nvPr/>
          </p:nvSpPr>
          <p:spPr>
            <a:xfrm>
              <a:off x="2446" y="3564"/>
              <a:ext cx="566" cy="381"/>
            </a:xfrm>
            <a:prstGeom prst="rect">
              <a:avLst/>
            </a:prstGeom>
            <a:noFill/>
            <a:ln w="20638" cap="flat" cmpd="sng">
              <a:solidFill>
                <a:srgbClr val="FF0000"/>
              </a:solidFill>
              <a:prstDash val="solid"/>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grpSp>
      <p:grpSp>
        <p:nvGrpSpPr>
          <p:cNvPr id="97377" name="组合 97376"/>
          <p:cNvGrpSpPr/>
          <p:nvPr/>
        </p:nvGrpSpPr>
        <p:grpSpPr>
          <a:xfrm>
            <a:off x="1114425" y="3957638"/>
            <a:ext cx="3455988" cy="989012"/>
            <a:chOff x="751" y="2304"/>
            <a:chExt cx="2177" cy="623"/>
          </a:xfrm>
        </p:grpSpPr>
        <p:sp>
          <p:nvSpPr>
            <p:cNvPr id="97378" name="矩形 97377"/>
            <p:cNvSpPr/>
            <p:nvPr/>
          </p:nvSpPr>
          <p:spPr>
            <a:xfrm>
              <a:off x="751" y="2304"/>
              <a:ext cx="2177" cy="623"/>
            </a:xfrm>
            <a:prstGeom prst="rect">
              <a:avLst/>
            </a:prstGeom>
            <a:solidFill>
              <a:srgbClr val="99CCFF">
                <a:alpha val="38000"/>
              </a:srgbClr>
            </a:solidFill>
            <a:ln w="9525">
              <a:noFill/>
            </a:ln>
          </p:spPr>
          <p:txBody>
            <a:bodyPr/>
            <a:p>
              <a:endParaRPr lang="zh-CN" altLang="en-US"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97379" name="矩形 97378"/>
            <p:cNvSpPr/>
            <p:nvPr/>
          </p:nvSpPr>
          <p:spPr>
            <a:xfrm>
              <a:off x="808" y="2352"/>
              <a:ext cx="1928" cy="232"/>
            </a:xfrm>
            <a:prstGeom prst="rect">
              <a:avLst/>
            </a:prstGeom>
            <a:solidFill>
              <a:srgbClr val="99CCFF">
                <a:alpha val="38000"/>
              </a:srgbClr>
            </a:solidFill>
            <a:ln w="9525">
              <a:noFill/>
            </a:ln>
          </p:spPr>
          <p:txBody>
            <a:bodyPr wrap="none" lIns="0" tIns="0" rIns="0" bIns="0">
              <a:spAutoFit/>
            </a:bodyPr>
            <a:p>
              <a:pPr>
                <a:spcBef>
                  <a:spcPct val="50000"/>
                </a:spcBef>
              </a:pPr>
              <a:r>
                <a:rPr lang="zh-CN" altLang="en-US" sz="2400" b="1" dirty="0">
                  <a:solidFill>
                    <a:srgbClr val="000066"/>
                  </a:solidFill>
                  <a:latin typeface="Times New Roman" panose="02020603050405020304" charset="0"/>
                  <a:ea typeface="楷体" panose="02010609060101010101" charset="-122"/>
                </a:rPr>
                <a:t>低密度可编程逻辑器件</a:t>
              </a:r>
              <a:endParaRPr lang="zh-CN" altLang="en-US" sz="2400" b="1" dirty="0">
                <a:solidFill>
                  <a:srgbClr val="000066"/>
                </a:solidFill>
                <a:latin typeface="Times New Roman" panose="02020603050405020304" charset="0"/>
                <a:ea typeface="楷体" panose="02010609060101010101" charset="-122"/>
              </a:endParaRPr>
            </a:p>
          </p:txBody>
        </p:sp>
        <p:sp>
          <p:nvSpPr>
            <p:cNvPr id="97380" name="矩形 97379"/>
            <p:cNvSpPr/>
            <p:nvPr/>
          </p:nvSpPr>
          <p:spPr>
            <a:xfrm>
              <a:off x="1292" y="2623"/>
              <a:ext cx="1036" cy="232"/>
            </a:xfrm>
            <a:prstGeom prst="rect">
              <a:avLst/>
            </a:prstGeom>
            <a:solidFill>
              <a:srgbClr val="99CCFF">
                <a:alpha val="38000"/>
              </a:srgbClr>
            </a:solidFill>
            <a:ln w="9525">
              <a:noFill/>
            </a:ln>
          </p:spPr>
          <p:txBody>
            <a:bodyPr wrap="none" lIns="0" tIns="0" rIns="0" bIns="0">
              <a:spAutoFit/>
            </a:bodyPr>
            <a:p>
              <a:pPr>
                <a:spcBef>
                  <a:spcPct val="50000"/>
                </a:spcBef>
              </a:pPr>
              <a:r>
                <a:rPr lang="zh-CN" altLang="en-US" sz="2400" b="1">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LDPLD</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a:t>
              </a:r>
              <a:endParaRPr lang="zh-CN" altLang="en-US" sz="24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97381" name="矩形 97380"/>
            <p:cNvSpPr/>
            <p:nvPr/>
          </p:nvSpPr>
          <p:spPr>
            <a:xfrm>
              <a:off x="751" y="2304"/>
              <a:ext cx="2177" cy="623"/>
            </a:xfrm>
            <a:prstGeom prst="rect">
              <a:avLst/>
            </a:prstGeom>
            <a:solidFill>
              <a:srgbClr val="99CCFF">
                <a:alpha val="38000"/>
              </a:srgbClr>
            </a:solidFill>
            <a:ln w="20638" cap="flat" cmpd="sng">
              <a:solidFill>
                <a:srgbClr val="FF0000"/>
              </a:solidFill>
              <a:prstDash val="solid"/>
              <a:miter/>
              <a:headEnd type="none" w="med" len="med"/>
              <a:tailEnd type="none" w="med" len="med"/>
            </a:ln>
          </p:spPr>
          <p:txBody>
            <a:bodyPr/>
            <a:p>
              <a:endParaRPr lang="zh-CN" altLang="en-US" b="1">
                <a:solidFill>
                  <a:srgbClr val="000066"/>
                </a:solidFill>
                <a:latin typeface="Times New Roman" panose="02020603050405020304" charset="0"/>
                <a:ea typeface="楷体" panose="02010609060101010101" charset="-122"/>
                <a:cs typeface="Times New Roman" panose="02020603050405020304" charset="0"/>
              </a:endParaRPr>
            </a:p>
          </p:txBody>
        </p:sp>
      </p:grpSp>
      <p:grpSp>
        <p:nvGrpSpPr>
          <p:cNvPr id="97382" name="组合 97381"/>
          <p:cNvGrpSpPr/>
          <p:nvPr/>
        </p:nvGrpSpPr>
        <p:grpSpPr>
          <a:xfrm>
            <a:off x="5678488" y="4946650"/>
            <a:ext cx="2278062" cy="566738"/>
            <a:chOff x="3512" y="2927"/>
            <a:chExt cx="1435" cy="357"/>
          </a:xfrm>
        </p:grpSpPr>
        <p:sp>
          <p:nvSpPr>
            <p:cNvPr id="97383" name="直接连接符 97382"/>
            <p:cNvSpPr/>
            <p:nvPr/>
          </p:nvSpPr>
          <p:spPr>
            <a:xfrm>
              <a:off x="4229" y="2927"/>
              <a:ext cx="1" cy="178"/>
            </a:xfrm>
            <a:prstGeom prst="line">
              <a:avLst/>
            </a:prstGeom>
            <a:ln w="38100" cap="flat" cmpd="sng">
              <a:solidFill>
                <a:srgbClr val="000099"/>
              </a:solidFill>
              <a:prstDash val="solid"/>
              <a:headEnd type="none" w="med" len="med"/>
              <a:tailEnd type="none" w="med" len="med"/>
            </a:ln>
          </p:spPr>
        </p:sp>
        <p:sp>
          <p:nvSpPr>
            <p:cNvPr id="97384" name="直接连接符 97383"/>
            <p:cNvSpPr/>
            <p:nvPr/>
          </p:nvSpPr>
          <p:spPr>
            <a:xfrm>
              <a:off x="3512" y="3105"/>
              <a:ext cx="1" cy="179"/>
            </a:xfrm>
            <a:prstGeom prst="line">
              <a:avLst/>
            </a:prstGeom>
            <a:ln w="38100" cap="flat" cmpd="sng">
              <a:solidFill>
                <a:srgbClr val="000099"/>
              </a:solidFill>
              <a:prstDash val="solid"/>
              <a:headEnd type="none" w="med" len="med"/>
              <a:tailEnd type="none" w="med" len="med"/>
            </a:ln>
          </p:spPr>
        </p:sp>
        <p:sp>
          <p:nvSpPr>
            <p:cNvPr id="97385" name="直接连接符 97384"/>
            <p:cNvSpPr/>
            <p:nvPr/>
          </p:nvSpPr>
          <p:spPr>
            <a:xfrm>
              <a:off x="4229" y="3105"/>
              <a:ext cx="1" cy="179"/>
            </a:xfrm>
            <a:prstGeom prst="line">
              <a:avLst/>
            </a:prstGeom>
            <a:ln w="38100" cap="flat" cmpd="sng">
              <a:solidFill>
                <a:srgbClr val="000099"/>
              </a:solidFill>
              <a:prstDash val="solid"/>
              <a:headEnd type="none" w="med" len="med"/>
              <a:tailEnd type="none" w="med" len="med"/>
            </a:ln>
          </p:spPr>
        </p:sp>
        <p:sp>
          <p:nvSpPr>
            <p:cNvPr id="97386" name="直接连接符 97385"/>
            <p:cNvSpPr/>
            <p:nvPr/>
          </p:nvSpPr>
          <p:spPr>
            <a:xfrm>
              <a:off x="4946" y="3105"/>
              <a:ext cx="1" cy="179"/>
            </a:xfrm>
            <a:prstGeom prst="line">
              <a:avLst/>
            </a:prstGeom>
            <a:ln w="38100" cap="flat" cmpd="sng">
              <a:solidFill>
                <a:srgbClr val="000099"/>
              </a:solidFill>
              <a:prstDash val="solid"/>
              <a:headEnd type="none" w="med" len="med"/>
              <a:tailEnd type="none" w="med" len="med"/>
            </a:ln>
          </p:spPr>
        </p:sp>
        <p:sp>
          <p:nvSpPr>
            <p:cNvPr id="97387" name="直接连接符 97386"/>
            <p:cNvSpPr/>
            <p:nvPr/>
          </p:nvSpPr>
          <p:spPr>
            <a:xfrm>
              <a:off x="3512" y="3105"/>
              <a:ext cx="717" cy="1"/>
            </a:xfrm>
            <a:prstGeom prst="line">
              <a:avLst/>
            </a:prstGeom>
            <a:ln w="38100" cap="flat" cmpd="sng">
              <a:solidFill>
                <a:srgbClr val="000099"/>
              </a:solidFill>
              <a:prstDash val="solid"/>
              <a:headEnd type="none" w="med" len="med"/>
              <a:tailEnd type="none" w="med" len="med"/>
            </a:ln>
          </p:spPr>
        </p:sp>
        <p:sp>
          <p:nvSpPr>
            <p:cNvPr id="97388" name="直接连接符 97387"/>
            <p:cNvSpPr/>
            <p:nvPr/>
          </p:nvSpPr>
          <p:spPr>
            <a:xfrm>
              <a:off x="4229" y="3105"/>
              <a:ext cx="717" cy="1"/>
            </a:xfrm>
            <a:prstGeom prst="line">
              <a:avLst/>
            </a:prstGeom>
            <a:ln w="38100" cap="flat" cmpd="sng">
              <a:solidFill>
                <a:srgbClr val="000099"/>
              </a:solidFill>
              <a:prstDash val="solid"/>
              <a:headEnd type="none" w="med" len="med"/>
              <a:tailEnd type="none" w="med" len="med"/>
            </a:ln>
          </p:spPr>
        </p:sp>
      </p:grpSp>
      <p:grpSp>
        <p:nvGrpSpPr>
          <p:cNvPr id="97389" name="组合 97388"/>
          <p:cNvGrpSpPr/>
          <p:nvPr/>
        </p:nvGrpSpPr>
        <p:grpSpPr>
          <a:xfrm>
            <a:off x="5219700" y="5456238"/>
            <a:ext cx="3175000" cy="636587"/>
            <a:chOff x="3229" y="3264"/>
            <a:chExt cx="2000" cy="401"/>
          </a:xfrm>
        </p:grpSpPr>
        <p:sp>
          <p:nvSpPr>
            <p:cNvPr id="97390" name="矩形 97389"/>
            <p:cNvSpPr/>
            <p:nvPr/>
          </p:nvSpPr>
          <p:spPr>
            <a:xfrm>
              <a:off x="3229" y="3284"/>
              <a:ext cx="566" cy="381"/>
            </a:xfrm>
            <a:prstGeom prst="rect">
              <a:avLst/>
            </a:prstGeom>
            <a:solidFill>
              <a:srgbClr val="FFFF66">
                <a:alpha val="31000"/>
              </a:srgbClr>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97391" name="矩形 97390"/>
            <p:cNvSpPr/>
            <p:nvPr/>
          </p:nvSpPr>
          <p:spPr>
            <a:xfrm>
              <a:off x="3264" y="3360"/>
              <a:ext cx="512" cy="230"/>
            </a:xfrm>
            <a:prstGeom prst="rect">
              <a:avLst/>
            </a:prstGeom>
            <a:solidFill>
              <a:srgbClr val="FFFF66">
                <a:alpha val="31000"/>
              </a:srgbClr>
            </a:solidFill>
            <a:ln w="9525">
              <a:noFill/>
            </a:ln>
          </p:spPr>
          <p:txBody>
            <a:bodyPr wrap="none" lIns="0" tIns="0" rIns="0" bIns="0">
              <a:spAutoFit/>
            </a:bodyPr>
            <a:p>
              <a:pPr>
                <a:spcBef>
                  <a:spcPct val="50000"/>
                </a:spcBef>
              </a:pPr>
              <a:r>
                <a:rPr lang="en-US" altLang="zh-CN" sz="2400" b="1">
                  <a:solidFill>
                    <a:srgbClr val="000099"/>
                  </a:solidFill>
                  <a:latin typeface="Times New Roman" panose="02020603050405020304" charset="0"/>
                  <a:ea typeface="楷体" panose="02010609060101010101" charset="-122"/>
                  <a:cs typeface="Times New Roman" panose="02020603050405020304" charset="0"/>
                </a:rPr>
                <a:t>EPLD</a:t>
              </a:r>
              <a:endParaRPr lang="en-US" altLang="zh-CN" sz="2400" b="1">
                <a:solidFill>
                  <a:srgbClr val="000099"/>
                </a:solidFill>
                <a:latin typeface="Times New Roman" panose="02020603050405020304" charset="0"/>
                <a:ea typeface="楷体" panose="02010609060101010101" charset="-122"/>
                <a:cs typeface="Times New Roman" panose="02020603050405020304" charset="0"/>
              </a:endParaRPr>
            </a:p>
          </p:txBody>
        </p:sp>
        <p:sp>
          <p:nvSpPr>
            <p:cNvPr id="97392" name="矩形 97391"/>
            <p:cNvSpPr/>
            <p:nvPr/>
          </p:nvSpPr>
          <p:spPr>
            <a:xfrm>
              <a:off x="3229" y="3284"/>
              <a:ext cx="566" cy="381"/>
            </a:xfrm>
            <a:prstGeom prst="rect">
              <a:avLst/>
            </a:prstGeom>
            <a:solidFill>
              <a:srgbClr val="FFFF66">
                <a:alpha val="31000"/>
              </a:srgbClr>
            </a:solidFill>
            <a:ln w="20638" cap="flat" cmpd="sng">
              <a:solidFill>
                <a:srgbClr val="808080"/>
              </a:solidFill>
              <a:prstDash val="solid"/>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97393" name="矩形 97392"/>
            <p:cNvSpPr/>
            <p:nvPr/>
          </p:nvSpPr>
          <p:spPr>
            <a:xfrm>
              <a:off x="3936" y="3264"/>
              <a:ext cx="566" cy="381"/>
            </a:xfrm>
            <a:prstGeom prst="rect">
              <a:avLst/>
            </a:prstGeom>
            <a:solidFill>
              <a:srgbClr val="FFFF66">
                <a:alpha val="31000"/>
              </a:srgbClr>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97394" name="矩形 97393"/>
            <p:cNvSpPr/>
            <p:nvPr/>
          </p:nvSpPr>
          <p:spPr>
            <a:xfrm>
              <a:off x="3984" y="3360"/>
              <a:ext cx="523" cy="230"/>
            </a:xfrm>
            <a:prstGeom prst="rect">
              <a:avLst/>
            </a:prstGeom>
            <a:solidFill>
              <a:srgbClr val="FFFF66">
                <a:alpha val="31000"/>
              </a:srgbClr>
            </a:solidFill>
            <a:ln w="9525">
              <a:noFill/>
            </a:ln>
          </p:spPr>
          <p:txBody>
            <a:bodyPr wrap="none" lIns="0" tIns="0" rIns="0" bIns="0">
              <a:spAutoFit/>
            </a:bodyPr>
            <a:p>
              <a:pPr>
                <a:spcBef>
                  <a:spcPct val="50000"/>
                </a:spcBef>
              </a:pPr>
              <a:r>
                <a:rPr lang="en-US" altLang="zh-CN" sz="2400" b="1">
                  <a:solidFill>
                    <a:srgbClr val="000099"/>
                  </a:solidFill>
                  <a:latin typeface="Times New Roman" panose="02020603050405020304" charset="0"/>
                  <a:ea typeface="楷体" panose="02010609060101010101" charset="-122"/>
                  <a:cs typeface="Times New Roman" panose="02020603050405020304" charset="0"/>
                </a:rPr>
                <a:t>CPLD</a:t>
              </a:r>
              <a:endParaRPr lang="en-US" altLang="zh-CN" sz="2400" b="1">
                <a:solidFill>
                  <a:srgbClr val="000099"/>
                </a:solidFill>
                <a:latin typeface="Times New Roman" panose="02020603050405020304" charset="0"/>
                <a:ea typeface="楷体" panose="02010609060101010101" charset="-122"/>
                <a:cs typeface="Times New Roman" panose="02020603050405020304" charset="0"/>
              </a:endParaRPr>
            </a:p>
          </p:txBody>
        </p:sp>
        <p:sp>
          <p:nvSpPr>
            <p:cNvPr id="97395" name="矩形 97394"/>
            <p:cNvSpPr/>
            <p:nvPr/>
          </p:nvSpPr>
          <p:spPr>
            <a:xfrm>
              <a:off x="3946" y="3284"/>
              <a:ext cx="566" cy="381"/>
            </a:xfrm>
            <a:prstGeom prst="rect">
              <a:avLst/>
            </a:prstGeom>
            <a:solidFill>
              <a:srgbClr val="FFFF66">
                <a:alpha val="31000"/>
              </a:srgbClr>
            </a:solidFill>
            <a:ln w="20638" cap="flat" cmpd="sng">
              <a:solidFill>
                <a:srgbClr val="808080"/>
              </a:solidFill>
              <a:prstDash val="solid"/>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97396" name="矩形 97395"/>
            <p:cNvSpPr/>
            <p:nvPr/>
          </p:nvSpPr>
          <p:spPr>
            <a:xfrm>
              <a:off x="4663" y="3284"/>
              <a:ext cx="566" cy="381"/>
            </a:xfrm>
            <a:prstGeom prst="rect">
              <a:avLst/>
            </a:prstGeom>
            <a:solidFill>
              <a:srgbClr val="FFFF66">
                <a:alpha val="31000"/>
              </a:srgbClr>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97397" name="矩形 97396"/>
            <p:cNvSpPr/>
            <p:nvPr/>
          </p:nvSpPr>
          <p:spPr>
            <a:xfrm>
              <a:off x="4704" y="3370"/>
              <a:ext cx="522" cy="230"/>
            </a:xfrm>
            <a:prstGeom prst="rect">
              <a:avLst/>
            </a:prstGeom>
            <a:solidFill>
              <a:srgbClr val="FFFF66">
                <a:alpha val="31000"/>
              </a:srgbClr>
            </a:solidFill>
            <a:ln w="9525">
              <a:noFill/>
            </a:ln>
          </p:spPr>
          <p:txBody>
            <a:bodyPr wrap="none" lIns="0" tIns="0" rIns="0" bIns="0">
              <a:spAutoFit/>
            </a:bodyPr>
            <a:p>
              <a:pPr>
                <a:spcBef>
                  <a:spcPct val="50000"/>
                </a:spcBef>
              </a:pPr>
              <a:r>
                <a:rPr lang="en-US" altLang="zh-CN" sz="2400" b="1">
                  <a:solidFill>
                    <a:srgbClr val="000099"/>
                  </a:solidFill>
                  <a:latin typeface="Times New Roman" panose="02020603050405020304" charset="0"/>
                  <a:ea typeface="楷体" panose="02010609060101010101" charset="-122"/>
                  <a:cs typeface="Times New Roman" panose="02020603050405020304" charset="0"/>
                </a:rPr>
                <a:t>FPGA</a:t>
              </a:r>
              <a:endParaRPr lang="en-US" altLang="zh-CN" sz="2400" b="1">
                <a:solidFill>
                  <a:srgbClr val="000099"/>
                </a:solidFill>
                <a:latin typeface="Times New Roman" panose="02020603050405020304" charset="0"/>
                <a:ea typeface="楷体" panose="02010609060101010101" charset="-122"/>
                <a:cs typeface="Times New Roman" panose="02020603050405020304" charset="0"/>
              </a:endParaRPr>
            </a:p>
          </p:txBody>
        </p:sp>
        <p:sp>
          <p:nvSpPr>
            <p:cNvPr id="97398" name="矩形 97397"/>
            <p:cNvSpPr/>
            <p:nvPr/>
          </p:nvSpPr>
          <p:spPr>
            <a:xfrm>
              <a:off x="4663" y="3284"/>
              <a:ext cx="566" cy="381"/>
            </a:xfrm>
            <a:prstGeom prst="rect">
              <a:avLst/>
            </a:prstGeom>
            <a:solidFill>
              <a:srgbClr val="FFFF66">
                <a:alpha val="31000"/>
              </a:srgbClr>
            </a:solidFill>
            <a:ln w="20638" cap="flat" cmpd="sng">
              <a:solidFill>
                <a:srgbClr val="808080"/>
              </a:solidFill>
              <a:prstDash val="solid"/>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grpSp>
      <p:grpSp>
        <p:nvGrpSpPr>
          <p:cNvPr id="97399" name="组合 97398"/>
          <p:cNvGrpSpPr/>
          <p:nvPr/>
        </p:nvGrpSpPr>
        <p:grpSpPr>
          <a:xfrm>
            <a:off x="5097463" y="3957638"/>
            <a:ext cx="3435350" cy="949325"/>
            <a:chOff x="3260" y="2304"/>
            <a:chExt cx="2164" cy="598"/>
          </a:xfrm>
        </p:grpSpPr>
        <p:sp>
          <p:nvSpPr>
            <p:cNvPr id="97400" name="矩形 97399"/>
            <p:cNvSpPr/>
            <p:nvPr/>
          </p:nvSpPr>
          <p:spPr>
            <a:xfrm>
              <a:off x="3260" y="2304"/>
              <a:ext cx="2164" cy="598"/>
            </a:xfrm>
            <a:prstGeom prst="rect">
              <a:avLst/>
            </a:prstGeom>
            <a:solidFill>
              <a:srgbClr val="FFFFFF">
                <a:alpha val="45000"/>
              </a:srgbClr>
            </a:solidFill>
            <a:ln w="9525">
              <a:noFill/>
            </a:ln>
          </p:spPr>
          <p:txBody>
            <a:bodyPr/>
            <a:p>
              <a:endParaRPr lang="zh-CN" altLang="en-US"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97401" name="矩形 97400"/>
            <p:cNvSpPr/>
            <p:nvPr/>
          </p:nvSpPr>
          <p:spPr>
            <a:xfrm>
              <a:off x="3317" y="2352"/>
              <a:ext cx="1928" cy="232"/>
            </a:xfrm>
            <a:prstGeom prst="rect">
              <a:avLst/>
            </a:prstGeom>
            <a:noFill/>
            <a:ln w="9525">
              <a:noFill/>
            </a:ln>
          </p:spPr>
          <p:txBody>
            <a:bodyPr wrap="none" lIns="0" tIns="0" rIns="0" bIns="0">
              <a:spAutoFit/>
            </a:bodyPr>
            <a:p>
              <a:pPr>
                <a:spcBef>
                  <a:spcPct val="50000"/>
                </a:spcBef>
              </a:pPr>
              <a:r>
                <a:rPr lang="zh-CN" altLang="en-US" sz="2400" b="1" dirty="0">
                  <a:solidFill>
                    <a:srgbClr val="000066"/>
                  </a:solidFill>
                  <a:latin typeface="Times New Roman" panose="02020603050405020304" charset="0"/>
                  <a:ea typeface="楷体" panose="02010609060101010101" charset="-122"/>
                </a:rPr>
                <a:t>高密度可编程逻辑器件</a:t>
              </a:r>
              <a:endParaRPr lang="zh-CN" altLang="en-US" sz="2400" b="1" dirty="0">
                <a:solidFill>
                  <a:srgbClr val="000066"/>
                </a:solidFill>
                <a:latin typeface="Times New Roman" panose="02020603050405020304" charset="0"/>
                <a:ea typeface="楷体" panose="02010609060101010101" charset="-122"/>
              </a:endParaRPr>
            </a:p>
          </p:txBody>
        </p:sp>
        <p:sp>
          <p:nvSpPr>
            <p:cNvPr id="97402" name="矩形 97401"/>
            <p:cNvSpPr/>
            <p:nvPr/>
          </p:nvSpPr>
          <p:spPr>
            <a:xfrm>
              <a:off x="3801" y="2623"/>
              <a:ext cx="1058" cy="232"/>
            </a:xfrm>
            <a:prstGeom prst="rect">
              <a:avLst/>
            </a:prstGeom>
            <a:noFill/>
            <a:ln w="9525">
              <a:noFill/>
            </a:ln>
          </p:spPr>
          <p:txBody>
            <a:bodyPr wrap="none" lIns="0" tIns="0" rIns="0" bIns="0">
              <a:spAutoFit/>
            </a:bodyPr>
            <a:p>
              <a:pPr>
                <a:spcBef>
                  <a:spcPct val="50000"/>
                </a:spcBef>
              </a:pPr>
              <a:r>
                <a:rPr lang="zh-CN" altLang="en-US" sz="2400" b="1">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HDPLD</a:t>
              </a:r>
              <a:r>
                <a:rPr lang="zh-CN" altLang="en-US" sz="2400" b="1">
                  <a:solidFill>
                    <a:srgbClr val="000066"/>
                  </a:solidFill>
                  <a:latin typeface="Times New Roman" panose="02020603050405020304" charset="0"/>
                  <a:ea typeface="楷体" panose="02010609060101010101" charset="-122"/>
                  <a:cs typeface="Times New Roman" panose="02020603050405020304" charset="0"/>
                </a:rPr>
                <a:t>）</a:t>
              </a:r>
              <a:endParaRPr lang="zh-CN" altLang="en-US" sz="24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97403" name="矩形 97402"/>
            <p:cNvSpPr/>
            <p:nvPr/>
          </p:nvSpPr>
          <p:spPr>
            <a:xfrm>
              <a:off x="3264" y="2304"/>
              <a:ext cx="2160" cy="597"/>
            </a:xfrm>
            <a:prstGeom prst="rect">
              <a:avLst/>
            </a:prstGeom>
            <a:solidFill>
              <a:srgbClr val="99CCFF">
                <a:alpha val="45000"/>
              </a:srgbClr>
            </a:solidFill>
            <a:ln w="20638" cap="flat" cmpd="sng">
              <a:solidFill>
                <a:srgbClr val="FF0000"/>
              </a:solidFill>
              <a:prstDash val="solid"/>
              <a:miter/>
              <a:headEnd type="none" w="med" len="med"/>
              <a:tailEnd type="none" w="med" len="med"/>
            </a:ln>
          </p:spPr>
          <p:txBody>
            <a:bodyPr/>
            <a:p>
              <a:endParaRPr lang="zh-CN" altLang="en-US" b="1">
                <a:solidFill>
                  <a:srgbClr val="000066"/>
                </a:solidFill>
                <a:latin typeface="Times New Roman" panose="02020603050405020304" charset="0"/>
                <a:ea typeface="楷体" panose="02010609060101010101" charset="-122"/>
                <a:cs typeface="Times New Roman" panose="02020603050405020304" charset="0"/>
              </a:endParaRPr>
            </a:p>
          </p:txBody>
        </p:sp>
      </p:grpSp>
      <p:grpSp>
        <p:nvGrpSpPr>
          <p:cNvPr id="97404" name="组合 97403"/>
          <p:cNvGrpSpPr/>
          <p:nvPr/>
        </p:nvGrpSpPr>
        <p:grpSpPr>
          <a:xfrm>
            <a:off x="3190875" y="2205038"/>
            <a:ext cx="2674938" cy="1149350"/>
            <a:chOff x="2059" y="1200"/>
            <a:chExt cx="1685" cy="724"/>
          </a:xfrm>
        </p:grpSpPr>
        <p:sp>
          <p:nvSpPr>
            <p:cNvPr id="97405" name="矩形 97404"/>
            <p:cNvSpPr/>
            <p:nvPr/>
          </p:nvSpPr>
          <p:spPr>
            <a:xfrm>
              <a:off x="2059" y="1209"/>
              <a:ext cx="1685" cy="715"/>
            </a:xfrm>
            <a:prstGeom prst="rect">
              <a:avLst/>
            </a:prstGeom>
            <a:solidFill>
              <a:srgbClr val="99CCFF">
                <a:alpha val="39000"/>
              </a:srgbClr>
            </a:solidFill>
            <a:ln w="9525">
              <a:noFill/>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97406" name="矩形 97405"/>
            <p:cNvSpPr/>
            <p:nvPr/>
          </p:nvSpPr>
          <p:spPr>
            <a:xfrm>
              <a:off x="2116" y="1279"/>
              <a:ext cx="1575" cy="269"/>
            </a:xfrm>
            <a:prstGeom prst="rect">
              <a:avLst/>
            </a:prstGeom>
            <a:noFill/>
            <a:ln w="9525">
              <a:noFill/>
            </a:ln>
          </p:spPr>
          <p:txBody>
            <a:bodyPr wrap="none" lIns="0" tIns="0" rIns="0" bIns="0">
              <a:spAutoFit/>
            </a:bodyPr>
            <a:p>
              <a:pPr>
                <a:spcBef>
                  <a:spcPct val="50000"/>
                </a:spcBef>
              </a:pPr>
              <a:r>
                <a:rPr lang="zh-CN" altLang="en-US" sz="2800" b="1" dirty="0">
                  <a:solidFill>
                    <a:srgbClr val="000066"/>
                  </a:solidFill>
                  <a:latin typeface="Times New Roman" panose="02020603050405020304" charset="0"/>
                  <a:ea typeface="楷体" panose="02010609060101010101" charset="-122"/>
                </a:rPr>
                <a:t>可编程逻辑器件</a:t>
              </a:r>
              <a:endParaRPr lang="zh-CN" altLang="en-US" sz="2800" b="1" dirty="0">
                <a:solidFill>
                  <a:srgbClr val="000066"/>
                </a:solidFill>
                <a:latin typeface="Times New Roman" panose="02020603050405020304" charset="0"/>
                <a:ea typeface="楷体" panose="02010609060101010101" charset="-122"/>
              </a:endParaRPr>
            </a:p>
          </p:txBody>
        </p:sp>
        <p:sp>
          <p:nvSpPr>
            <p:cNvPr id="97407" name="矩形 97406"/>
            <p:cNvSpPr/>
            <p:nvPr/>
          </p:nvSpPr>
          <p:spPr>
            <a:xfrm>
              <a:off x="2411" y="1566"/>
              <a:ext cx="898" cy="269"/>
            </a:xfrm>
            <a:prstGeom prst="rect">
              <a:avLst/>
            </a:prstGeom>
            <a:noFill/>
            <a:ln w="9525">
              <a:noFill/>
            </a:ln>
          </p:spPr>
          <p:txBody>
            <a:bodyPr wrap="none" lIns="0" tIns="0" rIns="0" bIns="0">
              <a:spAutoFit/>
            </a:bodyPr>
            <a:p>
              <a:pPr>
                <a:spcBef>
                  <a:spcPct val="50000"/>
                </a:spcBef>
              </a:pPr>
              <a:r>
                <a:rPr lang="zh-CN" altLang="en-US" sz="2800" b="1">
                  <a:solidFill>
                    <a:srgbClr val="800000"/>
                  </a:solidFill>
                  <a:latin typeface="Times New Roman" panose="02020603050405020304" charset="0"/>
                  <a:ea typeface="楷体" panose="02010609060101010101" charset="-122"/>
                  <a:cs typeface="Times New Roman" panose="02020603050405020304" charset="0"/>
                </a:rPr>
                <a:t>（</a:t>
              </a:r>
              <a:r>
                <a:rPr lang="en-US" altLang="zh-CN" sz="2800" b="1">
                  <a:solidFill>
                    <a:srgbClr val="800000"/>
                  </a:solidFill>
                  <a:latin typeface="Times New Roman" panose="02020603050405020304" charset="0"/>
                  <a:ea typeface="楷体" panose="02010609060101010101" charset="-122"/>
                  <a:cs typeface="Times New Roman" panose="02020603050405020304" charset="0"/>
                </a:rPr>
                <a:t>PLD</a:t>
              </a:r>
              <a:r>
                <a:rPr lang="zh-CN" altLang="en-US" sz="2800" b="1">
                  <a:solidFill>
                    <a:srgbClr val="800000"/>
                  </a:solidFill>
                  <a:latin typeface="Times New Roman" panose="02020603050405020304" charset="0"/>
                  <a:ea typeface="楷体" panose="02010609060101010101" charset="-122"/>
                  <a:cs typeface="Times New Roman" panose="02020603050405020304" charset="0"/>
                </a:rPr>
                <a:t>）</a:t>
              </a:r>
              <a:endParaRPr lang="zh-CN" altLang="en-US" sz="2800" b="1">
                <a:solidFill>
                  <a:srgbClr val="800000"/>
                </a:solidFill>
                <a:latin typeface="Times New Roman" panose="02020603050405020304" charset="0"/>
                <a:ea typeface="楷体" panose="02010609060101010101" charset="-122"/>
                <a:cs typeface="Times New Roman" panose="02020603050405020304" charset="0"/>
              </a:endParaRPr>
            </a:p>
          </p:txBody>
        </p:sp>
        <p:sp>
          <p:nvSpPr>
            <p:cNvPr id="97408" name="矩形 97407"/>
            <p:cNvSpPr/>
            <p:nvPr/>
          </p:nvSpPr>
          <p:spPr>
            <a:xfrm>
              <a:off x="2064" y="1200"/>
              <a:ext cx="1680" cy="715"/>
            </a:xfrm>
            <a:prstGeom prst="rect">
              <a:avLst/>
            </a:prstGeom>
            <a:noFill/>
            <a:ln w="20638" cap="flat" cmpd="sng">
              <a:solidFill>
                <a:srgbClr val="FF0000"/>
              </a:solidFill>
              <a:prstDash val="solid"/>
              <a:miter/>
              <a:headEnd type="none" w="med" len="med"/>
              <a:tailEnd type="none" w="med" len="med"/>
            </a:ln>
          </p:spPr>
          <p:txBody>
            <a:bodyPr/>
            <a:p>
              <a:endParaRPr lang="zh-CN" altLang="en-US">
                <a:latin typeface="Times New Roman" panose="02020603050405020304" charset="0"/>
                <a:ea typeface="楷体" panose="02010609060101010101" charset="-122"/>
                <a:cs typeface="Times New Roman" panose="02020603050405020304" charset="0"/>
              </a:endParaRPr>
            </a:p>
          </p:txBody>
        </p:sp>
      </p:grpSp>
      <p:sp>
        <p:nvSpPr>
          <p:cNvPr id="97409" name="矩形 97408"/>
          <p:cNvSpPr/>
          <p:nvPr/>
        </p:nvSpPr>
        <p:spPr>
          <a:xfrm>
            <a:off x="755650" y="1628775"/>
            <a:ext cx="5334000" cy="533400"/>
          </a:xfrm>
          <a:prstGeom prst="rect">
            <a:avLst/>
          </a:prstGeom>
          <a:noFill/>
          <a:ln w="9525">
            <a:noFill/>
          </a:ln>
        </p:spPr>
        <p:txBody>
          <a:bodyPr lIns="92075" tIns="46038" rIns="92075" bIns="46038"/>
          <a:p>
            <a:pPr algn="just">
              <a:buFont typeface="Monotype Sorts" pitchFamily="2" charset="2"/>
            </a:pPr>
            <a:r>
              <a:rPr lang="zh-CN" altLang="en-US" sz="2400" b="1" dirty="0">
                <a:solidFill>
                  <a:srgbClr val="1318F3"/>
                </a:solidFill>
                <a:latin typeface="Times New Roman" panose="02020603050405020304" charset="0"/>
                <a:ea typeface="楷体" panose="02010609060101010101" charset="-122"/>
              </a:rPr>
              <a:t>按集成密度划分为</a:t>
            </a:r>
            <a:endParaRPr lang="zh-CN" altLang="en-US" sz="2400" b="1" dirty="0">
              <a:solidFill>
                <a:srgbClr val="1318F3"/>
              </a:solidFill>
              <a:latin typeface="Times New Roman" panose="02020603050405020304" charset="0"/>
              <a:ea typeface="楷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97409"/>
                                        </p:tgtEl>
                                        <p:attrNameLst>
                                          <p:attrName>style.visibility</p:attrName>
                                        </p:attrNameLst>
                                      </p:cBhvr>
                                      <p:to>
                                        <p:strVal val="visible"/>
                                      </p:to>
                                    </p:set>
                                    <p:animEffect transition="in" filter="strips(downRight)">
                                      <p:cBhvr>
                                        <p:cTn id="7" dur="500"/>
                                        <p:tgtEl>
                                          <p:spTgt spid="9740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7404"/>
                                        </p:tgtEl>
                                        <p:attrNameLst>
                                          <p:attrName>style.visibility</p:attrName>
                                        </p:attrNameLst>
                                      </p:cBhvr>
                                      <p:to>
                                        <p:strVal val="visible"/>
                                      </p:to>
                                    </p:set>
                                    <p:animEffect transition="in" filter="wipe(up)">
                                      <p:cBhvr>
                                        <p:cTn id="12" dur="500"/>
                                        <p:tgtEl>
                                          <p:spTgt spid="9740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97348"/>
                                        </p:tgtEl>
                                        <p:attrNameLst>
                                          <p:attrName>style.visibility</p:attrName>
                                        </p:attrNameLst>
                                      </p:cBhvr>
                                      <p:to>
                                        <p:strVal val="visible"/>
                                      </p:to>
                                    </p:set>
                                    <p:animEffect transition="in" filter="wipe(up)">
                                      <p:cBhvr>
                                        <p:cTn id="17" dur="500"/>
                                        <p:tgtEl>
                                          <p:spTgt spid="9734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7377"/>
                                        </p:tgtEl>
                                        <p:attrNameLst>
                                          <p:attrName>style.visibility</p:attrName>
                                        </p:attrNameLst>
                                      </p:cBhvr>
                                      <p:to>
                                        <p:strVal val="visible"/>
                                      </p:to>
                                    </p:set>
                                    <p:animEffect transition="in" filter="wipe(up)">
                                      <p:cBhvr>
                                        <p:cTn id="22" dur="500"/>
                                        <p:tgtEl>
                                          <p:spTgt spid="9737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97399"/>
                                        </p:tgtEl>
                                        <p:attrNameLst>
                                          <p:attrName>style.visibility</p:attrName>
                                        </p:attrNameLst>
                                      </p:cBhvr>
                                      <p:to>
                                        <p:strVal val="visible"/>
                                      </p:to>
                                    </p:set>
                                    <p:animEffect transition="in" filter="wipe(up)">
                                      <p:cBhvr>
                                        <p:cTn id="27" dur="500"/>
                                        <p:tgtEl>
                                          <p:spTgt spid="9739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97354"/>
                                        </p:tgtEl>
                                        <p:attrNameLst>
                                          <p:attrName>style.visibility</p:attrName>
                                        </p:attrNameLst>
                                      </p:cBhvr>
                                      <p:to>
                                        <p:strVal val="visible"/>
                                      </p:to>
                                    </p:set>
                                    <p:animEffect transition="in" filter="wipe(up)">
                                      <p:cBhvr>
                                        <p:cTn id="32" dur="500"/>
                                        <p:tgtEl>
                                          <p:spTgt spid="9735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97411"/>
                                        </p:tgtEl>
                                        <p:attrNameLst>
                                          <p:attrName>style.visibility</p:attrName>
                                        </p:attrNameLst>
                                      </p:cBhvr>
                                      <p:to>
                                        <p:strVal val="visible"/>
                                      </p:to>
                                    </p:set>
                                    <p:animEffect transition="in" filter="wipe(up)">
                                      <p:cBhvr>
                                        <p:cTn id="37" dur="500"/>
                                        <p:tgtEl>
                                          <p:spTgt spid="974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97382"/>
                                        </p:tgtEl>
                                        <p:attrNameLst>
                                          <p:attrName>style.visibility</p:attrName>
                                        </p:attrNameLst>
                                      </p:cBhvr>
                                      <p:to>
                                        <p:strVal val="visible"/>
                                      </p:to>
                                    </p:set>
                                    <p:animEffect transition="in" filter="wipe(up)">
                                      <p:cBhvr>
                                        <p:cTn id="42" dur="500"/>
                                        <p:tgtEl>
                                          <p:spTgt spid="9738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97389"/>
                                        </p:tgtEl>
                                        <p:attrNameLst>
                                          <p:attrName>style.visibility</p:attrName>
                                        </p:attrNameLst>
                                      </p:cBhvr>
                                      <p:to>
                                        <p:strVal val="visible"/>
                                      </p:to>
                                    </p:set>
                                    <p:animEffect transition="in" filter="wipe(up)">
                                      <p:cBhvr>
                                        <p:cTn id="47" dur="500"/>
                                        <p:tgtEl>
                                          <p:spTgt spid="97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40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2971800" y="533400"/>
            <a:ext cx="398843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8.3 </a:t>
            </a:r>
            <a:r>
              <a:rPr lang="zh-CN" altLang="en-US" b="1" dirty="0">
                <a:solidFill>
                  <a:srgbClr val="FF0000"/>
                </a:solidFill>
                <a:latin typeface="黑体" panose="02010609060101010101" pitchFamily="49" charset="-122"/>
                <a:ea typeface="黑体" panose="02010609060101010101" pitchFamily="49" charset="-122"/>
              </a:rPr>
              <a:t>可编程逻辑</a:t>
            </a:r>
            <a:r>
              <a:rPr lang="zh-CN" altLang="en-US" b="1" dirty="0">
                <a:solidFill>
                  <a:srgbClr val="FF0000"/>
                </a:solidFill>
                <a:latin typeface="黑体" panose="02010609060101010101" pitchFamily="49" charset="-122"/>
                <a:ea typeface="黑体" panose="02010609060101010101" pitchFamily="49" charset="-122"/>
              </a:rPr>
              <a:t>器件</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97409" name="矩形 97408"/>
          <p:cNvSpPr/>
          <p:nvPr/>
        </p:nvSpPr>
        <p:spPr>
          <a:xfrm>
            <a:off x="991235" y="1219835"/>
            <a:ext cx="5334000" cy="533400"/>
          </a:xfrm>
          <a:prstGeom prst="rect">
            <a:avLst/>
          </a:prstGeom>
          <a:noFill/>
          <a:ln w="9525">
            <a:noFill/>
          </a:ln>
        </p:spPr>
        <p:txBody>
          <a:bodyPr lIns="92075" tIns="46038" rIns="92075" bIns="46038"/>
          <a:p>
            <a:pPr algn="just">
              <a:buFont typeface="Monotype Sorts" pitchFamily="2" charset="2"/>
            </a:pPr>
            <a:r>
              <a:rPr lang="zh-CN" altLang="en-US" sz="2400" b="1" dirty="0">
                <a:solidFill>
                  <a:srgbClr val="1318F3"/>
                </a:solidFill>
                <a:latin typeface="Times New Roman" panose="02020603050405020304" charset="0"/>
                <a:ea typeface="楷体" panose="02010609060101010101" charset="-122"/>
                <a:cs typeface="Times New Roman" panose="02020603050405020304" charset="0"/>
                <a:sym typeface="+mn-ea"/>
              </a:rPr>
              <a:t>按</a:t>
            </a:r>
            <a:r>
              <a:rPr lang="en-US" altLang="zh-CN" sz="2400" b="1">
                <a:solidFill>
                  <a:srgbClr val="1318F3"/>
                </a:solidFill>
                <a:latin typeface="Times New Roman" panose="02020603050405020304" charset="0"/>
                <a:ea typeface="楷体" panose="02010609060101010101" charset="-122"/>
                <a:cs typeface="Times New Roman" panose="02020603050405020304" charset="0"/>
                <a:sym typeface="+mn-ea"/>
              </a:rPr>
              <a:t>PLD</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sym typeface="+mn-ea"/>
              </a:rPr>
              <a:t>中的与、或阵列是否编程分</a:t>
            </a:r>
            <a:endParaRPr lang="zh-CN" altLang="en-US" sz="2400" b="1" dirty="0">
              <a:solidFill>
                <a:srgbClr val="1318F3"/>
              </a:solidFill>
              <a:latin typeface="Times New Roman" panose="02020603050405020304" charset="0"/>
              <a:ea typeface="楷体" panose="02010609060101010101" charset="-122"/>
              <a:cs typeface="Times New Roman" panose="02020603050405020304" charset="0"/>
              <a:sym typeface="+mn-ea"/>
            </a:endParaRPr>
          </a:p>
        </p:txBody>
      </p:sp>
      <p:pic>
        <p:nvPicPr>
          <p:cNvPr id="2" name="图片 1"/>
          <p:cNvPicPr>
            <a:picLocks noChangeAspect="1"/>
          </p:cNvPicPr>
          <p:nvPr/>
        </p:nvPicPr>
        <p:blipFill>
          <a:blip r:embed="rId1"/>
          <a:stretch>
            <a:fillRect/>
          </a:stretch>
        </p:blipFill>
        <p:spPr>
          <a:xfrm>
            <a:off x="457835" y="1753235"/>
            <a:ext cx="8347075" cy="3066415"/>
          </a:xfrm>
          <a:prstGeom prst="rect">
            <a:avLst/>
          </a:prstGeom>
        </p:spPr>
      </p:pic>
      <p:sp>
        <p:nvSpPr>
          <p:cNvPr id="98320" name="矩形 98319"/>
          <p:cNvSpPr/>
          <p:nvPr/>
        </p:nvSpPr>
        <p:spPr>
          <a:xfrm>
            <a:off x="467360" y="5332889"/>
            <a:ext cx="8208963" cy="414655"/>
          </a:xfrm>
          <a:prstGeom prst="rect">
            <a:avLst/>
          </a:prstGeom>
          <a:noFill/>
          <a:ln w="9525">
            <a:noFill/>
          </a:ln>
        </p:spPr>
        <p:txBody>
          <a:bodyPr bIns="0" anchor="ctr" anchorCtr="0">
            <a:spAutoFit/>
          </a:bodyPr>
          <a:p>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编程连接技术</a:t>
            </a:r>
            <a:r>
              <a:rPr lang="en-US" altLang="zh-CN" sz="2400" b="1">
                <a:solidFill>
                  <a:srgbClr val="000066"/>
                </a:solidFill>
                <a:latin typeface="Times New Roman" panose="02020603050405020304" charset="0"/>
                <a:ea typeface="楷体" panose="02010609060101010101" charset="-122"/>
                <a:cs typeface="Times New Roman" panose="02020603050405020304" charset="0"/>
              </a:rPr>
              <a:t>:</a:t>
            </a:r>
            <a:r>
              <a:rPr lang="zh-CN" altLang="en-US" sz="2400" b="1" dirty="0">
                <a:solidFill>
                  <a:srgbClr val="FF0000"/>
                </a:solidFill>
                <a:latin typeface="Times New Roman" panose="02020603050405020304" charset="0"/>
                <a:ea typeface="楷体" panose="02010609060101010101" charset="-122"/>
                <a:cs typeface="Times New Roman" panose="02020603050405020304" charset="0"/>
              </a:rPr>
              <a:t>同</a:t>
            </a:r>
            <a:r>
              <a:rPr lang="en-US" altLang="zh-CN" sz="2400" b="1">
                <a:solidFill>
                  <a:srgbClr val="FF0000"/>
                </a:solidFill>
                <a:latin typeface="Times New Roman" panose="02020603050405020304" charset="0"/>
                <a:ea typeface="楷体" panose="02010609060101010101" charset="-122"/>
                <a:cs typeface="Times New Roman" panose="02020603050405020304" charset="0"/>
              </a:rPr>
              <a:t>ROM</a:t>
            </a:r>
            <a:r>
              <a:rPr lang="zh-CN" altLang="en-US" sz="2400" b="1" dirty="0">
                <a:solidFill>
                  <a:srgbClr val="FF0000"/>
                </a:solidFill>
                <a:latin typeface="Times New Roman" panose="02020603050405020304" charset="0"/>
                <a:ea typeface="楷体" panose="02010609060101010101" charset="-122"/>
                <a:cs typeface="Times New Roman" panose="02020603050405020304" charset="0"/>
              </a:rPr>
              <a:t>的写入技术</a:t>
            </a:r>
            <a:endParaRPr lang="zh-CN" altLang="en-US" sz="2400" b="1" dirty="0">
              <a:solidFill>
                <a:srgbClr val="FF0000"/>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97409"/>
                                        </p:tgtEl>
                                        <p:attrNameLst>
                                          <p:attrName>style.visibility</p:attrName>
                                        </p:attrNameLst>
                                      </p:cBhvr>
                                      <p:to>
                                        <p:strVal val="visible"/>
                                      </p:to>
                                    </p:set>
                                    <p:animEffect transition="in" filter="strips(downRight)">
                                      <p:cBhvr>
                                        <p:cTn id="7" dur="500"/>
                                        <p:tgtEl>
                                          <p:spTgt spid="97409"/>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98320"/>
                                        </p:tgtEl>
                                        <p:attrNameLst>
                                          <p:attrName>style.visibility</p:attrName>
                                        </p:attrNameLst>
                                      </p:cBhvr>
                                      <p:to>
                                        <p:strVal val="visible"/>
                                      </p:to>
                                    </p:set>
                                    <p:animEffect transition="in" filter="slide(fromBottom)">
                                      <p:cBhvr>
                                        <p:cTn id="12" dur="500"/>
                                        <p:tgtEl>
                                          <p:spTgt spid="98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409" grpId="0"/>
      <p:bldP spid="9832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2971800" y="533400"/>
            <a:ext cx="398843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8.3 </a:t>
            </a:r>
            <a:r>
              <a:rPr lang="zh-CN" altLang="en-US" b="1" dirty="0">
                <a:solidFill>
                  <a:srgbClr val="FF0000"/>
                </a:solidFill>
                <a:latin typeface="黑体" panose="02010609060101010101" pitchFamily="49" charset="-122"/>
                <a:ea typeface="黑体" panose="02010609060101010101" pitchFamily="49" charset="-122"/>
              </a:rPr>
              <a:t>可编程逻辑</a:t>
            </a:r>
            <a:r>
              <a:rPr lang="zh-CN" altLang="en-US" b="1" dirty="0">
                <a:solidFill>
                  <a:srgbClr val="FF0000"/>
                </a:solidFill>
                <a:latin typeface="黑体" panose="02010609060101010101" pitchFamily="49" charset="-122"/>
                <a:ea typeface="黑体" panose="02010609060101010101" pitchFamily="49" charset="-122"/>
              </a:rPr>
              <a:t>器件</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762000" y="1143000"/>
            <a:ext cx="8068945"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8.3.2 </a:t>
            </a:r>
            <a:r>
              <a:rPr lang="zh-CN" altLang="en-US" sz="2800" i="0" dirty="0">
                <a:solidFill>
                  <a:srgbClr val="0070C0"/>
                </a:solidFill>
                <a:latin typeface="黑体" panose="02010609060101010101" pitchFamily="49" charset="-122"/>
                <a:ea typeface="黑体" panose="02010609060101010101" pitchFamily="49" charset="-122"/>
              </a:rPr>
              <a:t>可编程逻辑器件的应用</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364563" name="矩形 364562"/>
          <p:cNvSpPr/>
          <p:nvPr/>
        </p:nvSpPr>
        <p:spPr>
          <a:xfrm>
            <a:off x="228600" y="1752918"/>
            <a:ext cx="8543925" cy="1420495"/>
          </a:xfrm>
          <a:prstGeom prst="rect">
            <a:avLst/>
          </a:prstGeom>
          <a:noFill/>
          <a:ln w="9525">
            <a:noFill/>
          </a:ln>
        </p:spPr>
        <p:txBody>
          <a:bodyPr wrap="square" anchor="ctr" anchorCtr="0">
            <a:spAutoFit/>
          </a:bodyPr>
          <a:p>
            <a:pPr algn="l">
              <a:lnSpc>
                <a:spcPct val="120000"/>
              </a:lnSpc>
            </a:pPr>
            <a:r>
              <a:rPr lang="en-US" altLang="zh-CN" sz="2400" b="1" dirty="0">
                <a:solidFill>
                  <a:srgbClr val="000066"/>
                </a:solidFill>
                <a:latin typeface="Times New Roman" panose="02020603050405020304" charset="0"/>
                <a:ea typeface="楷体" panose="02010609060101010101" charset="-122"/>
              </a:rPr>
              <a:t>      </a:t>
            </a:r>
            <a:r>
              <a:rPr lang="zh-CN" altLang="en-US" sz="2400" b="1" dirty="0">
                <a:solidFill>
                  <a:srgbClr val="000066"/>
                </a:solidFill>
                <a:latin typeface="Times New Roman" panose="02020603050405020304" charset="0"/>
                <a:ea typeface="楷体" panose="02010609060101010101" charset="-122"/>
              </a:rPr>
              <a:t>PLD主要由与阵列和或阵列构成，可以实现与逻辑和或逻辑运算，而任意的组合逻辑表达式都可以表示成“与-或”形式，因此，可以利用PLD实现任意逻辑函数。</a:t>
            </a:r>
            <a:endParaRPr lang="zh-CN" altLang="en-US" sz="2400" b="1" dirty="0">
              <a:solidFill>
                <a:srgbClr val="000066"/>
              </a:solidFill>
              <a:latin typeface="Times New Roman" panose="02020603050405020304" charset="0"/>
              <a:ea typeface="楷体" panose="02010609060101010101" charset="-122"/>
            </a:endParaRPr>
          </a:p>
        </p:txBody>
      </p:sp>
      <p:sp>
        <p:nvSpPr>
          <p:cNvPr id="2" name="矩形 1"/>
          <p:cNvSpPr/>
          <p:nvPr/>
        </p:nvSpPr>
        <p:spPr>
          <a:xfrm>
            <a:off x="287020" y="3276918"/>
            <a:ext cx="8543925" cy="534035"/>
          </a:xfrm>
          <a:prstGeom prst="rect">
            <a:avLst/>
          </a:prstGeom>
          <a:noFill/>
          <a:ln w="9525">
            <a:noFill/>
          </a:ln>
        </p:spPr>
        <p:txBody>
          <a:bodyPr wrap="square" anchor="ctr" anchorCtr="0">
            <a:spAutoFit/>
          </a:bodyPr>
          <a:p>
            <a:pPr algn="l">
              <a:lnSpc>
                <a:spcPct val="120000"/>
              </a:lnSpc>
            </a:pPr>
            <a:r>
              <a:rPr sz="2400" b="1" dirty="0">
                <a:solidFill>
                  <a:srgbClr val="FE09D6"/>
                </a:solidFill>
                <a:latin typeface="Times New Roman" panose="02020603050405020304" charset="0"/>
                <a:ea typeface="楷体" panose="02010609060101010101" charset="-122"/>
              </a:rPr>
              <a:t>1.可编程只读存储器PROM</a:t>
            </a:r>
            <a:endParaRPr sz="2400" b="1" dirty="0">
              <a:solidFill>
                <a:srgbClr val="FE09D6"/>
              </a:solidFill>
              <a:latin typeface="Times New Roman" panose="02020603050405020304" charset="0"/>
              <a:ea typeface="楷体" panose="02010609060101010101" charset="-122"/>
            </a:endParaRPr>
          </a:p>
        </p:txBody>
      </p:sp>
      <p:sp>
        <p:nvSpPr>
          <p:cNvPr id="3" name="矩形 2"/>
          <p:cNvSpPr/>
          <p:nvPr/>
        </p:nvSpPr>
        <p:spPr>
          <a:xfrm>
            <a:off x="304800" y="4038918"/>
            <a:ext cx="8543925" cy="1420495"/>
          </a:xfrm>
          <a:prstGeom prst="rect">
            <a:avLst/>
          </a:prstGeom>
          <a:noFill/>
          <a:ln w="9525">
            <a:noFill/>
          </a:ln>
        </p:spPr>
        <p:txBody>
          <a:bodyPr wrap="square" anchor="ctr" anchorCtr="0">
            <a:spAutoFit/>
          </a:bodyPr>
          <a:p>
            <a:pPr algn="l">
              <a:lnSpc>
                <a:spcPct val="120000"/>
              </a:lnSpc>
            </a:pPr>
            <a:r>
              <a:rPr lang="en-US" altLang="zh-CN" sz="2400" b="1" dirty="0">
                <a:solidFill>
                  <a:srgbClr val="000066"/>
                </a:solidFill>
                <a:latin typeface="Times New Roman" panose="02020603050405020304" charset="0"/>
                <a:ea typeface="楷体" panose="02010609060101010101" charset="-122"/>
              </a:rPr>
              <a:t>      </a:t>
            </a:r>
            <a:r>
              <a:rPr lang="zh-CN" altLang="en-US" sz="2400" b="1" dirty="0">
                <a:solidFill>
                  <a:srgbClr val="000066"/>
                </a:solidFill>
                <a:latin typeface="Times New Roman" panose="02020603050405020304" charset="0"/>
                <a:ea typeface="楷体" panose="02010609060101010101" charset="-122"/>
              </a:rPr>
              <a:t>用PROM进行组合逻辑电路设计时，因为与阵列固定，为输入变量的所有最小项，所以设计时需要用列真值表或写最小项表达式的方式确定各存储单元的值，如例8</a:t>
            </a:r>
            <a:r>
              <a:rPr lang="en-US" altLang="zh-CN" sz="2400" b="1" dirty="0">
                <a:solidFill>
                  <a:srgbClr val="000066"/>
                </a:solidFill>
                <a:latin typeface="Times New Roman" panose="02020603050405020304" charset="0"/>
                <a:ea typeface="楷体" panose="02010609060101010101" charset="-122"/>
              </a:rPr>
              <a:t>-</a:t>
            </a:r>
            <a:r>
              <a:rPr lang="zh-CN" altLang="en-US" sz="2400" b="1" dirty="0">
                <a:solidFill>
                  <a:srgbClr val="000066"/>
                </a:solidFill>
                <a:latin typeface="Times New Roman" panose="02020603050405020304" charset="0"/>
                <a:ea typeface="楷体" panose="02010609060101010101" charset="-122"/>
              </a:rPr>
              <a:t>2所示。</a:t>
            </a:r>
            <a:endParaRPr lang="zh-CN" altLang="en-US" sz="2400" b="1" dirty="0">
              <a:solidFill>
                <a:srgbClr val="000066"/>
              </a:solidFill>
              <a:latin typeface="Times New Roman" panose="02020603050405020304" charset="0"/>
              <a:ea typeface="楷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64563"/>
                                        </p:tgtEl>
                                        <p:attrNameLst>
                                          <p:attrName>style.visibility</p:attrName>
                                        </p:attrNameLst>
                                      </p:cBhvr>
                                      <p:to>
                                        <p:strVal val="visible"/>
                                      </p:to>
                                    </p:set>
                                    <p:animEffect transition="in" filter="wipe(down)">
                                      <p:cBhvr>
                                        <p:cTn id="7" dur="500"/>
                                        <p:tgtEl>
                                          <p:spTgt spid="3645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63" grpId="0"/>
      <p:bldP spid="364563" grpId="1"/>
      <p:bldP spid="2" grpId="0"/>
      <p:bldP spid="2" grpId="1"/>
      <p:bldP spid="3" grpId="0"/>
      <p:bldP spid="3" grpId="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2971800" y="533400"/>
            <a:ext cx="398843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8.3 </a:t>
            </a:r>
            <a:r>
              <a:rPr lang="zh-CN" altLang="en-US" b="1" dirty="0">
                <a:solidFill>
                  <a:srgbClr val="FF0000"/>
                </a:solidFill>
                <a:latin typeface="黑体" panose="02010609060101010101" pitchFamily="49" charset="-122"/>
                <a:ea typeface="黑体" panose="02010609060101010101" pitchFamily="49" charset="-122"/>
              </a:rPr>
              <a:t>可编程逻辑</a:t>
            </a:r>
            <a:r>
              <a:rPr lang="zh-CN" altLang="en-US" b="1" dirty="0">
                <a:solidFill>
                  <a:srgbClr val="FF0000"/>
                </a:solidFill>
                <a:latin typeface="黑体" panose="02010609060101010101" pitchFamily="49" charset="-122"/>
                <a:ea typeface="黑体" panose="02010609060101010101" pitchFamily="49" charset="-122"/>
              </a:rPr>
              <a:t>器件</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2" name="矩形 1"/>
          <p:cNvSpPr/>
          <p:nvPr/>
        </p:nvSpPr>
        <p:spPr>
          <a:xfrm>
            <a:off x="990600" y="1219518"/>
            <a:ext cx="8543925" cy="534035"/>
          </a:xfrm>
          <a:prstGeom prst="rect">
            <a:avLst/>
          </a:prstGeom>
          <a:noFill/>
          <a:ln w="9525">
            <a:noFill/>
          </a:ln>
        </p:spPr>
        <p:txBody>
          <a:bodyPr wrap="square" anchor="ctr" anchorCtr="0">
            <a:spAutoFit/>
          </a:bodyPr>
          <a:p>
            <a:pPr algn="l">
              <a:lnSpc>
                <a:spcPct val="120000"/>
              </a:lnSpc>
            </a:pPr>
            <a:r>
              <a:rPr lang="en-US" sz="2400" b="1" dirty="0">
                <a:solidFill>
                  <a:srgbClr val="FE09D6"/>
                </a:solidFill>
                <a:latin typeface="Times New Roman" panose="02020603050405020304" charset="0"/>
                <a:ea typeface="楷体" panose="02010609060101010101" charset="-122"/>
              </a:rPr>
              <a:t>2</a:t>
            </a:r>
            <a:r>
              <a:rPr sz="2400" b="1" dirty="0">
                <a:solidFill>
                  <a:srgbClr val="FE09D6"/>
                </a:solidFill>
                <a:latin typeface="Times New Roman" panose="02020603050405020304" charset="0"/>
                <a:ea typeface="楷体" panose="02010609060101010101" charset="-122"/>
              </a:rPr>
              <a:t>.可编程逻辑阵列PLA</a:t>
            </a:r>
            <a:endParaRPr sz="2400" b="1" dirty="0">
              <a:solidFill>
                <a:srgbClr val="FE09D6"/>
              </a:solidFill>
              <a:latin typeface="Times New Roman" panose="02020603050405020304" charset="0"/>
              <a:ea typeface="楷体" panose="02010609060101010101" charset="-122"/>
            </a:endParaRPr>
          </a:p>
        </p:txBody>
      </p:sp>
      <p:sp>
        <p:nvSpPr>
          <p:cNvPr id="3" name="矩形 2"/>
          <p:cNvSpPr/>
          <p:nvPr/>
        </p:nvSpPr>
        <p:spPr>
          <a:xfrm>
            <a:off x="381000" y="1676718"/>
            <a:ext cx="8543925" cy="1420495"/>
          </a:xfrm>
          <a:prstGeom prst="rect">
            <a:avLst/>
          </a:prstGeom>
          <a:noFill/>
          <a:ln w="9525">
            <a:noFill/>
          </a:ln>
        </p:spPr>
        <p:txBody>
          <a:bodyPr wrap="square" anchor="ctr" anchorCtr="0">
            <a:spAutoFit/>
          </a:bodyPr>
          <a:p>
            <a:pPr algn="l">
              <a:lnSpc>
                <a:spcPct val="120000"/>
              </a:lnSpc>
            </a:pPr>
            <a:r>
              <a:rPr lang="en-US" altLang="zh-CN" sz="2400" b="1" dirty="0">
                <a:solidFill>
                  <a:srgbClr val="000066"/>
                </a:solidFill>
                <a:latin typeface="Times New Roman" panose="02020603050405020304" charset="0"/>
                <a:ea typeface="楷体" panose="02010609060101010101" charset="-122"/>
              </a:rPr>
              <a:t>      </a:t>
            </a:r>
            <a:r>
              <a:rPr sz="2400" b="1" dirty="0">
                <a:solidFill>
                  <a:srgbClr val="000066"/>
                </a:solidFill>
                <a:latin typeface="Times New Roman" panose="02020603050405020304" charset="0"/>
                <a:ea typeface="楷体" panose="02010609060101010101" charset="-122"/>
              </a:rPr>
              <a:t>用PLA进行组合逻辑电路设计时，只要将函数转换成最简与或式，由与阵列产生与项，或阵列将这些与项进行或运算即可得到需要的逻辑函数。</a:t>
            </a:r>
            <a:endParaRPr sz="2400" b="1" dirty="0">
              <a:solidFill>
                <a:srgbClr val="000066"/>
              </a:solidFill>
              <a:latin typeface="Times New Roman" panose="02020603050405020304" charset="0"/>
              <a:ea typeface="楷体" panose="02010609060101010101" charset="-122"/>
            </a:endParaRPr>
          </a:p>
        </p:txBody>
      </p:sp>
      <p:sp>
        <p:nvSpPr>
          <p:cNvPr id="5" name="矩形 4"/>
          <p:cNvSpPr/>
          <p:nvPr/>
        </p:nvSpPr>
        <p:spPr>
          <a:xfrm>
            <a:off x="457200" y="3048318"/>
            <a:ext cx="8543925" cy="977265"/>
          </a:xfrm>
          <a:prstGeom prst="rect">
            <a:avLst/>
          </a:prstGeom>
          <a:noFill/>
          <a:ln w="9525">
            <a:noFill/>
          </a:ln>
        </p:spPr>
        <p:txBody>
          <a:bodyPr wrap="square" anchor="ctr" anchorCtr="0">
            <a:spAutoFit/>
          </a:bodyPr>
          <a:p>
            <a:pPr algn="l">
              <a:lnSpc>
                <a:spcPct val="120000"/>
              </a:lnSpc>
            </a:pPr>
            <a:r>
              <a:rPr lang="en-US" altLang="zh-CN" sz="2400" b="1" dirty="0">
                <a:solidFill>
                  <a:srgbClr val="000066"/>
                </a:solidFill>
                <a:latin typeface="Times New Roman" panose="02020603050405020304" charset="0"/>
                <a:ea typeface="楷体" panose="02010609060101010101" charset="-122"/>
              </a:rPr>
              <a:t>   </a:t>
            </a:r>
            <a:r>
              <a:rPr sz="2400" b="1" dirty="0">
                <a:solidFill>
                  <a:srgbClr val="000066"/>
                </a:solidFill>
                <a:latin typeface="Times New Roman" panose="02020603050405020304" charset="0"/>
                <a:ea typeface="楷体" panose="02010609060101010101" charset="-122"/>
              </a:rPr>
              <a:t>【例8</a:t>
            </a:r>
            <a:r>
              <a:rPr lang="en-US" sz="2400" b="1" dirty="0">
                <a:solidFill>
                  <a:srgbClr val="000066"/>
                </a:solidFill>
                <a:latin typeface="Times New Roman" panose="02020603050405020304" charset="0"/>
                <a:ea typeface="楷体" panose="02010609060101010101" charset="-122"/>
              </a:rPr>
              <a:t>-</a:t>
            </a:r>
            <a:r>
              <a:rPr sz="2400" b="1" dirty="0">
                <a:solidFill>
                  <a:srgbClr val="000066"/>
                </a:solidFill>
                <a:latin typeface="Times New Roman" panose="02020603050405020304" charset="0"/>
                <a:ea typeface="楷体" panose="02010609060101010101" charset="-122"/>
              </a:rPr>
              <a:t>5】用PLA设计一个4位二进制码转换为格雷码的代码转换电路。</a:t>
            </a:r>
            <a:endParaRPr sz="2400" b="1" dirty="0">
              <a:solidFill>
                <a:srgbClr val="000066"/>
              </a:solidFill>
              <a:latin typeface="Times New Roman" panose="02020603050405020304" charset="0"/>
              <a:ea typeface="楷体" panose="02010609060101010101" charset="-122"/>
            </a:endParaRPr>
          </a:p>
        </p:txBody>
      </p:sp>
      <p:sp>
        <p:nvSpPr>
          <p:cNvPr id="6" name="矩形 5"/>
          <p:cNvSpPr/>
          <p:nvPr/>
        </p:nvSpPr>
        <p:spPr>
          <a:xfrm>
            <a:off x="152400" y="3963035"/>
            <a:ext cx="8839200" cy="534035"/>
          </a:xfrm>
          <a:prstGeom prst="rect">
            <a:avLst/>
          </a:prstGeom>
          <a:noFill/>
          <a:ln w="9525">
            <a:noFill/>
          </a:ln>
        </p:spPr>
        <p:txBody>
          <a:bodyPr wrap="square" anchor="ctr" anchorCtr="0">
            <a:spAutoFit/>
          </a:bodyPr>
          <a:p>
            <a:pPr algn="l">
              <a:lnSpc>
                <a:spcPct val="120000"/>
              </a:lnSpc>
            </a:pPr>
            <a:r>
              <a:rPr sz="2400" b="1" dirty="0">
                <a:solidFill>
                  <a:srgbClr val="000066"/>
                </a:solidFill>
                <a:latin typeface="Times New Roman" panose="02020603050405020304" charset="0"/>
                <a:ea typeface="楷体" panose="02010609060101010101" charset="-122"/>
              </a:rPr>
              <a:t>解：由表8</a:t>
            </a:r>
            <a:r>
              <a:rPr lang="en-US" sz="2400" b="1" dirty="0">
                <a:solidFill>
                  <a:srgbClr val="000066"/>
                </a:solidFill>
                <a:latin typeface="Times New Roman" panose="02020603050405020304" charset="0"/>
                <a:ea typeface="楷体" panose="02010609060101010101" charset="-122"/>
              </a:rPr>
              <a:t>-2</a:t>
            </a:r>
            <a:r>
              <a:rPr sz="2400" b="1" dirty="0">
                <a:solidFill>
                  <a:srgbClr val="000066"/>
                </a:solidFill>
                <a:latin typeface="Times New Roman" panose="02020603050405020304" charset="0"/>
                <a:ea typeface="楷体" panose="02010609060101010101" charset="-122"/>
              </a:rPr>
              <a:t>所示，用卡诺图化简得到输出函数的最简与或式为：</a:t>
            </a:r>
            <a:endParaRPr sz="2400" b="1" dirty="0">
              <a:solidFill>
                <a:srgbClr val="000066"/>
              </a:solidFill>
              <a:latin typeface="Times New Roman" panose="02020603050405020304" charset="0"/>
              <a:ea typeface="楷体" panose="02010609060101010101" charset="-122"/>
            </a:endParaRPr>
          </a:p>
        </p:txBody>
      </p:sp>
      <p:pic>
        <p:nvPicPr>
          <p:cNvPr id="7" name="图片 6"/>
          <p:cNvPicPr>
            <a:picLocks noChangeAspect="1"/>
          </p:cNvPicPr>
          <p:nvPr>
            <p:custDataLst>
              <p:tags r:id="rId1"/>
            </p:custDataLst>
          </p:nvPr>
        </p:nvPicPr>
        <p:blipFill>
          <a:blip r:embed="rId2"/>
          <a:stretch>
            <a:fillRect/>
          </a:stretch>
        </p:blipFill>
        <p:spPr>
          <a:xfrm>
            <a:off x="3124200" y="4496435"/>
            <a:ext cx="1905000" cy="17830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5" grpId="0"/>
      <p:bldP spid="5" grpId="1"/>
      <p:bldP spid="6" grpId="0"/>
      <p:bldP spid="6" grpId="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2971800" y="533400"/>
            <a:ext cx="398843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8.3 </a:t>
            </a:r>
            <a:r>
              <a:rPr lang="zh-CN" altLang="en-US" b="1" dirty="0">
                <a:solidFill>
                  <a:srgbClr val="FF0000"/>
                </a:solidFill>
                <a:latin typeface="黑体" panose="02010609060101010101" pitchFamily="49" charset="-122"/>
                <a:ea typeface="黑体" panose="02010609060101010101" pitchFamily="49" charset="-122"/>
              </a:rPr>
              <a:t>可编程逻辑</a:t>
            </a:r>
            <a:r>
              <a:rPr lang="zh-CN" altLang="en-US" b="1" dirty="0">
                <a:solidFill>
                  <a:srgbClr val="FF0000"/>
                </a:solidFill>
                <a:latin typeface="黑体" panose="02010609060101010101" pitchFamily="49" charset="-122"/>
                <a:ea typeface="黑体" panose="02010609060101010101" pitchFamily="49" charset="-122"/>
              </a:rPr>
              <a:t>器件</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3" name="矩形 2"/>
          <p:cNvSpPr/>
          <p:nvPr/>
        </p:nvSpPr>
        <p:spPr>
          <a:xfrm>
            <a:off x="229235" y="1295718"/>
            <a:ext cx="8543925" cy="460375"/>
          </a:xfrm>
          <a:prstGeom prst="rect">
            <a:avLst/>
          </a:prstGeom>
          <a:noFill/>
          <a:ln w="9525">
            <a:noFill/>
          </a:ln>
        </p:spPr>
        <p:txBody>
          <a:bodyPr wrap="square" anchor="ctr" anchorCtr="0">
            <a:spAutoFit/>
          </a:bodyPr>
          <a:p>
            <a:pPr algn="l">
              <a:lnSpc>
                <a:spcPct val="120000"/>
              </a:lnSpc>
            </a:pPr>
            <a:r>
              <a:rPr lang="zh-CN" altLang="en-US" sz="2000" b="1">
                <a:solidFill>
                  <a:srgbClr val="000066"/>
                </a:solidFill>
                <a:latin typeface="Times New Roman" panose="02020603050405020304" charset="0"/>
                <a:ea typeface="楷体" panose="02010609060101010101" charset="-122"/>
                <a:cs typeface="Times New Roman" panose="02020603050405020304" charset="0"/>
                <a:sym typeface="+mn-ea"/>
              </a:rPr>
              <a:t>编程后的逻辑图如图</a:t>
            </a:r>
            <a:r>
              <a:rPr lang="en-US" altLang="zh-CN" sz="2000" b="1">
                <a:solidFill>
                  <a:srgbClr val="000066"/>
                </a:solidFill>
                <a:latin typeface="Times New Roman" panose="02020603050405020304" charset="0"/>
                <a:ea typeface="楷体" panose="02010609060101010101" charset="-122"/>
                <a:cs typeface="Times New Roman" panose="02020603050405020304" charset="0"/>
                <a:sym typeface="+mn-ea"/>
              </a:rPr>
              <a:t>8-20</a:t>
            </a:r>
            <a:r>
              <a:rPr lang="zh-CN" altLang="en-US" sz="2000" b="1">
                <a:solidFill>
                  <a:srgbClr val="000066"/>
                </a:solidFill>
                <a:latin typeface="Times New Roman" panose="02020603050405020304" charset="0"/>
                <a:ea typeface="楷体" panose="02010609060101010101" charset="-122"/>
                <a:cs typeface="Times New Roman" panose="02020603050405020304" charset="0"/>
                <a:sym typeface="+mn-ea"/>
              </a:rPr>
              <a:t>所示</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mn-ea"/>
            </a:endParaRPr>
          </a:p>
        </p:txBody>
      </p:sp>
      <p:sp>
        <p:nvSpPr>
          <p:cNvPr id="5" name="矩形 4"/>
          <p:cNvSpPr/>
          <p:nvPr/>
        </p:nvSpPr>
        <p:spPr>
          <a:xfrm>
            <a:off x="299720" y="4724718"/>
            <a:ext cx="8543925" cy="1420495"/>
          </a:xfrm>
          <a:prstGeom prst="rect">
            <a:avLst/>
          </a:prstGeom>
          <a:noFill/>
          <a:ln w="9525">
            <a:noFill/>
          </a:ln>
        </p:spPr>
        <p:txBody>
          <a:bodyPr wrap="square" anchor="ctr" anchorCtr="0">
            <a:spAutoFit/>
          </a:bodyPr>
          <a:p>
            <a:pPr algn="l">
              <a:lnSpc>
                <a:spcPct val="120000"/>
              </a:lnSpc>
            </a:pPr>
            <a:r>
              <a:rPr lang="en-US" altLang="zh-CN" sz="2400" b="1" dirty="0">
                <a:solidFill>
                  <a:srgbClr val="000066"/>
                </a:solidFill>
                <a:latin typeface="Times New Roman" panose="02020603050405020304" charset="0"/>
                <a:ea typeface="楷体" panose="02010609060101010101" charset="-122"/>
              </a:rPr>
              <a:t>    </a:t>
            </a:r>
            <a:r>
              <a:rPr sz="2400" b="1" dirty="0">
                <a:solidFill>
                  <a:srgbClr val="000066"/>
                </a:solidFill>
                <a:latin typeface="Times New Roman" panose="02020603050405020304" charset="0"/>
                <a:ea typeface="楷体" panose="02010609060101010101" charset="-122"/>
              </a:rPr>
              <a:t>可以看出，同样的4位代码转换电路设计，用PLA输出的位线只有7根，而PROM则由16根，很明显，PLA相较于PROM，其大大提高了芯片的利用率。</a:t>
            </a:r>
            <a:endParaRPr sz="2400" b="1" dirty="0">
              <a:solidFill>
                <a:srgbClr val="000066"/>
              </a:solidFill>
              <a:latin typeface="Times New Roman" panose="02020603050405020304" charset="0"/>
              <a:ea typeface="楷体" panose="02010609060101010101" charset="-122"/>
            </a:endParaRPr>
          </a:p>
        </p:txBody>
      </p:sp>
      <p:pic>
        <p:nvPicPr>
          <p:cNvPr id="9" name="图片 8"/>
          <p:cNvPicPr>
            <a:picLocks noChangeAspect="1"/>
          </p:cNvPicPr>
          <p:nvPr/>
        </p:nvPicPr>
        <p:blipFill>
          <a:blip r:embed="rId1"/>
          <a:stretch>
            <a:fillRect/>
          </a:stretch>
        </p:blipFill>
        <p:spPr>
          <a:xfrm>
            <a:off x="4267835" y="1296035"/>
            <a:ext cx="4181475" cy="33978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5" grpId="0"/>
      <p:bldP spid="5"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2971800" y="533400"/>
            <a:ext cx="398843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8.3 </a:t>
            </a:r>
            <a:r>
              <a:rPr lang="zh-CN" altLang="en-US" b="1" dirty="0">
                <a:solidFill>
                  <a:srgbClr val="FF0000"/>
                </a:solidFill>
                <a:latin typeface="黑体" panose="02010609060101010101" pitchFamily="49" charset="-122"/>
                <a:ea typeface="黑体" panose="02010609060101010101" pitchFamily="49" charset="-122"/>
              </a:rPr>
              <a:t>可编程逻辑</a:t>
            </a:r>
            <a:r>
              <a:rPr lang="zh-CN" altLang="en-US" b="1" dirty="0">
                <a:solidFill>
                  <a:srgbClr val="FF0000"/>
                </a:solidFill>
                <a:latin typeface="黑体" panose="02010609060101010101" pitchFamily="49" charset="-122"/>
                <a:ea typeface="黑体" panose="02010609060101010101" pitchFamily="49" charset="-122"/>
              </a:rPr>
              <a:t>器件</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2" name="矩形 1"/>
          <p:cNvSpPr/>
          <p:nvPr/>
        </p:nvSpPr>
        <p:spPr>
          <a:xfrm>
            <a:off x="990600" y="1219518"/>
            <a:ext cx="8543925" cy="534035"/>
          </a:xfrm>
          <a:prstGeom prst="rect">
            <a:avLst/>
          </a:prstGeom>
          <a:noFill/>
          <a:ln w="9525">
            <a:noFill/>
          </a:ln>
        </p:spPr>
        <p:txBody>
          <a:bodyPr wrap="square" anchor="ctr" anchorCtr="0">
            <a:spAutoFit/>
          </a:bodyPr>
          <a:p>
            <a:pPr algn="l">
              <a:lnSpc>
                <a:spcPct val="120000"/>
              </a:lnSpc>
            </a:pPr>
            <a:r>
              <a:rPr lang="en-US" sz="2400" b="1" dirty="0">
                <a:solidFill>
                  <a:srgbClr val="FE09D6"/>
                </a:solidFill>
                <a:latin typeface="Times New Roman" panose="02020603050405020304" charset="0"/>
                <a:ea typeface="楷体" panose="02010609060101010101" charset="-122"/>
              </a:rPr>
              <a:t>3</a:t>
            </a:r>
            <a:r>
              <a:rPr sz="2400" b="1" dirty="0">
                <a:solidFill>
                  <a:srgbClr val="FE09D6"/>
                </a:solidFill>
                <a:latin typeface="Times New Roman" panose="02020603050405020304" charset="0"/>
                <a:ea typeface="楷体" panose="02010609060101010101" charset="-122"/>
              </a:rPr>
              <a:t>.可编程逻辑阵列P</a:t>
            </a:r>
            <a:r>
              <a:rPr lang="en-US" sz="2400" b="1" dirty="0">
                <a:solidFill>
                  <a:srgbClr val="FE09D6"/>
                </a:solidFill>
                <a:latin typeface="Times New Roman" panose="02020603050405020304" charset="0"/>
                <a:ea typeface="楷体" panose="02010609060101010101" charset="-122"/>
              </a:rPr>
              <a:t>AL</a:t>
            </a:r>
            <a:endParaRPr lang="en-US" sz="2400" b="1" dirty="0">
              <a:solidFill>
                <a:srgbClr val="FE09D6"/>
              </a:solidFill>
              <a:latin typeface="Times New Roman" panose="02020603050405020304" charset="0"/>
              <a:ea typeface="楷体" panose="02010609060101010101" charset="-122"/>
            </a:endParaRPr>
          </a:p>
        </p:txBody>
      </p:sp>
      <p:sp>
        <p:nvSpPr>
          <p:cNvPr id="3" name="矩形 2"/>
          <p:cNvSpPr/>
          <p:nvPr/>
        </p:nvSpPr>
        <p:spPr>
          <a:xfrm>
            <a:off x="205105" y="2362835"/>
            <a:ext cx="8733790" cy="2158365"/>
          </a:xfrm>
          <a:prstGeom prst="rect">
            <a:avLst/>
          </a:prstGeom>
          <a:noFill/>
          <a:ln w="9525">
            <a:noFill/>
          </a:ln>
        </p:spPr>
        <p:txBody>
          <a:bodyPr wrap="square" anchor="ctr" anchorCtr="0">
            <a:spAutoFit/>
          </a:bodyPr>
          <a:p>
            <a:pPr algn="l">
              <a:lnSpc>
                <a:spcPct val="120000"/>
              </a:lnSpc>
            </a:pPr>
            <a:r>
              <a:rPr lang="en-US" altLang="zh-CN" sz="2800" b="1" dirty="0">
                <a:solidFill>
                  <a:srgbClr val="000066"/>
                </a:solidFill>
                <a:latin typeface="Times New Roman" panose="02020603050405020304" charset="0"/>
                <a:ea typeface="楷体" panose="02010609060101010101" charset="-122"/>
              </a:rPr>
              <a:t>      </a:t>
            </a:r>
            <a:r>
              <a:rPr sz="2800" b="1" dirty="0">
                <a:solidFill>
                  <a:srgbClr val="000066"/>
                </a:solidFill>
                <a:latin typeface="Times New Roman" panose="02020603050405020304" charset="0"/>
                <a:ea typeface="楷体" panose="02010609060101010101" charset="-122"/>
              </a:rPr>
              <a:t>PAL由可编程的与阵列和固定的或阵列构成，或阵列中每个或门的输入与固定个数的与门输出相连，每个或门的输出是若干个与项之和。由于只有与阵列可以编程，因而PAL的编程相对比较简单。</a:t>
            </a:r>
            <a:endParaRPr sz="2800" b="1" dirty="0">
              <a:solidFill>
                <a:srgbClr val="000066"/>
              </a:solidFill>
              <a:latin typeface="Times New Roman" panose="02020603050405020304" charset="0"/>
              <a:ea typeface="楷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2971800" y="533400"/>
            <a:ext cx="398843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8.3 </a:t>
            </a:r>
            <a:r>
              <a:rPr lang="zh-CN" altLang="en-US" b="1" dirty="0">
                <a:solidFill>
                  <a:srgbClr val="FF0000"/>
                </a:solidFill>
                <a:latin typeface="黑体" panose="02010609060101010101" pitchFamily="49" charset="-122"/>
                <a:ea typeface="黑体" panose="02010609060101010101" pitchFamily="49" charset="-122"/>
              </a:rPr>
              <a:t>可编程逻辑</a:t>
            </a:r>
            <a:r>
              <a:rPr lang="zh-CN" altLang="en-US" b="1" dirty="0">
                <a:solidFill>
                  <a:srgbClr val="FF0000"/>
                </a:solidFill>
                <a:latin typeface="黑体" panose="02010609060101010101" pitchFamily="49" charset="-122"/>
                <a:ea typeface="黑体" panose="02010609060101010101" pitchFamily="49" charset="-122"/>
              </a:rPr>
              <a:t>器件</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stretch>
            <a:fillRect/>
          </a:stretch>
        </p:blipFill>
        <p:spPr>
          <a:xfrm>
            <a:off x="4496435" y="1219835"/>
            <a:ext cx="4081780" cy="5120005"/>
          </a:xfrm>
          <a:prstGeom prst="rect">
            <a:avLst/>
          </a:prstGeom>
        </p:spPr>
      </p:pic>
      <p:sp>
        <p:nvSpPr>
          <p:cNvPr id="4" name="矩形 3"/>
          <p:cNvSpPr/>
          <p:nvPr/>
        </p:nvSpPr>
        <p:spPr>
          <a:xfrm>
            <a:off x="76835" y="1752918"/>
            <a:ext cx="4186555" cy="3192780"/>
          </a:xfrm>
          <a:prstGeom prst="rect">
            <a:avLst/>
          </a:prstGeom>
          <a:noFill/>
          <a:ln w="9525">
            <a:noFill/>
          </a:ln>
        </p:spPr>
        <p:txBody>
          <a:bodyPr wrap="square" anchor="ctr" anchorCtr="0">
            <a:spAutoFit/>
          </a:bodyPr>
          <a:p>
            <a:pPr algn="l">
              <a:lnSpc>
                <a:spcPct val="120000"/>
              </a:lnSpc>
            </a:pPr>
            <a:r>
              <a:rPr lang="en-US" sz="2400" b="1" dirty="0">
                <a:solidFill>
                  <a:srgbClr val="000066"/>
                </a:solidFill>
                <a:latin typeface="Times New Roman" panose="02020603050405020304" charset="0"/>
                <a:ea typeface="楷体" panose="02010609060101010101" charset="-122"/>
              </a:rPr>
              <a:t>       </a:t>
            </a:r>
            <a:r>
              <a:rPr sz="2400" b="1" dirty="0">
                <a:solidFill>
                  <a:srgbClr val="000066"/>
                </a:solidFill>
                <a:latin typeface="Times New Roman" panose="02020603050405020304" charset="0"/>
                <a:ea typeface="楷体" panose="02010609060101010101" charset="-122"/>
              </a:rPr>
              <a:t>如图所示为一种简单的PAL结构图，它由4组10×3的可编程与阵列，4个输入信号和1个输出反馈信号产生10个与阵列的输入变量。每3个乘积项构成一组固定或阵列，共有4组输出。</a:t>
            </a:r>
            <a:endParaRPr sz="2400" b="1" dirty="0">
              <a:solidFill>
                <a:srgbClr val="000066"/>
              </a:solidFill>
              <a:latin typeface="Times New Roman" panose="02020603050405020304" charset="0"/>
              <a:ea typeface="楷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2971800" y="533400"/>
            <a:ext cx="398843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8.3 </a:t>
            </a:r>
            <a:r>
              <a:rPr lang="zh-CN" altLang="en-US" b="1" dirty="0">
                <a:solidFill>
                  <a:srgbClr val="FF0000"/>
                </a:solidFill>
                <a:latin typeface="黑体" panose="02010609060101010101" pitchFamily="49" charset="-122"/>
                <a:ea typeface="黑体" panose="02010609060101010101" pitchFamily="49" charset="-122"/>
              </a:rPr>
              <a:t>可编程逻辑</a:t>
            </a:r>
            <a:r>
              <a:rPr lang="zh-CN" altLang="en-US" b="1" dirty="0">
                <a:solidFill>
                  <a:srgbClr val="FF0000"/>
                </a:solidFill>
                <a:latin typeface="黑体" panose="02010609060101010101" pitchFamily="49" charset="-122"/>
                <a:ea typeface="黑体" panose="02010609060101010101" pitchFamily="49" charset="-122"/>
              </a:rPr>
              <a:t>器件</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3" name="矩形 2"/>
          <p:cNvSpPr/>
          <p:nvPr/>
        </p:nvSpPr>
        <p:spPr>
          <a:xfrm>
            <a:off x="600075" y="1143318"/>
            <a:ext cx="8543925" cy="460375"/>
          </a:xfrm>
          <a:prstGeom prst="rect">
            <a:avLst/>
          </a:prstGeom>
          <a:noFill/>
          <a:ln w="9525">
            <a:noFill/>
          </a:ln>
        </p:spPr>
        <p:txBody>
          <a:bodyPr wrap="square" anchor="ctr" anchorCtr="0">
            <a:spAutoFit/>
          </a:bodyPr>
          <a:p>
            <a:pPr algn="l">
              <a:lnSpc>
                <a:spcPct val="120000"/>
              </a:lnSpc>
            </a:pPr>
            <a:r>
              <a:rPr lang="en-US" altLang="zh-CN" sz="2000" b="1" dirty="0">
                <a:solidFill>
                  <a:srgbClr val="000066"/>
                </a:solidFill>
                <a:latin typeface="Times New Roman" panose="02020603050405020304" charset="0"/>
                <a:ea typeface="楷体" panose="02010609060101010101" charset="-122"/>
              </a:rPr>
              <a:t>      【例8-6】</a:t>
            </a:r>
            <a:r>
              <a:rPr sz="2000" b="1" dirty="0">
                <a:solidFill>
                  <a:srgbClr val="000066"/>
                </a:solidFill>
                <a:latin typeface="Times New Roman" panose="02020603050405020304" charset="0"/>
                <a:ea typeface="楷体" panose="02010609060101010101" charset="-122"/>
              </a:rPr>
              <a:t>用图8</a:t>
            </a:r>
            <a:r>
              <a:rPr lang="en-US" sz="2000" b="1" dirty="0">
                <a:solidFill>
                  <a:srgbClr val="000066"/>
                </a:solidFill>
                <a:latin typeface="Times New Roman" panose="02020603050405020304" charset="0"/>
                <a:ea typeface="楷体" panose="02010609060101010101" charset="-122"/>
              </a:rPr>
              <a:t>-</a:t>
            </a:r>
            <a:r>
              <a:rPr sz="2000" b="1" dirty="0">
                <a:solidFill>
                  <a:srgbClr val="000066"/>
                </a:solidFill>
                <a:latin typeface="Times New Roman" panose="02020603050405020304" charset="0"/>
                <a:ea typeface="楷体" panose="02010609060101010101" charset="-122"/>
              </a:rPr>
              <a:t>21所示的PAL实现下列函数</a:t>
            </a:r>
            <a:endParaRPr sz="2000" b="1" dirty="0">
              <a:solidFill>
                <a:srgbClr val="000066"/>
              </a:solidFill>
              <a:latin typeface="Times New Roman" panose="02020603050405020304" charset="0"/>
              <a:ea typeface="楷体" panose="02010609060101010101" charset="-122"/>
            </a:endParaRPr>
          </a:p>
        </p:txBody>
      </p:sp>
      <p:sp>
        <p:nvSpPr>
          <p:cNvPr id="5" name="矩形 4"/>
          <p:cNvSpPr/>
          <p:nvPr/>
        </p:nvSpPr>
        <p:spPr>
          <a:xfrm>
            <a:off x="299720" y="3277236"/>
            <a:ext cx="8543925" cy="2306320"/>
          </a:xfrm>
          <a:prstGeom prst="rect">
            <a:avLst/>
          </a:prstGeom>
          <a:noFill/>
          <a:ln w="9525">
            <a:noFill/>
          </a:ln>
        </p:spPr>
        <p:txBody>
          <a:bodyPr wrap="square" anchor="ctr" anchorCtr="0">
            <a:spAutoFit/>
          </a:bodyPr>
          <a:p>
            <a:pPr algn="l">
              <a:lnSpc>
                <a:spcPct val="120000"/>
              </a:lnSpc>
            </a:pPr>
            <a:r>
              <a:rPr lang="en-US" altLang="zh-CN" sz="2400" b="1" dirty="0">
                <a:solidFill>
                  <a:srgbClr val="000066"/>
                </a:solidFill>
                <a:latin typeface="Times New Roman" panose="02020603050405020304" charset="0"/>
                <a:ea typeface="楷体" panose="02010609060101010101" charset="-122"/>
              </a:rPr>
              <a:t>   </a:t>
            </a:r>
            <a:r>
              <a:rPr sz="2400" b="1" dirty="0">
                <a:solidFill>
                  <a:srgbClr val="000066"/>
                </a:solidFill>
                <a:latin typeface="Times New Roman" panose="02020603050405020304" charset="0"/>
                <a:ea typeface="楷体" panose="02010609060101010101" charset="-122"/>
              </a:rPr>
              <a:t>解：这组逻辑函数均为简化的逻辑表达式，有4个输入变量，4个输出变量。固定或阵列的每一个输出包含3个乘积项，而</a:t>
            </a:r>
            <a:r>
              <a:rPr sz="2400" b="1" i="1" dirty="0">
                <a:solidFill>
                  <a:srgbClr val="000066"/>
                </a:solidFill>
                <a:latin typeface="Times New Roman" panose="02020603050405020304" charset="0"/>
                <a:ea typeface="楷体" panose="02010609060101010101" charset="-122"/>
              </a:rPr>
              <a:t>L</a:t>
            </a:r>
            <a:r>
              <a:rPr sz="2400" b="1" baseline="-25000" dirty="0">
                <a:solidFill>
                  <a:srgbClr val="000066"/>
                </a:solidFill>
                <a:latin typeface="Times New Roman" panose="02020603050405020304" charset="0"/>
                <a:ea typeface="楷体" panose="02010609060101010101" charset="-122"/>
              </a:rPr>
              <a:t>0</a:t>
            </a:r>
            <a:r>
              <a:rPr sz="2400" b="1" dirty="0">
                <a:solidFill>
                  <a:srgbClr val="000066"/>
                </a:solidFill>
                <a:latin typeface="Times New Roman" panose="02020603050405020304" charset="0"/>
                <a:ea typeface="楷体" panose="02010609060101010101" charset="-122"/>
              </a:rPr>
              <a:t>~</a:t>
            </a:r>
            <a:r>
              <a:rPr sz="2400" b="1" i="1" dirty="0">
                <a:solidFill>
                  <a:srgbClr val="000066"/>
                </a:solidFill>
                <a:latin typeface="Times New Roman" panose="02020603050405020304" charset="0"/>
                <a:ea typeface="楷体" panose="02010609060101010101" charset="-122"/>
              </a:rPr>
              <a:t>L</a:t>
            </a:r>
            <a:r>
              <a:rPr sz="2400" b="1" baseline="-25000" dirty="0">
                <a:solidFill>
                  <a:srgbClr val="000066"/>
                </a:solidFill>
                <a:latin typeface="Times New Roman" panose="02020603050405020304" charset="0"/>
                <a:ea typeface="楷体" panose="02010609060101010101" charset="-122"/>
              </a:rPr>
              <a:t>2</a:t>
            </a:r>
            <a:r>
              <a:rPr sz="2400" b="1" dirty="0">
                <a:solidFill>
                  <a:srgbClr val="000066"/>
                </a:solidFill>
                <a:latin typeface="Times New Roman" panose="02020603050405020304" charset="0"/>
                <a:ea typeface="楷体" panose="02010609060101010101" charset="-122"/>
              </a:rPr>
              <a:t>三个表达式各包含3个以下乘积项，满足输出端对乘积项数的要求，可以直接编程实现。</a:t>
            </a:r>
            <a:r>
              <a:rPr sz="2400" b="1" i="1" dirty="0">
                <a:solidFill>
                  <a:srgbClr val="000066"/>
                </a:solidFill>
                <a:latin typeface="Times New Roman" panose="02020603050405020304" charset="0"/>
                <a:ea typeface="楷体" panose="02010609060101010101" charset="-122"/>
              </a:rPr>
              <a:t>L</a:t>
            </a:r>
            <a:r>
              <a:rPr sz="2400" b="1" baseline="-25000" dirty="0">
                <a:solidFill>
                  <a:srgbClr val="000066"/>
                </a:solidFill>
                <a:latin typeface="Times New Roman" panose="02020603050405020304" charset="0"/>
                <a:ea typeface="楷体" panose="02010609060101010101" charset="-122"/>
              </a:rPr>
              <a:t>3</a:t>
            </a:r>
            <a:r>
              <a:rPr sz="2400" b="1" dirty="0">
                <a:solidFill>
                  <a:srgbClr val="000066"/>
                </a:solidFill>
                <a:latin typeface="Times New Roman" panose="02020603050405020304" charset="0"/>
                <a:ea typeface="楷体" panose="02010609060101010101" charset="-122"/>
              </a:rPr>
              <a:t>的表达式包含4个乘积项，不能直接编程，但其前两项正好为</a:t>
            </a:r>
            <a:r>
              <a:rPr sz="2400" b="1" i="1" dirty="0">
                <a:solidFill>
                  <a:srgbClr val="000066"/>
                </a:solidFill>
                <a:latin typeface="Times New Roman" panose="02020603050405020304" charset="0"/>
                <a:ea typeface="楷体" panose="02010609060101010101" charset="-122"/>
              </a:rPr>
              <a:t>L</a:t>
            </a:r>
            <a:r>
              <a:rPr sz="2400" b="1" baseline="-25000" dirty="0">
                <a:solidFill>
                  <a:srgbClr val="000066"/>
                </a:solidFill>
                <a:latin typeface="Times New Roman" panose="02020603050405020304" charset="0"/>
                <a:ea typeface="楷体" panose="02010609060101010101" charset="-122"/>
              </a:rPr>
              <a:t>0</a:t>
            </a:r>
            <a:r>
              <a:rPr sz="2400" b="1" dirty="0">
                <a:solidFill>
                  <a:srgbClr val="000066"/>
                </a:solidFill>
                <a:latin typeface="Times New Roman" panose="02020603050405020304" charset="0"/>
                <a:ea typeface="楷体" panose="02010609060101010101" charset="-122"/>
              </a:rPr>
              <a:t>，即</a:t>
            </a:r>
            <a:endParaRPr sz="2400" b="1" dirty="0">
              <a:solidFill>
                <a:srgbClr val="000066"/>
              </a:solidFill>
              <a:latin typeface="Times New Roman" panose="02020603050405020304" charset="0"/>
              <a:ea typeface="楷体" panose="02010609060101010101" charset="-122"/>
            </a:endParaRPr>
          </a:p>
        </p:txBody>
      </p:sp>
      <p:pic>
        <p:nvPicPr>
          <p:cNvPr id="8" name="图片 7"/>
          <p:cNvPicPr>
            <a:picLocks noChangeAspect="1"/>
          </p:cNvPicPr>
          <p:nvPr/>
        </p:nvPicPr>
        <p:blipFill>
          <a:blip r:embed="rId1"/>
          <a:stretch>
            <a:fillRect/>
          </a:stretch>
        </p:blipFill>
        <p:spPr>
          <a:xfrm>
            <a:off x="2210435" y="5639435"/>
            <a:ext cx="5003165" cy="481330"/>
          </a:xfrm>
          <a:prstGeom prst="rect">
            <a:avLst/>
          </a:prstGeom>
        </p:spPr>
      </p:pic>
      <p:pic>
        <p:nvPicPr>
          <p:cNvPr id="369" name="图片 120"/>
          <p:cNvPicPr>
            <a:picLocks noChangeAspect="1"/>
          </p:cNvPicPr>
          <p:nvPr/>
        </p:nvPicPr>
        <p:blipFill>
          <a:blip r:embed="rId2"/>
          <a:stretch>
            <a:fillRect/>
          </a:stretch>
        </p:blipFill>
        <p:spPr>
          <a:xfrm>
            <a:off x="2819400" y="1630680"/>
            <a:ext cx="3052445" cy="153606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5" grpId="0"/>
      <p:bldP spid="5" grpId="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2971800" y="533400"/>
            <a:ext cx="398843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8.3 </a:t>
            </a:r>
            <a:r>
              <a:rPr lang="zh-CN" altLang="en-US" b="1" dirty="0">
                <a:solidFill>
                  <a:srgbClr val="FF0000"/>
                </a:solidFill>
                <a:latin typeface="黑体" panose="02010609060101010101" pitchFamily="49" charset="-122"/>
                <a:ea typeface="黑体" panose="02010609060101010101" pitchFamily="49" charset="-122"/>
              </a:rPr>
              <a:t>可编程逻辑</a:t>
            </a:r>
            <a:r>
              <a:rPr lang="zh-CN" altLang="en-US" b="1" dirty="0">
                <a:solidFill>
                  <a:srgbClr val="FF0000"/>
                </a:solidFill>
                <a:latin typeface="黑体" panose="02010609060101010101" pitchFamily="49" charset="-122"/>
                <a:ea typeface="黑体" panose="02010609060101010101" pitchFamily="49" charset="-122"/>
              </a:rPr>
              <a:t>器件</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3" name="矩形 2"/>
          <p:cNvSpPr/>
          <p:nvPr/>
        </p:nvSpPr>
        <p:spPr>
          <a:xfrm>
            <a:off x="534035" y="1219518"/>
            <a:ext cx="8543925" cy="829945"/>
          </a:xfrm>
          <a:prstGeom prst="rect">
            <a:avLst/>
          </a:prstGeom>
          <a:noFill/>
          <a:ln w="9525">
            <a:noFill/>
          </a:ln>
        </p:spPr>
        <p:txBody>
          <a:bodyPr wrap="square" anchor="ctr" anchorCtr="0">
            <a:spAutoFit/>
          </a:bodyPr>
          <a:p>
            <a:pPr algn="l">
              <a:lnSpc>
                <a:spcPct val="120000"/>
              </a:lnSpc>
            </a:pPr>
            <a:r>
              <a:rPr lang="en-US" altLang="zh-CN" sz="2000" b="1" dirty="0">
                <a:solidFill>
                  <a:srgbClr val="000066"/>
                </a:solidFill>
                <a:latin typeface="Times New Roman" panose="02020603050405020304" charset="0"/>
                <a:ea typeface="楷体" panose="02010609060101010101" charset="-122"/>
              </a:rPr>
              <a:t>      </a:t>
            </a:r>
            <a:r>
              <a:rPr sz="2000" b="1" dirty="0">
                <a:solidFill>
                  <a:srgbClr val="000066"/>
                </a:solidFill>
                <a:latin typeface="Times New Roman" panose="02020603050405020304" charset="0"/>
                <a:ea typeface="楷体" panose="02010609060101010101" charset="-122"/>
              </a:rPr>
              <a:t>因此，将</a:t>
            </a:r>
            <a:r>
              <a:rPr sz="2000" b="1" i="1" dirty="0">
                <a:solidFill>
                  <a:srgbClr val="000066"/>
                </a:solidFill>
                <a:latin typeface="Times New Roman" panose="02020603050405020304" charset="0"/>
                <a:ea typeface="楷体" panose="02010609060101010101" charset="-122"/>
              </a:rPr>
              <a:t>L</a:t>
            </a:r>
            <a:r>
              <a:rPr sz="2000" b="1" baseline="-25000" dirty="0">
                <a:solidFill>
                  <a:srgbClr val="000066"/>
                </a:solidFill>
                <a:latin typeface="Times New Roman" panose="02020603050405020304" charset="0"/>
                <a:ea typeface="楷体" panose="02010609060101010101" charset="-122"/>
              </a:rPr>
              <a:t>0</a:t>
            </a:r>
            <a:r>
              <a:rPr sz="2000" b="1" dirty="0">
                <a:solidFill>
                  <a:srgbClr val="000066"/>
                </a:solidFill>
                <a:latin typeface="Times New Roman" panose="02020603050405020304" charset="0"/>
                <a:ea typeface="楷体" panose="02010609060101010101" charset="-122"/>
              </a:rPr>
              <a:t>反馈到输入端作为</a:t>
            </a:r>
            <a:r>
              <a:rPr sz="2000" b="1" i="1" dirty="0">
                <a:solidFill>
                  <a:srgbClr val="000066"/>
                </a:solidFill>
                <a:latin typeface="Times New Roman" panose="02020603050405020304" charset="0"/>
                <a:ea typeface="楷体" panose="02010609060101010101" charset="-122"/>
              </a:rPr>
              <a:t>L</a:t>
            </a:r>
            <a:r>
              <a:rPr sz="2000" b="1" baseline="-25000" dirty="0">
                <a:solidFill>
                  <a:srgbClr val="000066"/>
                </a:solidFill>
                <a:latin typeface="Times New Roman" panose="02020603050405020304" charset="0"/>
                <a:ea typeface="楷体" panose="02010609060101010101" charset="-122"/>
              </a:rPr>
              <a:t>3</a:t>
            </a:r>
            <a:r>
              <a:rPr sz="2000" b="1" dirty="0">
                <a:solidFill>
                  <a:srgbClr val="000066"/>
                </a:solidFill>
                <a:latin typeface="Times New Roman" panose="02020603050405020304" charset="0"/>
                <a:ea typeface="楷体" panose="02010609060101010101" charset="-122"/>
              </a:rPr>
              <a:t>的输入就可以实现，编程后的电路图如图所示。</a:t>
            </a:r>
            <a:endParaRPr sz="2000" b="1" dirty="0">
              <a:solidFill>
                <a:srgbClr val="000066"/>
              </a:solidFill>
              <a:latin typeface="Times New Roman" panose="02020603050405020304" charset="0"/>
              <a:ea typeface="楷体" panose="02010609060101010101" charset="-122"/>
            </a:endParaRPr>
          </a:p>
        </p:txBody>
      </p:sp>
      <p:pic>
        <p:nvPicPr>
          <p:cNvPr id="2" name="图片 1"/>
          <p:cNvPicPr>
            <a:picLocks noChangeAspect="1"/>
          </p:cNvPicPr>
          <p:nvPr/>
        </p:nvPicPr>
        <p:blipFill>
          <a:blip r:embed="rId1"/>
          <a:stretch>
            <a:fillRect/>
          </a:stretch>
        </p:blipFill>
        <p:spPr>
          <a:xfrm>
            <a:off x="2743835" y="1677035"/>
            <a:ext cx="4014788" cy="507206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524000"/>
            <a:ext cx="8003540" cy="1402715"/>
          </a:xfrm>
        </p:spPr>
        <p:txBody>
          <a:bodyPr vert="horz" wrap="square" lIns="91440" tIns="45720" rIns="91440" bIns="45720" anchor="t" anchorCtr="0"/>
          <a:p>
            <a:pPr marL="0" indent="0"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1. </a:t>
            </a:r>
            <a:r>
              <a:rPr sz="2400" b="1" kern="1200" dirty="0">
                <a:solidFill>
                  <a:srgbClr val="000066"/>
                </a:solidFill>
                <a:latin typeface="Times New Roman" panose="02020603050405020304" charset="0"/>
                <a:ea typeface="楷体" panose="02010609060101010101" charset="-122"/>
                <a:cs typeface="Times New Roman" panose="02020603050405020304" charset="0"/>
              </a:rPr>
              <a:t>半导体存储器是一种能够存储二进制代码的逻辑器件，在现代数字系统特别是计算机系统中发挥了重要作用</a:t>
            </a:r>
            <a:r>
              <a:rPr lang="zh-CN" sz="2400" b="1" kern="1200" dirty="0">
                <a:solidFill>
                  <a:srgbClr val="000066"/>
                </a:solidFill>
                <a:latin typeface="Times New Roman" panose="02020603050405020304" charset="0"/>
                <a:ea typeface="楷体" panose="02010609060101010101" charset="-122"/>
                <a:cs typeface="Times New Roman" panose="02020603050405020304" charset="0"/>
              </a:rPr>
              <a:t>。半导体存储器</a:t>
            </a:r>
            <a:r>
              <a:rPr sz="2400" b="1" kern="1200" dirty="0">
                <a:solidFill>
                  <a:srgbClr val="000066"/>
                </a:solidFill>
                <a:latin typeface="Times New Roman" panose="02020603050405020304" charset="0"/>
                <a:ea typeface="楷体" panose="02010609060101010101" charset="-122"/>
                <a:cs typeface="Times New Roman" panose="02020603050405020304" charset="0"/>
              </a:rPr>
              <a:t>可分为RAM和ROM。</a:t>
            </a:r>
            <a:endParaRPr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本章小结</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08" name="矩形 107"/>
          <p:cNvSpPr/>
          <p:nvPr/>
        </p:nvSpPr>
        <p:spPr>
          <a:xfrm>
            <a:off x="784860" y="3200400"/>
            <a:ext cx="7856220" cy="2943860"/>
          </a:xfrm>
          <a:prstGeom prst="rect">
            <a:avLst/>
          </a:prstGeom>
          <a:noFill/>
          <a:ln w="9525">
            <a:noFill/>
          </a:ln>
        </p:spPr>
        <p:txBody>
          <a:bodyPr vert="horz" wrap="square" lIns="91440" tIns="45720" rIns="91440" bIns="45720" rtlCol="0" anchor="t" anchorCtr="0"/>
          <a:p>
            <a:pPr lvl="0" algn="l">
              <a:lnSpc>
                <a:spcPct val="120000"/>
              </a:lnSpc>
              <a:spcBef>
                <a:spcPts val="0"/>
              </a:spcBef>
              <a:buClr>
                <a:schemeClr val="folHlink"/>
              </a:buClr>
              <a:buSzTx/>
              <a:buFont typeface="Wingdings" panose="05000000000000000000" pitchFamily="2" charset="2"/>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     2．ROM是一种非易失性的存储器，在断电后存储的信息不会丢失，一般</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情况下</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只能被读出。根据数据写入方式的不同，ROM又可分成固定ROM和可编程ROM</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RAM是一种易失性的读写存储器，在断电后存储的数据就会消失。它</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分为</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SRAM和DRAM两种类型。</a:t>
            </a:r>
            <a:endPar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blinds(horizontal)">
                                      <p:cBhvr>
                                        <p:cTn id="7" dur="5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8"/>
                                        </p:tgtEl>
                                        <p:attrNameLst>
                                          <p:attrName>style.visibility</p:attrName>
                                        </p:attrNameLst>
                                      </p:cBhvr>
                                      <p:to>
                                        <p:strVal val="visible"/>
                                      </p:to>
                                    </p:set>
                                    <p:animEffect transition="in" filter="blinds(horizontal)">
                                      <p:cBhvr>
                                        <p:cTn id="12"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P spid="6147" grpId="1" build="p"/>
      <p:bldP spid="108" grpId="0"/>
      <p:bldP spid="108" grpId="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600200"/>
            <a:ext cx="8003540" cy="2352675"/>
          </a:xfrm>
        </p:spPr>
        <p:txBody>
          <a:bodyPr vert="horz" wrap="square" lIns="91440" tIns="45720" rIns="91440" bIns="45720" anchor="t" anchorCtr="0"/>
          <a:p>
            <a:pPr marL="0" indent="0"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3</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 可编程逻辑器件(PLD)是一种由用户定义和编程设置、能够实现各种逻辑功能的器件。有PROM、PLA、PAL、GAL、EPLD、CPLD、FPGA等</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种类。</a:t>
            </a: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本章小结</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685800" y="3582035"/>
            <a:ext cx="8003540" cy="183642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4</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 从逻辑电路构成的角度看，半导体存储器和可编程逻辑器件大部分都是由与阵列和或阵列构成，可以实现与-或逻辑关系，因此这两种器件都可以通过编程来实现各种逻辑函数。</a:t>
            </a: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1981200"/>
            <a:ext cx="8003540" cy="4184650"/>
          </a:xfrm>
        </p:spPr>
        <p:txBody>
          <a:bodyPr vert="horz" wrap="square" lIns="91440" tIns="45720" rIns="91440" bIns="45720" anchor="t" anchorCtr="0"/>
          <a:p>
            <a:pPr marL="0" indent="0" algn="ctr" eaLnBrk="1" latinLnBrk="0" hangingPunct="1">
              <a:lnSpc>
                <a:spcPct val="120000"/>
              </a:lnSpc>
              <a:spcBef>
                <a:spcPts val="0"/>
              </a:spcBef>
              <a:buNone/>
            </a:pPr>
            <a:r>
              <a:rPr lang="en-US" altLang="zh-CN" b="1" kern="1200" dirty="0">
                <a:solidFill>
                  <a:srgbClr val="000066"/>
                </a:solidFill>
                <a:latin typeface="Times New Roman" panose="02020603050405020304" charset="0"/>
                <a:ea typeface="楷体" panose="02010609060101010101" charset="-122"/>
                <a:cs typeface="Times New Roman" panose="02020603050405020304" charset="0"/>
              </a:rPr>
              <a:t>P227-228</a:t>
            </a:r>
            <a:endParaRPr lang="en-US" altLang="zh-CN" b="1" kern="1200" dirty="0">
              <a:solidFill>
                <a:srgbClr val="000066"/>
              </a:solidFill>
              <a:latin typeface="Times New Roman" panose="02020603050405020304" charset="0"/>
              <a:ea typeface="楷体" panose="02010609060101010101" charset="-122"/>
              <a:cs typeface="Times New Roman" panose="02020603050405020304" charset="0"/>
            </a:endParaRPr>
          </a:p>
          <a:p>
            <a:pPr marL="0" indent="0" eaLnBrk="1" latinLnBrk="0" hangingPunct="1">
              <a:lnSpc>
                <a:spcPct val="120000"/>
              </a:lnSpc>
              <a:spcBef>
                <a:spcPts val="0"/>
              </a:spcBef>
              <a:spcAft>
                <a:spcPts val="600"/>
              </a:spcAft>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rPr>
              <a:t>题</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rPr>
              <a:t>8</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rPr>
              <a:t>-2</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rPr>
              <a:t>；</a:t>
            </a:r>
            <a:endPar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endParaRPr>
          </a:p>
          <a:p>
            <a:pPr marL="0" indent="0" eaLnBrk="1" latinLnBrk="0" hangingPunct="1">
              <a:lnSpc>
                <a:spcPct val="120000"/>
              </a:lnSpc>
              <a:spcBef>
                <a:spcPts val="0"/>
              </a:spcBef>
              <a:spcAft>
                <a:spcPts val="600"/>
              </a:spcAft>
              <a:buNone/>
            </a:pP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题</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8</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-4</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endPar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endParaRPr>
          </a:p>
          <a:p>
            <a:pPr marL="0" indent="0" eaLnBrk="1" latinLnBrk="0" hangingPunct="1">
              <a:lnSpc>
                <a:spcPct val="120000"/>
              </a:lnSpc>
              <a:spcBef>
                <a:spcPts val="0"/>
              </a:spcBef>
              <a:spcAft>
                <a:spcPts val="600"/>
              </a:spcAft>
              <a:buNone/>
            </a:pP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题</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8-5</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endPar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endParaRPr>
          </a:p>
          <a:p>
            <a:pPr marL="0" indent="0" eaLnBrk="1" latinLnBrk="0" hangingPunct="1">
              <a:lnSpc>
                <a:spcPct val="120000"/>
              </a:lnSpc>
              <a:spcBef>
                <a:spcPts val="0"/>
              </a:spcBef>
              <a:spcAft>
                <a:spcPts val="600"/>
              </a:spcAft>
              <a:buNone/>
            </a:pP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题</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8</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-7</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a:t>
            </a:r>
            <a:endPar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endParaRPr>
          </a:p>
          <a:p>
            <a:pPr marL="0" indent="0" eaLnBrk="1" latinLnBrk="0" hangingPunct="1">
              <a:lnSpc>
                <a:spcPct val="120000"/>
              </a:lnSpc>
              <a:spcBef>
                <a:spcPts val="0"/>
              </a:spcBef>
              <a:spcAft>
                <a:spcPts val="600"/>
              </a:spcAft>
              <a:buNone/>
            </a:pP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题</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8</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-8</a:t>
            </a:r>
            <a:endPar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endParaRPr>
          </a:p>
          <a:p>
            <a:pPr marL="0" indent="0" eaLnBrk="1" latinLnBrk="0" hangingPunct="1">
              <a:lnSpc>
                <a:spcPct val="120000"/>
              </a:lnSpc>
              <a:spcBef>
                <a:spcPts val="0"/>
              </a:spcBef>
              <a:spcAft>
                <a:spcPts val="600"/>
              </a:spcAft>
              <a:buNone/>
            </a:pP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endPar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endParaRPr>
          </a:p>
          <a:p>
            <a:pPr marL="0" indent="0" eaLnBrk="1" latinLnBrk="0" hangingPunct="1">
              <a:lnSpc>
                <a:spcPct val="120000"/>
              </a:lnSpc>
              <a:spcBef>
                <a:spcPts val="0"/>
              </a:spcBef>
              <a:buNone/>
            </a:pP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a:p>
            <a:pPr marL="0" indent="0" eaLnBrk="1" latinLnBrk="0" hangingPunct="1">
              <a:lnSpc>
                <a:spcPct val="120000"/>
              </a:lnSpc>
              <a:spcBef>
                <a:spcPts val="0"/>
              </a:spcBef>
              <a:buNone/>
            </a:pP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本章作业</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2415,&quot;width&quot;:2580}"/>
</p:tagLst>
</file>

<file path=ppt/theme/theme1.xml><?xml version="1.0" encoding="utf-8"?>
<a:theme xmlns:a="http://schemas.openxmlformats.org/drawingml/2006/main" name="Default Design">
  <a:themeElements>
    <a:clrScheme name="Default Design 3">
      <a:dk1>
        <a:srgbClr val="080808"/>
      </a:dk1>
      <a:lt1>
        <a:srgbClr val="FFFFFF"/>
      </a:lt1>
      <a:dk2>
        <a:srgbClr val="A59A55"/>
      </a:dk2>
      <a:lt2>
        <a:srgbClr val="DDDDDD"/>
      </a:lt2>
      <a:accent1>
        <a:srgbClr val="4AB1E4"/>
      </a:accent1>
      <a:accent2>
        <a:srgbClr val="8F038F"/>
      </a:accent2>
      <a:accent3>
        <a:srgbClr val="FFFFFF"/>
      </a:accent3>
      <a:accent4>
        <a:srgbClr val="060606"/>
      </a:accent4>
      <a:accent5>
        <a:srgbClr val="B1D5EF"/>
      </a:accent5>
      <a:accent6>
        <a:srgbClr val="810281"/>
      </a:accent6>
      <a:hlink>
        <a:srgbClr val="F77A1D"/>
      </a:hlink>
      <a:folHlink>
        <a:srgbClr val="5BBE4E"/>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5F5F5F"/>
        </a:dk1>
        <a:lt1>
          <a:srgbClr val="FFFFFF"/>
        </a:lt1>
        <a:dk2>
          <a:srgbClr val="C36609"/>
        </a:dk2>
        <a:lt2>
          <a:srgbClr val="DDDDDD"/>
        </a:lt2>
        <a:accent1>
          <a:srgbClr val="D2B94E"/>
        </a:accent1>
        <a:accent2>
          <a:srgbClr val="2395B9"/>
        </a:accent2>
        <a:accent3>
          <a:srgbClr val="FFFFFF"/>
        </a:accent3>
        <a:accent4>
          <a:srgbClr val="505050"/>
        </a:accent4>
        <a:accent5>
          <a:srgbClr val="E5D9B2"/>
        </a:accent5>
        <a:accent6>
          <a:srgbClr val="1F87A7"/>
        </a:accent6>
        <a:hlink>
          <a:srgbClr val="5C984E"/>
        </a:hlink>
        <a:folHlink>
          <a:srgbClr val="B5C77B"/>
        </a:folHlink>
      </a:clrScheme>
      <a:clrMap bg1="lt1" tx1="dk1" bg2="lt2" tx2="dk2" accent1="accent1" accent2="accent2" accent3="accent3" accent4="accent4" accent5="accent5" accent6="accent6" hlink="hlink" folHlink="folHlink"/>
    </a:extraClrScheme>
    <a:extraClrScheme>
      <a:clrScheme name="Default Design 2">
        <a:dk1>
          <a:srgbClr val="5F5F5F"/>
        </a:dk1>
        <a:lt1>
          <a:srgbClr val="FFFFFF"/>
        </a:lt1>
        <a:dk2>
          <a:srgbClr val="9FC591"/>
        </a:dk2>
        <a:lt2>
          <a:srgbClr val="DDDDDD"/>
        </a:lt2>
        <a:accent1>
          <a:srgbClr val="7B82B7"/>
        </a:accent1>
        <a:accent2>
          <a:srgbClr val="8D337C"/>
        </a:accent2>
        <a:accent3>
          <a:srgbClr val="FFFFFF"/>
        </a:accent3>
        <a:accent4>
          <a:srgbClr val="505050"/>
        </a:accent4>
        <a:accent5>
          <a:srgbClr val="BFC1D8"/>
        </a:accent5>
        <a:accent6>
          <a:srgbClr val="7F2D70"/>
        </a:accent6>
        <a:hlink>
          <a:srgbClr val="CC87E1"/>
        </a:hlink>
        <a:folHlink>
          <a:srgbClr val="76C5D0"/>
        </a:folHlink>
      </a:clrScheme>
      <a:clrMap bg1="lt1" tx1="dk1" bg2="lt2" tx2="dk2" accent1="accent1" accent2="accent2" accent3="accent3" accent4="accent4" accent5="accent5" accent6="accent6" hlink="hlink" folHlink="folHlink"/>
    </a:extraClrScheme>
    <a:extraClrScheme>
      <a:clrScheme name="Default Design 3">
        <a:dk1>
          <a:srgbClr val="080808"/>
        </a:dk1>
        <a:lt1>
          <a:srgbClr val="FFFFFF"/>
        </a:lt1>
        <a:dk2>
          <a:srgbClr val="A59A55"/>
        </a:dk2>
        <a:lt2>
          <a:srgbClr val="DDDDDD"/>
        </a:lt2>
        <a:accent1>
          <a:srgbClr val="4AB1E4"/>
        </a:accent1>
        <a:accent2>
          <a:srgbClr val="8F038F"/>
        </a:accent2>
        <a:accent3>
          <a:srgbClr val="FFFFFF"/>
        </a:accent3>
        <a:accent4>
          <a:srgbClr val="060606"/>
        </a:accent4>
        <a:accent5>
          <a:srgbClr val="B1D5EF"/>
        </a:accent5>
        <a:accent6>
          <a:srgbClr val="810281"/>
        </a:accent6>
        <a:hlink>
          <a:srgbClr val="F77A1D"/>
        </a:hlink>
        <a:folHlink>
          <a:srgbClr val="5BBE4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6823</Words>
  <Application>WPS 演示</Application>
  <PresentationFormat>全屏显示(4:3)</PresentationFormat>
  <Paragraphs>843</Paragraphs>
  <Slides>48</Slides>
  <Notes>8</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25</vt:i4>
      </vt:variant>
      <vt:variant>
        <vt:lpstr>幻灯片标题</vt:lpstr>
      </vt:variant>
      <vt:variant>
        <vt:i4>48</vt:i4>
      </vt:variant>
    </vt:vector>
  </HeadingPairs>
  <TitlesOfParts>
    <vt:vector size="88" baseType="lpstr">
      <vt:lpstr>Arial</vt:lpstr>
      <vt:lpstr>宋体</vt:lpstr>
      <vt:lpstr>Wingdings</vt:lpstr>
      <vt:lpstr>Calibri</vt:lpstr>
      <vt:lpstr>微软雅黑</vt:lpstr>
      <vt:lpstr>黑体</vt:lpstr>
      <vt:lpstr>Times New Roman</vt:lpstr>
      <vt:lpstr>楷体</vt:lpstr>
      <vt:lpstr>Arial Unicode MS</vt:lpstr>
      <vt:lpstr>楷体_GB2312</vt:lpstr>
      <vt:lpstr>新宋体</vt:lpstr>
      <vt:lpstr>Tahoma</vt:lpstr>
      <vt:lpstr>Monotype Sorts</vt:lpstr>
      <vt:lpstr>Wingdings</vt:lpstr>
      <vt:lpstr>Default Design</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Word.Picture.8</vt:lpstr>
      <vt:lpstr>Equation.KSEE3</vt:lpstr>
      <vt:lpstr>Equation.KSEE3</vt:lpstr>
      <vt:lpstr>Equation.KSEE3</vt:lpstr>
      <vt:lpstr>Word.Picture.8</vt:lpstr>
      <vt:lpstr>Word.Picture.8</vt:lpstr>
      <vt:lpstr>Word.Picture.8</vt:lpstr>
      <vt:lpstr>Paint.Picture</vt:lpstr>
      <vt:lpstr>PowerPoint 演示文稿</vt:lpstr>
      <vt:lpstr>第7章 脉冲波形的产生与整形电路</vt:lpstr>
      <vt:lpstr>PowerPoint 演示文稿</vt:lpstr>
      <vt:lpstr>PowerPoint 演示文稿</vt:lpstr>
      <vt:lpstr>PowerPoint 演示文稿</vt:lpstr>
      <vt:lpstr>8.2.1 只读存储器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8.2.2 随机存储器</vt:lpstr>
      <vt:lpstr>PowerPoint 演示文稿</vt:lpstr>
      <vt:lpstr>PowerPoint 演示文稿</vt:lpstr>
      <vt:lpstr>PowerPoint 演示文稿</vt:lpstr>
      <vt:lpstr>PowerPoint 演示文稿</vt:lpstr>
      <vt:lpstr>PowerPoint 演示文稿</vt:lpstr>
      <vt:lpstr>PowerPoint 演示文稿</vt:lpstr>
      <vt:lpstr>8.2.3 半导体存储器的应用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8.3.1 可编程逻辑器件的基本结构及分类</vt:lpstr>
      <vt:lpstr>PowerPoint 演示文稿</vt:lpstr>
      <vt:lpstr>PowerPoint 演示文稿</vt:lpstr>
      <vt:lpstr>PowerPoint 演示文稿</vt:lpstr>
      <vt:lpstr>PowerPoint 演示文稿</vt:lpstr>
      <vt:lpstr>8.3.2 可编程逻辑器件的应用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Guild Design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www.themegallery.com</dc:creator>
  <cp:lastModifiedBy>WPS_1632966238</cp:lastModifiedBy>
  <cp:revision>366</cp:revision>
  <dcterms:created xsi:type="dcterms:W3CDTF">2007-02-20T07:59:00Z</dcterms:created>
  <dcterms:modified xsi:type="dcterms:W3CDTF">2022-03-21T06:21:11Z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C88DE5731872427AB3758C04297EADF7</vt:lpwstr>
  </property>
  <property fmtid="{D5CDD505-2E9C-101B-9397-08002B2CF9AE}" pid="3" name="KSOProductBuildVer">
    <vt:lpwstr>2052-11.1.0.11365</vt:lpwstr>
  </property>
</Properties>
</file>

<file path=[Content_Types].xml><?xml version="1.0" encoding="utf-8"?>
<Types xmlns="http://schemas.openxmlformats.org/package/2006/content-types">
  <Default Extension="jpeg" ContentType="image/jpeg"/>
  <Default Extension="JPG" ContentType="image/.jpg"/>
  <Default Extension="vml" ContentType="application/vnd.openxmlformats-officedocument.vmlDrawing"/>
  <Default Extension="bin" ContentType="application/vnd.openxmlformats-officedocument.oleObject"/>
  <Default Extension="png" ContentType="image/png"/>
  <Default Extension="wmf" ContentType="image/x-wmf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1"/>
  </p:notesMasterIdLst>
  <p:handoutMasterIdLst>
    <p:handoutMasterId r:id="rId46"/>
  </p:handoutMasterIdLst>
  <p:sldIdLst>
    <p:sldId id="258" r:id="rId3"/>
    <p:sldId id="261" r:id="rId4"/>
    <p:sldId id="259" r:id="rId5"/>
    <p:sldId id="264" r:id="rId6"/>
    <p:sldId id="266" r:id="rId7"/>
    <p:sldId id="268" r:id="rId8"/>
    <p:sldId id="267" r:id="rId9"/>
    <p:sldId id="269" r:id="rId10"/>
    <p:sldId id="270" r:id="rId11"/>
    <p:sldId id="271" r:id="rId12"/>
    <p:sldId id="362" r:id="rId13"/>
    <p:sldId id="272" r:id="rId14"/>
    <p:sldId id="273" r:id="rId15"/>
    <p:sldId id="274" r:id="rId16"/>
    <p:sldId id="275" r:id="rId17"/>
    <p:sldId id="454" r:id="rId18"/>
    <p:sldId id="455" r:id="rId19"/>
    <p:sldId id="493" r:id="rId20"/>
    <p:sldId id="494" r:id="rId21"/>
    <p:sldId id="456" r:id="rId22"/>
    <p:sldId id="457" r:id="rId23"/>
    <p:sldId id="458" r:id="rId24"/>
    <p:sldId id="495" r:id="rId25"/>
    <p:sldId id="496" r:id="rId26"/>
    <p:sldId id="498" r:id="rId27"/>
    <p:sldId id="460" r:id="rId28"/>
    <p:sldId id="535" r:id="rId29"/>
    <p:sldId id="461" r:id="rId30"/>
    <p:sldId id="462" r:id="rId31"/>
    <p:sldId id="536" r:id="rId32"/>
    <p:sldId id="537" r:id="rId33"/>
    <p:sldId id="538" r:id="rId34"/>
    <p:sldId id="463" r:id="rId35"/>
    <p:sldId id="464" r:id="rId36"/>
    <p:sldId id="465" r:id="rId37"/>
    <p:sldId id="539" r:id="rId38"/>
    <p:sldId id="540" r:id="rId39"/>
    <p:sldId id="466" r:id="rId40"/>
    <p:sldId id="467" r:id="rId42"/>
    <p:sldId id="541" r:id="rId43"/>
    <p:sldId id="542" r:id="rId44"/>
    <p:sldId id="468" r:id="rId45"/>
  </p:sldIdLst>
  <p:sldSz cx="9144000" cy="6858000" type="screen4x3"/>
  <p:notesSz cx="6858000" cy="9144000"/>
  <p:defaultTextStyle>
    <a:defPPr>
      <a:defRPr lang="en-US"/>
    </a:defPPr>
    <a:lvl1pPr marL="0" lvl="0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1pPr>
    <a:lvl2pPr marL="457200" lvl="1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2pPr>
    <a:lvl3pPr marL="914400" lvl="2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3pPr>
    <a:lvl4pPr marL="1371600" lvl="3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4pPr>
    <a:lvl5pPr marL="1828800" lvl="4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5pPr>
    <a:lvl6pPr marL="2286000" lvl="5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6pPr>
    <a:lvl7pPr marL="2743200" lvl="6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7pPr>
    <a:lvl8pPr marL="3200400" lvl="7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8pPr>
    <a:lvl9pPr marL="3657600" lvl="8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70707"/>
    <a:srgbClr val="02115E"/>
    <a:srgbClr val="FE09D6"/>
    <a:srgbClr val="FE1CD6"/>
    <a:srgbClr val="FF9900"/>
    <a:srgbClr val="92D0EF"/>
    <a:srgbClr val="00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>
    <p:restoredLeft sz="15620"/>
    <p:restoredTop sz="94660"/>
  </p:normalViewPr>
  <p:slideViewPr>
    <p:cSldViewPr showGuides="1">
      <p:cViewPr varScale="1">
        <p:scale>
          <a:sx n="71" d="100"/>
          <a:sy n="71" d="100"/>
        </p:scale>
        <p:origin x="-756" y="-90"/>
      </p:cViewPr>
      <p:guideLst>
        <p:guide orient="horz" pos="2170"/>
        <p:guide pos="285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 showFormatting="0">
    <p:cViewPr>
      <p:scale>
        <a:sx n="66" d="100"/>
        <a:sy n="66" d="100"/>
      </p:scale>
      <p:origin x="0" y="696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9" Type="http://schemas.openxmlformats.org/officeDocument/2006/relationships/tableStyles" Target="tableStyles.xml"/><Relationship Id="rId48" Type="http://schemas.openxmlformats.org/officeDocument/2006/relationships/viewProps" Target="viewProps.xml"/><Relationship Id="rId47" Type="http://schemas.openxmlformats.org/officeDocument/2006/relationships/presProps" Target="presProps.xml"/><Relationship Id="rId46" Type="http://schemas.openxmlformats.org/officeDocument/2006/relationships/handoutMaster" Target="handoutMasters/handoutMaster1.xml"/><Relationship Id="rId45" Type="http://schemas.openxmlformats.org/officeDocument/2006/relationships/slide" Target="slides/slide42.xml"/><Relationship Id="rId44" Type="http://schemas.openxmlformats.org/officeDocument/2006/relationships/slide" Target="slides/slide41.xml"/><Relationship Id="rId43" Type="http://schemas.openxmlformats.org/officeDocument/2006/relationships/slide" Target="slides/slide40.xml"/><Relationship Id="rId42" Type="http://schemas.openxmlformats.org/officeDocument/2006/relationships/slide" Target="slides/slide39.xml"/><Relationship Id="rId41" Type="http://schemas.openxmlformats.org/officeDocument/2006/relationships/notesMaster" Target="notesMasters/notesMaster1.xml"/><Relationship Id="rId40" Type="http://schemas.openxmlformats.org/officeDocument/2006/relationships/slide" Target="slides/slide38.xml"/><Relationship Id="rId4" Type="http://schemas.openxmlformats.org/officeDocument/2006/relationships/slide" Target="slides/slide2.xml"/><Relationship Id="rId39" Type="http://schemas.openxmlformats.org/officeDocument/2006/relationships/slide" Target="slides/slide37.xml"/><Relationship Id="rId38" Type="http://schemas.openxmlformats.org/officeDocument/2006/relationships/slide" Target="slides/slide36.xml"/><Relationship Id="rId37" Type="http://schemas.openxmlformats.org/officeDocument/2006/relationships/slide" Target="slides/slide35.xml"/><Relationship Id="rId36" Type="http://schemas.openxmlformats.org/officeDocument/2006/relationships/slide" Target="slides/slide34.xml"/><Relationship Id="rId35" Type="http://schemas.openxmlformats.org/officeDocument/2006/relationships/slide" Target="slides/slide33.xml"/><Relationship Id="rId34" Type="http://schemas.openxmlformats.org/officeDocument/2006/relationships/slide" Target="slides/slide32.xml"/><Relationship Id="rId33" Type="http://schemas.openxmlformats.org/officeDocument/2006/relationships/slide" Target="slides/slide31.xml"/><Relationship Id="rId32" Type="http://schemas.openxmlformats.org/officeDocument/2006/relationships/slide" Target="slides/slide30.xml"/><Relationship Id="rId31" Type="http://schemas.openxmlformats.org/officeDocument/2006/relationships/slide" Target="slides/slide29.xml"/><Relationship Id="rId30" Type="http://schemas.openxmlformats.org/officeDocument/2006/relationships/slide" Target="slides/slide28.xml"/><Relationship Id="rId3" Type="http://schemas.openxmlformats.org/officeDocument/2006/relationships/slide" Target="slides/slide1.xml"/><Relationship Id="rId29" Type="http://schemas.openxmlformats.org/officeDocument/2006/relationships/slide" Target="slides/slide27.xml"/><Relationship Id="rId28" Type="http://schemas.openxmlformats.org/officeDocument/2006/relationships/slide" Target="slides/slide26.xml"/><Relationship Id="rId27" Type="http://schemas.openxmlformats.org/officeDocument/2006/relationships/slide" Target="slides/slide25.xml"/><Relationship Id="rId26" Type="http://schemas.openxmlformats.org/officeDocument/2006/relationships/slide" Target="slides/slide24.xml"/><Relationship Id="rId25" Type="http://schemas.openxmlformats.org/officeDocument/2006/relationships/slide" Target="slides/slide23.xml"/><Relationship Id="rId24" Type="http://schemas.openxmlformats.org/officeDocument/2006/relationships/slide" Target="slides/slide22.xml"/><Relationship Id="rId23" Type="http://schemas.openxmlformats.org/officeDocument/2006/relationships/slide" Target="slides/slide21.xml"/><Relationship Id="rId22" Type="http://schemas.openxmlformats.org/officeDocument/2006/relationships/slide" Target="slides/slide20.xml"/><Relationship Id="rId21" Type="http://schemas.openxmlformats.org/officeDocument/2006/relationships/slide" Target="slides/slide19.xml"/><Relationship Id="rId20" Type="http://schemas.openxmlformats.org/officeDocument/2006/relationships/slide" Target="slides/slide18.xml"/><Relationship Id="rId2" Type="http://schemas.openxmlformats.org/officeDocument/2006/relationships/theme" Target="theme/theme1.xml"/><Relationship Id="rId19" Type="http://schemas.openxmlformats.org/officeDocument/2006/relationships/slide" Target="slides/slide17.xml"/><Relationship Id="rId18" Type="http://schemas.openxmlformats.org/officeDocument/2006/relationships/slide" Target="slides/slide16.xml"/><Relationship Id="rId17" Type="http://schemas.openxmlformats.org/officeDocument/2006/relationships/slide" Target="slides/slide15.xml"/><Relationship Id="rId16" Type="http://schemas.openxmlformats.org/officeDocument/2006/relationships/slide" Target="slides/slide14.xml"/><Relationship Id="rId15" Type="http://schemas.openxmlformats.org/officeDocument/2006/relationships/slide" Target="slides/slide13.xml"/><Relationship Id="rId14" Type="http://schemas.openxmlformats.org/officeDocument/2006/relationships/slide" Target="slides/slide12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20.wmf"/></Relationships>
</file>

<file path=ppt/drawings/_rels/vmlDrawing2.vml.rels><?xml version="1.0" encoding="UTF-8" standalone="yes"?>
<Relationships xmlns="http://schemas.openxmlformats.org/package/2006/relationships"><Relationship Id="rId1" Type="http://schemas.openxmlformats.org/officeDocument/2006/relationships/image" Target="../media/image24.wmf"/></Relationships>
</file>

<file path=ppt/drawings/_rels/vmlDrawing3.vml.rels><?xml version="1.0" encoding="UTF-8" standalone="yes"?>
<Relationships xmlns="http://schemas.openxmlformats.org/package/2006/relationships"><Relationship Id="rId1" Type="http://schemas.openxmlformats.org/officeDocument/2006/relationships/image" Target="../media/image25.wmf"/></Relationships>
</file>

<file path=ppt/drawings/_rels/vmlDrawing4.vml.rels><?xml version="1.0" encoding="UTF-8" standalone="yes"?>
<Relationships xmlns="http://schemas.openxmlformats.org/package/2006/relationships"><Relationship Id="rId2" Type="http://schemas.openxmlformats.org/officeDocument/2006/relationships/image" Target="../media/image27.wmf"/><Relationship Id="rId1" Type="http://schemas.openxmlformats.org/officeDocument/2006/relationships/image" Target="../media/image26.wmf"/></Relationships>
</file>

<file path=ppt/drawings/_rels/vmlDrawing5.vml.rels><?xml version="1.0" encoding="UTF-8" standalone="yes"?>
<Relationships xmlns="http://schemas.openxmlformats.org/package/2006/relationships"><Relationship Id="rId2" Type="http://schemas.openxmlformats.org/officeDocument/2006/relationships/image" Target="../media/image29.wmf"/><Relationship Id="rId1" Type="http://schemas.openxmlformats.org/officeDocument/2006/relationships/image" Target="../media/image28.wmf"/></Relationships>
</file>

<file path=ppt/drawings/_rels/vmlDrawing6.vml.rels><?xml version="1.0" encoding="UTF-8" standalone="yes"?>
<Relationships xmlns="http://schemas.openxmlformats.org/package/2006/relationships"><Relationship Id="rId2" Type="http://schemas.openxmlformats.org/officeDocument/2006/relationships/image" Target="../media/image31.wmf"/><Relationship Id="rId1" Type="http://schemas.openxmlformats.org/officeDocument/2006/relationships/image" Target="../media/image30.wmf"/></Relationships>
</file>

<file path=ppt/drawings/_rels/vmlDrawing7.vml.rels><?xml version="1.0" encoding="UTF-8" standalone="yes"?>
<Relationships xmlns="http://schemas.openxmlformats.org/package/2006/relationships"><Relationship Id="rId6" Type="http://schemas.openxmlformats.org/officeDocument/2006/relationships/image" Target="../media/image37.wmf"/><Relationship Id="rId5" Type="http://schemas.openxmlformats.org/officeDocument/2006/relationships/image" Target="../media/image36.wmf"/><Relationship Id="rId4" Type="http://schemas.openxmlformats.org/officeDocument/2006/relationships/image" Target="../media/image35.wmf"/><Relationship Id="rId3" Type="http://schemas.openxmlformats.org/officeDocument/2006/relationships/image" Target="../media/image34.wmf"/><Relationship Id="rId2" Type="http://schemas.openxmlformats.org/officeDocument/2006/relationships/image" Target="../media/image33.wmf"/><Relationship Id="rId1" Type="http://schemas.openxmlformats.org/officeDocument/2006/relationships/image" Target="../media/image32.wmf"/></Relationships>
</file>

<file path=ppt/drawings/_rels/vmlDrawing8.vml.rels><?xml version="1.0" encoding="UTF-8" standalone="yes"?>
<Relationships xmlns="http://schemas.openxmlformats.org/package/2006/relationships"><Relationship Id="rId4" Type="http://schemas.openxmlformats.org/officeDocument/2006/relationships/image" Target="../media/image41.wmf"/><Relationship Id="rId3" Type="http://schemas.openxmlformats.org/officeDocument/2006/relationships/image" Target="../media/image40.wmf"/><Relationship Id="rId2" Type="http://schemas.openxmlformats.org/officeDocument/2006/relationships/image" Target="../media/image39.wmf"/><Relationship Id="rId1" Type="http://schemas.openxmlformats.org/officeDocument/2006/relationships/image" Target="../media/image38.wmf"/></Relationships>
</file>

<file path=ppt/drawings/_rels/vmlDrawing9.vml.rels><?xml version="1.0" encoding="UTF-8" standalone="yes"?>
<Relationships xmlns="http://schemas.openxmlformats.org/package/2006/relationships"><Relationship Id="rId1" Type="http://schemas.openxmlformats.org/officeDocument/2006/relationships/image" Target="../media/image42.wmf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/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D4CE3B78-4C24-40AA-B3C7-9D99C1C50DA8}" type="datetimeFigureOut"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p>
            <a:pPr lvl="0" algn="r" eaLnBrk="1" hangingPunct="1">
              <a:buNone/>
            </a:pPr>
            <a:fld id="{9A0DB2DC-4C9A-4742-B13C-FB6460FD3503}" type="slidenum">
              <a:rPr lang="zh-CN" altLang="en-US" sz="1200" dirty="0"/>
            </a:fld>
            <a:endParaRPr lang="zh-CN" altLang="en-US" sz="1200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/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>
                <a:latin typeface="Arial" panose="020B0604020202020204" pitchFamily="34" charset="0"/>
                <a:ea typeface="+mn-ea"/>
              </a:defRPr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>
                <a:latin typeface="Arial" panose="020B0604020202020204" pitchFamily="34" charset="0"/>
                <a:ea typeface="+mn-ea"/>
              </a:defRPr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6EBB3A8F-C92E-4D35-9C30-EEB82B447B3F}" type="datetimeFigureOut"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>
                <a:latin typeface="Arial" panose="020B0604020202020204" pitchFamily="34" charset="0"/>
                <a:ea typeface="+mn-ea"/>
              </a:defRPr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p>
            <a:pPr lvl="0" algn="r" eaLnBrk="1" hangingPunct="1">
              <a:buNone/>
            </a:pPr>
            <a:fld id="{9A0DB2DC-4C9A-4742-B13C-FB6460FD3503}" type="slidenum">
              <a:rPr lang="zh-CN" altLang="en-US" sz="1200" dirty="0"/>
            </a:fld>
            <a:endParaRPr lang="zh-CN" altLang="en-US" sz="1200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sldNum="0" hdr="0" ftr="0" dt="0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8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9" Type="http://schemas.openxmlformats.org/officeDocument/2006/relationships/image" Target="../media/image8.png"/><Relationship Id="rId8" Type="http://schemas.openxmlformats.org/officeDocument/2006/relationships/image" Target="../media/image7.png"/><Relationship Id="rId7" Type="http://schemas.openxmlformats.org/officeDocument/2006/relationships/image" Target="../media/image6.png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1" Type="http://schemas.openxmlformats.org/officeDocument/2006/relationships/image" Target="../media/image10.png"/><Relationship Id="rId10" Type="http://schemas.openxmlformats.org/officeDocument/2006/relationships/image" Target="../media/image9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 showMasterPhAnim="0" showMasterSp="0">
  <p:cSld name="标题幻灯片">
    <p:bg>
      <p:bgPr>
        <a:blipFill rotWithShape="0"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ctangle 127"/>
          <p:cNvSpPr>
            <a:spLocks noChangeArrowheads="1"/>
          </p:cNvSpPr>
          <p:nvPr/>
        </p:nvSpPr>
        <p:spPr bwMode="gray">
          <a:xfrm>
            <a:off x="0" y="0"/>
            <a:ext cx="9144000" cy="1828800"/>
          </a:xfrm>
          <a:prstGeom prst="rect">
            <a:avLst/>
          </a:prstGeom>
          <a:gradFill rotWithShape="1">
            <a:gsLst>
              <a:gs pos="0">
                <a:schemeClr val="accent1"/>
              </a:gs>
              <a:gs pos="100000">
                <a:schemeClr val="accent1">
                  <a:gamma/>
                  <a:tint val="0"/>
                  <a:invGamma/>
                  <a:alpha val="0"/>
                </a:schemeClr>
              </a:gs>
            </a:gsLst>
            <a:lin ang="5400000" scaled="1"/>
          </a:gradFill>
          <a:ln w="9525">
            <a:noFill/>
            <a:miter lim="800000"/>
          </a:ln>
          <a:effectLst/>
        </p:spPr>
        <p:txBody>
          <a:bodyPr wrap="none" anchor="ctr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grpSp>
        <p:nvGrpSpPr>
          <p:cNvPr id="2051" name="Group 15"/>
          <p:cNvGrpSpPr/>
          <p:nvPr/>
        </p:nvGrpSpPr>
        <p:grpSpPr>
          <a:xfrm>
            <a:off x="152400" y="381000"/>
            <a:ext cx="6838950" cy="3365500"/>
            <a:chOff x="664" y="1951"/>
            <a:chExt cx="4308" cy="2120"/>
          </a:xfrm>
        </p:grpSpPr>
        <p:sp>
          <p:nvSpPr>
            <p:cNvPr id="2066" name="Freeform 16"/>
            <p:cNvSpPr/>
            <p:nvPr/>
          </p:nvSpPr>
          <p:spPr>
            <a:xfrm>
              <a:off x="743" y="2045"/>
              <a:ext cx="1267" cy="1938"/>
            </a:xfrm>
            <a:custGeom>
              <a:avLst/>
              <a:gdLst/>
              <a:ahLst/>
              <a:cxnLst>
                <a:cxn ang="0">
                  <a:pos x="116" y="258"/>
                </a:cxn>
                <a:cxn ang="0">
                  <a:pos x="320" y="210"/>
                </a:cxn>
                <a:cxn ang="0">
                  <a:pos x="434" y="240"/>
                </a:cxn>
                <a:cxn ang="0">
                  <a:pos x="416" y="444"/>
                </a:cxn>
                <a:cxn ang="0">
                  <a:pos x="272" y="582"/>
                </a:cxn>
                <a:cxn ang="0">
                  <a:pos x="218" y="714"/>
                </a:cxn>
                <a:cxn ang="0">
                  <a:pos x="284" y="964"/>
                </a:cxn>
                <a:cxn ang="0">
                  <a:pos x="316" y="960"/>
                </a:cxn>
                <a:cxn ang="0">
                  <a:pos x="328" y="906"/>
                </a:cxn>
                <a:cxn ang="0">
                  <a:pos x="478" y="1154"/>
                </a:cxn>
                <a:cxn ang="0">
                  <a:pos x="650" y="1200"/>
                </a:cxn>
                <a:cxn ang="0">
                  <a:pos x="794" y="1350"/>
                </a:cxn>
                <a:cxn ang="0">
                  <a:pos x="854" y="1422"/>
                </a:cxn>
                <a:cxn ang="0">
                  <a:pos x="770" y="1608"/>
                </a:cxn>
                <a:cxn ang="0">
                  <a:pos x="916" y="1782"/>
                </a:cxn>
                <a:cxn ang="0">
                  <a:pos x="1034" y="2022"/>
                </a:cxn>
                <a:cxn ang="0">
                  <a:pos x="1094" y="2310"/>
                </a:cxn>
                <a:cxn ang="0">
                  <a:pos x="1194" y="2540"/>
                </a:cxn>
                <a:cxn ang="0">
                  <a:pos x="1280" y="2520"/>
                </a:cxn>
                <a:cxn ang="0">
                  <a:pos x="1244" y="2394"/>
                </a:cxn>
                <a:cxn ang="0">
                  <a:pos x="1288" y="2306"/>
                </a:cxn>
                <a:cxn ang="0">
                  <a:pos x="1368" y="2228"/>
                </a:cxn>
                <a:cxn ang="0">
                  <a:pos x="1448" y="2076"/>
                </a:cxn>
                <a:cxn ang="0">
                  <a:pos x="1568" y="1950"/>
                </a:cxn>
                <a:cxn ang="0">
                  <a:pos x="1622" y="1746"/>
                </a:cxn>
                <a:cxn ang="0">
                  <a:pos x="1552" y="1538"/>
                </a:cxn>
                <a:cxn ang="0">
                  <a:pos x="1376" y="1410"/>
                </a:cxn>
                <a:cxn ang="0">
                  <a:pos x="1104" y="1280"/>
                </a:cxn>
                <a:cxn ang="0">
                  <a:pos x="974" y="1260"/>
                </a:cxn>
                <a:cxn ang="0">
                  <a:pos x="904" y="1268"/>
                </a:cxn>
                <a:cxn ang="0">
                  <a:pos x="794" y="1308"/>
                </a:cxn>
                <a:cxn ang="0">
                  <a:pos x="758" y="1174"/>
                </a:cxn>
                <a:cxn ang="0">
                  <a:pos x="736" y="1062"/>
                </a:cxn>
                <a:cxn ang="0">
                  <a:pos x="632" y="1104"/>
                </a:cxn>
                <a:cxn ang="0">
                  <a:pos x="568" y="950"/>
                </a:cxn>
                <a:cxn ang="0">
                  <a:pos x="740" y="912"/>
                </a:cxn>
                <a:cxn ang="0">
                  <a:pos x="842" y="906"/>
                </a:cxn>
                <a:cxn ang="0">
                  <a:pos x="896" y="900"/>
                </a:cxn>
                <a:cxn ang="0">
                  <a:pos x="1058" y="750"/>
                </a:cxn>
                <a:cxn ang="0">
                  <a:pos x="1184" y="678"/>
                </a:cxn>
                <a:cxn ang="0">
                  <a:pos x="1278" y="636"/>
                </a:cxn>
                <a:cxn ang="0">
                  <a:pos x="1340" y="538"/>
                </a:cxn>
                <a:cxn ang="0">
                  <a:pos x="1288" y="512"/>
                </a:cxn>
                <a:cxn ang="0">
                  <a:pos x="1526" y="456"/>
                </a:cxn>
                <a:cxn ang="0">
                  <a:pos x="1406" y="342"/>
                </a:cxn>
                <a:cxn ang="0">
                  <a:pos x="1328" y="264"/>
                </a:cxn>
                <a:cxn ang="0">
                  <a:pos x="1222" y="364"/>
                </a:cxn>
                <a:cxn ang="0">
                  <a:pos x="1110" y="444"/>
                </a:cxn>
                <a:cxn ang="0">
                  <a:pos x="1022" y="304"/>
                </a:cxn>
                <a:cxn ang="0">
                  <a:pos x="1212" y="240"/>
                </a:cxn>
                <a:cxn ang="0">
                  <a:pos x="1266" y="198"/>
                </a:cxn>
                <a:cxn ang="0">
                  <a:pos x="1328" y="172"/>
                </a:cxn>
                <a:cxn ang="0">
                  <a:pos x="1286" y="144"/>
                </a:cxn>
                <a:cxn ang="0">
                  <a:pos x="1262" y="120"/>
                </a:cxn>
                <a:cxn ang="0">
                  <a:pos x="1202" y="102"/>
                </a:cxn>
                <a:cxn ang="0">
                  <a:pos x="1106" y="136"/>
                </a:cxn>
                <a:cxn ang="0">
                  <a:pos x="950" y="120"/>
                </a:cxn>
                <a:cxn ang="0">
                  <a:pos x="550" y="0"/>
                </a:cxn>
                <a:cxn ang="0">
                  <a:pos x="344" y="32"/>
                </a:cxn>
                <a:cxn ang="0">
                  <a:pos x="290" y="102"/>
                </a:cxn>
                <a:cxn ang="0">
                  <a:pos x="128" y="174"/>
                </a:cxn>
                <a:cxn ang="0">
                  <a:pos x="128" y="216"/>
                </a:cxn>
                <a:cxn ang="0">
                  <a:pos x="2" y="252"/>
                </a:cxn>
              </a:cxnLst>
              <a:pathLst>
                <a:path w="1692" h="2586">
                  <a:moveTo>
                    <a:pt x="2" y="252"/>
                  </a:moveTo>
                  <a:lnTo>
                    <a:pt x="68" y="264"/>
                  </a:lnTo>
                  <a:lnTo>
                    <a:pt x="116" y="258"/>
                  </a:lnTo>
                  <a:lnTo>
                    <a:pt x="188" y="216"/>
                  </a:lnTo>
                  <a:lnTo>
                    <a:pt x="236" y="210"/>
                  </a:lnTo>
                  <a:lnTo>
                    <a:pt x="320" y="210"/>
                  </a:lnTo>
                  <a:lnTo>
                    <a:pt x="368" y="216"/>
                  </a:lnTo>
                  <a:lnTo>
                    <a:pt x="398" y="246"/>
                  </a:lnTo>
                  <a:lnTo>
                    <a:pt x="434" y="240"/>
                  </a:lnTo>
                  <a:lnTo>
                    <a:pt x="422" y="294"/>
                  </a:lnTo>
                  <a:lnTo>
                    <a:pt x="404" y="354"/>
                  </a:lnTo>
                  <a:lnTo>
                    <a:pt x="416" y="444"/>
                  </a:lnTo>
                  <a:lnTo>
                    <a:pt x="408" y="480"/>
                  </a:lnTo>
                  <a:lnTo>
                    <a:pt x="380" y="474"/>
                  </a:lnTo>
                  <a:lnTo>
                    <a:pt x="272" y="582"/>
                  </a:lnTo>
                  <a:lnTo>
                    <a:pt x="236" y="628"/>
                  </a:lnTo>
                  <a:lnTo>
                    <a:pt x="242" y="672"/>
                  </a:lnTo>
                  <a:lnTo>
                    <a:pt x="218" y="714"/>
                  </a:lnTo>
                  <a:lnTo>
                    <a:pt x="268" y="774"/>
                  </a:lnTo>
                  <a:lnTo>
                    <a:pt x="262" y="844"/>
                  </a:lnTo>
                  <a:lnTo>
                    <a:pt x="284" y="964"/>
                  </a:lnTo>
                  <a:lnTo>
                    <a:pt x="320" y="1010"/>
                  </a:lnTo>
                  <a:lnTo>
                    <a:pt x="324" y="970"/>
                  </a:lnTo>
                  <a:lnTo>
                    <a:pt x="316" y="960"/>
                  </a:lnTo>
                  <a:lnTo>
                    <a:pt x="302" y="834"/>
                  </a:lnTo>
                  <a:lnTo>
                    <a:pt x="326" y="830"/>
                  </a:lnTo>
                  <a:lnTo>
                    <a:pt x="328" y="906"/>
                  </a:lnTo>
                  <a:lnTo>
                    <a:pt x="380" y="996"/>
                  </a:lnTo>
                  <a:lnTo>
                    <a:pt x="368" y="1074"/>
                  </a:lnTo>
                  <a:lnTo>
                    <a:pt x="478" y="1154"/>
                  </a:lnTo>
                  <a:lnTo>
                    <a:pt x="564" y="1164"/>
                  </a:lnTo>
                  <a:lnTo>
                    <a:pt x="612" y="1208"/>
                  </a:lnTo>
                  <a:lnTo>
                    <a:pt x="650" y="1200"/>
                  </a:lnTo>
                  <a:lnTo>
                    <a:pt x="680" y="1224"/>
                  </a:lnTo>
                  <a:lnTo>
                    <a:pt x="698" y="1272"/>
                  </a:lnTo>
                  <a:lnTo>
                    <a:pt x="794" y="1350"/>
                  </a:lnTo>
                  <a:lnTo>
                    <a:pt x="842" y="1308"/>
                  </a:lnTo>
                  <a:lnTo>
                    <a:pt x="848" y="1350"/>
                  </a:lnTo>
                  <a:lnTo>
                    <a:pt x="854" y="1422"/>
                  </a:lnTo>
                  <a:lnTo>
                    <a:pt x="786" y="1490"/>
                  </a:lnTo>
                  <a:lnTo>
                    <a:pt x="788" y="1542"/>
                  </a:lnTo>
                  <a:lnTo>
                    <a:pt x="770" y="1608"/>
                  </a:lnTo>
                  <a:lnTo>
                    <a:pt x="802" y="1634"/>
                  </a:lnTo>
                  <a:lnTo>
                    <a:pt x="848" y="1668"/>
                  </a:lnTo>
                  <a:lnTo>
                    <a:pt x="916" y="1782"/>
                  </a:lnTo>
                  <a:lnTo>
                    <a:pt x="956" y="1800"/>
                  </a:lnTo>
                  <a:lnTo>
                    <a:pt x="1010" y="1848"/>
                  </a:lnTo>
                  <a:lnTo>
                    <a:pt x="1034" y="2022"/>
                  </a:lnTo>
                  <a:lnTo>
                    <a:pt x="1058" y="2178"/>
                  </a:lnTo>
                  <a:lnTo>
                    <a:pt x="1046" y="2244"/>
                  </a:lnTo>
                  <a:lnTo>
                    <a:pt x="1094" y="2310"/>
                  </a:lnTo>
                  <a:lnTo>
                    <a:pt x="1118" y="2364"/>
                  </a:lnTo>
                  <a:lnTo>
                    <a:pt x="1138" y="2458"/>
                  </a:lnTo>
                  <a:lnTo>
                    <a:pt x="1194" y="2540"/>
                  </a:lnTo>
                  <a:lnTo>
                    <a:pt x="1286" y="2586"/>
                  </a:lnTo>
                  <a:lnTo>
                    <a:pt x="1382" y="2574"/>
                  </a:lnTo>
                  <a:lnTo>
                    <a:pt x="1280" y="2520"/>
                  </a:lnTo>
                  <a:lnTo>
                    <a:pt x="1266" y="2472"/>
                  </a:lnTo>
                  <a:lnTo>
                    <a:pt x="1288" y="2428"/>
                  </a:lnTo>
                  <a:lnTo>
                    <a:pt x="1244" y="2394"/>
                  </a:lnTo>
                  <a:lnTo>
                    <a:pt x="1284" y="2334"/>
                  </a:lnTo>
                  <a:lnTo>
                    <a:pt x="1244" y="2300"/>
                  </a:lnTo>
                  <a:lnTo>
                    <a:pt x="1288" y="2306"/>
                  </a:lnTo>
                  <a:lnTo>
                    <a:pt x="1286" y="2244"/>
                  </a:lnTo>
                  <a:lnTo>
                    <a:pt x="1330" y="2268"/>
                  </a:lnTo>
                  <a:lnTo>
                    <a:pt x="1368" y="2228"/>
                  </a:lnTo>
                  <a:lnTo>
                    <a:pt x="1334" y="2160"/>
                  </a:lnTo>
                  <a:lnTo>
                    <a:pt x="1382" y="2184"/>
                  </a:lnTo>
                  <a:lnTo>
                    <a:pt x="1448" y="2076"/>
                  </a:lnTo>
                  <a:lnTo>
                    <a:pt x="1468" y="2052"/>
                  </a:lnTo>
                  <a:lnTo>
                    <a:pt x="1476" y="1982"/>
                  </a:lnTo>
                  <a:lnTo>
                    <a:pt x="1568" y="1950"/>
                  </a:lnTo>
                  <a:lnTo>
                    <a:pt x="1612" y="1880"/>
                  </a:lnTo>
                  <a:lnTo>
                    <a:pt x="1628" y="1830"/>
                  </a:lnTo>
                  <a:lnTo>
                    <a:pt x="1622" y="1746"/>
                  </a:lnTo>
                  <a:lnTo>
                    <a:pt x="1692" y="1644"/>
                  </a:lnTo>
                  <a:lnTo>
                    <a:pt x="1652" y="1578"/>
                  </a:lnTo>
                  <a:lnTo>
                    <a:pt x="1552" y="1538"/>
                  </a:lnTo>
                  <a:lnTo>
                    <a:pt x="1448" y="1500"/>
                  </a:lnTo>
                  <a:lnTo>
                    <a:pt x="1376" y="1494"/>
                  </a:lnTo>
                  <a:lnTo>
                    <a:pt x="1376" y="1410"/>
                  </a:lnTo>
                  <a:lnTo>
                    <a:pt x="1262" y="1356"/>
                  </a:lnTo>
                  <a:lnTo>
                    <a:pt x="1166" y="1272"/>
                  </a:lnTo>
                  <a:lnTo>
                    <a:pt x="1104" y="1280"/>
                  </a:lnTo>
                  <a:lnTo>
                    <a:pt x="1048" y="1276"/>
                  </a:lnTo>
                  <a:lnTo>
                    <a:pt x="1020" y="1244"/>
                  </a:lnTo>
                  <a:lnTo>
                    <a:pt x="974" y="1260"/>
                  </a:lnTo>
                  <a:lnTo>
                    <a:pt x="984" y="1238"/>
                  </a:lnTo>
                  <a:lnTo>
                    <a:pt x="934" y="1268"/>
                  </a:lnTo>
                  <a:lnTo>
                    <a:pt x="904" y="1268"/>
                  </a:lnTo>
                  <a:lnTo>
                    <a:pt x="872" y="1314"/>
                  </a:lnTo>
                  <a:lnTo>
                    <a:pt x="836" y="1272"/>
                  </a:lnTo>
                  <a:lnTo>
                    <a:pt x="794" y="1308"/>
                  </a:lnTo>
                  <a:lnTo>
                    <a:pt x="748" y="1278"/>
                  </a:lnTo>
                  <a:lnTo>
                    <a:pt x="758" y="1242"/>
                  </a:lnTo>
                  <a:lnTo>
                    <a:pt x="758" y="1174"/>
                  </a:lnTo>
                  <a:lnTo>
                    <a:pt x="698" y="1176"/>
                  </a:lnTo>
                  <a:lnTo>
                    <a:pt x="668" y="1140"/>
                  </a:lnTo>
                  <a:lnTo>
                    <a:pt x="736" y="1062"/>
                  </a:lnTo>
                  <a:lnTo>
                    <a:pt x="712" y="1050"/>
                  </a:lnTo>
                  <a:lnTo>
                    <a:pt x="658" y="1062"/>
                  </a:lnTo>
                  <a:lnTo>
                    <a:pt x="632" y="1104"/>
                  </a:lnTo>
                  <a:lnTo>
                    <a:pt x="596" y="1110"/>
                  </a:lnTo>
                  <a:lnTo>
                    <a:pt x="538" y="1066"/>
                  </a:lnTo>
                  <a:lnTo>
                    <a:pt x="568" y="950"/>
                  </a:lnTo>
                  <a:lnTo>
                    <a:pt x="632" y="894"/>
                  </a:lnTo>
                  <a:lnTo>
                    <a:pt x="686" y="894"/>
                  </a:lnTo>
                  <a:lnTo>
                    <a:pt x="740" y="912"/>
                  </a:lnTo>
                  <a:lnTo>
                    <a:pt x="736" y="900"/>
                  </a:lnTo>
                  <a:lnTo>
                    <a:pt x="766" y="868"/>
                  </a:lnTo>
                  <a:lnTo>
                    <a:pt x="842" y="906"/>
                  </a:lnTo>
                  <a:lnTo>
                    <a:pt x="848" y="966"/>
                  </a:lnTo>
                  <a:lnTo>
                    <a:pt x="884" y="984"/>
                  </a:lnTo>
                  <a:lnTo>
                    <a:pt x="896" y="900"/>
                  </a:lnTo>
                  <a:lnTo>
                    <a:pt x="878" y="858"/>
                  </a:lnTo>
                  <a:lnTo>
                    <a:pt x="998" y="806"/>
                  </a:lnTo>
                  <a:lnTo>
                    <a:pt x="1058" y="750"/>
                  </a:lnTo>
                  <a:lnTo>
                    <a:pt x="1100" y="696"/>
                  </a:lnTo>
                  <a:lnTo>
                    <a:pt x="1130" y="672"/>
                  </a:lnTo>
                  <a:lnTo>
                    <a:pt x="1184" y="678"/>
                  </a:lnTo>
                  <a:lnTo>
                    <a:pt x="1190" y="636"/>
                  </a:lnTo>
                  <a:lnTo>
                    <a:pt x="1280" y="588"/>
                  </a:lnTo>
                  <a:lnTo>
                    <a:pt x="1278" y="636"/>
                  </a:lnTo>
                  <a:lnTo>
                    <a:pt x="1360" y="602"/>
                  </a:lnTo>
                  <a:lnTo>
                    <a:pt x="1322" y="570"/>
                  </a:lnTo>
                  <a:lnTo>
                    <a:pt x="1340" y="538"/>
                  </a:lnTo>
                  <a:lnTo>
                    <a:pt x="1320" y="522"/>
                  </a:lnTo>
                  <a:lnTo>
                    <a:pt x="1286" y="546"/>
                  </a:lnTo>
                  <a:lnTo>
                    <a:pt x="1288" y="512"/>
                  </a:lnTo>
                  <a:lnTo>
                    <a:pt x="1400" y="504"/>
                  </a:lnTo>
                  <a:lnTo>
                    <a:pt x="1490" y="480"/>
                  </a:lnTo>
                  <a:lnTo>
                    <a:pt x="1526" y="456"/>
                  </a:lnTo>
                  <a:lnTo>
                    <a:pt x="1484" y="394"/>
                  </a:lnTo>
                  <a:cubicBezTo>
                    <a:pt x="1474" y="370"/>
                    <a:pt x="1479" y="319"/>
                    <a:pt x="1466" y="310"/>
                  </a:cubicBezTo>
                  <a:cubicBezTo>
                    <a:pt x="1456" y="300"/>
                    <a:pt x="1423" y="343"/>
                    <a:pt x="1406" y="342"/>
                  </a:cubicBezTo>
                  <a:lnTo>
                    <a:pt x="1376" y="312"/>
                  </a:lnTo>
                  <a:lnTo>
                    <a:pt x="1376" y="270"/>
                  </a:lnTo>
                  <a:lnTo>
                    <a:pt x="1328" y="264"/>
                  </a:lnTo>
                  <a:lnTo>
                    <a:pt x="1312" y="252"/>
                  </a:lnTo>
                  <a:lnTo>
                    <a:pt x="1256" y="314"/>
                  </a:lnTo>
                  <a:lnTo>
                    <a:pt x="1222" y="364"/>
                  </a:lnTo>
                  <a:lnTo>
                    <a:pt x="1172" y="402"/>
                  </a:lnTo>
                  <a:lnTo>
                    <a:pt x="1136" y="474"/>
                  </a:lnTo>
                  <a:lnTo>
                    <a:pt x="1110" y="444"/>
                  </a:lnTo>
                  <a:lnTo>
                    <a:pt x="1128" y="394"/>
                  </a:lnTo>
                  <a:lnTo>
                    <a:pt x="1038" y="334"/>
                  </a:lnTo>
                  <a:lnTo>
                    <a:pt x="1022" y="304"/>
                  </a:lnTo>
                  <a:lnTo>
                    <a:pt x="1122" y="226"/>
                  </a:lnTo>
                  <a:lnTo>
                    <a:pt x="1184" y="222"/>
                  </a:lnTo>
                  <a:lnTo>
                    <a:pt x="1212" y="240"/>
                  </a:lnTo>
                  <a:lnTo>
                    <a:pt x="1248" y="220"/>
                  </a:lnTo>
                  <a:lnTo>
                    <a:pt x="1300" y="220"/>
                  </a:lnTo>
                  <a:lnTo>
                    <a:pt x="1266" y="198"/>
                  </a:lnTo>
                  <a:lnTo>
                    <a:pt x="1208" y="196"/>
                  </a:lnTo>
                  <a:lnTo>
                    <a:pt x="1250" y="174"/>
                  </a:lnTo>
                  <a:lnTo>
                    <a:pt x="1328" y="172"/>
                  </a:lnTo>
                  <a:lnTo>
                    <a:pt x="1364" y="132"/>
                  </a:lnTo>
                  <a:cubicBezTo>
                    <a:pt x="1346" y="124"/>
                    <a:pt x="1343" y="119"/>
                    <a:pt x="1324" y="122"/>
                  </a:cubicBezTo>
                  <a:cubicBezTo>
                    <a:pt x="1310" y="124"/>
                    <a:pt x="1294" y="132"/>
                    <a:pt x="1286" y="144"/>
                  </a:cubicBezTo>
                  <a:cubicBezTo>
                    <a:pt x="1282" y="149"/>
                    <a:pt x="1274" y="148"/>
                    <a:pt x="1268" y="150"/>
                  </a:cubicBezTo>
                  <a:cubicBezTo>
                    <a:pt x="1266" y="144"/>
                    <a:pt x="1259" y="138"/>
                    <a:pt x="1262" y="132"/>
                  </a:cubicBezTo>
                  <a:cubicBezTo>
                    <a:pt x="1269" y="118"/>
                    <a:pt x="1303" y="134"/>
                    <a:pt x="1262" y="120"/>
                  </a:cubicBezTo>
                  <a:cubicBezTo>
                    <a:pt x="1221" y="134"/>
                    <a:pt x="1252" y="105"/>
                    <a:pt x="1262" y="90"/>
                  </a:cubicBezTo>
                  <a:cubicBezTo>
                    <a:pt x="1260" y="84"/>
                    <a:pt x="1262" y="75"/>
                    <a:pt x="1256" y="72"/>
                  </a:cubicBezTo>
                  <a:cubicBezTo>
                    <a:pt x="1238" y="63"/>
                    <a:pt x="1202" y="102"/>
                    <a:pt x="1202" y="102"/>
                  </a:cubicBezTo>
                  <a:cubicBezTo>
                    <a:pt x="1198" y="108"/>
                    <a:pt x="1186" y="140"/>
                    <a:pt x="1180" y="144"/>
                  </a:cubicBezTo>
                  <a:cubicBezTo>
                    <a:pt x="1169" y="151"/>
                    <a:pt x="1148" y="122"/>
                    <a:pt x="1148" y="122"/>
                  </a:cubicBezTo>
                  <a:cubicBezTo>
                    <a:pt x="1138" y="123"/>
                    <a:pt x="1121" y="137"/>
                    <a:pt x="1106" y="136"/>
                  </a:cubicBezTo>
                  <a:cubicBezTo>
                    <a:pt x="1091" y="135"/>
                    <a:pt x="1074" y="117"/>
                    <a:pt x="1056" y="116"/>
                  </a:cubicBezTo>
                  <a:cubicBezTo>
                    <a:pt x="1038" y="115"/>
                    <a:pt x="1016" y="131"/>
                    <a:pt x="998" y="132"/>
                  </a:cubicBezTo>
                  <a:cubicBezTo>
                    <a:pt x="997" y="132"/>
                    <a:pt x="956" y="125"/>
                    <a:pt x="950" y="120"/>
                  </a:cubicBezTo>
                  <a:cubicBezTo>
                    <a:pt x="918" y="94"/>
                    <a:pt x="960" y="108"/>
                    <a:pt x="920" y="90"/>
                  </a:cubicBezTo>
                  <a:cubicBezTo>
                    <a:pt x="852" y="60"/>
                    <a:pt x="806" y="58"/>
                    <a:pt x="730" y="54"/>
                  </a:cubicBezTo>
                  <a:cubicBezTo>
                    <a:pt x="656" y="39"/>
                    <a:pt x="625" y="15"/>
                    <a:pt x="550" y="0"/>
                  </a:cubicBezTo>
                  <a:cubicBezTo>
                    <a:pt x="510" y="2"/>
                    <a:pt x="486" y="5"/>
                    <a:pt x="446" y="8"/>
                  </a:cubicBezTo>
                  <a:cubicBezTo>
                    <a:pt x="424" y="9"/>
                    <a:pt x="423" y="14"/>
                    <a:pt x="406" y="18"/>
                  </a:cubicBezTo>
                  <a:cubicBezTo>
                    <a:pt x="389" y="22"/>
                    <a:pt x="353" y="24"/>
                    <a:pt x="344" y="32"/>
                  </a:cubicBezTo>
                  <a:cubicBezTo>
                    <a:pt x="346" y="38"/>
                    <a:pt x="354" y="60"/>
                    <a:pt x="350" y="64"/>
                  </a:cubicBezTo>
                  <a:cubicBezTo>
                    <a:pt x="274" y="50"/>
                    <a:pt x="250" y="81"/>
                    <a:pt x="236" y="82"/>
                  </a:cubicBezTo>
                  <a:cubicBezTo>
                    <a:pt x="278" y="110"/>
                    <a:pt x="270" y="72"/>
                    <a:pt x="290" y="102"/>
                  </a:cubicBezTo>
                  <a:cubicBezTo>
                    <a:pt x="234" y="121"/>
                    <a:pt x="178" y="104"/>
                    <a:pt x="128" y="138"/>
                  </a:cubicBezTo>
                  <a:cubicBezTo>
                    <a:pt x="126" y="144"/>
                    <a:pt x="122" y="150"/>
                    <a:pt x="122" y="156"/>
                  </a:cubicBezTo>
                  <a:cubicBezTo>
                    <a:pt x="122" y="162"/>
                    <a:pt x="132" y="170"/>
                    <a:pt x="128" y="174"/>
                  </a:cubicBezTo>
                  <a:cubicBezTo>
                    <a:pt x="126" y="182"/>
                    <a:pt x="109" y="197"/>
                    <a:pt x="112" y="202"/>
                  </a:cubicBezTo>
                  <a:cubicBezTo>
                    <a:pt x="124" y="206"/>
                    <a:pt x="137" y="195"/>
                    <a:pt x="146" y="204"/>
                  </a:cubicBezTo>
                  <a:cubicBezTo>
                    <a:pt x="151" y="209"/>
                    <a:pt x="135" y="213"/>
                    <a:pt x="128" y="216"/>
                  </a:cubicBezTo>
                  <a:cubicBezTo>
                    <a:pt x="116" y="221"/>
                    <a:pt x="104" y="226"/>
                    <a:pt x="92" y="228"/>
                  </a:cubicBezTo>
                  <a:cubicBezTo>
                    <a:pt x="48" y="237"/>
                    <a:pt x="72" y="233"/>
                    <a:pt x="20" y="240"/>
                  </a:cubicBezTo>
                  <a:cubicBezTo>
                    <a:pt x="0" y="247"/>
                    <a:pt x="2" y="240"/>
                    <a:pt x="2" y="252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 w="12700">
              <a:noFill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2067" name="Freeform 17"/>
            <p:cNvSpPr/>
            <p:nvPr/>
          </p:nvSpPr>
          <p:spPr>
            <a:xfrm>
              <a:off x="703" y="2230"/>
              <a:ext cx="34" cy="28"/>
            </a:xfrm>
            <a:custGeom>
              <a:avLst/>
              <a:gdLst/>
              <a:ahLst/>
              <a:cxnLst>
                <a:cxn ang="0">
                  <a:pos x="16" y="4"/>
                </a:cxn>
                <a:cxn ang="0">
                  <a:pos x="0" y="22"/>
                </a:cxn>
                <a:cxn ang="0">
                  <a:pos x="22" y="38"/>
                </a:cxn>
                <a:cxn ang="0">
                  <a:pos x="46" y="26"/>
                </a:cxn>
                <a:cxn ang="0">
                  <a:pos x="30" y="0"/>
                </a:cxn>
                <a:cxn ang="0">
                  <a:pos x="16" y="4"/>
                </a:cxn>
              </a:cxnLst>
              <a:pathLst>
                <a:path w="46" h="38">
                  <a:moveTo>
                    <a:pt x="16" y="4"/>
                  </a:moveTo>
                  <a:lnTo>
                    <a:pt x="0" y="22"/>
                  </a:lnTo>
                  <a:lnTo>
                    <a:pt x="22" y="38"/>
                  </a:lnTo>
                  <a:lnTo>
                    <a:pt x="46" y="26"/>
                  </a:lnTo>
                  <a:lnTo>
                    <a:pt x="30" y="0"/>
                  </a:lnTo>
                  <a:lnTo>
                    <a:pt x="16" y="4"/>
                  </a:ln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 w="12700">
              <a:noFill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2068" name="Freeform 18"/>
            <p:cNvSpPr/>
            <p:nvPr/>
          </p:nvSpPr>
          <p:spPr>
            <a:xfrm>
              <a:off x="1010" y="2353"/>
              <a:ext cx="39" cy="32"/>
            </a:xfrm>
            <a:custGeom>
              <a:avLst/>
              <a:gdLst/>
              <a:ahLst/>
              <a:cxnLst>
                <a:cxn ang="0">
                  <a:pos x="12" y="0"/>
                </a:cxn>
                <a:cxn ang="0">
                  <a:pos x="26" y="44"/>
                </a:cxn>
                <a:cxn ang="0">
                  <a:pos x="42" y="42"/>
                </a:cxn>
                <a:cxn ang="0">
                  <a:pos x="38" y="16"/>
                </a:cxn>
                <a:cxn ang="0">
                  <a:pos x="26" y="2"/>
                </a:cxn>
                <a:cxn ang="0">
                  <a:pos x="12" y="0"/>
                </a:cxn>
              </a:cxnLst>
              <a:pathLst>
                <a:path w="52" h="44">
                  <a:moveTo>
                    <a:pt x="12" y="0"/>
                  </a:moveTo>
                  <a:cubicBezTo>
                    <a:pt x="16" y="14"/>
                    <a:pt x="18" y="32"/>
                    <a:pt x="26" y="44"/>
                  </a:cubicBezTo>
                  <a:cubicBezTo>
                    <a:pt x="31" y="43"/>
                    <a:pt x="37" y="44"/>
                    <a:pt x="42" y="42"/>
                  </a:cubicBezTo>
                  <a:cubicBezTo>
                    <a:pt x="52" y="38"/>
                    <a:pt x="48" y="19"/>
                    <a:pt x="38" y="16"/>
                  </a:cubicBezTo>
                  <a:cubicBezTo>
                    <a:pt x="33" y="9"/>
                    <a:pt x="34" y="5"/>
                    <a:pt x="26" y="2"/>
                  </a:cubicBezTo>
                  <a:cubicBezTo>
                    <a:pt x="4" y="4"/>
                    <a:pt x="0" y="8"/>
                    <a:pt x="12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 w="12700">
              <a:noFill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2069" name="Freeform 19"/>
            <p:cNvSpPr/>
            <p:nvPr/>
          </p:nvSpPr>
          <p:spPr>
            <a:xfrm>
              <a:off x="1792" y="2409"/>
              <a:ext cx="98" cy="74"/>
            </a:xfrm>
            <a:custGeom>
              <a:avLst/>
              <a:gdLst/>
              <a:ahLst/>
              <a:cxnLst>
                <a:cxn ang="0">
                  <a:pos x="97" y="0"/>
                </a:cxn>
                <a:cxn ang="0">
                  <a:pos x="79" y="8"/>
                </a:cxn>
                <a:cxn ang="0">
                  <a:pos x="53" y="24"/>
                </a:cxn>
                <a:cxn ang="0">
                  <a:pos x="39" y="40"/>
                </a:cxn>
                <a:cxn ang="0">
                  <a:pos x="21" y="52"/>
                </a:cxn>
                <a:cxn ang="0">
                  <a:pos x="63" y="82"/>
                </a:cxn>
                <a:cxn ang="0">
                  <a:pos x="79" y="94"/>
                </a:cxn>
                <a:cxn ang="0">
                  <a:pos x="85" y="92"/>
                </a:cxn>
                <a:cxn ang="0">
                  <a:pos x="89" y="86"/>
                </a:cxn>
                <a:cxn ang="0">
                  <a:pos x="97" y="98"/>
                </a:cxn>
                <a:cxn ang="0">
                  <a:pos x="123" y="86"/>
                </a:cxn>
                <a:cxn ang="0">
                  <a:pos x="129" y="74"/>
                </a:cxn>
                <a:cxn ang="0">
                  <a:pos x="101" y="40"/>
                </a:cxn>
                <a:cxn ang="0">
                  <a:pos x="115" y="24"/>
                </a:cxn>
                <a:cxn ang="0">
                  <a:pos x="111" y="4"/>
                </a:cxn>
                <a:cxn ang="0">
                  <a:pos x="97" y="0"/>
                </a:cxn>
              </a:cxnLst>
              <a:pathLst>
                <a:path w="131" h="98">
                  <a:moveTo>
                    <a:pt x="97" y="0"/>
                  </a:moveTo>
                  <a:cubicBezTo>
                    <a:pt x="83" y="5"/>
                    <a:pt x="89" y="2"/>
                    <a:pt x="79" y="8"/>
                  </a:cubicBezTo>
                  <a:cubicBezTo>
                    <a:pt x="76" y="18"/>
                    <a:pt x="62" y="18"/>
                    <a:pt x="53" y="24"/>
                  </a:cubicBezTo>
                  <a:cubicBezTo>
                    <a:pt x="49" y="29"/>
                    <a:pt x="44" y="36"/>
                    <a:pt x="39" y="40"/>
                  </a:cubicBezTo>
                  <a:cubicBezTo>
                    <a:pt x="34" y="45"/>
                    <a:pt x="21" y="52"/>
                    <a:pt x="21" y="52"/>
                  </a:cubicBezTo>
                  <a:cubicBezTo>
                    <a:pt x="0" y="84"/>
                    <a:pt x="41" y="75"/>
                    <a:pt x="63" y="82"/>
                  </a:cubicBezTo>
                  <a:cubicBezTo>
                    <a:pt x="68" y="89"/>
                    <a:pt x="71" y="91"/>
                    <a:pt x="79" y="94"/>
                  </a:cubicBezTo>
                  <a:cubicBezTo>
                    <a:pt x="81" y="93"/>
                    <a:pt x="83" y="93"/>
                    <a:pt x="85" y="92"/>
                  </a:cubicBezTo>
                  <a:cubicBezTo>
                    <a:pt x="87" y="90"/>
                    <a:pt x="87" y="85"/>
                    <a:pt x="89" y="86"/>
                  </a:cubicBezTo>
                  <a:cubicBezTo>
                    <a:pt x="93" y="88"/>
                    <a:pt x="97" y="98"/>
                    <a:pt x="97" y="98"/>
                  </a:cubicBezTo>
                  <a:cubicBezTo>
                    <a:pt x="112" y="95"/>
                    <a:pt x="111" y="90"/>
                    <a:pt x="123" y="86"/>
                  </a:cubicBezTo>
                  <a:cubicBezTo>
                    <a:pt x="124" y="82"/>
                    <a:pt x="128" y="78"/>
                    <a:pt x="129" y="74"/>
                  </a:cubicBezTo>
                  <a:cubicBezTo>
                    <a:pt x="131" y="61"/>
                    <a:pt x="108" y="47"/>
                    <a:pt x="101" y="40"/>
                  </a:cubicBezTo>
                  <a:cubicBezTo>
                    <a:pt x="103" y="33"/>
                    <a:pt x="115" y="24"/>
                    <a:pt x="115" y="24"/>
                  </a:cubicBezTo>
                  <a:cubicBezTo>
                    <a:pt x="121" y="15"/>
                    <a:pt x="124" y="8"/>
                    <a:pt x="111" y="4"/>
                  </a:cubicBezTo>
                  <a:cubicBezTo>
                    <a:pt x="101" y="7"/>
                    <a:pt x="97" y="13"/>
                    <a:pt x="97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 w="12700">
              <a:noFill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2070" name="Freeform 20"/>
            <p:cNvSpPr/>
            <p:nvPr/>
          </p:nvSpPr>
          <p:spPr>
            <a:xfrm>
              <a:off x="1318" y="2793"/>
              <a:ext cx="158" cy="84"/>
            </a:xfrm>
            <a:custGeom>
              <a:avLst/>
              <a:gdLst/>
              <a:ahLst/>
              <a:cxnLst>
                <a:cxn ang="0">
                  <a:pos x="47" y="12"/>
                </a:cxn>
                <a:cxn ang="0">
                  <a:pos x="17" y="12"/>
                </a:cxn>
                <a:cxn ang="0">
                  <a:pos x="5" y="16"/>
                </a:cxn>
                <a:cxn ang="0">
                  <a:pos x="25" y="52"/>
                </a:cxn>
                <a:cxn ang="0">
                  <a:pos x="51" y="44"/>
                </a:cxn>
                <a:cxn ang="0">
                  <a:pos x="93" y="54"/>
                </a:cxn>
                <a:cxn ang="0">
                  <a:pos x="111" y="60"/>
                </a:cxn>
                <a:cxn ang="0">
                  <a:pos x="133" y="88"/>
                </a:cxn>
                <a:cxn ang="0">
                  <a:pos x="141" y="112"/>
                </a:cxn>
                <a:cxn ang="0">
                  <a:pos x="157" y="100"/>
                </a:cxn>
                <a:cxn ang="0">
                  <a:pos x="169" y="96"/>
                </a:cxn>
                <a:cxn ang="0">
                  <a:pos x="187" y="102"/>
                </a:cxn>
                <a:cxn ang="0">
                  <a:pos x="195" y="80"/>
                </a:cxn>
                <a:cxn ang="0">
                  <a:pos x="153" y="54"/>
                </a:cxn>
                <a:cxn ang="0">
                  <a:pos x="105" y="20"/>
                </a:cxn>
                <a:cxn ang="0">
                  <a:pos x="53" y="26"/>
                </a:cxn>
                <a:cxn ang="0">
                  <a:pos x="47" y="12"/>
                </a:cxn>
              </a:cxnLst>
              <a:pathLst>
                <a:path w="212" h="112">
                  <a:moveTo>
                    <a:pt x="47" y="12"/>
                  </a:moveTo>
                  <a:cubicBezTo>
                    <a:pt x="39" y="0"/>
                    <a:pt x="28" y="7"/>
                    <a:pt x="17" y="12"/>
                  </a:cubicBezTo>
                  <a:cubicBezTo>
                    <a:pt x="13" y="14"/>
                    <a:pt x="5" y="16"/>
                    <a:pt x="5" y="16"/>
                  </a:cubicBezTo>
                  <a:cubicBezTo>
                    <a:pt x="0" y="31"/>
                    <a:pt x="10" y="48"/>
                    <a:pt x="25" y="52"/>
                  </a:cubicBezTo>
                  <a:cubicBezTo>
                    <a:pt x="37" y="50"/>
                    <a:pt x="41" y="47"/>
                    <a:pt x="51" y="44"/>
                  </a:cubicBezTo>
                  <a:cubicBezTo>
                    <a:pt x="65" y="53"/>
                    <a:pt x="76" y="53"/>
                    <a:pt x="93" y="54"/>
                  </a:cubicBezTo>
                  <a:cubicBezTo>
                    <a:pt x="99" y="56"/>
                    <a:pt x="111" y="60"/>
                    <a:pt x="111" y="60"/>
                  </a:cubicBezTo>
                  <a:cubicBezTo>
                    <a:pt x="120" y="69"/>
                    <a:pt x="129" y="75"/>
                    <a:pt x="133" y="88"/>
                  </a:cubicBezTo>
                  <a:cubicBezTo>
                    <a:pt x="125" y="100"/>
                    <a:pt x="126" y="107"/>
                    <a:pt x="141" y="112"/>
                  </a:cubicBezTo>
                  <a:cubicBezTo>
                    <a:pt x="145" y="106"/>
                    <a:pt x="150" y="103"/>
                    <a:pt x="157" y="100"/>
                  </a:cubicBezTo>
                  <a:cubicBezTo>
                    <a:pt x="161" y="98"/>
                    <a:pt x="169" y="96"/>
                    <a:pt x="169" y="96"/>
                  </a:cubicBezTo>
                  <a:cubicBezTo>
                    <a:pt x="175" y="98"/>
                    <a:pt x="187" y="102"/>
                    <a:pt x="187" y="102"/>
                  </a:cubicBezTo>
                  <a:cubicBezTo>
                    <a:pt x="203" y="100"/>
                    <a:pt x="212" y="94"/>
                    <a:pt x="195" y="80"/>
                  </a:cubicBezTo>
                  <a:cubicBezTo>
                    <a:pt x="183" y="70"/>
                    <a:pt x="165" y="66"/>
                    <a:pt x="153" y="54"/>
                  </a:cubicBezTo>
                  <a:cubicBezTo>
                    <a:pt x="141" y="42"/>
                    <a:pt x="122" y="26"/>
                    <a:pt x="105" y="20"/>
                  </a:cubicBezTo>
                  <a:cubicBezTo>
                    <a:pt x="85" y="21"/>
                    <a:pt x="71" y="20"/>
                    <a:pt x="53" y="26"/>
                  </a:cubicBezTo>
                  <a:cubicBezTo>
                    <a:pt x="47" y="24"/>
                    <a:pt x="33" y="12"/>
                    <a:pt x="47" y="12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 w="12700">
              <a:noFill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2071" name="Freeform 21"/>
            <p:cNvSpPr/>
            <p:nvPr/>
          </p:nvSpPr>
          <p:spPr>
            <a:xfrm>
              <a:off x="1448" y="2857"/>
              <a:ext cx="99" cy="41"/>
            </a:xfrm>
            <a:custGeom>
              <a:avLst/>
              <a:gdLst/>
              <a:ahLst/>
              <a:cxnLst>
                <a:cxn ang="0">
                  <a:pos x="57" y="0"/>
                </a:cxn>
                <a:cxn ang="0">
                  <a:pos x="43" y="6"/>
                </a:cxn>
                <a:cxn ang="0">
                  <a:pos x="31" y="30"/>
                </a:cxn>
                <a:cxn ang="0">
                  <a:pos x="15" y="34"/>
                </a:cxn>
                <a:cxn ang="0">
                  <a:pos x="3" y="42"/>
                </a:cxn>
                <a:cxn ang="0">
                  <a:pos x="13" y="54"/>
                </a:cxn>
                <a:cxn ang="0">
                  <a:pos x="133" y="34"/>
                </a:cxn>
                <a:cxn ang="0">
                  <a:pos x="123" y="16"/>
                </a:cxn>
                <a:cxn ang="0">
                  <a:pos x="105" y="8"/>
                </a:cxn>
                <a:cxn ang="0">
                  <a:pos x="101" y="24"/>
                </a:cxn>
                <a:cxn ang="0">
                  <a:pos x="89" y="18"/>
                </a:cxn>
                <a:cxn ang="0">
                  <a:pos x="67" y="14"/>
                </a:cxn>
                <a:cxn ang="0">
                  <a:pos x="57" y="0"/>
                </a:cxn>
              </a:cxnLst>
              <a:pathLst>
                <a:path w="133" h="54">
                  <a:moveTo>
                    <a:pt x="57" y="0"/>
                  </a:moveTo>
                  <a:cubicBezTo>
                    <a:pt x="53" y="3"/>
                    <a:pt x="46" y="2"/>
                    <a:pt x="43" y="6"/>
                  </a:cubicBezTo>
                  <a:cubicBezTo>
                    <a:pt x="36" y="14"/>
                    <a:pt x="43" y="26"/>
                    <a:pt x="31" y="30"/>
                  </a:cubicBezTo>
                  <a:cubicBezTo>
                    <a:pt x="26" y="32"/>
                    <a:pt x="20" y="31"/>
                    <a:pt x="15" y="34"/>
                  </a:cubicBezTo>
                  <a:cubicBezTo>
                    <a:pt x="11" y="36"/>
                    <a:pt x="3" y="42"/>
                    <a:pt x="3" y="42"/>
                  </a:cubicBezTo>
                  <a:cubicBezTo>
                    <a:pt x="0" y="51"/>
                    <a:pt x="5" y="51"/>
                    <a:pt x="13" y="54"/>
                  </a:cubicBezTo>
                  <a:cubicBezTo>
                    <a:pt x="51" y="51"/>
                    <a:pt x="97" y="46"/>
                    <a:pt x="133" y="34"/>
                  </a:cubicBezTo>
                  <a:cubicBezTo>
                    <a:pt x="129" y="28"/>
                    <a:pt x="128" y="21"/>
                    <a:pt x="123" y="16"/>
                  </a:cubicBezTo>
                  <a:cubicBezTo>
                    <a:pt x="118" y="11"/>
                    <a:pt x="105" y="8"/>
                    <a:pt x="105" y="8"/>
                  </a:cubicBezTo>
                  <a:cubicBezTo>
                    <a:pt x="84" y="13"/>
                    <a:pt x="106" y="19"/>
                    <a:pt x="101" y="24"/>
                  </a:cubicBezTo>
                  <a:cubicBezTo>
                    <a:pt x="99" y="26"/>
                    <a:pt x="89" y="18"/>
                    <a:pt x="89" y="18"/>
                  </a:cubicBezTo>
                  <a:cubicBezTo>
                    <a:pt x="83" y="15"/>
                    <a:pt x="73" y="15"/>
                    <a:pt x="67" y="14"/>
                  </a:cubicBezTo>
                  <a:cubicBezTo>
                    <a:pt x="58" y="8"/>
                    <a:pt x="62" y="12"/>
                    <a:pt x="57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 w="12700">
              <a:noFill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2072" name="Freeform 22"/>
            <p:cNvSpPr/>
            <p:nvPr/>
          </p:nvSpPr>
          <p:spPr>
            <a:xfrm>
              <a:off x="1553" y="2883"/>
              <a:ext cx="38" cy="18"/>
            </a:xfrm>
            <a:custGeom>
              <a:avLst/>
              <a:gdLst/>
              <a:ahLst/>
              <a:cxnLst>
                <a:cxn ang="0">
                  <a:pos x="13" y="0"/>
                </a:cxn>
                <a:cxn ang="0">
                  <a:pos x="7" y="18"/>
                </a:cxn>
                <a:cxn ang="0">
                  <a:pos x="27" y="24"/>
                </a:cxn>
                <a:cxn ang="0">
                  <a:pos x="33" y="4"/>
                </a:cxn>
                <a:cxn ang="0">
                  <a:pos x="13" y="0"/>
                </a:cxn>
              </a:cxnLst>
              <a:pathLst>
                <a:path w="51" h="24">
                  <a:moveTo>
                    <a:pt x="13" y="0"/>
                  </a:moveTo>
                  <a:cubicBezTo>
                    <a:pt x="12" y="2"/>
                    <a:pt x="0" y="12"/>
                    <a:pt x="7" y="18"/>
                  </a:cubicBezTo>
                  <a:cubicBezTo>
                    <a:pt x="12" y="22"/>
                    <a:pt x="27" y="24"/>
                    <a:pt x="27" y="24"/>
                  </a:cubicBezTo>
                  <a:cubicBezTo>
                    <a:pt x="44" y="22"/>
                    <a:pt x="51" y="16"/>
                    <a:pt x="33" y="4"/>
                  </a:cubicBezTo>
                  <a:cubicBezTo>
                    <a:pt x="29" y="1"/>
                    <a:pt x="14" y="0"/>
                    <a:pt x="13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 w="12700">
              <a:noFill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2073" name="Freeform 23"/>
            <p:cNvSpPr/>
            <p:nvPr/>
          </p:nvSpPr>
          <p:spPr>
            <a:xfrm>
              <a:off x="1609" y="2886"/>
              <a:ext cx="12" cy="25"/>
            </a:xfrm>
            <a:custGeom>
              <a:avLst/>
              <a:gdLst/>
              <a:ahLst/>
              <a:cxnLst>
                <a:cxn ang="0">
                  <a:pos x="14" y="0"/>
                </a:cxn>
                <a:cxn ang="0">
                  <a:pos x="0" y="14"/>
                </a:cxn>
                <a:cxn ang="0">
                  <a:pos x="16" y="34"/>
                </a:cxn>
                <a:cxn ang="0">
                  <a:pos x="12" y="18"/>
                </a:cxn>
                <a:cxn ang="0">
                  <a:pos x="16" y="6"/>
                </a:cxn>
                <a:cxn ang="0">
                  <a:pos x="14" y="0"/>
                </a:cxn>
              </a:cxnLst>
              <a:pathLst>
                <a:path w="16" h="34">
                  <a:moveTo>
                    <a:pt x="14" y="0"/>
                  </a:moveTo>
                  <a:cubicBezTo>
                    <a:pt x="5" y="3"/>
                    <a:pt x="2" y="4"/>
                    <a:pt x="0" y="14"/>
                  </a:cubicBezTo>
                  <a:cubicBezTo>
                    <a:pt x="3" y="26"/>
                    <a:pt x="4" y="30"/>
                    <a:pt x="16" y="34"/>
                  </a:cubicBezTo>
                  <a:cubicBezTo>
                    <a:pt x="15" y="29"/>
                    <a:pt x="11" y="23"/>
                    <a:pt x="12" y="18"/>
                  </a:cubicBezTo>
                  <a:cubicBezTo>
                    <a:pt x="12" y="14"/>
                    <a:pt x="16" y="6"/>
                    <a:pt x="16" y="6"/>
                  </a:cubicBezTo>
                  <a:cubicBezTo>
                    <a:pt x="9" y="1"/>
                    <a:pt x="8" y="3"/>
                    <a:pt x="14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 w="12700">
              <a:noFill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2074" name="Freeform 24"/>
            <p:cNvSpPr/>
            <p:nvPr/>
          </p:nvSpPr>
          <p:spPr>
            <a:xfrm>
              <a:off x="1426" y="2040"/>
              <a:ext cx="180" cy="88"/>
            </a:xfrm>
            <a:custGeom>
              <a:avLst/>
              <a:gdLst/>
              <a:ahLst/>
              <a:cxnLst>
                <a:cxn ang="0">
                  <a:pos x="64" y="1"/>
                </a:cxn>
                <a:cxn ang="0">
                  <a:pos x="24" y="31"/>
                </a:cxn>
                <a:cxn ang="0">
                  <a:pos x="6" y="37"/>
                </a:cxn>
                <a:cxn ang="0">
                  <a:pos x="0" y="39"/>
                </a:cxn>
                <a:cxn ang="0">
                  <a:pos x="26" y="59"/>
                </a:cxn>
                <a:cxn ang="0">
                  <a:pos x="38" y="63"/>
                </a:cxn>
                <a:cxn ang="0">
                  <a:pos x="68" y="47"/>
                </a:cxn>
                <a:cxn ang="0">
                  <a:pos x="80" y="43"/>
                </a:cxn>
                <a:cxn ang="0">
                  <a:pos x="82" y="55"/>
                </a:cxn>
                <a:cxn ang="0">
                  <a:pos x="64" y="61"/>
                </a:cxn>
                <a:cxn ang="0">
                  <a:pos x="72" y="73"/>
                </a:cxn>
                <a:cxn ang="0">
                  <a:pos x="40" y="87"/>
                </a:cxn>
                <a:cxn ang="0">
                  <a:pos x="70" y="109"/>
                </a:cxn>
                <a:cxn ang="0">
                  <a:pos x="82" y="113"/>
                </a:cxn>
                <a:cxn ang="0">
                  <a:pos x="118" y="103"/>
                </a:cxn>
                <a:cxn ang="0">
                  <a:pos x="150" y="105"/>
                </a:cxn>
                <a:cxn ang="0">
                  <a:pos x="168" y="117"/>
                </a:cxn>
                <a:cxn ang="0">
                  <a:pos x="204" y="109"/>
                </a:cxn>
                <a:cxn ang="0">
                  <a:pos x="224" y="103"/>
                </a:cxn>
                <a:cxn ang="0">
                  <a:pos x="222" y="77"/>
                </a:cxn>
                <a:cxn ang="0">
                  <a:pos x="234" y="69"/>
                </a:cxn>
                <a:cxn ang="0">
                  <a:pos x="238" y="47"/>
                </a:cxn>
                <a:cxn ang="0">
                  <a:pos x="210" y="57"/>
                </a:cxn>
                <a:cxn ang="0">
                  <a:pos x="200" y="43"/>
                </a:cxn>
                <a:cxn ang="0">
                  <a:pos x="172" y="45"/>
                </a:cxn>
                <a:cxn ang="0">
                  <a:pos x="134" y="9"/>
                </a:cxn>
                <a:cxn ang="0">
                  <a:pos x="94" y="11"/>
                </a:cxn>
                <a:cxn ang="0">
                  <a:pos x="82" y="1"/>
                </a:cxn>
                <a:cxn ang="0">
                  <a:pos x="64" y="1"/>
                </a:cxn>
              </a:cxnLst>
              <a:pathLst>
                <a:path w="240" h="117">
                  <a:moveTo>
                    <a:pt x="64" y="1"/>
                  </a:moveTo>
                  <a:cubicBezTo>
                    <a:pt x="57" y="21"/>
                    <a:pt x="44" y="24"/>
                    <a:pt x="24" y="31"/>
                  </a:cubicBezTo>
                  <a:cubicBezTo>
                    <a:pt x="18" y="33"/>
                    <a:pt x="12" y="35"/>
                    <a:pt x="6" y="37"/>
                  </a:cubicBezTo>
                  <a:cubicBezTo>
                    <a:pt x="4" y="38"/>
                    <a:pt x="0" y="39"/>
                    <a:pt x="0" y="39"/>
                  </a:cubicBezTo>
                  <a:cubicBezTo>
                    <a:pt x="3" y="55"/>
                    <a:pt x="12" y="54"/>
                    <a:pt x="26" y="59"/>
                  </a:cubicBezTo>
                  <a:cubicBezTo>
                    <a:pt x="30" y="60"/>
                    <a:pt x="38" y="63"/>
                    <a:pt x="38" y="63"/>
                  </a:cubicBezTo>
                  <a:cubicBezTo>
                    <a:pt x="50" y="59"/>
                    <a:pt x="57" y="54"/>
                    <a:pt x="68" y="47"/>
                  </a:cubicBezTo>
                  <a:cubicBezTo>
                    <a:pt x="72" y="45"/>
                    <a:pt x="80" y="43"/>
                    <a:pt x="80" y="43"/>
                  </a:cubicBezTo>
                  <a:cubicBezTo>
                    <a:pt x="82" y="46"/>
                    <a:pt x="88" y="51"/>
                    <a:pt x="82" y="55"/>
                  </a:cubicBezTo>
                  <a:cubicBezTo>
                    <a:pt x="77" y="59"/>
                    <a:pt x="64" y="61"/>
                    <a:pt x="64" y="61"/>
                  </a:cubicBezTo>
                  <a:cubicBezTo>
                    <a:pt x="58" y="70"/>
                    <a:pt x="63" y="70"/>
                    <a:pt x="72" y="73"/>
                  </a:cubicBezTo>
                  <a:cubicBezTo>
                    <a:pt x="77" y="88"/>
                    <a:pt x="50" y="86"/>
                    <a:pt x="40" y="87"/>
                  </a:cubicBezTo>
                  <a:cubicBezTo>
                    <a:pt x="47" y="94"/>
                    <a:pt x="60" y="106"/>
                    <a:pt x="70" y="109"/>
                  </a:cubicBezTo>
                  <a:cubicBezTo>
                    <a:pt x="74" y="110"/>
                    <a:pt x="82" y="113"/>
                    <a:pt x="82" y="113"/>
                  </a:cubicBezTo>
                  <a:cubicBezTo>
                    <a:pt x="99" y="111"/>
                    <a:pt x="104" y="108"/>
                    <a:pt x="118" y="103"/>
                  </a:cubicBezTo>
                  <a:cubicBezTo>
                    <a:pt x="129" y="104"/>
                    <a:pt x="140" y="103"/>
                    <a:pt x="150" y="105"/>
                  </a:cubicBezTo>
                  <a:cubicBezTo>
                    <a:pt x="157" y="107"/>
                    <a:pt x="168" y="117"/>
                    <a:pt x="168" y="117"/>
                  </a:cubicBezTo>
                  <a:cubicBezTo>
                    <a:pt x="193" y="115"/>
                    <a:pt x="188" y="116"/>
                    <a:pt x="204" y="109"/>
                  </a:cubicBezTo>
                  <a:cubicBezTo>
                    <a:pt x="210" y="106"/>
                    <a:pt x="224" y="103"/>
                    <a:pt x="224" y="103"/>
                  </a:cubicBezTo>
                  <a:cubicBezTo>
                    <a:pt x="223" y="98"/>
                    <a:pt x="217" y="82"/>
                    <a:pt x="222" y="77"/>
                  </a:cubicBezTo>
                  <a:cubicBezTo>
                    <a:pt x="225" y="73"/>
                    <a:pt x="234" y="69"/>
                    <a:pt x="234" y="69"/>
                  </a:cubicBezTo>
                  <a:cubicBezTo>
                    <a:pt x="237" y="59"/>
                    <a:pt x="240" y="59"/>
                    <a:pt x="238" y="47"/>
                  </a:cubicBezTo>
                  <a:cubicBezTo>
                    <a:pt x="228" y="49"/>
                    <a:pt x="219" y="51"/>
                    <a:pt x="210" y="57"/>
                  </a:cubicBezTo>
                  <a:cubicBezTo>
                    <a:pt x="201" y="71"/>
                    <a:pt x="201" y="50"/>
                    <a:pt x="200" y="43"/>
                  </a:cubicBezTo>
                  <a:cubicBezTo>
                    <a:pt x="189" y="45"/>
                    <a:pt x="182" y="48"/>
                    <a:pt x="172" y="45"/>
                  </a:cubicBezTo>
                  <a:cubicBezTo>
                    <a:pt x="161" y="34"/>
                    <a:pt x="148" y="14"/>
                    <a:pt x="134" y="9"/>
                  </a:cubicBezTo>
                  <a:cubicBezTo>
                    <a:pt x="119" y="11"/>
                    <a:pt x="108" y="13"/>
                    <a:pt x="94" y="11"/>
                  </a:cubicBezTo>
                  <a:cubicBezTo>
                    <a:pt x="92" y="9"/>
                    <a:pt x="85" y="2"/>
                    <a:pt x="82" y="1"/>
                  </a:cubicBezTo>
                  <a:cubicBezTo>
                    <a:pt x="74" y="0"/>
                    <a:pt x="72" y="9"/>
                    <a:pt x="64" y="1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 w="12700">
              <a:noFill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2075" name="Freeform 25"/>
            <p:cNvSpPr/>
            <p:nvPr/>
          </p:nvSpPr>
          <p:spPr>
            <a:xfrm>
              <a:off x="1506" y="1999"/>
              <a:ext cx="146" cy="60"/>
            </a:xfrm>
            <a:custGeom>
              <a:avLst/>
              <a:gdLst/>
              <a:ahLst/>
              <a:cxnLst>
                <a:cxn ang="0">
                  <a:pos x="97" y="10"/>
                </a:cxn>
                <a:cxn ang="0">
                  <a:pos x="13" y="24"/>
                </a:cxn>
                <a:cxn ang="0">
                  <a:pos x="9" y="34"/>
                </a:cxn>
                <a:cxn ang="0">
                  <a:pos x="57" y="52"/>
                </a:cxn>
                <a:cxn ang="0">
                  <a:pos x="135" y="74"/>
                </a:cxn>
                <a:cxn ang="0">
                  <a:pos x="175" y="68"/>
                </a:cxn>
                <a:cxn ang="0">
                  <a:pos x="187" y="64"/>
                </a:cxn>
                <a:cxn ang="0">
                  <a:pos x="175" y="44"/>
                </a:cxn>
                <a:cxn ang="0">
                  <a:pos x="163" y="36"/>
                </a:cxn>
                <a:cxn ang="0">
                  <a:pos x="129" y="26"/>
                </a:cxn>
                <a:cxn ang="0">
                  <a:pos x="97" y="10"/>
                </a:cxn>
              </a:cxnLst>
              <a:pathLst>
                <a:path w="194" h="80">
                  <a:moveTo>
                    <a:pt x="97" y="10"/>
                  </a:moveTo>
                  <a:cubicBezTo>
                    <a:pt x="70" y="19"/>
                    <a:pt x="42" y="22"/>
                    <a:pt x="13" y="24"/>
                  </a:cubicBezTo>
                  <a:cubicBezTo>
                    <a:pt x="9" y="25"/>
                    <a:pt x="0" y="26"/>
                    <a:pt x="9" y="34"/>
                  </a:cubicBezTo>
                  <a:cubicBezTo>
                    <a:pt x="21" y="44"/>
                    <a:pt x="43" y="43"/>
                    <a:pt x="57" y="52"/>
                  </a:cubicBezTo>
                  <a:cubicBezTo>
                    <a:pt x="75" y="80"/>
                    <a:pt x="104" y="73"/>
                    <a:pt x="135" y="74"/>
                  </a:cubicBezTo>
                  <a:cubicBezTo>
                    <a:pt x="153" y="73"/>
                    <a:pt x="159" y="73"/>
                    <a:pt x="175" y="68"/>
                  </a:cubicBezTo>
                  <a:cubicBezTo>
                    <a:pt x="179" y="67"/>
                    <a:pt x="187" y="64"/>
                    <a:pt x="187" y="64"/>
                  </a:cubicBezTo>
                  <a:cubicBezTo>
                    <a:pt x="194" y="53"/>
                    <a:pt x="184" y="49"/>
                    <a:pt x="175" y="44"/>
                  </a:cubicBezTo>
                  <a:cubicBezTo>
                    <a:pt x="171" y="42"/>
                    <a:pt x="163" y="36"/>
                    <a:pt x="163" y="36"/>
                  </a:cubicBezTo>
                  <a:cubicBezTo>
                    <a:pt x="140" y="41"/>
                    <a:pt x="147" y="38"/>
                    <a:pt x="129" y="26"/>
                  </a:cubicBezTo>
                  <a:cubicBezTo>
                    <a:pt x="123" y="17"/>
                    <a:pt x="107" y="0"/>
                    <a:pt x="97" y="1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 w="12700">
              <a:noFill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2076" name="Freeform 26"/>
            <p:cNvSpPr/>
            <p:nvPr/>
          </p:nvSpPr>
          <p:spPr>
            <a:xfrm>
              <a:off x="1711" y="2069"/>
              <a:ext cx="233" cy="190"/>
            </a:xfrm>
            <a:custGeom>
              <a:avLst/>
              <a:gdLst/>
              <a:ahLst/>
              <a:cxnLst>
                <a:cxn ang="0">
                  <a:pos x="67" y="9"/>
                </a:cxn>
                <a:cxn ang="0">
                  <a:pos x="51" y="23"/>
                </a:cxn>
                <a:cxn ang="0">
                  <a:pos x="21" y="39"/>
                </a:cxn>
                <a:cxn ang="0">
                  <a:pos x="53" y="77"/>
                </a:cxn>
                <a:cxn ang="0">
                  <a:pos x="79" y="85"/>
                </a:cxn>
                <a:cxn ang="0">
                  <a:pos x="103" y="99"/>
                </a:cxn>
                <a:cxn ang="0">
                  <a:pos x="127" y="85"/>
                </a:cxn>
                <a:cxn ang="0">
                  <a:pos x="143" y="101"/>
                </a:cxn>
                <a:cxn ang="0">
                  <a:pos x="149" y="127"/>
                </a:cxn>
                <a:cxn ang="0">
                  <a:pos x="115" y="151"/>
                </a:cxn>
                <a:cxn ang="0">
                  <a:pos x="89" y="173"/>
                </a:cxn>
                <a:cxn ang="0">
                  <a:pos x="69" y="169"/>
                </a:cxn>
                <a:cxn ang="0">
                  <a:pos x="57" y="165"/>
                </a:cxn>
                <a:cxn ang="0">
                  <a:pos x="43" y="187"/>
                </a:cxn>
                <a:cxn ang="0">
                  <a:pos x="39" y="199"/>
                </a:cxn>
                <a:cxn ang="0">
                  <a:pos x="73" y="205"/>
                </a:cxn>
                <a:cxn ang="0">
                  <a:pos x="95" y="203"/>
                </a:cxn>
                <a:cxn ang="0">
                  <a:pos x="115" y="231"/>
                </a:cxn>
                <a:cxn ang="0">
                  <a:pos x="127" y="235"/>
                </a:cxn>
                <a:cxn ang="0">
                  <a:pos x="139" y="239"/>
                </a:cxn>
                <a:cxn ang="0">
                  <a:pos x="155" y="251"/>
                </a:cxn>
                <a:cxn ang="0">
                  <a:pos x="181" y="237"/>
                </a:cxn>
                <a:cxn ang="0">
                  <a:pos x="203" y="235"/>
                </a:cxn>
                <a:cxn ang="0">
                  <a:pos x="229" y="213"/>
                </a:cxn>
                <a:cxn ang="0">
                  <a:pos x="225" y="185"/>
                </a:cxn>
                <a:cxn ang="0">
                  <a:pos x="217" y="173"/>
                </a:cxn>
                <a:cxn ang="0">
                  <a:pos x="233" y="167"/>
                </a:cxn>
                <a:cxn ang="0">
                  <a:pos x="245" y="183"/>
                </a:cxn>
                <a:cxn ang="0">
                  <a:pos x="247" y="197"/>
                </a:cxn>
                <a:cxn ang="0">
                  <a:pos x="261" y="193"/>
                </a:cxn>
                <a:cxn ang="0">
                  <a:pos x="303" y="169"/>
                </a:cxn>
                <a:cxn ang="0">
                  <a:pos x="293" y="147"/>
                </a:cxn>
                <a:cxn ang="0">
                  <a:pos x="259" y="123"/>
                </a:cxn>
                <a:cxn ang="0">
                  <a:pos x="265" y="107"/>
                </a:cxn>
                <a:cxn ang="0">
                  <a:pos x="277" y="103"/>
                </a:cxn>
                <a:cxn ang="0">
                  <a:pos x="253" y="63"/>
                </a:cxn>
                <a:cxn ang="0">
                  <a:pos x="233" y="59"/>
                </a:cxn>
                <a:cxn ang="0">
                  <a:pos x="221" y="55"/>
                </a:cxn>
                <a:cxn ang="0">
                  <a:pos x="201" y="33"/>
                </a:cxn>
                <a:cxn ang="0">
                  <a:pos x="155" y="45"/>
                </a:cxn>
                <a:cxn ang="0">
                  <a:pos x="167" y="25"/>
                </a:cxn>
                <a:cxn ang="0">
                  <a:pos x="139" y="17"/>
                </a:cxn>
                <a:cxn ang="0">
                  <a:pos x="119" y="19"/>
                </a:cxn>
                <a:cxn ang="0">
                  <a:pos x="67" y="9"/>
                </a:cxn>
              </a:cxnLst>
              <a:pathLst>
                <a:path w="310" h="254">
                  <a:moveTo>
                    <a:pt x="67" y="9"/>
                  </a:moveTo>
                  <a:cubicBezTo>
                    <a:pt x="63" y="15"/>
                    <a:pt x="51" y="23"/>
                    <a:pt x="51" y="23"/>
                  </a:cubicBezTo>
                  <a:cubicBezTo>
                    <a:pt x="43" y="34"/>
                    <a:pt x="33" y="35"/>
                    <a:pt x="21" y="39"/>
                  </a:cubicBezTo>
                  <a:cubicBezTo>
                    <a:pt x="0" y="71"/>
                    <a:pt x="30" y="74"/>
                    <a:pt x="53" y="77"/>
                  </a:cubicBezTo>
                  <a:cubicBezTo>
                    <a:pt x="61" y="89"/>
                    <a:pt x="63" y="87"/>
                    <a:pt x="79" y="85"/>
                  </a:cubicBezTo>
                  <a:cubicBezTo>
                    <a:pt x="88" y="88"/>
                    <a:pt x="93" y="96"/>
                    <a:pt x="103" y="99"/>
                  </a:cubicBezTo>
                  <a:cubicBezTo>
                    <a:pt x="117" y="96"/>
                    <a:pt x="116" y="89"/>
                    <a:pt x="127" y="85"/>
                  </a:cubicBezTo>
                  <a:cubicBezTo>
                    <a:pt x="134" y="90"/>
                    <a:pt x="138" y="94"/>
                    <a:pt x="143" y="101"/>
                  </a:cubicBezTo>
                  <a:cubicBezTo>
                    <a:pt x="140" y="116"/>
                    <a:pt x="134" y="117"/>
                    <a:pt x="149" y="127"/>
                  </a:cubicBezTo>
                  <a:cubicBezTo>
                    <a:pt x="161" y="144"/>
                    <a:pt x="126" y="147"/>
                    <a:pt x="115" y="151"/>
                  </a:cubicBezTo>
                  <a:cubicBezTo>
                    <a:pt x="109" y="160"/>
                    <a:pt x="100" y="169"/>
                    <a:pt x="89" y="173"/>
                  </a:cubicBezTo>
                  <a:cubicBezTo>
                    <a:pt x="81" y="172"/>
                    <a:pt x="76" y="171"/>
                    <a:pt x="69" y="169"/>
                  </a:cubicBezTo>
                  <a:cubicBezTo>
                    <a:pt x="65" y="168"/>
                    <a:pt x="57" y="165"/>
                    <a:pt x="57" y="165"/>
                  </a:cubicBezTo>
                  <a:cubicBezTo>
                    <a:pt x="46" y="169"/>
                    <a:pt x="46" y="177"/>
                    <a:pt x="43" y="187"/>
                  </a:cubicBezTo>
                  <a:cubicBezTo>
                    <a:pt x="42" y="191"/>
                    <a:pt x="39" y="199"/>
                    <a:pt x="39" y="199"/>
                  </a:cubicBezTo>
                  <a:cubicBezTo>
                    <a:pt x="50" y="203"/>
                    <a:pt x="61" y="204"/>
                    <a:pt x="73" y="205"/>
                  </a:cubicBezTo>
                  <a:cubicBezTo>
                    <a:pt x="82" y="203"/>
                    <a:pt x="86" y="201"/>
                    <a:pt x="95" y="203"/>
                  </a:cubicBezTo>
                  <a:cubicBezTo>
                    <a:pt x="107" y="211"/>
                    <a:pt x="111" y="218"/>
                    <a:pt x="115" y="231"/>
                  </a:cubicBezTo>
                  <a:cubicBezTo>
                    <a:pt x="116" y="235"/>
                    <a:pt x="123" y="234"/>
                    <a:pt x="127" y="235"/>
                  </a:cubicBezTo>
                  <a:cubicBezTo>
                    <a:pt x="131" y="236"/>
                    <a:pt x="139" y="239"/>
                    <a:pt x="139" y="239"/>
                  </a:cubicBezTo>
                  <a:cubicBezTo>
                    <a:pt x="144" y="246"/>
                    <a:pt x="147" y="248"/>
                    <a:pt x="155" y="251"/>
                  </a:cubicBezTo>
                  <a:cubicBezTo>
                    <a:pt x="169" y="250"/>
                    <a:pt x="187" y="254"/>
                    <a:pt x="181" y="237"/>
                  </a:cubicBezTo>
                  <a:cubicBezTo>
                    <a:pt x="184" y="220"/>
                    <a:pt x="192" y="228"/>
                    <a:pt x="203" y="235"/>
                  </a:cubicBezTo>
                  <a:cubicBezTo>
                    <a:pt x="224" y="233"/>
                    <a:pt x="224" y="232"/>
                    <a:pt x="229" y="213"/>
                  </a:cubicBezTo>
                  <a:cubicBezTo>
                    <a:pt x="229" y="211"/>
                    <a:pt x="229" y="192"/>
                    <a:pt x="225" y="185"/>
                  </a:cubicBezTo>
                  <a:cubicBezTo>
                    <a:pt x="223" y="181"/>
                    <a:pt x="217" y="173"/>
                    <a:pt x="217" y="173"/>
                  </a:cubicBezTo>
                  <a:cubicBezTo>
                    <a:pt x="220" y="163"/>
                    <a:pt x="224" y="165"/>
                    <a:pt x="233" y="167"/>
                  </a:cubicBezTo>
                  <a:cubicBezTo>
                    <a:pt x="240" y="172"/>
                    <a:pt x="242" y="175"/>
                    <a:pt x="245" y="183"/>
                  </a:cubicBezTo>
                  <a:cubicBezTo>
                    <a:pt x="246" y="188"/>
                    <a:pt x="244" y="193"/>
                    <a:pt x="247" y="197"/>
                  </a:cubicBezTo>
                  <a:cubicBezTo>
                    <a:pt x="250" y="201"/>
                    <a:pt x="256" y="194"/>
                    <a:pt x="261" y="193"/>
                  </a:cubicBezTo>
                  <a:cubicBezTo>
                    <a:pt x="276" y="188"/>
                    <a:pt x="290" y="178"/>
                    <a:pt x="303" y="169"/>
                  </a:cubicBezTo>
                  <a:cubicBezTo>
                    <a:pt x="310" y="158"/>
                    <a:pt x="302" y="153"/>
                    <a:pt x="293" y="147"/>
                  </a:cubicBezTo>
                  <a:cubicBezTo>
                    <a:pt x="281" y="129"/>
                    <a:pt x="283" y="126"/>
                    <a:pt x="259" y="123"/>
                  </a:cubicBezTo>
                  <a:cubicBezTo>
                    <a:pt x="256" y="115"/>
                    <a:pt x="257" y="111"/>
                    <a:pt x="265" y="107"/>
                  </a:cubicBezTo>
                  <a:cubicBezTo>
                    <a:pt x="269" y="105"/>
                    <a:pt x="277" y="103"/>
                    <a:pt x="277" y="103"/>
                  </a:cubicBezTo>
                  <a:cubicBezTo>
                    <a:pt x="287" y="88"/>
                    <a:pt x="269" y="66"/>
                    <a:pt x="253" y="63"/>
                  </a:cubicBezTo>
                  <a:cubicBezTo>
                    <a:pt x="239" y="60"/>
                    <a:pt x="244" y="62"/>
                    <a:pt x="233" y="59"/>
                  </a:cubicBezTo>
                  <a:cubicBezTo>
                    <a:pt x="229" y="58"/>
                    <a:pt x="221" y="55"/>
                    <a:pt x="221" y="55"/>
                  </a:cubicBezTo>
                  <a:cubicBezTo>
                    <a:pt x="200" y="60"/>
                    <a:pt x="217" y="38"/>
                    <a:pt x="201" y="33"/>
                  </a:cubicBezTo>
                  <a:cubicBezTo>
                    <a:pt x="185" y="35"/>
                    <a:pt x="169" y="36"/>
                    <a:pt x="155" y="45"/>
                  </a:cubicBezTo>
                  <a:cubicBezTo>
                    <a:pt x="145" y="30"/>
                    <a:pt x="152" y="30"/>
                    <a:pt x="167" y="25"/>
                  </a:cubicBezTo>
                  <a:cubicBezTo>
                    <a:pt x="163" y="10"/>
                    <a:pt x="155" y="15"/>
                    <a:pt x="139" y="17"/>
                  </a:cubicBezTo>
                  <a:cubicBezTo>
                    <a:pt x="131" y="20"/>
                    <a:pt x="127" y="22"/>
                    <a:pt x="119" y="19"/>
                  </a:cubicBezTo>
                  <a:cubicBezTo>
                    <a:pt x="106" y="0"/>
                    <a:pt x="74" y="29"/>
                    <a:pt x="67" y="9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 w="12700">
              <a:noFill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2077" name="Freeform 27"/>
            <p:cNvSpPr/>
            <p:nvPr/>
          </p:nvSpPr>
          <p:spPr>
            <a:xfrm>
              <a:off x="1709" y="1987"/>
              <a:ext cx="44" cy="37"/>
            </a:xfrm>
            <a:custGeom>
              <a:avLst/>
              <a:gdLst/>
              <a:ahLst/>
              <a:cxnLst>
                <a:cxn ang="0">
                  <a:pos x="26" y="0"/>
                </a:cxn>
                <a:cxn ang="0">
                  <a:pos x="0" y="10"/>
                </a:cxn>
                <a:cxn ang="0">
                  <a:pos x="30" y="40"/>
                </a:cxn>
                <a:cxn ang="0">
                  <a:pos x="48" y="50"/>
                </a:cxn>
                <a:cxn ang="0">
                  <a:pos x="58" y="28"/>
                </a:cxn>
                <a:cxn ang="0">
                  <a:pos x="44" y="8"/>
                </a:cxn>
                <a:cxn ang="0">
                  <a:pos x="26" y="0"/>
                </a:cxn>
              </a:cxnLst>
              <a:pathLst>
                <a:path w="59" h="50">
                  <a:moveTo>
                    <a:pt x="26" y="0"/>
                  </a:moveTo>
                  <a:cubicBezTo>
                    <a:pt x="13" y="2"/>
                    <a:pt x="7" y="0"/>
                    <a:pt x="0" y="10"/>
                  </a:cubicBezTo>
                  <a:cubicBezTo>
                    <a:pt x="4" y="22"/>
                    <a:pt x="18" y="36"/>
                    <a:pt x="30" y="40"/>
                  </a:cubicBezTo>
                  <a:cubicBezTo>
                    <a:pt x="37" y="42"/>
                    <a:pt x="48" y="50"/>
                    <a:pt x="48" y="50"/>
                  </a:cubicBezTo>
                  <a:cubicBezTo>
                    <a:pt x="57" y="44"/>
                    <a:pt x="55" y="37"/>
                    <a:pt x="58" y="28"/>
                  </a:cubicBezTo>
                  <a:cubicBezTo>
                    <a:pt x="55" y="11"/>
                    <a:pt x="59" y="18"/>
                    <a:pt x="44" y="8"/>
                  </a:cubicBezTo>
                  <a:cubicBezTo>
                    <a:pt x="42" y="6"/>
                    <a:pt x="26" y="5"/>
                    <a:pt x="26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 w="12700">
              <a:noFill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2078" name="Freeform 28"/>
            <p:cNvSpPr/>
            <p:nvPr/>
          </p:nvSpPr>
          <p:spPr>
            <a:xfrm>
              <a:off x="1625" y="2057"/>
              <a:ext cx="65" cy="42"/>
            </a:xfrm>
            <a:custGeom>
              <a:avLst/>
              <a:gdLst/>
              <a:ahLst/>
              <a:cxnLst>
                <a:cxn ang="0">
                  <a:pos x="44" y="7"/>
                </a:cxn>
                <a:cxn ang="0">
                  <a:pos x="24" y="25"/>
                </a:cxn>
                <a:cxn ang="0">
                  <a:pos x="4" y="27"/>
                </a:cxn>
                <a:cxn ang="0">
                  <a:pos x="16" y="57"/>
                </a:cxn>
                <a:cxn ang="0">
                  <a:pos x="74" y="35"/>
                </a:cxn>
                <a:cxn ang="0">
                  <a:pos x="86" y="17"/>
                </a:cxn>
                <a:cxn ang="0">
                  <a:pos x="56" y="7"/>
                </a:cxn>
                <a:cxn ang="0">
                  <a:pos x="44" y="7"/>
                </a:cxn>
              </a:cxnLst>
              <a:pathLst>
                <a:path w="86" h="57">
                  <a:moveTo>
                    <a:pt x="44" y="7"/>
                  </a:moveTo>
                  <a:cubicBezTo>
                    <a:pt x="39" y="14"/>
                    <a:pt x="31" y="20"/>
                    <a:pt x="24" y="25"/>
                  </a:cubicBezTo>
                  <a:cubicBezTo>
                    <a:pt x="16" y="19"/>
                    <a:pt x="12" y="22"/>
                    <a:pt x="4" y="27"/>
                  </a:cubicBezTo>
                  <a:cubicBezTo>
                    <a:pt x="0" y="38"/>
                    <a:pt x="4" y="53"/>
                    <a:pt x="16" y="57"/>
                  </a:cubicBezTo>
                  <a:cubicBezTo>
                    <a:pt x="33" y="51"/>
                    <a:pt x="60" y="45"/>
                    <a:pt x="74" y="35"/>
                  </a:cubicBezTo>
                  <a:cubicBezTo>
                    <a:pt x="78" y="29"/>
                    <a:pt x="86" y="17"/>
                    <a:pt x="86" y="17"/>
                  </a:cubicBezTo>
                  <a:cubicBezTo>
                    <a:pt x="80" y="0"/>
                    <a:pt x="74" y="5"/>
                    <a:pt x="56" y="7"/>
                  </a:cubicBezTo>
                  <a:cubicBezTo>
                    <a:pt x="43" y="11"/>
                    <a:pt x="44" y="15"/>
                    <a:pt x="44" y="7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 w="12700">
              <a:noFill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2079" name="Freeform 29"/>
            <p:cNvSpPr/>
            <p:nvPr/>
          </p:nvSpPr>
          <p:spPr>
            <a:xfrm>
              <a:off x="1693" y="2065"/>
              <a:ext cx="54" cy="25"/>
            </a:xfrm>
            <a:custGeom>
              <a:avLst/>
              <a:gdLst/>
              <a:ahLst/>
              <a:cxnLst>
                <a:cxn ang="0">
                  <a:pos x="40" y="0"/>
                </a:cxn>
                <a:cxn ang="0">
                  <a:pos x="10" y="16"/>
                </a:cxn>
                <a:cxn ang="0">
                  <a:pos x="24" y="34"/>
                </a:cxn>
                <a:cxn ang="0">
                  <a:pos x="52" y="28"/>
                </a:cxn>
                <a:cxn ang="0">
                  <a:pos x="64" y="20"/>
                </a:cxn>
                <a:cxn ang="0">
                  <a:pos x="40" y="0"/>
                </a:cxn>
              </a:cxnLst>
              <a:pathLst>
                <a:path w="73" h="34">
                  <a:moveTo>
                    <a:pt x="40" y="0"/>
                  </a:moveTo>
                  <a:cubicBezTo>
                    <a:pt x="30" y="6"/>
                    <a:pt x="20" y="10"/>
                    <a:pt x="10" y="16"/>
                  </a:cubicBezTo>
                  <a:cubicBezTo>
                    <a:pt x="0" y="31"/>
                    <a:pt x="13" y="30"/>
                    <a:pt x="24" y="34"/>
                  </a:cubicBezTo>
                  <a:cubicBezTo>
                    <a:pt x="44" y="31"/>
                    <a:pt x="35" y="34"/>
                    <a:pt x="52" y="28"/>
                  </a:cubicBezTo>
                  <a:cubicBezTo>
                    <a:pt x="57" y="26"/>
                    <a:pt x="64" y="20"/>
                    <a:pt x="64" y="20"/>
                  </a:cubicBezTo>
                  <a:cubicBezTo>
                    <a:pt x="73" y="7"/>
                    <a:pt x="48" y="8"/>
                    <a:pt x="40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 w="12700">
              <a:noFill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2080" name="Freeform 30"/>
            <p:cNvSpPr/>
            <p:nvPr/>
          </p:nvSpPr>
          <p:spPr>
            <a:xfrm>
              <a:off x="1664" y="2029"/>
              <a:ext cx="64" cy="34"/>
            </a:xfrm>
            <a:custGeom>
              <a:avLst/>
              <a:gdLst/>
              <a:ahLst/>
              <a:cxnLst>
                <a:cxn ang="0">
                  <a:pos x="58" y="10"/>
                </a:cxn>
                <a:cxn ang="0">
                  <a:pos x="28" y="4"/>
                </a:cxn>
                <a:cxn ang="0">
                  <a:pos x="0" y="18"/>
                </a:cxn>
                <a:cxn ang="0">
                  <a:pos x="40" y="32"/>
                </a:cxn>
                <a:cxn ang="0">
                  <a:pos x="64" y="40"/>
                </a:cxn>
                <a:cxn ang="0">
                  <a:pos x="84" y="18"/>
                </a:cxn>
                <a:cxn ang="0">
                  <a:pos x="82" y="6"/>
                </a:cxn>
                <a:cxn ang="0">
                  <a:pos x="64" y="0"/>
                </a:cxn>
                <a:cxn ang="0">
                  <a:pos x="58" y="10"/>
                </a:cxn>
              </a:cxnLst>
              <a:pathLst>
                <a:path w="85" h="45">
                  <a:moveTo>
                    <a:pt x="58" y="10"/>
                  </a:moveTo>
                  <a:cubicBezTo>
                    <a:pt x="39" y="16"/>
                    <a:pt x="45" y="10"/>
                    <a:pt x="28" y="4"/>
                  </a:cubicBezTo>
                  <a:cubicBezTo>
                    <a:pt x="7" y="6"/>
                    <a:pt x="5" y="2"/>
                    <a:pt x="0" y="18"/>
                  </a:cubicBezTo>
                  <a:cubicBezTo>
                    <a:pt x="5" y="34"/>
                    <a:pt x="26" y="31"/>
                    <a:pt x="40" y="32"/>
                  </a:cubicBezTo>
                  <a:cubicBezTo>
                    <a:pt x="50" y="42"/>
                    <a:pt x="49" y="45"/>
                    <a:pt x="64" y="40"/>
                  </a:cubicBezTo>
                  <a:cubicBezTo>
                    <a:pt x="69" y="32"/>
                    <a:pt x="77" y="25"/>
                    <a:pt x="84" y="18"/>
                  </a:cubicBezTo>
                  <a:cubicBezTo>
                    <a:pt x="83" y="14"/>
                    <a:pt x="85" y="9"/>
                    <a:pt x="82" y="6"/>
                  </a:cubicBezTo>
                  <a:cubicBezTo>
                    <a:pt x="78" y="1"/>
                    <a:pt x="64" y="0"/>
                    <a:pt x="64" y="0"/>
                  </a:cubicBezTo>
                  <a:cubicBezTo>
                    <a:pt x="56" y="3"/>
                    <a:pt x="47" y="21"/>
                    <a:pt x="58" y="1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 w="12700">
              <a:noFill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2081" name="Freeform 31"/>
            <p:cNvSpPr/>
            <p:nvPr/>
          </p:nvSpPr>
          <p:spPr>
            <a:xfrm>
              <a:off x="1637" y="1997"/>
              <a:ext cx="44" cy="24"/>
            </a:xfrm>
            <a:custGeom>
              <a:avLst/>
              <a:gdLst/>
              <a:ahLst/>
              <a:cxnLst>
                <a:cxn ang="0">
                  <a:pos x="16" y="4"/>
                </a:cxn>
                <a:cxn ang="0">
                  <a:pos x="0" y="18"/>
                </a:cxn>
                <a:cxn ang="0">
                  <a:pos x="20" y="28"/>
                </a:cxn>
                <a:cxn ang="0">
                  <a:pos x="28" y="20"/>
                </a:cxn>
                <a:cxn ang="0">
                  <a:pos x="52" y="12"/>
                </a:cxn>
                <a:cxn ang="0">
                  <a:pos x="44" y="0"/>
                </a:cxn>
                <a:cxn ang="0">
                  <a:pos x="16" y="4"/>
                </a:cxn>
              </a:cxnLst>
              <a:pathLst>
                <a:path w="58" h="31">
                  <a:moveTo>
                    <a:pt x="16" y="4"/>
                  </a:moveTo>
                  <a:cubicBezTo>
                    <a:pt x="2" y="13"/>
                    <a:pt x="7" y="8"/>
                    <a:pt x="0" y="18"/>
                  </a:cubicBezTo>
                  <a:cubicBezTo>
                    <a:pt x="5" y="26"/>
                    <a:pt x="11" y="25"/>
                    <a:pt x="20" y="28"/>
                  </a:cubicBezTo>
                  <a:cubicBezTo>
                    <a:pt x="36" y="23"/>
                    <a:pt x="17" y="31"/>
                    <a:pt x="28" y="20"/>
                  </a:cubicBezTo>
                  <a:cubicBezTo>
                    <a:pt x="33" y="15"/>
                    <a:pt x="46" y="13"/>
                    <a:pt x="52" y="12"/>
                  </a:cubicBezTo>
                  <a:cubicBezTo>
                    <a:pt x="58" y="3"/>
                    <a:pt x="53" y="3"/>
                    <a:pt x="44" y="0"/>
                  </a:cubicBezTo>
                  <a:cubicBezTo>
                    <a:pt x="38" y="1"/>
                    <a:pt x="20" y="8"/>
                    <a:pt x="16" y="4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 w="12700">
              <a:noFill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2082" name="Freeform 32"/>
            <p:cNvSpPr/>
            <p:nvPr/>
          </p:nvSpPr>
          <p:spPr>
            <a:xfrm>
              <a:off x="1751" y="2000"/>
              <a:ext cx="114" cy="77"/>
            </a:xfrm>
            <a:custGeom>
              <a:avLst/>
              <a:gdLst/>
              <a:ahLst/>
              <a:cxnLst>
                <a:cxn ang="0">
                  <a:pos x="38" y="0"/>
                </a:cxn>
                <a:cxn ang="0">
                  <a:pos x="14" y="6"/>
                </a:cxn>
                <a:cxn ang="0">
                  <a:pos x="4" y="38"/>
                </a:cxn>
                <a:cxn ang="0">
                  <a:pos x="12" y="56"/>
                </a:cxn>
                <a:cxn ang="0">
                  <a:pos x="0" y="72"/>
                </a:cxn>
                <a:cxn ang="0">
                  <a:pos x="56" y="86"/>
                </a:cxn>
                <a:cxn ang="0">
                  <a:pos x="82" y="92"/>
                </a:cxn>
                <a:cxn ang="0">
                  <a:pos x="152" y="86"/>
                </a:cxn>
                <a:cxn ang="0">
                  <a:pos x="76" y="70"/>
                </a:cxn>
                <a:cxn ang="0">
                  <a:pos x="54" y="62"/>
                </a:cxn>
                <a:cxn ang="0">
                  <a:pos x="44" y="52"/>
                </a:cxn>
                <a:cxn ang="0">
                  <a:pos x="50" y="34"/>
                </a:cxn>
                <a:cxn ang="0">
                  <a:pos x="38" y="0"/>
                </a:cxn>
              </a:cxnLst>
              <a:pathLst>
                <a:path w="152" h="102">
                  <a:moveTo>
                    <a:pt x="38" y="0"/>
                  </a:moveTo>
                  <a:cubicBezTo>
                    <a:pt x="22" y="5"/>
                    <a:pt x="30" y="3"/>
                    <a:pt x="14" y="6"/>
                  </a:cubicBezTo>
                  <a:cubicBezTo>
                    <a:pt x="18" y="22"/>
                    <a:pt x="22" y="32"/>
                    <a:pt x="4" y="38"/>
                  </a:cubicBezTo>
                  <a:cubicBezTo>
                    <a:pt x="1" y="47"/>
                    <a:pt x="7" y="49"/>
                    <a:pt x="12" y="56"/>
                  </a:cubicBezTo>
                  <a:cubicBezTo>
                    <a:pt x="10" y="65"/>
                    <a:pt x="9" y="69"/>
                    <a:pt x="0" y="72"/>
                  </a:cubicBezTo>
                  <a:cubicBezTo>
                    <a:pt x="5" y="88"/>
                    <a:pt x="45" y="85"/>
                    <a:pt x="56" y="86"/>
                  </a:cubicBezTo>
                  <a:cubicBezTo>
                    <a:pt x="72" y="97"/>
                    <a:pt x="63" y="95"/>
                    <a:pt x="82" y="92"/>
                  </a:cubicBezTo>
                  <a:cubicBezTo>
                    <a:pt x="86" y="92"/>
                    <a:pt x="147" y="102"/>
                    <a:pt x="152" y="86"/>
                  </a:cubicBezTo>
                  <a:cubicBezTo>
                    <a:pt x="123" y="66"/>
                    <a:pt x="128" y="72"/>
                    <a:pt x="76" y="70"/>
                  </a:cubicBezTo>
                  <a:cubicBezTo>
                    <a:pt x="62" y="56"/>
                    <a:pt x="81" y="73"/>
                    <a:pt x="54" y="62"/>
                  </a:cubicBezTo>
                  <a:cubicBezTo>
                    <a:pt x="50" y="60"/>
                    <a:pt x="48" y="55"/>
                    <a:pt x="44" y="52"/>
                  </a:cubicBezTo>
                  <a:cubicBezTo>
                    <a:pt x="41" y="43"/>
                    <a:pt x="42" y="39"/>
                    <a:pt x="50" y="34"/>
                  </a:cubicBezTo>
                  <a:cubicBezTo>
                    <a:pt x="52" y="27"/>
                    <a:pt x="42" y="9"/>
                    <a:pt x="38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 w="12700">
              <a:noFill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2083" name="Freeform 33"/>
            <p:cNvSpPr/>
            <p:nvPr/>
          </p:nvSpPr>
          <p:spPr>
            <a:xfrm>
              <a:off x="664" y="2245"/>
              <a:ext cx="25" cy="15"/>
            </a:xfrm>
            <a:custGeom>
              <a:avLst/>
              <a:gdLst/>
              <a:ahLst/>
              <a:cxnLst>
                <a:cxn ang="0">
                  <a:pos x="34" y="0"/>
                </a:cxn>
                <a:cxn ang="0">
                  <a:pos x="24" y="20"/>
                </a:cxn>
                <a:cxn ang="0">
                  <a:pos x="4" y="18"/>
                </a:cxn>
                <a:cxn ang="0">
                  <a:pos x="4" y="6"/>
                </a:cxn>
                <a:cxn ang="0">
                  <a:pos x="34" y="0"/>
                </a:cxn>
              </a:cxnLst>
              <a:pathLst>
                <a:path w="34" h="20">
                  <a:moveTo>
                    <a:pt x="34" y="0"/>
                  </a:moveTo>
                  <a:cubicBezTo>
                    <a:pt x="32" y="10"/>
                    <a:pt x="34" y="17"/>
                    <a:pt x="24" y="20"/>
                  </a:cubicBezTo>
                  <a:cubicBezTo>
                    <a:pt x="17" y="19"/>
                    <a:pt x="10" y="20"/>
                    <a:pt x="4" y="18"/>
                  </a:cubicBezTo>
                  <a:cubicBezTo>
                    <a:pt x="0" y="17"/>
                    <a:pt x="2" y="7"/>
                    <a:pt x="4" y="6"/>
                  </a:cubicBezTo>
                  <a:cubicBezTo>
                    <a:pt x="12" y="0"/>
                    <a:pt x="24" y="0"/>
                    <a:pt x="34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 w="12700">
              <a:noFill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2084" name="Freeform 34"/>
            <p:cNvSpPr/>
            <p:nvPr/>
          </p:nvSpPr>
          <p:spPr>
            <a:xfrm>
              <a:off x="1421" y="2756"/>
              <a:ext cx="16" cy="12"/>
            </a:xfrm>
            <a:custGeom>
              <a:avLst/>
              <a:gdLst/>
              <a:ahLst/>
              <a:cxnLst>
                <a:cxn ang="0">
                  <a:pos x="3" y="0"/>
                </a:cxn>
                <a:cxn ang="0">
                  <a:pos x="13" y="16"/>
                </a:cxn>
                <a:cxn ang="0">
                  <a:pos x="3" y="0"/>
                </a:cxn>
              </a:cxnLst>
              <a:pathLst>
                <a:path w="21" h="16">
                  <a:moveTo>
                    <a:pt x="3" y="0"/>
                  </a:moveTo>
                  <a:cubicBezTo>
                    <a:pt x="0" y="9"/>
                    <a:pt x="6" y="11"/>
                    <a:pt x="13" y="16"/>
                  </a:cubicBezTo>
                  <a:cubicBezTo>
                    <a:pt x="21" y="4"/>
                    <a:pt x="16" y="2"/>
                    <a:pt x="3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 w="12700">
              <a:noFill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2085" name="Freeform 35"/>
            <p:cNvSpPr/>
            <p:nvPr/>
          </p:nvSpPr>
          <p:spPr>
            <a:xfrm>
              <a:off x="1424" y="2781"/>
              <a:ext cx="16" cy="12"/>
            </a:xfrm>
            <a:custGeom>
              <a:avLst/>
              <a:gdLst/>
              <a:ahLst/>
              <a:cxnLst>
                <a:cxn ang="0">
                  <a:pos x="3" y="0"/>
                </a:cxn>
                <a:cxn ang="0">
                  <a:pos x="13" y="16"/>
                </a:cxn>
                <a:cxn ang="0">
                  <a:pos x="3" y="0"/>
                </a:cxn>
              </a:cxnLst>
              <a:pathLst>
                <a:path w="21" h="16">
                  <a:moveTo>
                    <a:pt x="3" y="0"/>
                  </a:moveTo>
                  <a:cubicBezTo>
                    <a:pt x="0" y="9"/>
                    <a:pt x="6" y="11"/>
                    <a:pt x="13" y="16"/>
                  </a:cubicBezTo>
                  <a:cubicBezTo>
                    <a:pt x="21" y="4"/>
                    <a:pt x="16" y="2"/>
                    <a:pt x="3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 w="12700">
              <a:noFill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2086" name="Freeform 36"/>
            <p:cNvSpPr/>
            <p:nvPr/>
          </p:nvSpPr>
          <p:spPr>
            <a:xfrm>
              <a:off x="1628" y="2913"/>
              <a:ext cx="15" cy="12"/>
            </a:xfrm>
            <a:custGeom>
              <a:avLst/>
              <a:gdLst/>
              <a:ahLst/>
              <a:cxnLst>
                <a:cxn ang="0">
                  <a:pos x="3" y="0"/>
                </a:cxn>
                <a:cxn ang="0">
                  <a:pos x="13" y="16"/>
                </a:cxn>
                <a:cxn ang="0">
                  <a:pos x="3" y="0"/>
                </a:cxn>
              </a:cxnLst>
              <a:pathLst>
                <a:path w="21" h="16">
                  <a:moveTo>
                    <a:pt x="3" y="0"/>
                  </a:moveTo>
                  <a:cubicBezTo>
                    <a:pt x="0" y="9"/>
                    <a:pt x="6" y="11"/>
                    <a:pt x="13" y="16"/>
                  </a:cubicBezTo>
                  <a:cubicBezTo>
                    <a:pt x="21" y="4"/>
                    <a:pt x="16" y="2"/>
                    <a:pt x="3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 w="12700">
              <a:noFill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2087" name="Freeform 37"/>
            <p:cNvSpPr/>
            <p:nvPr/>
          </p:nvSpPr>
          <p:spPr>
            <a:xfrm>
              <a:off x="1752" y="2429"/>
              <a:ext cx="38" cy="18"/>
            </a:xfrm>
            <a:custGeom>
              <a:avLst/>
              <a:gdLst/>
              <a:ahLst/>
              <a:cxnLst>
                <a:cxn ang="0">
                  <a:pos x="13" y="0"/>
                </a:cxn>
                <a:cxn ang="0">
                  <a:pos x="7" y="18"/>
                </a:cxn>
                <a:cxn ang="0">
                  <a:pos x="27" y="24"/>
                </a:cxn>
                <a:cxn ang="0">
                  <a:pos x="33" y="4"/>
                </a:cxn>
                <a:cxn ang="0">
                  <a:pos x="13" y="0"/>
                </a:cxn>
              </a:cxnLst>
              <a:pathLst>
                <a:path w="51" h="24">
                  <a:moveTo>
                    <a:pt x="13" y="0"/>
                  </a:moveTo>
                  <a:cubicBezTo>
                    <a:pt x="12" y="2"/>
                    <a:pt x="0" y="12"/>
                    <a:pt x="7" y="18"/>
                  </a:cubicBezTo>
                  <a:cubicBezTo>
                    <a:pt x="12" y="22"/>
                    <a:pt x="27" y="24"/>
                    <a:pt x="27" y="24"/>
                  </a:cubicBezTo>
                  <a:cubicBezTo>
                    <a:pt x="44" y="22"/>
                    <a:pt x="51" y="16"/>
                    <a:pt x="33" y="4"/>
                  </a:cubicBezTo>
                  <a:cubicBezTo>
                    <a:pt x="29" y="1"/>
                    <a:pt x="14" y="0"/>
                    <a:pt x="13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 w="12700">
              <a:noFill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2088" name="Freeform 38"/>
            <p:cNvSpPr/>
            <p:nvPr/>
          </p:nvSpPr>
          <p:spPr>
            <a:xfrm>
              <a:off x="1652" y="2224"/>
              <a:ext cx="38" cy="18"/>
            </a:xfrm>
            <a:custGeom>
              <a:avLst/>
              <a:gdLst/>
              <a:ahLst/>
              <a:cxnLst>
                <a:cxn ang="0">
                  <a:pos x="13" y="0"/>
                </a:cxn>
                <a:cxn ang="0">
                  <a:pos x="7" y="18"/>
                </a:cxn>
                <a:cxn ang="0">
                  <a:pos x="27" y="24"/>
                </a:cxn>
                <a:cxn ang="0">
                  <a:pos x="33" y="4"/>
                </a:cxn>
                <a:cxn ang="0">
                  <a:pos x="13" y="0"/>
                </a:cxn>
              </a:cxnLst>
              <a:pathLst>
                <a:path w="51" h="24">
                  <a:moveTo>
                    <a:pt x="13" y="0"/>
                  </a:moveTo>
                  <a:cubicBezTo>
                    <a:pt x="12" y="2"/>
                    <a:pt x="0" y="12"/>
                    <a:pt x="7" y="18"/>
                  </a:cubicBezTo>
                  <a:cubicBezTo>
                    <a:pt x="12" y="22"/>
                    <a:pt x="27" y="24"/>
                    <a:pt x="27" y="24"/>
                  </a:cubicBezTo>
                  <a:cubicBezTo>
                    <a:pt x="44" y="22"/>
                    <a:pt x="51" y="16"/>
                    <a:pt x="33" y="4"/>
                  </a:cubicBezTo>
                  <a:cubicBezTo>
                    <a:pt x="29" y="1"/>
                    <a:pt x="14" y="0"/>
                    <a:pt x="13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 w="12700">
              <a:noFill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2089" name="Freeform 39"/>
            <p:cNvSpPr/>
            <p:nvPr/>
          </p:nvSpPr>
          <p:spPr>
            <a:xfrm>
              <a:off x="1717" y="2045"/>
              <a:ext cx="39" cy="18"/>
            </a:xfrm>
            <a:custGeom>
              <a:avLst/>
              <a:gdLst/>
              <a:ahLst/>
              <a:cxnLst>
                <a:cxn ang="0">
                  <a:pos x="13" y="0"/>
                </a:cxn>
                <a:cxn ang="0">
                  <a:pos x="7" y="18"/>
                </a:cxn>
                <a:cxn ang="0">
                  <a:pos x="27" y="24"/>
                </a:cxn>
                <a:cxn ang="0">
                  <a:pos x="33" y="4"/>
                </a:cxn>
                <a:cxn ang="0">
                  <a:pos x="13" y="0"/>
                </a:cxn>
              </a:cxnLst>
              <a:pathLst>
                <a:path w="51" h="24">
                  <a:moveTo>
                    <a:pt x="13" y="0"/>
                  </a:moveTo>
                  <a:cubicBezTo>
                    <a:pt x="12" y="2"/>
                    <a:pt x="0" y="12"/>
                    <a:pt x="7" y="18"/>
                  </a:cubicBezTo>
                  <a:cubicBezTo>
                    <a:pt x="12" y="22"/>
                    <a:pt x="27" y="24"/>
                    <a:pt x="27" y="24"/>
                  </a:cubicBezTo>
                  <a:cubicBezTo>
                    <a:pt x="44" y="22"/>
                    <a:pt x="51" y="16"/>
                    <a:pt x="33" y="4"/>
                  </a:cubicBezTo>
                  <a:cubicBezTo>
                    <a:pt x="29" y="1"/>
                    <a:pt x="14" y="0"/>
                    <a:pt x="13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 w="12700">
              <a:noFill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2090" name="Freeform 40"/>
            <p:cNvSpPr/>
            <p:nvPr/>
          </p:nvSpPr>
          <p:spPr>
            <a:xfrm>
              <a:off x="1780" y="2153"/>
              <a:ext cx="38" cy="18"/>
            </a:xfrm>
            <a:custGeom>
              <a:avLst/>
              <a:gdLst/>
              <a:ahLst/>
              <a:cxnLst>
                <a:cxn ang="0">
                  <a:pos x="13" y="0"/>
                </a:cxn>
                <a:cxn ang="0">
                  <a:pos x="7" y="18"/>
                </a:cxn>
                <a:cxn ang="0">
                  <a:pos x="27" y="24"/>
                </a:cxn>
                <a:cxn ang="0">
                  <a:pos x="33" y="4"/>
                </a:cxn>
                <a:cxn ang="0">
                  <a:pos x="13" y="0"/>
                </a:cxn>
              </a:cxnLst>
              <a:pathLst>
                <a:path w="51" h="24">
                  <a:moveTo>
                    <a:pt x="13" y="0"/>
                  </a:moveTo>
                  <a:cubicBezTo>
                    <a:pt x="12" y="2"/>
                    <a:pt x="0" y="12"/>
                    <a:pt x="7" y="18"/>
                  </a:cubicBezTo>
                  <a:cubicBezTo>
                    <a:pt x="12" y="22"/>
                    <a:pt x="27" y="24"/>
                    <a:pt x="27" y="24"/>
                  </a:cubicBezTo>
                  <a:cubicBezTo>
                    <a:pt x="44" y="22"/>
                    <a:pt x="51" y="16"/>
                    <a:pt x="33" y="4"/>
                  </a:cubicBezTo>
                  <a:cubicBezTo>
                    <a:pt x="29" y="1"/>
                    <a:pt x="14" y="0"/>
                    <a:pt x="13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 w="12700">
              <a:noFill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2091" name="Freeform 41"/>
            <p:cNvSpPr/>
            <p:nvPr/>
          </p:nvSpPr>
          <p:spPr>
            <a:xfrm>
              <a:off x="1796" y="1951"/>
              <a:ext cx="696" cy="346"/>
            </a:xfrm>
            <a:custGeom>
              <a:avLst/>
              <a:gdLst/>
              <a:ahLst/>
              <a:cxnLst>
                <a:cxn ang="0">
                  <a:pos x="28" y="56"/>
                </a:cxn>
                <a:cxn ang="0">
                  <a:pos x="6" y="92"/>
                </a:cxn>
                <a:cxn ang="0">
                  <a:pos x="36" y="100"/>
                </a:cxn>
                <a:cxn ang="0">
                  <a:pos x="16" y="116"/>
                </a:cxn>
                <a:cxn ang="0">
                  <a:pos x="104" y="136"/>
                </a:cxn>
                <a:cxn ang="0">
                  <a:pos x="142" y="130"/>
                </a:cxn>
                <a:cxn ang="0">
                  <a:pos x="250" y="78"/>
                </a:cxn>
                <a:cxn ang="0">
                  <a:pos x="300" y="66"/>
                </a:cxn>
                <a:cxn ang="0">
                  <a:pos x="324" y="80"/>
                </a:cxn>
                <a:cxn ang="0">
                  <a:pos x="272" y="88"/>
                </a:cxn>
                <a:cxn ang="0">
                  <a:pos x="242" y="112"/>
                </a:cxn>
                <a:cxn ang="0">
                  <a:pos x="254" y="120"/>
                </a:cxn>
                <a:cxn ang="0">
                  <a:pos x="260" y="158"/>
                </a:cxn>
                <a:cxn ang="0">
                  <a:pos x="350" y="192"/>
                </a:cxn>
                <a:cxn ang="0">
                  <a:pos x="336" y="210"/>
                </a:cxn>
                <a:cxn ang="0">
                  <a:pos x="368" y="246"/>
                </a:cxn>
                <a:cxn ang="0">
                  <a:pos x="348" y="266"/>
                </a:cxn>
                <a:cxn ang="0">
                  <a:pos x="324" y="294"/>
                </a:cxn>
                <a:cxn ang="0">
                  <a:pos x="294" y="324"/>
                </a:cxn>
                <a:cxn ang="0">
                  <a:pos x="292" y="420"/>
                </a:cxn>
                <a:cxn ang="0">
                  <a:pos x="332" y="446"/>
                </a:cxn>
                <a:cxn ang="0">
                  <a:pos x="388" y="448"/>
                </a:cxn>
                <a:cxn ang="0">
                  <a:pos x="412" y="422"/>
                </a:cxn>
                <a:cxn ang="0">
                  <a:pos x="506" y="356"/>
                </a:cxn>
                <a:cxn ang="0">
                  <a:pos x="572" y="334"/>
                </a:cxn>
                <a:cxn ang="0">
                  <a:pos x="646" y="308"/>
                </a:cxn>
                <a:cxn ang="0">
                  <a:pos x="720" y="290"/>
                </a:cxn>
                <a:cxn ang="0">
                  <a:pos x="762" y="260"/>
                </a:cxn>
                <a:cxn ang="0">
                  <a:pos x="800" y="200"/>
                </a:cxn>
                <a:cxn ang="0">
                  <a:pos x="802" y="154"/>
                </a:cxn>
                <a:cxn ang="0">
                  <a:pos x="802" y="124"/>
                </a:cxn>
                <a:cxn ang="0">
                  <a:pos x="832" y="90"/>
                </a:cxn>
                <a:cxn ang="0">
                  <a:pos x="876" y="94"/>
                </a:cxn>
                <a:cxn ang="0">
                  <a:pos x="922" y="52"/>
                </a:cxn>
                <a:cxn ang="0">
                  <a:pos x="888" y="56"/>
                </a:cxn>
                <a:cxn ang="0">
                  <a:pos x="848" y="46"/>
                </a:cxn>
                <a:cxn ang="0">
                  <a:pos x="794" y="22"/>
                </a:cxn>
                <a:cxn ang="0">
                  <a:pos x="642" y="26"/>
                </a:cxn>
                <a:cxn ang="0">
                  <a:pos x="584" y="38"/>
                </a:cxn>
                <a:cxn ang="0">
                  <a:pos x="556" y="38"/>
                </a:cxn>
                <a:cxn ang="0">
                  <a:pos x="516" y="54"/>
                </a:cxn>
                <a:cxn ang="0">
                  <a:pos x="478" y="30"/>
                </a:cxn>
                <a:cxn ang="0">
                  <a:pos x="432" y="40"/>
                </a:cxn>
                <a:cxn ang="0">
                  <a:pos x="366" y="52"/>
                </a:cxn>
                <a:cxn ang="0">
                  <a:pos x="410" y="38"/>
                </a:cxn>
                <a:cxn ang="0">
                  <a:pos x="352" y="8"/>
                </a:cxn>
                <a:cxn ang="0">
                  <a:pos x="334" y="2"/>
                </a:cxn>
                <a:cxn ang="0">
                  <a:pos x="314" y="8"/>
                </a:cxn>
                <a:cxn ang="0">
                  <a:pos x="240" y="16"/>
                </a:cxn>
                <a:cxn ang="0">
                  <a:pos x="160" y="28"/>
                </a:cxn>
                <a:cxn ang="0">
                  <a:pos x="108" y="26"/>
                </a:cxn>
                <a:cxn ang="0">
                  <a:pos x="114" y="68"/>
                </a:cxn>
                <a:cxn ang="0">
                  <a:pos x="104" y="52"/>
                </a:cxn>
                <a:cxn ang="0">
                  <a:pos x="60" y="42"/>
                </a:cxn>
              </a:cxnLst>
              <a:pathLst>
                <a:path w="929" h="462">
                  <a:moveTo>
                    <a:pt x="60" y="42"/>
                  </a:moveTo>
                  <a:cubicBezTo>
                    <a:pt x="40" y="45"/>
                    <a:pt x="42" y="46"/>
                    <a:pt x="28" y="56"/>
                  </a:cubicBezTo>
                  <a:cubicBezTo>
                    <a:pt x="26" y="74"/>
                    <a:pt x="27" y="75"/>
                    <a:pt x="10" y="78"/>
                  </a:cubicBezTo>
                  <a:cubicBezTo>
                    <a:pt x="4" y="82"/>
                    <a:pt x="0" y="82"/>
                    <a:pt x="6" y="92"/>
                  </a:cubicBezTo>
                  <a:cubicBezTo>
                    <a:pt x="10" y="98"/>
                    <a:pt x="21" y="96"/>
                    <a:pt x="28" y="98"/>
                  </a:cubicBezTo>
                  <a:cubicBezTo>
                    <a:pt x="31" y="99"/>
                    <a:pt x="36" y="100"/>
                    <a:pt x="36" y="100"/>
                  </a:cubicBezTo>
                  <a:cubicBezTo>
                    <a:pt x="47" y="99"/>
                    <a:pt x="69" y="97"/>
                    <a:pt x="50" y="110"/>
                  </a:cubicBezTo>
                  <a:cubicBezTo>
                    <a:pt x="37" y="108"/>
                    <a:pt x="24" y="104"/>
                    <a:pt x="16" y="116"/>
                  </a:cubicBezTo>
                  <a:cubicBezTo>
                    <a:pt x="24" y="141"/>
                    <a:pt x="68" y="125"/>
                    <a:pt x="94" y="126"/>
                  </a:cubicBezTo>
                  <a:cubicBezTo>
                    <a:pt x="98" y="129"/>
                    <a:pt x="100" y="134"/>
                    <a:pt x="104" y="136"/>
                  </a:cubicBezTo>
                  <a:cubicBezTo>
                    <a:pt x="108" y="138"/>
                    <a:pt x="116" y="140"/>
                    <a:pt x="116" y="140"/>
                  </a:cubicBezTo>
                  <a:cubicBezTo>
                    <a:pt x="129" y="138"/>
                    <a:pt x="133" y="139"/>
                    <a:pt x="142" y="130"/>
                  </a:cubicBezTo>
                  <a:cubicBezTo>
                    <a:pt x="151" y="104"/>
                    <a:pt x="179" y="110"/>
                    <a:pt x="202" y="102"/>
                  </a:cubicBezTo>
                  <a:cubicBezTo>
                    <a:pt x="219" y="96"/>
                    <a:pt x="233" y="84"/>
                    <a:pt x="250" y="78"/>
                  </a:cubicBezTo>
                  <a:cubicBezTo>
                    <a:pt x="260" y="75"/>
                    <a:pt x="269" y="74"/>
                    <a:pt x="280" y="72"/>
                  </a:cubicBezTo>
                  <a:cubicBezTo>
                    <a:pt x="287" y="71"/>
                    <a:pt x="300" y="66"/>
                    <a:pt x="300" y="66"/>
                  </a:cubicBezTo>
                  <a:cubicBezTo>
                    <a:pt x="311" y="49"/>
                    <a:pt x="336" y="54"/>
                    <a:pt x="354" y="60"/>
                  </a:cubicBezTo>
                  <a:cubicBezTo>
                    <a:pt x="367" y="79"/>
                    <a:pt x="335" y="79"/>
                    <a:pt x="324" y="80"/>
                  </a:cubicBezTo>
                  <a:cubicBezTo>
                    <a:pt x="312" y="83"/>
                    <a:pt x="306" y="93"/>
                    <a:pt x="292" y="96"/>
                  </a:cubicBezTo>
                  <a:cubicBezTo>
                    <a:pt x="284" y="94"/>
                    <a:pt x="279" y="90"/>
                    <a:pt x="272" y="88"/>
                  </a:cubicBezTo>
                  <a:cubicBezTo>
                    <a:pt x="253" y="91"/>
                    <a:pt x="232" y="96"/>
                    <a:pt x="214" y="102"/>
                  </a:cubicBezTo>
                  <a:cubicBezTo>
                    <a:pt x="223" y="108"/>
                    <a:pt x="231" y="109"/>
                    <a:pt x="242" y="112"/>
                  </a:cubicBezTo>
                  <a:cubicBezTo>
                    <a:pt x="245" y="113"/>
                    <a:pt x="250" y="114"/>
                    <a:pt x="250" y="114"/>
                  </a:cubicBezTo>
                  <a:cubicBezTo>
                    <a:pt x="251" y="116"/>
                    <a:pt x="255" y="118"/>
                    <a:pt x="254" y="120"/>
                  </a:cubicBezTo>
                  <a:cubicBezTo>
                    <a:pt x="252" y="124"/>
                    <a:pt x="242" y="128"/>
                    <a:pt x="242" y="128"/>
                  </a:cubicBezTo>
                  <a:cubicBezTo>
                    <a:pt x="233" y="141"/>
                    <a:pt x="247" y="154"/>
                    <a:pt x="260" y="158"/>
                  </a:cubicBezTo>
                  <a:cubicBezTo>
                    <a:pt x="282" y="155"/>
                    <a:pt x="295" y="151"/>
                    <a:pt x="318" y="150"/>
                  </a:cubicBezTo>
                  <a:cubicBezTo>
                    <a:pt x="334" y="155"/>
                    <a:pt x="345" y="176"/>
                    <a:pt x="350" y="192"/>
                  </a:cubicBezTo>
                  <a:cubicBezTo>
                    <a:pt x="349" y="195"/>
                    <a:pt x="350" y="199"/>
                    <a:pt x="348" y="202"/>
                  </a:cubicBezTo>
                  <a:cubicBezTo>
                    <a:pt x="345" y="206"/>
                    <a:pt x="336" y="210"/>
                    <a:pt x="336" y="210"/>
                  </a:cubicBezTo>
                  <a:cubicBezTo>
                    <a:pt x="327" y="224"/>
                    <a:pt x="332" y="235"/>
                    <a:pt x="348" y="240"/>
                  </a:cubicBezTo>
                  <a:cubicBezTo>
                    <a:pt x="358" y="237"/>
                    <a:pt x="362" y="237"/>
                    <a:pt x="368" y="246"/>
                  </a:cubicBezTo>
                  <a:cubicBezTo>
                    <a:pt x="360" y="252"/>
                    <a:pt x="346" y="246"/>
                    <a:pt x="338" y="252"/>
                  </a:cubicBezTo>
                  <a:cubicBezTo>
                    <a:pt x="326" y="260"/>
                    <a:pt x="346" y="265"/>
                    <a:pt x="348" y="266"/>
                  </a:cubicBezTo>
                  <a:cubicBezTo>
                    <a:pt x="352" y="278"/>
                    <a:pt x="347" y="279"/>
                    <a:pt x="336" y="286"/>
                  </a:cubicBezTo>
                  <a:cubicBezTo>
                    <a:pt x="332" y="289"/>
                    <a:pt x="324" y="294"/>
                    <a:pt x="324" y="294"/>
                  </a:cubicBezTo>
                  <a:cubicBezTo>
                    <a:pt x="315" y="308"/>
                    <a:pt x="320" y="303"/>
                    <a:pt x="310" y="310"/>
                  </a:cubicBezTo>
                  <a:cubicBezTo>
                    <a:pt x="306" y="316"/>
                    <a:pt x="294" y="324"/>
                    <a:pt x="294" y="324"/>
                  </a:cubicBezTo>
                  <a:cubicBezTo>
                    <a:pt x="285" y="338"/>
                    <a:pt x="288" y="331"/>
                    <a:pt x="284" y="342"/>
                  </a:cubicBezTo>
                  <a:cubicBezTo>
                    <a:pt x="285" y="374"/>
                    <a:pt x="283" y="393"/>
                    <a:pt x="292" y="420"/>
                  </a:cubicBezTo>
                  <a:cubicBezTo>
                    <a:pt x="295" y="429"/>
                    <a:pt x="307" y="435"/>
                    <a:pt x="314" y="440"/>
                  </a:cubicBezTo>
                  <a:cubicBezTo>
                    <a:pt x="319" y="444"/>
                    <a:pt x="332" y="446"/>
                    <a:pt x="332" y="446"/>
                  </a:cubicBezTo>
                  <a:cubicBezTo>
                    <a:pt x="340" y="457"/>
                    <a:pt x="345" y="459"/>
                    <a:pt x="358" y="462"/>
                  </a:cubicBezTo>
                  <a:cubicBezTo>
                    <a:pt x="376" y="459"/>
                    <a:pt x="375" y="457"/>
                    <a:pt x="388" y="448"/>
                  </a:cubicBezTo>
                  <a:cubicBezTo>
                    <a:pt x="390" y="441"/>
                    <a:pt x="394" y="435"/>
                    <a:pt x="400" y="430"/>
                  </a:cubicBezTo>
                  <a:cubicBezTo>
                    <a:pt x="404" y="427"/>
                    <a:pt x="412" y="422"/>
                    <a:pt x="412" y="422"/>
                  </a:cubicBezTo>
                  <a:cubicBezTo>
                    <a:pt x="417" y="415"/>
                    <a:pt x="451" y="367"/>
                    <a:pt x="458" y="364"/>
                  </a:cubicBezTo>
                  <a:cubicBezTo>
                    <a:pt x="475" y="356"/>
                    <a:pt x="486" y="357"/>
                    <a:pt x="506" y="356"/>
                  </a:cubicBezTo>
                  <a:cubicBezTo>
                    <a:pt x="525" y="350"/>
                    <a:pt x="533" y="342"/>
                    <a:pt x="554" y="340"/>
                  </a:cubicBezTo>
                  <a:cubicBezTo>
                    <a:pt x="560" y="338"/>
                    <a:pt x="566" y="336"/>
                    <a:pt x="572" y="334"/>
                  </a:cubicBezTo>
                  <a:cubicBezTo>
                    <a:pt x="576" y="333"/>
                    <a:pt x="584" y="330"/>
                    <a:pt x="584" y="330"/>
                  </a:cubicBezTo>
                  <a:cubicBezTo>
                    <a:pt x="603" y="311"/>
                    <a:pt x="618" y="310"/>
                    <a:pt x="646" y="308"/>
                  </a:cubicBezTo>
                  <a:cubicBezTo>
                    <a:pt x="665" y="304"/>
                    <a:pt x="684" y="303"/>
                    <a:pt x="704" y="302"/>
                  </a:cubicBezTo>
                  <a:cubicBezTo>
                    <a:pt x="712" y="299"/>
                    <a:pt x="712" y="293"/>
                    <a:pt x="720" y="290"/>
                  </a:cubicBezTo>
                  <a:cubicBezTo>
                    <a:pt x="732" y="285"/>
                    <a:pt x="743" y="285"/>
                    <a:pt x="754" y="278"/>
                  </a:cubicBezTo>
                  <a:cubicBezTo>
                    <a:pt x="756" y="271"/>
                    <a:pt x="760" y="267"/>
                    <a:pt x="762" y="260"/>
                  </a:cubicBezTo>
                  <a:cubicBezTo>
                    <a:pt x="763" y="247"/>
                    <a:pt x="762" y="233"/>
                    <a:pt x="764" y="220"/>
                  </a:cubicBezTo>
                  <a:cubicBezTo>
                    <a:pt x="764" y="219"/>
                    <a:pt x="794" y="204"/>
                    <a:pt x="800" y="200"/>
                  </a:cubicBezTo>
                  <a:cubicBezTo>
                    <a:pt x="807" y="189"/>
                    <a:pt x="808" y="186"/>
                    <a:pt x="820" y="182"/>
                  </a:cubicBezTo>
                  <a:cubicBezTo>
                    <a:pt x="825" y="166"/>
                    <a:pt x="814" y="162"/>
                    <a:pt x="802" y="154"/>
                  </a:cubicBezTo>
                  <a:cubicBezTo>
                    <a:pt x="797" y="151"/>
                    <a:pt x="790" y="142"/>
                    <a:pt x="790" y="142"/>
                  </a:cubicBezTo>
                  <a:cubicBezTo>
                    <a:pt x="786" y="131"/>
                    <a:pt x="792" y="127"/>
                    <a:pt x="802" y="124"/>
                  </a:cubicBezTo>
                  <a:cubicBezTo>
                    <a:pt x="810" y="116"/>
                    <a:pt x="813" y="98"/>
                    <a:pt x="820" y="94"/>
                  </a:cubicBezTo>
                  <a:cubicBezTo>
                    <a:pt x="824" y="92"/>
                    <a:pt x="832" y="90"/>
                    <a:pt x="832" y="90"/>
                  </a:cubicBezTo>
                  <a:cubicBezTo>
                    <a:pt x="844" y="92"/>
                    <a:pt x="848" y="92"/>
                    <a:pt x="856" y="100"/>
                  </a:cubicBezTo>
                  <a:cubicBezTo>
                    <a:pt x="863" y="98"/>
                    <a:pt x="876" y="94"/>
                    <a:pt x="876" y="94"/>
                  </a:cubicBezTo>
                  <a:cubicBezTo>
                    <a:pt x="889" y="81"/>
                    <a:pt x="906" y="77"/>
                    <a:pt x="924" y="74"/>
                  </a:cubicBezTo>
                  <a:cubicBezTo>
                    <a:pt x="929" y="67"/>
                    <a:pt x="929" y="58"/>
                    <a:pt x="922" y="52"/>
                  </a:cubicBezTo>
                  <a:cubicBezTo>
                    <a:pt x="918" y="49"/>
                    <a:pt x="910" y="44"/>
                    <a:pt x="910" y="44"/>
                  </a:cubicBezTo>
                  <a:cubicBezTo>
                    <a:pt x="894" y="47"/>
                    <a:pt x="899" y="49"/>
                    <a:pt x="888" y="56"/>
                  </a:cubicBezTo>
                  <a:cubicBezTo>
                    <a:pt x="884" y="58"/>
                    <a:pt x="876" y="60"/>
                    <a:pt x="876" y="60"/>
                  </a:cubicBezTo>
                  <a:cubicBezTo>
                    <a:pt x="853" y="59"/>
                    <a:pt x="810" y="59"/>
                    <a:pt x="848" y="46"/>
                  </a:cubicBezTo>
                  <a:cubicBezTo>
                    <a:pt x="844" y="33"/>
                    <a:pt x="831" y="37"/>
                    <a:pt x="818" y="36"/>
                  </a:cubicBezTo>
                  <a:cubicBezTo>
                    <a:pt x="809" y="33"/>
                    <a:pt x="802" y="27"/>
                    <a:pt x="794" y="22"/>
                  </a:cubicBezTo>
                  <a:cubicBezTo>
                    <a:pt x="790" y="20"/>
                    <a:pt x="782" y="18"/>
                    <a:pt x="782" y="18"/>
                  </a:cubicBezTo>
                  <a:cubicBezTo>
                    <a:pt x="727" y="19"/>
                    <a:pt x="688" y="11"/>
                    <a:pt x="642" y="26"/>
                  </a:cubicBezTo>
                  <a:cubicBezTo>
                    <a:pt x="635" y="16"/>
                    <a:pt x="632" y="18"/>
                    <a:pt x="620" y="20"/>
                  </a:cubicBezTo>
                  <a:cubicBezTo>
                    <a:pt x="611" y="34"/>
                    <a:pt x="600" y="36"/>
                    <a:pt x="584" y="38"/>
                  </a:cubicBezTo>
                  <a:cubicBezTo>
                    <a:pt x="575" y="44"/>
                    <a:pt x="581" y="46"/>
                    <a:pt x="578" y="56"/>
                  </a:cubicBezTo>
                  <a:cubicBezTo>
                    <a:pt x="572" y="47"/>
                    <a:pt x="566" y="41"/>
                    <a:pt x="556" y="38"/>
                  </a:cubicBezTo>
                  <a:cubicBezTo>
                    <a:pt x="553" y="38"/>
                    <a:pt x="539" y="39"/>
                    <a:pt x="534" y="42"/>
                  </a:cubicBezTo>
                  <a:cubicBezTo>
                    <a:pt x="528" y="46"/>
                    <a:pt x="516" y="54"/>
                    <a:pt x="516" y="54"/>
                  </a:cubicBezTo>
                  <a:cubicBezTo>
                    <a:pt x="507" y="52"/>
                    <a:pt x="503" y="51"/>
                    <a:pt x="500" y="42"/>
                  </a:cubicBezTo>
                  <a:cubicBezTo>
                    <a:pt x="505" y="28"/>
                    <a:pt x="488" y="31"/>
                    <a:pt x="478" y="30"/>
                  </a:cubicBezTo>
                  <a:cubicBezTo>
                    <a:pt x="469" y="33"/>
                    <a:pt x="473" y="37"/>
                    <a:pt x="464" y="40"/>
                  </a:cubicBezTo>
                  <a:cubicBezTo>
                    <a:pt x="447" y="34"/>
                    <a:pt x="451" y="27"/>
                    <a:pt x="432" y="40"/>
                  </a:cubicBezTo>
                  <a:cubicBezTo>
                    <a:pt x="427" y="54"/>
                    <a:pt x="427" y="52"/>
                    <a:pt x="410" y="50"/>
                  </a:cubicBezTo>
                  <a:cubicBezTo>
                    <a:pt x="391" y="52"/>
                    <a:pt x="385" y="54"/>
                    <a:pt x="366" y="52"/>
                  </a:cubicBezTo>
                  <a:cubicBezTo>
                    <a:pt x="357" y="49"/>
                    <a:pt x="356" y="46"/>
                    <a:pt x="364" y="40"/>
                  </a:cubicBezTo>
                  <a:cubicBezTo>
                    <a:pt x="380" y="42"/>
                    <a:pt x="395" y="43"/>
                    <a:pt x="410" y="38"/>
                  </a:cubicBezTo>
                  <a:cubicBezTo>
                    <a:pt x="426" y="15"/>
                    <a:pt x="386" y="21"/>
                    <a:pt x="370" y="20"/>
                  </a:cubicBezTo>
                  <a:cubicBezTo>
                    <a:pt x="364" y="16"/>
                    <a:pt x="358" y="12"/>
                    <a:pt x="352" y="8"/>
                  </a:cubicBezTo>
                  <a:cubicBezTo>
                    <a:pt x="348" y="5"/>
                    <a:pt x="340" y="0"/>
                    <a:pt x="340" y="0"/>
                  </a:cubicBezTo>
                  <a:cubicBezTo>
                    <a:pt x="338" y="1"/>
                    <a:pt x="336" y="1"/>
                    <a:pt x="334" y="2"/>
                  </a:cubicBezTo>
                  <a:cubicBezTo>
                    <a:pt x="331" y="3"/>
                    <a:pt x="329" y="3"/>
                    <a:pt x="326" y="4"/>
                  </a:cubicBezTo>
                  <a:cubicBezTo>
                    <a:pt x="322" y="5"/>
                    <a:pt x="314" y="8"/>
                    <a:pt x="314" y="8"/>
                  </a:cubicBezTo>
                  <a:cubicBezTo>
                    <a:pt x="305" y="22"/>
                    <a:pt x="288" y="6"/>
                    <a:pt x="276" y="2"/>
                  </a:cubicBezTo>
                  <a:cubicBezTo>
                    <a:pt x="270" y="3"/>
                    <a:pt x="241" y="16"/>
                    <a:pt x="240" y="16"/>
                  </a:cubicBezTo>
                  <a:cubicBezTo>
                    <a:pt x="226" y="17"/>
                    <a:pt x="212" y="17"/>
                    <a:pt x="198" y="18"/>
                  </a:cubicBezTo>
                  <a:cubicBezTo>
                    <a:pt x="183" y="19"/>
                    <a:pt x="172" y="20"/>
                    <a:pt x="160" y="28"/>
                  </a:cubicBezTo>
                  <a:cubicBezTo>
                    <a:pt x="146" y="26"/>
                    <a:pt x="141" y="27"/>
                    <a:pt x="130" y="20"/>
                  </a:cubicBezTo>
                  <a:cubicBezTo>
                    <a:pt x="123" y="22"/>
                    <a:pt x="115" y="24"/>
                    <a:pt x="108" y="26"/>
                  </a:cubicBezTo>
                  <a:cubicBezTo>
                    <a:pt x="102" y="35"/>
                    <a:pt x="113" y="41"/>
                    <a:pt x="122" y="44"/>
                  </a:cubicBezTo>
                  <a:cubicBezTo>
                    <a:pt x="125" y="52"/>
                    <a:pt x="114" y="68"/>
                    <a:pt x="114" y="68"/>
                  </a:cubicBezTo>
                  <a:cubicBezTo>
                    <a:pt x="112" y="79"/>
                    <a:pt x="111" y="82"/>
                    <a:pt x="100" y="78"/>
                  </a:cubicBezTo>
                  <a:cubicBezTo>
                    <a:pt x="93" y="67"/>
                    <a:pt x="100" y="63"/>
                    <a:pt x="104" y="52"/>
                  </a:cubicBezTo>
                  <a:cubicBezTo>
                    <a:pt x="96" y="44"/>
                    <a:pt x="91" y="36"/>
                    <a:pt x="80" y="32"/>
                  </a:cubicBezTo>
                  <a:cubicBezTo>
                    <a:pt x="73" y="34"/>
                    <a:pt x="67" y="39"/>
                    <a:pt x="60" y="42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 w="12700">
              <a:noFill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2092" name="Freeform 42"/>
            <p:cNvSpPr/>
            <p:nvPr/>
          </p:nvSpPr>
          <p:spPr>
            <a:xfrm>
              <a:off x="2009" y="2135"/>
              <a:ext cx="39" cy="24"/>
            </a:xfrm>
            <a:custGeom>
              <a:avLst/>
              <a:gdLst/>
              <a:ahLst/>
              <a:cxnLst>
                <a:cxn ang="0">
                  <a:pos x="34" y="0"/>
                </a:cxn>
                <a:cxn ang="0">
                  <a:pos x="8" y="20"/>
                </a:cxn>
                <a:cxn ang="0">
                  <a:pos x="24" y="32"/>
                </a:cxn>
                <a:cxn ang="0">
                  <a:pos x="42" y="30"/>
                </a:cxn>
                <a:cxn ang="0">
                  <a:pos x="34" y="0"/>
                </a:cxn>
              </a:cxnLst>
              <a:pathLst>
                <a:path w="52" h="32">
                  <a:moveTo>
                    <a:pt x="34" y="0"/>
                  </a:moveTo>
                  <a:cubicBezTo>
                    <a:pt x="30" y="12"/>
                    <a:pt x="19" y="16"/>
                    <a:pt x="8" y="20"/>
                  </a:cubicBezTo>
                  <a:cubicBezTo>
                    <a:pt x="0" y="32"/>
                    <a:pt x="14" y="31"/>
                    <a:pt x="24" y="32"/>
                  </a:cubicBezTo>
                  <a:cubicBezTo>
                    <a:pt x="30" y="31"/>
                    <a:pt x="36" y="32"/>
                    <a:pt x="42" y="30"/>
                  </a:cubicBezTo>
                  <a:cubicBezTo>
                    <a:pt x="52" y="26"/>
                    <a:pt x="34" y="3"/>
                    <a:pt x="34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 w="12700">
              <a:noFill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2093" name="Freeform 43"/>
            <p:cNvSpPr/>
            <p:nvPr/>
          </p:nvSpPr>
          <p:spPr>
            <a:xfrm>
              <a:off x="2292" y="2201"/>
              <a:ext cx="128" cy="54"/>
            </a:xfrm>
            <a:custGeom>
              <a:avLst/>
              <a:gdLst/>
              <a:ahLst/>
              <a:cxnLst>
                <a:cxn ang="0">
                  <a:pos x="102" y="8"/>
                </a:cxn>
                <a:cxn ang="0">
                  <a:pos x="66" y="4"/>
                </a:cxn>
                <a:cxn ang="0">
                  <a:pos x="54" y="0"/>
                </a:cxn>
                <a:cxn ang="0">
                  <a:pos x="0" y="28"/>
                </a:cxn>
                <a:cxn ang="0">
                  <a:pos x="28" y="40"/>
                </a:cxn>
                <a:cxn ang="0">
                  <a:pos x="42" y="60"/>
                </a:cxn>
                <a:cxn ang="0">
                  <a:pos x="66" y="68"/>
                </a:cxn>
                <a:cxn ang="0">
                  <a:pos x="78" y="72"/>
                </a:cxn>
                <a:cxn ang="0">
                  <a:pos x="130" y="60"/>
                </a:cxn>
                <a:cxn ang="0">
                  <a:pos x="172" y="44"/>
                </a:cxn>
                <a:cxn ang="0">
                  <a:pos x="148" y="18"/>
                </a:cxn>
                <a:cxn ang="0">
                  <a:pos x="136" y="4"/>
                </a:cxn>
                <a:cxn ang="0">
                  <a:pos x="102" y="8"/>
                </a:cxn>
              </a:cxnLst>
              <a:pathLst>
                <a:path w="172" h="72">
                  <a:moveTo>
                    <a:pt x="102" y="8"/>
                  </a:moveTo>
                  <a:cubicBezTo>
                    <a:pt x="89" y="12"/>
                    <a:pt x="78" y="8"/>
                    <a:pt x="66" y="4"/>
                  </a:cubicBezTo>
                  <a:cubicBezTo>
                    <a:pt x="62" y="3"/>
                    <a:pt x="54" y="0"/>
                    <a:pt x="54" y="0"/>
                  </a:cubicBezTo>
                  <a:cubicBezTo>
                    <a:pt x="38" y="5"/>
                    <a:pt x="12" y="16"/>
                    <a:pt x="0" y="28"/>
                  </a:cubicBezTo>
                  <a:cubicBezTo>
                    <a:pt x="4" y="39"/>
                    <a:pt x="18" y="39"/>
                    <a:pt x="28" y="40"/>
                  </a:cubicBezTo>
                  <a:cubicBezTo>
                    <a:pt x="39" y="44"/>
                    <a:pt x="41" y="60"/>
                    <a:pt x="42" y="60"/>
                  </a:cubicBezTo>
                  <a:cubicBezTo>
                    <a:pt x="50" y="63"/>
                    <a:pt x="58" y="65"/>
                    <a:pt x="66" y="68"/>
                  </a:cubicBezTo>
                  <a:cubicBezTo>
                    <a:pt x="70" y="69"/>
                    <a:pt x="78" y="72"/>
                    <a:pt x="78" y="72"/>
                  </a:cubicBezTo>
                  <a:cubicBezTo>
                    <a:pt x="92" y="71"/>
                    <a:pt x="117" y="69"/>
                    <a:pt x="130" y="60"/>
                  </a:cubicBezTo>
                  <a:cubicBezTo>
                    <a:pt x="148" y="48"/>
                    <a:pt x="150" y="46"/>
                    <a:pt x="172" y="44"/>
                  </a:cubicBezTo>
                  <a:cubicBezTo>
                    <a:pt x="169" y="29"/>
                    <a:pt x="162" y="23"/>
                    <a:pt x="148" y="18"/>
                  </a:cubicBezTo>
                  <a:cubicBezTo>
                    <a:pt x="145" y="10"/>
                    <a:pt x="144" y="7"/>
                    <a:pt x="136" y="4"/>
                  </a:cubicBezTo>
                  <a:cubicBezTo>
                    <a:pt x="134" y="4"/>
                    <a:pt x="105" y="11"/>
                    <a:pt x="102" y="8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 w="12700">
              <a:noFill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2094" name="Freeform 44"/>
            <p:cNvSpPr/>
            <p:nvPr/>
          </p:nvSpPr>
          <p:spPr>
            <a:xfrm>
              <a:off x="2393" y="2038"/>
              <a:ext cx="39" cy="24"/>
            </a:xfrm>
            <a:custGeom>
              <a:avLst/>
              <a:gdLst/>
              <a:ahLst/>
              <a:cxnLst>
                <a:cxn ang="0">
                  <a:pos x="34" y="0"/>
                </a:cxn>
                <a:cxn ang="0">
                  <a:pos x="8" y="20"/>
                </a:cxn>
                <a:cxn ang="0">
                  <a:pos x="24" y="32"/>
                </a:cxn>
                <a:cxn ang="0">
                  <a:pos x="42" y="30"/>
                </a:cxn>
                <a:cxn ang="0">
                  <a:pos x="34" y="0"/>
                </a:cxn>
              </a:cxnLst>
              <a:pathLst>
                <a:path w="52" h="32">
                  <a:moveTo>
                    <a:pt x="34" y="0"/>
                  </a:moveTo>
                  <a:cubicBezTo>
                    <a:pt x="30" y="12"/>
                    <a:pt x="19" y="16"/>
                    <a:pt x="8" y="20"/>
                  </a:cubicBezTo>
                  <a:cubicBezTo>
                    <a:pt x="0" y="32"/>
                    <a:pt x="14" y="31"/>
                    <a:pt x="24" y="32"/>
                  </a:cubicBezTo>
                  <a:cubicBezTo>
                    <a:pt x="30" y="31"/>
                    <a:pt x="36" y="32"/>
                    <a:pt x="42" y="30"/>
                  </a:cubicBezTo>
                  <a:cubicBezTo>
                    <a:pt x="52" y="26"/>
                    <a:pt x="34" y="3"/>
                    <a:pt x="34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 w="12700">
              <a:noFill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2095" name="Freeform 45"/>
            <p:cNvSpPr/>
            <p:nvPr/>
          </p:nvSpPr>
          <p:spPr>
            <a:xfrm>
              <a:off x="2662" y="2006"/>
              <a:ext cx="155" cy="63"/>
            </a:xfrm>
            <a:custGeom>
              <a:avLst/>
              <a:gdLst/>
              <a:ahLst/>
              <a:cxnLst>
                <a:cxn ang="0">
                  <a:pos x="191" y="7"/>
                </a:cxn>
                <a:cxn ang="0">
                  <a:pos x="103" y="9"/>
                </a:cxn>
                <a:cxn ang="0">
                  <a:pos x="109" y="25"/>
                </a:cxn>
                <a:cxn ang="0">
                  <a:pos x="107" y="33"/>
                </a:cxn>
                <a:cxn ang="0">
                  <a:pos x="89" y="27"/>
                </a:cxn>
                <a:cxn ang="0">
                  <a:pos x="77" y="19"/>
                </a:cxn>
                <a:cxn ang="0">
                  <a:pos x="23" y="27"/>
                </a:cxn>
                <a:cxn ang="0">
                  <a:pos x="31" y="49"/>
                </a:cxn>
                <a:cxn ang="0">
                  <a:pos x="55" y="53"/>
                </a:cxn>
                <a:cxn ang="0">
                  <a:pos x="75" y="73"/>
                </a:cxn>
                <a:cxn ang="0">
                  <a:pos x="89" y="85"/>
                </a:cxn>
                <a:cxn ang="0">
                  <a:pos x="109" y="67"/>
                </a:cxn>
                <a:cxn ang="0">
                  <a:pos x="121" y="59"/>
                </a:cxn>
                <a:cxn ang="0">
                  <a:pos x="127" y="47"/>
                </a:cxn>
                <a:cxn ang="0">
                  <a:pos x="167" y="35"/>
                </a:cxn>
                <a:cxn ang="0">
                  <a:pos x="187" y="31"/>
                </a:cxn>
                <a:cxn ang="0">
                  <a:pos x="199" y="27"/>
                </a:cxn>
                <a:cxn ang="0">
                  <a:pos x="191" y="7"/>
                </a:cxn>
              </a:cxnLst>
              <a:pathLst>
                <a:path w="206" h="85">
                  <a:moveTo>
                    <a:pt x="191" y="7"/>
                  </a:moveTo>
                  <a:cubicBezTo>
                    <a:pt x="165" y="6"/>
                    <a:pt x="130" y="0"/>
                    <a:pt x="103" y="9"/>
                  </a:cubicBezTo>
                  <a:cubicBezTo>
                    <a:pt x="100" y="18"/>
                    <a:pt x="101" y="20"/>
                    <a:pt x="109" y="25"/>
                  </a:cubicBezTo>
                  <a:cubicBezTo>
                    <a:pt x="111" y="28"/>
                    <a:pt x="118" y="34"/>
                    <a:pt x="107" y="33"/>
                  </a:cubicBezTo>
                  <a:cubicBezTo>
                    <a:pt x="101" y="32"/>
                    <a:pt x="89" y="27"/>
                    <a:pt x="89" y="27"/>
                  </a:cubicBezTo>
                  <a:cubicBezTo>
                    <a:pt x="86" y="24"/>
                    <a:pt x="82" y="18"/>
                    <a:pt x="77" y="19"/>
                  </a:cubicBezTo>
                  <a:cubicBezTo>
                    <a:pt x="52" y="22"/>
                    <a:pt x="57" y="25"/>
                    <a:pt x="23" y="27"/>
                  </a:cubicBezTo>
                  <a:cubicBezTo>
                    <a:pt x="0" y="31"/>
                    <a:pt x="18" y="45"/>
                    <a:pt x="31" y="49"/>
                  </a:cubicBezTo>
                  <a:cubicBezTo>
                    <a:pt x="43" y="53"/>
                    <a:pt x="35" y="51"/>
                    <a:pt x="55" y="53"/>
                  </a:cubicBezTo>
                  <a:cubicBezTo>
                    <a:pt x="63" y="59"/>
                    <a:pt x="66" y="67"/>
                    <a:pt x="75" y="73"/>
                  </a:cubicBezTo>
                  <a:cubicBezTo>
                    <a:pt x="78" y="81"/>
                    <a:pt x="81" y="82"/>
                    <a:pt x="89" y="85"/>
                  </a:cubicBezTo>
                  <a:cubicBezTo>
                    <a:pt x="104" y="81"/>
                    <a:pt x="99" y="75"/>
                    <a:pt x="109" y="67"/>
                  </a:cubicBezTo>
                  <a:cubicBezTo>
                    <a:pt x="113" y="64"/>
                    <a:pt x="121" y="59"/>
                    <a:pt x="121" y="59"/>
                  </a:cubicBezTo>
                  <a:cubicBezTo>
                    <a:pt x="123" y="55"/>
                    <a:pt x="124" y="50"/>
                    <a:pt x="127" y="47"/>
                  </a:cubicBezTo>
                  <a:cubicBezTo>
                    <a:pt x="132" y="41"/>
                    <a:pt x="158" y="37"/>
                    <a:pt x="167" y="35"/>
                  </a:cubicBezTo>
                  <a:cubicBezTo>
                    <a:pt x="174" y="34"/>
                    <a:pt x="181" y="33"/>
                    <a:pt x="187" y="31"/>
                  </a:cubicBezTo>
                  <a:cubicBezTo>
                    <a:pt x="191" y="30"/>
                    <a:pt x="199" y="27"/>
                    <a:pt x="199" y="27"/>
                  </a:cubicBezTo>
                  <a:cubicBezTo>
                    <a:pt x="206" y="16"/>
                    <a:pt x="199" y="15"/>
                    <a:pt x="191" y="7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 w="12700">
              <a:noFill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2096" name="Freeform 46"/>
            <p:cNvSpPr/>
            <p:nvPr/>
          </p:nvSpPr>
          <p:spPr>
            <a:xfrm>
              <a:off x="2759" y="2039"/>
              <a:ext cx="48" cy="21"/>
            </a:xfrm>
            <a:custGeom>
              <a:avLst/>
              <a:gdLst/>
              <a:ahLst/>
              <a:cxnLst>
                <a:cxn ang="0">
                  <a:pos x="36" y="6"/>
                </a:cxn>
                <a:cxn ang="0">
                  <a:pos x="8" y="4"/>
                </a:cxn>
                <a:cxn ang="0">
                  <a:pos x="24" y="28"/>
                </a:cxn>
                <a:cxn ang="0">
                  <a:pos x="54" y="14"/>
                </a:cxn>
                <a:cxn ang="0">
                  <a:pos x="36" y="6"/>
                </a:cxn>
              </a:cxnLst>
              <a:pathLst>
                <a:path w="64" h="28">
                  <a:moveTo>
                    <a:pt x="36" y="6"/>
                  </a:moveTo>
                  <a:cubicBezTo>
                    <a:pt x="32" y="18"/>
                    <a:pt x="19" y="0"/>
                    <a:pt x="8" y="4"/>
                  </a:cubicBezTo>
                  <a:cubicBezTo>
                    <a:pt x="0" y="16"/>
                    <a:pt x="14" y="27"/>
                    <a:pt x="24" y="28"/>
                  </a:cubicBezTo>
                  <a:cubicBezTo>
                    <a:pt x="30" y="27"/>
                    <a:pt x="48" y="16"/>
                    <a:pt x="54" y="14"/>
                  </a:cubicBezTo>
                  <a:cubicBezTo>
                    <a:pt x="64" y="10"/>
                    <a:pt x="36" y="9"/>
                    <a:pt x="36" y="6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 w="12700">
              <a:noFill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2097" name="Freeform 47"/>
            <p:cNvSpPr/>
            <p:nvPr/>
          </p:nvSpPr>
          <p:spPr>
            <a:xfrm>
              <a:off x="2467" y="2311"/>
              <a:ext cx="109" cy="132"/>
            </a:xfrm>
            <a:custGeom>
              <a:avLst/>
              <a:gdLst/>
              <a:ahLst/>
              <a:cxnLst>
                <a:cxn ang="0">
                  <a:pos x="24" y="19"/>
                </a:cxn>
                <a:cxn ang="0">
                  <a:pos x="0" y="25"/>
                </a:cxn>
                <a:cxn ang="0">
                  <a:pos x="14" y="43"/>
                </a:cxn>
                <a:cxn ang="0">
                  <a:pos x="34" y="87"/>
                </a:cxn>
                <a:cxn ang="0">
                  <a:pos x="52" y="91"/>
                </a:cxn>
                <a:cxn ang="0">
                  <a:pos x="50" y="107"/>
                </a:cxn>
                <a:cxn ang="0">
                  <a:pos x="28" y="113"/>
                </a:cxn>
                <a:cxn ang="0">
                  <a:pos x="16" y="131"/>
                </a:cxn>
                <a:cxn ang="0">
                  <a:pos x="18" y="137"/>
                </a:cxn>
                <a:cxn ang="0">
                  <a:pos x="30" y="141"/>
                </a:cxn>
                <a:cxn ang="0">
                  <a:pos x="18" y="169"/>
                </a:cxn>
                <a:cxn ang="0">
                  <a:pos x="20" y="175"/>
                </a:cxn>
                <a:cxn ang="0">
                  <a:pos x="34" y="171"/>
                </a:cxn>
                <a:cxn ang="0">
                  <a:pos x="58" y="169"/>
                </a:cxn>
                <a:cxn ang="0">
                  <a:pos x="92" y="171"/>
                </a:cxn>
                <a:cxn ang="0">
                  <a:pos x="110" y="169"/>
                </a:cxn>
                <a:cxn ang="0">
                  <a:pos x="122" y="165"/>
                </a:cxn>
                <a:cxn ang="0">
                  <a:pos x="128" y="141"/>
                </a:cxn>
                <a:cxn ang="0">
                  <a:pos x="146" y="133"/>
                </a:cxn>
                <a:cxn ang="0">
                  <a:pos x="110" y="109"/>
                </a:cxn>
                <a:cxn ang="0">
                  <a:pos x="88" y="83"/>
                </a:cxn>
                <a:cxn ang="0">
                  <a:pos x="82" y="69"/>
                </a:cxn>
                <a:cxn ang="0">
                  <a:pos x="64" y="61"/>
                </a:cxn>
                <a:cxn ang="0">
                  <a:pos x="86" y="45"/>
                </a:cxn>
                <a:cxn ang="0">
                  <a:pos x="64" y="31"/>
                </a:cxn>
                <a:cxn ang="0">
                  <a:pos x="70" y="13"/>
                </a:cxn>
                <a:cxn ang="0">
                  <a:pos x="46" y="1"/>
                </a:cxn>
                <a:cxn ang="0">
                  <a:pos x="30" y="9"/>
                </a:cxn>
                <a:cxn ang="0">
                  <a:pos x="24" y="19"/>
                </a:cxn>
              </a:cxnLst>
              <a:pathLst>
                <a:path w="146" h="176">
                  <a:moveTo>
                    <a:pt x="24" y="19"/>
                  </a:moveTo>
                  <a:cubicBezTo>
                    <a:pt x="13" y="23"/>
                    <a:pt x="7" y="15"/>
                    <a:pt x="0" y="25"/>
                  </a:cubicBezTo>
                  <a:cubicBezTo>
                    <a:pt x="2" y="32"/>
                    <a:pt x="14" y="43"/>
                    <a:pt x="14" y="43"/>
                  </a:cubicBezTo>
                  <a:cubicBezTo>
                    <a:pt x="19" y="58"/>
                    <a:pt x="20" y="78"/>
                    <a:pt x="34" y="87"/>
                  </a:cubicBezTo>
                  <a:cubicBezTo>
                    <a:pt x="42" y="84"/>
                    <a:pt x="45" y="86"/>
                    <a:pt x="52" y="91"/>
                  </a:cubicBezTo>
                  <a:cubicBezTo>
                    <a:pt x="57" y="105"/>
                    <a:pt x="60" y="101"/>
                    <a:pt x="50" y="107"/>
                  </a:cubicBezTo>
                  <a:cubicBezTo>
                    <a:pt x="38" y="105"/>
                    <a:pt x="32" y="101"/>
                    <a:pt x="28" y="113"/>
                  </a:cubicBezTo>
                  <a:cubicBezTo>
                    <a:pt x="32" y="129"/>
                    <a:pt x="33" y="128"/>
                    <a:pt x="16" y="131"/>
                  </a:cubicBezTo>
                  <a:cubicBezTo>
                    <a:pt x="17" y="133"/>
                    <a:pt x="16" y="136"/>
                    <a:pt x="18" y="137"/>
                  </a:cubicBezTo>
                  <a:cubicBezTo>
                    <a:pt x="21" y="139"/>
                    <a:pt x="30" y="141"/>
                    <a:pt x="30" y="141"/>
                  </a:cubicBezTo>
                  <a:cubicBezTo>
                    <a:pt x="28" y="152"/>
                    <a:pt x="21" y="159"/>
                    <a:pt x="18" y="169"/>
                  </a:cubicBezTo>
                  <a:cubicBezTo>
                    <a:pt x="19" y="171"/>
                    <a:pt x="18" y="174"/>
                    <a:pt x="20" y="175"/>
                  </a:cubicBezTo>
                  <a:cubicBezTo>
                    <a:pt x="22" y="176"/>
                    <a:pt x="32" y="171"/>
                    <a:pt x="34" y="171"/>
                  </a:cubicBezTo>
                  <a:cubicBezTo>
                    <a:pt x="42" y="170"/>
                    <a:pt x="50" y="170"/>
                    <a:pt x="58" y="169"/>
                  </a:cubicBezTo>
                  <a:cubicBezTo>
                    <a:pt x="70" y="167"/>
                    <a:pt x="80" y="167"/>
                    <a:pt x="92" y="171"/>
                  </a:cubicBezTo>
                  <a:cubicBezTo>
                    <a:pt x="98" y="170"/>
                    <a:pt x="104" y="170"/>
                    <a:pt x="110" y="169"/>
                  </a:cubicBezTo>
                  <a:cubicBezTo>
                    <a:pt x="114" y="168"/>
                    <a:pt x="122" y="165"/>
                    <a:pt x="122" y="165"/>
                  </a:cubicBezTo>
                  <a:cubicBezTo>
                    <a:pt x="124" y="158"/>
                    <a:pt x="123" y="147"/>
                    <a:pt x="128" y="141"/>
                  </a:cubicBezTo>
                  <a:cubicBezTo>
                    <a:pt x="132" y="136"/>
                    <a:pt x="146" y="133"/>
                    <a:pt x="146" y="133"/>
                  </a:cubicBezTo>
                  <a:cubicBezTo>
                    <a:pt x="142" y="105"/>
                    <a:pt x="143" y="111"/>
                    <a:pt x="110" y="109"/>
                  </a:cubicBezTo>
                  <a:cubicBezTo>
                    <a:pt x="102" y="97"/>
                    <a:pt x="103" y="88"/>
                    <a:pt x="88" y="83"/>
                  </a:cubicBezTo>
                  <a:cubicBezTo>
                    <a:pt x="85" y="79"/>
                    <a:pt x="86" y="72"/>
                    <a:pt x="82" y="69"/>
                  </a:cubicBezTo>
                  <a:cubicBezTo>
                    <a:pt x="77" y="65"/>
                    <a:pt x="69" y="65"/>
                    <a:pt x="64" y="61"/>
                  </a:cubicBezTo>
                  <a:cubicBezTo>
                    <a:pt x="52" y="43"/>
                    <a:pt x="67" y="47"/>
                    <a:pt x="86" y="45"/>
                  </a:cubicBezTo>
                  <a:cubicBezTo>
                    <a:pt x="93" y="25"/>
                    <a:pt x="83" y="29"/>
                    <a:pt x="64" y="31"/>
                  </a:cubicBezTo>
                  <a:cubicBezTo>
                    <a:pt x="62" y="25"/>
                    <a:pt x="70" y="13"/>
                    <a:pt x="70" y="13"/>
                  </a:cubicBezTo>
                  <a:cubicBezTo>
                    <a:pt x="64" y="4"/>
                    <a:pt x="56" y="3"/>
                    <a:pt x="46" y="1"/>
                  </a:cubicBezTo>
                  <a:cubicBezTo>
                    <a:pt x="35" y="3"/>
                    <a:pt x="34" y="0"/>
                    <a:pt x="30" y="9"/>
                  </a:cubicBezTo>
                  <a:cubicBezTo>
                    <a:pt x="25" y="21"/>
                    <a:pt x="29" y="24"/>
                    <a:pt x="24" y="19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 w="12700">
              <a:noFill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2098" name="Freeform 48"/>
            <p:cNvSpPr/>
            <p:nvPr/>
          </p:nvSpPr>
          <p:spPr>
            <a:xfrm>
              <a:off x="2413" y="2359"/>
              <a:ext cx="69" cy="68"/>
            </a:xfrm>
            <a:custGeom>
              <a:avLst/>
              <a:gdLst/>
              <a:ahLst/>
              <a:cxnLst>
                <a:cxn ang="0">
                  <a:pos x="58" y="6"/>
                </a:cxn>
                <a:cxn ang="0">
                  <a:pos x="82" y="8"/>
                </a:cxn>
                <a:cxn ang="0">
                  <a:pos x="92" y="26"/>
                </a:cxn>
                <a:cxn ang="0">
                  <a:pos x="78" y="48"/>
                </a:cxn>
                <a:cxn ang="0">
                  <a:pos x="46" y="76"/>
                </a:cxn>
                <a:cxn ang="0">
                  <a:pos x="18" y="92"/>
                </a:cxn>
                <a:cxn ang="0">
                  <a:pos x="8" y="72"/>
                </a:cxn>
                <a:cxn ang="0">
                  <a:pos x="20" y="64"/>
                </a:cxn>
                <a:cxn ang="0">
                  <a:pos x="14" y="46"/>
                </a:cxn>
                <a:cxn ang="0">
                  <a:pos x="40" y="28"/>
                </a:cxn>
                <a:cxn ang="0">
                  <a:pos x="58" y="6"/>
                </a:cxn>
              </a:cxnLst>
              <a:pathLst>
                <a:path w="92" h="92">
                  <a:moveTo>
                    <a:pt x="58" y="6"/>
                  </a:moveTo>
                  <a:cubicBezTo>
                    <a:pt x="67" y="0"/>
                    <a:pt x="73" y="2"/>
                    <a:pt x="82" y="8"/>
                  </a:cubicBezTo>
                  <a:cubicBezTo>
                    <a:pt x="91" y="22"/>
                    <a:pt x="88" y="15"/>
                    <a:pt x="92" y="26"/>
                  </a:cubicBezTo>
                  <a:cubicBezTo>
                    <a:pt x="89" y="36"/>
                    <a:pt x="82" y="37"/>
                    <a:pt x="78" y="48"/>
                  </a:cubicBezTo>
                  <a:cubicBezTo>
                    <a:pt x="85" y="69"/>
                    <a:pt x="60" y="71"/>
                    <a:pt x="46" y="76"/>
                  </a:cubicBezTo>
                  <a:cubicBezTo>
                    <a:pt x="40" y="86"/>
                    <a:pt x="28" y="86"/>
                    <a:pt x="18" y="92"/>
                  </a:cubicBezTo>
                  <a:cubicBezTo>
                    <a:pt x="9" y="90"/>
                    <a:pt x="0" y="84"/>
                    <a:pt x="8" y="72"/>
                  </a:cubicBezTo>
                  <a:cubicBezTo>
                    <a:pt x="11" y="68"/>
                    <a:pt x="20" y="64"/>
                    <a:pt x="20" y="64"/>
                  </a:cubicBezTo>
                  <a:cubicBezTo>
                    <a:pt x="23" y="55"/>
                    <a:pt x="21" y="53"/>
                    <a:pt x="14" y="46"/>
                  </a:cubicBezTo>
                  <a:cubicBezTo>
                    <a:pt x="18" y="30"/>
                    <a:pt x="28" y="36"/>
                    <a:pt x="40" y="28"/>
                  </a:cubicBezTo>
                  <a:cubicBezTo>
                    <a:pt x="56" y="17"/>
                    <a:pt x="50" y="24"/>
                    <a:pt x="58" y="6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 w="12700">
              <a:noFill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2099" name="Freeform 49"/>
            <p:cNvSpPr/>
            <p:nvPr/>
          </p:nvSpPr>
          <p:spPr>
            <a:xfrm>
              <a:off x="4099" y="3502"/>
              <a:ext cx="474" cy="495"/>
            </a:xfrm>
            <a:custGeom>
              <a:avLst/>
              <a:gdLst/>
              <a:ahLst/>
              <a:cxnLst>
                <a:cxn ang="0">
                  <a:pos x="212" y="11"/>
                </a:cxn>
                <a:cxn ang="0">
                  <a:pos x="176" y="19"/>
                </a:cxn>
                <a:cxn ang="0">
                  <a:pos x="144" y="51"/>
                </a:cxn>
                <a:cxn ang="0">
                  <a:pos x="104" y="59"/>
                </a:cxn>
                <a:cxn ang="0">
                  <a:pos x="84" y="75"/>
                </a:cxn>
                <a:cxn ang="0">
                  <a:pos x="68" y="115"/>
                </a:cxn>
                <a:cxn ang="0">
                  <a:pos x="36" y="167"/>
                </a:cxn>
                <a:cxn ang="0">
                  <a:pos x="0" y="179"/>
                </a:cxn>
                <a:cxn ang="0">
                  <a:pos x="72" y="323"/>
                </a:cxn>
                <a:cxn ang="0">
                  <a:pos x="120" y="427"/>
                </a:cxn>
                <a:cxn ang="0">
                  <a:pos x="144" y="443"/>
                </a:cxn>
                <a:cxn ang="0">
                  <a:pos x="168" y="451"/>
                </a:cxn>
                <a:cxn ang="0">
                  <a:pos x="228" y="431"/>
                </a:cxn>
                <a:cxn ang="0">
                  <a:pos x="252" y="423"/>
                </a:cxn>
                <a:cxn ang="0">
                  <a:pos x="300" y="451"/>
                </a:cxn>
                <a:cxn ang="0">
                  <a:pos x="324" y="527"/>
                </a:cxn>
                <a:cxn ang="0">
                  <a:pos x="336" y="523"/>
                </a:cxn>
                <a:cxn ang="0">
                  <a:pos x="344" y="511"/>
                </a:cxn>
                <a:cxn ang="0">
                  <a:pos x="368" y="547"/>
                </a:cxn>
                <a:cxn ang="0">
                  <a:pos x="404" y="571"/>
                </a:cxn>
                <a:cxn ang="0">
                  <a:pos x="436" y="603"/>
                </a:cxn>
                <a:cxn ang="0">
                  <a:pos x="444" y="615"/>
                </a:cxn>
                <a:cxn ang="0">
                  <a:pos x="456" y="623"/>
                </a:cxn>
                <a:cxn ang="0">
                  <a:pos x="484" y="655"/>
                </a:cxn>
                <a:cxn ang="0">
                  <a:pos x="492" y="631"/>
                </a:cxn>
                <a:cxn ang="0">
                  <a:pos x="540" y="659"/>
                </a:cxn>
                <a:cxn ang="0">
                  <a:pos x="588" y="655"/>
                </a:cxn>
                <a:cxn ang="0">
                  <a:pos x="616" y="531"/>
                </a:cxn>
                <a:cxn ang="0">
                  <a:pos x="632" y="463"/>
                </a:cxn>
                <a:cxn ang="0">
                  <a:pos x="620" y="367"/>
                </a:cxn>
                <a:cxn ang="0">
                  <a:pos x="536" y="271"/>
                </a:cxn>
                <a:cxn ang="0">
                  <a:pos x="528" y="235"/>
                </a:cxn>
                <a:cxn ang="0">
                  <a:pos x="460" y="179"/>
                </a:cxn>
                <a:cxn ang="0">
                  <a:pos x="472" y="155"/>
                </a:cxn>
                <a:cxn ang="0">
                  <a:pos x="456" y="131"/>
                </a:cxn>
                <a:cxn ang="0">
                  <a:pos x="416" y="79"/>
                </a:cxn>
                <a:cxn ang="0">
                  <a:pos x="392" y="31"/>
                </a:cxn>
                <a:cxn ang="0">
                  <a:pos x="388" y="19"/>
                </a:cxn>
                <a:cxn ang="0">
                  <a:pos x="364" y="151"/>
                </a:cxn>
                <a:cxn ang="0">
                  <a:pos x="324" y="115"/>
                </a:cxn>
                <a:cxn ang="0">
                  <a:pos x="292" y="111"/>
                </a:cxn>
                <a:cxn ang="0">
                  <a:pos x="272" y="87"/>
                </a:cxn>
                <a:cxn ang="0">
                  <a:pos x="264" y="63"/>
                </a:cxn>
                <a:cxn ang="0">
                  <a:pos x="276" y="55"/>
                </a:cxn>
                <a:cxn ang="0">
                  <a:pos x="240" y="19"/>
                </a:cxn>
                <a:cxn ang="0">
                  <a:pos x="216" y="11"/>
                </a:cxn>
                <a:cxn ang="0">
                  <a:pos x="204" y="7"/>
                </a:cxn>
                <a:cxn ang="0">
                  <a:pos x="212" y="11"/>
                </a:cxn>
              </a:cxnLst>
              <a:pathLst>
                <a:path w="633" h="660">
                  <a:moveTo>
                    <a:pt x="212" y="11"/>
                  </a:moveTo>
                  <a:cubicBezTo>
                    <a:pt x="195" y="0"/>
                    <a:pt x="187" y="2"/>
                    <a:pt x="176" y="19"/>
                  </a:cubicBezTo>
                  <a:cubicBezTo>
                    <a:pt x="171" y="61"/>
                    <a:pt x="181" y="88"/>
                    <a:pt x="144" y="51"/>
                  </a:cubicBezTo>
                  <a:cubicBezTo>
                    <a:pt x="131" y="53"/>
                    <a:pt x="115" y="51"/>
                    <a:pt x="104" y="59"/>
                  </a:cubicBezTo>
                  <a:cubicBezTo>
                    <a:pt x="78" y="80"/>
                    <a:pt x="114" y="65"/>
                    <a:pt x="84" y="75"/>
                  </a:cubicBezTo>
                  <a:cubicBezTo>
                    <a:pt x="78" y="94"/>
                    <a:pt x="92" y="107"/>
                    <a:pt x="68" y="115"/>
                  </a:cubicBezTo>
                  <a:cubicBezTo>
                    <a:pt x="55" y="135"/>
                    <a:pt x="59" y="159"/>
                    <a:pt x="36" y="167"/>
                  </a:cubicBezTo>
                  <a:cubicBezTo>
                    <a:pt x="16" y="163"/>
                    <a:pt x="7" y="158"/>
                    <a:pt x="0" y="179"/>
                  </a:cubicBezTo>
                  <a:cubicBezTo>
                    <a:pt x="9" y="232"/>
                    <a:pt x="43" y="279"/>
                    <a:pt x="72" y="323"/>
                  </a:cubicBezTo>
                  <a:cubicBezTo>
                    <a:pt x="82" y="371"/>
                    <a:pt x="85" y="392"/>
                    <a:pt x="120" y="427"/>
                  </a:cubicBezTo>
                  <a:cubicBezTo>
                    <a:pt x="127" y="434"/>
                    <a:pt x="136" y="438"/>
                    <a:pt x="144" y="443"/>
                  </a:cubicBezTo>
                  <a:cubicBezTo>
                    <a:pt x="151" y="448"/>
                    <a:pt x="168" y="451"/>
                    <a:pt x="168" y="451"/>
                  </a:cubicBezTo>
                  <a:cubicBezTo>
                    <a:pt x="188" y="444"/>
                    <a:pt x="208" y="438"/>
                    <a:pt x="228" y="431"/>
                  </a:cubicBezTo>
                  <a:cubicBezTo>
                    <a:pt x="236" y="428"/>
                    <a:pt x="252" y="423"/>
                    <a:pt x="252" y="423"/>
                  </a:cubicBezTo>
                  <a:cubicBezTo>
                    <a:pt x="271" y="429"/>
                    <a:pt x="281" y="445"/>
                    <a:pt x="300" y="451"/>
                  </a:cubicBezTo>
                  <a:cubicBezTo>
                    <a:pt x="320" y="471"/>
                    <a:pt x="315" y="500"/>
                    <a:pt x="324" y="527"/>
                  </a:cubicBezTo>
                  <a:cubicBezTo>
                    <a:pt x="328" y="526"/>
                    <a:pt x="333" y="526"/>
                    <a:pt x="336" y="523"/>
                  </a:cubicBezTo>
                  <a:cubicBezTo>
                    <a:pt x="340" y="520"/>
                    <a:pt x="339" y="511"/>
                    <a:pt x="344" y="511"/>
                  </a:cubicBezTo>
                  <a:cubicBezTo>
                    <a:pt x="358" y="511"/>
                    <a:pt x="362" y="541"/>
                    <a:pt x="368" y="547"/>
                  </a:cubicBezTo>
                  <a:cubicBezTo>
                    <a:pt x="378" y="557"/>
                    <a:pt x="392" y="563"/>
                    <a:pt x="404" y="571"/>
                  </a:cubicBezTo>
                  <a:cubicBezTo>
                    <a:pt x="418" y="580"/>
                    <a:pt x="422" y="594"/>
                    <a:pt x="436" y="603"/>
                  </a:cubicBezTo>
                  <a:cubicBezTo>
                    <a:pt x="439" y="607"/>
                    <a:pt x="441" y="612"/>
                    <a:pt x="444" y="615"/>
                  </a:cubicBezTo>
                  <a:cubicBezTo>
                    <a:pt x="447" y="618"/>
                    <a:pt x="453" y="619"/>
                    <a:pt x="456" y="623"/>
                  </a:cubicBezTo>
                  <a:cubicBezTo>
                    <a:pt x="489" y="660"/>
                    <a:pt x="457" y="637"/>
                    <a:pt x="484" y="655"/>
                  </a:cubicBezTo>
                  <a:cubicBezTo>
                    <a:pt x="487" y="647"/>
                    <a:pt x="485" y="626"/>
                    <a:pt x="492" y="631"/>
                  </a:cubicBezTo>
                  <a:cubicBezTo>
                    <a:pt x="509" y="642"/>
                    <a:pt x="522" y="653"/>
                    <a:pt x="540" y="659"/>
                  </a:cubicBezTo>
                  <a:cubicBezTo>
                    <a:pt x="557" y="642"/>
                    <a:pt x="567" y="648"/>
                    <a:pt x="588" y="655"/>
                  </a:cubicBezTo>
                  <a:cubicBezTo>
                    <a:pt x="611" y="621"/>
                    <a:pt x="573" y="560"/>
                    <a:pt x="616" y="531"/>
                  </a:cubicBezTo>
                  <a:cubicBezTo>
                    <a:pt x="632" y="507"/>
                    <a:pt x="629" y="496"/>
                    <a:pt x="632" y="463"/>
                  </a:cubicBezTo>
                  <a:cubicBezTo>
                    <a:pt x="630" y="440"/>
                    <a:pt x="633" y="390"/>
                    <a:pt x="620" y="367"/>
                  </a:cubicBezTo>
                  <a:cubicBezTo>
                    <a:pt x="600" y="332"/>
                    <a:pt x="565" y="300"/>
                    <a:pt x="536" y="271"/>
                  </a:cubicBezTo>
                  <a:cubicBezTo>
                    <a:pt x="532" y="259"/>
                    <a:pt x="532" y="247"/>
                    <a:pt x="528" y="235"/>
                  </a:cubicBezTo>
                  <a:cubicBezTo>
                    <a:pt x="525" y="225"/>
                    <a:pt x="474" y="188"/>
                    <a:pt x="460" y="179"/>
                  </a:cubicBezTo>
                  <a:cubicBezTo>
                    <a:pt x="463" y="171"/>
                    <a:pt x="471" y="164"/>
                    <a:pt x="472" y="155"/>
                  </a:cubicBezTo>
                  <a:cubicBezTo>
                    <a:pt x="474" y="144"/>
                    <a:pt x="461" y="137"/>
                    <a:pt x="456" y="131"/>
                  </a:cubicBezTo>
                  <a:cubicBezTo>
                    <a:pt x="435" y="106"/>
                    <a:pt x="451" y="88"/>
                    <a:pt x="416" y="79"/>
                  </a:cubicBezTo>
                  <a:cubicBezTo>
                    <a:pt x="395" y="48"/>
                    <a:pt x="403" y="64"/>
                    <a:pt x="392" y="31"/>
                  </a:cubicBezTo>
                  <a:cubicBezTo>
                    <a:pt x="391" y="27"/>
                    <a:pt x="388" y="19"/>
                    <a:pt x="388" y="19"/>
                  </a:cubicBezTo>
                  <a:cubicBezTo>
                    <a:pt x="362" y="58"/>
                    <a:pt x="379" y="107"/>
                    <a:pt x="364" y="151"/>
                  </a:cubicBezTo>
                  <a:cubicBezTo>
                    <a:pt x="344" y="144"/>
                    <a:pt x="344" y="120"/>
                    <a:pt x="324" y="115"/>
                  </a:cubicBezTo>
                  <a:cubicBezTo>
                    <a:pt x="314" y="112"/>
                    <a:pt x="303" y="112"/>
                    <a:pt x="292" y="111"/>
                  </a:cubicBezTo>
                  <a:cubicBezTo>
                    <a:pt x="284" y="103"/>
                    <a:pt x="276" y="97"/>
                    <a:pt x="272" y="87"/>
                  </a:cubicBezTo>
                  <a:cubicBezTo>
                    <a:pt x="269" y="79"/>
                    <a:pt x="264" y="63"/>
                    <a:pt x="264" y="63"/>
                  </a:cubicBezTo>
                  <a:cubicBezTo>
                    <a:pt x="268" y="60"/>
                    <a:pt x="273" y="58"/>
                    <a:pt x="276" y="55"/>
                  </a:cubicBezTo>
                  <a:cubicBezTo>
                    <a:pt x="300" y="31"/>
                    <a:pt x="256" y="24"/>
                    <a:pt x="240" y="19"/>
                  </a:cubicBezTo>
                  <a:cubicBezTo>
                    <a:pt x="232" y="16"/>
                    <a:pt x="224" y="14"/>
                    <a:pt x="216" y="11"/>
                  </a:cubicBezTo>
                  <a:cubicBezTo>
                    <a:pt x="212" y="10"/>
                    <a:pt x="200" y="5"/>
                    <a:pt x="204" y="7"/>
                  </a:cubicBezTo>
                  <a:cubicBezTo>
                    <a:pt x="207" y="8"/>
                    <a:pt x="209" y="10"/>
                    <a:pt x="212" y="11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 w="12700">
              <a:noFill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2100" name="Freeform 50"/>
            <p:cNvSpPr/>
            <p:nvPr/>
          </p:nvSpPr>
          <p:spPr>
            <a:xfrm>
              <a:off x="4246" y="3241"/>
              <a:ext cx="319" cy="210"/>
            </a:xfrm>
            <a:custGeom>
              <a:avLst/>
              <a:gdLst/>
              <a:ahLst/>
              <a:cxnLst>
                <a:cxn ang="0">
                  <a:pos x="84" y="60"/>
                </a:cxn>
                <a:cxn ang="0">
                  <a:pos x="68" y="36"/>
                </a:cxn>
                <a:cxn ang="0">
                  <a:pos x="64" y="16"/>
                </a:cxn>
                <a:cxn ang="0">
                  <a:pos x="52" y="12"/>
                </a:cxn>
                <a:cxn ang="0">
                  <a:pos x="16" y="16"/>
                </a:cxn>
                <a:cxn ang="0">
                  <a:pos x="44" y="40"/>
                </a:cxn>
                <a:cxn ang="0">
                  <a:pos x="48" y="52"/>
                </a:cxn>
                <a:cxn ang="0">
                  <a:pos x="24" y="68"/>
                </a:cxn>
                <a:cxn ang="0">
                  <a:pos x="88" y="92"/>
                </a:cxn>
                <a:cxn ang="0">
                  <a:pos x="124" y="112"/>
                </a:cxn>
                <a:cxn ang="0">
                  <a:pos x="128" y="124"/>
                </a:cxn>
                <a:cxn ang="0">
                  <a:pos x="140" y="132"/>
                </a:cxn>
                <a:cxn ang="0">
                  <a:pos x="148" y="156"/>
                </a:cxn>
                <a:cxn ang="0">
                  <a:pos x="132" y="196"/>
                </a:cxn>
                <a:cxn ang="0">
                  <a:pos x="180" y="188"/>
                </a:cxn>
                <a:cxn ang="0">
                  <a:pos x="192" y="216"/>
                </a:cxn>
                <a:cxn ang="0">
                  <a:pos x="216" y="224"/>
                </a:cxn>
                <a:cxn ang="0">
                  <a:pos x="228" y="228"/>
                </a:cxn>
                <a:cxn ang="0">
                  <a:pos x="252" y="224"/>
                </a:cxn>
                <a:cxn ang="0">
                  <a:pos x="276" y="196"/>
                </a:cxn>
                <a:cxn ang="0">
                  <a:pos x="336" y="252"/>
                </a:cxn>
                <a:cxn ang="0">
                  <a:pos x="364" y="280"/>
                </a:cxn>
                <a:cxn ang="0">
                  <a:pos x="360" y="224"/>
                </a:cxn>
                <a:cxn ang="0">
                  <a:pos x="336" y="200"/>
                </a:cxn>
                <a:cxn ang="0">
                  <a:pos x="372" y="168"/>
                </a:cxn>
                <a:cxn ang="0">
                  <a:pos x="408" y="156"/>
                </a:cxn>
                <a:cxn ang="0">
                  <a:pos x="420" y="152"/>
                </a:cxn>
                <a:cxn ang="0">
                  <a:pos x="424" y="140"/>
                </a:cxn>
                <a:cxn ang="0">
                  <a:pos x="356" y="148"/>
                </a:cxn>
                <a:cxn ang="0">
                  <a:pos x="304" y="140"/>
                </a:cxn>
                <a:cxn ang="0">
                  <a:pos x="300" y="128"/>
                </a:cxn>
                <a:cxn ang="0">
                  <a:pos x="292" y="116"/>
                </a:cxn>
                <a:cxn ang="0">
                  <a:pos x="220" y="80"/>
                </a:cxn>
                <a:cxn ang="0">
                  <a:pos x="160" y="60"/>
                </a:cxn>
                <a:cxn ang="0">
                  <a:pos x="136" y="52"/>
                </a:cxn>
                <a:cxn ang="0">
                  <a:pos x="80" y="52"/>
                </a:cxn>
                <a:cxn ang="0">
                  <a:pos x="68" y="32"/>
                </a:cxn>
                <a:cxn ang="0">
                  <a:pos x="68" y="0"/>
                </a:cxn>
              </a:cxnLst>
              <a:pathLst>
                <a:path w="426" h="280">
                  <a:moveTo>
                    <a:pt x="84" y="60"/>
                  </a:moveTo>
                  <a:cubicBezTo>
                    <a:pt x="79" y="52"/>
                    <a:pt x="70" y="45"/>
                    <a:pt x="68" y="36"/>
                  </a:cubicBezTo>
                  <a:cubicBezTo>
                    <a:pt x="67" y="29"/>
                    <a:pt x="68" y="22"/>
                    <a:pt x="64" y="16"/>
                  </a:cubicBezTo>
                  <a:cubicBezTo>
                    <a:pt x="62" y="12"/>
                    <a:pt x="56" y="13"/>
                    <a:pt x="52" y="12"/>
                  </a:cubicBezTo>
                  <a:cubicBezTo>
                    <a:pt x="40" y="13"/>
                    <a:pt x="27" y="11"/>
                    <a:pt x="16" y="16"/>
                  </a:cubicBezTo>
                  <a:cubicBezTo>
                    <a:pt x="0" y="24"/>
                    <a:pt x="43" y="40"/>
                    <a:pt x="44" y="40"/>
                  </a:cubicBezTo>
                  <a:cubicBezTo>
                    <a:pt x="45" y="44"/>
                    <a:pt x="50" y="49"/>
                    <a:pt x="48" y="52"/>
                  </a:cubicBezTo>
                  <a:cubicBezTo>
                    <a:pt x="42" y="60"/>
                    <a:pt x="24" y="68"/>
                    <a:pt x="24" y="68"/>
                  </a:cubicBezTo>
                  <a:cubicBezTo>
                    <a:pt x="38" y="88"/>
                    <a:pt x="65" y="89"/>
                    <a:pt x="88" y="92"/>
                  </a:cubicBezTo>
                  <a:cubicBezTo>
                    <a:pt x="101" y="96"/>
                    <a:pt x="124" y="112"/>
                    <a:pt x="124" y="112"/>
                  </a:cubicBezTo>
                  <a:cubicBezTo>
                    <a:pt x="125" y="116"/>
                    <a:pt x="125" y="121"/>
                    <a:pt x="128" y="124"/>
                  </a:cubicBezTo>
                  <a:cubicBezTo>
                    <a:pt x="131" y="128"/>
                    <a:pt x="137" y="128"/>
                    <a:pt x="140" y="132"/>
                  </a:cubicBezTo>
                  <a:cubicBezTo>
                    <a:pt x="144" y="139"/>
                    <a:pt x="148" y="156"/>
                    <a:pt x="148" y="156"/>
                  </a:cubicBezTo>
                  <a:cubicBezTo>
                    <a:pt x="144" y="171"/>
                    <a:pt x="137" y="181"/>
                    <a:pt x="132" y="196"/>
                  </a:cubicBezTo>
                  <a:cubicBezTo>
                    <a:pt x="151" y="209"/>
                    <a:pt x="167" y="207"/>
                    <a:pt x="180" y="188"/>
                  </a:cubicBezTo>
                  <a:cubicBezTo>
                    <a:pt x="182" y="196"/>
                    <a:pt x="184" y="211"/>
                    <a:pt x="192" y="216"/>
                  </a:cubicBezTo>
                  <a:cubicBezTo>
                    <a:pt x="199" y="220"/>
                    <a:pt x="208" y="221"/>
                    <a:pt x="216" y="224"/>
                  </a:cubicBezTo>
                  <a:cubicBezTo>
                    <a:pt x="220" y="225"/>
                    <a:pt x="228" y="228"/>
                    <a:pt x="228" y="228"/>
                  </a:cubicBezTo>
                  <a:cubicBezTo>
                    <a:pt x="236" y="227"/>
                    <a:pt x="245" y="228"/>
                    <a:pt x="252" y="224"/>
                  </a:cubicBezTo>
                  <a:cubicBezTo>
                    <a:pt x="269" y="216"/>
                    <a:pt x="252" y="204"/>
                    <a:pt x="276" y="196"/>
                  </a:cubicBezTo>
                  <a:cubicBezTo>
                    <a:pt x="296" y="209"/>
                    <a:pt x="322" y="231"/>
                    <a:pt x="336" y="252"/>
                  </a:cubicBezTo>
                  <a:cubicBezTo>
                    <a:pt x="354" y="280"/>
                    <a:pt x="343" y="273"/>
                    <a:pt x="364" y="280"/>
                  </a:cubicBezTo>
                  <a:cubicBezTo>
                    <a:pt x="376" y="262"/>
                    <a:pt x="375" y="241"/>
                    <a:pt x="360" y="224"/>
                  </a:cubicBezTo>
                  <a:cubicBezTo>
                    <a:pt x="352" y="216"/>
                    <a:pt x="336" y="200"/>
                    <a:pt x="336" y="200"/>
                  </a:cubicBezTo>
                  <a:cubicBezTo>
                    <a:pt x="323" y="162"/>
                    <a:pt x="322" y="174"/>
                    <a:pt x="372" y="168"/>
                  </a:cubicBezTo>
                  <a:cubicBezTo>
                    <a:pt x="384" y="164"/>
                    <a:pt x="396" y="160"/>
                    <a:pt x="408" y="156"/>
                  </a:cubicBezTo>
                  <a:cubicBezTo>
                    <a:pt x="412" y="155"/>
                    <a:pt x="420" y="152"/>
                    <a:pt x="420" y="152"/>
                  </a:cubicBezTo>
                  <a:cubicBezTo>
                    <a:pt x="421" y="148"/>
                    <a:pt x="426" y="144"/>
                    <a:pt x="424" y="140"/>
                  </a:cubicBezTo>
                  <a:cubicBezTo>
                    <a:pt x="420" y="131"/>
                    <a:pt x="365" y="146"/>
                    <a:pt x="356" y="148"/>
                  </a:cubicBezTo>
                  <a:cubicBezTo>
                    <a:pt x="339" y="146"/>
                    <a:pt x="316" y="152"/>
                    <a:pt x="304" y="140"/>
                  </a:cubicBezTo>
                  <a:cubicBezTo>
                    <a:pt x="301" y="137"/>
                    <a:pt x="302" y="132"/>
                    <a:pt x="300" y="128"/>
                  </a:cubicBezTo>
                  <a:cubicBezTo>
                    <a:pt x="298" y="124"/>
                    <a:pt x="296" y="119"/>
                    <a:pt x="292" y="116"/>
                  </a:cubicBezTo>
                  <a:cubicBezTo>
                    <a:pt x="272" y="98"/>
                    <a:pt x="244" y="91"/>
                    <a:pt x="220" y="80"/>
                  </a:cubicBezTo>
                  <a:cubicBezTo>
                    <a:pt x="201" y="72"/>
                    <a:pt x="180" y="67"/>
                    <a:pt x="160" y="60"/>
                  </a:cubicBezTo>
                  <a:cubicBezTo>
                    <a:pt x="152" y="57"/>
                    <a:pt x="136" y="52"/>
                    <a:pt x="136" y="52"/>
                  </a:cubicBezTo>
                  <a:cubicBezTo>
                    <a:pt x="113" y="55"/>
                    <a:pt x="98" y="64"/>
                    <a:pt x="80" y="52"/>
                  </a:cubicBezTo>
                  <a:cubicBezTo>
                    <a:pt x="70" y="38"/>
                    <a:pt x="74" y="44"/>
                    <a:pt x="68" y="32"/>
                  </a:cubicBezTo>
                  <a:lnTo>
                    <a:pt x="68" y="0"/>
                  </a:lnTo>
                </a:path>
              </a:pathLst>
            </a:custGeom>
            <a:solidFill>
              <a:srgbClr val="FEFEFE">
                <a:alpha val="30196"/>
              </a:srgbClr>
            </a:solidFill>
            <a:ln w="12700">
              <a:noFill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2101" name="Freeform 51"/>
            <p:cNvSpPr/>
            <p:nvPr/>
          </p:nvSpPr>
          <p:spPr>
            <a:xfrm>
              <a:off x="4255" y="3243"/>
              <a:ext cx="311" cy="211"/>
            </a:xfrm>
            <a:custGeom>
              <a:avLst/>
              <a:gdLst/>
              <a:ahLst/>
              <a:cxnLst>
                <a:cxn ang="0">
                  <a:pos x="0" y="1"/>
                </a:cxn>
                <a:cxn ang="0">
                  <a:pos x="20" y="37"/>
                </a:cxn>
                <a:cxn ang="0">
                  <a:pos x="28" y="49"/>
                </a:cxn>
                <a:cxn ang="0">
                  <a:pos x="84" y="89"/>
                </a:cxn>
                <a:cxn ang="0">
                  <a:pos x="120" y="113"/>
                </a:cxn>
                <a:cxn ang="0">
                  <a:pos x="132" y="121"/>
                </a:cxn>
                <a:cxn ang="0">
                  <a:pos x="136" y="169"/>
                </a:cxn>
                <a:cxn ang="0">
                  <a:pos x="116" y="201"/>
                </a:cxn>
                <a:cxn ang="0">
                  <a:pos x="136" y="197"/>
                </a:cxn>
                <a:cxn ang="0">
                  <a:pos x="148" y="189"/>
                </a:cxn>
                <a:cxn ang="0">
                  <a:pos x="160" y="201"/>
                </a:cxn>
                <a:cxn ang="0">
                  <a:pos x="184" y="217"/>
                </a:cxn>
                <a:cxn ang="0">
                  <a:pos x="208" y="233"/>
                </a:cxn>
                <a:cxn ang="0">
                  <a:pos x="240" y="221"/>
                </a:cxn>
                <a:cxn ang="0">
                  <a:pos x="248" y="197"/>
                </a:cxn>
                <a:cxn ang="0">
                  <a:pos x="268" y="201"/>
                </a:cxn>
                <a:cxn ang="0">
                  <a:pos x="292" y="209"/>
                </a:cxn>
                <a:cxn ang="0">
                  <a:pos x="340" y="281"/>
                </a:cxn>
                <a:cxn ang="0">
                  <a:pos x="356" y="277"/>
                </a:cxn>
                <a:cxn ang="0">
                  <a:pos x="352" y="253"/>
                </a:cxn>
                <a:cxn ang="0">
                  <a:pos x="316" y="197"/>
                </a:cxn>
                <a:cxn ang="0">
                  <a:pos x="360" y="173"/>
                </a:cxn>
                <a:cxn ang="0">
                  <a:pos x="408" y="145"/>
                </a:cxn>
                <a:cxn ang="0">
                  <a:pos x="409" y="120"/>
                </a:cxn>
                <a:cxn ang="0">
                  <a:pos x="367" y="138"/>
                </a:cxn>
                <a:cxn ang="0">
                  <a:pos x="308" y="137"/>
                </a:cxn>
                <a:cxn ang="0">
                  <a:pos x="264" y="97"/>
                </a:cxn>
                <a:cxn ang="0">
                  <a:pos x="180" y="61"/>
                </a:cxn>
                <a:cxn ang="0">
                  <a:pos x="132" y="33"/>
                </a:cxn>
                <a:cxn ang="0">
                  <a:pos x="92" y="41"/>
                </a:cxn>
                <a:cxn ang="0">
                  <a:pos x="76" y="57"/>
                </a:cxn>
                <a:cxn ang="0">
                  <a:pos x="56" y="17"/>
                </a:cxn>
                <a:cxn ang="0">
                  <a:pos x="0" y="1"/>
                </a:cxn>
              </a:cxnLst>
              <a:pathLst>
                <a:path w="416" h="282">
                  <a:moveTo>
                    <a:pt x="0" y="1"/>
                  </a:moveTo>
                  <a:cubicBezTo>
                    <a:pt x="7" y="22"/>
                    <a:pt x="2" y="9"/>
                    <a:pt x="20" y="37"/>
                  </a:cubicBezTo>
                  <a:cubicBezTo>
                    <a:pt x="23" y="41"/>
                    <a:pt x="28" y="49"/>
                    <a:pt x="28" y="49"/>
                  </a:cubicBezTo>
                  <a:cubicBezTo>
                    <a:pt x="5" y="84"/>
                    <a:pt x="65" y="78"/>
                    <a:pt x="84" y="89"/>
                  </a:cubicBezTo>
                  <a:cubicBezTo>
                    <a:pt x="97" y="96"/>
                    <a:pt x="108" y="105"/>
                    <a:pt x="120" y="113"/>
                  </a:cubicBezTo>
                  <a:cubicBezTo>
                    <a:pt x="124" y="116"/>
                    <a:pt x="132" y="121"/>
                    <a:pt x="132" y="121"/>
                  </a:cubicBezTo>
                  <a:cubicBezTo>
                    <a:pt x="138" y="138"/>
                    <a:pt x="132" y="151"/>
                    <a:pt x="136" y="169"/>
                  </a:cubicBezTo>
                  <a:cubicBezTo>
                    <a:pt x="107" y="188"/>
                    <a:pt x="110" y="176"/>
                    <a:pt x="116" y="201"/>
                  </a:cubicBezTo>
                  <a:cubicBezTo>
                    <a:pt x="123" y="200"/>
                    <a:pt x="130" y="199"/>
                    <a:pt x="136" y="197"/>
                  </a:cubicBezTo>
                  <a:cubicBezTo>
                    <a:pt x="141" y="195"/>
                    <a:pt x="143" y="188"/>
                    <a:pt x="148" y="189"/>
                  </a:cubicBezTo>
                  <a:cubicBezTo>
                    <a:pt x="154" y="190"/>
                    <a:pt x="156" y="198"/>
                    <a:pt x="160" y="201"/>
                  </a:cubicBezTo>
                  <a:cubicBezTo>
                    <a:pt x="168" y="207"/>
                    <a:pt x="176" y="212"/>
                    <a:pt x="184" y="217"/>
                  </a:cubicBezTo>
                  <a:cubicBezTo>
                    <a:pt x="192" y="222"/>
                    <a:pt x="208" y="233"/>
                    <a:pt x="208" y="233"/>
                  </a:cubicBezTo>
                  <a:cubicBezTo>
                    <a:pt x="216" y="231"/>
                    <a:pt x="234" y="230"/>
                    <a:pt x="240" y="221"/>
                  </a:cubicBezTo>
                  <a:cubicBezTo>
                    <a:pt x="244" y="214"/>
                    <a:pt x="248" y="197"/>
                    <a:pt x="248" y="197"/>
                  </a:cubicBezTo>
                  <a:cubicBezTo>
                    <a:pt x="255" y="198"/>
                    <a:pt x="261" y="199"/>
                    <a:pt x="268" y="201"/>
                  </a:cubicBezTo>
                  <a:cubicBezTo>
                    <a:pt x="276" y="203"/>
                    <a:pt x="292" y="209"/>
                    <a:pt x="292" y="209"/>
                  </a:cubicBezTo>
                  <a:cubicBezTo>
                    <a:pt x="298" y="242"/>
                    <a:pt x="306" y="270"/>
                    <a:pt x="340" y="281"/>
                  </a:cubicBezTo>
                  <a:cubicBezTo>
                    <a:pt x="345" y="280"/>
                    <a:pt x="354" y="282"/>
                    <a:pt x="356" y="277"/>
                  </a:cubicBezTo>
                  <a:cubicBezTo>
                    <a:pt x="359" y="270"/>
                    <a:pt x="355" y="260"/>
                    <a:pt x="352" y="253"/>
                  </a:cubicBezTo>
                  <a:cubicBezTo>
                    <a:pt x="346" y="238"/>
                    <a:pt x="329" y="206"/>
                    <a:pt x="316" y="197"/>
                  </a:cubicBezTo>
                  <a:cubicBezTo>
                    <a:pt x="307" y="170"/>
                    <a:pt x="339" y="175"/>
                    <a:pt x="360" y="173"/>
                  </a:cubicBezTo>
                  <a:cubicBezTo>
                    <a:pt x="383" y="165"/>
                    <a:pt x="391" y="162"/>
                    <a:pt x="408" y="145"/>
                  </a:cubicBezTo>
                  <a:cubicBezTo>
                    <a:pt x="412" y="140"/>
                    <a:pt x="416" y="121"/>
                    <a:pt x="409" y="120"/>
                  </a:cubicBezTo>
                  <a:cubicBezTo>
                    <a:pt x="402" y="119"/>
                    <a:pt x="384" y="135"/>
                    <a:pt x="367" y="138"/>
                  </a:cubicBezTo>
                  <a:cubicBezTo>
                    <a:pt x="350" y="141"/>
                    <a:pt x="325" y="144"/>
                    <a:pt x="308" y="137"/>
                  </a:cubicBezTo>
                  <a:cubicBezTo>
                    <a:pt x="286" y="130"/>
                    <a:pt x="284" y="111"/>
                    <a:pt x="264" y="97"/>
                  </a:cubicBezTo>
                  <a:cubicBezTo>
                    <a:pt x="238" y="80"/>
                    <a:pt x="203" y="76"/>
                    <a:pt x="180" y="61"/>
                  </a:cubicBezTo>
                  <a:cubicBezTo>
                    <a:pt x="163" y="50"/>
                    <a:pt x="150" y="39"/>
                    <a:pt x="132" y="33"/>
                  </a:cubicBezTo>
                  <a:cubicBezTo>
                    <a:pt x="119" y="35"/>
                    <a:pt x="102" y="31"/>
                    <a:pt x="92" y="41"/>
                  </a:cubicBezTo>
                  <a:cubicBezTo>
                    <a:pt x="71" y="62"/>
                    <a:pt x="108" y="46"/>
                    <a:pt x="76" y="57"/>
                  </a:cubicBezTo>
                  <a:cubicBezTo>
                    <a:pt x="52" y="49"/>
                    <a:pt x="67" y="38"/>
                    <a:pt x="56" y="17"/>
                  </a:cubicBezTo>
                  <a:cubicBezTo>
                    <a:pt x="48" y="0"/>
                    <a:pt x="16" y="1"/>
                    <a:pt x="0" y="1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 w="12700">
              <a:noFill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2102" name="Freeform 52"/>
            <p:cNvSpPr/>
            <p:nvPr/>
          </p:nvSpPr>
          <p:spPr>
            <a:xfrm>
              <a:off x="4485" y="4013"/>
              <a:ext cx="45" cy="58"/>
            </a:xfrm>
            <a:custGeom>
              <a:avLst/>
              <a:gdLst/>
              <a:ahLst/>
              <a:cxnLst>
                <a:cxn ang="0">
                  <a:pos x="32" y="18"/>
                </a:cxn>
                <a:cxn ang="0">
                  <a:pos x="0" y="18"/>
                </a:cxn>
                <a:cxn ang="0">
                  <a:pos x="20" y="42"/>
                </a:cxn>
                <a:cxn ang="0">
                  <a:pos x="28" y="66"/>
                </a:cxn>
                <a:cxn ang="0">
                  <a:pos x="32" y="78"/>
                </a:cxn>
                <a:cxn ang="0">
                  <a:pos x="60" y="50"/>
                </a:cxn>
                <a:cxn ang="0">
                  <a:pos x="32" y="18"/>
                </a:cxn>
              </a:cxnLst>
              <a:pathLst>
                <a:path w="60" h="78">
                  <a:moveTo>
                    <a:pt x="32" y="18"/>
                  </a:moveTo>
                  <a:cubicBezTo>
                    <a:pt x="16" y="7"/>
                    <a:pt x="12" y="0"/>
                    <a:pt x="0" y="18"/>
                  </a:cubicBezTo>
                  <a:cubicBezTo>
                    <a:pt x="6" y="27"/>
                    <a:pt x="15" y="33"/>
                    <a:pt x="20" y="42"/>
                  </a:cubicBezTo>
                  <a:cubicBezTo>
                    <a:pt x="24" y="49"/>
                    <a:pt x="25" y="58"/>
                    <a:pt x="28" y="66"/>
                  </a:cubicBezTo>
                  <a:cubicBezTo>
                    <a:pt x="29" y="70"/>
                    <a:pt x="32" y="78"/>
                    <a:pt x="32" y="78"/>
                  </a:cubicBezTo>
                  <a:cubicBezTo>
                    <a:pt x="52" y="73"/>
                    <a:pt x="54" y="69"/>
                    <a:pt x="60" y="50"/>
                  </a:cubicBezTo>
                  <a:cubicBezTo>
                    <a:pt x="54" y="32"/>
                    <a:pt x="50" y="27"/>
                    <a:pt x="32" y="18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 w="12700">
              <a:noFill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2103" name="Freeform 53"/>
            <p:cNvSpPr/>
            <p:nvPr/>
          </p:nvSpPr>
          <p:spPr>
            <a:xfrm>
              <a:off x="4621" y="3923"/>
              <a:ext cx="164" cy="85"/>
            </a:xfrm>
            <a:custGeom>
              <a:avLst/>
              <a:gdLst/>
              <a:ahLst/>
              <a:cxnLst>
                <a:cxn ang="0">
                  <a:pos x="47" y="73"/>
                </a:cxn>
                <a:cxn ang="0">
                  <a:pos x="39" y="61"/>
                </a:cxn>
                <a:cxn ang="0">
                  <a:pos x="15" y="69"/>
                </a:cxn>
                <a:cxn ang="0">
                  <a:pos x="39" y="113"/>
                </a:cxn>
                <a:cxn ang="0">
                  <a:pos x="123" y="89"/>
                </a:cxn>
                <a:cxn ang="0">
                  <a:pos x="147" y="73"/>
                </a:cxn>
                <a:cxn ang="0">
                  <a:pos x="171" y="65"/>
                </a:cxn>
                <a:cxn ang="0">
                  <a:pos x="219" y="19"/>
                </a:cxn>
                <a:cxn ang="0">
                  <a:pos x="210" y="0"/>
                </a:cxn>
                <a:cxn ang="0">
                  <a:pos x="179" y="17"/>
                </a:cxn>
                <a:cxn ang="0">
                  <a:pos x="107" y="41"/>
                </a:cxn>
                <a:cxn ang="0">
                  <a:pos x="83" y="45"/>
                </a:cxn>
                <a:cxn ang="0">
                  <a:pos x="59" y="53"/>
                </a:cxn>
                <a:cxn ang="0">
                  <a:pos x="47" y="73"/>
                </a:cxn>
              </a:cxnLst>
              <a:pathLst>
                <a:path w="219" h="113">
                  <a:moveTo>
                    <a:pt x="47" y="73"/>
                  </a:moveTo>
                  <a:cubicBezTo>
                    <a:pt x="44" y="69"/>
                    <a:pt x="44" y="62"/>
                    <a:pt x="39" y="61"/>
                  </a:cubicBezTo>
                  <a:cubicBezTo>
                    <a:pt x="31" y="60"/>
                    <a:pt x="15" y="69"/>
                    <a:pt x="15" y="69"/>
                  </a:cubicBezTo>
                  <a:cubicBezTo>
                    <a:pt x="0" y="91"/>
                    <a:pt x="20" y="101"/>
                    <a:pt x="39" y="113"/>
                  </a:cubicBezTo>
                  <a:cubicBezTo>
                    <a:pt x="67" y="107"/>
                    <a:pt x="96" y="98"/>
                    <a:pt x="123" y="89"/>
                  </a:cubicBezTo>
                  <a:cubicBezTo>
                    <a:pt x="132" y="86"/>
                    <a:pt x="139" y="78"/>
                    <a:pt x="147" y="73"/>
                  </a:cubicBezTo>
                  <a:cubicBezTo>
                    <a:pt x="154" y="68"/>
                    <a:pt x="171" y="65"/>
                    <a:pt x="171" y="65"/>
                  </a:cubicBezTo>
                  <a:cubicBezTo>
                    <a:pt x="186" y="50"/>
                    <a:pt x="207" y="36"/>
                    <a:pt x="219" y="19"/>
                  </a:cubicBezTo>
                  <a:cubicBezTo>
                    <a:pt x="215" y="16"/>
                    <a:pt x="215" y="0"/>
                    <a:pt x="210" y="0"/>
                  </a:cubicBezTo>
                  <a:cubicBezTo>
                    <a:pt x="205" y="0"/>
                    <a:pt x="183" y="15"/>
                    <a:pt x="179" y="17"/>
                  </a:cubicBezTo>
                  <a:cubicBezTo>
                    <a:pt x="159" y="26"/>
                    <a:pt x="129" y="37"/>
                    <a:pt x="107" y="41"/>
                  </a:cubicBezTo>
                  <a:cubicBezTo>
                    <a:pt x="99" y="42"/>
                    <a:pt x="91" y="43"/>
                    <a:pt x="83" y="45"/>
                  </a:cubicBezTo>
                  <a:cubicBezTo>
                    <a:pt x="75" y="47"/>
                    <a:pt x="59" y="53"/>
                    <a:pt x="59" y="53"/>
                  </a:cubicBezTo>
                  <a:cubicBezTo>
                    <a:pt x="49" y="67"/>
                    <a:pt x="53" y="61"/>
                    <a:pt x="47" y="73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 w="12700">
              <a:noFill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2104" name="Freeform 54"/>
            <p:cNvSpPr/>
            <p:nvPr/>
          </p:nvSpPr>
          <p:spPr>
            <a:xfrm>
              <a:off x="4791" y="3873"/>
              <a:ext cx="104" cy="92"/>
            </a:xfrm>
            <a:custGeom>
              <a:avLst/>
              <a:gdLst/>
              <a:ahLst/>
              <a:cxnLst>
                <a:cxn ang="0">
                  <a:pos x="12" y="60"/>
                </a:cxn>
                <a:cxn ang="0">
                  <a:pos x="8" y="84"/>
                </a:cxn>
                <a:cxn ang="0">
                  <a:pos x="0" y="108"/>
                </a:cxn>
                <a:cxn ang="0">
                  <a:pos x="36" y="116"/>
                </a:cxn>
                <a:cxn ang="0">
                  <a:pos x="52" y="96"/>
                </a:cxn>
                <a:cxn ang="0">
                  <a:pos x="124" y="68"/>
                </a:cxn>
                <a:cxn ang="0">
                  <a:pos x="136" y="44"/>
                </a:cxn>
                <a:cxn ang="0">
                  <a:pos x="112" y="28"/>
                </a:cxn>
                <a:cxn ang="0">
                  <a:pos x="100" y="20"/>
                </a:cxn>
                <a:cxn ang="0">
                  <a:pos x="64" y="12"/>
                </a:cxn>
                <a:cxn ang="0">
                  <a:pos x="52" y="36"/>
                </a:cxn>
                <a:cxn ang="0">
                  <a:pos x="12" y="60"/>
                </a:cxn>
              </a:cxnLst>
              <a:pathLst>
                <a:path w="139" h="122">
                  <a:moveTo>
                    <a:pt x="12" y="60"/>
                  </a:moveTo>
                  <a:cubicBezTo>
                    <a:pt x="11" y="68"/>
                    <a:pt x="10" y="76"/>
                    <a:pt x="8" y="84"/>
                  </a:cubicBezTo>
                  <a:cubicBezTo>
                    <a:pt x="6" y="92"/>
                    <a:pt x="0" y="108"/>
                    <a:pt x="0" y="108"/>
                  </a:cubicBezTo>
                  <a:cubicBezTo>
                    <a:pt x="14" y="118"/>
                    <a:pt x="19" y="122"/>
                    <a:pt x="36" y="116"/>
                  </a:cubicBezTo>
                  <a:cubicBezTo>
                    <a:pt x="46" y="86"/>
                    <a:pt x="31" y="122"/>
                    <a:pt x="52" y="96"/>
                  </a:cubicBezTo>
                  <a:cubicBezTo>
                    <a:pt x="83" y="57"/>
                    <a:pt x="30" y="74"/>
                    <a:pt x="124" y="68"/>
                  </a:cubicBezTo>
                  <a:cubicBezTo>
                    <a:pt x="125" y="67"/>
                    <a:pt x="139" y="48"/>
                    <a:pt x="136" y="44"/>
                  </a:cubicBezTo>
                  <a:cubicBezTo>
                    <a:pt x="130" y="36"/>
                    <a:pt x="120" y="33"/>
                    <a:pt x="112" y="28"/>
                  </a:cubicBezTo>
                  <a:cubicBezTo>
                    <a:pt x="108" y="25"/>
                    <a:pt x="100" y="20"/>
                    <a:pt x="100" y="20"/>
                  </a:cubicBezTo>
                  <a:cubicBezTo>
                    <a:pt x="89" y="4"/>
                    <a:pt x="92" y="0"/>
                    <a:pt x="64" y="12"/>
                  </a:cubicBezTo>
                  <a:cubicBezTo>
                    <a:pt x="57" y="15"/>
                    <a:pt x="55" y="30"/>
                    <a:pt x="52" y="36"/>
                  </a:cubicBezTo>
                  <a:cubicBezTo>
                    <a:pt x="46" y="49"/>
                    <a:pt x="26" y="60"/>
                    <a:pt x="12" y="6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 w="12700">
              <a:noFill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2105" name="Freeform 55"/>
            <p:cNvSpPr/>
            <p:nvPr/>
          </p:nvSpPr>
          <p:spPr>
            <a:xfrm>
              <a:off x="4846" y="3832"/>
              <a:ext cx="37" cy="26"/>
            </a:xfrm>
            <a:custGeom>
              <a:avLst/>
              <a:gdLst/>
              <a:ahLst/>
              <a:cxnLst>
                <a:cxn ang="0">
                  <a:pos x="29" y="0"/>
                </a:cxn>
                <a:cxn ang="0">
                  <a:pos x="8" y="11"/>
                </a:cxn>
                <a:cxn ang="0">
                  <a:pos x="24" y="35"/>
                </a:cxn>
                <a:cxn ang="0">
                  <a:pos x="39" y="26"/>
                </a:cxn>
                <a:cxn ang="0">
                  <a:pos x="29" y="0"/>
                </a:cxn>
              </a:cxnLst>
              <a:pathLst>
                <a:path w="49" h="35">
                  <a:moveTo>
                    <a:pt x="29" y="0"/>
                  </a:moveTo>
                  <a:cubicBezTo>
                    <a:pt x="25" y="12"/>
                    <a:pt x="19" y="7"/>
                    <a:pt x="8" y="11"/>
                  </a:cubicBezTo>
                  <a:cubicBezTo>
                    <a:pt x="0" y="23"/>
                    <a:pt x="14" y="34"/>
                    <a:pt x="24" y="35"/>
                  </a:cubicBezTo>
                  <a:cubicBezTo>
                    <a:pt x="30" y="34"/>
                    <a:pt x="33" y="28"/>
                    <a:pt x="39" y="26"/>
                  </a:cubicBezTo>
                  <a:cubicBezTo>
                    <a:pt x="49" y="22"/>
                    <a:pt x="29" y="3"/>
                    <a:pt x="29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 w="12700">
              <a:noFill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2106" name="Freeform 56"/>
            <p:cNvSpPr/>
            <p:nvPr/>
          </p:nvSpPr>
          <p:spPr>
            <a:xfrm>
              <a:off x="3123" y="3346"/>
              <a:ext cx="123" cy="201"/>
            </a:xfrm>
            <a:custGeom>
              <a:avLst/>
              <a:gdLst/>
              <a:ahLst/>
              <a:cxnLst>
                <a:cxn ang="0">
                  <a:pos x="128" y="0"/>
                </a:cxn>
                <a:cxn ang="0">
                  <a:pos x="104" y="28"/>
                </a:cxn>
                <a:cxn ang="0">
                  <a:pos x="88" y="64"/>
                </a:cxn>
                <a:cxn ang="0">
                  <a:pos x="36" y="84"/>
                </a:cxn>
                <a:cxn ang="0">
                  <a:pos x="28" y="96"/>
                </a:cxn>
                <a:cxn ang="0">
                  <a:pos x="16" y="100"/>
                </a:cxn>
                <a:cxn ang="0">
                  <a:pos x="20" y="132"/>
                </a:cxn>
                <a:cxn ang="0">
                  <a:pos x="28" y="156"/>
                </a:cxn>
                <a:cxn ang="0">
                  <a:pos x="0" y="200"/>
                </a:cxn>
                <a:cxn ang="0">
                  <a:pos x="28" y="260"/>
                </a:cxn>
                <a:cxn ang="0">
                  <a:pos x="52" y="268"/>
                </a:cxn>
                <a:cxn ang="0">
                  <a:pos x="88" y="216"/>
                </a:cxn>
                <a:cxn ang="0">
                  <a:pos x="104" y="192"/>
                </a:cxn>
                <a:cxn ang="0">
                  <a:pos x="128" y="116"/>
                </a:cxn>
                <a:cxn ang="0">
                  <a:pos x="140" y="76"/>
                </a:cxn>
                <a:cxn ang="0">
                  <a:pos x="164" y="72"/>
                </a:cxn>
                <a:cxn ang="0">
                  <a:pos x="128" y="0"/>
                </a:cxn>
              </a:cxnLst>
              <a:pathLst>
                <a:path w="164" h="268">
                  <a:moveTo>
                    <a:pt x="128" y="0"/>
                  </a:moveTo>
                  <a:cubicBezTo>
                    <a:pt x="123" y="16"/>
                    <a:pt x="120" y="23"/>
                    <a:pt x="104" y="28"/>
                  </a:cubicBezTo>
                  <a:cubicBezTo>
                    <a:pt x="102" y="35"/>
                    <a:pt x="97" y="57"/>
                    <a:pt x="88" y="64"/>
                  </a:cubicBezTo>
                  <a:cubicBezTo>
                    <a:pt x="75" y="75"/>
                    <a:pt x="51" y="74"/>
                    <a:pt x="36" y="84"/>
                  </a:cubicBezTo>
                  <a:cubicBezTo>
                    <a:pt x="33" y="88"/>
                    <a:pt x="32" y="93"/>
                    <a:pt x="28" y="96"/>
                  </a:cubicBezTo>
                  <a:cubicBezTo>
                    <a:pt x="25" y="99"/>
                    <a:pt x="17" y="96"/>
                    <a:pt x="16" y="100"/>
                  </a:cubicBezTo>
                  <a:cubicBezTo>
                    <a:pt x="14" y="110"/>
                    <a:pt x="18" y="121"/>
                    <a:pt x="20" y="132"/>
                  </a:cubicBezTo>
                  <a:cubicBezTo>
                    <a:pt x="22" y="140"/>
                    <a:pt x="28" y="156"/>
                    <a:pt x="28" y="156"/>
                  </a:cubicBezTo>
                  <a:cubicBezTo>
                    <a:pt x="13" y="166"/>
                    <a:pt x="6" y="183"/>
                    <a:pt x="0" y="200"/>
                  </a:cubicBezTo>
                  <a:cubicBezTo>
                    <a:pt x="3" y="210"/>
                    <a:pt x="19" y="254"/>
                    <a:pt x="28" y="260"/>
                  </a:cubicBezTo>
                  <a:cubicBezTo>
                    <a:pt x="35" y="264"/>
                    <a:pt x="52" y="268"/>
                    <a:pt x="52" y="268"/>
                  </a:cubicBezTo>
                  <a:cubicBezTo>
                    <a:pt x="85" y="261"/>
                    <a:pt x="79" y="244"/>
                    <a:pt x="88" y="216"/>
                  </a:cubicBezTo>
                  <a:cubicBezTo>
                    <a:pt x="91" y="207"/>
                    <a:pt x="99" y="200"/>
                    <a:pt x="104" y="192"/>
                  </a:cubicBezTo>
                  <a:cubicBezTo>
                    <a:pt x="116" y="174"/>
                    <a:pt x="121" y="136"/>
                    <a:pt x="128" y="116"/>
                  </a:cubicBezTo>
                  <a:cubicBezTo>
                    <a:pt x="131" y="108"/>
                    <a:pt x="134" y="79"/>
                    <a:pt x="140" y="76"/>
                  </a:cubicBezTo>
                  <a:cubicBezTo>
                    <a:pt x="147" y="72"/>
                    <a:pt x="156" y="73"/>
                    <a:pt x="164" y="72"/>
                  </a:cubicBezTo>
                  <a:cubicBezTo>
                    <a:pt x="158" y="19"/>
                    <a:pt x="161" y="33"/>
                    <a:pt x="128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 w="12700">
              <a:noFill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2107" name="Freeform 57"/>
            <p:cNvSpPr/>
            <p:nvPr/>
          </p:nvSpPr>
          <p:spPr>
            <a:xfrm>
              <a:off x="3655" y="3034"/>
              <a:ext cx="49" cy="61"/>
            </a:xfrm>
            <a:custGeom>
              <a:avLst/>
              <a:gdLst/>
              <a:ahLst/>
              <a:cxnLst>
                <a:cxn ang="0">
                  <a:pos x="29" y="0"/>
                </a:cxn>
                <a:cxn ang="0">
                  <a:pos x="25" y="60"/>
                </a:cxn>
                <a:cxn ang="0">
                  <a:pos x="29" y="76"/>
                </a:cxn>
                <a:cxn ang="0">
                  <a:pos x="41" y="80"/>
                </a:cxn>
                <a:cxn ang="0">
                  <a:pos x="57" y="76"/>
                </a:cxn>
                <a:cxn ang="0">
                  <a:pos x="29" y="0"/>
                </a:cxn>
              </a:cxnLst>
              <a:pathLst>
                <a:path w="66" h="81">
                  <a:moveTo>
                    <a:pt x="29" y="0"/>
                  </a:moveTo>
                  <a:cubicBezTo>
                    <a:pt x="0" y="10"/>
                    <a:pt x="20" y="38"/>
                    <a:pt x="25" y="60"/>
                  </a:cubicBezTo>
                  <a:cubicBezTo>
                    <a:pt x="26" y="65"/>
                    <a:pt x="26" y="72"/>
                    <a:pt x="29" y="76"/>
                  </a:cubicBezTo>
                  <a:cubicBezTo>
                    <a:pt x="32" y="79"/>
                    <a:pt x="37" y="79"/>
                    <a:pt x="41" y="80"/>
                  </a:cubicBezTo>
                  <a:cubicBezTo>
                    <a:pt x="46" y="79"/>
                    <a:pt x="55" y="81"/>
                    <a:pt x="57" y="76"/>
                  </a:cubicBezTo>
                  <a:cubicBezTo>
                    <a:pt x="66" y="53"/>
                    <a:pt x="45" y="16"/>
                    <a:pt x="29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 w="12700">
              <a:noFill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2108" name="Freeform 58"/>
            <p:cNvSpPr/>
            <p:nvPr/>
          </p:nvSpPr>
          <p:spPr>
            <a:xfrm>
              <a:off x="3988" y="3100"/>
              <a:ext cx="111" cy="183"/>
            </a:xfrm>
            <a:custGeom>
              <a:avLst/>
              <a:gdLst/>
              <a:ahLst/>
              <a:cxnLst>
                <a:cxn ang="0">
                  <a:pos x="96" y="0"/>
                </a:cxn>
                <a:cxn ang="0">
                  <a:pos x="60" y="84"/>
                </a:cxn>
                <a:cxn ang="0">
                  <a:pos x="36" y="92"/>
                </a:cxn>
                <a:cxn ang="0">
                  <a:pos x="12" y="108"/>
                </a:cxn>
                <a:cxn ang="0">
                  <a:pos x="40" y="188"/>
                </a:cxn>
                <a:cxn ang="0">
                  <a:pos x="52" y="224"/>
                </a:cxn>
                <a:cxn ang="0">
                  <a:pos x="60" y="236"/>
                </a:cxn>
                <a:cxn ang="0">
                  <a:pos x="84" y="244"/>
                </a:cxn>
                <a:cxn ang="0">
                  <a:pos x="96" y="196"/>
                </a:cxn>
                <a:cxn ang="0">
                  <a:pos x="124" y="168"/>
                </a:cxn>
                <a:cxn ang="0">
                  <a:pos x="112" y="68"/>
                </a:cxn>
                <a:cxn ang="0">
                  <a:pos x="140" y="48"/>
                </a:cxn>
                <a:cxn ang="0">
                  <a:pos x="112" y="20"/>
                </a:cxn>
                <a:cxn ang="0">
                  <a:pos x="96" y="0"/>
                </a:cxn>
              </a:cxnLst>
              <a:pathLst>
                <a:path w="148" h="244">
                  <a:moveTo>
                    <a:pt x="96" y="0"/>
                  </a:moveTo>
                  <a:cubicBezTo>
                    <a:pt x="86" y="29"/>
                    <a:pt x="70" y="55"/>
                    <a:pt x="60" y="84"/>
                  </a:cubicBezTo>
                  <a:cubicBezTo>
                    <a:pt x="57" y="92"/>
                    <a:pt x="43" y="87"/>
                    <a:pt x="36" y="92"/>
                  </a:cubicBezTo>
                  <a:cubicBezTo>
                    <a:pt x="28" y="97"/>
                    <a:pt x="12" y="108"/>
                    <a:pt x="12" y="108"/>
                  </a:cubicBezTo>
                  <a:cubicBezTo>
                    <a:pt x="0" y="144"/>
                    <a:pt x="30" y="158"/>
                    <a:pt x="40" y="188"/>
                  </a:cubicBezTo>
                  <a:cubicBezTo>
                    <a:pt x="44" y="200"/>
                    <a:pt x="45" y="213"/>
                    <a:pt x="52" y="224"/>
                  </a:cubicBezTo>
                  <a:cubicBezTo>
                    <a:pt x="55" y="228"/>
                    <a:pt x="56" y="233"/>
                    <a:pt x="60" y="236"/>
                  </a:cubicBezTo>
                  <a:cubicBezTo>
                    <a:pt x="67" y="240"/>
                    <a:pt x="84" y="244"/>
                    <a:pt x="84" y="244"/>
                  </a:cubicBezTo>
                  <a:cubicBezTo>
                    <a:pt x="111" y="235"/>
                    <a:pt x="103" y="218"/>
                    <a:pt x="96" y="196"/>
                  </a:cubicBezTo>
                  <a:cubicBezTo>
                    <a:pt x="100" y="183"/>
                    <a:pt x="124" y="168"/>
                    <a:pt x="124" y="168"/>
                  </a:cubicBezTo>
                  <a:cubicBezTo>
                    <a:pt x="148" y="132"/>
                    <a:pt x="123" y="101"/>
                    <a:pt x="112" y="68"/>
                  </a:cubicBezTo>
                  <a:cubicBezTo>
                    <a:pt x="140" y="59"/>
                    <a:pt x="133" y="68"/>
                    <a:pt x="140" y="48"/>
                  </a:cubicBezTo>
                  <a:cubicBezTo>
                    <a:pt x="136" y="35"/>
                    <a:pt x="112" y="20"/>
                    <a:pt x="112" y="20"/>
                  </a:cubicBezTo>
                  <a:cubicBezTo>
                    <a:pt x="102" y="5"/>
                    <a:pt x="107" y="11"/>
                    <a:pt x="96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 w="12700">
              <a:noFill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2109" name="Freeform 59"/>
            <p:cNvSpPr/>
            <p:nvPr/>
          </p:nvSpPr>
          <p:spPr>
            <a:xfrm>
              <a:off x="3894" y="3043"/>
              <a:ext cx="72" cy="137"/>
            </a:xfrm>
            <a:custGeom>
              <a:avLst/>
              <a:gdLst/>
              <a:ahLst/>
              <a:cxnLst>
                <a:cxn ang="0">
                  <a:pos x="48" y="2"/>
                </a:cxn>
                <a:cxn ang="0">
                  <a:pos x="51" y="35"/>
                </a:cxn>
                <a:cxn ang="0">
                  <a:pos x="60" y="62"/>
                </a:cxn>
                <a:cxn ang="0">
                  <a:pos x="62" y="92"/>
                </a:cxn>
                <a:cxn ang="0">
                  <a:pos x="68" y="105"/>
                </a:cxn>
                <a:cxn ang="0">
                  <a:pos x="71" y="126"/>
                </a:cxn>
                <a:cxn ang="0">
                  <a:pos x="57" y="93"/>
                </a:cxn>
                <a:cxn ang="0">
                  <a:pos x="35" y="78"/>
                </a:cxn>
                <a:cxn ang="0">
                  <a:pos x="5" y="83"/>
                </a:cxn>
                <a:cxn ang="0">
                  <a:pos x="8" y="102"/>
                </a:cxn>
                <a:cxn ang="0">
                  <a:pos x="41" y="114"/>
                </a:cxn>
                <a:cxn ang="0">
                  <a:pos x="57" y="135"/>
                </a:cxn>
                <a:cxn ang="0">
                  <a:pos x="71" y="135"/>
                </a:cxn>
                <a:cxn ang="0">
                  <a:pos x="78" y="150"/>
                </a:cxn>
                <a:cxn ang="0">
                  <a:pos x="96" y="179"/>
                </a:cxn>
                <a:cxn ang="0">
                  <a:pos x="81" y="126"/>
                </a:cxn>
                <a:cxn ang="0">
                  <a:pos x="80" y="93"/>
                </a:cxn>
                <a:cxn ang="0">
                  <a:pos x="71" y="63"/>
                </a:cxn>
                <a:cxn ang="0">
                  <a:pos x="63" y="41"/>
                </a:cxn>
                <a:cxn ang="0">
                  <a:pos x="57" y="20"/>
                </a:cxn>
                <a:cxn ang="0">
                  <a:pos x="48" y="2"/>
                </a:cxn>
              </a:cxnLst>
              <a:pathLst>
                <a:path w="96" h="183">
                  <a:moveTo>
                    <a:pt x="48" y="2"/>
                  </a:moveTo>
                  <a:cubicBezTo>
                    <a:pt x="47" y="4"/>
                    <a:pt x="49" y="25"/>
                    <a:pt x="51" y="35"/>
                  </a:cubicBezTo>
                  <a:cubicBezTo>
                    <a:pt x="53" y="45"/>
                    <a:pt x="58" y="53"/>
                    <a:pt x="60" y="62"/>
                  </a:cubicBezTo>
                  <a:cubicBezTo>
                    <a:pt x="62" y="71"/>
                    <a:pt x="61" y="85"/>
                    <a:pt x="62" y="92"/>
                  </a:cubicBezTo>
                  <a:cubicBezTo>
                    <a:pt x="63" y="99"/>
                    <a:pt x="67" y="99"/>
                    <a:pt x="68" y="105"/>
                  </a:cubicBezTo>
                  <a:cubicBezTo>
                    <a:pt x="69" y="111"/>
                    <a:pt x="73" y="128"/>
                    <a:pt x="71" y="126"/>
                  </a:cubicBezTo>
                  <a:cubicBezTo>
                    <a:pt x="69" y="124"/>
                    <a:pt x="63" y="101"/>
                    <a:pt x="57" y="93"/>
                  </a:cubicBezTo>
                  <a:cubicBezTo>
                    <a:pt x="51" y="85"/>
                    <a:pt x="44" y="80"/>
                    <a:pt x="35" y="78"/>
                  </a:cubicBezTo>
                  <a:cubicBezTo>
                    <a:pt x="26" y="76"/>
                    <a:pt x="10" y="79"/>
                    <a:pt x="5" y="83"/>
                  </a:cubicBezTo>
                  <a:cubicBezTo>
                    <a:pt x="0" y="87"/>
                    <a:pt x="2" y="97"/>
                    <a:pt x="8" y="102"/>
                  </a:cubicBezTo>
                  <a:cubicBezTo>
                    <a:pt x="14" y="107"/>
                    <a:pt x="33" y="109"/>
                    <a:pt x="41" y="114"/>
                  </a:cubicBezTo>
                  <a:cubicBezTo>
                    <a:pt x="49" y="119"/>
                    <a:pt x="52" y="132"/>
                    <a:pt x="57" y="135"/>
                  </a:cubicBezTo>
                  <a:cubicBezTo>
                    <a:pt x="62" y="138"/>
                    <a:pt x="68" y="133"/>
                    <a:pt x="71" y="135"/>
                  </a:cubicBezTo>
                  <a:cubicBezTo>
                    <a:pt x="74" y="137"/>
                    <a:pt x="74" y="143"/>
                    <a:pt x="78" y="150"/>
                  </a:cubicBezTo>
                  <a:cubicBezTo>
                    <a:pt x="82" y="157"/>
                    <a:pt x="96" y="183"/>
                    <a:pt x="96" y="179"/>
                  </a:cubicBezTo>
                  <a:cubicBezTo>
                    <a:pt x="96" y="175"/>
                    <a:pt x="84" y="140"/>
                    <a:pt x="81" y="126"/>
                  </a:cubicBezTo>
                  <a:cubicBezTo>
                    <a:pt x="78" y="112"/>
                    <a:pt x="82" y="104"/>
                    <a:pt x="80" y="93"/>
                  </a:cubicBezTo>
                  <a:cubicBezTo>
                    <a:pt x="78" y="82"/>
                    <a:pt x="74" y="72"/>
                    <a:pt x="71" y="63"/>
                  </a:cubicBezTo>
                  <a:cubicBezTo>
                    <a:pt x="68" y="54"/>
                    <a:pt x="65" y="48"/>
                    <a:pt x="63" y="41"/>
                  </a:cubicBezTo>
                  <a:cubicBezTo>
                    <a:pt x="61" y="34"/>
                    <a:pt x="59" y="26"/>
                    <a:pt x="57" y="20"/>
                  </a:cubicBezTo>
                  <a:cubicBezTo>
                    <a:pt x="55" y="14"/>
                    <a:pt x="49" y="0"/>
                    <a:pt x="48" y="2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 w="12700">
              <a:noFill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2110" name="Freeform 60"/>
            <p:cNvSpPr/>
            <p:nvPr/>
          </p:nvSpPr>
          <p:spPr>
            <a:xfrm>
              <a:off x="3943" y="3153"/>
              <a:ext cx="40" cy="131"/>
            </a:xfrm>
            <a:custGeom>
              <a:avLst/>
              <a:gdLst/>
              <a:ahLst/>
              <a:cxnLst>
                <a:cxn ang="0">
                  <a:pos x="6" y="0"/>
                </a:cxn>
                <a:cxn ang="0">
                  <a:pos x="0" y="25"/>
                </a:cxn>
                <a:cxn ang="0">
                  <a:pos x="9" y="54"/>
                </a:cxn>
                <a:cxn ang="0">
                  <a:pos x="18" y="94"/>
                </a:cxn>
                <a:cxn ang="0">
                  <a:pos x="34" y="129"/>
                </a:cxn>
                <a:cxn ang="0">
                  <a:pos x="54" y="175"/>
                </a:cxn>
                <a:cxn ang="0">
                  <a:pos x="40" y="115"/>
                </a:cxn>
                <a:cxn ang="0">
                  <a:pos x="34" y="93"/>
                </a:cxn>
                <a:cxn ang="0">
                  <a:pos x="28" y="61"/>
                </a:cxn>
                <a:cxn ang="0">
                  <a:pos x="25" y="46"/>
                </a:cxn>
                <a:cxn ang="0">
                  <a:pos x="16" y="37"/>
                </a:cxn>
                <a:cxn ang="0">
                  <a:pos x="6" y="0"/>
                </a:cxn>
              </a:cxnLst>
              <a:pathLst>
                <a:path w="54" h="175">
                  <a:moveTo>
                    <a:pt x="6" y="0"/>
                  </a:moveTo>
                  <a:lnTo>
                    <a:pt x="0" y="25"/>
                  </a:lnTo>
                  <a:cubicBezTo>
                    <a:pt x="3" y="48"/>
                    <a:pt x="3" y="40"/>
                    <a:pt x="9" y="54"/>
                  </a:cubicBezTo>
                  <a:cubicBezTo>
                    <a:pt x="10" y="66"/>
                    <a:pt x="12" y="83"/>
                    <a:pt x="18" y="94"/>
                  </a:cubicBezTo>
                  <a:cubicBezTo>
                    <a:pt x="21" y="109"/>
                    <a:pt x="25" y="117"/>
                    <a:pt x="34" y="129"/>
                  </a:cubicBezTo>
                  <a:cubicBezTo>
                    <a:pt x="35" y="143"/>
                    <a:pt x="35" y="171"/>
                    <a:pt x="54" y="175"/>
                  </a:cubicBezTo>
                  <a:cubicBezTo>
                    <a:pt x="52" y="133"/>
                    <a:pt x="53" y="141"/>
                    <a:pt x="40" y="115"/>
                  </a:cubicBezTo>
                  <a:cubicBezTo>
                    <a:pt x="39" y="108"/>
                    <a:pt x="37" y="100"/>
                    <a:pt x="34" y="93"/>
                  </a:cubicBezTo>
                  <a:cubicBezTo>
                    <a:pt x="33" y="82"/>
                    <a:pt x="30" y="72"/>
                    <a:pt x="28" y="61"/>
                  </a:cubicBezTo>
                  <a:cubicBezTo>
                    <a:pt x="28" y="58"/>
                    <a:pt x="28" y="50"/>
                    <a:pt x="25" y="46"/>
                  </a:cubicBezTo>
                  <a:cubicBezTo>
                    <a:pt x="22" y="43"/>
                    <a:pt x="16" y="37"/>
                    <a:pt x="16" y="37"/>
                  </a:cubicBezTo>
                  <a:cubicBezTo>
                    <a:pt x="14" y="25"/>
                    <a:pt x="13" y="9"/>
                    <a:pt x="6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 w="12700">
              <a:noFill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2111" name="Freeform 61"/>
            <p:cNvSpPr/>
            <p:nvPr/>
          </p:nvSpPr>
          <p:spPr>
            <a:xfrm>
              <a:off x="3988" y="3290"/>
              <a:ext cx="65" cy="54"/>
            </a:xfrm>
            <a:custGeom>
              <a:avLst/>
              <a:gdLst/>
              <a:ahLst/>
              <a:cxnLst>
                <a:cxn ang="0">
                  <a:pos x="2" y="0"/>
                </a:cxn>
                <a:cxn ang="0">
                  <a:pos x="8" y="34"/>
                </a:cxn>
                <a:cxn ang="0">
                  <a:pos x="23" y="43"/>
                </a:cxn>
                <a:cxn ang="0">
                  <a:pos x="48" y="49"/>
                </a:cxn>
                <a:cxn ang="0">
                  <a:pos x="62" y="57"/>
                </a:cxn>
                <a:cxn ang="0">
                  <a:pos x="74" y="66"/>
                </a:cxn>
                <a:cxn ang="0">
                  <a:pos x="86" y="69"/>
                </a:cxn>
                <a:cxn ang="0">
                  <a:pos x="72" y="39"/>
                </a:cxn>
                <a:cxn ang="0">
                  <a:pos x="63" y="22"/>
                </a:cxn>
                <a:cxn ang="0">
                  <a:pos x="36" y="24"/>
                </a:cxn>
                <a:cxn ang="0">
                  <a:pos x="24" y="19"/>
                </a:cxn>
                <a:cxn ang="0">
                  <a:pos x="6" y="0"/>
                </a:cxn>
                <a:cxn ang="0">
                  <a:pos x="2" y="0"/>
                </a:cxn>
              </a:cxnLst>
              <a:pathLst>
                <a:path w="86" h="73">
                  <a:moveTo>
                    <a:pt x="2" y="0"/>
                  </a:moveTo>
                  <a:cubicBezTo>
                    <a:pt x="3" y="17"/>
                    <a:pt x="0" y="23"/>
                    <a:pt x="8" y="34"/>
                  </a:cubicBezTo>
                  <a:cubicBezTo>
                    <a:pt x="10" y="43"/>
                    <a:pt x="14" y="42"/>
                    <a:pt x="23" y="43"/>
                  </a:cubicBezTo>
                  <a:cubicBezTo>
                    <a:pt x="30" y="47"/>
                    <a:pt x="40" y="48"/>
                    <a:pt x="48" y="49"/>
                  </a:cubicBezTo>
                  <a:cubicBezTo>
                    <a:pt x="53" y="51"/>
                    <a:pt x="57" y="54"/>
                    <a:pt x="62" y="57"/>
                  </a:cubicBezTo>
                  <a:cubicBezTo>
                    <a:pt x="66" y="62"/>
                    <a:pt x="68" y="64"/>
                    <a:pt x="74" y="66"/>
                  </a:cubicBezTo>
                  <a:cubicBezTo>
                    <a:pt x="78" y="72"/>
                    <a:pt x="79" y="73"/>
                    <a:pt x="86" y="69"/>
                  </a:cubicBezTo>
                  <a:cubicBezTo>
                    <a:pt x="83" y="53"/>
                    <a:pt x="80" y="52"/>
                    <a:pt x="72" y="39"/>
                  </a:cubicBezTo>
                  <a:cubicBezTo>
                    <a:pt x="68" y="34"/>
                    <a:pt x="63" y="22"/>
                    <a:pt x="63" y="22"/>
                  </a:cubicBezTo>
                  <a:cubicBezTo>
                    <a:pt x="52" y="26"/>
                    <a:pt x="48" y="26"/>
                    <a:pt x="36" y="24"/>
                  </a:cubicBezTo>
                  <a:cubicBezTo>
                    <a:pt x="24" y="15"/>
                    <a:pt x="43" y="29"/>
                    <a:pt x="24" y="19"/>
                  </a:cubicBezTo>
                  <a:cubicBezTo>
                    <a:pt x="15" y="15"/>
                    <a:pt x="16" y="2"/>
                    <a:pt x="6" y="0"/>
                  </a:cubicBezTo>
                  <a:cubicBezTo>
                    <a:pt x="1" y="4"/>
                    <a:pt x="2" y="5"/>
                    <a:pt x="2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 w="12700">
              <a:noFill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2112" name="Freeform 62"/>
            <p:cNvSpPr/>
            <p:nvPr/>
          </p:nvSpPr>
          <p:spPr>
            <a:xfrm>
              <a:off x="4092" y="3195"/>
              <a:ext cx="83" cy="117"/>
            </a:xfrm>
            <a:custGeom>
              <a:avLst/>
              <a:gdLst/>
              <a:ahLst/>
              <a:cxnLst>
                <a:cxn ang="0">
                  <a:pos x="98" y="0"/>
                </a:cxn>
                <a:cxn ang="0">
                  <a:pos x="75" y="10"/>
                </a:cxn>
                <a:cxn ang="0">
                  <a:pos x="23" y="15"/>
                </a:cxn>
                <a:cxn ang="0">
                  <a:pos x="14" y="33"/>
                </a:cxn>
                <a:cxn ang="0">
                  <a:pos x="11" y="61"/>
                </a:cxn>
                <a:cxn ang="0">
                  <a:pos x="14" y="75"/>
                </a:cxn>
                <a:cxn ang="0">
                  <a:pos x="3" y="88"/>
                </a:cxn>
                <a:cxn ang="0">
                  <a:pos x="14" y="109"/>
                </a:cxn>
                <a:cxn ang="0">
                  <a:pos x="23" y="124"/>
                </a:cxn>
                <a:cxn ang="0">
                  <a:pos x="15" y="144"/>
                </a:cxn>
                <a:cxn ang="0">
                  <a:pos x="24" y="156"/>
                </a:cxn>
                <a:cxn ang="0">
                  <a:pos x="42" y="144"/>
                </a:cxn>
                <a:cxn ang="0">
                  <a:pos x="50" y="93"/>
                </a:cxn>
                <a:cxn ang="0">
                  <a:pos x="56" y="126"/>
                </a:cxn>
                <a:cxn ang="0">
                  <a:pos x="65" y="145"/>
                </a:cxn>
                <a:cxn ang="0">
                  <a:pos x="62" y="112"/>
                </a:cxn>
                <a:cxn ang="0">
                  <a:pos x="72" y="73"/>
                </a:cxn>
                <a:cxn ang="0">
                  <a:pos x="69" y="51"/>
                </a:cxn>
                <a:cxn ang="0">
                  <a:pos x="54" y="60"/>
                </a:cxn>
                <a:cxn ang="0">
                  <a:pos x="35" y="54"/>
                </a:cxn>
                <a:cxn ang="0">
                  <a:pos x="41" y="36"/>
                </a:cxn>
                <a:cxn ang="0">
                  <a:pos x="62" y="34"/>
                </a:cxn>
                <a:cxn ang="0">
                  <a:pos x="78" y="39"/>
                </a:cxn>
                <a:cxn ang="0">
                  <a:pos x="98" y="30"/>
                </a:cxn>
                <a:cxn ang="0">
                  <a:pos x="111" y="13"/>
                </a:cxn>
                <a:cxn ang="0">
                  <a:pos x="98" y="0"/>
                </a:cxn>
              </a:cxnLst>
              <a:pathLst>
                <a:path w="111" h="156">
                  <a:moveTo>
                    <a:pt x="98" y="0"/>
                  </a:moveTo>
                  <a:cubicBezTo>
                    <a:pt x="75" y="2"/>
                    <a:pt x="87" y="8"/>
                    <a:pt x="75" y="10"/>
                  </a:cubicBezTo>
                  <a:cubicBezTo>
                    <a:pt x="72" y="10"/>
                    <a:pt x="25" y="3"/>
                    <a:pt x="23" y="15"/>
                  </a:cubicBezTo>
                  <a:cubicBezTo>
                    <a:pt x="25" y="26"/>
                    <a:pt x="23" y="27"/>
                    <a:pt x="14" y="33"/>
                  </a:cubicBezTo>
                  <a:cubicBezTo>
                    <a:pt x="15" y="43"/>
                    <a:pt x="20" y="54"/>
                    <a:pt x="11" y="61"/>
                  </a:cubicBezTo>
                  <a:cubicBezTo>
                    <a:pt x="8" y="68"/>
                    <a:pt x="10" y="69"/>
                    <a:pt x="14" y="75"/>
                  </a:cubicBezTo>
                  <a:cubicBezTo>
                    <a:pt x="16" y="84"/>
                    <a:pt x="12" y="86"/>
                    <a:pt x="3" y="88"/>
                  </a:cubicBezTo>
                  <a:cubicBezTo>
                    <a:pt x="1" y="99"/>
                    <a:pt x="0" y="106"/>
                    <a:pt x="14" y="109"/>
                  </a:cubicBezTo>
                  <a:cubicBezTo>
                    <a:pt x="21" y="112"/>
                    <a:pt x="20" y="118"/>
                    <a:pt x="23" y="124"/>
                  </a:cubicBezTo>
                  <a:cubicBezTo>
                    <a:pt x="25" y="133"/>
                    <a:pt x="23" y="139"/>
                    <a:pt x="15" y="144"/>
                  </a:cubicBezTo>
                  <a:cubicBezTo>
                    <a:pt x="17" y="150"/>
                    <a:pt x="18" y="153"/>
                    <a:pt x="24" y="156"/>
                  </a:cubicBezTo>
                  <a:cubicBezTo>
                    <a:pt x="31" y="154"/>
                    <a:pt x="36" y="148"/>
                    <a:pt x="42" y="144"/>
                  </a:cubicBezTo>
                  <a:cubicBezTo>
                    <a:pt x="41" y="128"/>
                    <a:pt x="33" y="103"/>
                    <a:pt x="50" y="93"/>
                  </a:cubicBezTo>
                  <a:cubicBezTo>
                    <a:pt x="52" y="105"/>
                    <a:pt x="46" y="116"/>
                    <a:pt x="56" y="126"/>
                  </a:cubicBezTo>
                  <a:cubicBezTo>
                    <a:pt x="57" y="134"/>
                    <a:pt x="58" y="141"/>
                    <a:pt x="65" y="145"/>
                  </a:cubicBezTo>
                  <a:cubicBezTo>
                    <a:pt x="70" y="134"/>
                    <a:pt x="64" y="123"/>
                    <a:pt x="62" y="112"/>
                  </a:cubicBezTo>
                  <a:cubicBezTo>
                    <a:pt x="65" y="97"/>
                    <a:pt x="55" y="81"/>
                    <a:pt x="72" y="73"/>
                  </a:cubicBezTo>
                  <a:cubicBezTo>
                    <a:pt x="79" y="64"/>
                    <a:pt x="75" y="59"/>
                    <a:pt x="69" y="51"/>
                  </a:cubicBezTo>
                  <a:cubicBezTo>
                    <a:pt x="61" y="52"/>
                    <a:pt x="61" y="56"/>
                    <a:pt x="54" y="60"/>
                  </a:cubicBezTo>
                  <a:cubicBezTo>
                    <a:pt x="37" y="57"/>
                    <a:pt x="43" y="60"/>
                    <a:pt x="35" y="54"/>
                  </a:cubicBezTo>
                  <a:cubicBezTo>
                    <a:pt x="31" y="45"/>
                    <a:pt x="28" y="39"/>
                    <a:pt x="41" y="36"/>
                  </a:cubicBezTo>
                  <a:cubicBezTo>
                    <a:pt x="49" y="32"/>
                    <a:pt x="53" y="33"/>
                    <a:pt x="62" y="34"/>
                  </a:cubicBezTo>
                  <a:cubicBezTo>
                    <a:pt x="67" y="36"/>
                    <a:pt x="73" y="36"/>
                    <a:pt x="78" y="39"/>
                  </a:cubicBezTo>
                  <a:cubicBezTo>
                    <a:pt x="85" y="36"/>
                    <a:pt x="90" y="31"/>
                    <a:pt x="98" y="30"/>
                  </a:cubicBezTo>
                  <a:cubicBezTo>
                    <a:pt x="104" y="26"/>
                    <a:pt x="107" y="19"/>
                    <a:pt x="111" y="13"/>
                  </a:cubicBezTo>
                  <a:cubicBezTo>
                    <a:pt x="107" y="8"/>
                    <a:pt x="102" y="4"/>
                    <a:pt x="98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 w="12700">
              <a:noFill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2113" name="Freeform 63"/>
            <p:cNvSpPr/>
            <p:nvPr/>
          </p:nvSpPr>
          <p:spPr>
            <a:xfrm>
              <a:off x="4064" y="2777"/>
              <a:ext cx="22" cy="71"/>
            </a:xfrm>
            <a:custGeom>
              <a:avLst/>
              <a:gdLst/>
              <a:ahLst/>
              <a:cxnLst>
                <a:cxn ang="0">
                  <a:pos x="12" y="0"/>
                </a:cxn>
                <a:cxn ang="0">
                  <a:pos x="0" y="16"/>
                </a:cxn>
                <a:cxn ang="0">
                  <a:pos x="6" y="37"/>
                </a:cxn>
                <a:cxn ang="0">
                  <a:pos x="1" y="61"/>
                </a:cxn>
                <a:cxn ang="0">
                  <a:pos x="16" y="94"/>
                </a:cxn>
                <a:cxn ang="0">
                  <a:pos x="30" y="82"/>
                </a:cxn>
                <a:cxn ang="0">
                  <a:pos x="22" y="61"/>
                </a:cxn>
                <a:cxn ang="0">
                  <a:pos x="12" y="0"/>
                </a:cxn>
              </a:cxnLst>
              <a:pathLst>
                <a:path w="30" h="94">
                  <a:moveTo>
                    <a:pt x="12" y="0"/>
                  </a:moveTo>
                  <a:cubicBezTo>
                    <a:pt x="9" y="6"/>
                    <a:pt x="4" y="11"/>
                    <a:pt x="0" y="16"/>
                  </a:cubicBezTo>
                  <a:cubicBezTo>
                    <a:pt x="1" y="23"/>
                    <a:pt x="3" y="30"/>
                    <a:pt x="6" y="37"/>
                  </a:cubicBezTo>
                  <a:cubicBezTo>
                    <a:pt x="3" y="45"/>
                    <a:pt x="4" y="53"/>
                    <a:pt x="1" y="61"/>
                  </a:cubicBezTo>
                  <a:cubicBezTo>
                    <a:pt x="3" y="81"/>
                    <a:pt x="2" y="83"/>
                    <a:pt x="16" y="94"/>
                  </a:cubicBezTo>
                  <a:cubicBezTo>
                    <a:pt x="24" y="92"/>
                    <a:pt x="27" y="90"/>
                    <a:pt x="30" y="82"/>
                  </a:cubicBezTo>
                  <a:cubicBezTo>
                    <a:pt x="28" y="73"/>
                    <a:pt x="26" y="69"/>
                    <a:pt x="22" y="61"/>
                  </a:cubicBezTo>
                  <a:cubicBezTo>
                    <a:pt x="19" y="40"/>
                    <a:pt x="18" y="20"/>
                    <a:pt x="12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 w="12700">
              <a:noFill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2114" name="Freeform 64"/>
            <p:cNvSpPr/>
            <p:nvPr/>
          </p:nvSpPr>
          <p:spPr>
            <a:xfrm>
              <a:off x="4078" y="2896"/>
              <a:ext cx="61" cy="118"/>
            </a:xfrm>
            <a:custGeom>
              <a:avLst/>
              <a:gdLst/>
              <a:ahLst/>
              <a:cxnLst>
                <a:cxn ang="0">
                  <a:pos x="12" y="2"/>
                </a:cxn>
                <a:cxn ang="0">
                  <a:pos x="0" y="20"/>
                </a:cxn>
                <a:cxn ang="0">
                  <a:pos x="8" y="49"/>
                </a:cxn>
                <a:cxn ang="0">
                  <a:pos x="6" y="107"/>
                </a:cxn>
                <a:cxn ang="0">
                  <a:pos x="17" y="103"/>
                </a:cxn>
                <a:cxn ang="0">
                  <a:pos x="20" y="115"/>
                </a:cxn>
                <a:cxn ang="0">
                  <a:pos x="29" y="122"/>
                </a:cxn>
                <a:cxn ang="0">
                  <a:pos x="38" y="140"/>
                </a:cxn>
                <a:cxn ang="0">
                  <a:pos x="48" y="128"/>
                </a:cxn>
                <a:cxn ang="0">
                  <a:pos x="65" y="134"/>
                </a:cxn>
                <a:cxn ang="0">
                  <a:pos x="63" y="109"/>
                </a:cxn>
                <a:cxn ang="0">
                  <a:pos x="48" y="104"/>
                </a:cxn>
                <a:cxn ang="0">
                  <a:pos x="39" y="91"/>
                </a:cxn>
                <a:cxn ang="0">
                  <a:pos x="33" y="73"/>
                </a:cxn>
                <a:cxn ang="0">
                  <a:pos x="41" y="53"/>
                </a:cxn>
                <a:cxn ang="0">
                  <a:pos x="35" y="35"/>
                </a:cxn>
                <a:cxn ang="0">
                  <a:pos x="42" y="20"/>
                </a:cxn>
                <a:cxn ang="0">
                  <a:pos x="29" y="4"/>
                </a:cxn>
                <a:cxn ang="0">
                  <a:pos x="18" y="7"/>
                </a:cxn>
                <a:cxn ang="0">
                  <a:pos x="12" y="2"/>
                </a:cxn>
              </a:cxnLst>
              <a:pathLst>
                <a:path w="81" h="158">
                  <a:moveTo>
                    <a:pt x="12" y="2"/>
                  </a:moveTo>
                  <a:cubicBezTo>
                    <a:pt x="8" y="8"/>
                    <a:pt x="3" y="13"/>
                    <a:pt x="0" y="20"/>
                  </a:cubicBezTo>
                  <a:cubicBezTo>
                    <a:pt x="5" y="31"/>
                    <a:pt x="6" y="35"/>
                    <a:pt x="8" y="49"/>
                  </a:cubicBezTo>
                  <a:cubicBezTo>
                    <a:pt x="7" y="69"/>
                    <a:pt x="4" y="87"/>
                    <a:pt x="6" y="107"/>
                  </a:cubicBezTo>
                  <a:cubicBezTo>
                    <a:pt x="8" y="106"/>
                    <a:pt x="14" y="101"/>
                    <a:pt x="17" y="103"/>
                  </a:cubicBezTo>
                  <a:cubicBezTo>
                    <a:pt x="20" y="105"/>
                    <a:pt x="17" y="112"/>
                    <a:pt x="20" y="115"/>
                  </a:cubicBezTo>
                  <a:cubicBezTo>
                    <a:pt x="22" y="118"/>
                    <a:pt x="29" y="122"/>
                    <a:pt x="29" y="122"/>
                  </a:cubicBezTo>
                  <a:cubicBezTo>
                    <a:pt x="29" y="133"/>
                    <a:pt x="27" y="158"/>
                    <a:pt x="38" y="140"/>
                  </a:cubicBezTo>
                  <a:cubicBezTo>
                    <a:pt x="39" y="133"/>
                    <a:pt x="41" y="131"/>
                    <a:pt x="48" y="128"/>
                  </a:cubicBezTo>
                  <a:cubicBezTo>
                    <a:pt x="55" y="130"/>
                    <a:pt x="59" y="133"/>
                    <a:pt x="65" y="134"/>
                  </a:cubicBezTo>
                  <a:cubicBezTo>
                    <a:pt x="81" y="131"/>
                    <a:pt x="76" y="112"/>
                    <a:pt x="63" y="109"/>
                  </a:cubicBezTo>
                  <a:cubicBezTo>
                    <a:pt x="58" y="107"/>
                    <a:pt x="53" y="106"/>
                    <a:pt x="48" y="104"/>
                  </a:cubicBezTo>
                  <a:cubicBezTo>
                    <a:pt x="45" y="100"/>
                    <a:pt x="42" y="95"/>
                    <a:pt x="39" y="91"/>
                  </a:cubicBezTo>
                  <a:cubicBezTo>
                    <a:pt x="38" y="85"/>
                    <a:pt x="36" y="79"/>
                    <a:pt x="33" y="73"/>
                  </a:cubicBezTo>
                  <a:cubicBezTo>
                    <a:pt x="31" y="64"/>
                    <a:pt x="33" y="58"/>
                    <a:pt x="41" y="53"/>
                  </a:cubicBezTo>
                  <a:cubicBezTo>
                    <a:pt x="48" y="44"/>
                    <a:pt x="47" y="38"/>
                    <a:pt x="35" y="35"/>
                  </a:cubicBezTo>
                  <a:cubicBezTo>
                    <a:pt x="36" y="28"/>
                    <a:pt x="39" y="26"/>
                    <a:pt x="42" y="20"/>
                  </a:cubicBezTo>
                  <a:cubicBezTo>
                    <a:pt x="41" y="13"/>
                    <a:pt x="35" y="8"/>
                    <a:pt x="29" y="4"/>
                  </a:cubicBezTo>
                  <a:cubicBezTo>
                    <a:pt x="25" y="9"/>
                    <a:pt x="23" y="13"/>
                    <a:pt x="18" y="7"/>
                  </a:cubicBezTo>
                  <a:cubicBezTo>
                    <a:pt x="17" y="0"/>
                    <a:pt x="19" y="2"/>
                    <a:pt x="12" y="2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 w="12700">
              <a:noFill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2115" name="Freeform 65"/>
            <p:cNvSpPr/>
            <p:nvPr/>
          </p:nvSpPr>
          <p:spPr>
            <a:xfrm>
              <a:off x="4121" y="3052"/>
              <a:ext cx="64" cy="79"/>
            </a:xfrm>
            <a:custGeom>
              <a:avLst/>
              <a:gdLst/>
              <a:ahLst/>
              <a:cxnLst>
                <a:cxn ang="0">
                  <a:pos x="52" y="0"/>
                </a:cxn>
                <a:cxn ang="0">
                  <a:pos x="44" y="18"/>
                </a:cxn>
                <a:cxn ang="0">
                  <a:pos x="32" y="30"/>
                </a:cxn>
                <a:cxn ang="0">
                  <a:pos x="16" y="35"/>
                </a:cxn>
                <a:cxn ang="0">
                  <a:pos x="8" y="48"/>
                </a:cxn>
                <a:cxn ang="0">
                  <a:pos x="4" y="74"/>
                </a:cxn>
                <a:cxn ang="0">
                  <a:pos x="13" y="71"/>
                </a:cxn>
                <a:cxn ang="0">
                  <a:pos x="25" y="62"/>
                </a:cxn>
                <a:cxn ang="0">
                  <a:pos x="34" y="69"/>
                </a:cxn>
                <a:cxn ang="0">
                  <a:pos x="58" y="99"/>
                </a:cxn>
                <a:cxn ang="0">
                  <a:pos x="71" y="72"/>
                </a:cxn>
                <a:cxn ang="0">
                  <a:pos x="85" y="68"/>
                </a:cxn>
                <a:cxn ang="0">
                  <a:pos x="74" y="39"/>
                </a:cxn>
                <a:cxn ang="0">
                  <a:pos x="52" y="0"/>
                </a:cxn>
              </a:cxnLst>
              <a:pathLst>
                <a:path w="85" h="105">
                  <a:moveTo>
                    <a:pt x="52" y="0"/>
                  </a:moveTo>
                  <a:cubicBezTo>
                    <a:pt x="50" y="6"/>
                    <a:pt x="47" y="12"/>
                    <a:pt x="44" y="18"/>
                  </a:cubicBezTo>
                  <a:cubicBezTo>
                    <a:pt x="43" y="28"/>
                    <a:pt x="42" y="28"/>
                    <a:pt x="32" y="30"/>
                  </a:cubicBezTo>
                  <a:cubicBezTo>
                    <a:pt x="27" y="33"/>
                    <a:pt x="21" y="33"/>
                    <a:pt x="16" y="35"/>
                  </a:cubicBezTo>
                  <a:cubicBezTo>
                    <a:pt x="13" y="39"/>
                    <a:pt x="11" y="44"/>
                    <a:pt x="8" y="48"/>
                  </a:cubicBezTo>
                  <a:cubicBezTo>
                    <a:pt x="4" y="66"/>
                    <a:pt x="0" y="42"/>
                    <a:pt x="4" y="74"/>
                  </a:cubicBezTo>
                  <a:cubicBezTo>
                    <a:pt x="7" y="73"/>
                    <a:pt x="10" y="73"/>
                    <a:pt x="13" y="71"/>
                  </a:cubicBezTo>
                  <a:cubicBezTo>
                    <a:pt x="19" y="67"/>
                    <a:pt x="17" y="64"/>
                    <a:pt x="25" y="62"/>
                  </a:cubicBezTo>
                  <a:cubicBezTo>
                    <a:pt x="32" y="59"/>
                    <a:pt x="31" y="64"/>
                    <a:pt x="34" y="69"/>
                  </a:cubicBezTo>
                  <a:cubicBezTo>
                    <a:pt x="37" y="82"/>
                    <a:pt x="44" y="96"/>
                    <a:pt x="58" y="99"/>
                  </a:cubicBezTo>
                  <a:cubicBezTo>
                    <a:pt x="70" y="105"/>
                    <a:pt x="60" y="78"/>
                    <a:pt x="71" y="72"/>
                  </a:cubicBezTo>
                  <a:cubicBezTo>
                    <a:pt x="78" y="74"/>
                    <a:pt x="80" y="74"/>
                    <a:pt x="85" y="68"/>
                  </a:cubicBezTo>
                  <a:cubicBezTo>
                    <a:pt x="82" y="56"/>
                    <a:pt x="80" y="49"/>
                    <a:pt x="74" y="39"/>
                  </a:cubicBezTo>
                  <a:cubicBezTo>
                    <a:pt x="73" y="6"/>
                    <a:pt x="80" y="6"/>
                    <a:pt x="52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 w="12700">
              <a:noFill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2116" name="Freeform 66"/>
            <p:cNvSpPr/>
            <p:nvPr/>
          </p:nvSpPr>
          <p:spPr>
            <a:xfrm>
              <a:off x="4197" y="3193"/>
              <a:ext cx="29" cy="49"/>
            </a:xfrm>
            <a:custGeom>
              <a:avLst/>
              <a:gdLst/>
              <a:ahLst/>
              <a:cxnLst>
                <a:cxn ang="0">
                  <a:pos x="6" y="27"/>
                </a:cxn>
                <a:cxn ang="0">
                  <a:pos x="26" y="66"/>
                </a:cxn>
                <a:cxn ang="0">
                  <a:pos x="30" y="52"/>
                </a:cxn>
                <a:cxn ang="0">
                  <a:pos x="38" y="40"/>
                </a:cxn>
                <a:cxn ang="0">
                  <a:pos x="30" y="25"/>
                </a:cxn>
                <a:cxn ang="0">
                  <a:pos x="20" y="13"/>
                </a:cxn>
                <a:cxn ang="0">
                  <a:pos x="11" y="1"/>
                </a:cxn>
                <a:cxn ang="0">
                  <a:pos x="2" y="12"/>
                </a:cxn>
                <a:cxn ang="0">
                  <a:pos x="6" y="27"/>
                </a:cxn>
              </a:cxnLst>
              <a:pathLst>
                <a:path w="38" h="66">
                  <a:moveTo>
                    <a:pt x="6" y="27"/>
                  </a:moveTo>
                  <a:cubicBezTo>
                    <a:pt x="8" y="52"/>
                    <a:pt x="5" y="58"/>
                    <a:pt x="26" y="66"/>
                  </a:cubicBezTo>
                  <a:cubicBezTo>
                    <a:pt x="36" y="63"/>
                    <a:pt x="33" y="61"/>
                    <a:pt x="30" y="52"/>
                  </a:cubicBezTo>
                  <a:cubicBezTo>
                    <a:pt x="28" y="41"/>
                    <a:pt x="34" y="49"/>
                    <a:pt x="38" y="40"/>
                  </a:cubicBezTo>
                  <a:cubicBezTo>
                    <a:pt x="34" y="35"/>
                    <a:pt x="33" y="30"/>
                    <a:pt x="30" y="25"/>
                  </a:cubicBezTo>
                  <a:cubicBezTo>
                    <a:pt x="29" y="14"/>
                    <a:pt x="30" y="0"/>
                    <a:pt x="20" y="13"/>
                  </a:cubicBezTo>
                  <a:cubicBezTo>
                    <a:pt x="14" y="9"/>
                    <a:pt x="12" y="8"/>
                    <a:pt x="11" y="1"/>
                  </a:cubicBezTo>
                  <a:cubicBezTo>
                    <a:pt x="5" y="4"/>
                    <a:pt x="3" y="5"/>
                    <a:pt x="2" y="12"/>
                  </a:cubicBezTo>
                  <a:cubicBezTo>
                    <a:pt x="3" y="25"/>
                    <a:pt x="0" y="21"/>
                    <a:pt x="6" y="27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 w="12700">
              <a:noFill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2117" name="Freeform 67"/>
            <p:cNvSpPr/>
            <p:nvPr/>
          </p:nvSpPr>
          <p:spPr>
            <a:xfrm>
              <a:off x="4181" y="3275"/>
              <a:ext cx="18" cy="17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6" y="23"/>
                </a:cxn>
                <a:cxn ang="0">
                  <a:pos x="24" y="11"/>
                </a:cxn>
                <a:cxn ang="0">
                  <a:pos x="0" y="0"/>
                </a:cxn>
              </a:cxnLst>
              <a:pathLst>
                <a:path w="24" h="23">
                  <a:moveTo>
                    <a:pt x="0" y="0"/>
                  </a:moveTo>
                  <a:cubicBezTo>
                    <a:pt x="1" y="8"/>
                    <a:pt x="3" y="16"/>
                    <a:pt x="6" y="23"/>
                  </a:cubicBezTo>
                  <a:cubicBezTo>
                    <a:pt x="19" y="20"/>
                    <a:pt x="19" y="22"/>
                    <a:pt x="24" y="11"/>
                  </a:cubicBezTo>
                  <a:cubicBezTo>
                    <a:pt x="20" y="0"/>
                    <a:pt x="4" y="8"/>
                    <a:pt x="0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 w="12700">
              <a:noFill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2118" name="Freeform 68"/>
            <p:cNvSpPr/>
            <p:nvPr/>
          </p:nvSpPr>
          <p:spPr>
            <a:xfrm>
              <a:off x="4208" y="3265"/>
              <a:ext cx="45" cy="37"/>
            </a:xfrm>
            <a:custGeom>
              <a:avLst/>
              <a:gdLst/>
              <a:ahLst/>
              <a:cxnLst>
                <a:cxn ang="0">
                  <a:pos x="9" y="0"/>
                </a:cxn>
                <a:cxn ang="0">
                  <a:pos x="0" y="18"/>
                </a:cxn>
                <a:cxn ang="0">
                  <a:pos x="28" y="33"/>
                </a:cxn>
                <a:cxn ang="0">
                  <a:pos x="42" y="46"/>
                </a:cxn>
                <a:cxn ang="0">
                  <a:pos x="60" y="42"/>
                </a:cxn>
                <a:cxn ang="0">
                  <a:pos x="49" y="24"/>
                </a:cxn>
                <a:cxn ang="0">
                  <a:pos x="28" y="3"/>
                </a:cxn>
                <a:cxn ang="0">
                  <a:pos x="19" y="16"/>
                </a:cxn>
                <a:cxn ang="0">
                  <a:pos x="9" y="0"/>
                </a:cxn>
              </a:cxnLst>
              <a:pathLst>
                <a:path w="60" h="49">
                  <a:moveTo>
                    <a:pt x="9" y="0"/>
                  </a:moveTo>
                  <a:cubicBezTo>
                    <a:pt x="8" y="7"/>
                    <a:pt x="0" y="18"/>
                    <a:pt x="0" y="18"/>
                  </a:cubicBezTo>
                  <a:cubicBezTo>
                    <a:pt x="2" y="36"/>
                    <a:pt x="9" y="31"/>
                    <a:pt x="28" y="33"/>
                  </a:cubicBezTo>
                  <a:cubicBezTo>
                    <a:pt x="33" y="40"/>
                    <a:pt x="33" y="44"/>
                    <a:pt x="42" y="46"/>
                  </a:cubicBezTo>
                  <a:cubicBezTo>
                    <a:pt x="49" y="49"/>
                    <a:pt x="56" y="49"/>
                    <a:pt x="60" y="42"/>
                  </a:cubicBezTo>
                  <a:cubicBezTo>
                    <a:pt x="58" y="32"/>
                    <a:pt x="59" y="26"/>
                    <a:pt x="49" y="24"/>
                  </a:cubicBezTo>
                  <a:cubicBezTo>
                    <a:pt x="47" y="12"/>
                    <a:pt x="41" y="5"/>
                    <a:pt x="28" y="3"/>
                  </a:cubicBezTo>
                  <a:cubicBezTo>
                    <a:pt x="23" y="10"/>
                    <a:pt x="30" y="23"/>
                    <a:pt x="19" y="16"/>
                  </a:cubicBezTo>
                  <a:cubicBezTo>
                    <a:pt x="17" y="6"/>
                    <a:pt x="20" y="0"/>
                    <a:pt x="9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 w="12700">
              <a:noFill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2119" name="Freeform 69"/>
            <p:cNvSpPr/>
            <p:nvPr/>
          </p:nvSpPr>
          <p:spPr>
            <a:xfrm>
              <a:off x="4277" y="3335"/>
              <a:ext cx="24" cy="33"/>
            </a:xfrm>
            <a:custGeom>
              <a:avLst/>
              <a:gdLst/>
              <a:ahLst/>
              <a:cxnLst>
                <a:cxn ang="0">
                  <a:pos x="28" y="0"/>
                </a:cxn>
                <a:cxn ang="0">
                  <a:pos x="10" y="11"/>
                </a:cxn>
                <a:cxn ang="0">
                  <a:pos x="12" y="32"/>
                </a:cxn>
                <a:cxn ang="0">
                  <a:pos x="24" y="36"/>
                </a:cxn>
                <a:cxn ang="0">
                  <a:pos x="28" y="0"/>
                </a:cxn>
              </a:cxnLst>
              <a:pathLst>
                <a:path w="32" h="44">
                  <a:moveTo>
                    <a:pt x="28" y="0"/>
                  </a:moveTo>
                  <a:cubicBezTo>
                    <a:pt x="32" y="10"/>
                    <a:pt x="18" y="9"/>
                    <a:pt x="10" y="11"/>
                  </a:cubicBezTo>
                  <a:cubicBezTo>
                    <a:pt x="0" y="18"/>
                    <a:pt x="7" y="24"/>
                    <a:pt x="12" y="32"/>
                  </a:cubicBezTo>
                  <a:cubicBezTo>
                    <a:pt x="14" y="44"/>
                    <a:pt x="15" y="41"/>
                    <a:pt x="24" y="36"/>
                  </a:cubicBezTo>
                  <a:cubicBezTo>
                    <a:pt x="32" y="25"/>
                    <a:pt x="29" y="14"/>
                    <a:pt x="28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 w="12700">
              <a:noFill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2120" name="Freeform 70"/>
            <p:cNvSpPr/>
            <p:nvPr/>
          </p:nvSpPr>
          <p:spPr>
            <a:xfrm>
              <a:off x="4544" y="3293"/>
              <a:ext cx="46" cy="47"/>
            </a:xfrm>
            <a:custGeom>
              <a:avLst/>
              <a:gdLst/>
              <a:ahLst/>
              <a:cxnLst>
                <a:cxn ang="0">
                  <a:pos x="7" y="0"/>
                </a:cxn>
                <a:cxn ang="0">
                  <a:pos x="0" y="14"/>
                </a:cxn>
                <a:cxn ang="0">
                  <a:pos x="24" y="35"/>
                </a:cxn>
                <a:cxn ang="0">
                  <a:pos x="36" y="54"/>
                </a:cxn>
                <a:cxn ang="0">
                  <a:pos x="46" y="63"/>
                </a:cxn>
                <a:cxn ang="0">
                  <a:pos x="61" y="56"/>
                </a:cxn>
                <a:cxn ang="0">
                  <a:pos x="33" y="17"/>
                </a:cxn>
                <a:cxn ang="0">
                  <a:pos x="7" y="0"/>
                </a:cxn>
              </a:cxnLst>
              <a:pathLst>
                <a:path w="61" h="63">
                  <a:moveTo>
                    <a:pt x="7" y="0"/>
                  </a:moveTo>
                  <a:cubicBezTo>
                    <a:pt x="6" y="6"/>
                    <a:pt x="3" y="9"/>
                    <a:pt x="0" y="14"/>
                  </a:cubicBezTo>
                  <a:cubicBezTo>
                    <a:pt x="7" y="23"/>
                    <a:pt x="13" y="31"/>
                    <a:pt x="24" y="35"/>
                  </a:cubicBezTo>
                  <a:cubicBezTo>
                    <a:pt x="27" y="42"/>
                    <a:pt x="31" y="48"/>
                    <a:pt x="36" y="54"/>
                  </a:cubicBezTo>
                  <a:cubicBezTo>
                    <a:pt x="37" y="61"/>
                    <a:pt x="40" y="59"/>
                    <a:pt x="46" y="63"/>
                  </a:cubicBezTo>
                  <a:cubicBezTo>
                    <a:pt x="54" y="62"/>
                    <a:pt x="56" y="62"/>
                    <a:pt x="61" y="56"/>
                  </a:cubicBezTo>
                  <a:cubicBezTo>
                    <a:pt x="59" y="46"/>
                    <a:pt x="42" y="23"/>
                    <a:pt x="33" y="17"/>
                  </a:cubicBezTo>
                  <a:cubicBezTo>
                    <a:pt x="23" y="10"/>
                    <a:pt x="14" y="9"/>
                    <a:pt x="7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 w="12700">
              <a:noFill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2121" name="Freeform 71"/>
            <p:cNvSpPr/>
            <p:nvPr/>
          </p:nvSpPr>
          <p:spPr>
            <a:xfrm>
              <a:off x="4147" y="3352"/>
              <a:ext cx="46" cy="50"/>
            </a:xfrm>
            <a:custGeom>
              <a:avLst/>
              <a:gdLst/>
              <a:ahLst/>
              <a:cxnLst>
                <a:cxn ang="0">
                  <a:pos x="28" y="7"/>
                </a:cxn>
                <a:cxn ang="0">
                  <a:pos x="30" y="34"/>
                </a:cxn>
                <a:cxn ang="0">
                  <a:pos x="16" y="43"/>
                </a:cxn>
                <a:cxn ang="0">
                  <a:pos x="22" y="67"/>
                </a:cxn>
                <a:cxn ang="0">
                  <a:pos x="48" y="58"/>
                </a:cxn>
                <a:cxn ang="0">
                  <a:pos x="60" y="47"/>
                </a:cxn>
                <a:cxn ang="0">
                  <a:pos x="51" y="28"/>
                </a:cxn>
                <a:cxn ang="0">
                  <a:pos x="57" y="14"/>
                </a:cxn>
                <a:cxn ang="0">
                  <a:pos x="55" y="2"/>
                </a:cxn>
                <a:cxn ang="0">
                  <a:pos x="46" y="4"/>
                </a:cxn>
                <a:cxn ang="0">
                  <a:pos x="51" y="5"/>
                </a:cxn>
                <a:cxn ang="0">
                  <a:pos x="49" y="16"/>
                </a:cxn>
                <a:cxn ang="0">
                  <a:pos x="43" y="23"/>
                </a:cxn>
                <a:cxn ang="0">
                  <a:pos x="28" y="7"/>
                </a:cxn>
              </a:cxnLst>
              <a:pathLst>
                <a:path w="61" h="67">
                  <a:moveTo>
                    <a:pt x="28" y="7"/>
                  </a:moveTo>
                  <a:cubicBezTo>
                    <a:pt x="17" y="15"/>
                    <a:pt x="24" y="25"/>
                    <a:pt x="30" y="34"/>
                  </a:cubicBezTo>
                  <a:cubicBezTo>
                    <a:pt x="27" y="44"/>
                    <a:pt x="26" y="44"/>
                    <a:pt x="16" y="43"/>
                  </a:cubicBezTo>
                  <a:cubicBezTo>
                    <a:pt x="0" y="46"/>
                    <a:pt x="13" y="63"/>
                    <a:pt x="22" y="67"/>
                  </a:cubicBezTo>
                  <a:cubicBezTo>
                    <a:pt x="31" y="65"/>
                    <a:pt x="39" y="60"/>
                    <a:pt x="48" y="58"/>
                  </a:cubicBezTo>
                  <a:cubicBezTo>
                    <a:pt x="51" y="52"/>
                    <a:pt x="54" y="50"/>
                    <a:pt x="60" y="47"/>
                  </a:cubicBezTo>
                  <a:cubicBezTo>
                    <a:pt x="61" y="40"/>
                    <a:pt x="51" y="28"/>
                    <a:pt x="51" y="28"/>
                  </a:cubicBezTo>
                  <a:cubicBezTo>
                    <a:pt x="52" y="22"/>
                    <a:pt x="55" y="19"/>
                    <a:pt x="57" y="14"/>
                  </a:cubicBezTo>
                  <a:cubicBezTo>
                    <a:pt x="56" y="10"/>
                    <a:pt x="58" y="5"/>
                    <a:pt x="55" y="2"/>
                  </a:cubicBezTo>
                  <a:cubicBezTo>
                    <a:pt x="53" y="0"/>
                    <a:pt x="48" y="2"/>
                    <a:pt x="46" y="4"/>
                  </a:cubicBezTo>
                  <a:cubicBezTo>
                    <a:pt x="45" y="5"/>
                    <a:pt x="49" y="5"/>
                    <a:pt x="51" y="5"/>
                  </a:cubicBezTo>
                  <a:cubicBezTo>
                    <a:pt x="57" y="10"/>
                    <a:pt x="52" y="9"/>
                    <a:pt x="49" y="16"/>
                  </a:cubicBezTo>
                  <a:cubicBezTo>
                    <a:pt x="58" y="23"/>
                    <a:pt x="50" y="22"/>
                    <a:pt x="43" y="23"/>
                  </a:cubicBezTo>
                  <a:cubicBezTo>
                    <a:pt x="34" y="22"/>
                    <a:pt x="31" y="16"/>
                    <a:pt x="28" y="7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 w="12700">
              <a:noFill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2122" name="Freeform 72"/>
            <p:cNvSpPr/>
            <p:nvPr/>
          </p:nvSpPr>
          <p:spPr>
            <a:xfrm>
              <a:off x="4098" y="3371"/>
              <a:ext cx="32" cy="27"/>
            </a:xfrm>
            <a:custGeom>
              <a:avLst/>
              <a:gdLst/>
              <a:ahLst/>
              <a:cxnLst>
                <a:cxn ang="0">
                  <a:pos x="21" y="3"/>
                </a:cxn>
                <a:cxn ang="0">
                  <a:pos x="6" y="6"/>
                </a:cxn>
                <a:cxn ang="0">
                  <a:pos x="33" y="36"/>
                </a:cxn>
                <a:cxn ang="0">
                  <a:pos x="42" y="30"/>
                </a:cxn>
                <a:cxn ang="0">
                  <a:pos x="21" y="3"/>
                </a:cxn>
              </a:cxnLst>
              <a:pathLst>
                <a:path w="43" h="36">
                  <a:moveTo>
                    <a:pt x="21" y="3"/>
                  </a:moveTo>
                  <a:cubicBezTo>
                    <a:pt x="14" y="0"/>
                    <a:pt x="12" y="2"/>
                    <a:pt x="6" y="6"/>
                  </a:cubicBezTo>
                  <a:cubicBezTo>
                    <a:pt x="0" y="17"/>
                    <a:pt x="23" y="32"/>
                    <a:pt x="33" y="36"/>
                  </a:cubicBezTo>
                  <a:cubicBezTo>
                    <a:pt x="36" y="35"/>
                    <a:pt x="42" y="34"/>
                    <a:pt x="42" y="30"/>
                  </a:cubicBezTo>
                  <a:cubicBezTo>
                    <a:pt x="43" y="24"/>
                    <a:pt x="27" y="3"/>
                    <a:pt x="21" y="3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 w="12700">
              <a:noFill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2123" name="Freeform 73"/>
            <p:cNvSpPr/>
            <p:nvPr/>
          </p:nvSpPr>
          <p:spPr>
            <a:xfrm>
              <a:off x="4077" y="3342"/>
              <a:ext cx="24" cy="31"/>
            </a:xfrm>
            <a:custGeom>
              <a:avLst/>
              <a:gdLst/>
              <a:ahLst/>
              <a:cxnLst>
                <a:cxn ang="0">
                  <a:pos x="21" y="0"/>
                </a:cxn>
                <a:cxn ang="0">
                  <a:pos x="0" y="26"/>
                </a:cxn>
                <a:cxn ang="0">
                  <a:pos x="16" y="24"/>
                </a:cxn>
                <a:cxn ang="0">
                  <a:pos x="19" y="29"/>
                </a:cxn>
                <a:cxn ang="0">
                  <a:pos x="16" y="35"/>
                </a:cxn>
                <a:cxn ang="0">
                  <a:pos x="30" y="21"/>
                </a:cxn>
                <a:cxn ang="0">
                  <a:pos x="24" y="9"/>
                </a:cxn>
                <a:cxn ang="0">
                  <a:pos x="21" y="0"/>
                </a:cxn>
              </a:cxnLst>
              <a:pathLst>
                <a:path w="32" h="41">
                  <a:moveTo>
                    <a:pt x="21" y="0"/>
                  </a:moveTo>
                  <a:cubicBezTo>
                    <a:pt x="15" y="10"/>
                    <a:pt x="6" y="16"/>
                    <a:pt x="0" y="26"/>
                  </a:cubicBezTo>
                  <a:cubicBezTo>
                    <a:pt x="7" y="27"/>
                    <a:pt x="10" y="27"/>
                    <a:pt x="16" y="24"/>
                  </a:cubicBezTo>
                  <a:cubicBezTo>
                    <a:pt x="17" y="26"/>
                    <a:pt x="19" y="27"/>
                    <a:pt x="19" y="29"/>
                  </a:cubicBezTo>
                  <a:cubicBezTo>
                    <a:pt x="19" y="31"/>
                    <a:pt x="15" y="33"/>
                    <a:pt x="16" y="35"/>
                  </a:cubicBezTo>
                  <a:cubicBezTo>
                    <a:pt x="19" y="41"/>
                    <a:pt x="29" y="23"/>
                    <a:pt x="30" y="21"/>
                  </a:cubicBezTo>
                  <a:cubicBezTo>
                    <a:pt x="32" y="9"/>
                    <a:pt x="26" y="19"/>
                    <a:pt x="24" y="9"/>
                  </a:cubicBezTo>
                  <a:cubicBezTo>
                    <a:pt x="25" y="1"/>
                    <a:pt x="27" y="4"/>
                    <a:pt x="21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 w="12700">
              <a:noFill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2124" name="Freeform 74"/>
            <p:cNvSpPr/>
            <p:nvPr/>
          </p:nvSpPr>
          <p:spPr>
            <a:xfrm>
              <a:off x="4111" y="3353"/>
              <a:ext cx="34" cy="24"/>
            </a:xfrm>
            <a:custGeom>
              <a:avLst/>
              <a:gdLst/>
              <a:ahLst/>
              <a:cxnLst>
                <a:cxn ang="0">
                  <a:pos x="21" y="0"/>
                </a:cxn>
                <a:cxn ang="0">
                  <a:pos x="0" y="7"/>
                </a:cxn>
                <a:cxn ang="0">
                  <a:pos x="27" y="31"/>
                </a:cxn>
                <a:cxn ang="0">
                  <a:pos x="45" y="24"/>
                </a:cxn>
                <a:cxn ang="0">
                  <a:pos x="22" y="10"/>
                </a:cxn>
                <a:cxn ang="0">
                  <a:pos x="21" y="0"/>
                </a:cxn>
              </a:cxnLst>
              <a:pathLst>
                <a:path w="45" h="32">
                  <a:moveTo>
                    <a:pt x="21" y="0"/>
                  </a:moveTo>
                  <a:cubicBezTo>
                    <a:pt x="10" y="1"/>
                    <a:pt x="8" y="1"/>
                    <a:pt x="0" y="7"/>
                  </a:cubicBezTo>
                  <a:cubicBezTo>
                    <a:pt x="3" y="20"/>
                    <a:pt x="15" y="29"/>
                    <a:pt x="27" y="31"/>
                  </a:cubicBezTo>
                  <a:cubicBezTo>
                    <a:pt x="36" y="30"/>
                    <a:pt x="41" y="32"/>
                    <a:pt x="45" y="24"/>
                  </a:cubicBezTo>
                  <a:cubicBezTo>
                    <a:pt x="32" y="16"/>
                    <a:pt x="30" y="23"/>
                    <a:pt x="22" y="10"/>
                  </a:cubicBezTo>
                  <a:cubicBezTo>
                    <a:pt x="21" y="2"/>
                    <a:pt x="21" y="5"/>
                    <a:pt x="21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 w="12700">
              <a:noFill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2125" name="Freeform 75"/>
            <p:cNvSpPr/>
            <p:nvPr/>
          </p:nvSpPr>
          <p:spPr>
            <a:xfrm>
              <a:off x="4062" y="3021"/>
              <a:ext cx="27" cy="55"/>
            </a:xfrm>
            <a:custGeom>
              <a:avLst/>
              <a:gdLst/>
              <a:ahLst/>
              <a:cxnLst>
                <a:cxn ang="0">
                  <a:pos x="30" y="0"/>
                </a:cxn>
                <a:cxn ang="0">
                  <a:pos x="21" y="15"/>
                </a:cxn>
                <a:cxn ang="0">
                  <a:pos x="9" y="36"/>
                </a:cxn>
                <a:cxn ang="0">
                  <a:pos x="0" y="59"/>
                </a:cxn>
                <a:cxn ang="0">
                  <a:pos x="8" y="74"/>
                </a:cxn>
                <a:cxn ang="0">
                  <a:pos x="20" y="59"/>
                </a:cxn>
                <a:cxn ang="0">
                  <a:pos x="35" y="32"/>
                </a:cxn>
                <a:cxn ang="0">
                  <a:pos x="30" y="0"/>
                </a:cxn>
              </a:cxnLst>
              <a:pathLst>
                <a:path w="35" h="74">
                  <a:moveTo>
                    <a:pt x="30" y="0"/>
                  </a:moveTo>
                  <a:cubicBezTo>
                    <a:pt x="33" y="8"/>
                    <a:pt x="29" y="14"/>
                    <a:pt x="21" y="15"/>
                  </a:cubicBezTo>
                  <a:cubicBezTo>
                    <a:pt x="19" y="27"/>
                    <a:pt x="24" y="33"/>
                    <a:pt x="9" y="36"/>
                  </a:cubicBezTo>
                  <a:cubicBezTo>
                    <a:pt x="13" y="50"/>
                    <a:pt x="12" y="52"/>
                    <a:pt x="0" y="59"/>
                  </a:cubicBezTo>
                  <a:cubicBezTo>
                    <a:pt x="3" y="64"/>
                    <a:pt x="5" y="69"/>
                    <a:pt x="8" y="74"/>
                  </a:cubicBezTo>
                  <a:cubicBezTo>
                    <a:pt x="15" y="71"/>
                    <a:pt x="16" y="65"/>
                    <a:pt x="20" y="59"/>
                  </a:cubicBezTo>
                  <a:cubicBezTo>
                    <a:pt x="22" y="47"/>
                    <a:pt x="28" y="41"/>
                    <a:pt x="35" y="32"/>
                  </a:cubicBezTo>
                  <a:cubicBezTo>
                    <a:pt x="34" y="26"/>
                    <a:pt x="30" y="8"/>
                    <a:pt x="30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 w="12700">
              <a:noFill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2126" name="Freeform 76"/>
            <p:cNvSpPr/>
            <p:nvPr/>
          </p:nvSpPr>
          <p:spPr>
            <a:xfrm>
              <a:off x="4113" y="3012"/>
              <a:ext cx="19" cy="55"/>
            </a:xfrm>
            <a:custGeom>
              <a:avLst/>
              <a:gdLst/>
              <a:ahLst/>
              <a:cxnLst>
                <a:cxn ang="0">
                  <a:pos x="13" y="7"/>
                </a:cxn>
                <a:cxn ang="0">
                  <a:pos x="4" y="8"/>
                </a:cxn>
                <a:cxn ang="0">
                  <a:pos x="0" y="22"/>
                </a:cxn>
                <a:cxn ang="0">
                  <a:pos x="15" y="41"/>
                </a:cxn>
                <a:cxn ang="0">
                  <a:pos x="25" y="56"/>
                </a:cxn>
                <a:cxn ang="0">
                  <a:pos x="16" y="20"/>
                </a:cxn>
                <a:cxn ang="0">
                  <a:pos x="13" y="7"/>
                </a:cxn>
              </a:cxnLst>
              <a:pathLst>
                <a:path w="25" h="73">
                  <a:moveTo>
                    <a:pt x="13" y="7"/>
                  </a:moveTo>
                  <a:cubicBezTo>
                    <a:pt x="9" y="0"/>
                    <a:pt x="7" y="2"/>
                    <a:pt x="4" y="8"/>
                  </a:cubicBezTo>
                  <a:cubicBezTo>
                    <a:pt x="3" y="13"/>
                    <a:pt x="1" y="17"/>
                    <a:pt x="0" y="22"/>
                  </a:cubicBezTo>
                  <a:cubicBezTo>
                    <a:pt x="1" y="35"/>
                    <a:pt x="6" y="33"/>
                    <a:pt x="15" y="41"/>
                  </a:cubicBezTo>
                  <a:cubicBezTo>
                    <a:pt x="16" y="52"/>
                    <a:pt x="15" y="73"/>
                    <a:pt x="25" y="56"/>
                  </a:cubicBezTo>
                  <a:cubicBezTo>
                    <a:pt x="24" y="33"/>
                    <a:pt x="23" y="36"/>
                    <a:pt x="16" y="20"/>
                  </a:cubicBezTo>
                  <a:cubicBezTo>
                    <a:pt x="15" y="11"/>
                    <a:pt x="16" y="15"/>
                    <a:pt x="13" y="7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 w="12700">
              <a:noFill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2127" name="Freeform 77"/>
            <p:cNvSpPr/>
            <p:nvPr/>
          </p:nvSpPr>
          <p:spPr>
            <a:xfrm>
              <a:off x="4135" y="2995"/>
              <a:ext cx="10" cy="25"/>
            </a:xfrm>
            <a:custGeom>
              <a:avLst/>
              <a:gdLst/>
              <a:ahLst/>
              <a:cxnLst>
                <a:cxn ang="0">
                  <a:pos x="11" y="0"/>
                </a:cxn>
                <a:cxn ang="0">
                  <a:pos x="1" y="10"/>
                </a:cxn>
                <a:cxn ang="0">
                  <a:pos x="11" y="25"/>
                </a:cxn>
                <a:cxn ang="0">
                  <a:pos x="11" y="0"/>
                </a:cxn>
              </a:cxnLst>
              <a:pathLst>
                <a:path w="14" h="33">
                  <a:moveTo>
                    <a:pt x="11" y="0"/>
                  </a:moveTo>
                  <a:cubicBezTo>
                    <a:pt x="7" y="3"/>
                    <a:pt x="5" y="7"/>
                    <a:pt x="1" y="10"/>
                  </a:cubicBezTo>
                  <a:cubicBezTo>
                    <a:pt x="2" y="18"/>
                    <a:pt x="0" y="33"/>
                    <a:pt x="11" y="25"/>
                  </a:cubicBezTo>
                  <a:cubicBezTo>
                    <a:pt x="14" y="15"/>
                    <a:pt x="5" y="4"/>
                    <a:pt x="11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 w="12700">
              <a:noFill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2128" name="Freeform 78"/>
            <p:cNvSpPr/>
            <p:nvPr/>
          </p:nvSpPr>
          <p:spPr>
            <a:xfrm>
              <a:off x="4145" y="3007"/>
              <a:ext cx="21" cy="48"/>
            </a:xfrm>
            <a:custGeom>
              <a:avLst/>
              <a:gdLst/>
              <a:ahLst/>
              <a:cxnLst>
                <a:cxn ang="0">
                  <a:pos x="5" y="0"/>
                </a:cxn>
                <a:cxn ang="0">
                  <a:pos x="11" y="14"/>
                </a:cxn>
                <a:cxn ang="0">
                  <a:pos x="20" y="21"/>
                </a:cxn>
                <a:cxn ang="0">
                  <a:pos x="8" y="39"/>
                </a:cxn>
                <a:cxn ang="0">
                  <a:pos x="0" y="56"/>
                </a:cxn>
                <a:cxn ang="0">
                  <a:pos x="11" y="57"/>
                </a:cxn>
                <a:cxn ang="0">
                  <a:pos x="26" y="26"/>
                </a:cxn>
                <a:cxn ang="0">
                  <a:pos x="5" y="0"/>
                </a:cxn>
              </a:cxnLst>
              <a:pathLst>
                <a:path w="28" h="64">
                  <a:moveTo>
                    <a:pt x="5" y="0"/>
                  </a:moveTo>
                  <a:cubicBezTo>
                    <a:pt x="6" y="5"/>
                    <a:pt x="7" y="10"/>
                    <a:pt x="11" y="14"/>
                  </a:cubicBezTo>
                  <a:cubicBezTo>
                    <a:pt x="14" y="17"/>
                    <a:pt x="20" y="21"/>
                    <a:pt x="20" y="21"/>
                  </a:cubicBezTo>
                  <a:cubicBezTo>
                    <a:pt x="9" y="27"/>
                    <a:pt x="0" y="23"/>
                    <a:pt x="8" y="39"/>
                  </a:cubicBezTo>
                  <a:cubicBezTo>
                    <a:pt x="6" y="47"/>
                    <a:pt x="4" y="50"/>
                    <a:pt x="0" y="56"/>
                  </a:cubicBezTo>
                  <a:cubicBezTo>
                    <a:pt x="4" y="62"/>
                    <a:pt x="7" y="64"/>
                    <a:pt x="11" y="57"/>
                  </a:cubicBezTo>
                  <a:cubicBezTo>
                    <a:pt x="13" y="43"/>
                    <a:pt x="10" y="29"/>
                    <a:pt x="26" y="26"/>
                  </a:cubicBezTo>
                  <a:cubicBezTo>
                    <a:pt x="28" y="15"/>
                    <a:pt x="14" y="4"/>
                    <a:pt x="5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 w="12700">
              <a:noFill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2129" name="Freeform 79"/>
            <p:cNvSpPr/>
            <p:nvPr/>
          </p:nvSpPr>
          <p:spPr>
            <a:xfrm>
              <a:off x="3876" y="3076"/>
              <a:ext cx="12" cy="27"/>
            </a:xfrm>
            <a:custGeom>
              <a:avLst/>
              <a:gdLst/>
              <a:ahLst/>
              <a:cxnLst>
                <a:cxn ang="0">
                  <a:pos x="14" y="3"/>
                </a:cxn>
                <a:cxn ang="0">
                  <a:pos x="0" y="7"/>
                </a:cxn>
                <a:cxn ang="0">
                  <a:pos x="8" y="22"/>
                </a:cxn>
                <a:cxn ang="0">
                  <a:pos x="14" y="3"/>
                </a:cxn>
              </a:cxnLst>
              <a:pathLst>
                <a:path w="16" h="36">
                  <a:moveTo>
                    <a:pt x="14" y="3"/>
                  </a:moveTo>
                  <a:cubicBezTo>
                    <a:pt x="7" y="0"/>
                    <a:pt x="4" y="1"/>
                    <a:pt x="0" y="7"/>
                  </a:cubicBezTo>
                  <a:cubicBezTo>
                    <a:pt x="3" y="14"/>
                    <a:pt x="2" y="17"/>
                    <a:pt x="8" y="22"/>
                  </a:cubicBezTo>
                  <a:cubicBezTo>
                    <a:pt x="16" y="36"/>
                    <a:pt x="11" y="7"/>
                    <a:pt x="14" y="3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 w="12700">
              <a:noFill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2130" name="Freeform 80"/>
            <p:cNvSpPr/>
            <p:nvPr/>
          </p:nvSpPr>
          <p:spPr>
            <a:xfrm>
              <a:off x="3866" y="3053"/>
              <a:ext cx="10" cy="15"/>
            </a:xfrm>
            <a:custGeom>
              <a:avLst/>
              <a:gdLst/>
              <a:ahLst/>
              <a:cxnLst>
                <a:cxn ang="0">
                  <a:pos x="10" y="5"/>
                </a:cxn>
                <a:cxn ang="0">
                  <a:pos x="1" y="11"/>
                </a:cxn>
                <a:cxn ang="0">
                  <a:pos x="9" y="20"/>
                </a:cxn>
                <a:cxn ang="0">
                  <a:pos x="10" y="5"/>
                </a:cxn>
              </a:cxnLst>
              <a:pathLst>
                <a:path w="13" h="20">
                  <a:moveTo>
                    <a:pt x="10" y="5"/>
                  </a:moveTo>
                  <a:cubicBezTo>
                    <a:pt x="3" y="0"/>
                    <a:pt x="5" y="6"/>
                    <a:pt x="1" y="11"/>
                  </a:cubicBezTo>
                  <a:cubicBezTo>
                    <a:pt x="0" y="18"/>
                    <a:pt x="2" y="19"/>
                    <a:pt x="9" y="20"/>
                  </a:cubicBezTo>
                  <a:cubicBezTo>
                    <a:pt x="13" y="14"/>
                    <a:pt x="10" y="12"/>
                    <a:pt x="10" y="5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 w="12700">
              <a:noFill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2131" name="Freeform 81"/>
            <p:cNvSpPr/>
            <p:nvPr/>
          </p:nvSpPr>
          <p:spPr>
            <a:xfrm>
              <a:off x="3862" y="3035"/>
              <a:ext cx="12" cy="14"/>
            </a:xfrm>
            <a:custGeom>
              <a:avLst/>
              <a:gdLst/>
              <a:ahLst/>
              <a:cxnLst>
                <a:cxn ang="0">
                  <a:pos x="10" y="5"/>
                </a:cxn>
                <a:cxn ang="0">
                  <a:pos x="0" y="10"/>
                </a:cxn>
                <a:cxn ang="0">
                  <a:pos x="12" y="19"/>
                </a:cxn>
                <a:cxn ang="0">
                  <a:pos x="10" y="5"/>
                </a:cxn>
              </a:cxnLst>
              <a:pathLst>
                <a:path w="16" h="19">
                  <a:moveTo>
                    <a:pt x="10" y="5"/>
                  </a:moveTo>
                  <a:cubicBezTo>
                    <a:pt x="4" y="0"/>
                    <a:pt x="1" y="3"/>
                    <a:pt x="0" y="10"/>
                  </a:cubicBezTo>
                  <a:cubicBezTo>
                    <a:pt x="4" y="15"/>
                    <a:pt x="7" y="16"/>
                    <a:pt x="12" y="19"/>
                  </a:cubicBezTo>
                  <a:cubicBezTo>
                    <a:pt x="16" y="12"/>
                    <a:pt x="14" y="12"/>
                    <a:pt x="10" y="5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 w="12700">
              <a:noFill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2132" name="Freeform 82"/>
            <p:cNvSpPr/>
            <p:nvPr/>
          </p:nvSpPr>
          <p:spPr>
            <a:xfrm>
              <a:off x="3850" y="2995"/>
              <a:ext cx="11" cy="19"/>
            </a:xfrm>
            <a:custGeom>
              <a:avLst/>
              <a:gdLst/>
              <a:ahLst/>
              <a:cxnLst>
                <a:cxn ang="0">
                  <a:pos x="6" y="0"/>
                </a:cxn>
                <a:cxn ang="0">
                  <a:pos x="0" y="13"/>
                </a:cxn>
                <a:cxn ang="0">
                  <a:pos x="12" y="24"/>
                </a:cxn>
                <a:cxn ang="0">
                  <a:pos x="6" y="0"/>
                </a:cxn>
              </a:cxnLst>
              <a:pathLst>
                <a:path w="14" h="25">
                  <a:moveTo>
                    <a:pt x="6" y="0"/>
                  </a:moveTo>
                  <a:cubicBezTo>
                    <a:pt x="4" y="5"/>
                    <a:pt x="3" y="9"/>
                    <a:pt x="0" y="13"/>
                  </a:cubicBezTo>
                  <a:cubicBezTo>
                    <a:pt x="1" y="24"/>
                    <a:pt x="1" y="25"/>
                    <a:pt x="12" y="24"/>
                  </a:cubicBezTo>
                  <a:cubicBezTo>
                    <a:pt x="14" y="12"/>
                    <a:pt x="8" y="10"/>
                    <a:pt x="6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 w="12700">
              <a:noFill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2133" name="Freeform 83"/>
            <p:cNvSpPr/>
            <p:nvPr/>
          </p:nvSpPr>
          <p:spPr>
            <a:xfrm>
              <a:off x="3852" y="3020"/>
              <a:ext cx="16" cy="13"/>
            </a:xfrm>
            <a:custGeom>
              <a:avLst/>
              <a:gdLst/>
              <a:ahLst/>
              <a:cxnLst>
                <a:cxn ang="0">
                  <a:pos x="13" y="0"/>
                </a:cxn>
                <a:cxn ang="0">
                  <a:pos x="19" y="18"/>
                </a:cxn>
                <a:cxn ang="0">
                  <a:pos x="14" y="6"/>
                </a:cxn>
                <a:cxn ang="0">
                  <a:pos x="13" y="0"/>
                </a:cxn>
              </a:cxnLst>
              <a:pathLst>
                <a:path w="22" h="18">
                  <a:moveTo>
                    <a:pt x="13" y="0"/>
                  </a:moveTo>
                  <a:cubicBezTo>
                    <a:pt x="0" y="8"/>
                    <a:pt x="9" y="12"/>
                    <a:pt x="19" y="18"/>
                  </a:cubicBezTo>
                  <a:cubicBezTo>
                    <a:pt x="20" y="11"/>
                    <a:pt x="22" y="8"/>
                    <a:pt x="14" y="6"/>
                  </a:cubicBezTo>
                  <a:cubicBezTo>
                    <a:pt x="9" y="3"/>
                    <a:pt x="9" y="5"/>
                    <a:pt x="13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 w="12700">
              <a:noFill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2134" name="Freeform 84"/>
            <p:cNvSpPr/>
            <p:nvPr/>
          </p:nvSpPr>
          <p:spPr>
            <a:xfrm>
              <a:off x="4688" y="3643"/>
              <a:ext cx="45" cy="60"/>
            </a:xfrm>
            <a:custGeom>
              <a:avLst/>
              <a:gdLst/>
              <a:ahLst/>
              <a:cxnLst>
                <a:cxn ang="0">
                  <a:pos x="10" y="7"/>
                </a:cxn>
                <a:cxn ang="0">
                  <a:pos x="3" y="18"/>
                </a:cxn>
                <a:cxn ang="0">
                  <a:pos x="15" y="39"/>
                </a:cxn>
                <a:cxn ang="0">
                  <a:pos x="27" y="54"/>
                </a:cxn>
                <a:cxn ang="0">
                  <a:pos x="40" y="63"/>
                </a:cxn>
                <a:cxn ang="0">
                  <a:pos x="51" y="81"/>
                </a:cxn>
                <a:cxn ang="0">
                  <a:pos x="52" y="57"/>
                </a:cxn>
                <a:cxn ang="0">
                  <a:pos x="43" y="37"/>
                </a:cxn>
                <a:cxn ang="0">
                  <a:pos x="25" y="18"/>
                </a:cxn>
                <a:cxn ang="0">
                  <a:pos x="10" y="7"/>
                </a:cxn>
              </a:cxnLst>
              <a:pathLst>
                <a:path w="60" h="81">
                  <a:moveTo>
                    <a:pt x="10" y="7"/>
                  </a:moveTo>
                  <a:cubicBezTo>
                    <a:pt x="0" y="0"/>
                    <a:pt x="0" y="9"/>
                    <a:pt x="3" y="18"/>
                  </a:cubicBezTo>
                  <a:cubicBezTo>
                    <a:pt x="5" y="25"/>
                    <a:pt x="12" y="32"/>
                    <a:pt x="15" y="39"/>
                  </a:cubicBezTo>
                  <a:cubicBezTo>
                    <a:pt x="16" y="51"/>
                    <a:pt x="17" y="51"/>
                    <a:pt x="27" y="54"/>
                  </a:cubicBezTo>
                  <a:cubicBezTo>
                    <a:pt x="31" y="57"/>
                    <a:pt x="36" y="60"/>
                    <a:pt x="40" y="63"/>
                  </a:cubicBezTo>
                  <a:cubicBezTo>
                    <a:pt x="43" y="70"/>
                    <a:pt x="45" y="77"/>
                    <a:pt x="51" y="81"/>
                  </a:cubicBezTo>
                  <a:cubicBezTo>
                    <a:pt x="60" y="75"/>
                    <a:pt x="56" y="66"/>
                    <a:pt x="52" y="57"/>
                  </a:cubicBezTo>
                  <a:cubicBezTo>
                    <a:pt x="51" y="49"/>
                    <a:pt x="50" y="41"/>
                    <a:pt x="43" y="37"/>
                  </a:cubicBezTo>
                  <a:cubicBezTo>
                    <a:pt x="37" y="30"/>
                    <a:pt x="33" y="23"/>
                    <a:pt x="25" y="18"/>
                  </a:cubicBezTo>
                  <a:cubicBezTo>
                    <a:pt x="20" y="12"/>
                    <a:pt x="17" y="9"/>
                    <a:pt x="10" y="7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 w="12700">
              <a:noFill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2135" name="Freeform 85"/>
            <p:cNvSpPr/>
            <p:nvPr/>
          </p:nvSpPr>
          <p:spPr>
            <a:xfrm>
              <a:off x="4919" y="3594"/>
              <a:ext cx="53" cy="46"/>
            </a:xfrm>
            <a:custGeom>
              <a:avLst/>
              <a:gdLst/>
              <a:ahLst/>
              <a:cxnLst>
                <a:cxn ang="0">
                  <a:pos x="28" y="23"/>
                </a:cxn>
                <a:cxn ang="0">
                  <a:pos x="13" y="32"/>
                </a:cxn>
                <a:cxn ang="0">
                  <a:pos x="1" y="44"/>
                </a:cxn>
                <a:cxn ang="0">
                  <a:pos x="13" y="59"/>
                </a:cxn>
                <a:cxn ang="0">
                  <a:pos x="28" y="44"/>
                </a:cxn>
                <a:cxn ang="0">
                  <a:pos x="40" y="23"/>
                </a:cxn>
                <a:cxn ang="0">
                  <a:pos x="55" y="0"/>
                </a:cxn>
                <a:cxn ang="0">
                  <a:pos x="71" y="11"/>
                </a:cxn>
                <a:cxn ang="0">
                  <a:pos x="35" y="23"/>
                </a:cxn>
                <a:cxn ang="0">
                  <a:pos x="28" y="23"/>
                </a:cxn>
              </a:cxnLst>
              <a:pathLst>
                <a:path w="71" h="61">
                  <a:moveTo>
                    <a:pt x="28" y="23"/>
                  </a:moveTo>
                  <a:cubicBezTo>
                    <a:pt x="25" y="33"/>
                    <a:pt x="25" y="33"/>
                    <a:pt x="13" y="32"/>
                  </a:cubicBezTo>
                  <a:cubicBezTo>
                    <a:pt x="2" y="33"/>
                    <a:pt x="3" y="34"/>
                    <a:pt x="1" y="44"/>
                  </a:cubicBezTo>
                  <a:cubicBezTo>
                    <a:pt x="2" y="60"/>
                    <a:pt x="0" y="61"/>
                    <a:pt x="13" y="59"/>
                  </a:cubicBezTo>
                  <a:cubicBezTo>
                    <a:pt x="19" y="54"/>
                    <a:pt x="21" y="48"/>
                    <a:pt x="28" y="44"/>
                  </a:cubicBezTo>
                  <a:cubicBezTo>
                    <a:pt x="30" y="33"/>
                    <a:pt x="28" y="25"/>
                    <a:pt x="40" y="23"/>
                  </a:cubicBezTo>
                  <a:cubicBezTo>
                    <a:pt x="42" y="12"/>
                    <a:pt x="44" y="4"/>
                    <a:pt x="55" y="0"/>
                  </a:cubicBezTo>
                  <a:cubicBezTo>
                    <a:pt x="65" y="2"/>
                    <a:pt x="69" y="1"/>
                    <a:pt x="71" y="11"/>
                  </a:cubicBezTo>
                  <a:cubicBezTo>
                    <a:pt x="63" y="22"/>
                    <a:pt x="48" y="21"/>
                    <a:pt x="35" y="23"/>
                  </a:cubicBezTo>
                  <a:cubicBezTo>
                    <a:pt x="30" y="27"/>
                    <a:pt x="32" y="27"/>
                    <a:pt x="28" y="23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 w="12700">
              <a:noFill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2136" name="Freeform 86"/>
            <p:cNvSpPr/>
            <p:nvPr/>
          </p:nvSpPr>
          <p:spPr>
            <a:xfrm>
              <a:off x="4759" y="3569"/>
              <a:ext cx="17" cy="23"/>
            </a:xfrm>
            <a:custGeom>
              <a:avLst/>
              <a:gdLst/>
              <a:ahLst/>
              <a:cxnLst>
                <a:cxn ang="0">
                  <a:pos x="9" y="0"/>
                </a:cxn>
                <a:cxn ang="0">
                  <a:pos x="0" y="14"/>
                </a:cxn>
                <a:cxn ang="0">
                  <a:pos x="12" y="30"/>
                </a:cxn>
                <a:cxn ang="0">
                  <a:pos x="9" y="0"/>
                </a:cxn>
              </a:cxnLst>
              <a:pathLst>
                <a:path w="23" h="30">
                  <a:moveTo>
                    <a:pt x="9" y="0"/>
                  </a:moveTo>
                  <a:cubicBezTo>
                    <a:pt x="8" y="7"/>
                    <a:pt x="3" y="8"/>
                    <a:pt x="0" y="14"/>
                  </a:cubicBezTo>
                  <a:cubicBezTo>
                    <a:pt x="3" y="21"/>
                    <a:pt x="8" y="24"/>
                    <a:pt x="12" y="30"/>
                  </a:cubicBezTo>
                  <a:cubicBezTo>
                    <a:pt x="23" y="15"/>
                    <a:pt x="4" y="9"/>
                    <a:pt x="9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 w="12700">
              <a:noFill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2137" name="Freeform 87"/>
            <p:cNvSpPr/>
            <p:nvPr/>
          </p:nvSpPr>
          <p:spPr>
            <a:xfrm>
              <a:off x="4751" y="3547"/>
              <a:ext cx="20" cy="17"/>
            </a:xfrm>
            <a:custGeom>
              <a:avLst/>
              <a:gdLst/>
              <a:ahLst/>
              <a:cxnLst>
                <a:cxn ang="0">
                  <a:pos x="19" y="0"/>
                </a:cxn>
                <a:cxn ang="0">
                  <a:pos x="0" y="14"/>
                </a:cxn>
                <a:cxn ang="0">
                  <a:pos x="21" y="20"/>
                </a:cxn>
                <a:cxn ang="0">
                  <a:pos x="19" y="0"/>
                </a:cxn>
              </a:cxnLst>
              <a:pathLst>
                <a:path w="26" h="23">
                  <a:moveTo>
                    <a:pt x="19" y="0"/>
                  </a:moveTo>
                  <a:cubicBezTo>
                    <a:pt x="17" y="12"/>
                    <a:pt x="10" y="11"/>
                    <a:pt x="0" y="14"/>
                  </a:cubicBezTo>
                  <a:cubicBezTo>
                    <a:pt x="5" y="23"/>
                    <a:pt x="11" y="22"/>
                    <a:pt x="21" y="20"/>
                  </a:cubicBezTo>
                  <a:cubicBezTo>
                    <a:pt x="26" y="12"/>
                    <a:pt x="23" y="7"/>
                    <a:pt x="19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 w="12700">
              <a:noFill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2138" name="Freeform 88"/>
            <p:cNvSpPr/>
            <p:nvPr/>
          </p:nvSpPr>
          <p:spPr>
            <a:xfrm>
              <a:off x="4598" y="3353"/>
              <a:ext cx="24" cy="33"/>
            </a:xfrm>
            <a:custGeom>
              <a:avLst/>
              <a:gdLst/>
              <a:ahLst/>
              <a:cxnLst>
                <a:cxn ang="0">
                  <a:pos x="28" y="0"/>
                </a:cxn>
                <a:cxn ang="0">
                  <a:pos x="10" y="11"/>
                </a:cxn>
                <a:cxn ang="0">
                  <a:pos x="12" y="32"/>
                </a:cxn>
                <a:cxn ang="0">
                  <a:pos x="24" y="36"/>
                </a:cxn>
                <a:cxn ang="0">
                  <a:pos x="28" y="0"/>
                </a:cxn>
              </a:cxnLst>
              <a:pathLst>
                <a:path w="32" h="44">
                  <a:moveTo>
                    <a:pt x="28" y="0"/>
                  </a:moveTo>
                  <a:cubicBezTo>
                    <a:pt x="32" y="10"/>
                    <a:pt x="18" y="9"/>
                    <a:pt x="10" y="11"/>
                  </a:cubicBezTo>
                  <a:cubicBezTo>
                    <a:pt x="0" y="18"/>
                    <a:pt x="7" y="24"/>
                    <a:pt x="12" y="32"/>
                  </a:cubicBezTo>
                  <a:cubicBezTo>
                    <a:pt x="14" y="44"/>
                    <a:pt x="15" y="41"/>
                    <a:pt x="24" y="36"/>
                  </a:cubicBezTo>
                  <a:cubicBezTo>
                    <a:pt x="32" y="25"/>
                    <a:pt x="29" y="14"/>
                    <a:pt x="28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 w="12700">
              <a:noFill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2139" name="Freeform 89"/>
            <p:cNvSpPr/>
            <p:nvPr/>
          </p:nvSpPr>
          <p:spPr>
            <a:xfrm>
              <a:off x="4632" y="3396"/>
              <a:ext cx="26" cy="33"/>
            </a:xfrm>
            <a:custGeom>
              <a:avLst/>
              <a:gdLst/>
              <a:ahLst/>
              <a:cxnLst>
                <a:cxn ang="0">
                  <a:pos x="30" y="0"/>
                </a:cxn>
                <a:cxn ang="0">
                  <a:pos x="10" y="9"/>
                </a:cxn>
                <a:cxn ang="0">
                  <a:pos x="14" y="32"/>
                </a:cxn>
                <a:cxn ang="0">
                  <a:pos x="26" y="36"/>
                </a:cxn>
                <a:cxn ang="0">
                  <a:pos x="30" y="0"/>
                </a:cxn>
              </a:cxnLst>
              <a:pathLst>
                <a:path w="34" h="44">
                  <a:moveTo>
                    <a:pt x="30" y="0"/>
                  </a:moveTo>
                  <a:cubicBezTo>
                    <a:pt x="34" y="10"/>
                    <a:pt x="18" y="7"/>
                    <a:pt x="10" y="9"/>
                  </a:cubicBezTo>
                  <a:cubicBezTo>
                    <a:pt x="0" y="16"/>
                    <a:pt x="9" y="24"/>
                    <a:pt x="14" y="32"/>
                  </a:cubicBezTo>
                  <a:cubicBezTo>
                    <a:pt x="16" y="44"/>
                    <a:pt x="17" y="41"/>
                    <a:pt x="26" y="36"/>
                  </a:cubicBezTo>
                  <a:cubicBezTo>
                    <a:pt x="34" y="25"/>
                    <a:pt x="31" y="14"/>
                    <a:pt x="30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 w="12700">
              <a:noFill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2140" name="Freeform 90"/>
            <p:cNvSpPr/>
            <p:nvPr/>
          </p:nvSpPr>
          <p:spPr>
            <a:xfrm>
              <a:off x="4659" y="3459"/>
              <a:ext cx="28" cy="28"/>
            </a:xfrm>
            <a:custGeom>
              <a:avLst/>
              <a:gdLst/>
              <a:ahLst/>
              <a:cxnLst>
                <a:cxn ang="0">
                  <a:pos x="34" y="2"/>
                </a:cxn>
                <a:cxn ang="0">
                  <a:pos x="10" y="2"/>
                </a:cxn>
                <a:cxn ang="0">
                  <a:pos x="14" y="25"/>
                </a:cxn>
                <a:cxn ang="0">
                  <a:pos x="26" y="29"/>
                </a:cxn>
                <a:cxn ang="0">
                  <a:pos x="34" y="2"/>
                </a:cxn>
              </a:cxnLst>
              <a:pathLst>
                <a:path w="38" h="37">
                  <a:moveTo>
                    <a:pt x="34" y="2"/>
                  </a:moveTo>
                  <a:cubicBezTo>
                    <a:pt x="38" y="12"/>
                    <a:pt x="18" y="0"/>
                    <a:pt x="10" y="2"/>
                  </a:cubicBezTo>
                  <a:cubicBezTo>
                    <a:pt x="0" y="9"/>
                    <a:pt x="9" y="17"/>
                    <a:pt x="14" y="25"/>
                  </a:cubicBezTo>
                  <a:cubicBezTo>
                    <a:pt x="16" y="37"/>
                    <a:pt x="17" y="34"/>
                    <a:pt x="26" y="29"/>
                  </a:cubicBezTo>
                  <a:cubicBezTo>
                    <a:pt x="34" y="18"/>
                    <a:pt x="35" y="16"/>
                    <a:pt x="34" y="2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 w="12700">
              <a:noFill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2141" name="Freeform 91"/>
            <p:cNvSpPr/>
            <p:nvPr/>
          </p:nvSpPr>
          <p:spPr>
            <a:xfrm>
              <a:off x="4693" y="3449"/>
              <a:ext cx="28" cy="26"/>
            </a:xfrm>
            <a:custGeom>
              <a:avLst/>
              <a:gdLst/>
              <a:ahLst/>
              <a:cxnLst>
                <a:cxn ang="0">
                  <a:pos x="34" y="2"/>
                </a:cxn>
                <a:cxn ang="0">
                  <a:pos x="10" y="2"/>
                </a:cxn>
                <a:cxn ang="0">
                  <a:pos x="16" y="22"/>
                </a:cxn>
                <a:cxn ang="0">
                  <a:pos x="27" y="22"/>
                </a:cxn>
                <a:cxn ang="0">
                  <a:pos x="34" y="2"/>
                </a:cxn>
              </a:cxnLst>
              <a:pathLst>
                <a:path w="38" h="34">
                  <a:moveTo>
                    <a:pt x="34" y="2"/>
                  </a:moveTo>
                  <a:cubicBezTo>
                    <a:pt x="38" y="12"/>
                    <a:pt x="18" y="0"/>
                    <a:pt x="10" y="2"/>
                  </a:cubicBezTo>
                  <a:cubicBezTo>
                    <a:pt x="0" y="9"/>
                    <a:pt x="11" y="14"/>
                    <a:pt x="16" y="22"/>
                  </a:cubicBezTo>
                  <a:cubicBezTo>
                    <a:pt x="18" y="34"/>
                    <a:pt x="18" y="27"/>
                    <a:pt x="27" y="22"/>
                  </a:cubicBezTo>
                  <a:cubicBezTo>
                    <a:pt x="35" y="11"/>
                    <a:pt x="35" y="16"/>
                    <a:pt x="34" y="2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 w="12700">
              <a:noFill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2142" name="Freeform 92"/>
            <p:cNvSpPr/>
            <p:nvPr/>
          </p:nvSpPr>
          <p:spPr>
            <a:xfrm>
              <a:off x="4683" y="3413"/>
              <a:ext cx="26" cy="20"/>
            </a:xfrm>
            <a:custGeom>
              <a:avLst/>
              <a:gdLst/>
              <a:ahLst/>
              <a:cxnLst>
                <a:cxn ang="0">
                  <a:pos x="31" y="1"/>
                </a:cxn>
                <a:cxn ang="0">
                  <a:pos x="10" y="2"/>
                </a:cxn>
                <a:cxn ang="0">
                  <a:pos x="13" y="15"/>
                </a:cxn>
                <a:cxn ang="0">
                  <a:pos x="25" y="19"/>
                </a:cxn>
                <a:cxn ang="0">
                  <a:pos x="31" y="1"/>
                </a:cxn>
              </a:cxnLst>
              <a:pathLst>
                <a:path w="35" h="27">
                  <a:moveTo>
                    <a:pt x="31" y="1"/>
                  </a:moveTo>
                  <a:cubicBezTo>
                    <a:pt x="35" y="11"/>
                    <a:pt x="18" y="0"/>
                    <a:pt x="10" y="2"/>
                  </a:cubicBezTo>
                  <a:cubicBezTo>
                    <a:pt x="0" y="9"/>
                    <a:pt x="8" y="7"/>
                    <a:pt x="13" y="15"/>
                  </a:cubicBezTo>
                  <a:cubicBezTo>
                    <a:pt x="15" y="27"/>
                    <a:pt x="16" y="24"/>
                    <a:pt x="25" y="19"/>
                  </a:cubicBezTo>
                  <a:cubicBezTo>
                    <a:pt x="33" y="8"/>
                    <a:pt x="32" y="15"/>
                    <a:pt x="31" y="1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 w="12700">
              <a:noFill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2143" name="Freeform 93"/>
            <p:cNvSpPr/>
            <p:nvPr/>
          </p:nvSpPr>
          <p:spPr>
            <a:xfrm>
              <a:off x="4657" y="3388"/>
              <a:ext cx="26" cy="35"/>
            </a:xfrm>
            <a:custGeom>
              <a:avLst/>
              <a:gdLst/>
              <a:ahLst/>
              <a:cxnLst>
                <a:cxn ang="0">
                  <a:pos x="28" y="16"/>
                </a:cxn>
                <a:cxn ang="0">
                  <a:pos x="19" y="2"/>
                </a:cxn>
                <a:cxn ang="0">
                  <a:pos x="10" y="25"/>
                </a:cxn>
                <a:cxn ang="0">
                  <a:pos x="19" y="35"/>
                </a:cxn>
                <a:cxn ang="0">
                  <a:pos x="27" y="29"/>
                </a:cxn>
                <a:cxn ang="0">
                  <a:pos x="28" y="16"/>
                </a:cxn>
              </a:cxnLst>
              <a:pathLst>
                <a:path w="35" h="47">
                  <a:moveTo>
                    <a:pt x="28" y="16"/>
                  </a:moveTo>
                  <a:cubicBezTo>
                    <a:pt x="27" y="13"/>
                    <a:pt x="22" y="0"/>
                    <a:pt x="19" y="2"/>
                  </a:cubicBezTo>
                  <a:cubicBezTo>
                    <a:pt x="16" y="4"/>
                    <a:pt x="10" y="20"/>
                    <a:pt x="10" y="25"/>
                  </a:cubicBezTo>
                  <a:cubicBezTo>
                    <a:pt x="0" y="32"/>
                    <a:pt x="14" y="27"/>
                    <a:pt x="19" y="35"/>
                  </a:cubicBezTo>
                  <a:cubicBezTo>
                    <a:pt x="21" y="47"/>
                    <a:pt x="18" y="34"/>
                    <a:pt x="27" y="29"/>
                  </a:cubicBezTo>
                  <a:cubicBezTo>
                    <a:pt x="35" y="18"/>
                    <a:pt x="29" y="30"/>
                    <a:pt x="28" y="16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 w="12700">
              <a:noFill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2144" name="Freeform 94"/>
            <p:cNvSpPr/>
            <p:nvPr/>
          </p:nvSpPr>
          <p:spPr>
            <a:xfrm>
              <a:off x="4625" y="3372"/>
              <a:ext cx="24" cy="26"/>
            </a:xfrm>
            <a:custGeom>
              <a:avLst/>
              <a:gdLst/>
              <a:ahLst/>
              <a:cxnLst>
                <a:cxn ang="0">
                  <a:pos x="22" y="10"/>
                </a:cxn>
                <a:cxn ang="0">
                  <a:pos x="10" y="2"/>
                </a:cxn>
                <a:cxn ang="0">
                  <a:pos x="12" y="23"/>
                </a:cxn>
                <a:cxn ang="0">
                  <a:pos x="24" y="27"/>
                </a:cxn>
                <a:cxn ang="0">
                  <a:pos x="22" y="10"/>
                </a:cxn>
              </a:cxnLst>
              <a:pathLst>
                <a:path w="32" h="35">
                  <a:moveTo>
                    <a:pt x="22" y="10"/>
                  </a:moveTo>
                  <a:cubicBezTo>
                    <a:pt x="26" y="20"/>
                    <a:pt x="18" y="0"/>
                    <a:pt x="10" y="2"/>
                  </a:cubicBezTo>
                  <a:cubicBezTo>
                    <a:pt x="0" y="9"/>
                    <a:pt x="7" y="15"/>
                    <a:pt x="12" y="23"/>
                  </a:cubicBezTo>
                  <a:cubicBezTo>
                    <a:pt x="14" y="35"/>
                    <a:pt x="15" y="32"/>
                    <a:pt x="24" y="27"/>
                  </a:cubicBezTo>
                  <a:cubicBezTo>
                    <a:pt x="32" y="16"/>
                    <a:pt x="23" y="24"/>
                    <a:pt x="22" y="1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 w="12700">
              <a:noFill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2145" name="Freeform 95"/>
            <p:cNvSpPr/>
            <p:nvPr/>
          </p:nvSpPr>
          <p:spPr>
            <a:xfrm>
              <a:off x="4665" y="3425"/>
              <a:ext cx="24" cy="26"/>
            </a:xfrm>
            <a:custGeom>
              <a:avLst/>
              <a:gdLst/>
              <a:ahLst/>
              <a:cxnLst>
                <a:cxn ang="0">
                  <a:pos x="22" y="10"/>
                </a:cxn>
                <a:cxn ang="0">
                  <a:pos x="10" y="2"/>
                </a:cxn>
                <a:cxn ang="0">
                  <a:pos x="12" y="23"/>
                </a:cxn>
                <a:cxn ang="0">
                  <a:pos x="24" y="27"/>
                </a:cxn>
                <a:cxn ang="0">
                  <a:pos x="22" y="10"/>
                </a:cxn>
              </a:cxnLst>
              <a:pathLst>
                <a:path w="32" h="35">
                  <a:moveTo>
                    <a:pt x="22" y="10"/>
                  </a:moveTo>
                  <a:cubicBezTo>
                    <a:pt x="26" y="20"/>
                    <a:pt x="18" y="0"/>
                    <a:pt x="10" y="2"/>
                  </a:cubicBezTo>
                  <a:cubicBezTo>
                    <a:pt x="0" y="9"/>
                    <a:pt x="7" y="15"/>
                    <a:pt x="12" y="23"/>
                  </a:cubicBezTo>
                  <a:cubicBezTo>
                    <a:pt x="14" y="35"/>
                    <a:pt x="15" y="32"/>
                    <a:pt x="24" y="27"/>
                  </a:cubicBezTo>
                  <a:cubicBezTo>
                    <a:pt x="32" y="16"/>
                    <a:pt x="23" y="24"/>
                    <a:pt x="22" y="1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 w="12700">
              <a:noFill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2146" name="Freeform 96"/>
            <p:cNvSpPr/>
            <p:nvPr/>
          </p:nvSpPr>
          <p:spPr>
            <a:xfrm>
              <a:off x="3055" y="2051"/>
              <a:ext cx="141" cy="108"/>
            </a:xfrm>
            <a:custGeom>
              <a:avLst/>
              <a:gdLst/>
              <a:ahLst/>
              <a:cxnLst>
                <a:cxn ang="0">
                  <a:pos x="171" y="4"/>
                </a:cxn>
                <a:cxn ang="0">
                  <a:pos x="185" y="4"/>
                </a:cxn>
                <a:cxn ang="0">
                  <a:pos x="189" y="16"/>
                </a:cxn>
                <a:cxn ang="0">
                  <a:pos x="187" y="24"/>
                </a:cxn>
                <a:cxn ang="0">
                  <a:pos x="131" y="44"/>
                </a:cxn>
                <a:cxn ang="0">
                  <a:pos x="109" y="58"/>
                </a:cxn>
                <a:cxn ang="0">
                  <a:pos x="97" y="62"/>
                </a:cxn>
                <a:cxn ang="0">
                  <a:pos x="71" y="82"/>
                </a:cxn>
                <a:cxn ang="0">
                  <a:pos x="75" y="92"/>
                </a:cxn>
                <a:cxn ang="0">
                  <a:pos x="83" y="116"/>
                </a:cxn>
                <a:cxn ang="0">
                  <a:pos x="107" y="126"/>
                </a:cxn>
                <a:cxn ang="0">
                  <a:pos x="93" y="140"/>
                </a:cxn>
                <a:cxn ang="0">
                  <a:pos x="83" y="130"/>
                </a:cxn>
                <a:cxn ang="0">
                  <a:pos x="71" y="134"/>
                </a:cxn>
                <a:cxn ang="0">
                  <a:pos x="21" y="122"/>
                </a:cxn>
                <a:cxn ang="0">
                  <a:pos x="19" y="106"/>
                </a:cxn>
                <a:cxn ang="0">
                  <a:pos x="47" y="90"/>
                </a:cxn>
                <a:cxn ang="0">
                  <a:pos x="51" y="76"/>
                </a:cxn>
                <a:cxn ang="0">
                  <a:pos x="47" y="64"/>
                </a:cxn>
                <a:cxn ang="0">
                  <a:pos x="73" y="46"/>
                </a:cxn>
                <a:cxn ang="0">
                  <a:pos x="97" y="36"/>
                </a:cxn>
                <a:cxn ang="0">
                  <a:pos x="113" y="24"/>
                </a:cxn>
                <a:cxn ang="0">
                  <a:pos x="171" y="4"/>
                </a:cxn>
              </a:cxnLst>
              <a:pathLst>
                <a:path w="189" h="144">
                  <a:moveTo>
                    <a:pt x="171" y="4"/>
                  </a:moveTo>
                  <a:cubicBezTo>
                    <a:pt x="174" y="3"/>
                    <a:pt x="182" y="0"/>
                    <a:pt x="185" y="4"/>
                  </a:cubicBezTo>
                  <a:cubicBezTo>
                    <a:pt x="187" y="7"/>
                    <a:pt x="189" y="16"/>
                    <a:pt x="189" y="16"/>
                  </a:cubicBezTo>
                  <a:cubicBezTo>
                    <a:pt x="188" y="19"/>
                    <a:pt x="189" y="22"/>
                    <a:pt x="187" y="24"/>
                  </a:cubicBezTo>
                  <a:cubicBezTo>
                    <a:pt x="175" y="34"/>
                    <a:pt x="146" y="34"/>
                    <a:pt x="131" y="44"/>
                  </a:cubicBezTo>
                  <a:cubicBezTo>
                    <a:pt x="125" y="53"/>
                    <a:pt x="120" y="54"/>
                    <a:pt x="109" y="58"/>
                  </a:cubicBezTo>
                  <a:cubicBezTo>
                    <a:pt x="105" y="59"/>
                    <a:pt x="97" y="62"/>
                    <a:pt x="97" y="62"/>
                  </a:cubicBezTo>
                  <a:cubicBezTo>
                    <a:pt x="88" y="76"/>
                    <a:pt x="83" y="74"/>
                    <a:pt x="71" y="82"/>
                  </a:cubicBezTo>
                  <a:cubicBezTo>
                    <a:pt x="66" y="98"/>
                    <a:pt x="70" y="78"/>
                    <a:pt x="75" y="92"/>
                  </a:cubicBezTo>
                  <a:cubicBezTo>
                    <a:pt x="81" y="108"/>
                    <a:pt x="71" y="108"/>
                    <a:pt x="83" y="116"/>
                  </a:cubicBezTo>
                  <a:cubicBezTo>
                    <a:pt x="90" y="121"/>
                    <a:pt x="107" y="126"/>
                    <a:pt x="107" y="126"/>
                  </a:cubicBezTo>
                  <a:cubicBezTo>
                    <a:pt x="105" y="139"/>
                    <a:pt x="106" y="144"/>
                    <a:pt x="93" y="140"/>
                  </a:cubicBezTo>
                  <a:cubicBezTo>
                    <a:pt x="91" y="137"/>
                    <a:pt x="87" y="130"/>
                    <a:pt x="83" y="130"/>
                  </a:cubicBezTo>
                  <a:cubicBezTo>
                    <a:pt x="79" y="130"/>
                    <a:pt x="71" y="134"/>
                    <a:pt x="71" y="134"/>
                  </a:cubicBezTo>
                  <a:cubicBezTo>
                    <a:pt x="52" y="129"/>
                    <a:pt x="42" y="124"/>
                    <a:pt x="21" y="122"/>
                  </a:cubicBezTo>
                  <a:cubicBezTo>
                    <a:pt x="14" y="115"/>
                    <a:pt x="0" y="102"/>
                    <a:pt x="19" y="106"/>
                  </a:cubicBezTo>
                  <a:cubicBezTo>
                    <a:pt x="29" y="91"/>
                    <a:pt x="26" y="93"/>
                    <a:pt x="47" y="90"/>
                  </a:cubicBezTo>
                  <a:cubicBezTo>
                    <a:pt x="55" y="84"/>
                    <a:pt x="54" y="88"/>
                    <a:pt x="51" y="76"/>
                  </a:cubicBezTo>
                  <a:cubicBezTo>
                    <a:pt x="50" y="72"/>
                    <a:pt x="47" y="64"/>
                    <a:pt x="47" y="64"/>
                  </a:cubicBezTo>
                  <a:cubicBezTo>
                    <a:pt x="50" y="41"/>
                    <a:pt x="50" y="43"/>
                    <a:pt x="73" y="46"/>
                  </a:cubicBezTo>
                  <a:cubicBezTo>
                    <a:pt x="82" y="45"/>
                    <a:pt x="97" y="36"/>
                    <a:pt x="97" y="36"/>
                  </a:cubicBezTo>
                  <a:cubicBezTo>
                    <a:pt x="102" y="29"/>
                    <a:pt x="105" y="27"/>
                    <a:pt x="113" y="24"/>
                  </a:cubicBezTo>
                  <a:cubicBezTo>
                    <a:pt x="134" y="27"/>
                    <a:pt x="161" y="25"/>
                    <a:pt x="171" y="4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 w="12700">
              <a:noFill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2147" name="Freeform 97"/>
            <p:cNvSpPr/>
            <p:nvPr/>
          </p:nvSpPr>
          <p:spPr>
            <a:xfrm>
              <a:off x="3139" y="2155"/>
              <a:ext cx="40" cy="12"/>
            </a:xfrm>
            <a:custGeom>
              <a:avLst/>
              <a:gdLst/>
              <a:ahLst/>
              <a:cxnLst>
                <a:cxn ang="0">
                  <a:pos x="24" y="0"/>
                </a:cxn>
                <a:cxn ang="0">
                  <a:pos x="12" y="2"/>
                </a:cxn>
                <a:cxn ang="0">
                  <a:pos x="32" y="16"/>
                </a:cxn>
                <a:cxn ang="0">
                  <a:pos x="44" y="14"/>
                </a:cxn>
                <a:cxn ang="0">
                  <a:pos x="24" y="0"/>
                </a:cxn>
              </a:cxnLst>
              <a:pathLst>
                <a:path w="53" h="17">
                  <a:moveTo>
                    <a:pt x="24" y="0"/>
                  </a:moveTo>
                  <a:cubicBezTo>
                    <a:pt x="20" y="1"/>
                    <a:pt x="16" y="0"/>
                    <a:pt x="12" y="2"/>
                  </a:cubicBezTo>
                  <a:cubicBezTo>
                    <a:pt x="0" y="9"/>
                    <a:pt x="30" y="15"/>
                    <a:pt x="32" y="16"/>
                  </a:cubicBezTo>
                  <a:cubicBezTo>
                    <a:pt x="36" y="15"/>
                    <a:pt x="41" y="17"/>
                    <a:pt x="44" y="14"/>
                  </a:cubicBezTo>
                  <a:cubicBezTo>
                    <a:pt x="53" y="3"/>
                    <a:pt x="30" y="0"/>
                    <a:pt x="24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 w="12700">
              <a:noFill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2148" name="Freeform 98"/>
            <p:cNvSpPr/>
            <p:nvPr/>
          </p:nvSpPr>
          <p:spPr>
            <a:xfrm>
              <a:off x="3344" y="1999"/>
              <a:ext cx="42" cy="28"/>
            </a:xfrm>
            <a:custGeom>
              <a:avLst/>
              <a:gdLst/>
              <a:ahLst/>
              <a:cxnLst>
                <a:cxn ang="0">
                  <a:pos x="57" y="4"/>
                </a:cxn>
                <a:cxn ang="0">
                  <a:pos x="25" y="24"/>
                </a:cxn>
                <a:cxn ang="0">
                  <a:pos x="11" y="34"/>
                </a:cxn>
                <a:cxn ang="0">
                  <a:pos x="9" y="4"/>
                </a:cxn>
                <a:cxn ang="0">
                  <a:pos x="21" y="0"/>
                </a:cxn>
                <a:cxn ang="0">
                  <a:pos x="57" y="4"/>
                </a:cxn>
              </a:cxnLst>
              <a:pathLst>
                <a:path w="57" h="37">
                  <a:moveTo>
                    <a:pt x="57" y="4"/>
                  </a:moveTo>
                  <a:cubicBezTo>
                    <a:pt x="53" y="16"/>
                    <a:pt x="35" y="17"/>
                    <a:pt x="25" y="24"/>
                  </a:cubicBezTo>
                  <a:cubicBezTo>
                    <a:pt x="22" y="34"/>
                    <a:pt x="22" y="37"/>
                    <a:pt x="11" y="34"/>
                  </a:cubicBezTo>
                  <a:cubicBezTo>
                    <a:pt x="6" y="27"/>
                    <a:pt x="0" y="10"/>
                    <a:pt x="9" y="4"/>
                  </a:cubicBezTo>
                  <a:cubicBezTo>
                    <a:pt x="12" y="2"/>
                    <a:pt x="21" y="0"/>
                    <a:pt x="21" y="0"/>
                  </a:cubicBezTo>
                  <a:cubicBezTo>
                    <a:pt x="33" y="2"/>
                    <a:pt x="45" y="4"/>
                    <a:pt x="57" y="4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 w="12700">
              <a:noFill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2149" name="Freeform 99"/>
            <p:cNvSpPr/>
            <p:nvPr/>
          </p:nvSpPr>
          <p:spPr>
            <a:xfrm>
              <a:off x="3374" y="2012"/>
              <a:ext cx="50" cy="20"/>
            </a:xfrm>
            <a:custGeom>
              <a:avLst/>
              <a:gdLst/>
              <a:ahLst/>
              <a:cxnLst>
                <a:cxn ang="0">
                  <a:pos x="29" y="0"/>
                </a:cxn>
                <a:cxn ang="0">
                  <a:pos x="11" y="6"/>
                </a:cxn>
                <a:cxn ang="0">
                  <a:pos x="57" y="26"/>
                </a:cxn>
                <a:cxn ang="0">
                  <a:pos x="63" y="24"/>
                </a:cxn>
                <a:cxn ang="0">
                  <a:pos x="29" y="0"/>
                </a:cxn>
              </a:cxnLst>
              <a:pathLst>
                <a:path w="68" h="26">
                  <a:moveTo>
                    <a:pt x="29" y="0"/>
                  </a:moveTo>
                  <a:cubicBezTo>
                    <a:pt x="23" y="2"/>
                    <a:pt x="11" y="6"/>
                    <a:pt x="11" y="6"/>
                  </a:cubicBezTo>
                  <a:cubicBezTo>
                    <a:pt x="0" y="23"/>
                    <a:pt x="47" y="24"/>
                    <a:pt x="57" y="26"/>
                  </a:cubicBezTo>
                  <a:cubicBezTo>
                    <a:pt x="59" y="25"/>
                    <a:pt x="62" y="26"/>
                    <a:pt x="63" y="24"/>
                  </a:cubicBezTo>
                  <a:cubicBezTo>
                    <a:pt x="68" y="3"/>
                    <a:pt x="42" y="3"/>
                    <a:pt x="29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 w="12700">
              <a:noFill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2150" name="Freeform 100"/>
            <p:cNvSpPr/>
            <p:nvPr/>
          </p:nvSpPr>
          <p:spPr>
            <a:xfrm>
              <a:off x="3428" y="2015"/>
              <a:ext cx="50" cy="32"/>
            </a:xfrm>
            <a:custGeom>
              <a:avLst/>
              <a:gdLst/>
              <a:ahLst/>
              <a:cxnLst>
                <a:cxn ang="0">
                  <a:pos x="50" y="9"/>
                </a:cxn>
                <a:cxn ang="0">
                  <a:pos x="26" y="9"/>
                </a:cxn>
                <a:cxn ang="0">
                  <a:pos x="10" y="9"/>
                </a:cxn>
                <a:cxn ang="0">
                  <a:pos x="8" y="35"/>
                </a:cxn>
                <a:cxn ang="0">
                  <a:pos x="32" y="43"/>
                </a:cxn>
                <a:cxn ang="0">
                  <a:pos x="62" y="27"/>
                </a:cxn>
                <a:cxn ang="0">
                  <a:pos x="50" y="9"/>
                </a:cxn>
              </a:cxnLst>
              <a:pathLst>
                <a:path w="66" h="43">
                  <a:moveTo>
                    <a:pt x="50" y="9"/>
                  </a:moveTo>
                  <a:cubicBezTo>
                    <a:pt x="40" y="16"/>
                    <a:pt x="36" y="16"/>
                    <a:pt x="26" y="9"/>
                  </a:cubicBezTo>
                  <a:cubicBezTo>
                    <a:pt x="20" y="0"/>
                    <a:pt x="18" y="4"/>
                    <a:pt x="10" y="9"/>
                  </a:cubicBezTo>
                  <a:cubicBezTo>
                    <a:pt x="4" y="17"/>
                    <a:pt x="0" y="21"/>
                    <a:pt x="8" y="35"/>
                  </a:cubicBezTo>
                  <a:cubicBezTo>
                    <a:pt x="12" y="42"/>
                    <a:pt x="32" y="43"/>
                    <a:pt x="32" y="43"/>
                  </a:cubicBezTo>
                  <a:cubicBezTo>
                    <a:pt x="41" y="40"/>
                    <a:pt x="54" y="33"/>
                    <a:pt x="62" y="27"/>
                  </a:cubicBezTo>
                  <a:cubicBezTo>
                    <a:pt x="66" y="15"/>
                    <a:pt x="61" y="15"/>
                    <a:pt x="50" y="9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 w="12700">
              <a:noFill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2151" name="Freeform 101"/>
            <p:cNvSpPr/>
            <p:nvPr/>
          </p:nvSpPr>
          <p:spPr>
            <a:xfrm>
              <a:off x="3777" y="2042"/>
              <a:ext cx="88" cy="31"/>
            </a:xfrm>
            <a:custGeom>
              <a:avLst/>
              <a:gdLst/>
              <a:ahLst/>
              <a:cxnLst>
                <a:cxn ang="0">
                  <a:pos x="14" y="0"/>
                </a:cxn>
                <a:cxn ang="0">
                  <a:pos x="8" y="16"/>
                </a:cxn>
                <a:cxn ang="0">
                  <a:pos x="50" y="30"/>
                </a:cxn>
                <a:cxn ang="0">
                  <a:pos x="76" y="36"/>
                </a:cxn>
                <a:cxn ang="0">
                  <a:pos x="112" y="22"/>
                </a:cxn>
                <a:cxn ang="0">
                  <a:pos x="78" y="4"/>
                </a:cxn>
                <a:cxn ang="0">
                  <a:pos x="14" y="0"/>
                </a:cxn>
              </a:cxnLst>
              <a:pathLst>
                <a:path w="117" h="41">
                  <a:moveTo>
                    <a:pt x="14" y="0"/>
                  </a:moveTo>
                  <a:cubicBezTo>
                    <a:pt x="8" y="4"/>
                    <a:pt x="0" y="9"/>
                    <a:pt x="8" y="16"/>
                  </a:cubicBezTo>
                  <a:cubicBezTo>
                    <a:pt x="21" y="27"/>
                    <a:pt x="34" y="28"/>
                    <a:pt x="50" y="30"/>
                  </a:cubicBezTo>
                  <a:cubicBezTo>
                    <a:pt x="66" y="41"/>
                    <a:pt x="57" y="39"/>
                    <a:pt x="76" y="36"/>
                  </a:cubicBezTo>
                  <a:cubicBezTo>
                    <a:pt x="88" y="32"/>
                    <a:pt x="101" y="29"/>
                    <a:pt x="112" y="22"/>
                  </a:cubicBezTo>
                  <a:cubicBezTo>
                    <a:pt x="117" y="6"/>
                    <a:pt x="87" y="5"/>
                    <a:pt x="78" y="4"/>
                  </a:cubicBezTo>
                  <a:cubicBezTo>
                    <a:pt x="17" y="6"/>
                    <a:pt x="34" y="20"/>
                    <a:pt x="14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 w="12700">
              <a:noFill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2152" name="Freeform 102"/>
            <p:cNvSpPr/>
            <p:nvPr/>
          </p:nvSpPr>
          <p:spPr>
            <a:xfrm>
              <a:off x="3867" y="2041"/>
              <a:ext cx="46" cy="24"/>
            </a:xfrm>
            <a:custGeom>
              <a:avLst/>
              <a:gdLst/>
              <a:ahLst/>
              <a:cxnLst>
                <a:cxn ang="0">
                  <a:pos x="32" y="4"/>
                </a:cxn>
                <a:cxn ang="0">
                  <a:pos x="62" y="10"/>
                </a:cxn>
                <a:cxn ang="0">
                  <a:pos x="30" y="32"/>
                </a:cxn>
                <a:cxn ang="0">
                  <a:pos x="6" y="22"/>
                </a:cxn>
                <a:cxn ang="0">
                  <a:pos x="32" y="4"/>
                </a:cxn>
              </a:cxnLst>
              <a:pathLst>
                <a:path w="62" h="32">
                  <a:moveTo>
                    <a:pt x="32" y="4"/>
                  </a:moveTo>
                  <a:cubicBezTo>
                    <a:pt x="44" y="0"/>
                    <a:pt x="53" y="1"/>
                    <a:pt x="62" y="10"/>
                  </a:cubicBezTo>
                  <a:cubicBezTo>
                    <a:pt x="59" y="23"/>
                    <a:pt x="42" y="28"/>
                    <a:pt x="30" y="32"/>
                  </a:cubicBezTo>
                  <a:cubicBezTo>
                    <a:pt x="15" y="22"/>
                    <a:pt x="23" y="25"/>
                    <a:pt x="6" y="22"/>
                  </a:cubicBezTo>
                  <a:cubicBezTo>
                    <a:pt x="0" y="4"/>
                    <a:pt x="14" y="8"/>
                    <a:pt x="32" y="4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 w="12700">
              <a:noFill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2153" name="Freeform 103"/>
            <p:cNvSpPr/>
            <p:nvPr/>
          </p:nvSpPr>
          <p:spPr>
            <a:xfrm>
              <a:off x="3846" y="2070"/>
              <a:ext cx="37" cy="17"/>
            </a:xfrm>
            <a:custGeom>
              <a:avLst/>
              <a:gdLst/>
              <a:ahLst/>
              <a:cxnLst>
                <a:cxn ang="0">
                  <a:pos x="20" y="1"/>
                </a:cxn>
                <a:cxn ang="0">
                  <a:pos x="6" y="5"/>
                </a:cxn>
                <a:cxn ang="0">
                  <a:pos x="38" y="23"/>
                </a:cxn>
                <a:cxn ang="0">
                  <a:pos x="20" y="1"/>
                </a:cxn>
              </a:cxnLst>
              <a:pathLst>
                <a:path w="49" h="23">
                  <a:moveTo>
                    <a:pt x="20" y="1"/>
                  </a:moveTo>
                  <a:cubicBezTo>
                    <a:pt x="15" y="2"/>
                    <a:pt x="8" y="0"/>
                    <a:pt x="6" y="5"/>
                  </a:cubicBezTo>
                  <a:cubicBezTo>
                    <a:pt x="0" y="19"/>
                    <a:pt x="32" y="21"/>
                    <a:pt x="38" y="23"/>
                  </a:cubicBezTo>
                  <a:cubicBezTo>
                    <a:pt x="49" y="6"/>
                    <a:pt x="35" y="3"/>
                    <a:pt x="20" y="1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 w="12700">
              <a:noFill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2154" name="Freeform 104"/>
            <p:cNvSpPr/>
            <p:nvPr/>
          </p:nvSpPr>
          <p:spPr>
            <a:xfrm>
              <a:off x="4098" y="2294"/>
              <a:ext cx="76" cy="114"/>
            </a:xfrm>
            <a:custGeom>
              <a:avLst/>
              <a:gdLst/>
              <a:ahLst/>
              <a:cxnLst>
                <a:cxn ang="0">
                  <a:pos x="6" y="0"/>
                </a:cxn>
                <a:cxn ang="0">
                  <a:pos x="0" y="18"/>
                </a:cxn>
                <a:cxn ang="0">
                  <a:pos x="14" y="42"/>
                </a:cxn>
                <a:cxn ang="0">
                  <a:pos x="32" y="72"/>
                </a:cxn>
                <a:cxn ang="0">
                  <a:pos x="36" y="104"/>
                </a:cxn>
                <a:cxn ang="0">
                  <a:pos x="80" y="152"/>
                </a:cxn>
                <a:cxn ang="0">
                  <a:pos x="86" y="124"/>
                </a:cxn>
                <a:cxn ang="0">
                  <a:pos x="74" y="102"/>
                </a:cxn>
                <a:cxn ang="0">
                  <a:pos x="62" y="92"/>
                </a:cxn>
                <a:cxn ang="0">
                  <a:pos x="52" y="74"/>
                </a:cxn>
                <a:cxn ang="0">
                  <a:pos x="42" y="44"/>
                </a:cxn>
                <a:cxn ang="0">
                  <a:pos x="4" y="12"/>
                </a:cxn>
                <a:cxn ang="0">
                  <a:pos x="6" y="0"/>
                </a:cxn>
              </a:cxnLst>
              <a:pathLst>
                <a:path w="102" h="152">
                  <a:moveTo>
                    <a:pt x="6" y="0"/>
                  </a:moveTo>
                  <a:cubicBezTo>
                    <a:pt x="4" y="6"/>
                    <a:pt x="0" y="18"/>
                    <a:pt x="0" y="18"/>
                  </a:cubicBezTo>
                  <a:cubicBezTo>
                    <a:pt x="3" y="26"/>
                    <a:pt x="9" y="35"/>
                    <a:pt x="14" y="42"/>
                  </a:cubicBezTo>
                  <a:cubicBezTo>
                    <a:pt x="17" y="58"/>
                    <a:pt x="16" y="69"/>
                    <a:pt x="32" y="72"/>
                  </a:cubicBezTo>
                  <a:cubicBezTo>
                    <a:pt x="44" y="80"/>
                    <a:pt x="40" y="91"/>
                    <a:pt x="36" y="104"/>
                  </a:cubicBezTo>
                  <a:cubicBezTo>
                    <a:pt x="57" y="118"/>
                    <a:pt x="60" y="139"/>
                    <a:pt x="80" y="152"/>
                  </a:cubicBezTo>
                  <a:cubicBezTo>
                    <a:pt x="95" y="148"/>
                    <a:pt x="102" y="135"/>
                    <a:pt x="86" y="124"/>
                  </a:cubicBezTo>
                  <a:cubicBezTo>
                    <a:pt x="72" y="129"/>
                    <a:pt x="78" y="110"/>
                    <a:pt x="74" y="102"/>
                  </a:cubicBezTo>
                  <a:cubicBezTo>
                    <a:pt x="72" y="98"/>
                    <a:pt x="65" y="94"/>
                    <a:pt x="62" y="92"/>
                  </a:cubicBezTo>
                  <a:cubicBezTo>
                    <a:pt x="59" y="82"/>
                    <a:pt x="65" y="65"/>
                    <a:pt x="52" y="74"/>
                  </a:cubicBezTo>
                  <a:cubicBezTo>
                    <a:pt x="46" y="65"/>
                    <a:pt x="47" y="54"/>
                    <a:pt x="42" y="44"/>
                  </a:cubicBezTo>
                  <a:cubicBezTo>
                    <a:pt x="36" y="32"/>
                    <a:pt x="16" y="18"/>
                    <a:pt x="4" y="12"/>
                  </a:cubicBezTo>
                  <a:lnTo>
                    <a:pt x="6" y="0"/>
                  </a:ln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 w="12700">
              <a:noFill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2155" name="Freeform 105"/>
            <p:cNvSpPr/>
            <p:nvPr/>
          </p:nvSpPr>
          <p:spPr>
            <a:xfrm>
              <a:off x="4159" y="2412"/>
              <a:ext cx="55" cy="78"/>
            </a:xfrm>
            <a:custGeom>
              <a:avLst/>
              <a:gdLst/>
              <a:ahLst/>
              <a:cxnLst>
                <a:cxn ang="0">
                  <a:pos x="64" y="22"/>
                </a:cxn>
                <a:cxn ang="0">
                  <a:pos x="74" y="40"/>
                </a:cxn>
                <a:cxn ang="0">
                  <a:pos x="30" y="84"/>
                </a:cxn>
                <a:cxn ang="0">
                  <a:pos x="32" y="100"/>
                </a:cxn>
                <a:cxn ang="0">
                  <a:pos x="20" y="94"/>
                </a:cxn>
                <a:cxn ang="0">
                  <a:pos x="6" y="84"/>
                </a:cxn>
                <a:cxn ang="0">
                  <a:pos x="0" y="82"/>
                </a:cxn>
                <a:cxn ang="0">
                  <a:pos x="10" y="58"/>
                </a:cxn>
                <a:cxn ang="0">
                  <a:pos x="12" y="52"/>
                </a:cxn>
                <a:cxn ang="0">
                  <a:pos x="2" y="24"/>
                </a:cxn>
                <a:cxn ang="0">
                  <a:pos x="4" y="14"/>
                </a:cxn>
                <a:cxn ang="0">
                  <a:pos x="26" y="22"/>
                </a:cxn>
                <a:cxn ang="0">
                  <a:pos x="36" y="36"/>
                </a:cxn>
                <a:cxn ang="0">
                  <a:pos x="64" y="22"/>
                </a:cxn>
              </a:cxnLst>
              <a:pathLst>
                <a:path w="74" h="103">
                  <a:moveTo>
                    <a:pt x="64" y="22"/>
                  </a:moveTo>
                  <a:cubicBezTo>
                    <a:pt x="73" y="36"/>
                    <a:pt x="70" y="29"/>
                    <a:pt x="74" y="40"/>
                  </a:cubicBezTo>
                  <a:cubicBezTo>
                    <a:pt x="70" y="77"/>
                    <a:pt x="68" y="81"/>
                    <a:pt x="30" y="84"/>
                  </a:cubicBezTo>
                  <a:cubicBezTo>
                    <a:pt x="33" y="88"/>
                    <a:pt x="39" y="95"/>
                    <a:pt x="32" y="100"/>
                  </a:cubicBezTo>
                  <a:cubicBezTo>
                    <a:pt x="28" y="103"/>
                    <a:pt x="24" y="95"/>
                    <a:pt x="20" y="94"/>
                  </a:cubicBezTo>
                  <a:cubicBezTo>
                    <a:pt x="17" y="84"/>
                    <a:pt x="20" y="89"/>
                    <a:pt x="6" y="84"/>
                  </a:cubicBezTo>
                  <a:cubicBezTo>
                    <a:pt x="4" y="83"/>
                    <a:pt x="0" y="82"/>
                    <a:pt x="0" y="82"/>
                  </a:cubicBezTo>
                  <a:cubicBezTo>
                    <a:pt x="3" y="73"/>
                    <a:pt x="7" y="67"/>
                    <a:pt x="10" y="58"/>
                  </a:cubicBezTo>
                  <a:cubicBezTo>
                    <a:pt x="11" y="56"/>
                    <a:pt x="12" y="52"/>
                    <a:pt x="12" y="52"/>
                  </a:cubicBezTo>
                  <a:cubicBezTo>
                    <a:pt x="10" y="42"/>
                    <a:pt x="8" y="33"/>
                    <a:pt x="2" y="24"/>
                  </a:cubicBezTo>
                  <a:cubicBezTo>
                    <a:pt x="3" y="21"/>
                    <a:pt x="2" y="17"/>
                    <a:pt x="4" y="14"/>
                  </a:cubicBezTo>
                  <a:cubicBezTo>
                    <a:pt x="11" y="0"/>
                    <a:pt x="18" y="19"/>
                    <a:pt x="26" y="22"/>
                  </a:cubicBezTo>
                  <a:cubicBezTo>
                    <a:pt x="31" y="36"/>
                    <a:pt x="26" y="33"/>
                    <a:pt x="36" y="36"/>
                  </a:cubicBezTo>
                  <a:cubicBezTo>
                    <a:pt x="45" y="30"/>
                    <a:pt x="55" y="28"/>
                    <a:pt x="64" y="22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 w="12700">
              <a:noFill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2156" name="Freeform 106"/>
            <p:cNvSpPr/>
            <p:nvPr/>
          </p:nvSpPr>
          <p:spPr>
            <a:xfrm>
              <a:off x="4123" y="2492"/>
              <a:ext cx="109" cy="189"/>
            </a:xfrm>
            <a:custGeom>
              <a:avLst/>
              <a:gdLst/>
              <a:ahLst/>
              <a:cxnLst>
                <a:cxn ang="0">
                  <a:pos x="82" y="100"/>
                </a:cxn>
                <a:cxn ang="0">
                  <a:pos x="66" y="106"/>
                </a:cxn>
                <a:cxn ang="0">
                  <a:pos x="64" y="132"/>
                </a:cxn>
                <a:cxn ang="0">
                  <a:pos x="22" y="146"/>
                </a:cxn>
                <a:cxn ang="0">
                  <a:pos x="8" y="168"/>
                </a:cxn>
                <a:cxn ang="0">
                  <a:pos x="20" y="182"/>
                </a:cxn>
                <a:cxn ang="0">
                  <a:pos x="8" y="198"/>
                </a:cxn>
                <a:cxn ang="0">
                  <a:pos x="24" y="252"/>
                </a:cxn>
                <a:cxn ang="0">
                  <a:pos x="28" y="214"/>
                </a:cxn>
                <a:cxn ang="0">
                  <a:pos x="22" y="192"/>
                </a:cxn>
                <a:cxn ang="0">
                  <a:pos x="42" y="176"/>
                </a:cxn>
                <a:cxn ang="0">
                  <a:pos x="52" y="158"/>
                </a:cxn>
                <a:cxn ang="0">
                  <a:pos x="66" y="174"/>
                </a:cxn>
                <a:cxn ang="0">
                  <a:pos x="44" y="190"/>
                </a:cxn>
                <a:cxn ang="0">
                  <a:pos x="56" y="200"/>
                </a:cxn>
                <a:cxn ang="0">
                  <a:pos x="68" y="178"/>
                </a:cxn>
                <a:cxn ang="0">
                  <a:pos x="84" y="184"/>
                </a:cxn>
                <a:cxn ang="0">
                  <a:pos x="104" y="148"/>
                </a:cxn>
                <a:cxn ang="0">
                  <a:pos x="114" y="156"/>
                </a:cxn>
                <a:cxn ang="0">
                  <a:pos x="136" y="148"/>
                </a:cxn>
                <a:cxn ang="0">
                  <a:pos x="146" y="130"/>
                </a:cxn>
                <a:cxn ang="0">
                  <a:pos x="142" y="110"/>
                </a:cxn>
                <a:cxn ang="0">
                  <a:pos x="134" y="98"/>
                </a:cxn>
                <a:cxn ang="0">
                  <a:pos x="122" y="40"/>
                </a:cxn>
                <a:cxn ang="0">
                  <a:pos x="94" y="0"/>
                </a:cxn>
                <a:cxn ang="0">
                  <a:pos x="78" y="12"/>
                </a:cxn>
                <a:cxn ang="0">
                  <a:pos x="96" y="34"/>
                </a:cxn>
                <a:cxn ang="0">
                  <a:pos x="96" y="64"/>
                </a:cxn>
                <a:cxn ang="0">
                  <a:pos x="82" y="100"/>
                </a:cxn>
              </a:cxnLst>
              <a:pathLst>
                <a:path w="146" h="252">
                  <a:moveTo>
                    <a:pt x="82" y="100"/>
                  </a:moveTo>
                  <a:cubicBezTo>
                    <a:pt x="70" y="88"/>
                    <a:pt x="69" y="92"/>
                    <a:pt x="66" y="106"/>
                  </a:cubicBezTo>
                  <a:cubicBezTo>
                    <a:pt x="65" y="115"/>
                    <a:pt x="68" y="124"/>
                    <a:pt x="64" y="132"/>
                  </a:cubicBezTo>
                  <a:cubicBezTo>
                    <a:pt x="63" y="133"/>
                    <a:pt x="28" y="142"/>
                    <a:pt x="22" y="146"/>
                  </a:cubicBezTo>
                  <a:cubicBezTo>
                    <a:pt x="18" y="157"/>
                    <a:pt x="18" y="162"/>
                    <a:pt x="8" y="168"/>
                  </a:cubicBezTo>
                  <a:cubicBezTo>
                    <a:pt x="0" y="180"/>
                    <a:pt x="7" y="180"/>
                    <a:pt x="20" y="182"/>
                  </a:cubicBezTo>
                  <a:cubicBezTo>
                    <a:pt x="17" y="190"/>
                    <a:pt x="15" y="193"/>
                    <a:pt x="8" y="198"/>
                  </a:cubicBezTo>
                  <a:cubicBezTo>
                    <a:pt x="10" y="214"/>
                    <a:pt x="9" y="242"/>
                    <a:pt x="24" y="252"/>
                  </a:cubicBezTo>
                  <a:cubicBezTo>
                    <a:pt x="42" y="246"/>
                    <a:pt x="31" y="227"/>
                    <a:pt x="28" y="214"/>
                  </a:cubicBezTo>
                  <a:cubicBezTo>
                    <a:pt x="26" y="207"/>
                    <a:pt x="22" y="192"/>
                    <a:pt x="22" y="192"/>
                  </a:cubicBezTo>
                  <a:cubicBezTo>
                    <a:pt x="25" y="180"/>
                    <a:pt x="33" y="182"/>
                    <a:pt x="42" y="176"/>
                  </a:cubicBezTo>
                  <a:cubicBezTo>
                    <a:pt x="44" y="169"/>
                    <a:pt x="52" y="158"/>
                    <a:pt x="52" y="158"/>
                  </a:cubicBezTo>
                  <a:cubicBezTo>
                    <a:pt x="58" y="164"/>
                    <a:pt x="63" y="166"/>
                    <a:pt x="66" y="174"/>
                  </a:cubicBezTo>
                  <a:cubicBezTo>
                    <a:pt x="59" y="178"/>
                    <a:pt x="51" y="188"/>
                    <a:pt x="44" y="190"/>
                  </a:cubicBezTo>
                  <a:cubicBezTo>
                    <a:pt x="36" y="202"/>
                    <a:pt x="46" y="202"/>
                    <a:pt x="56" y="200"/>
                  </a:cubicBezTo>
                  <a:cubicBezTo>
                    <a:pt x="60" y="189"/>
                    <a:pt x="59" y="184"/>
                    <a:pt x="68" y="178"/>
                  </a:cubicBezTo>
                  <a:cubicBezTo>
                    <a:pt x="77" y="181"/>
                    <a:pt x="75" y="187"/>
                    <a:pt x="84" y="184"/>
                  </a:cubicBezTo>
                  <a:cubicBezTo>
                    <a:pt x="92" y="171"/>
                    <a:pt x="91" y="157"/>
                    <a:pt x="104" y="148"/>
                  </a:cubicBezTo>
                  <a:cubicBezTo>
                    <a:pt x="108" y="149"/>
                    <a:pt x="110" y="155"/>
                    <a:pt x="114" y="156"/>
                  </a:cubicBezTo>
                  <a:cubicBezTo>
                    <a:pt x="120" y="158"/>
                    <a:pt x="131" y="151"/>
                    <a:pt x="136" y="148"/>
                  </a:cubicBezTo>
                  <a:cubicBezTo>
                    <a:pt x="145" y="134"/>
                    <a:pt x="142" y="141"/>
                    <a:pt x="146" y="130"/>
                  </a:cubicBezTo>
                  <a:cubicBezTo>
                    <a:pt x="146" y="127"/>
                    <a:pt x="145" y="115"/>
                    <a:pt x="142" y="110"/>
                  </a:cubicBezTo>
                  <a:cubicBezTo>
                    <a:pt x="140" y="106"/>
                    <a:pt x="134" y="98"/>
                    <a:pt x="134" y="98"/>
                  </a:cubicBezTo>
                  <a:cubicBezTo>
                    <a:pt x="131" y="78"/>
                    <a:pt x="142" y="53"/>
                    <a:pt x="122" y="40"/>
                  </a:cubicBezTo>
                  <a:cubicBezTo>
                    <a:pt x="112" y="26"/>
                    <a:pt x="109" y="10"/>
                    <a:pt x="94" y="0"/>
                  </a:cubicBezTo>
                  <a:cubicBezTo>
                    <a:pt x="87" y="4"/>
                    <a:pt x="86" y="9"/>
                    <a:pt x="78" y="12"/>
                  </a:cubicBezTo>
                  <a:cubicBezTo>
                    <a:pt x="67" y="29"/>
                    <a:pt x="80" y="31"/>
                    <a:pt x="96" y="34"/>
                  </a:cubicBezTo>
                  <a:cubicBezTo>
                    <a:pt x="103" y="44"/>
                    <a:pt x="100" y="53"/>
                    <a:pt x="96" y="64"/>
                  </a:cubicBezTo>
                  <a:cubicBezTo>
                    <a:pt x="96" y="68"/>
                    <a:pt x="95" y="106"/>
                    <a:pt x="82" y="10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 w="12700">
              <a:noFill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2157" name="Freeform 107"/>
            <p:cNvSpPr/>
            <p:nvPr/>
          </p:nvSpPr>
          <p:spPr>
            <a:xfrm>
              <a:off x="3062" y="1988"/>
              <a:ext cx="52" cy="30"/>
            </a:xfrm>
            <a:custGeom>
              <a:avLst/>
              <a:gdLst/>
              <a:ahLst/>
              <a:cxnLst>
                <a:cxn ang="0">
                  <a:pos x="59" y="0"/>
                </a:cxn>
                <a:cxn ang="0">
                  <a:pos x="65" y="20"/>
                </a:cxn>
                <a:cxn ang="0">
                  <a:pos x="41" y="24"/>
                </a:cxn>
                <a:cxn ang="0">
                  <a:pos x="31" y="40"/>
                </a:cxn>
                <a:cxn ang="0">
                  <a:pos x="7" y="38"/>
                </a:cxn>
                <a:cxn ang="0">
                  <a:pos x="1" y="36"/>
                </a:cxn>
                <a:cxn ang="0">
                  <a:pos x="33" y="20"/>
                </a:cxn>
                <a:cxn ang="0">
                  <a:pos x="59" y="0"/>
                </a:cxn>
              </a:cxnLst>
              <a:pathLst>
                <a:path w="70" h="40">
                  <a:moveTo>
                    <a:pt x="59" y="0"/>
                  </a:moveTo>
                  <a:cubicBezTo>
                    <a:pt x="68" y="3"/>
                    <a:pt x="70" y="10"/>
                    <a:pt x="65" y="20"/>
                  </a:cubicBezTo>
                  <a:cubicBezTo>
                    <a:pt x="61" y="27"/>
                    <a:pt x="49" y="23"/>
                    <a:pt x="41" y="24"/>
                  </a:cubicBezTo>
                  <a:cubicBezTo>
                    <a:pt x="36" y="38"/>
                    <a:pt x="41" y="34"/>
                    <a:pt x="31" y="40"/>
                  </a:cubicBezTo>
                  <a:cubicBezTo>
                    <a:pt x="23" y="39"/>
                    <a:pt x="15" y="39"/>
                    <a:pt x="7" y="38"/>
                  </a:cubicBezTo>
                  <a:cubicBezTo>
                    <a:pt x="5" y="38"/>
                    <a:pt x="0" y="38"/>
                    <a:pt x="1" y="36"/>
                  </a:cubicBezTo>
                  <a:cubicBezTo>
                    <a:pt x="7" y="26"/>
                    <a:pt x="23" y="23"/>
                    <a:pt x="33" y="20"/>
                  </a:cubicBezTo>
                  <a:cubicBezTo>
                    <a:pt x="39" y="11"/>
                    <a:pt x="51" y="8"/>
                    <a:pt x="59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 w="12700">
              <a:noFill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2158" name="Freeform 108"/>
            <p:cNvSpPr/>
            <p:nvPr/>
          </p:nvSpPr>
          <p:spPr>
            <a:xfrm>
              <a:off x="2955" y="1997"/>
              <a:ext cx="19" cy="22"/>
            </a:xfrm>
            <a:custGeom>
              <a:avLst/>
              <a:gdLst/>
              <a:ahLst/>
              <a:cxnLst>
                <a:cxn ang="0">
                  <a:pos x="18" y="0"/>
                </a:cxn>
                <a:cxn ang="0">
                  <a:pos x="0" y="18"/>
                </a:cxn>
                <a:cxn ang="0">
                  <a:pos x="18" y="26"/>
                </a:cxn>
                <a:cxn ang="0">
                  <a:pos x="18" y="0"/>
                </a:cxn>
              </a:cxnLst>
              <a:pathLst>
                <a:path w="26" h="29">
                  <a:moveTo>
                    <a:pt x="18" y="0"/>
                  </a:moveTo>
                  <a:cubicBezTo>
                    <a:pt x="9" y="6"/>
                    <a:pt x="4" y="7"/>
                    <a:pt x="0" y="18"/>
                  </a:cubicBezTo>
                  <a:cubicBezTo>
                    <a:pt x="7" y="25"/>
                    <a:pt x="9" y="29"/>
                    <a:pt x="18" y="26"/>
                  </a:cubicBezTo>
                  <a:cubicBezTo>
                    <a:pt x="22" y="14"/>
                    <a:pt x="26" y="12"/>
                    <a:pt x="18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 w="12700">
              <a:noFill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2159" name="Freeform 109"/>
            <p:cNvSpPr/>
            <p:nvPr/>
          </p:nvSpPr>
          <p:spPr>
            <a:xfrm>
              <a:off x="2979" y="1996"/>
              <a:ext cx="37" cy="27"/>
            </a:xfrm>
            <a:custGeom>
              <a:avLst/>
              <a:gdLst/>
              <a:ahLst/>
              <a:cxnLst>
                <a:cxn ang="0">
                  <a:pos x="14" y="6"/>
                </a:cxn>
                <a:cxn ang="0">
                  <a:pos x="0" y="18"/>
                </a:cxn>
                <a:cxn ang="0">
                  <a:pos x="6" y="32"/>
                </a:cxn>
                <a:cxn ang="0">
                  <a:pos x="18" y="36"/>
                </a:cxn>
                <a:cxn ang="0">
                  <a:pos x="40" y="26"/>
                </a:cxn>
                <a:cxn ang="0">
                  <a:pos x="14" y="6"/>
                </a:cxn>
              </a:cxnLst>
              <a:pathLst>
                <a:path w="49" h="36">
                  <a:moveTo>
                    <a:pt x="14" y="6"/>
                  </a:moveTo>
                  <a:cubicBezTo>
                    <a:pt x="11" y="14"/>
                    <a:pt x="7" y="13"/>
                    <a:pt x="0" y="18"/>
                  </a:cubicBezTo>
                  <a:cubicBezTo>
                    <a:pt x="1" y="22"/>
                    <a:pt x="2" y="29"/>
                    <a:pt x="6" y="32"/>
                  </a:cubicBezTo>
                  <a:cubicBezTo>
                    <a:pt x="10" y="34"/>
                    <a:pt x="18" y="36"/>
                    <a:pt x="18" y="36"/>
                  </a:cubicBezTo>
                  <a:cubicBezTo>
                    <a:pt x="24" y="27"/>
                    <a:pt x="30" y="28"/>
                    <a:pt x="40" y="26"/>
                  </a:cubicBezTo>
                  <a:cubicBezTo>
                    <a:pt x="49" y="0"/>
                    <a:pt x="26" y="18"/>
                    <a:pt x="14" y="6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 w="12700">
              <a:noFill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2160" name="Freeform 110"/>
            <p:cNvSpPr/>
            <p:nvPr/>
          </p:nvSpPr>
          <p:spPr>
            <a:xfrm>
              <a:off x="3040" y="1987"/>
              <a:ext cx="20" cy="16"/>
            </a:xfrm>
            <a:custGeom>
              <a:avLst/>
              <a:gdLst/>
              <a:ahLst/>
              <a:cxnLst>
                <a:cxn ang="0">
                  <a:pos x="11" y="0"/>
                </a:cxn>
                <a:cxn ang="0">
                  <a:pos x="3" y="12"/>
                </a:cxn>
                <a:cxn ang="0">
                  <a:pos x="19" y="22"/>
                </a:cxn>
                <a:cxn ang="0">
                  <a:pos x="11" y="0"/>
                </a:cxn>
              </a:cxnLst>
              <a:pathLst>
                <a:path w="27" h="22">
                  <a:moveTo>
                    <a:pt x="11" y="0"/>
                  </a:moveTo>
                  <a:cubicBezTo>
                    <a:pt x="8" y="4"/>
                    <a:pt x="0" y="8"/>
                    <a:pt x="3" y="12"/>
                  </a:cubicBezTo>
                  <a:cubicBezTo>
                    <a:pt x="6" y="17"/>
                    <a:pt x="19" y="22"/>
                    <a:pt x="19" y="22"/>
                  </a:cubicBezTo>
                  <a:cubicBezTo>
                    <a:pt x="27" y="10"/>
                    <a:pt x="15" y="11"/>
                    <a:pt x="11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 w="12700">
              <a:noFill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2161" name="Freeform 111"/>
            <p:cNvSpPr/>
            <p:nvPr/>
          </p:nvSpPr>
          <p:spPr>
            <a:xfrm>
              <a:off x="3022" y="2005"/>
              <a:ext cx="15" cy="13"/>
            </a:xfrm>
            <a:custGeom>
              <a:avLst/>
              <a:gdLst/>
              <a:ahLst/>
              <a:cxnLst>
                <a:cxn ang="0">
                  <a:pos x="11" y="0"/>
                </a:cxn>
                <a:cxn ang="0">
                  <a:pos x="9" y="18"/>
                </a:cxn>
                <a:cxn ang="0">
                  <a:pos x="11" y="0"/>
                </a:cxn>
              </a:cxnLst>
              <a:pathLst>
                <a:path w="20" h="18">
                  <a:moveTo>
                    <a:pt x="11" y="0"/>
                  </a:moveTo>
                  <a:cubicBezTo>
                    <a:pt x="1" y="14"/>
                    <a:pt x="0" y="9"/>
                    <a:pt x="9" y="18"/>
                  </a:cubicBezTo>
                  <a:cubicBezTo>
                    <a:pt x="20" y="14"/>
                    <a:pt x="16" y="18"/>
                    <a:pt x="11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 w="12700">
              <a:noFill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2162" name="Freeform 112"/>
            <p:cNvSpPr/>
            <p:nvPr/>
          </p:nvSpPr>
          <p:spPr>
            <a:xfrm>
              <a:off x="4162" y="2021"/>
              <a:ext cx="18" cy="33"/>
            </a:xfrm>
            <a:custGeom>
              <a:avLst/>
              <a:gdLst/>
              <a:ahLst/>
              <a:cxnLst>
                <a:cxn ang="0">
                  <a:pos x="24" y="0"/>
                </a:cxn>
                <a:cxn ang="0">
                  <a:pos x="8" y="16"/>
                </a:cxn>
                <a:cxn ang="0">
                  <a:pos x="0" y="34"/>
                </a:cxn>
                <a:cxn ang="0">
                  <a:pos x="16" y="40"/>
                </a:cxn>
                <a:cxn ang="0">
                  <a:pos x="24" y="0"/>
                </a:cxn>
              </a:cxnLst>
              <a:pathLst>
                <a:path w="24" h="44">
                  <a:moveTo>
                    <a:pt x="24" y="0"/>
                  </a:moveTo>
                  <a:cubicBezTo>
                    <a:pt x="19" y="7"/>
                    <a:pt x="15" y="11"/>
                    <a:pt x="8" y="16"/>
                  </a:cubicBezTo>
                  <a:cubicBezTo>
                    <a:pt x="4" y="21"/>
                    <a:pt x="0" y="34"/>
                    <a:pt x="0" y="34"/>
                  </a:cubicBezTo>
                  <a:cubicBezTo>
                    <a:pt x="3" y="44"/>
                    <a:pt x="7" y="42"/>
                    <a:pt x="16" y="40"/>
                  </a:cubicBezTo>
                  <a:cubicBezTo>
                    <a:pt x="20" y="27"/>
                    <a:pt x="24" y="14"/>
                    <a:pt x="24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 w="12700">
              <a:noFill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2163" name="Freeform 113"/>
            <p:cNvSpPr/>
            <p:nvPr/>
          </p:nvSpPr>
          <p:spPr>
            <a:xfrm>
              <a:off x="3278" y="3473"/>
              <a:ext cx="31" cy="18"/>
            </a:xfrm>
            <a:custGeom>
              <a:avLst/>
              <a:gdLst/>
              <a:ahLst/>
              <a:cxnLst>
                <a:cxn ang="0">
                  <a:pos x="30" y="0"/>
                </a:cxn>
                <a:cxn ang="0">
                  <a:pos x="26" y="24"/>
                </a:cxn>
                <a:cxn ang="0">
                  <a:pos x="30" y="0"/>
                </a:cxn>
              </a:cxnLst>
              <a:pathLst>
                <a:path w="41" h="24">
                  <a:moveTo>
                    <a:pt x="30" y="0"/>
                  </a:moveTo>
                  <a:cubicBezTo>
                    <a:pt x="4" y="4"/>
                    <a:pt x="0" y="17"/>
                    <a:pt x="26" y="24"/>
                  </a:cubicBezTo>
                  <a:cubicBezTo>
                    <a:pt x="41" y="19"/>
                    <a:pt x="38" y="10"/>
                    <a:pt x="30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 w="12700">
              <a:noFill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2164" name="Freeform 114"/>
            <p:cNvSpPr/>
            <p:nvPr/>
          </p:nvSpPr>
          <p:spPr>
            <a:xfrm>
              <a:off x="3318" y="3466"/>
              <a:ext cx="10" cy="15"/>
            </a:xfrm>
            <a:custGeom>
              <a:avLst/>
              <a:gdLst/>
              <a:ahLst/>
              <a:cxnLst>
                <a:cxn ang="0">
                  <a:pos x="10" y="5"/>
                </a:cxn>
                <a:cxn ang="0">
                  <a:pos x="1" y="11"/>
                </a:cxn>
                <a:cxn ang="0">
                  <a:pos x="9" y="20"/>
                </a:cxn>
                <a:cxn ang="0">
                  <a:pos x="10" y="5"/>
                </a:cxn>
              </a:cxnLst>
              <a:pathLst>
                <a:path w="13" h="20">
                  <a:moveTo>
                    <a:pt x="10" y="5"/>
                  </a:moveTo>
                  <a:cubicBezTo>
                    <a:pt x="3" y="0"/>
                    <a:pt x="5" y="6"/>
                    <a:pt x="1" y="11"/>
                  </a:cubicBezTo>
                  <a:cubicBezTo>
                    <a:pt x="0" y="18"/>
                    <a:pt x="2" y="19"/>
                    <a:pt x="9" y="20"/>
                  </a:cubicBezTo>
                  <a:cubicBezTo>
                    <a:pt x="13" y="14"/>
                    <a:pt x="10" y="12"/>
                    <a:pt x="10" y="5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 w="12700">
              <a:noFill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2165" name="Freeform 115"/>
            <p:cNvSpPr/>
            <p:nvPr/>
          </p:nvSpPr>
          <p:spPr>
            <a:xfrm>
              <a:off x="3251" y="3312"/>
              <a:ext cx="9" cy="15"/>
            </a:xfrm>
            <a:custGeom>
              <a:avLst/>
              <a:gdLst/>
              <a:ahLst/>
              <a:cxnLst>
                <a:cxn ang="0">
                  <a:pos x="10" y="5"/>
                </a:cxn>
                <a:cxn ang="0">
                  <a:pos x="1" y="11"/>
                </a:cxn>
                <a:cxn ang="0">
                  <a:pos x="9" y="20"/>
                </a:cxn>
                <a:cxn ang="0">
                  <a:pos x="10" y="5"/>
                </a:cxn>
              </a:cxnLst>
              <a:pathLst>
                <a:path w="13" h="20">
                  <a:moveTo>
                    <a:pt x="10" y="5"/>
                  </a:moveTo>
                  <a:cubicBezTo>
                    <a:pt x="3" y="0"/>
                    <a:pt x="5" y="6"/>
                    <a:pt x="1" y="11"/>
                  </a:cubicBezTo>
                  <a:cubicBezTo>
                    <a:pt x="0" y="18"/>
                    <a:pt x="2" y="19"/>
                    <a:pt x="9" y="20"/>
                  </a:cubicBezTo>
                  <a:cubicBezTo>
                    <a:pt x="13" y="14"/>
                    <a:pt x="10" y="12"/>
                    <a:pt x="10" y="5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 w="12700">
              <a:noFill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2166" name="Freeform 116"/>
            <p:cNvSpPr/>
            <p:nvPr/>
          </p:nvSpPr>
          <p:spPr>
            <a:xfrm>
              <a:off x="3311" y="3239"/>
              <a:ext cx="11" cy="19"/>
            </a:xfrm>
            <a:custGeom>
              <a:avLst/>
              <a:gdLst/>
              <a:ahLst/>
              <a:cxnLst>
                <a:cxn ang="0">
                  <a:pos x="6" y="0"/>
                </a:cxn>
                <a:cxn ang="0">
                  <a:pos x="0" y="13"/>
                </a:cxn>
                <a:cxn ang="0">
                  <a:pos x="12" y="24"/>
                </a:cxn>
                <a:cxn ang="0">
                  <a:pos x="6" y="0"/>
                </a:cxn>
              </a:cxnLst>
              <a:pathLst>
                <a:path w="14" h="25">
                  <a:moveTo>
                    <a:pt x="6" y="0"/>
                  </a:moveTo>
                  <a:cubicBezTo>
                    <a:pt x="4" y="5"/>
                    <a:pt x="3" y="9"/>
                    <a:pt x="0" y="13"/>
                  </a:cubicBezTo>
                  <a:cubicBezTo>
                    <a:pt x="1" y="24"/>
                    <a:pt x="1" y="25"/>
                    <a:pt x="12" y="24"/>
                  </a:cubicBezTo>
                  <a:cubicBezTo>
                    <a:pt x="14" y="12"/>
                    <a:pt x="8" y="10"/>
                    <a:pt x="6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 w="12700">
              <a:noFill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2167" name="Freeform 117"/>
            <p:cNvSpPr/>
            <p:nvPr/>
          </p:nvSpPr>
          <p:spPr>
            <a:xfrm>
              <a:off x="3287" y="3238"/>
              <a:ext cx="11" cy="19"/>
            </a:xfrm>
            <a:custGeom>
              <a:avLst/>
              <a:gdLst/>
              <a:ahLst/>
              <a:cxnLst>
                <a:cxn ang="0">
                  <a:pos x="6" y="0"/>
                </a:cxn>
                <a:cxn ang="0">
                  <a:pos x="0" y="13"/>
                </a:cxn>
                <a:cxn ang="0">
                  <a:pos x="12" y="24"/>
                </a:cxn>
                <a:cxn ang="0">
                  <a:pos x="6" y="0"/>
                </a:cxn>
              </a:cxnLst>
              <a:pathLst>
                <a:path w="14" h="25">
                  <a:moveTo>
                    <a:pt x="6" y="0"/>
                  </a:moveTo>
                  <a:cubicBezTo>
                    <a:pt x="4" y="5"/>
                    <a:pt x="3" y="9"/>
                    <a:pt x="0" y="13"/>
                  </a:cubicBezTo>
                  <a:cubicBezTo>
                    <a:pt x="1" y="24"/>
                    <a:pt x="1" y="25"/>
                    <a:pt x="12" y="24"/>
                  </a:cubicBezTo>
                  <a:cubicBezTo>
                    <a:pt x="14" y="12"/>
                    <a:pt x="8" y="10"/>
                    <a:pt x="6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 w="12700">
              <a:noFill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2168" name="Freeform 118"/>
            <p:cNvSpPr/>
            <p:nvPr/>
          </p:nvSpPr>
          <p:spPr>
            <a:xfrm>
              <a:off x="3276" y="3260"/>
              <a:ext cx="10" cy="15"/>
            </a:xfrm>
            <a:custGeom>
              <a:avLst/>
              <a:gdLst/>
              <a:ahLst/>
              <a:cxnLst>
                <a:cxn ang="0">
                  <a:pos x="10" y="5"/>
                </a:cxn>
                <a:cxn ang="0">
                  <a:pos x="1" y="11"/>
                </a:cxn>
                <a:cxn ang="0">
                  <a:pos x="9" y="20"/>
                </a:cxn>
                <a:cxn ang="0">
                  <a:pos x="10" y="5"/>
                </a:cxn>
              </a:cxnLst>
              <a:pathLst>
                <a:path w="13" h="20">
                  <a:moveTo>
                    <a:pt x="10" y="5"/>
                  </a:moveTo>
                  <a:cubicBezTo>
                    <a:pt x="3" y="0"/>
                    <a:pt x="5" y="6"/>
                    <a:pt x="1" y="11"/>
                  </a:cubicBezTo>
                  <a:cubicBezTo>
                    <a:pt x="0" y="18"/>
                    <a:pt x="2" y="19"/>
                    <a:pt x="9" y="20"/>
                  </a:cubicBezTo>
                  <a:cubicBezTo>
                    <a:pt x="13" y="14"/>
                    <a:pt x="10" y="12"/>
                    <a:pt x="10" y="5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 w="12700">
              <a:noFill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2169" name="Freeform 119"/>
            <p:cNvSpPr/>
            <p:nvPr/>
          </p:nvSpPr>
          <p:spPr>
            <a:xfrm>
              <a:off x="3251" y="3294"/>
              <a:ext cx="9" cy="15"/>
            </a:xfrm>
            <a:custGeom>
              <a:avLst/>
              <a:gdLst/>
              <a:ahLst/>
              <a:cxnLst>
                <a:cxn ang="0">
                  <a:pos x="10" y="5"/>
                </a:cxn>
                <a:cxn ang="0">
                  <a:pos x="1" y="11"/>
                </a:cxn>
                <a:cxn ang="0">
                  <a:pos x="9" y="20"/>
                </a:cxn>
                <a:cxn ang="0">
                  <a:pos x="10" y="5"/>
                </a:cxn>
              </a:cxnLst>
              <a:pathLst>
                <a:path w="13" h="20">
                  <a:moveTo>
                    <a:pt x="10" y="5"/>
                  </a:moveTo>
                  <a:cubicBezTo>
                    <a:pt x="3" y="0"/>
                    <a:pt x="5" y="6"/>
                    <a:pt x="1" y="11"/>
                  </a:cubicBezTo>
                  <a:cubicBezTo>
                    <a:pt x="0" y="18"/>
                    <a:pt x="2" y="19"/>
                    <a:pt x="9" y="20"/>
                  </a:cubicBezTo>
                  <a:cubicBezTo>
                    <a:pt x="13" y="14"/>
                    <a:pt x="10" y="12"/>
                    <a:pt x="10" y="5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 w="12700">
              <a:noFill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2170" name="Freeform 120"/>
            <p:cNvSpPr/>
            <p:nvPr/>
          </p:nvSpPr>
          <p:spPr>
            <a:xfrm>
              <a:off x="3270" y="3281"/>
              <a:ext cx="10" cy="15"/>
            </a:xfrm>
            <a:custGeom>
              <a:avLst/>
              <a:gdLst/>
              <a:ahLst/>
              <a:cxnLst>
                <a:cxn ang="0">
                  <a:pos x="10" y="5"/>
                </a:cxn>
                <a:cxn ang="0">
                  <a:pos x="1" y="11"/>
                </a:cxn>
                <a:cxn ang="0">
                  <a:pos x="9" y="20"/>
                </a:cxn>
                <a:cxn ang="0">
                  <a:pos x="10" y="5"/>
                </a:cxn>
              </a:cxnLst>
              <a:pathLst>
                <a:path w="13" h="20">
                  <a:moveTo>
                    <a:pt x="10" y="5"/>
                  </a:moveTo>
                  <a:cubicBezTo>
                    <a:pt x="3" y="0"/>
                    <a:pt x="5" y="6"/>
                    <a:pt x="1" y="11"/>
                  </a:cubicBezTo>
                  <a:cubicBezTo>
                    <a:pt x="0" y="18"/>
                    <a:pt x="2" y="19"/>
                    <a:pt x="9" y="20"/>
                  </a:cubicBezTo>
                  <a:cubicBezTo>
                    <a:pt x="13" y="14"/>
                    <a:pt x="10" y="12"/>
                    <a:pt x="10" y="5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 w="12700">
              <a:noFill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2171" name="Freeform 121"/>
            <p:cNvSpPr/>
            <p:nvPr/>
          </p:nvSpPr>
          <p:spPr>
            <a:xfrm>
              <a:off x="2537" y="2293"/>
              <a:ext cx="10" cy="15"/>
            </a:xfrm>
            <a:custGeom>
              <a:avLst/>
              <a:gdLst/>
              <a:ahLst/>
              <a:cxnLst>
                <a:cxn ang="0">
                  <a:pos x="10" y="5"/>
                </a:cxn>
                <a:cxn ang="0">
                  <a:pos x="1" y="11"/>
                </a:cxn>
                <a:cxn ang="0">
                  <a:pos x="9" y="20"/>
                </a:cxn>
                <a:cxn ang="0">
                  <a:pos x="10" y="5"/>
                </a:cxn>
              </a:cxnLst>
              <a:pathLst>
                <a:path w="13" h="20">
                  <a:moveTo>
                    <a:pt x="10" y="5"/>
                  </a:moveTo>
                  <a:cubicBezTo>
                    <a:pt x="3" y="0"/>
                    <a:pt x="5" y="6"/>
                    <a:pt x="1" y="11"/>
                  </a:cubicBezTo>
                  <a:cubicBezTo>
                    <a:pt x="0" y="18"/>
                    <a:pt x="2" y="19"/>
                    <a:pt x="9" y="20"/>
                  </a:cubicBezTo>
                  <a:cubicBezTo>
                    <a:pt x="13" y="14"/>
                    <a:pt x="10" y="12"/>
                    <a:pt x="10" y="5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 w="12700">
              <a:noFill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2172" name="Freeform 122"/>
            <p:cNvSpPr/>
            <p:nvPr/>
          </p:nvSpPr>
          <p:spPr>
            <a:xfrm>
              <a:off x="2476" y="2259"/>
              <a:ext cx="10" cy="15"/>
            </a:xfrm>
            <a:custGeom>
              <a:avLst/>
              <a:gdLst/>
              <a:ahLst/>
              <a:cxnLst>
                <a:cxn ang="0">
                  <a:pos x="10" y="5"/>
                </a:cxn>
                <a:cxn ang="0">
                  <a:pos x="1" y="11"/>
                </a:cxn>
                <a:cxn ang="0">
                  <a:pos x="9" y="20"/>
                </a:cxn>
                <a:cxn ang="0">
                  <a:pos x="10" y="5"/>
                </a:cxn>
              </a:cxnLst>
              <a:pathLst>
                <a:path w="13" h="20">
                  <a:moveTo>
                    <a:pt x="10" y="5"/>
                  </a:moveTo>
                  <a:cubicBezTo>
                    <a:pt x="3" y="0"/>
                    <a:pt x="5" y="6"/>
                    <a:pt x="1" y="11"/>
                  </a:cubicBezTo>
                  <a:cubicBezTo>
                    <a:pt x="0" y="18"/>
                    <a:pt x="2" y="19"/>
                    <a:pt x="9" y="20"/>
                  </a:cubicBezTo>
                  <a:cubicBezTo>
                    <a:pt x="13" y="14"/>
                    <a:pt x="10" y="12"/>
                    <a:pt x="10" y="5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 w="12700">
              <a:noFill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2173" name="Freeform 123"/>
            <p:cNvSpPr/>
            <p:nvPr/>
          </p:nvSpPr>
          <p:spPr>
            <a:xfrm>
              <a:off x="2238" y="2042"/>
              <a:ext cx="2060" cy="1644"/>
            </a:xfrm>
            <a:custGeom>
              <a:avLst/>
              <a:gdLst/>
              <a:ahLst/>
              <a:cxnLst>
                <a:cxn ang="0">
                  <a:pos x="452" y="653"/>
                </a:cxn>
                <a:cxn ang="0">
                  <a:pos x="333" y="595"/>
                </a:cxn>
                <a:cxn ang="0">
                  <a:pos x="158" y="645"/>
                </a:cxn>
                <a:cxn ang="0">
                  <a:pos x="46" y="759"/>
                </a:cxn>
                <a:cxn ang="0">
                  <a:pos x="12" y="941"/>
                </a:cxn>
                <a:cxn ang="0">
                  <a:pos x="146" y="1059"/>
                </a:cxn>
                <a:cxn ang="0">
                  <a:pos x="308" y="1041"/>
                </a:cxn>
                <a:cxn ang="0">
                  <a:pos x="396" y="1138"/>
                </a:cxn>
                <a:cxn ang="0">
                  <a:pos x="452" y="1447"/>
                </a:cxn>
                <a:cxn ang="0">
                  <a:pos x="497" y="1628"/>
                </a:cxn>
                <a:cxn ang="0">
                  <a:pos x="704" y="1574"/>
                </a:cxn>
                <a:cxn ang="0">
                  <a:pos x="817" y="1380"/>
                </a:cxn>
                <a:cxn ang="0">
                  <a:pos x="885" y="1153"/>
                </a:cxn>
                <a:cxn ang="0">
                  <a:pos x="998" y="999"/>
                </a:cxn>
                <a:cxn ang="0">
                  <a:pos x="796" y="856"/>
                </a:cxn>
                <a:cxn ang="0">
                  <a:pos x="817" y="819"/>
                </a:cxn>
                <a:cxn ang="0">
                  <a:pos x="1003" y="916"/>
                </a:cxn>
                <a:cxn ang="0">
                  <a:pos x="1098" y="792"/>
                </a:cxn>
                <a:cxn ang="0">
                  <a:pos x="1046" y="763"/>
                </a:cxn>
                <a:cxn ang="0">
                  <a:pos x="929" y="716"/>
                </a:cxn>
                <a:cxn ang="0">
                  <a:pos x="1141" y="761"/>
                </a:cxn>
                <a:cxn ang="0">
                  <a:pos x="1296" y="852"/>
                </a:cxn>
                <a:cxn ang="0">
                  <a:pos x="1373" y="1033"/>
                </a:cxn>
                <a:cxn ang="0">
                  <a:pos x="1608" y="847"/>
                </a:cxn>
                <a:cxn ang="0">
                  <a:pos x="1704" y="1030"/>
                </a:cxn>
                <a:cxn ang="0">
                  <a:pos x="1707" y="874"/>
                </a:cxn>
                <a:cxn ang="0">
                  <a:pos x="1759" y="800"/>
                </a:cxn>
                <a:cxn ang="0">
                  <a:pos x="1783" y="544"/>
                </a:cxn>
                <a:cxn ang="0">
                  <a:pos x="1824" y="528"/>
                </a:cxn>
                <a:cxn ang="0">
                  <a:pos x="1844" y="427"/>
                </a:cxn>
                <a:cxn ang="0">
                  <a:pos x="1805" y="226"/>
                </a:cxn>
                <a:cxn ang="0">
                  <a:pos x="1899" y="108"/>
                </a:cxn>
                <a:cxn ang="0">
                  <a:pos x="1947" y="209"/>
                </a:cxn>
                <a:cxn ang="0">
                  <a:pos x="1943" y="123"/>
                </a:cxn>
                <a:cxn ang="0">
                  <a:pos x="1975" y="51"/>
                </a:cxn>
                <a:cxn ang="0">
                  <a:pos x="2038" y="0"/>
                </a:cxn>
                <a:cxn ang="0">
                  <a:pos x="1820" y="63"/>
                </a:cxn>
                <a:cxn ang="0">
                  <a:pos x="1583" y="83"/>
                </a:cxn>
                <a:cxn ang="0">
                  <a:pos x="1349" y="30"/>
                </a:cxn>
                <a:cxn ang="0">
                  <a:pos x="1132" y="65"/>
                </a:cxn>
                <a:cxn ang="0">
                  <a:pos x="1040" y="170"/>
                </a:cxn>
                <a:cxn ang="0">
                  <a:pos x="926" y="137"/>
                </a:cxn>
                <a:cxn ang="0">
                  <a:pos x="758" y="183"/>
                </a:cxn>
                <a:cxn ang="0">
                  <a:pos x="667" y="140"/>
                </a:cxn>
                <a:cxn ang="0">
                  <a:pos x="364" y="248"/>
                </a:cxn>
                <a:cxn ang="0">
                  <a:pos x="535" y="213"/>
                </a:cxn>
                <a:cxn ang="0">
                  <a:pos x="638" y="276"/>
                </a:cxn>
                <a:cxn ang="0">
                  <a:pos x="443" y="357"/>
                </a:cxn>
                <a:cxn ang="0">
                  <a:pos x="275" y="416"/>
                </a:cxn>
                <a:cxn ang="0">
                  <a:pos x="167" y="537"/>
                </a:cxn>
                <a:cxn ang="0">
                  <a:pos x="283" y="552"/>
                </a:cxn>
                <a:cxn ang="0">
                  <a:pos x="381" y="573"/>
                </a:cxn>
                <a:cxn ang="0">
                  <a:pos x="493" y="590"/>
                </a:cxn>
                <a:cxn ang="0">
                  <a:pos x="487" y="512"/>
                </a:cxn>
                <a:cxn ang="0">
                  <a:pos x="592" y="548"/>
                </a:cxn>
                <a:cxn ang="0">
                  <a:pos x="686" y="470"/>
                </a:cxn>
                <a:cxn ang="0">
                  <a:pos x="772" y="480"/>
                </a:cxn>
                <a:cxn ang="0">
                  <a:pos x="639" y="598"/>
                </a:cxn>
              </a:cxnLst>
              <a:pathLst>
                <a:path w="2060" h="1644">
                  <a:moveTo>
                    <a:pt x="697" y="677"/>
                  </a:moveTo>
                  <a:cubicBezTo>
                    <a:pt x="659" y="675"/>
                    <a:pt x="652" y="669"/>
                    <a:pt x="618" y="667"/>
                  </a:cubicBezTo>
                  <a:cubicBezTo>
                    <a:pt x="607" y="666"/>
                    <a:pt x="594" y="661"/>
                    <a:pt x="582" y="658"/>
                  </a:cubicBezTo>
                  <a:cubicBezTo>
                    <a:pt x="577" y="655"/>
                    <a:pt x="568" y="650"/>
                    <a:pt x="568" y="650"/>
                  </a:cubicBezTo>
                  <a:cubicBezTo>
                    <a:pt x="551" y="652"/>
                    <a:pt x="557" y="655"/>
                    <a:pt x="546" y="658"/>
                  </a:cubicBezTo>
                  <a:cubicBezTo>
                    <a:pt x="540" y="667"/>
                    <a:pt x="542" y="669"/>
                    <a:pt x="546" y="677"/>
                  </a:cubicBezTo>
                  <a:cubicBezTo>
                    <a:pt x="548" y="680"/>
                    <a:pt x="550" y="686"/>
                    <a:pt x="550" y="686"/>
                  </a:cubicBezTo>
                  <a:cubicBezTo>
                    <a:pt x="526" y="694"/>
                    <a:pt x="506" y="678"/>
                    <a:pt x="488" y="670"/>
                  </a:cubicBezTo>
                  <a:cubicBezTo>
                    <a:pt x="481" y="653"/>
                    <a:pt x="472" y="655"/>
                    <a:pt x="452" y="653"/>
                  </a:cubicBezTo>
                  <a:cubicBezTo>
                    <a:pt x="446" y="648"/>
                    <a:pt x="444" y="648"/>
                    <a:pt x="437" y="650"/>
                  </a:cubicBezTo>
                  <a:cubicBezTo>
                    <a:pt x="427" y="647"/>
                    <a:pt x="433" y="648"/>
                    <a:pt x="423" y="642"/>
                  </a:cubicBezTo>
                  <a:cubicBezTo>
                    <a:pt x="421" y="641"/>
                    <a:pt x="418" y="639"/>
                    <a:pt x="418" y="639"/>
                  </a:cubicBezTo>
                  <a:cubicBezTo>
                    <a:pt x="416" y="638"/>
                    <a:pt x="413" y="633"/>
                    <a:pt x="413" y="630"/>
                  </a:cubicBezTo>
                  <a:cubicBezTo>
                    <a:pt x="415" y="625"/>
                    <a:pt x="418" y="616"/>
                    <a:pt x="418" y="616"/>
                  </a:cubicBezTo>
                  <a:cubicBezTo>
                    <a:pt x="416" y="592"/>
                    <a:pt x="421" y="588"/>
                    <a:pt x="398" y="591"/>
                  </a:cubicBezTo>
                  <a:cubicBezTo>
                    <a:pt x="390" y="598"/>
                    <a:pt x="390" y="595"/>
                    <a:pt x="381" y="592"/>
                  </a:cubicBezTo>
                  <a:cubicBezTo>
                    <a:pt x="370" y="592"/>
                    <a:pt x="361" y="595"/>
                    <a:pt x="348" y="597"/>
                  </a:cubicBezTo>
                  <a:cubicBezTo>
                    <a:pt x="344" y="595"/>
                    <a:pt x="337" y="597"/>
                    <a:pt x="333" y="595"/>
                  </a:cubicBezTo>
                  <a:cubicBezTo>
                    <a:pt x="331" y="594"/>
                    <a:pt x="330" y="592"/>
                    <a:pt x="328" y="592"/>
                  </a:cubicBezTo>
                  <a:cubicBezTo>
                    <a:pt x="314" y="591"/>
                    <a:pt x="296" y="597"/>
                    <a:pt x="283" y="602"/>
                  </a:cubicBezTo>
                  <a:cubicBezTo>
                    <a:pt x="276" y="603"/>
                    <a:pt x="268" y="606"/>
                    <a:pt x="260" y="608"/>
                  </a:cubicBezTo>
                  <a:cubicBezTo>
                    <a:pt x="255" y="609"/>
                    <a:pt x="246" y="613"/>
                    <a:pt x="246" y="613"/>
                  </a:cubicBezTo>
                  <a:cubicBezTo>
                    <a:pt x="228" y="611"/>
                    <a:pt x="209" y="609"/>
                    <a:pt x="189" y="611"/>
                  </a:cubicBezTo>
                  <a:cubicBezTo>
                    <a:pt x="184" y="613"/>
                    <a:pt x="180" y="614"/>
                    <a:pt x="175" y="617"/>
                  </a:cubicBezTo>
                  <a:cubicBezTo>
                    <a:pt x="173" y="619"/>
                    <a:pt x="173" y="620"/>
                    <a:pt x="173" y="622"/>
                  </a:cubicBezTo>
                  <a:cubicBezTo>
                    <a:pt x="172" y="623"/>
                    <a:pt x="169" y="623"/>
                    <a:pt x="169" y="625"/>
                  </a:cubicBezTo>
                  <a:cubicBezTo>
                    <a:pt x="163" y="634"/>
                    <a:pt x="167" y="641"/>
                    <a:pt x="158" y="645"/>
                  </a:cubicBezTo>
                  <a:cubicBezTo>
                    <a:pt x="153" y="648"/>
                    <a:pt x="149" y="652"/>
                    <a:pt x="144" y="655"/>
                  </a:cubicBezTo>
                  <a:cubicBezTo>
                    <a:pt x="141" y="656"/>
                    <a:pt x="135" y="659"/>
                    <a:pt x="135" y="659"/>
                  </a:cubicBezTo>
                  <a:cubicBezTo>
                    <a:pt x="133" y="664"/>
                    <a:pt x="130" y="666"/>
                    <a:pt x="130" y="669"/>
                  </a:cubicBezTo>
                  <a:cubicBezTo>
                    <a:pt x="128" y="677"/>
                    <a:pt x="132" y="691"/>
                    <a:pt x="124" y="698"/>
                  </a:cubicBezTo>
                  <a:cubicBezTo>
                    <a:pt x="118" y="703"/>
                    <a:pt x="108" y="709"/>
                    <a:pt x="101" y="711"/>
                  </a:cubicBezTo>
                  <a:cubicBezTo>
                    <a:pt x="101" y="711"/>
                    <a:pt x="90" y="716"/>
                    <a:pt x="87" y="716"/>
                  </a:cubicBezTo>
                  <a:cubicBezTo>
                    <a:pt x="85" y="717"/>
                    <a:pt x="82" y="717"/>
                    <a:pt x="82" y="717"/>
                  </a:cubicBezTo>
                  <a:cubicBezTo>
                    <a:pt x="76" y="725"/>
                    <a:pt x="68" y="733"/>
                    <a:pt x="60" y="738"/>
                  </a:cubicBezTo>
                  <a:cubicBezTo>
                    <a:pt x="56" y="745"/>
                    <a:pt x="53" y="755"/>
                    <a:pt x="46" y="759"/>
                  </a:cubicBezTo>
                  <a:cubicBezTo>
                    <a:pt x="43" y="764"/>
                    <a:pt x="37" y="767"/>
                    <a:pt x="31" y="773"/>
                  </a:cubicBezTo>
                  <a:cubicBezTo>
                    <a:pt x="26" y="780"/>
                    <a:pt x="25" y="789"/>
                    <a:pt x="23" y="797"/>
                  </a:cubicBezTo>
                  <a:cubicBezTo>
                    <a:pt x="20" y="803"/>
                    <a:pt x="19" y="809"/>
                    <a:pt x="17" y="816"/>
                  </a:cubicBezTo>
                  <a:cubicBezTo>
                    <a:pt x="15" y="817"/>
                    <a:pt x="14" y="824"/>
                    <a:pt x="14" y="824"/>
                  </a:cubicBezTo>
                  <a:cubicBezTo>
                    <a:pt x="15" y="831"/>
                    <a:pt x="26" y="842"/>
                    <a:pt x="26" y="842"/>
                  </a:cubicBezTo>
                  <a:cubicBezTo>
                    <a:pt x="26" y="847"/>
                    <a:pt x="17" y="855"/>
                    <a:pt x="17" y="855"/>
                  </a:cubicBezTo>
                  <a:cubicBezTo>
                    <a:pt x="14" y="863"/>
                    <a:pt x="17" y="867"/>
                    <a:pt x="25" y="870"/>
                  </a:cubicBezTo>
                  <a:cubicBezTo>
                    <a:pt x="28" y="884"/>
                    <a:pt x="17" y="902"/>
                    <a:pt x="6" y="909"/>
                  </a:cubicBezTo>
                  <a:cubicBezTo>
                    <a:pt x="0" y="927"/>
                    <a:pt x="5" y="927"/>
                    <a:pt x="12" y="941"/>
                  </a:cubicBezTo>
                  <a:cubicBezTo>
                    <a:pt x="23" y="963"/>
                    <a:pt x="29" y="969"/>
                    <a:pt x="53" y="977"/>
                  </a:cubicBezTo>
                  <a:cubicBezTo>
                    <a:pt x="60" y="986"/>
                    <a:pt x="56" y="983"/>
                    <a:pt x="63" y="989"/>
                  </a:cubicBezTo>
                  <a:cubicBezTo>
                    <a:pt x="62" y="994"/>
                    <a:pt x="59" y="997"/>
                    <a:pt x="59" y="1002"/>
                  </a:cubicBezTo>
                  <a:cubicBezTo>
                    <a:pt x="57" y="1009"/>
                    <a:pt x="70" y="1020"/>
                    <a:pt x="74" y="1027"/>
                  </a:cubicBezTo>
                  <a:cubicBezTo>
                    <a:pt x="77" y="1031"/>
                    <a:pt x="91" y="1036"/>
                    <a:pt x="91" y="1036"/>
                  </a:cubicBezTo>
                  <a:cubicBezTo>
                    <a:pt x="94" y="1036"/>
                    <a:pt x="96" y="1036"/>
                    <a:pt x="98" y="1034"/>
                  </a:cubicBezTo>
                  <a:cubicBezTo>
                    <a:pt x="99" y="1034"/>
                    <a:pt x="98" y="1031"/>
                    <a:pt x="99" y="1030"/>
                  </a:cubicBezTo>
                  <a:cubicBezTo>
                    <a:pt x="101" y="1030"/>
                    <a:pt x="107" y="1038"/>
                    <a:pt x="108" y="1038"/>
                  </a:cubicBezTo>
                  <a:cubicBezTo>
                    <a:pt x="119" y="1047"/>
                    <a:pt x="133" y="1055"/>
                    <a:pt x="146" y="1059"/>
                  </a:cubicBezTo>
                  <a:cubicBezTo>
                    <a:pt x="149" y="1067"/>
                    <a:pt x="152" y="1066"/>
                    <a:pt x="159" y="1064"/>
                  </a:cubicBezTo>
                  <a:cubicBezTo>
                    <a:pt x="163" y="1061"/>
                    <a:pt x="166" y="1059"/>
                    <a:pt x="169" y="1058"/>
                  </a:cubicBezTo>
                  <a:cubicBezTo>
                    <a:pt x="172" y="1056"/>
                    <a:pt x="178" y="1055"/>
                    <a:pt x="178" y="1055"/>
                  </a:cubicBezTo>
                  <a:cubicBezTo>
                    <a:pt x="192" y="1059"/>
                    <a:pt x="209" y="1061"/>
                    <a:pt x="224" y="1063"/>
                  </a:cubicBezTo>
                  <a:cubicBezTo>
                    <a:pt x="231" y="1067"/>
                    <a:pt x="229" y="1070"/>
                    <a:pt x="238" y="1069"/>
                  </a:cubicBezTo>
                  <a:cubicBezTo>
                    <a:pt x="238" y="1063"/>
                    <a:pt x="238" y="1056"/>
                    <a:pt x="238" y="1050"/>
                  </a:cubicBezTo>
                  <a:cubicBezTo>
                    <a:pt x="241" y="1041"/>
                    <a:pt x="257" y="1059"/>
                    <a:pt x="260" y="1061"/>
                  </a:cubicBezTo>
                  <a:cubicBezTo>
                    <a:pt x="266" y="1050"/>
                    <a:pt x="279" y="1052"/>
                    <a:pt x="291" y="1050"/>
                  </a:cubicBezTo>
                  <a:cubicBezTo>
                    <a:pt x="297" y="1049"/>
                    <a:pt x="302" y="1044"/>
                    <a:pt x="308" y="1041"/>
                  </a:cubicBezTo>
                  <a:cubicBezTo>
                    <a:pt x="319" y="1042"/>
                    <a:pt x="330" y="1045"/>
                    <a:pt x="341" y="1049"/>
                  </a:cubicBezTo>
                  <a:cubicBezTo>
                    <a:pt x="342" y="1050"/>
                    <a:pt x="344" y="1055"/>
                    <a:pt x="344" y="1058"/>
                  </a:cubicBezTo>
                  <a:cubicBezTo>
                    <a:pt x="344" y="1061"/>
                    <a:pt x="342" y="1067"/>
                    <a:pt x="342" y="1067"/>
                  </a:cubicBezTo>
                  <a:cubicBezTo>
                    <a:pt x="347" y="1070"/>
                    <a:pt x="355" y="1072"/>
                    <a:pt x="361" y="1075"/>
                  </a:cubicBezTo>
                  <a:cubicBezTo>
                    <a:pt x="362" y="1075"/>
                    <a:pt x="365" y="1077"/>
                    <a:pt x="365" y="1077"/>
                  </a:cubicBezTo>
                  <a:cubicBezTo>
                    <a:pt x="375" y="1074"/>
                    <a:pt x="384" y="1074"/>
                    <a:pt x="393" y="1080"/>
                  </a:cubicBezTo>
                  <a:cubicBezTo>
                    <a:pt x="396" y="1083"/>
                    <a:pt x="398" y="1088"/>
                    <a:pt x="401" y="1092"/>
                  </a:cubicBezTo>
                  <a:cubicBezTo>
                    <a:pt x="404" y="1095"/>
                    <a:pt x="407" y="1102"/>
                    <a:pt x="407" y="1102"/>
                  </a:cubicBezTo>
                  <a:cubicBezTo>
                    <a:pt x="404" y="1114"/>
                    <a:pt x="399" y="1127"/>
                    <a:pt x="396" y="1138"/>
                  </a:cubicBezTo>
                  <a:cubicBezTo>
                    <a:pt x="393" y="1147"/>
                    <a:pt x="395" y="1141"/>
                    <a:pt x="389" y="1152"/>
                  </a:cubicBezTo>
                  <a:cubicBezTo>
                    <a:pt x="387" y="1153"/>
                    <a:pt x="385" y="1156"/>
                    <a:pt x="385" y="1156"/>
                  </a:cubicBezTo>
                  <a:cubicBezTo>
                    <a:pt x="389" y="1185"/>
                    <a:pt x="396" y="1180"/>
                    <a:pt x="410" y="1197"/>
                  </a:cubicBezTo>
                  <a:cubicBezTo>
                    <a:pt x="427" y="1219"/>
                    <a:pt x="440" y="1239"/>
                    <a:pt x="447" y="1266"/>
                  </a:cubicBezTo>
                  <a:cubicBezTo>
                    <a:pt x="446" y="1280"/>
                    <a:pt x="452" y="1314"/>
                    <a:pt x="435" y="1325"/>
                  </a:cubicBezTo>
                  <a:cubicBezTo>
                    <a:pt x="427" y="1347"/>
                    <a:pt x="433" y="1325"/>
                    <a:pt x="430" y="1367"/>
                  </a:cubicBezTo>
                  <a:cubicBezTo>
                    <a:pt x="429" y="1377"/>
                    <a:pt x="421" y="1381"/>
                    <a:pt x="418" y="1391"/>
                  </a:cubicBezTo>
                  <a:cubicBezTo>
                    <a:pt x="421" y="1413"/>
                    <a:pt x="430" y="1422"/>
                    <a:pt x="446" y="1438"/>
                  </a:cubicBezTo>
                  <a:cubicBezTo>
                    <a:pt x="449" y="1441"/>
                    <a:pt x="450" y="1442"/>
                    <a:pt x="452" y="1447"/>
                  </a:cubicBezTo>
                  <a:cubicBezTo>
                    <a:pt x="454" y="1450"/>
                    <a:pt x="455" y="1456"/>
                    <a:pt x="455" y="1456"/>
                  </a:cubicBezTo>
                  <a:cubicBezTo>
                    <a:pt x="457" y="1475"/>
                    <a:pt x="458" y="1488"/>
                    <a:pt x="460" y="1505"/>
                  </a:cubicBezTo>
                  <a:cubicBezTo>
                    <a:pt x="461" y="1514"/>
                    <a:pt x="461" y="1511"/>
                    <a:pt x="464" y="1522"/>
                  </a:cubicBezTo>
                  <a:cubicBezTo>
                    <a:pt x="466" y="1524"/>
                    <a:pt x="466" y="1527"/>
                    <a:pt x="466" y="1527"/>
                  </a:cubicBezTo>
                  <a:cubicBezTo>
                    <a:pt x="468" y="1542"/>
                    <a:pt x="469" y="1552"/>
                    <a:pt x="481" y="1561"/>
                  </a:cubicBezTo>
                  <a:cubicBezTo>
                    <a:pt x="485" y="1566"/>
                    <a:pt x="488" y="1569"/>
                    <a:pt x="494" y="1572"/>
                  </a:cubicBezTo>
                  <a:cubicBezTo>
                    <a:pt x="497" y="1585"/>
                    <a:pt x="503" y="1597"/>
                    <a:pt x="506" y="1610"/>
                  </a:cubicBezTo>
                  <a:cubicBezTo>
                    <a:pt x="506" y="1614"/>
                    <a:pt x="508" y="1619"/>
                    <a:pt x="505" y="1622"/>
                  </a:cubicBezTo>
                  <a:cubicBezTo>
                    <a:pt x="503" y="1625"/>
                    <a:pt x="497" y="1628"/>
                    <a:pt x="497" y="1628"/>
                  </a:cubicBezTo>
                  <a:cubicBezTo>
                    <a:pt x="488" y="1642"/>
                    <a:pt x="509" y="1644"/>
                    <a:pt x="517" y="1644"/>
                  </a:cubicBezTo>
                  <a:cubicBezTo>
                    <a:pt x="539" y="1639"/>
                    <a:pt x="557" y="1635"/>
                    <a:pt x="579" y="1633"/>
                  </a:cubicBezTo>
                  <a:cubicBezTo>
                    <a:pt x="598" y="1630"/>
                    <a:pt x="613" y="1627"/>
                    <a:pt x="632" y="1624"/>
                  </a:cubicBezTo>
                  <a:cubicBezTo>
                    <a:pt x="635" y="1624"/>
                    <a:pt x="638" y="1622"/>
                    <a:pt x="641" y="1621"/>
                  </a:cubicBezTo>
                  <a:cubicBezTo>
                    <a:pt x="642" y="1621"/>
                    <a:pt x="644" y="1619"/>
                    <a:pt x="646" y="1617"/>
                  </a:cubicBezTo>
                  <a:cubicBezTo>
                    <a:pt x="649" y="1617"/>
                    <a:pt x="655" y="1616"/>
                    <a:pt x="655" y="1616"/>
                  </a:cubicBezTo>
                  <a:cubicBezTo>
                    <a:pt x="659" y="1610"/>
                    <a:pt x="664" y="1603"/>
                    <a:pt x="670" y="1600"/>
                  </a:cubicBezTo>
                  <a:cubicBezTo>
                    <a:pt x="675" y="1594"/>
                    <a:pt x="678" y="1591"/>
                    <a:pt x="683" y="1588"/>
                  </a:cubicBezTo>
                  <a:cubicBezTo>
                    <a:pt x="687" y="1581"/>
                    <a:pt x="697" y="1577"/>
                    <a:pt x="704" y="1574"/>
                  </a:cubicBezTo>
                  <a:cubicBezTo>
                    <a:pt x="715" y="1563"/>
                    <a:pt x="726" y="1550"/>
                    <a:pt x="731" y="1535"/>
                  </a:cubicBezTo>
                  <a:cubicBezTo>
                    <a:pt x="731" y="1531"/>
                    <a:pt x="729" y="1528"/>
                    <a:pt x="729" y="1525"/>
                  </a:cubicBezTo>
                  <a:cubicBezTo>
                    <a:pt x="729" y="1494"/>
                    <a:pt x="737" y="1505"/>
                    <a:pt x="754" y="1494"/>
                  </a:cubicBezTo>
                  <a:cubicBezTo>
                    <a:pt x="759" y="1488"/>
                    <a:pt x="762" y="1483"/>
                    <a:pt x="765" y="1475"/>
                  </a:cubicBezTo>
                  <a:cubicBezTo>
                    <a:pt x="763" y="1458"/>
                    <a:pt x="765" y="1439"/>
                    <a:pt x="755" y="1424"/>
                  </a:cubicBezTo>
                  <a:cubicBezTo>
                    <a:pt x="759" y="1413"/>
                    <a:pt x="771" y="1419"/>
                    <a:pt x="779" y="1422"/>
                  </a:cubicBezTo>
                  <a:cubicBezTo>
                    <a:pt x="782" y="1427"/>
                    <a:pt x="782" y="1435"/>
                    <a:pt x="785" y="1427"/>
                  </a:cubicBezTo>
                  <a:cubicBezTo>
                    <a:pt x="786" y="1416"/>
                    <a:pt x="786" y="1405"/>
                    <a:pt x="786" y="1396"/>
                  </a:cubicBezTo>
                  <a:cubicBezTo>
                    <a:pt x="788" y="1386"/>
                    <a:pt x="810" y="1385"/>
                    <a:pt x="817" y="1380"/>
                  </a:cubicBezTo>
                  <a:cubicBezTo>
                    <a:pt x="820" y="1374"/>
                    <a:pt x="831" y="1367"/>
                    <a:pt x="837" y="1363"/>
                  </a:cubicBezTo>
                  <a:cubicBezTo>
                    <a:pt x="841" y="1361"/>
                    <a:pt x="847" y="1356"/>
                    <a:pt x="847" y="1356"/>
                  </a:cubicBezTo>
                  <a:cubicBezTo>
                    <a:pt x="855" y="1345"/>
                    <a:pt x="845" y="1333"/>
                    <a:pt x="844" y="1320"/>
                  </a:cubicBezTo>
                  <a:cubicBezTo>
                    <a:pt x="845" y="1310"/>
                    <a:pt x="847" y="1308"/>
                    <a:pt x="850" y="1299"/>
                  </a:cubicBezTo>
                  <a:cubicBezTo>
                    <a:pt x="847" y="1288"/>
                    <a:pt x="842" y="1288"/>
                    <a:pt x="834" y="1280"/>
                  </a:cubicBezTo>
                  <a:cubicBezTo>
                    <a:pt x="833" y="1275"/>
                    <a:pt x="830" y="1266"/>
                    <a:pt x="830" y="1266"/>
                  </a:cubicBezTo>
                  <a:cubicBezTo>
                    <a:pt x="831" y="1250"/>
                    <a:pt x="831" y="1236"/>
                    <a:pt x="831" y="1220"/>
                  </a:cubicBezTo>
                  <a:cubicBezTo>
                    <a:pt x="833" y="1192"/>
                    <a:pt x="861" y="1183"/>
                    <a:pt x="876" y="1166"/>
                  </a:cubicBezTo>
                  <a:cubicBezTo>
                    <a:pt x="879" y="1160"/>
                    <a:pt x="884" y="1160"/>
                    <a:pt x="885" y="1153"/>
                  </a:cubicBezTo>
                  <a:cubicBezTo>
                    <a:pt x="890" y="1144"/>
                    <a:pt x="889" y="1142"/>
                    <a:pt x="895" y="1136"/>
                  </a:cubicBezTo>
                  <a:cubicBezTo>
                    <a:pt x="898" y="1127"/>
                    <a:pt x="906" y="1114"/>
                    <a:pt x="915" y="1111"/>
                  </a:cubicBezTo>
                  <a:cubicBezTo>
                    <a:pt x="920" y="1105"/>
                    <a:pt x="924" y="1099"/>
                    <a:pt x="930" y="1094"/>
                  </a:cubicBezTo>
                  <a:cubicBezTo>
                    <a:pt x="935" y="1089"/>
                    <a:pt x="938" y="1089"/>
                    <a:pt x="943" y="1084"/>
                  </a:cubicBezTo>
                  <a:cubicBezTo>
                    <a:pt x="947" y="1080"/>
                    <a:pt x="949" y="1078"/>
                    <a:pt x="955" y="1077"/>
                  </a:cubicBezTo>
                  <a:cubicBezTo>
                    <a:pt x="961" y="1066"/>
                    <a:pt x="958" y="1069"/>
                    <a:pt x="966" y="1064"/>
                  </a:cubicBezTo>
                  <a:cubicBezTo>
                    <a:pt x="972" y="1055"/>
                    <a:pt x="978" y="1045"/>
                    <a:pt x="983" y="1036"/>
                  </a:cubicBezTo>
                  <a:cubicBezTo>
                    <a:pt x="988" y="1030"/>
                    <a:pt x="989" y="1019"/>
                    <a:pt x="991" y="1013"/>
                  </a:cubicBezTo>
                  <a:cubicBezTo>
                    <a:pt x="994" y="1003"/>
                    <a:pt x="992" y="1009"/>
                    <a:pt x="998" y="999"/>
                  </a:cubicBezTo>
                  <a:cubicBezTo>
                    <a:pt x="1003" y="992"/>
                    <a:pt x="1003" y="984"/>
                    <a:pt x="1005" y="977"/>
                  </a:cubicBezTo>
                  <a:cubicBezTo>
                    <a:pt x="1003" y="966"/>
                    <a:pt x="1000" y="970"/>
                    <a:pt x="989" y="974"/>
                  </a:cubicBezTo>
                  <a:cubicBezTo>
                    <a:pt x="971" y="986"/>
                    <a:pt x="941" y="983"/>
                    <a:pt x="921" y="983"/>
                  </a:cubicBezTo>
                  <a:cubicBezTo>
                    <a:pt x="892" y="981"/>
                    <a:pt x="895" y="977"/>
                    <a:pt x="878" y="961"/>
                  </a:cubicBezTo>
                  <a:cubicBezTo>
                    <a:pt x="875" y="949"/>
                    <a:pt x="867" y="944"/>
                    <a:pt x="858" y="936"/>
                  </a:cubicBezTo>
                  <a:cubicBezTo>
                    <a:pt x="853" y="933"/>
                    <a:pt x="844" y="930"/>
                    <a:pt x="844" y="930"/>
                  </a:cubicBezTo>
                  <a:cubicBezTo>
                    <a:pt x="837" y="909"/>
                    <a:pt x="828" y="891"/>
                    <a:pt x="817" y="872"/>
                  </a:cubicBezTo>
                  <a:cubicBezTo>
                    <a:pt x="811" y="866"/>
                    <a:pt x="816" y="869"/>
                    <a:pt x="805" y="863"/>
                  </a:cubicBezTo>
                  <a:cubicBezTo>
                    <a:pt x="802" y="859"/>
                    <a:pt x="796" y="856"/>
                    <a:pt x="796" y="856"/>
                  </a:cubicBezTo>
                  <a:cubicBezTo>
                    <a:pt x="786" y="842"/>
                    <a:pt x="794" y="825"/>
                    <a:pt x="785" y="813"/>
                  </a:cubicBezTo>
                  <a:cubicBezTo>
                    <a:pt x="774" y="794"/>
                    <a:pt x="759" y="772"/>
                    <a:pt x="745" y="758"/>
                  </a:cubicBezTo>
                  <a:cubicBezTo>
                    <a:pt x="742" y="744"/>
                    <a:pt x="737" y="736"/>
                    <a:pt x="729" y="723"/>
                  </a:cubicBezTo>
                  <a:cubicBezTo>
                    <a:pt x="726" y="720"/>
                    <a:pt x="723" y="709"/>
                    <a:pt x="723" y="709"/>
                  </a:cubicBezTo>
                  <a:cubicBezTo>
                    <a:pt x="740" y="705"/>
                    <a:pt x="757" y="733"/>
                    <a:pt x="766" y="744"/>
                  </a:cubicBezTo>
                  <a:cubicBezTo>
                    <a:pt x="771" y="758"/>
                    <a:pt x="771" y="759"/>
                    <a:pt x="786" y="764"/>
                  </a:cubicBezTo>
                  <a:cubicBezTo>
                    <a:pt x="793" y="766"/>
                    <a:pt x="800" y="773"/>
                    <a:pt x="800" y="773"/>
                  </a:cubicBezTo>
                  <a:cubicBezTo>
                    <a:pt x="803" y="780"/>
                    <a:pt x="808" y="784"/>
                    <a:pt x="813" y="791"/>
                  </a:cubicBezTo>
                  <a:cubicBezTo>
                    <a:pt x="813" y="803"/>
                    <a:pt x="814" y="809"/>
                    <a:pt x="817" y="819"/>
                  </a:cubicBezTo>
                  <a:cubicBezTo>
                    <a:pt x="819" y="842"/>
                    <a:pt x="820" y="841"/>
                    <a:pt x="839" y="847"/>
                  </a:cubicBezTo>
                  <a:cubicBezTo>
                    <a:pt x="844" y="852"/>
                    <a:pt x="847" y="856"/>
                    <a:pt x="851" y="861"/>
                  </a:cubicBezTo>
                  <a:cubicBezTo>
                    <a:pt x="851" y="863"/>
                    <a:pt x="853" y="864"/>
                    <a:pt x="853" y="866"/>
                  </a:cubicBezTo>
                  <a:cubicBezTo>
                    <a:pt x="853" y="869"/>
                    <a:pt x="853" y="874"/>
                    <a:pt x="855" y="877"/>
                  </a:cubicBezTo>
                  <a:cubicBezTo>
                    <a:pt x="856" y="884"/>
                    <a:pt x="870" y="889"/>
                    <a:pt x="875" y="894"/>
                  </a:cubicBezTo>
                  <a:cubicBezTo>
                    <a:pt x="887" y="927"/>
                    <a:pt x="870" y="945"/>
                    <a:pt x="910" y="955"/>
                  </a:cubicBezTo>
                  <a:cubicBezTo>
                    <a:pt x="921" y="953"/>
                    <a:pt x="926" y="955"/>
                    <a:pt x="933" y="949"/>
                  </a:cubicBezTo>
                  <a:cubicBezTo>
                    <a:pt x="938" y="942"/>
                    <a:pt x="944" y="941"/>
                    <a:pt x="951" y="936"/>
                  </a:cubicBezTo>
                  <a:cubicBezTo>
                    <a:pt x="972" y="924"/>
                    <a:pt x="978" y="920"/>
                    <a:pt x="1003" y="916"/>
                  </a:cubicBezTo>
                  <a:cubicBezTo>
                    <a:pt x="1009" y="914"/>
                    <a:pt x="1017" y="911"/>
                    <a:pt x="1025" y="909"/>
                  </a:cubicBezTo>
                  <a:cubicBezTo>
                    <a:pt x="1031" y="906"/>
                    <a:pt x="1036" y="899"/>
                    <a:pt x="1042" y="897"/>
                  </a:cubicBezTo>
                  <a:cubicBezTo>
                    <a:pt x="1051" y="894"/>
                    <a:pt x="1060" y="894"/>
                    <a:pt x="1068" y="888"/>
                  </a:cubicBezTo>
                  <a:cubicBezTo>
                    <a:pt x="1073" y="881"/>
                    <a:pt x="1079" y="877"/>
                    <a:pt x="1084" y="869"/>
                  </a:cubicBezTo>
                  <a:cubicBezTo>
                    <a:pt x="1087" y="861"/>
                    <a:pt x="1088" y="850"/>
                    <a:pt x="1098" y="844"/>
                  </a:cubicBezTo>
                  <a:cubicBezTo>
                    <a:pt x="1104" y="836"/>
                    <a:pt x="1105" y="825"/>
                    <a:pt x="1108" y="816"/>
                  </a:cubicBezTo>
                  <a:cubicBezTo>
                    <a:pt x="1110" y="811"/>
                    <a:pt x="1115" y="808"/>
                    <a:pt x="1116" y="803"/>
                  </a:cubicBezTo>
                  <a:cubicBezTo>
                    <a:pt x="1110" y="800"/>
                    <a:pt x="1110" y="805"/>
                    <a:pt x="1102" y="808"/>
                  </a:cubicBezTo>
                  <a:cubicBezTo>
                    <a:pt x="1099" y="802"/>
                    <a:pt x="1104" y="795"/>
                    <a:pt x="1098" y="792"/>
                  </a:cubicBezTo>
                  <a:cubicBezTo>
                    <a:pt x="1094" y="789"/>
                    <a:pt x="1084" y="788"/>
                    <a:pt x="1084" y="788"/>
                  </a:cubicBezTo>
                  <a:cubicBezTo>
                    <a:pt x="1077" y="780"/>
                    <a:pt x="1076" y="783"/>
                    <a:pt x="1067" y="786"/>
                  </a:cubicBezTo>
                  <a:cubicBezTo>
                    <a:pt x="1064" y="788"/>
                    <a:pt x="1057" y="789"/>
                    <a:pt x="1057" y="789"/>
                  </a:cubicBezTo>
                  <a:cubicBezTo>
                    <a:pt x="1054" y="789"/>
                    <a:pt x="1051" y="789"/>
                    <a:pt x="1048" y="788"/>
                  </a:cubicBezTo>
                  <a:cubicBezTo>
                    <a:pt x="1046" y="786"/>
                    <a:pt x="1045" y="778"/>
                    <a:pt x="1045" y="778"/>
                  </a:cubicBezTo>
                  <a:cubicBezTo>
                    <a:pt x="1046" y="778"/>
                    <a:pt x="1048" y="777"/>
                    <a:pt x="1050" y="775"/>
                  </a:cubicBezTo>
                  <a:cubicBezTo>
                    <a:pt x="1060" y="772"/>
                    <a:pt x="1067" y="778"/>
                    <a:pt x="1060" y="763"/>
                  </a:cubicBezTo>
                  <a:cubicBezTo>
                    <a:pt x="1059" y="763"/>
                    <a:pt x="1057" y="761"/>
                    <a:pt x="1056" y="761"/>
                  </a:cubicBezTo>
                  <a:cubicBezTo>
                    <a:pt x="1053" y="761"/>
                    <a:pt x="1048" y="761"/>
                    <a:pt x="1046" y="763"/>
                  </a:cubicBezTo>
                  <a:cubicBezTo>
                    <a:pt x="1046" y="764"/>
                    <a:pt x="1045" y="766"/>
                    <a:pt x="1043" y="767"/>
                  </a:cubicBezTo>
                  <a:cubicBezTo>
                    <a:pt x="1036" y="775"/>
                    <a:pt x="1025" y="777"/>
                    <a:pt x="1016" y="780"/>
                  </a:cubicBezTo>
                  <a:cubicBezTo>
                    <a:pt x="1011" y="780"/>
                    <a:pt x="1006" y="778"/>
                    <a:pt x="1003" y="777"/>
                  </a:cubicBezTo>
                  <a:cubicBezTo>
                    <a:pt x="1002" y="777"/>
                    <a:pt x="997" y="775"/>
                    <a:pt x="997" y="775"/>
                  </a:cubicBezTo>
                  <a:cubicBezTo>
                    <a:pt x="988" y="763"/>
                    <a:pt x="986" y="761"/>
                    <a:pt x="971" y="758"/>
                  </a:cubicBezTo>
                  <a:cubicBezTo>
                    <a:pt x="971" y="753"/>
                    <a:pt x="974" y="747"/>
                    <a:pt x="971" y="742"/>
                  </a:cubicBezTo>
                  <a:cubicBezTo>
                    <a:pt x="969" y="739"/>
                    <a:pt x="960" y="736"/>
                    <a:pt x="957" y="734"/>
                  </a:cubicBezTo>
                  <a:cubicBezTo>
                    <a:pt x="954" y="733"/>
                    <a:pt x="947" y="731"/>
                    <a:pt x="947" y="731"/>
                  </a:cubicBezTo>
                  <a:cubicBezTo>
                    <a:pt x="941" y="725"/>
                    <a:pt x="935" y="722"/>
                    <a:pt x="929" y="716"/>
                  </a:cubicBezTo>
                  <a:cubicBezTo>
                    <a:pt x="930" y="706"/>
                    <a:pt x="932" y="700"/>
                    <a:pt x="941" y="697"/>
                  </a:cubicBezTo>
                  <a:cubicBezTo>
                    <a:pt x="955" y="698"/>
                    <a:pt x="968" y="702"/>
                    <a:pt x="980" y="705"/>
                  </a:cubicBezTo>
                  <a:cubicBezTo>
                    <a:pt x="986" y="711"/>
                    <a:pt x="988" y="716"/>
                    <a:pt x="995" y="720"/>
                  </a:cubicBezTo>
                  <a:cubicBezTo>
                    <a:pt x="1005" y="734"/>
                    <a:pt x="1012" y="736"/>
                    <a:pt x="1025" y="744"/>
                  </a:cubicBezTo>
                  <a:cubicBezTo>
                    <a:pt x="1033" y="742"/>
                    <a:pt x="1045" y="747"/>
                    <a:pt x="1051" y="741"/>
                  </a:cubicBezTo>
                  <a:cubicBezTo>
                    <a:pt x="1060" y="733"/>
                    <a:pt x="1048" y="738"/>
                    <a:pt x="1059" y="734"/>
                  </a:cubicBezTo>
                  <a:cubicBezTo>
                    <a:pt x="1064" y="738"/>
                    <a:pt x="1068" y="739"/>
                    <a:pt x="1073" y="742"/>
                  </a:cubicBezTo>
                  <a:cubicBezTo>
                    <a:pt x="1079" y="752"/>
                    <a:pt x="1093" y="750"/>
                    <a:pt x="1104" y="753"/>
                  </a:cubicBezTo>
                  <a:cubicBezTo>
                    <a:pt x="1121" y="764"/>
                    <a:pt x="1110" y="759"/>
                    <a:pt x="1141" y="761"/>
                  </a:cubicBezTo>
                  <a:cubicBezTo>
                    <a:pt x="1152" y="763"/>
                    <a:pt x="1156" y="766"/>
                    <a:pt x="1163" y="775"/>
                  </a:cubicBezTo>
                  <a:cubicBezTo>
                    <a:pt x="1159" y="788"/>
                    <a:pt x="1167" y="781"/>
                    <a:pt x="1173" y="777"/>
                  </a:cubicBezTo>
                  <a:cubicBezTo>
                    <a:pt x="1175" y="770"/>
                    <a:pt x="1178" y="770"/>
                    <a:pt x="1181" y="764"/>
                  </a:cubicBezTo>
                  <a:cubicBezTo>
                    <a:pt x="1190" y="767"/>
                    <a:pt x="1189" y="772"/>
                    <a:pt x="1187" y="783"/>
                  </a:cubicBezTo>
                  <a:cubicBezTo>
                    <a:pt x="1195" y="789"/>
                    <a:pt x="1206" y="786"/>
                    <a:pt x="1215" y="789"/>
                  </a:cubicBezTo>
                  <a:cubicBezTo>
                    <a:pt x="1221" y="791"/>
                    <a:pt x="1226" y="797"/>
                    <a:pt x="1234" y="800"/>
                  </a:cubicBezTo>
                  <a:cubicBezTo>
                    <a:pt x="1245" y="803"/>
                    <a:pt x="1255" y="808"/>
                    <a:pt x="1265" y="816"/>
                  </a:cubicBezTo>
                  <a:cubicBezTo>
                    <a:pt x="1268" y="827"/>
                    <a:pt x="1272" y="831"/>
                    <a:pt x="1282" y="834"/>
                  </a:cubicBezTo>
                  <a:cubicBezTo>
                    <a:pt x="1286" y="842"/>
                    <a:pt x="1288" y="847"/>
                    <a:pt x="1296" y="852"/>
                  </a:cubicBezTo>
                  <a:cubicBezTo>
                    <a:pt x="1308" y="849"/>
                    <a:pt x="1302" y="850"/>
                    <a:pt x="1314" y="847"/>
                  </a:cubicBezTo>
                  <a:cubicBezTo>
                    <a:pt x="1316" y="845"/>
                    <a:pt x="1319" y="845"/>
                    <a:pt x="1319" y="845"/>
                  </a:cubicBezTo>
                  <a:cubicBezTo>
                    <a:pt x="1328" y="852"/>
                    <a:pt x="1322" y="842"/>
                    <a:pt x="1319" y="839"/>
                  </a:cubicBezTo>
                  <a:cubicBezTo>
                    <a:pt x="1316" y="844"/>
                    <a:pt x="1311" y="847"/>
                    <a:pt x="1310" y="853"/>
                  </a:cubicBezTo>
                  <a:cubicBezTo>
                    <a:pt x="1310" y="856"/>
                    <a:pt x="1307" y="863"/>
                    <a:pt x="1307" y="863"/>
                  </a:cubicBezTo>
                  <a:cubicBezTo>
                    <a:pt x="1308" y="869"/>
                    <a:pt x="1310" y="880"/>
                    <a:pt x="1319" y="880"/>
                  </a:cubicBezTo>
                  <a:lnTo>
                    <a:pt x="1320" y="916"/>
                  </a:lnTo>
                  <a:lnTo>
                    <a:pt x="1348" y="1005"/>
                  </a:lnTo>
                  <a:lnTo>
                    <a:pt x="1373" y="1033"/>
                  </a:lnTo>
                  <a:lnTo>
                    <a:pt x="1416" y="994"/>
                  </a:lnTo>
                  <a:lnTo>
                    <a:pt x="1413" y="967"/>
                  </a:lnTo>
                  <a:lnTo>
                    <a:pt x="1424" y="959"/>
                  </a:lnTo>
                  <a:lnTo>
                    <a:pt x="1423" y="925"/>
                  </a:lnTo>
                  <a:lnTo>
                    <a:pt x="1452" y="916"/>
                  </a:lnTo>
                  <a:lnTo>
                    <a:pt x="1520" y="855"/>
                  </a:lnTo>
                  <a:lnTo>
                    <a:pt x="1533" y="839"/>
                  </a:lnTo>
                  <a:lnTo>
                    <a:pt x="1588" y="824"/>
                  </a:lnTo>
                  <a:lnTo>
                    <a:pt x="1608" y="847"/>
                  </a:lnTo>
                  <a:lnTo>
                    <a:pt x="1602" y="858"/>
                  </a:lnTo>
                  <a:lnTo>
                    <a:pt x="1619" y="875"/>
                  </a:lnTo>
                  <a:lnTo>
                    <a:pt x="1624" y="899"/>
                  </a:lnTo>
                  <a:lnTo>
                    <a:pt x="1641" y="906"/>
                  </a:lnTo>
                  <a:lnTo>
                    <a:pt x="1677" y="892"/>
                  </a:lnTo>
                  <a:lnTo>
                    <a:pt x="1675" y="975"/>
                  </a:lnTo>
                  <a:lnTo>
                    <a:pt x="1684" y="956"/>
                  </a:lnTo>
                  <a:lnTo>
                    <a:pt x="1707" y="1000"/>
                  </a:lnTo>
                  <a:lnTo>
                    <a:pt x="1704" y="1030"/>
                  </a:lnTo>
                  <a:lnTo>
                    <a:pt x="1718" y="1013"/>
                  </a:lnTo>
                  <a:lnTo>
                    <a:pt x="1721" y="997"/>
                  </a:lnTo>
                  <a:lnTo>
                    <a:pt x="1738" y="972"/>
                  </a:lnTo>
                  <a:lnTo>
                    <a:pt x="1728" y="958"/>
                  </a:lnTo>
                  <a:lnTo>
                    <a:pt x="1737" y="942"/>
                  </a:lnTo>
                  <a:lnTo>
                    <a:pt x="1725" y="913"/>
                  </a:lnTo>
                  <a:lnTo>
                    <a:pt x="1732" y="889"/>
                  </a:lnTo>
                  <a:lnTo>
                    <a:pt x="1715" y="895"/>
                  </a:lnTo>
                  <a:lnTo>
                    <a:pt x="1707" y="874"/>
                  </a:lnTo>
                  <a:lnTo>
                    <a:pt x="1701" y="844"/>
                  </a:lnTo>
                  <a:lnTo>
                    <a:pt x="1714" y="816"/>
                  </a:lnTo>
                  <a:lnTo>
                    <a:pt x="1728" y="834"/>
                  </a:lnTo>
                  <a:lnTo>
                    <a:pt x="1721" y="880"/>
                  </a:lnTo>
                  <a:lnTo>
                    <a:pt x="1738" y="849"/>
                  </a:lnTo>
                  <a:lnTo>
                    <a:pt x="1732" y="824"/>
                  </a:lnTo>
                  <a:lnTo>
                    <a:pt x="1752" y="808"/>
                  </a:lnTo>
                  <a:lnTo>
                    <a:pt x="1752" y="797"/>
                  </a:lnTo>
                  <a:lnTo>
                    <a:pt x="1759" y="800"/>
                  </a:lnTo>
                  <a:lnTo>
                    <a:pt x="1796" y="756"/>
                  </a:lnTo>
                  <a:lnTo>
                    <a:pt x="1805" y="684"/>
                  </a:lnTo>
                  <a:lnTo>
                    <a:pt x="1810" y="655"/>
                  </a:lnTo>
                  <a:lnTo>
                    <a:pt x="1794" y="664"/>
                  </a:lnTo>
                  <a:lnTo>
                    <a:pt x="1788" y="655"/>
                  </a:lnTo>
                  <a:lnTo>
                    <a:pt x="1800" y="638"/>
                  </a:lnTo>
                  <a:lnTo>
                    <a:pt x="1776" y="592"/>
                  </a:lnTo>
                  <a:lnTo>
                    <a:pt x="1763" y="580"/>
                  </a:lnTo>
                  <a:lnTo>
                    <a:pt x="1783" y="544"/>
                  </a:lnTo>
                  <a:lnTo>
                    <a:pt x="1762" y="539"/>
                  </a:lnTo>
                  <a:lnTo>
                    <a:pt x="1743" y="531"/>
                  </a:lnTo>
                  <a:lnTo>
                    <a:pt x="1751" y="503"/>
                  </a:lnTo>
                  <a:lnTo>
                    <a:pt x="1763" y="487"/>
                  </a:lnTo>
                  <a:lnTo>
                    <a:pt x="1766" y="519"/>
                  </a:lnTo>
                  <a:lnTo>
                    <a:pt x="1788" y="498"/>
                  </a:lnTo>
                  <a:lnTo>
                    <a:pt x="1805" y="497"/>
                  </a:lnTo>
                  <a:lnTo>
                    <a:pt x="1797" y="519"/>
                  </a:lnTo>
                  <a:lnTo>
                    <a:pt x="1824" y="528"/>
                  </a:lnTo>
                  <a:lnTo>
                    <a:pt x="1816" y="545"/>
                  </a:lnTo>
                  <a:lnTo>
                    <a:pt x="1830" y="559"/>
                  </a:lnTo>
                  <a:lnTo>
                    <a:pt x="1830" y="588"/>
                  </a:lnTo>
                  <a:lnTo>
                    <a:pt x="1861" y="559"/>
                  </a:lnTo>
                  <a:lnTo>
                    <a:pt x="1850" y="531"/>
                  </a:lnTo>
                  <a:lnTo>
                    <a:pt x="1821" y="489"/>
                  </a:lnTo>
                  <a:lnTo>
                    <a:pt x="1830" y="473"/>
                  </a:lnTo>
                  <a:lnTo>
                    <a:pt x="1824" y="448"/>
                  </a:lnTo>
                  <a:lnTo>
                    <a:pt x="1844" y="427"/>
                  </a:lnTo>
                  <a:lnTo>
                    <a:pt x="1868" y="416"/>
                  </a:lnTo>
                  <a:lnTo>
                    <a:pt x="1867" y="367"/>
                  </a:lnTo>
                  <a:lnTo>
                    <a:pt x="1865" y="333"/>
                  </a:lnTo>
                  <a:lnTo>
                    <a:pt x="1858" y="302"/>
                  </a:lnTo>
                  <a:lnTo>
                    <a:pt x="1830" y="248"/>
                  </a:lnTo>
                  <a:lnTo>
                    <a:pt x="1825" y="275"/>
                  </a:lnTo>
                  <a:lnTo>
                    <a:pt x="1807" y="258"/>
                  </a:lnTo>
                  <a:lnTo>
                    <a:pt x="1790" y="266"/>
                  </a:lnTo>
                  <a:lnTo>
                    <a:pt x="1805" y="226"/>
                  </a:lnTo>
                  <a:lnTo>
                    <a:pt x="1821" y="192"/>
                  </a:lnTo>
                  <a:lnTo>
                    <a:pt x="1850" y="176"/>
                  </a:lnTo>
                  <a:lnTo>
                    <a:pt x="1853" y="161"/>
                  </a:lnTo>
                  <a:lnTo>
                    <a:pt x="1873" y="155"/>
                  </a:lnTo>
                  <a:lnTo>
                    <a:pt x="1873" y="170"/>
                  </a:lnTo>
                  <a:lnTo>
                    <a:pt x="1896" y="145"/>
                  </a:lnTo>
                  <a:lnTo>
                    <a:pt x="1882" y="139"/>
                  </a:lnTo>
                  <a:lnTo>
                    <a:pt x="1882" y="120"/>
                  </a:lnTo>
                  <a:lnTo>
                    <a:pt x="1899" y="108"/>
                  </a:lnTo>
                  <a:lnTo>
                    <a:pt x="1906" y="122"/>
                  </a:lnTo>
                  <a:lnTo>
                    <a:pt x="1929" y="100"/>
                  </a:lnTo>
                  <a:lnTo>
                    <a:pt x="1926" y="120"/>
                  </a:lnTo>
                  <a:lnTo>
                    <a:pt x="1927" y="136"/>
                  </a:lnTo>
                  <a:lnTo>
                    <a:pt x="1926" y="158"/>
                  </a:lnTo>
                  <a:lnTo>
                    <a:pt x="1918" y="175"/>
                  </a:lnTo>
                  <a:lnTo>
                    <a:pt x="1932" y="197"/>
                  </a:lnTo>
                  <a:lnTo>
                    <a:pt x="1938" y="212"/>
                  </a:lnTo>
                  <a:lnTo>
                    <a:pt x="1947" y="209"/>
                  </a:lnTo>
                  <a:lnTo>
                    <a:pt x="1992" y="256"/>
                  </a:lnTo>
                  <a:lnTo>
                    <a:pt x="2002" y="233"/>
                  </a:lnTo>
                  <a:lnTo>
                    <a:pt x="2014" y="216"/>
                  </a:lnTo>
                  <a:lnTo>
                    <a:pt x="1994" y="205"/>
                  </a:lnTo>
                  <a:lnTo>
                    <a:pt x="1999" y="184"/>
                  </a:lnTo>
                  <a:lnTo>
                    <a:pt x="1999" y="172"/>
                  </a:lnTo>
                  <a:lnTo>
                    <a:pt x="1978" y="150"/>
                  </a:lnTo>
                  <a:lnTo>
                    <a:pt x="1960" y="147"/>
                  </a:lnTo>
                  <a:lnTo>
                    <a:pt x="1943" y="123"/>
                  </a:lnTo>
                  <a:lnTo>
                    <a:pt x="1966" y="119"/>
                  </a:lnTo>
                  <a:lnTo>
                    <a:pt x="1977" y="100"/>
                  </a:lnTo>
                  <a:lnTo>
                    <a:pt x="1991" y="106"/>
                  </a:lnTo>
                  <a:lnTo>
                    <a:pt x="2005" y="98"/>
                  </a:lnTo>
                  <a:lnTo>
                    <a:pt x="1990" y="80"/>
                  </a:lnTo>
                  <a:lnTo>
                    <a:pt x="2002" y="69"/>
                  </a:lnTo>
                  <a:lnTo>
                    <a:pt x="2021" y="68"/>
                  </a:lnTo>
                  <a:lnTo>
                    <a:pt x="2000" y="53"/>
                  </a:lnTo>
                  <a:lnTo>
                    <a:pt x="1975" y="51"/>
                  </a:lnTo>
                  <a:lnTo>
                    <a:pt x="1990" y="32"/>
                  </a:lnTo>
                  <a:lnTo>
                    <a:pt x="1989" y="11"/>
                  </a:lnTo>
                  <a:lnTo>
                    <a:pt x="2005" y="27"/>
                  </a:lnTo>
                  <a:lnTo>
                    <a:pt x="2015" y="18"/>
                  </a:lnTo>
                  <a:lnTo>
                    <a:pt x="2024" y="21"/>
                  </a:lnTo>
                  <a:lnTo>
                    <a:pt x="2038" y="36"/>
                  </a:lnTo>
                  <a:lnTo>
                    <a:pt x="2060" y="33"/>
                  </a:lnTo>
                  <a:lnTo>
                    <a:pt x="2042" y="15"/>
                  </a:lnTo>
                  <a:lnTo>
                    <a:pt x="2038" y="0"/>
                  </a:lnTo>
                  <a:lnTo>
                    <a:pt x="2006" y="5"/>
                  </a:lnTo>
                  <a:lnTo>
                    <a:pt x="1994" y="0"/>
                  </a:lnTo>
                  <a:lnTo>
                    <a:pt x="1955" y="11"/>
                  </a:lnTo>
                  <a:lnTo>
                    <a:pt x="1913" y="18"/>
                  </a:lnTo>
                  <a:lnTo>
                    <a:pt x="1886" y="30"/>
                  </a:lnTo>
                  <a:lnTo>
                    <a:pt x="1885" y="47"/>
                  </a:lnTo>
                  <a:lnTo>
                    <a:pt x="1864" y="50"/>
                  </a:lnTo>
                  <a:cubicBezTo>
                    <a:pt x="1858" y="55"/>
                    <a:pt x="1854" y="75"/>
                    <a:pt x="1847" y="77"/>
                  </a:cubicBezTo>
                  <a:cubicBezTo>
                    <a:pt x="1839" y="82"/>
                    <a:pt x="1830" y="65"/>
                    <a:pt x="1820" y="63"/>
                  </a:cubicBezTo>
                  <a:lnTo>
                    <a:pt x="1786" y="66"/>
                  </a:lnTo>
                  <a:lnTo>
                    <a:pt x="1732" y="56"/>
                  </a:lnTo>
                  <a:lnTo>
                    <a:pt x="1709" y="62"/>
                  </a:lnTo>
                  <a:lnTo>
                    <a:pt x="1678" y="56"/>
                  </a:lnTo>
                  <a:lnTo>
                    <a:pt x="1666" y="47"/>
                  </a:lnTo>
                  <a:lnTo>
                    <a:pt x="1643" y="50"/>
                  </a:lnTo>
                  <a:cubicBezTo>
                    <a:pt x="1635" y="52"/>
                    <a:pt x="1626" y="57"/>
                    <a:pt x="1618" y="60"/>
                  </a:cubicBezTo>
                  <a:cubicBezTo>
                    <a:pt x="1610" y="63"/>
                    <a:pt x="1603" y="67"/>
                    <a:pt x="1597" y="71"/>
                  </a:cubicBezTo>
                  <a:cubicBezTo>
                    <a:pt x="1591" y="75"/>
                    <a:pt x="1587" y="84"/>
                    <a:pt x="1583" y="83"/>
                  </a:cubicBezTo>
                  <a:cubicBezTo>
                    <a:pt x="1571" y="90"/>
                    <a:pt x="1576" y="67"/>
                    <a:pt x="1571" y="65"/>
                  </a:cubicBezTo>
                  <a:lnTo>
                    <a:pt x="1553" y="69"/>
                  </a:lnTo>
                  <a:cubicBezTo>
                    <a:pt x="1544" y="66"/>
                    <a:pt x="1531" y="50"/>
                    <a:pt x="1517" y="47"/>
                  </a:cubicBezTo>
                  <a:cubicBezTo>
                    <a:pt x="1503" y="46"/>
                    <a:pt x="1479" y="45"/>
                    <a:pt x="1468" y="48"/>
                  </a:cubicBezTo>
                  <a:cubicBezTo>
                    <a:pt x="1457" y="51"/>
                    <a:pt x="1461" y="63"/>
                    <a:pt x="1451" y="63"/>
                  </a:cubicBezTo>
                  <a:cubicBezTo>
                    <a:pt x="1439" y="66"/>
                    <a:pt x="1419" y="48"/>
                    <a:pt x="1408" y="47"/>
                  </a:cubicBezTo>
                  <a:cubicBezTo>
                    <a:pt x="1397" y="46"/>
                    <a:pt x="1390" y="59"/>
                    <a:pt x="1382" y="59"/>
                  </a:cubicBezTo>
                  <a:cubicBezTo>
                    <a:pt x="1374" y="59"/>
                    <a:pt x="1362" y="52"/>
                    <a:pt x="1357" y="47"/>
                  </a:cubicBezTo>
                  <a:cubicBezTo>
                    <a:pt x="1352" y="42"/>
                    <a:pt x="1356" y="36"/>
                    <a:pt x="1349" y="30"/>
                  </a:cubicBezTo>
                  <a:cubicBezTo>
                    <a:pt x="1333" y="26"/>
                    <a:pt x="1330" y="13"/>
                    <a:pt x="1318" y="11"/>
                  </a:cubicBezTo>
                  <a:cubicBezTo>
                    <a:pt x="1306" y="9"/>
                    <a:pt x="1287" y="20"/>
                    <a:pt x="1277" y="20"/>
                  </a:cubicBezTo>
                  <a:cubicBezTo>
                    <a:pt x="1267" y="20"/>
                    <a:pt x="1268" y="10"/>
                    <a:pt x="1259" y="9"/>
                  </a:cubicBezTo>
                  <a:lnTo>
                    <a:pt x="1222" y="14"/>
                  </a:lnTo>
                  <a:lnTo>
                    <a:pt x="1210" y="32"/>
                  </a:lnTo>
                  <a:cubicBezTo>
                    <a:pt x="1203" y="35"/>
                    <a:pt x="1187" y="28"/>
                    <a:pt x="1178" y="29"/>
                  </a:cubicBezTo>
                  <a:cubicBezTo>
                    <a:pt x="1169" y="30"/>
                    <a:pt x="1164" y="36"/>
                    <a:pt x="1154" y="39"/>
                  </a:cubicBezTo>
                  <a:cubicBezTo>
                    <a:pt x="1144" y="42"/>
                    <a:pt x="1124" y="44"/>
                    <a:pt x="1120" y="48"/>
                  </a:cubicBezTo>
                  <a:cubicBezTo>
                    <a:pt x="1109" y="57"/>
                    <a:pt x="1132" y="61"/>
                    <a:pt x="1132" y="65"/>
                  </a:cubicBezTo>
                  <a:cubicBezTo>
                    <a:pt x="1132" y="69"/>
                    <a:pt x="1126" y="70"/>
                    <a:pt x="1118" y="72"/>
                  </a:cubicBezTo>
                  <a:cubicBezTo>
                    <a:pt x="1110" y="74"/>
                    <a:pt x="1084" y="72"/>
                    <a:pt x="1085" y="77"/>
                  </a:cubicBezTo>
                  <a:cubicBezTo>
                    <a:pt x="1085" y="86"/>
                    <a:pt x="1126" y="103"/>
                    <a:pt x="1127" y="105"/>
                  </a:cubicBezTo>
                  <a:lnTo>
                    <a:pt x="1090" y="90"/>
                  </a:lnTo>
                  <a:lnTo>
                    <a:pt x="1072" y="95"/>
                  </a:lnTo>
                  <a:cubicBezTo>
                    <a:pt x="1063" y="93"/>
                    <a:pt x="1039" y="65"/>
                    <a:pt x="1033" y="80"/>
                  </a:cubicBezTo>
                  <a:cubicBezTo>
                    <a:pt x="1027" y="95"/>
                    <a:pt x="1077" y="132"/>
                    <a:pt x="1084" y="147"/>
                  </a:cubicBezTo>
                  <a:lnTo>
                    <a:pt x="1075" y="171"/>
                  </a:lnTo>
                  <a:lnTo>
                    <a:pt x="1040" y="170"/>
                  </a:lnTo>
                  <a:cubicBezTo>
                    <a:pt x="1040" y="170"/>
                    <a:pt x="1061" y="164"/>
                    <a:pt x="1060" y="155"/>
                  </a:cubicBezTo>
                  <a:cubicBezTo>
                    <a:pt x="1059" y="146"/>
                    <a:pt x="1043" y="127"/>
                    <a:pt x="1031" y="113"/>
                  </a:cubicBezTo>
                  <a:cubicBezTo>
                    <a:pt x="1025" y="101"/>
                    <a:pt x="1030" y="84"/>
                    <a:pt x="1024" y="81"/>
                  </a:cubicBezTo>
                  <a:cubicBezTo>
                    <a:pt x="1018" y="78"/>
                    <a:pt x="997" y="65"/>
                    <a:pt x="989" y="71"/>
                  </a:cubicBezTo>
                  <a:cubicBezTo>
                    <a:pt x="968" y="74"/>
                    <a:pt x="970" y="107"/>
                    <a:pt x="974" y="116"/>
                  </a:cubicBezTo>
                  <a:cubicBezTo>
                    <a:pt x="978" y="125"/>
                    <a:pt x="1009" y="122"/>
                    <a:pt x="1012" y="125"/>
                  </a:cubicBezTo>
                  <a:cubicBezTo>
                    <a:pt x="1028" y="153"/>
                    <a:pt x="1005" y="143"/>
                    <a:pt x="989" y="134"/>
                  </a:cubicBezTo>
                  <a:cubicBezTo>
                    <a:pt x="973" y="125"/>
                    <a:pt x="968" y="128"/>
                    <a:pt x="958" y="128"/>
                  </a:cubicBezTo>
                  <a:cubicBezTo>
                    <a:pt x="948" y="128"/>
                    <a:pt x="931" y="133"/>
                    <a:pt x="926" y="137"/>
                  </a:cubicBezTo>
                  <a:cubicBezTo>
                    <a:pt x="921" y="141"/>
                    <a:pt x="939" y="157"/>
                    <a:pt x="926" y="152"/>
                  </a:cubicBezTo>
                  <a:cubicBezTo>
                    <a:pt x="913" y="147"/>
                    <a:pt x="899" y="149"/>
                    <a:pt x="886" y="147"/>
                  </a:cubicBezTo>
                  <a:cubicBezTo>
                    <a:pt x="873" y="145"/>
                    <a:pt x="863" y="136"/>
                    <a:pt x="847" y="140"/>
                  </a:cubicBezTo>
                  <a:cubicBezTo>
                    <a:pt x="825" y="147"/>
                    <a:pt x="794" y="185"/>
                    <a:pt x="787" y="171"/>
                  </a:cubicBezTo>
                  <a:cubicBezTo>
                    <a:pt x="780" y="157"/>
                    <a:pt x="800" y="155"/>
                    <a:pt x="800" y="150"/>
                  </a:cubicBezTo>
                  <a:cubicBezTo>
                    <a:pt x="800" y="145"/>
                    <a:pt x="796" y="138"/>
                    <a:pt x="790" y="138"/>
                  </a:cubicBezTo>
                  <a:cubicBezTo>
                    <a:pt x="784" y="138"/>
                    <a:pt x="764" y="144"/>
                    <a:pt x="763" y="152"/>
                  </a:cubicBezTo>
                  <a:cubicBezTo>
                    <a:pt x="761" y="163"/>
                    <a:pt x="783" y="181"/>
                    <a:pt x="782" y="186"/>
                  </a:cubicBezTo>
                  <a:cubicBezTo>
                    <a:pt x="781" y="191"/>
                    <a:pt x="765" y="180"/>
                    <a:pt x="758" y="183"/>
                  </a:cubicBezTo>
                  <a:cubicBezTo>
                    <a:pt x="751" y="186"/>
                    <a:pt x="746" y="207"/>
                    <a:pt x="742" y="203"/>
                  </a:cubicBezTo>
                  <a:lnTo>
                    <a:pt x="728" y="189"/>
                  </a:lnTo>
                  <a:lnTo>
                    <a:pt x="746" y="170"/>
                  </a:lnTo>
                  <a:lnTo>
                    <a:pt x="733" y="158"/>
                  </a:lnTo>
                  <a:cubicBezTo>
                    <a:pt x="727" y="155"/>
                    <a:pt x="718" y="150"/>
                    <a:pt x="712" y="149"/>
                  </a:cubicBezTo>
                  <a:cubicBezTo>
                    <a:pt x="706" y="148"/>
                    <a:pt x="701" y="154"/>
                    <a:pt x="698" y="152"/>
                  </a:cubicBezTo>
                  <a:cubicBezTo>
                    <a:pt x="695" y="150"/>
                    <a:pt x="698" y="139"/>
                    <a:pt x="695" y="138"/>
                  </a:cubicBezTo>
                  <a:cubicBezTo>
                    <a:pt x="692" y="137"/>
                    <a:pt x="685" y="146"/>
                    <a:pt x="680" y="146"/>
                  </a:cubicBezTo>
                  <a:cubicBezTo>
                    <a:pt x="675" y="146"/>
                    <a:pt x="677" y="142"/>
                    <a:pt x="667" y="140"/>
                  </a:cubicBezTo>
                  <a:cubicBezTo>
                    <a:pt x="657" y="138"/>
                    <a:pt x="632" y="139"/>
                    <a:pt x="622" y="135"/>
                  </a:cubicBezTo>
                  <a:cubicBezTo>
                    <a:pt x="612" y="131"/>
                    <a:pt x="632" y="117"/>
                    <a:pt x="608" y="113"/>
                  </a:cubicBezTo>
                  <a:cubicBezTo>
                    <a:pt x="584" y="109"/>
                    <a:pt x="590" y="119"/>
                    <a:pt x="583" y="119"/>
                  </a:cubicBezTo>
                  <a:lnTo>
                    <a:pt x="568" y="114"/>
                  </a:lnTo>
                  <a:cubicBezTo>
                    <a:pt x="555" y="116"/>
                    <a:pt x="521" y="125"/>
                    <a:pt x="505" y="131"/>
                  </a:cubicBezTo>
                  <a:cubicBezTo>
                    <a:pt x="482" y="140"/>
                    <a:pt x="485" y="140"/>
                    <a:pt x="472" y="152"/>
                  </a:cubicBezTo>
                  <a:cubicBezTo>
                    <a:pt x="459" y="164"/>
                    <a:pt x="443" y="192"/>
                    <a:pt x="428" y="204"/>
                  </a:cubicBezTo>
                  <a:cubicBezTo>
                    <a:pt x="410" y="223"/>
                    <a:pt x="393" y="217"/>
                    <a:pt x="382" y="224"/>
                  </a:cubicBezTo>
                  <a:lnTo>
                    <a:pt x="364" y="248"/>
                  </a:lnTo>
                  <a:lnTo>
                    <a:pt x="368" y="290"/>
                  </a:lnTo>
                  <a:lnTo>
                    <a:pt x="389" y="306"/>
                  </a:lnTo>
                  <a:lnTo>
                    <a:pt x="436" y="290"/>
                  </a:lnTo>
                  <a:cubicBezTo>
                    <a:pt x="447" y="296"/>
                    <a:pt x="448" y="335"/>
                    <a:pt x="457" y="341"/>
                  </a:cubicBezTo>
                  <a:cubicBezTo>
                    <a:pt x="468" y="348"/>
                    <a:pt x="486" y="330"/>
                    <a:pt x="491" y="324"/>
                  </a:cubicBezTo>
                  <a:lnTo>
                    <a:pt x="496" y="300"/>
                  </a:lnTo>
                  <a:lnTo>
                    <a:pt x="514" y="281"/>
                  </a:lnTo>
                  <a:cubicBezTo>
                    <a:pt x="515" y="270"/>
                    <a:pt x="499" y="245"/>
                    <a:pt x="502" y="234"/>
                  </a:cubicBezTo>
                  <a:cubicBezTo>
                    <a:pt x="505" y="225"/>
                    <a:pt x="526" y="220"/>
                    <a:pt x="535" y="213"/>
                  </a:cubicBezTo>
                  <a:cubicBezTo>
                    <a:pt x="544" y="206"/>
                    <a:pt x="546" y="192"/>
                    <a:pt x="554" y="191"/>
                  </a:cubicBezTo>
                  <a:cubicBezTo>
                    <a:pt x="567" y="190"/>
                    <a:pt x="580" y="200"/>
                    <a:pt x="581" y="204"/>
                  </a:cubicBezTo>
                  <a:cubicBezTo>
                    <a:pt x="581" y="208"/>
                    <a:pt x="560" y="200"/>
                    <a:pt x="557" y="215"/>
                  </a:cubicBezTo>
                  <a:cubicBezTo>
                    <a:pt x="554" y="230"/>
                    <a:pt x="535" y="233"/>
                    <a:pt x="533" y="242"/>
                  </a:cubicBezTo>
                  <a:lnTo>
                    <a:pt x="548" y="267"/>
                  </a:lnTo>
                  <a:lnTo>
                    <a:pt x="571" y="276"/>
                  </a:lnTo>
                  <a:lnTo>
                    <a:pt x="598" y="264"/>
                  </a:lnTo>
                  <a:lnTo>
                    <a:pt x="625" y="261"/>
                  </a:lnTo>
                  <a:cubicBezTo>
                    <a:pt x="632" y="263"/>
                    <a:pt x="645" y="271"/>
                    <a:pt x="638" y="276"/>
                  </a:cubicBezTo>
                  <a:cubicBezTo>
                    <a:pt x="631" y="281"/>
                    <a:pt x="593" y="287"/>
                    <a:pt x="584" y="293"/>
                  </a:cubicBezTo>
                  <a:cubicBezTo>
                    <a:pt x="575" y="299"/>
                    <a:pt x="587" y="309"/>
                    <a:pt x="581" y="311"/>
                  </a:cubicBezTo>
                  <a:cubicBezTo>
                    <a:pt x="567" y="319"/>
                    <a:pt x="556" y="301"/>
                    <a:pt x="550" y="303"/>
                  </a:cubicBezTo>
                  <a:lnTo>
                    <a:pt x="547" y="323"/>
                  </a:lnTo>
                  <a:lnTo>
                    <a:pt x="536" y="350"/>
                  </a:lnTo>
                  <a:lnTo>
                    <a:pt x="512" y="351"/>
                  </a:lnTo>
                  <a:lnTo>
                    <a:pt x="476" y="360"/>
                  </a:lnTo>
                  <a:lnTo>
                    <a:pt x="457" y="351"/>
                  </a:lnTo>
                  <a:lnTo>
                    <a:pt x="443" y="357"/>
                  </a:lnTo>
                  <a:lnTo>
                    <a:pt x="419" y="342"/>
                  </a:lnTo>
                  <a:cubicBezTo>
                    <a:pt x="417" y="335"/>
                    <a:pt x="433" y="329"/>
                    <a:pt x="428" y="317"/>
                  </a:cubicBezTo>
                  <a:cubicBezTo>
                    <a:pt x="423" y="305"/>
                    <a:pt x="396" y="313"/>
                    <a:pt x="392" y="321"/>
                  </a:cubicBezTo>
                  <a:lnTo>
                    <a:pt x="397" y="362"/>
                  </a:lnTo>
                  <a:lnTo>
                    <a:pt x="373" y="362"/>
                  </a:lnTo>
                  <a:cubicBezTo>
                    <a:pt x="365" y="366"/>
                    <a:pt x="355" y="380"/>
                    <a:pt x="347" y="386"/>
                  </a:cubicBezTo>
                  <a:cubicBezTo>
                    <a:pt x="339" y="392"/>
                    <a:pt x="332" y="379"/>
                    <a:pt x="322" y="399"/>
                  </a:cubicBezTo>
                  <a:cubicBezTo>
                    <a:pt x="312" y="419"/>
                    <a:pt x="301" y="411"/>
                    <a:pt x="293" y="414"/>
                  </a:cubicBezTo>
                  <a:cubicBezTo>
                    <a:pt x="285" y="417"/>
                    <a:pt x="280" y="414"/>
                    <a:pt x="275" y="416"/>
                  </a:cubicBezTo>
                  <a:cubicBezTo>
                    <a:pt x="270" y="418"/>
                    <a:pt x="267" y="426"/>
                    <a:pt x="260" y="426"/>
                  </a:cubicBezTo>
                  <a:cubicBezTo>
                    <a:pt x="253" y="426"/>
                    <a:pt x="238" y="417"/>
                    <a:pt x="232" y="419"/>
                  </a:cubicBezTo>
                  <a:cubicBezTo>
                    <a:pt x="226" y="421"/>
                    <a:pt x="221" y="432"/>
                    <a:pt x="226" y="437"/>
                  </a:cubicBezTo>
                  <a:lnTo>
                    <a:pt x="263" y="449"/>
                  </a:lnTo>
                  <a:lnTo>
                    <a:pt x="272" y="474"/>
                  </a:lnTo>
                  <a:lnTo>
                    <a:pt x="262" y="503"/>
                  </a:lnTo>
                  <a:cubicBezTo>
                    <a:pt x="251" y="507"/>
                    <a:pt x="223" y="499"/>
                    <a:pt x="206" y="498"/>
                  </a:cubicBezTo>
                  <a:cubicBezTo>
                    <a:pt x="189" y="497"/>
                    <a:pt x="164" y="492"/>
                    <a:pt x="158" y="498"/>
                  </a:cubicBezTo>
                  <a:cubicBezTo>
                    <a:pt x="152" y="504"/>
                    <a:pt x="167" y="527"/>
                    <a:pt x="167" y="537"/>
                  </a:cubicBezTo>
                  <a:cubicBezTo>
                    <a:pt x="167" y="547"/>
                    <a:pt x="159" y="551"/>
                    <a:pt x="157" y="557"/>
                  </a:cubicBezTo>
                  <a:cubicBezTo>
                    <a:pt x="155" y="563"/>
                    <a:pt x="161" y="569"/>
                    <a:pt x="157" y="576"/>
                  </a:cubicBezTo>
                  <a:cubicBezTo>
                    <a:pt x="153" y="583"/>
                    <a:pt x="127" y="594"/>
                    <a:pt x="130" y="597"/>
                  </a:cubicBezTo>
                  <a:cubicBezTo>
                    <a:pt x="139" y="606"/>
                    <a:pt x="160" y="592"/>
                    <a:pt x="176" y="592"/>
                  </a:cubicBezTo>
                  <a:lnTo>
                    <a:pt x="226" y="598"/>
                  </a:lnTo>
                  <a:lnTo>
                    <a:pt x="260" y="588"/>
                  </a:lnTo>
                  <a:lnTo>
                    <a:pt x="274" y="576"/>
                  </a:lnTo>
                  <a:cubicBezTo>
                    <a:pt x="282" y="573"/>
                    <a:pt x="306" y="573"/>
                    <a:pt x="307" y="569"/>
                  </a:cubicBezTo>
                  <a:cubicBezTo>
                    <a:pt x="321" y="557"/>
                    <a:pt x="283" y="559"/>
                    <a:pt x="283" y="552"/>
                  </a:cubicBezTo>
                  <a:cubicBezTo>
                    <a:pt x="283" y="545"/>
                    <a:pt x="300" y="533"/>
                    <a:pt x="307" y="528"/>
                  </a:cubicBezTo>
                  <a:lnTo>
                    <a:pt x="325" y="522"/>
                  </a:lnTo>
                  <a:lnTo>
                    <a:pt x="320" y="503"/>
                  </a:lnTo>
                  <a:cubicBezTo>
                    <a:pt x="323" y="499"/>
                    <a:pt x="336" y="495"/>
                    <a:pt x="342" y="495"/>
                  </a:cubicBezTo>
                  <a:cubicBezTo>
                    <a:pt x="348" y="495"/>
                    <a:pt x="350" y="506"/>
                    <a:pt x="358" y="505"/>
                  </a:cubicBezTo>
                  <a:cubicBezTo>
                    <a:pt x="366" y="504"/>
                    <a:pt x="384" y="490"/>
                    <a:pt x="393" y="491"/>
                  </a:cubicBezTo>
                  <a:lnTo>
                    <a:pt x="415" y="510"/>
                  </a:lnTo>
                  <a:cubicBezTo>
                    <a:pt x="416" y="517"/>
                    <a:pt x="407" y="520"/>
                    <a:pt x="401" y="530"/>
                  </a:cubicBezTo>
                  <a:lnTo>
                    <a:pt x="381" y="573"/>
                  </a:lnTo>
                  <a:lnTo>
                    <a:pt x="406" y="576"/>
                  </a:lnTo>
                  <a:lnTo>
                    <a:pt x="412" y="561"/>
                  </a:lnTo>
                  <a:lnTo>
                    <a:pt x="404" y="543"/>
                  </a:lnTo>
                  <a:cubicBezTo>
                    <a:pt x="406" y="539"/>
                    <a:pt x="417" y="541"/>
                    <a:pt x="423" y="538"/>
                  </a:cubicBezTo>
                  <a:cubicBezTo>
                    <a:pt x="430" y="537"/>
                    <a:pt x="435" y="526"/>
                    <a:pt x="441" y="527"/>
                  </a:cubicBezTo>
                  <a:cubicBezTo>
                    <a:pt x="447" y="528"/>
                    <a:pt x="453" y="542"/>
                    <a:pt x="460" y="547"/>
                  </a:cubicBezTo>
                  <a:lnTo>
                    <a:pt x="483" y="559"/>
                  </a:lnTo>
                  <a:lnTo>
                    <a:pt x="490" y="573"/>
                  </a:lnTo>
                  <a:lnTo>
                    <a:pt x="493" y="590"/>
                  </a:lnTo>
                  <a:lnTo>
                    <a:pt x="508" y="579"/>
                  </a:lnTo>
                  <a:cubicBezTo>
                    <a:pt x="508" y="579"/>
                    <a:pt x="507" y="566"/>
                    <a:pt x="509" y="564"/>
                  </a:cubicBezTo>
                  <a:cubicBezTo>
                    <a:pt x="513" y="561"/>
                    <a:pt x="512" y="581"/>
                    <a:pt x="521" y="569"/>
                  </a:cubicBezTo>
                  <a:cubicBezTo>
                    <a:pt x="530" y="557"/>
                    <a:pt x="525" y="556"/>
                    <a:pt x="515" y="549"/>
                  </a:cubicBezTo>
                  <a:lnTo>
                    <a:pt x="468" y="523"/>
                  </a:lnTo>
                  <a:lnTo>
                    <a:pt x="441" y="508"/>
                  </a:lnTo>
                  <a:lnTo>
                    <a:pt x="455" y="480"/>
                  </a:lnTo>
                  <a:lnTo>
                    <a:pt x="464" y="498"/>
                  </a:lnTo>
                  <a:lnTo>
                    <a:pt x="487" y="512"/>
                  </a:lnTo>
                  <a:lnTo>
                    <a:pt x="517" y="527"/>
                  </a:lnTo>
                  <a:cubicBezTo>
                    <a:pt x="526" y="535"/>
                    <a:pt x="529" y="546"/>
                    <a:pt x="539" y="559"/>
                  </a:cubicBezTo>
                  <a:cubicBezTo>
                    <a:pt x="549" y="572"/>
                    <a:pt x="570" y="602"/>
                    <a:pt x="579" y="608"/>
                  </a:cubicBezTo>
                  <a:cubicBezTo>
                    <a:pt x="588" y="614"/>
                    <a:pt x="588" y="598"/>
                    <a:pt x="592" y="597"/>
                  </a:cubicBezTo>
                  <a:cubicBezTo>
                    <a:pt x="596" y="594"/>
                    <a:pt x="604" y="602"/>
                    <a:pt x="604" y="599"/>
                  </a:cubicBezTo>
                  <a:cubicBezTo>
                    <a:pt x="604" y="596"/>
                    <a:pt x="596" y="583"/>
                    <a:pt x="593" y="578"/>
                  </a:cubicBezTo>
                  <a:cubicBezTo>
                    <a:pt x="589" y="574"/>
                    <a:pt x="590" y="568"/>
                    <a:pt x="587" y="567"/>
                  </a:cubicBezTo>
                  <a:cubicBezTo>
                    <a:pt x="585" y="563"/>
                    <a:pt x="583" y="558"/>
                    <a:pt x="584" y="555"/>
                  </a:cubicBezTo>
                  <a:cubicBezTo>
                    <a:pt x="585" y="552"/>
                    <a:pt x="589" y="550"/>
                    <a:pt x="592" y="548"/>
                  </a:cubicBezTo>
                  <a:lnTo>
                    <a:pt x="601" y="542"/>
                  </a:lnTo>
                  <a:cubicBezTo>
                    <a:pt x="607" y="541"/>
                    <a:pt x="621" y="541"/>
                    <a:pt x="627" y="541"/>
                  </a:cubicBezTo>
                  <a:cubicBezTo>
                    <a:pt x="633" y="541"/>
                    <a:pt x="636" y="541"/>
                    <a:pt x="640" y="539"/>
                  </a:cubicBezTo>
                  <a:cubicBezTo>
                    <a:pt x="644" y="537"/>
                    <a:pt x="648" y="532"/>
                    <a:pt x="650" y="528"/>
                  </a:cubicBezTo>
                  <a:lnTo>
                    <a:pt x="653" y="513"/>
                  </a:lnTo>
                  <a:lnTo>
                    <a:pt x="639" y="505"/>
                  </a:lnTo>
                  <a:cubicBezTo>
                    <a:pt x="639" y="503"/>
                    <a:pt x="650" y="505"/>
                    <a:pt x="655" y="501"/>
                  </a:cubicBezTo>
                  <a:cubicBezTo>
                    <a:pt x="660" y="497"/>
                    <a:pt x="665" y="488"/>
                    <a:pt x="670" y="483"/>
                  </a:cubicBezTo>
                  <a:cubicBezTo>
                    <a:pt x="675" y="478"/>
                    <a:pt x="681" y="471"/>
                    <a:pt x="686" y="470"/>
                  </a:cubicBezTo>
                  <a:lnTo>
                    <a:pt x="703" y="476"/>
                  </a:lnTo>
                  <a:lnTo>
                    <a:pt x="718" y="494"/>
                  </a:lnTo>
                  <a:cubicBezTo>
                    <a:pt x="723" y="498"/>
                    <a:pt x="727" y="503"/>
                    <a:pt x="731" y="501"/>
                  </a:cubicBezTo>
                  <a:cubicBezTo>
                    <a:pt x="735" y="499"/>
                    <a:pt x="742" y="488"/>
                    <a:pt x="742" y="482"/>
                  </a:cubicBezTo>
                  <a:lnTo>
                    <a:pt x="728" y="466"/>
                  </a:lnTo>
                  <a:cubicBezTo>
                    <a:pt x="730" y="462"/>
                    <a:pt x="746" y="463"/>
                    <a:pt x="755" y="459"/>
                  </a:cubicBezTo>
                  <a:cubicBezTo>
                    <a:pt x="764" y="455"/>
                    <a:pt x="777" y="444"/>
                    <a:pt x="782" y="444"/>
                  </a:cubicBezTo>
                  <a:cubicBezTo>
                    <a:pt x="787" y="444"/>
                    <a:pt x="786" y="452"/>
                    <a:pt x="784" y="458"/>
                  </a:cubicBezTo>
                  <a:cubicBezTo>
                    <a:pt x="782" y="464"/>
                    <a:pt x="765" y="469"/>
                    <a:pt x="772" y="480"/>
                  </a:cubicBezTo>
                  <a:cubicBezTo>
                    <a:pt x="779" y="491"/>
                    <a:pt x="820" y="516"/>
                    <a:pt x="824" y="525"/>
                  </a:cubicBezTo>
                  <a:cubicBezTo>
                    <a:pt x="828" y="534"/>
                    <a:pt x="808" y="535"/>
                    <a:pt x="796" y="537"/>
                  </a:cubicBezTo>
                  <a:cubicBezTo>
                    <a:pt x="784" y="539"/>
                    <a:pt x="763" y="541"/>
                    <a:pt x="751" y="539"/>
                  </a:cubicBezTo>
                  <a:cubicBezTo>
                    <a:pt x="739" y="537"/>
                    <a:pt x="739" y="524"/>
                    <a:pt x="722" y="524"/>
                  </a:cubicBezTo>
                  <a:cubicBezTo>
                    <a:pt x="705" y="524"/>
                    <a:pt x="707" y="533"/>
                    <a:pt x="697" y="537"/>
                  </a:cubicBezTo>
                  <a:lnTo>
                    <a:pt x="667" y="538"/>
                  </a:lnTo>
                  <a:lnTo>
                    <a:pt x="623" y="560"/>
                  </a:lnTo>
                  <a:lnTo>
                    <a:pt x="634" y="576"/>
                  </a:lnTo>
                  <a:lnTo>
                    <a:pt x="639" y="598"/>
                  </a:lnTo>
                  <a:lnTo>
                    <a:pt x="669" y="617"/>
                  </a:lnTo>
                  <a:lnTo>
                    <a:pt x="700" y="602"/>
                  </a:lnTo>
                  <a:lnTo>
                    <a:pt x="718" y="611"/>
                  </a:lnTo>
                  <a:lnTo>
                    <a:pt x="752" y="608"/>
                  </a:lnTo>
                  <a:lnTo>
                    <a:pt x="757" y="644"/>
                  </a:lnTo>
                  <a:lnTo>
                    <a:pt x="697" y="677"/>
                  </a:ln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 w="12700">
              <a:noFill/>
            </a:ln>
          </p:spPr>
          <p:txBody>
            <a:bodyPr/>
            <a:p>
              <a:endParaRPr lang="zh-CN" altLang="en-US"/>
            </a:p>
          </p:txBody>
        </p:sp>
      </p:grpSp>
      <p:pic>
        <p:nvPicPr>
          <p:cNvPr id="2052" name="Picture 7" descr="artplus_nature_naturalcity42_a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70450" y="3167063"/>
            <a:ext cx="4425950" cy="2989262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2053" name="Picture 12" descr="artplus_nature_naturalcity42_i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56425" y="3352800"/>
            <a:ext cx="1654175" cy="877888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2054" name="Picture 10" descr="artplus_nature_naturalcity42_c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15200" y="3429000"/>
            <a:ext cx="1112838" cy="866775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2055" name="Picture 13" descr="artplus_nature_naturalcity42_f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994275" y="4594225"/>
            <a:ext cx="4911725" cy="1882775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2056" name="Picture 9" descr="artplus_nature_naturalcity42_b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195888" y="3097213"/>
            <a:ext cx="2971800" cy="571500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2057" name="Picture 8" descr="artplus_nature_naturalcity42_e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943600" y="1993900"/>
            <a:ext cx="1546225" cy="1663700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2058" name="Picture 11" descr="artplus_nature_naturalcity42_d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626100" y="2862263"/>
            <a:ext cx="623888" cy="579437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2059" name="Picture 128" descr="a1"/>
          <p:cNvPicPr>
            <a:picLocks noChangeAspect="1"/>
          </p:cNvPicPr>
          <p:nvPr userDrawn="1"/>
        </p:nvPicPr>
        <p:blipFill>
          <a:blip r:embed="rId10"/>
          <a:stretch>
            <a:fillRect/>
          </a:stretch>
        </p:blipFill>
        <p:spPr>
          <a:xfrm>
            <a:off x="914400" y="2286000"/>
            <a:ext cx="1803400" cy="2070100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2060" name="Picture 129" descr="b_1"/>
          <p:cNvPicPr>
            <a:picLocks noChangeAspect="1"/>
          </p:cNvPicPr>
          <p:nvPr userDrawn="1"/>
        </p:nvPicPr>
        <p:blipFill>
          <a:blip r:embed="rId11"/>
          <a:stretch>
            <a:fillRect/>
          </a:stretch>
        </p:blipFill>
        <p:spPr>
          <a:xfrm>
            <a:off x="2286000" y="3581400"/>
            <a:ext cx="1079500" cy="46990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4098" name="Rectangle 2"/>
          <p:cNvSpPr>
            <a:spLocks noGrp="1" noChangeArrowheads="1"/>
          </p:cNvSpPr>
          <p:nvPr>
            <p:ph type="ctrTitle"/>
          </p:nvPr>
        </p:nvSpPr>
        <p:spPr>
          <a:xfrm>
            <a:off x="304800" y="4419600"/>
            <a:ext cx="6400800" cy="1143000"/>
          </a:xfrm>
        </p:spPr>
        <p:txBody>
          <a:bodyPr/>
          <a:lstStyle>
            <a:lvl1pPr algn="l">
              <a:defRPr sz="4300">
                <a:solidFill>
                  <a:schemeClr val="bg1"/>
                </a:solidFill>
              </a:defRPr>
            </a:lvl1pPr>
          </a:lstStyle>
          <a:p>
            <a:r>
              <a:rPr lang="en-US" altLang="zh-CN"/>
              <a:t>Click to edit Master title style</a:t>
            </a:r>
            <a:endParaRPr lang="en-US" altLang="zh-CN"/>
          </a:p>
        </p:txBody>
      </p:sp>
      <p:sp>
        <p:nvSpPr>
          <p:cNvPr id="4099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304800" y="5715000"/>
            <a:ext cx="6400800" cy="381000"/>
          </a:xfrm>
        </p:spPr>
        <p:txBody>
          <a:bodyPr/>
          <a:lstStyle>
            <a:lvl1pPr marL="0" indent="0">
              <a:buFont typeface="Wingdings" panose="05000000000000000000" pitchFamily="2" charset="2"/>
              <a:buNone/>
              <a:defRPr sz="1800" b="1" i="1">
                <a:solidFill>
                  <a:schemeClr val="bg1"/>
                </a:solidFill>
              </a:defRPr>
            </a:lvl1pPr>
          </a:lstStyle>
          <a:p>
            <a:r>
              <a:rPr lang="en-US" altLang="zh-CN"/>
              <a:t>Click to edit Master subtitle style</a:t>
            </a:r>
            <a:endParaRPr lang="en-US" altLang="zh-CN"/>
          </a:p>
        </p:txBody>
      </p:sp>
      <p:sp>
        <p:nvSpPr>
          <p:cNvPr id="137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304800" y="6477000"/>
            <a:ext cx="2133600" cy="168275"/>
          </a:xfrm>
          <a:prstGeom prst="rect">
            <a:avLst/>
          </a:prstGeom>
          <a:ln>
            <a:miter lim="800000"/>
          </a:ln>
        </p:spPr>
        <p:txBody>
          <a:bodyPr vert="horz" wrap="square" lIns="91440" tIns="45720" rIns="91440" bIns="45720" numCol="1" anchor="t" anchorCtr="0" compatLnSpc="1"/>
          <a:lstStyle>
            <a:lvl1pPr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38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6705600" y="6477000"/>
            <a:ext cx="2286000" cy="168275"/>
          </a:xfrm>
          <a:prstGeom prst="rect">
            <a:avLst/>
          </a:prstGeom>
          <a:ln>
            <a:miter lim="800000"/>
          </a:ln>
        </p:spPr>
        <p:txBody>
          <a:bodyPr vert="horz" wrap="square" lIns="91440" tIns="45720" rIns="91440" bIns="45720" numCol="1" anchor="t" anchorCtr="0" compatLnSpc="1"/>
          <a:lstStyle>
            <a:lvl1pPr algn="r">
              <a:defRPr/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www.themegallery.com</a:t>
            </a: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39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3657600" y="6477000"/>
            <a:ext cx="2133600" cy="168275"/>
          </a:xfrm>
          <a:prstGeom prst="rect">
            <a:avLst/>
          </a:prstGeom>
          <a:ln>
            <a:miter lim="800000"/>
          </a:ln>
        </p:spPr>
        <p:txBody>
          <a:bodyPr vert="horz" wrap="square" lIns="91440" tIns="45720" rIns="91440" bIns="45720" numCol="1" anchor="t" anchorCtr="0" compatLnSpc="1"/>
          <a:p>
            <a:pPr algn="ctr">
              <a:buNone/>
            </a:pPr>
            <a:fld id="{9A0DB2DC-4C9A-4742-B13C-FB6460FD3503}" type="slidenum">
              <a:rPr lang="en-US" altLang="zh-CN" dirty="0"/>
            </a:fld>
            <a:endParaRPr lang="en-US" altLang="zh-CN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  <p:hf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100" name="Rectangle 4"/>
          <p:cNvSpPr>
            <a:spLocks noChangeArrowheads="1"/>
          </p:cNvSpPr>
          <p:nvPr userDrawn="1"/>
        </p:nvSpPr>
        <p:spPr bwMode="ltGray">
          <a:xfrm>
            <a:off x="581343" y="942975"/>
            <a:ext cx="396000" cy="396000"/>
          </a:xfrm>
          <a:prstGeom prst="rect">
            <a:avLst/>
          </a:prstGeom>
          <a:solidFill>
            <a:schemeClr val="folHlink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p>
            <a:pPr algn="ctr"/>
            <a:endParaRPr lang="zh-CN" altLang="zh-CN" sz="2400">
              <a:ea typeface="宋体" panose="02010600030101010101" pitchFamily="2" charset="-122"/>
            </a:endParaRPr>
          </a:p>
        </p:txBody>
      </p:sp>
      <p:sp>
        <p:nvSpPr>
          <p:cNvPr id="4103" name="Rectangle 7"/>
          <p:cNvSpPr>
            <a:spLocks noChangeArrowheads="1"/>
          </p:cNvSpPr>
          <p:nvPr userDrawn="1"/>
        </p:nvSpPr>
        <p:spPr bwMode="gray">
          <a:xfrm>
            <a:off x="762000" y="803275"/>
            <a:ext cx="31750" cy="684000"/>
          </a:xfrm>
          <a:prstGeom prst="rect">
            <a:avLst/>
          </a:prstGeom>
          <a:solidFill>
            <a:srgbClr val="92D050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p>
            <a:pPr algn="ctr"/>
            <a:endParaRPr lang="zh-CN" altLang="zh-CN" sz="2400">
              <a:ea typeface="宋体" panose="02010600030101010101" pitchFamily="2" charset="-122"/>
            </a:endParaRPr>
          </a:p>
        </p:txBody>
      </p:sp>
      <p:sp>
        <p:nvSpPr>
          <p:cNvPr id="4104" name="Rectangle 8"/>
          <p:cNvSpPr>
            <a:spLocks noChangeArrowheads="1"/>
          </p:cNvSpPr>
          <p:nvPr userDrawn="1"/>
        </p:nvSpPr>
        <p:spPr bwMode="gray">
          <a:xfrm>
            <a:off x="442913" y="1136650"/>
            <a:ext cx="8352000" cy="31750"/>
          </a:xfrm>
          <a:prstGeom prst="rect">
            <a:avLst/>
          </a:prstGeom>
          <a:solidFill>
            <a:srgbClr val="92D050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p>
            <a:pPr algn="ctr"/>
            <a:endParaRPr lang="zh-CN" altLang="zh-CN" sz="2400">
              <a:ea typeface="宋体" panose="02010600030101010101" pitchFamily="2" charset="-122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eaLnBrk="1" hangingPunct="1">
              <a:buNone/>
            </a:pPr>
            <a:fld id="{9A0DB2DC-4C9A-4742-B13C-FB6460FD3503}" type="slidenum">
              <a:rPr lang="en-US" altLang="zh-CN" dirty="0">
                <a:latin typeface="Arial" panose="020B0604020202020204" pitchFamily="34" charset="0"/>
              </a:rPr>
            </a:fld>
            <a:endParaRPr lang="en-US" altLang="zh-CN" dirty="0">
              <a:latin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eaLnBrk="1" hangingPunct="1">
              <a:buNone/>
            </a:pPr>
            <a:fld id="{9A0DB2DC-4C9A-4742-B13C-FB6460FD3503}" type="slidenum">
              <a:rPr lang="en-US" altLang="zh-CN" dirty="0">
                <a:latin typeface="Arial" panose="020B0604020202020204" pitchFamily="34" charset="0"/>
              </a:rPr>
            </a:fld>
            <a:endParaRPr lang="en-US" altLang="zh-CN" dirty="0">
              <a:latin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1295400"/>
            <a:ext cx="4038600" cy="50292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295400"/>
            <a:ext cx="4038600" cy="50292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eaLnBrk="1" hangingPunct="1">
              <a:buNone/>
            </a:pPr>
            <a:fld id="{9A0DB2DC-4C9A-4742-B13C-FB6460FD3503}" type="slidenum">
              <a:rPr lang="en-US" altLang="zh-CN" dirty="0">
                <a:latin typeface="Arial" panose="020B0604020202020204" pitchFamily="34" charset="0"/>
              </a:rPr>
            </a:fld>
            <a:endParaRPr lang="en-US" altLang="zh-CN" dirty="0">
              <a:latin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eaLnBrk="1" hangingPunct="1">
              <a:buNone/>
            </a:pPr>
            <a:fld id="{9A0DB2DC-4C9A-4742-B13C-FB6460FD3503}" type="slidenum">
              <a:rPr lang="en-US" altLang="zh-CN" dirty="0">
                <a:latin typeface="Arial" panose="020B0604020202020204" pitchFamily="34" charset="0"/>
              </a:rPr>
            </a:fld>
            <a:endParaRPr lang="en-US" altLang="zh-CN" dirty="0">
              <a:latin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eaLnBrk="1" hangingPunct="1">
              <a:buNone/>
            </a:pPr>
            <a:fld id="{9A0DB2DC-4C9A-4742-B13C-FB6460FD3503}" type="slidenum">
              <a:rPr lang="en-US" altLang="zh-CN" dirty="0">
                <a:latin typeface="Arial" panose="020B0604020202020204" pitchFamily="34" charset="0"/>
              </a:rPr>
            </a:fld>
            <a:endParaRPr lang="en-US" altLang="zh-CN" dirty="0">
              <a:latin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eaLnBrk="1" hangingPunct="1">
              <a:buNone/>
            </a:pPr>
            <a:fld id="{9A0DB2DC-4C9A-4742-B13C-FB6460FD3503}" type="slidenum">
              <a:rPr lang="en-US" altLang="zh-CN" dirty="0">
                <a:latin typeface="Arial" panose="020B0604020202020204" pitchFamily="34" charset="0"/>
              </a:rPr>
            </a:fld>
            <a:endParaRPr lang="en-US" altLang="zh-CN" dirty="0">
              <a:latin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eaLnBrk="1" hangingPunct="1">
              <a:buNone/>
            </a:pPr>
            <a:fld id="{9A0DB2DC-4C9A-4742-B13C-FB6460FD3503}" type="slidenum">
              <a:rPr lang="en-US" altLang="zh-CN" dirty="0">
                <a:latin typeface="Arial" panose="020B0604020202020204" pitchFamily="34" charset="0"/>
              </a:rPr>
            </a:fld>
            <a:endParaRPr lang="en-US" altLang="zh-CN" dirty="0">
              <a:latin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 vert="horz" wrap="square" lIns="91440" tIns="45720" rIns="91440" bIns="45720" numCol="1" anchor="t" anchorCtr="0" compatLnSpc="1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Tx/>
              <a:buFont typeface="Wingdings" panose="05000000000000000000" pitchFamily="2" charset="2"/>
              <a:buNone/>
              <a:defRPr/>
            </a:pPr>
            <a:endParaRPr kumimoji="0" lang="zh-CN" altLang="en-US" sz="3200" b="0" i="0" u="none" strike="noStrike" kern="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eaLnBrk="1" hangingPunct="1">
              <a:buNone/>
            </a:pPr>
            <a:fld id="{9A0DB2DC-4C9A-4742-B13C-FB6460FD3503}" type="slidenum">
              <a:rPr lang="en-US" altLang="zh-CN" dirty="0">
                <a:latin typeface="Arial" panose="020B0604020202020204" pitchFamily="34" charset="0"/>
              </a:rPr>
            </a:fld>
            <a:endParaRPr lang="en-US" altLang="zh-CN" dirty="0">
              <a:latin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eaLnBrk="1" hangingPunct="1">
              <a:buNone/>
            </a:pPr>
            <a:fld id="{9A0DB2DC-4C9A-4742-B13C-FB6460FD3503}" type="slidenum">
              <a:rPr lang="en-US" altLang="zh-CN" dirty="0">
                <a:latin typeface="Arial" panose="020B0604020202020204" pitchFamily="34" charset="0"/>
              </a:rPr>
            </a:fld>
            <a:endParaRPr lang="en-US" altLang="zh-CN" dirty="0">
              <a:latin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29400" y="228600"/>
            <a:ext cx="2057400" cy="6096000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228600"/>
            <a:ext cx="6019800" cy="6096000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eaLnBrk="1" hangingPunct="1">
              <a:buNone/>
            </a:pPr>
            <a:fld id="{9A0DB2DC-4C9A-4742-B13C-FB6460FD3503}" type="slidenum">
              <a:rPr lang="en-US" altLang="zh-CN" dirty="0">
                <a:latin typeface="Arial" panose="020B0604020202020204" pitchFamily="34" charset="0"/>
              </a:rPr>
            </a:fld>
            <a:endParaRPr lang="en-US" altLang="zh-CN" dirty="0">
              <a:latin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bl" preserve="1">
  <p:cSld name="标题和表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28600"/>
            <a:ext cx="8229600" cy="868363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表格占位符 2"/>
          <p:cNvSpPr>
            <a:spLocks noGrp="1"/>
          </p:cNvSpPr>
          <p:nvPr>
            <p:ph type="tbl" idx="1"/>
          </p:nvPr>
        </p:nvSpPr>
        <p:spPr>
          <a:xfrm>
            <a:off x="457200" y="1295400"/>
            <a:ext cx="8229600" cy="5029200"/>
          </a:xfrm>
        </p:spPr>
        <p:txBody>
          <a:bodyPr vert="horz" wrap="square" lIns="91440" tIns="45720" rIns="91440" bIns="45720" numCol="1" anchor="t" anchorCtr="0" compatLnSpc="1"/>
          <a:lstStyle/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Tx/>
              <a:buFont typeface="Wingdings" panose="05000000000000000000" pitchFamily="2" charset="2"/>
              <a:buChar char="v"/>
              <a:defRPr/>
            </a:pPr>
            <a:endParaRPr kumimoji="0" lang="zh-CN" altLang="en-US" sz="3200" b="0" i="0" u="none" strike="noStrike" kern="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eaLnBrk="1" hangingPunct="1">
              <a:buNone/>
            </a:pPr>
            <a:fld id="{9A0DB2DC-4C9A-4742-B13C-FB6460FD3503}" type="slidenum">
              <a:rPr lang="en-US" altLang="zh-CN" dirty="0">
                <a:latin typeface="Arial" panose="020B0604020202020204" pitchFamily="34" charset="0"/>
              </a:rPr>
            </a:fld>
            <a:endParaRPr lang="en-US" altLang="zh-CN" dirty="0">
              <a:latin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6" Type="http://schemas.openxmlformats.org/officeDocument/2006/relationships/theme" Target="../theme/theme1.xml"/><Relationship Id="rId15" Type="http://schemas.openxmlformats.org/officeDocument/2006/relationships/image" Target="../media/image10.png"/><Relationship Id="rId14" Type="http://schemas.openxmlformats.org/officeDocument/2006/relationships/image" Target="../media/image9.png"/><Relationship Id="rId13" Type="http://schemas.openxmlformats.org/officeDocument/2006/relationships/image" Target="../media/image11.jpeg"/><Relationship Id="rId12" Type="http://schemas.openxmlformats.org/officeDocument/2006/relationships/slideLayout" Target="../slideLayouts/slideLayout12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1026" name="Picture 19" descr="1"/>
          <p:cNvPicPr>
            <a:picLocks noChangeAspect="1"/>
          </p:cNvPicPr>
          <p:nvPr userDrawn="1"/>
        </p:nvPicPr>
        <p:blipFill>
          <a:blip r:embed="rId13"/>
          <a:srcRect b="38461"/>
          <a:stretch>
            <a:fillRect/>
          </a:stretch>
        </p:blipFill>
        <p:spPr>
          <a:xfrm>
            <a:off x="0" y="6324600"/>
            <a:ext cx="9144000" cy="542925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1041" name="Rectangle 17"/>
          <p:cNvSpPr>
            <a:spLocks noChangeArrowheads="1"/>
          </p:cNvSpPr>
          <p:nvPr userDrawn="1"/>
        </p:nvSpPr>
        <p:spPr bwMode="gray">
          <a:xfrm>
            <a:off x="0" y="0"/>
            <a:ext cx="9144000" cy="1219200"/>
          </a:xfrm>
          <a:prstGeom prst="rect">
            <a:avLst/>
          </a:prstGeom>
          <a:gradFill rotWithShape="1">
            <a:gsLst>
              <a:gs pos="0">
                <a:schemeClr val="accent1"/>
              </a:gs>
              <a:gs pos="100000">
                <a:schemeClr val="accent1">
                  <a:gamma/>
                  <a:tint val="0"/>
                  <a:invGamma/>
                </a:schemeClr>
              </a:gs>
            </a:gsLst>
            <a:lin ang="5400000" scaled="1"/>
          </a:gradFill>
          <a:ln w="9525">
            <a:noFill/>
            <a:miter lim="800000"/>
          </a:ln>
          <a:effectLst/>
        </p:spPr>
        <p:txBody>
          <a:bodyPr wrap="none" anchor="ctr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028" name="Rectangle 3"/>
          <p:cNvSpPr>
            <a:spLocks noGrp="1"/>
          </p:cNvSpPr>
          <p:nvPr>
            <p:ph type="body" idx="1"/>
          </p:nvPr>
        </p:nvSpPr>
        <p:spPr>
          <a:xfrm>
            <a:off x="457200" y="1295400"/>
            <a:ext cx="8229600" cy="5029200"/>
          </a:xfrm>
          <a:prstGeom prst="rect">
            <a:avLst/>
          </a:prstGeom>
          <a:noFill/>
          <a:ln w="9525">
            <a:noFill/>
          </a:ln>
        </p:spPr>
        <p:txBody>
          <a:bodyPr/>
          <a:p>
            <a:pPr lvl="0"/>
            <a:r>
              <a:rPr lang="en-US" altLang="zh-CN" dirty="0"/>
              <a:t>Click to edit Master text styles</a:t>
            </a:r>
            <a:endParaRPr lang="en-US" altLang="zh-CN" dirty="0"/>
          </a:p>
          <a:p>
            <a:pPr lvl="1"/>
            <a:r>
              <a:rPr lang="en-US" altLang="zh-CN" dirty="0"/>
              <a:t>Second level</a:t>
            </a:r>
            <a:endParaRPr lang="en-US" altLang="zh-CN" dirty="0"/>
          </a:p>
          <a:p>
            <a:pPr lvl="2"/>
            <a:r>
              <a:rPr lang="en-US" altLang="zh-CN" dirty="0"/>
              <a:t>Third level</a:t>
            </a:r>
            <a:endParaRPr lang="en-US" altLang="zh-CN" dirty="0"/>
          </a:p>
          <a:p>
            <a:pPr lvl="3"/>
            <a:r>
              <a:rPr lang="en-US" altLang="zh-CN" dirty="0"/>
              <a:t>Fourth level</a:t>
            </a:r>
            <a:endParaRPr lang="en-US" altLang="zh-CN" dirty="0"/>
          </a:p>
          <a:p>
            <a:pPr lvl="4"/>
            <a:r>
              <a:rPr lang="en-US" altLang="zh-CN" dirty="0"/>
              <a:t>Fifth level</a:t>
            </a:r>
            <a:endParaRPr lang="en-US" altLang="zh-CN" dirty="0"/>
          </a:p>
        </p:txBody>
      </p:sp>
      <p:sp>
        <p:nvSpPr>
          <p:cNvPr id="2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537325"/>
            <a:ext cx="2133600" cy="244475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>
              <a:defRPr sz="12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537325"/>
            <a:ext cx="2895600" cy="244475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algn="ctr">
              <a:defRPr sz="12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537325"/>
            <a:ext cx="2133600" cy="244475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algn="r">
              <a:defRPr sz="1200">
                <a:solidFill>
                  <a:schemeClr val="bg1"/>
                </a:solidFill>
              </a:defRPr>
            </a:lvl1pPr>
          </a:lstStyle>
          <a:p>
            <a:pPr lvl="0" eaLnBrk="1" hangingPunct="1">
              <a:buNone/>
            </a:pPr>
            <a:fld id="{9A0DB2DC-4C9A-4742-B13C-FB6460FD3503}" type="slidenum">
              <a:rPr lang="en-US" altLang="zh-CN" dirty="0">
                <a:latin typeface="Arial" panose="020B0604020202020204" pitchFamily="34" charset="0"/>
              </a:rPr>
            </a:fld>
            <a:endParaRPr lang="en-US" altLang="zh-CN" dirty="0">
              <a:latin typeface="Arial" panose="020B0604020202020204" pitchFamily="34" charset="0"/>
            </a:endParaRPr>
          </a:p>
        </p:txBody>
      </p:sp>
      <p:sp>
        <p:nvSpPr>
          <p:cNvPr id="1039" name="Rectangle 2"/>
          <p:cNvSpPr>
            <a:spLocks noGrp="1"/>
          </p:cNvSpPr>
          <p:nvPr>
            <p:ph type="title"/>
          </p:nvPr>
        </p:nvSpPr>
        <p:spPr>
          <a:xfrm>
            <a:off x="457200" y="228600"/>
            <a:ext cx="8229600" cy="868363"/>
          </a:xfrm>
          <a:prstGeom prst="rect">
            <a:avLst/>
          </a:prstGeom>
          <a:noFill/>
          <a:ln w="9525">
            <a:noFill/>
          </a:ln>
        </p:spPr>
        <p:txBody>
          <a:bodyPr anchor="ctr" anchorCtr="0"/>
          <a:p>
            <a:pPr lvl="0"/>
            <a:r>
              <a:rPr lang="en-US" altLang="zh-CN" dirty="0"/>
              <a:t>Click to edit Master title style</a:t>
            </a:r>
            <a:endParaRPr lang="en-US" altLang="zh-CN" dirty="0"/>
          </a:p>
        </p:txBody>
      </p:sp>
      <p:pic>
        <p:nvPicPr>
          <p:cNvPr id="1040" name="Picture 20" descr="a1"/>
          <p:cNvPicPr>
            <a:picLocks noChangeAspect="1"/>
          </p:cNvPicPr>
          <p:nvPr userDrawn="1"/>
        </p:nvPicPr>
        <p:blipFill>
          <a:blip r:embed="rId14"/>
          <a:stretch>
            <a:fillRect/>
          </a:stretch>
        </p:blipFill>
        <p:spPr>
          <a:xfrm>
            <a:off x="152400" y="0"/>
            <a:ext cx="942975" cy="1082675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3" name="Picture 21" descr="b_1"/>
          <p:cNvPicPr>
            <a:picLocks noChangeAspect="1"/>
          </p:cNvPicPr>
          <p:nvPr userDrawn="1"/>
        </p:nvPicPr>
        <p:blipFill>
          <a:blip r:embed="rId15"/>
          <a:stretch>
            <a:fillRect/>
          </a:stretch>
        </p:blipFill>
        <p:spPr>
          <a:xfrm>
            <a:off x="7848600" y="152400"/>
            <a:ext cx="1234440" cy="536575"/>
          </a:xfrm>
          <a:prstGeom prst="rect">
            <a:avLst/>
          </a:prstGeom>
          <a:noFill/>
          <a:ln w="9525">
            <a:noFill/>
          </a:ln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iming>
    <p:tnLst>
      <p:par>
        <p:cTn id="1" dur="indefinite" restart="never" nodeType="tmRoot"/>
      </p:par>
    </p:tnLst>
  </p:timing>
  <p:hf sldNum="0" hdr="0" ftr="0" dt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4200" b="1" i="1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200" b="1" i="1">
          <a:solidFill>
            <a:schemeClr val="tx1"/>
          </a:solidFill>
          <a:latin typeface="Arial" panose="020B0604020202020204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200" b="1" i="1">
          <a:solidFill>
            <a:schemeClr val="tx1"/>
          </a:solidFill>
          <a:latin typeface="Arial" panose="020B0604020202020204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200" b="1" i="1">
          <a:solidFill>
            <a:schemeClr val="tx1"/>
          </a:solidFill>
          <a:latin typeface="Arial" panose="020B0604020202020204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200" b="1" i="1">
          <a:solidFill>
            <a:schemeClr val="tx1"/>
          </a:solidFill>
          <a:latin typeface="Arial" panose="020B0604020202020204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200" b="1" i="1">
          <a:solidFill>
            <a:schemeClr val="tx1"/>
          </a:solidFill>
          <a:latin typeface="Arial" panose="020B0604020202020204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200" b="1" i="1">
          <a:solidFill>
            <a:schemeClr val="tx1"/>
          </a:solidFill>
          <a:latin typeface="Arial" panose="020B0604020202020204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200" b="1" i="1">
          <a:solidFill>
            <a:schemeClr val="tx1"/>
          </a:solidFill>
          <a:latin typeface="Arial" panose="020B0604020202020204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200" b="1" i="1">
          <a:solidFill>
            <a:schemeClr val="tx1"/>
          </a:solidFill>
          <a:latin typeface="Arial" panose="020B0604020202020204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chemeClr val="folHlink"/>
        </a:buClr>
        <a:buFont typeface="Wingdings" panose="05000000000000000000" pitchFamily="2" charset="2"/>
        <a:buChar char="v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lr>
          <a:schemeClr val="tx2"/>
        </a:buClr>
        <a:buFont typeface="Wingdings" panose="05000000000000000000" pitchFamily="2" charset="2"/>
        <a:buChar char="§"/>
        <a:defRPr sz="2800">
          <a:solidFill>
            <a:schemeClr val="tx1"/>
          </a:solidFill>
          <a:latin typeface="+mn-lt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14.jpeg"/><Relationship Id="rId2" Type="http://schemas.openxmlformats.org/officeDocument/2006/relationships/image" Target="../media/image13.jpeg"/><Relationship Id="rId1" Type="http://schemas.openxmlformats.org/officeDocument/2006/relationships/image" Target="../media/image12.jpe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5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16.png"/><Relationship Id="rId1" Type="http://schemas.openxmlformats.org/officeDocument/2006/relationships/tags" Target="../tags/tag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7.png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8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9.png"/></Relationships>
</file>

<file path=ppt/slides/_rels/slide8.xml.rels><?xml version="1.0" encoding="UTF-8" standalone="yes"?>
<Relationships xmlns="http://schemas.openxmlformats.org/package/2006/relationships"><Relationship Id="rId4" Type="http://schemas.openxmlformats.org/officeDocument/2006/relationships/vmlDrawing" Target="../drawings/vmlDrawing1.vml"/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20.wmf"/><Relationship Id="rId1" Type="http://schemas.openxmlformats.org/officeDocument/2006/relationships/oleObject" Target="../embeddings/oleObject1.bin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22.png"/><Relationship Id="rId1" Type="http://schemas.openxmlformats.org/officeDocument/2006/relationships/image" Target="../media/image21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3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3.png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4" Type="http://schemas.openxmlformats.org/officeDocument/2006/relationships/vmlDrawing" Target="../drawings/vmlDrawing2.vml"/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24.wmf"/><Relationship Id="rId1" Type="http://schemas.openxmlformats.org/officeDocument/2006/relationships/oleObject" Target="../embeddings/oleObject2.bin"/></Relationships>
</file>

<file path=ppt/slides/_rels/slide16.xml.rels><?xml version="1.0" encoding="UTF-8" standalone="yes"?>
<Relationships xmlns="http://schemas.openxmlformats.org/package/2006/relationships"><Relationship Id="rId4" Type="http://schemas.openxmlformats.org/officeDocument/2006/relationships/vmlDrawing" Target="../drawings/vmlDrawing3.vml"/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25.wmf"/><Relationship Id="rId1" Type="http://schemas.openxmlformats.org/officeDocument/2006/relationships/oleObject" Target="../embeddings/oleObject3.bin"/></Relationships>
</file>

<file path=ppt/slides/_rels/slide17.xml.rels><?xml version="1.0" encoding="UTF-8" standalone="yes"?>
<Relationships xmlns="http://schemas.openxmlformats.org/package/2006/relationships"><Relationship Id="rId6" Type="http://schemas.openxmlformats.org/officeDocument/2006/relationships/vmlDrawing" Target="../drawings/vmlDrawing4.vml"/><Relationship Id="rId5" Type="http://schemas.openxmlformats.org/officeDocument/2006/relationships/slideLayout" Target="../slideLayouts/slideLayout2.xml"/><Relationship Id="rId4" Type="http://schemas.openxmlformats.org/officeDocument/2006/relationships/image" Target="../media/image27.wmf"/><Relationship Id="rId3" Type="http://schemas.openxmlformats.org/officeDocument/2006/relationships/oleObject" Target="../embeddings/oleObject5.bin"/><Relationship Id="rId2" Type="http://schemas.openxmlformats.org/officeDocument/2006/relationships/image" Target="../media/image26.wmf"/><Relationship Id="rId1" Type="http://schemas.openxmlformats.org/officeDocument/2006/relationships/oleObject" Target="../embeddings/oleObject4.bin"/></Relationships>
</file>

<file path=ppt/slides/_rels/slide18.xml.rels><?xml version="1.0" encoding="UTF-8" standalone="yes"?>
<Relationships xmlns="http://schemas.openxmlformats.org/package/2006/relationships"><Relationship Id="rId6" Type="http://schemas.openxmlformats.org/officeDocument/2006/relationships/vmlDrawing" Target="../drawings/vmlDrawing5.vml"/><Relationship Id="rId5" Type="http://schemas.openxmlformats.org/officeDocument/2006/relationships/slideLayout" Target="../slideLayouts/slideLayout2.xml"/><Relationship Id="rId4" Type="http://schemas.openxmlformats.org/officeDocument/2006/relationships/image" Target="../media/image29.wmf"/><Relationship Id="rId3" Type="http://schemas.openxmlformats.org/officeDocument/2006/relationships/oleObject" Target="../embeddings/oleObject7.bin"/><Relationship Id="rId2" Type="http://schemas.openxmlformats.org/officeDocument/2006/relationships/image" Target="../media/image28.wmf"/><Relationship Id="rId1" Type="http://schemas.openxmlformats.org/officeDocument/2006/relationships/oleObject" Target="../embeddings/oleObject6.bin"/></Relationships>
</file>

<file path=ppt/slides/_rels/slide19.xml.rels><?xml version="1.0" encoding="UTF-8" standalone="yes"?>
<Relationships xmlns="http://schemas.openxmlformats.org/package/2006/relationships"><Relationship Id="rId6" Type="http://schemas.openxmlformats.org/officeDocument/2006/relationships/vmlDrawing" Target="../drawings/vmlDrawing6.vml"/><Relationship Id="rId5" Type="http://schemas.openxmlformats.org/officeDocument/2006/relationships/slideLayout" Target="../slideLayouts/slideLayout2.xml"/><Relationship Id="rId4" Type="http://schemas.openxmlformats.org/officeDocument/2006/relationships/image" Target="../media/image31.wmf"/><Relationship Id="rId3" Type="http://schemas.openxmlformats.org/officeDocument/2006/relationships/oleObject" Target="../embeddings/oleObject9.bin"/><Relationship Id="rId2" Type="http://schemas.openxmlformats.org/officeDocument/2006/relationships/image" Target="../media/image30.wmf"/><Relationship Id="rId1" Type="http://schemas.openxmlformats.org/officeDocument/2006/relationships/oleObject" Target="../embeddings/oleObject8.bin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9" Type="http://schemas.openxmlformats.org/officeDocument/2006/relationships/oleObject" Target="../embeddings/oleObject14.bin"/><Relationship Id="rId8" Type="http://schemas.openxmlformats.org/officeDocument/2006/relationships/image" Target="../media/image35.wmf"/><Relationship Id="rId7" Type="http://schemas.openxmlformats.org/officeDocument/2006/relationships/oleObject" Target="../embeddings/oleObject13.bin"/><Relationship Id="rId6" Type="http://schemas.openxmlformats.org/officeDocument/2006/relationships/image" Target="../media/image34.wmf"/><Relationship Id="rId5" Type="http://schemas.openxmlformats.org/officeDocument/2006/relationships/oleObject" Target="../embeddings/oleObject12.bin"/><Relationship Id="rId4" Type="http://schemas.openxmlformats.org/officeDocument/2006/relationships/image" Target="../media/image33.wmf"/><Relationship Id="rId3" Type="http://schemas.openxmlformats.org/officeDocument/2006/relationships/oleObject" Target="../embeddings/oleObject11.bin"/><Relationship Id="rId2" Type="http://schemas.openxmlformats.org/officeDocument/2006/relationships/image" Target="../media/image32.wmf"/><Relationship Id="rId14" Type="http://schemas.openxmlformats.org/officeDocument/2006/relationships/vmlDrawing" Target="../drawings/vmlDrawing7.vml"/><Relationship Id="rId13" Type="http://schemas.openxmlformats.org/officeDocument/2006/relationships/slideLayout" Target="../slideLayouts/slideLayout2.xml"/><Relationship Id="rId12" Type="http://schemas.openxmlformats.org/officeDocument/2006/relationships/image" Target="../media/image37.wmf"/><Relationship Id="rId11" Type="http://schemas.openxmlformats.org/officeDocument/2006/relationships/oleObject" Target="../embeddings/oleObject15.bin"/><Relationship Id="rId10" Type="http://schemas.openxmlformats.org/officeDocument/2006/relationships/image" Target="../media/image36.wmf"/><Relationship Id="rId1" Type="http://schemas.openxmlformats.org/officeDocument/2006/relationships/oleObject" Target="../embeddings/oleObject10.bin"/></Relationships>
</file>

<file path=ppt/slides/_rels/slide24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2.xml"/><Relationship Id="rId8" Type="http://schemas.openxmlformats.org/officeDocument/2006/relationships/image" Target="../media/image41.wmf"/><Relationship Id="rId7" Type="http://schemas.openxmlformats.org/officeDocument/2006/relationships/oleObject" Target="../embeddings/oleObject19.bin"/><Relationship Id="rId6" Type="http://schemas.openxmlformats.org/officeDocument/2006/relationships/image" Target="../media/image40.wmf"/><Relationship Id="rId5" Type="http://schemas.openxmlformats.org/officeDocument/2006/relationships/oleObject" Target="../embeddings/oleObject18.bin"/><Relationship Id="rId4" Type="http://schemas.openxmlformats.org/officeDocument/2006/relationships/image" Target="../media/image39.wmf"/><Relationship Id="rId3" Type="http://schemas.openxmlformats.org/officeDocument/2006/relationships/oleObject" Target="../embeddings/oleObject17.bin"/><Relationship Id="rId2" Type="http://schemas.openxmlformats.org/officeDocument/2006/relationships/image" Target="../media/image38.wmf"/><Relationship Id="rId10" Type="http://schemas.openxmlformats.org/officeDocument/2006/relationships/vmlDrawing" Target="../drawings/vmlDrawing8.vml"/><Relationship Id="rId1" Type="http://schemas.openxmlformats.org/officeDocument/2006/relationships/oleObject" Target="../embeddings/oleObject16.bin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4" Type="http://schemas.openxmlformats.org/officeDocument/2006/relationships/vmlDrawing" Target="../drawings/vmlDrawing9.vml"/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42.wmf"/><Relationship Id="rId1" Type="http://schemas.openxmlformats.org/officeDocument/2006/relationships/oleObject" Target="../embeddings/oleObject20.bin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43.png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45.png"/><Relationship Id="rId1" Type="http://schemas.openxmlformats.org/officeDocument/2006/relationships/image" Target="../media/image44.png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46.png"/><Relationship Id="rId1" Type="http://schemas.openxmlformats.org/officeDocument/2006/relationships/tags" Target="../tags/tag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47.png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48.png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50.png"/><Relationship Id="rId1" Type="http://schemas.openxmlformats.org/officeDocument/2006/relationships/image" Target="../media/image49.png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1" name="TextBox 8"/>
          <p:cNvSpPr txBox="1">
            <a:spLocks noChangeArrowheads="1"/>
          </p:cNvSpPr>
          <p:nvPr/>
        </p:nvSpPr>
        <p:spPr bwMode="auto">
          <a:xfrm>
            <a:off x="1066800" y="2362200"/>
            <a:ext cx="6786880" cy="90360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lnSpc>
                <a:spcPct val="120000"/>
              </a:lnSpc>
            </a:pPr>
            <a:r>
              <a:rPr lang="zh-CN" altLang="en-US" sz="4400" b="1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</a:rPr>
              <a:t>《数字电子技术》</a:t>
            </a:r>
            <a:endParaRPr lang="zh-CN" altLang="en-US" sz="4400" b="1" dirty="0">
              <a:solidFill>
                <a:srgbClr val="FF000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pic>
        <p:nvPicPr>
          <p:cNvPr id="100" name="图片 99"/>
          <p:cNvPicPr/>
          <p:nvPr/>
        </p:nvPicPr>
        <p:blipFill>
          <a:blip r:embed="rId1"/>
          <a:srcRect l="6440" t="10369" r="5160" b="7142"/>
          <a:stretch>
            <a:fillRect/>
          </a:stretch>
        </p:blipFill>
        <p:spPr>
          <a:xfrm>
            <a:off x="0" y="4953000"/>
            <a:ext cx="3024000" cy="2014855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2" name="图片 1"/>
          <p:cNvPicPr/>
          <p:nvPr/>
        </p:nvPicPr>
        <p:blipFill>
          <a:blip r:embed="rId2"/>
          <a:stretch>
            <a:fillRect/>
          </a:stretch>
        </p:blipFill>
        <p:spPr>
          <a:xfrm>
            <a:off x="3013710" y="4953000"/>
            <a:ext cx="3024000" cy="2026920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101" name="图片 100"/>
          <p:cNvPicPr/>
          <p:nvPr/>
        </p:nvPicPr>
        <p:blipFill>
          <a:blip r:embed="rId3"/>
          <a:srcRect l="11780" t="21920" r="10760" b="21160"/>
          <a:stretch>
            <a:fillRect/>
          </a:stretch>
        </p:blipFill>
        <p:spPr>
          <a:xfrm>
            <a:off x="6041390" y="4953000"/>
            <a:ext cx="3096895" cy="2043430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1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500"/>
                            </p:stCondLst>
                            <p:childTnLst>
                              <p:par>
                                <p:cTn id="17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500"/>
                                        <p:tgtEl>
                                          <p:spTgt spid="1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126" name="Line 4"/>
          <p:cNvSpPr/>
          <p:nvPr/>
        </p:nvSpPr>
        <p:spPr>
          <a:xfrm>
            <a:off x="3355975" y="3048000"/>
            <a:ext cx="648000" cy="0"/>
          </a:xfrm>
          <a:prstGeom prst="line">
            <a:avLst/>
          </a:prstGeom>
          <a:ln w="12700" cap="rnd" cmpd="sng">
            <a:solidFill>
              <a:srgbClr val="003366"/>
            </a:solidFill>
            <a:prstDash val="sysDot"/>
            <a:headEnd type="none" w="med" len="med"/>
            <a:tailEnd type="none" w="med" len="med"/>
          </a:ln>
        </p:spPr>
      </p:sp>
      <p:sp>
        <p:nvSpPr>
          <p:cNvPr id="5131" name="Rectangle 9"/>
          <p:cNvSpPr>
            <a:spLocks noGrp="1"/>
          </p:cNvSpPr>
          <p:nvPr>
            <p:ph type="title"/>
          </p:nvPr>
        </p:nvSpPr>
        <p:spPr>
          <a:xfrm>
            <a:off x="457200" y="381000"/>
            <a:ext cx="8229600" cy="868363"/>
          </a:xfrm>
        </p:spPr>
        <p:txBody>
          <a:bodyPr vert="horz" wrap="square" lIns="91440" tIns="45720" rIns="91440" bIns="45720" anchor="ctr" anchorCtr="0"/>
          <a:p>
            <a:pPr eaLnBrk="1" hangingPunct="1"/>
            <a:r>
              <a:rPr lang="zh-CN" altLang="en-US" sz="3200" i="0" kern="1200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第1章</a:t>
            </a:r>
            <a:r>
              <a:rPr lang="en-US" altLang="zh-CN" sz="3200" i="0" kern="1200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 </a:t>
            </a:r>
            <a:r>
              <a:rPr lang="zh-CN" altLang="en-US" sz="3200" i="0" kern="1200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数字电路基本概念及数制与码制</a:t>
            </a:r>
            <a:endParaRPr lang="zh-CN" altLang="en-US" sz="3200" i="0" kern="1200" dirty="0">
              <a:solidFill>
                <a:srgbClr val="FF0000"/>
              </a:solidFill>
              <a:latin typeface="黑体" panose="02010609060101010101" pitchFamily="49" charset="-122"/>
              <a:ea typeface="黑体" panose="02010609060101010101" pitchFamily="49" charset="-122"/>
              <a:cs typeface="+mn-cs"/>
            </a:endParaRPr>
          </a:p>
        </p:txBody>
      </p:sp>
      <p:sp>
        <p:nvSpPr>
          <p:cNvPr id="5133" name="AutoShape 20"/>
          <p:cNvSpPr/>
          <p:nvPr/>
        </p:nvSpPr>
        <p:spPr>
          <a:xfrm>
            <a:off x="4111625" y="2651760"/>
            <a:ext cx="3816000" cy="842010"/>
          </a:xfrm>
          <a:prstGeom prst="roundRect">
            <a:avLst>
              <a:gd name="adj" fmla="val 50000"/>
            </a:avLst>
          </a:prstGeom>
          <a:gradFill rotWithShape="1">
            <a:gsLst>
              <a:gs pos="0">
                <a:srgbClr val="F8F8F8"/>
              </a:gs>
              <a:gs pos="100000">
                <a:srgbClr val="BEBEBE"/>
              </a:gs>
            </a:gsLst>
            <a:lin ang="5400000" scaled="1"/>
            <a:tileRect/>
          </a:gradFill>
          <a:ln w="19050" cap="flat" cmpd="sng">
            <a:solidFill>
              <a:srgbClr val="C0C0C0"/>
            </a:solidFill>
            <a:prstDash val="solid"/>
            <a:headEnd type="none" w="med" len="med"/>
            <a:tailEnd type="none" w="med" len="med"/>
          </a:ln>
          <a:effectLst>
            <a:outerShdw dist="53882" dir="2699999" algn="ctr" rotWithShape="0">
              <a:srgbClr val="292929">
                <a:alpha val="50000"/>
              </a:srgbClr>
            </a:outerShdw>
          </a:effectLst>
        </p:spPr>
        <p:txBody>
          <a:bodyPr wrap="none" anchor="ctr" anchorCtr="0"/>
          <a:p>
            <a:pPr>
              <a:buNone/>
            </a:pPr>
            <a:endParaRPr lang="zh-CN" altLang="en-US" sz="2400" b="1" dirty="0">
              <a:latin typeface="Arial" panose="020B0604020202020204" pitchFamily="34" charset="0"/>
            </a:endParaRPr>
          </a:p>
        </p:txBody>
      </p:sp>
      <p:sp>
        <p:nvSpPr>
          <p:cNvPr id="5134" name="Rectangle 21"/>
          <p:cNvSpPr/>
          <p:nvPr/>
        </p:nvSpPr>
        <p:spPr>
          <a:xfrm>
            <a:off x="4197350" y="2783840"/>
            <a:ext cx="3761740" cy="626400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5pPr>
          </a:lstStyle>
          <a:p>
            <a:pPr marL="0" lvl="0" indent="0">
              <a:spcBef>
                <a:spcPct val="0"/>
              </a:spcBef>
              <a:buClrTx/>
              <a:buFontTx/>
              <a:buNone/>
            </a:pPr>
            <a:r>
              <a:rPr lang="en-US" altLang="zh-CN" sz="2800" b="1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1.1 </a:t>
            </a:r>
            <a:r>
              <a:rPr lang="zh-CN" altLang="en-US" sz="2800" b="1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数字电路基本概念</a:t>
            </a:r>
            <a:endParaRPr lang="zh-CN" altLang="en-US" sz="2800" b="1" dirty="0">
              <a:solidFill>
                <a:srgbClr val="000000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5139" name="Oval 26"/>
          <p:cNvSpPr/>
          <p:nvPr/>
        </p:nvSpPr>
        <p:spPr>
          <a:xfrm>
            <a:off x="4022725" y="2936875"/>
            <a:ext cx="228600" cy="228600"/>
          </a:xfrm>
          <a:prstGeom prst="ellipse">
            <a:avLst/>
          </a:prstGeom>
          <a:gradFill rotWithShape="1">
            <a:gsLst>
              <a:gs pos="0">
                <a:srgbClr val="E96E29"/>
              </a:gs>
              <a:gs pos="100000">
                <a:srgbClr val="9B491B"/>
              </a:gs>
            </a:gsLst>
            <a:path path="shape">
              <a:fillToRect l="50000" t="50000" r="50000" b="50000"/>
            </a:path>
            <a:tileRect/>
          </a:gradFill>
          <a:ln w="19050" cap="flat" cmpd="sng">
            <a:solidFill>
              <a:srgbClr val="FFFFFF"/>
            </a:solidFill>
            <a:prstDash val="solid"/>
            <a:headEnd type="none" w="med" len="med"/>
            <a:tailEnd type="none" w="med" len="med"/>
          </a:ln>
          <a:effectLst>
            <a:outerShdw dist="63500" dir="2212193" algn="ctr" rotWithShape="0">
              <a:schemeClr val="bg2">
                <a:alpha val="50000"/>
              </a:schemeClr>
            </a:outerShdw>
          </a:effectLst>
        </p:spPr>
        <p:txBody>
          <a:bodyPr wrap="none" anchor="ctr" anchorCtr="0"/>
          <a:p>
            <a:pPr>
              <a:buNone/>
            </a:pPr>
            <a:endParaRPr lang="zh-CN" altLang="en-US" sz="2400" b="1" dirty="0">
              <a:latin typeface="Arial" panose="020B0604020202020204" pitchFamily="34" charset="0"/>
            </a:endParaRPr>
          </a:p>
        </p:txBody>
      </p:sp>
      <p:sp>
        <p:nvSpPr>
          <p:cNvPr id="5148" name="Line 6"/>
          <p:cNvSpPr/>
          <p:nvPr/>
        </p:nvSpPr>
        <p:spPr>
          <a:xfrm flipV="1">
            <a:off x="3429000" y="4437063"/>
            <a:ext cx="648000" cy="0"/>
          </a:xfrm>
          <a:prstGeom prst="line">
            <a:avLst/>
          </a:prstGeom>
          <a:ln w="12700" cap="rnd" cmpd="sng">
            <a:solidFill>
              <a:srgbClr val="003366"/>
            </a:solidFill>
            <a:prstDash val="sysDot"/>
            <a:headEnd type="none" w="med" len="med"/>
            <a:tailEnd type="none" w="med" len="med"/>
          </a:ln>
        </p:spPr>
      </p:sp>
      <p:sp>
        <p:nvSpPr>
          <p:cNvPr id="5149" name="AutoShape 22"/>
          <p:cNvSpPr/>
          <p:nvPr/>
        </p:nvSpPr>
        <p:spPr>
          <a:xfrm>
            <a:off x="4257675" y="4055110"/>
            <a:ext cx="3672000" cy="803910"/>
          </a:xfrm>
          <a:prstGeom prst="roundRect">
            <a:avLst>
              <a:gd name="adj" fmla="val 50000"/>
            </a:avLst>
          </a:prstGeom>
          <a:gradFill rotWithShape="1">
            <a:gsLst>
              <a:gs pos="0">
                <a:srgbClr val="F8F8F8"/>
              </a:gs>
              <a:gs pos="100000">
                <a:srgbClr val="BEBEBE"/>
              </a:gs>
            </a:gsLst>
            <a:lin ang="5400000" scaled="1"/>
            <a:tileRect/>
          </a:gradFill>
          <a:ln w="19050" cap="flat" cmpd="sng">
            <a:solidFill>
              <a:srgbClr val="C0C0C0"/>
            </a:solidFill>
            <a:prstDash val="solid"/>
            <a:headEnd type="none" w="med" len="med"/>
            <a:tailEnd type="none" w="med" len="med"/>
          </a:ln>
          <a:effectLst>
            <a:outerShdw dist="53882" dir="2699999" algn="ctr" rotWithShape="0">
              <a:srgbClr val="292929">
                <a:alpha val="50000"/>
              </a:srgbClr>
            </a:outerShdw>
          </a:effectLst>
        </p:spPr>
        <p:txBody>
          <a:bodyPr wrap="none" anchor="ctr" anchorCtr="0"/>
          <a:p>
            <a:pPr>
              <a:buNone/>
            </a:pPr>
            <a:endParaRPr lang="zh-CN" altLang="en-US" sz="2400" b="1" dirty="0">
              <a:latin typeface="Arial" panose="020B0604020202020204" pitchFamily="34" charset="0"/>
            </a:endParaRPr>
          </a:p>
        </p:txBody>
      </p:sp>
      <p:sp>
        <p:nvSpPr>
          <p:cNvPr id="5150" name="Rectangle 23"/>
          <p:cNvSpPr/>
          <p:nvPr/>
        </p:nvSpPr>
        <p:spPr>
          <a:xfrm>
            <a:off x="4648200" y="4204970"/>
            <a:ext cx="2689225" cy="521970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5pPr>
          </a:lstStyle>
          <a:p>
            <a:pPr marL="0" lvl="0" indent="0">
              <a:spcBef>
                <a:spcPct val="0"/>
              </a:spcBef>
              <a:buClrTx/>
              <a:buFontTx/>
              <a:buNone/>
            </a:pPr>
            <a:r>
              <a:rPr lang="en-US" altLang="zh-CN" sz="2800" b="1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1.2 </a:t>
            </a:r>
            <a:r>
              <a:rPr lang="zh-CN" altLang="en-US" sz="2800" b="1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数制与码制</a:t>
            </a:r>
            <a:endParaRPr lang="zh-CN" altLang="en-US" sz="2800" b="1" dirty="0">
              <a:solidFill>
                <a:srgbClr val="000000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5151" name="Oval 27"/>
          <p:cNvSpPr/>
          <p:nvPr/>
        </p:nvSpPr>
        <p:spPr>
          <a:xfrm>
            <a:off x="4105275" y="4324350"/>
            <a:ext cx="228600" cy="228600"/>
          </a:xfrm>
          <a:prstGeom prst="ellipse">
            <a:avLst/>
          </a:prstGeom>
          <a:gradFill rotWithShape="1">
            <a:gsLst>
              <a:gs pos="0">
                <a:srgbClr val="DCDC48"/>
              </a:gs>
              <a:gs pos="100000">
                <a:srgbClr val="939330"/>
              </a:gs>
            </a:gsLst>
            <a:path path="shape">
              <a:fillToRect l="50000" t="50000" r="50000" b="50000"/>
            </a:path>
            <a:tileRect/>
          </a:gradFill>
          <a:ln w="19050" cap="flat" cmpd="sng">
            <a:solidFill>
              <a:srgbClr val="FFFFFF"/>
            </a:solidFill>
            <a:prstDash val="solid"/>
            <a:headEnd type="none" w="med" len="med"/>
            <a:tailEnd type="none" w="med" len="med"/>
          </a:ln>
          <a:effectLst>
            <a:outerShdw dist="63500" dir="2212193" algn="ctr" rotWithShape="0">
              <a:schemeClr val="bg2">
                <a:alpha val="50000"/>
              </a:schemeClr>
            </a:outerShdw>
          </a:effectLst>
        </p:spPr>
        <p:txBody>
          <a:bodyPr wrap="none" anchor="ctr" anchorCtr="0"/>
          <a:p>
            <a:pPr>
              <a:buNone/>
            </a:pPr>
            <a:endParaRPr lang="zh-CN" altLang="en-US" sz="2400" b="1" dirty="0">
              <a:latin typeface="Arial" panose="020B0604020202020204" pitchFamily="34" charset="0"/>
            </a:endParaRPr>
          </a:p>
        </p:txBody>
      </p:sp>
      <p:sp>
        <p:nvSpPr>
          <p:cNvPr id="5156" name="灯片编号占位符 45"/>
          <p:cNvSpPr txBox="1">
            <a:spLocks noGrp="1"/>
          </p:cNvSpPr>
          <p:nvPr>
            <p:ph type="sldNum" sz="quarter" idx="12"/>
          </p:nvPr>
        </p:nvSpPr>
        <p:spPr>
          <a:xfrm>
            <a:off x="6553200" y="6537325"/>
            <a:ext cx="2133600" cy="244475"/>
          </a:xfrm>
        </p:spPr>
        <p:txBody>
          <a:bodyPr/>
          <a:p>
            <a:pPr marL="0" indent="0" algn="r"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sz="1200" dirty="0">
                <a:solidFill>
                  <a:schemeClr val="bg1"/>
                </a:solidFill>
                <a:ea typeface="宋体" panose="02010600030101010101" pitchFamily="2" charset="-122"/>
              </a:rPr>
              <a:t>2</a:t>
            </a:r>
            <a:endParaRPr lang="en-US" altLang="zh-CN" sz="1200" dirty="0">
              <a:solidFill>
                <a:schemeClr val="bg1"/>
              </a:solidFill>
              <a:ea typeface="宋体" panose="02010600030101010101" pitchFamily="2" charset="-122"/>
            </a:endParaRPr>
          </a:p>
        </p:txBody>
      </p:sp>
      <p:grpSp>
        <p:nvGrpSpPr>
          <p:cNvPr id="5132" name="Group 10"/>
          <p:cNvGrpSpPr/>
          <p:nvPr/>
        </p:nvGrpSpPr>
        <p:grpSpPr>
          <a:xfrm>
            <a:off x="987425" y="2509838"/>
            <a:ext cx="2673350" cy="2671762"/>
            <a:chOff x="140" y="1419"/>
            <a:chExt cx="1684" cy="1683"/>
          </a:xfrm>
        </p:grpSpPr>
        <p:sp>
          <p:nvSpPr>
            <p:cNvPr id="7179" name="Oval 11"/>
            <p:cNvSpPr>
              <a:spLocks noChangeArrowheads="1"/>
            </p:cNvSpPr>
            <p:nvPr/>
          </p:nvSpPr>
          <p:spPr bwMode="gray">
            <a:xfrm>
              <a:off x="140" y="1419"/>
              <a:ext cx="1684" cy="1683"/>
            </a:xfrm>
            <a:prstGeom prst="ellipse">
              <a:avLst/>
            </a:prstGeom>
            <a:gradFill rotWithShape="1">
              <a:gsLst>
                <a:gs pos="0">
                  <a:schemeClr val="folHlink">
                    <a:gamma/>
                    <a:tint val="0"/>
                    <a:invGamma/>
                  </a:schemeClr>
                </a:gs>
                <a:gs pos="50000">
                  <a:schemeClr val="folHlink"/>
                </a:gs>
                <a:gs pos="100000">
                  <a:schemeClr val="folHlink">
                    <a:gamma/>
                    <a:tint val="0"/>
                    <a:invGamma/>
                  </a:schemeClr>
                </a:gs>
              </a:gsLst>
              <a:lin ang="2700000" scaled="1"/>
            </a:gradFill>
            <a:ln w="38100" algn="ctr">
              <a:noFill/>
              <a:round/>
            </a:ln>
            <a:effectLst/>
          </p:spPr>
          <p:txBody>
            <a:bodyPr wrap="none" anchor="ctr">
              <a:spAutoFit/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7180" name="Oval 12"/>
            <p:cNvSpPr>
              <a:spLocks noChangeArrowheads="1"/>
            </p:cNvSpPr>
            <p:nvPr/>
          </p:nvSpPr>
          <p:spPr bwMode="gray">
            <a:xfrm>
              <a:off x="251" y="1528"/>
              <a:ext cx="1461" cy="1463"/>
            </a:xfrm>
            <a:prstGeom prst="ellipse">
              <a:avLst/>
            </a:prstGeom>
            <a:gradFill rotWithShape="1">
              <a:gsLst>
                <a:gs pos="0">
                  <a:schemeClr val="folHlink">
                    <a:gamma/>
                    <a:shade val="54118"/>
                    <a:invGamma/>
                  </a:schemeClr>
                </a:gs>
                <a:gs pos="50000">
                  <a:schemeClr val="folHlink"/>
                </a:gs>
                <a:gs pos="100000">
                  <a:schemeClr val="folHlink">
                    <a:gamma/>
                    <a:shade val="54118"/>
                    <a:invGamma/>
                  </a:schemeClr>
                </a:gs>
              </a:gsLst>
              <a:lin ang="18900000" scaled="1"/>
            </a:gradFill>
            <a:ln w="38100" algn="ctr">
              <a:noFill/>
              <a:round/>
            </a:ln>
            <a:effectLst/>
          </p:spPr>
          <p:txBody>
            <a:bodyPr anchor="ctr">
              <a:spAutoFit/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7181" name="Oval 13"/>
            <p:cNvSpPr>
              <a:spLocks noChangeArrowheads="1"/>
            </p:cNvSpPr>
            <p:nvPr/>
          </p:nvSpPr>
          <p:spPr bwMode="gray">
            <a:xfrm>
              <a:off x="258" y="1536"/>
              <a:ext cx="1461" cy="1462"/>
            </a:xfrm>
            <a:prstGeom prst="ellipse">
              <a:avLst/>
            </a:prstGeom>
            <a:gradFill rotWithShape="1">
              <a:gsLst>
                <a:gs pos="0">
                  <a:schemeClr val="folHlink">
                    <a:gamma/>
                    <a:shade val="63529"/>
                    <a:invGamma/>
                  </a:schemeClr>
                </a:gs>
                <a:gs pos="100000">
                  <a:schemeClr val="folHlink">
                    <a:alpha val="0"/>
                  </a:schemeClr>
                </a:gs>
              </a:gsLst>
              <a:lin ang="2700000" scaled="1"/>
            </a:gradFill>
            <a:ln w="38100" algn="ctr">
              <a:noFill/>
              <a:round/>
            </a:ln>
            <a:effectLst/>
          </p:spPr>
          <p:txBody>
            <a:bodyPr anchor="ctr">
              <a:spAutoFit/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5160" name="Oval 14"/>
            <p:cNvSpPr/>
            <p:nvPr/>
          </p:nvSpPr>
          <p:spPr>
            <a:xfrm>
              <a:off x="323" y="1602"/>
              <a:ext cx="1317" cy="1316"/>
            </a:xfrm>
            <a:prstGeom prst="ellipse">
              <a:avLst/>
            </a:prstGeom>
            <a:solidFill>
              <a:srgbClr val="000000"/>
            </a:solidFill>
            <a:ln w="38100">
              <a:noFill/>
            </a:ln>
          </p:spPr>
          <p:txBody>
            <a:bodyPr anchor="ctr" anchorCtr="0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Font typeface="Wingdings" panose="05000000000000000000" pitchFamily="2" charset="2"/>
                <a:buChar char="v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+mn-lt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ClrTx/>
                <a:buFontTx/>
                <a:buNone/>
              </a:pPr>
              <a:endParaRPr lang="zh-CN" altLang="en-US" sz="1800" dirty="0">
                <a:ea typeface="宋体" panose="02010600030101010101" pitchFamily="2" charset="-122"/>
              </a:endParaRPr>
            </a:p>
          </p:txBody>
        </p:sp>
        <p:sp>
          <p:nvSpPr>
            <p:cNvPr id="5161" name="Oval 15"/>
            <p:cNvSpPr/>
            <p:nvPr/>
          </p:nvSpPr>
          <p:spPr>
            <a:xfrm>
              <a:off x="344" y="1623"/>
              <a:ext cx="1276" cy="1277"/>
            </a:xfrm>
            <a:prstGeom prst="ellipse">
              <a:avLst/>
            </a:prstGeom>
            <a:gradFill rotWithShape="1">
              <a:gsLst>
                <a:gs pos="0">
                  <a:srgbClr val="636869"/>
                </a:gs>
                <a:gs pos="100000">
                  <a:srgbClr val="D6E1E2"/>
                </a:gs>
              </a:gsLst>
              <a:lin ang="5400000" scaled="1"/>
              <a:tileRect/>
            </a:gradFill>
            <a:ln w="9525">
              <a:noFill/>
            </a:ln>
          </p:spPr>
          <p:txBody>
            <a:bodyPr vert="eaVert"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Font typeface="Wingdings" panose="05000000000000000000" pitchFamily="2" charset="2"/>
                <a:buChar char="v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+mn-lt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ClrTx/>
                <a:buFontTx/>
                <a:buNone/>
              </a:pPr>
              <a:endParaRPr lang="zh-CN" altLang="en-US" sz="1800" dirty="0">
                <a:ea typeface="宋体" panose="02010600030101010101" pitchFamily="2" charset="-122"/>
              </a:endParaRPr>
            </a:p>
          </p:txBody>
        </p:sp>
        <p:sp>
          <p:nvSpPr>
            <p:cNvPr id="5162" name="Oval 16"/>
            <p:cNvSpPr/>
            <p:nvPr/>
          </p:nvSpPr>
          <p:spPr>
            <a:xfrm>
              <a:off x="360" y="1630"/>
              <a:ext cx="1246" cy="1246"/>
            </a:xfrm>
            <a:prstGeom prst="ellipse">
              <a:avLst/>
            </a:prstGeom>
            <a:gradFill rotWithShape="1">
              <a:gsLst>
                <a:gs pos="0">
                  <a:srgbClr val="D6E1E2">
                    <a:alpha val="0"/>
                  </a:srgbClr>
                </a:gs>
                <a:gs pos="100000">
                  <a:srgbClr val="F1F5F5"/>
                </a:gs>
              </a:gsLst>
              <a:lin ang="5400000" scaled="1"/>
              <a:tileRect/>
            </a:gradFill>
            <a:ln w="9525">
              <a:noFill/>
            </a:ln>
          </p:spPr>
          <p:txBody>
            <a:bodyPr vert="eaVert"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Font typeface="Wingdings" panose="05000000000000000000" pitchFamily="2" charset="2"/>
                <a:buChar char="v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+mn-lt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ClrTx/>
                <a:buFontTx/>
                <a:buNone/>
              </a:pPr>
              <a:endParaRPr lang="zh-CN" altLang="en-US" sz="1800" dirty="0">
                <a:ea typeface="宋体" panose="02010600030101010101" pitchFamily="2" charset="-122"/>
              </a:endParaRPr>
            </a:p>
          </p:txBody>
        </p:sp>
        <p:sp>
          <p:nvSpPr>
            <p:cNvPr id="5163" name="Oval 17"/>
            <p:cNvSpPr/>
            <p:nvPr/>
          </p:nvSpPr>
          <p:spPr>
            <a:xfrm>
              <a:off x="374" y="1642"/>
              <a:ext cx="1184" cy="1164"/>
            </a:xfrm>
            <a:prstGeom prst="ellipse">
              <a:avLst/>
            </a:prstGeom>
            <a:gradFill rotWithShape="1">
              <a:gsLst>
                <a:gs pos="0">
                  <a:srgbClr val="AAB2B3"/>
                </a:gs>
                <a:gs pos="100000">
                  <a:srgbClr val="D6E1E2">
                    <a:alpha val="48000"/>
                  </a:srgbClr>
                </a:gs>
              </a:gsLst>
              <a:lin ang="5400000" scaled="1"/>
              <a:tileRect/>
            </a:gradFill>
            <a:ln w="9525">
              <a:noFill/>
            </a:ln>
          </p:spPr>
          <p:txBody>
            <a:bodyPr vert="eaVert"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Font typeface="Wingdings" panose="05000000000000000000" pitchFamily="2" charset="2"/>
                <a:buChar char="v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+mn-lt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ClrTx/>
                <a:buFontTx/>
                <a:buNone/>
              </a:pPr>
              <a:endParaRPr lang="zh-CN" altLang="en-US" sz="1800" dirty="0">
                <a:ea typeface="宋体" panose="02010600030101010101" pitchFamily="2" charset="-122"/>
              </a:endParaRPr>
            </a:p>
          </p:txBody>
        </p:sp>
        <p:sp>
          <p:nvSpPr>
            <p:cNvPr id="5164" name="Oval 18"/>
            <p:cNvSpPr/>
            <p:nvPr/>
          </p:nvSpPr>
          <p:spPr>
            <a:xfrm>
              <a:off x="443" y="1675"/>
              <a:ext cx="1053" cy="945"/>
            </a:xfrm>
            <a:prstGeom prst="ellipse">
              <a:avLst/>
            </a:prstGeom>
            <a:gradFill rotWithShape="1">
              <a:gsLst>
                <a:gs pos="0">
                  <a:srgbClr val="FFFFFF"/>
                </a:gs>
                <a:gs pos="100000">
                  <a:srgbClr val="D6E1E2">
                    <a:alpha val="37999"/>
                  </a:srgbClr>
                </a:gs>
              </a:gsLst>
              <a:lin ang="5400000" scaled="1"/>
              <a:tileRect/>
            </a:gradFill>
            <a:ln w="9525">
              <a:noFill/>
            </a:ln>
          </p:spPr>
          <p:txBody>
            <a:bodyPr vert="eaVert"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Font typeface="Wingdings" panose="05000000000000000000" pitchFamily="2" charset="2"/>
                <a:buChar char="v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+mn-lt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ClrTx/>
                <a:buFontTx/>
                <a:buNone/>
              </a:pPr>
              <a:endParaRPr lang="zh-CN" altLang="en-US" sz="1800" dirty="0">
                <a:ea typeface="宋体" panose="02010600030101010101" pitchFamily="2" charset="-122"/>
              </a:endParaRPr>
            </a:p>
          </p:txBody>
        </p:sp>
        <p:pic>
          <p:nvPicPr>
            <p:cNvPr id="5165" name="Picture 19" descr="mark"/>
            <p:cNvPicPr>
              <a:picLocks noChangeAspect="1"/>
            </p:cNvPicPr>
            <p:nvPr/>
          </p:nvPicPr>
          <p:blipFill>
            <a:blip r:embed="rId1"/>
            <a:stretch>
              <a:fillRect/>
            </a:stretch>
          </p:blipFill>
          <p:spPr>
            <a:xfrm>
              <a:off x="452" y="1773"/>
              <a:ext cx="1011" cy="1003"/>
            </a:xfrm>
            <a:prstGeom prst="rect">
              <a:avLst/>
            </a:prstGeom>
            <a:noFill/>
            <a:ln w="9525">
              <a:noFill/>
            </a:ln>
          </p:spPr>
        </p:pic>
      </p:grpSp>
    </p:spTree>
  </p:cSld>
  <p:clrMapOvr>
    <a:masterClrMapping/>
  </p:clrMapOvr>
  <p:transition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6146" name="Rectangle 2"/>
          <p:cNvSpPr>
            <a:spLocks noGrp="1"/>
          </p:cNvSpPr>
          <p:nvPr>
            <p:ph type="title"/>
          </p:nvPr>
        </p:nvSpPr>
        <p:spPr>
          <a:xfrm>
            <a:off x="762000" y="1142683"/>
            <a:ext cx="5257800" cy="868362"/>
          </a:xfrm>
        </p:spPr>
        <p:txBody>
          <a:bodyPr vert="horz" wrap="square" lIns="91440" tIns="45720" rIns="91440" bIns="45720" anchor="ctr" anchorCtr="0"/>
          <a:p>
            <a:pPr algn="l" eaLnBrk="1" hangingPunct="1"/>
            <a:r>
              <a:rPr lang="en-US" altLang="zh-CN" sz="2800" i="0" dirty="0">
                <a:solidFill>
                  <a:srgbClr val="0070C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1.1.1 </a:t>
            </a:r>
            <a:r>
              <a:rPr lang="zh-CN" altLang="en-US" sz="2800" i="0" dirty="0">
                <a:solidFill>
                  <a:srgbClr val="0070C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模拟量与模拟信号</a:t>
            </a:r>
            <a:endParaRPr lang="zh-CN" altLang="en-US" sz="2800" i="0" dirty="0">
              <a:solidFill>
                <a:srgbClr val="0070C0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6147" name="Rectangle 3"/>
          <p:cNvSpPr>
            <a:spLocks noGrp="1"/>
          </p:cNvSpPr>
          <p:nvPr>
            <p:ph idx="1"/>
          </p:nvPr>
        </p:nvSpPr>
        <p:spPr>
          <a:xfrm>
            <a:off x="685800" y="1905000"/>
            <a:ext cx="8003540" cy="2524125"/>
          </a:xfrm>
        </p:spPr>
        <p:txBody>
          <a:bodyPr vert="horz" wrap="square" lIns="91440" tIns="45720" rIns="91440" bIns="45720" anchor="t" anchorCtr="0"/>
          <a:p>
            <a:pPr marL="0" indent="0" eaLnBrk="1" latinLnBrk="0" hangingPunct="1">
              <a:lnSpc>
                <a:spcPct val="120000"/>
              </a:lnSpc>
              <a:spcBef>
                <a:spcPts val="0"/>
              </a:spcBef>
              <a:buNone/>
            </a:pPr>
            <a:r>
              <a:rPr lang="en-US" altLang="zh-CN" sz="2400" b="1" kern="1200" dirty="0">
                <a:solidFill>
                  <a:srgbClr val="000066"/>
                </a:solidFill>
                <a:latin typeface="Arial" panose="020B0604020202020204" pitchFamily="34" charset="0"/>
                <a:ea typeface="楷体_GB2312" pitchFamily="49" charset="-122"/>
              </a:rPr>
              <a:t>      </a:t>
            </a:r>
            <a:r>
              <a:rPr lang="zh-CN" altLang="en-US" sz="2400" b="1" kern="1200" dirty="0">
                <a:solidFill>
                  <a:srgbClr val="000066"/>
                </a:solidFill>
                <a:latin typeface="Arial" panose="020B0604020202020204" pitchFamily="34" charset="0"/>
                <a:ea typeface="楷体_GB2312" pitchFamily="49" charset="-122"/>
              </a:rPr>
              <a:t>在自然界中存在着许多不同形式的物理量，有些物理量在数值上是连续变化的，如温度、压力、声音等，这些在数值上连续变化的物理量称为模拟量。表示模拟量的信号是模拟信号，如图1-1所示。</a:t>
            </a:r>
            <a:endParaRPr lang="zh-CN" altLang="en-US" sz="2400" b="1" kern="1200" dirty="0">
              <a:solidFill>
                <a:srgbClr val="000066"/>
              </a:solidFill>
              <a:latin typeface="Arial" panose="020B0604020202020204" pitchFamily="34" charset="0"/>
              <a:ea typeface="楷体_GB2312" pitchFamily="49" charset="-122"/>
            </a:endParaRPr>
          </a:p>
        </p:txBody>
      </p:sp>
      <p:sp>
        <p:nvSpPr>
          <p:cNvPr id="6148" name="TextBox 6"/>
          <p:cNvSpPr txBox="1"/>
          <p:nvPr/>
        </p:nvSpPr>
        <p:spPr>
          <a:xfrm>
            <a:off x="2514600" y="533400"/>
            <a:ext cx="5593080" cy="583565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5pPr>
          </a:lstStyle>
          <a:p>
            <a:pPr marL="0" lvl="0" indent="0" algn="l"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b="1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1.1</a:t>
            </a:r>
            <a:r>
              <a:rPr lang="zh-CN" altLang="en-US" b="1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数字电路基本概念</a:t>
            </a:r>
            <a:endParaRPr lang="zh-CN" altLang="en-US" b="1" dirty="0">
              <a:solidFill>
                <a:srgbClr val="FF0000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6150" name="灯片编号占位符 5"/>
          <p:cNvSpPr txBox="1">
            <a:spLocks noGrp="1"/>
          </p:cNvSpPr>
          <p:nvPr>
            <p:ph type="sldNum" sz="quarter" idx="12"/>
          </p:nvPr>
        </p:nvSpPr>
        <p:spPr>
          <a:xfrm>
            <a:off x="6553200" y="6537325"/>
            <a:ext cx="2133600" cy="244475"/>
          </a:xfrm>
        </p:spPr>
        <p:txBody>
          <a:bodyPr/>
          <a:p>
            <a:pPr marL="0" indent="0" algn="r" eaLnBrk="1" hangingPunct="1">
              <a:spcBef>
                <a:spcPct val="0"/>
              </a:spcBef>
              <a:buClrTx/>
              <a:buFontTx/>
              <a:buNone/>
            </a:pPr>
            <a:fld id="{9A0DB2DC-4C9A-4742-B13C-FB6460FD3503}" type="slidenum">
              <a:rPr lang="en-US" altLang="zh-CN" sz="1200" dirty="0">
                <a:solidFill>
                  <a:schemeClr val="bg1"/>
                </a:solidFill>
                <a:ea typeface="宋体" panose="02010600030101010101" pitchFamily="2" charset="-122"/>
              </a:rPr>
            </a:fld>
            <a:endParaRPr lang="en-US" altLang="zh-CN" sz="1200" dirty="0">
              <a:solidFill>
                <a:schemeClr val="bg1"/>
              </a:solidFill>
              <a:ea typeface="宋体" panose="02010600030101010101" pitchFamily="2" charset="-122"/>
            </a:endParaRPr>
          </a:p>
        </p:txBody>
      </p:sp>
      <p:grpSp>
        <p:nvGrpSpPr>
          <p:cNvPr id="5" name="组合 4"/>
          <p:cNvGrpSpPr/>
          <p:nvPr/>
        </p:nvGrpSpPr>
        <p:grpSpPr>
          <a:xfrm>
            <a:off x="3276600" y="3962400"/>
            <a:ext cx="3021330" cy="2393950"/>
            <a:chOff x="5160" y="6240"/>
            <a:chExt cx="4758" cy="3770"/>
          </a:xfrm>
        </p:grpSpPr>
        <p:sp>
          <p:nvSpPr>
            <p:cNvPr id="100" name="文本框 99"/>
            <p:cNvSpPr txBox="1"/>
            <p:nvPr/>
          </p:nvSpPr>
          <p:spPr>
            <a:xfrm>
              <a:off x="5880" y="9480"/>
              <a:ext cx="2540" cy="53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square">
              <a:spAutoFit/>
            </a:bodyPr>
            <a:p>
              <a:r>
                <a:rPr lang="zh-CN" sz="1600">
                  <a:ea typeface="宋体" panose="02010600030101010101" pitchFamily="2" charset="-122"/>
                </a:rPr>
                <a:t>图</a:t>
              </a:r>
              <a:r>
                <a:rPr lang="en-US" sz="1600">
                  <a:latin typeface="Times New Roman" panose="02020603050405020304" charset="0"/>
                  <a:ea typeface="宋体" panose="02010600030101010101" pitchFamily="2" charset="-122"/>
                </a:rPr>
                <a:t>1-1 </a:t>
              </a:r>
              <a:r>
                <a:rPr lang="zh-CN" sz="1600">
                  <a:ea typeface="宋体" panose="02010600030101010101" pitchFamily="2" charset="-122"/>
                </a:rPr>
                <a:t>模拟信号</a:t>
              </a:r>
              <a:endParaRPr lang="zh-CN" altLang="en-US" sz="1600"/>
            </a:p>
          </p:txBody>
        </p:sp>
        <p:pic>
          <p:nvPicPr>
            <p:cNvPr id="9194" name="图片 2631"/>
            <p:cNvPicPr>
              <a:picLocks noChangeAspect="1"/>
            </p:cNvPicPr>
            <p:nvPr>
              <p:custDataLst>
                <p:tags r:id="rId1"/>
              </p:custDataLst>
            </p:nvPr>
          </p:nvPicPr>
          <p:blipFill>
            <a:blip r:embed="rId2"/>
            <a:stretch>
              <a:fillRect/>
            </a:stretch>
          </p:blipFill>
          <p:spPr>
            <a:xfrm>
              <a:off x="5160" y="6240"/>
              <a:ext cx="4758" cy="3260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6146" name="Rectangle 2"/>
          <p:cNvSpPr>
            <a:spLocks noGrp="1"/>
          </p:cNvSpPr>
          <p:nvPr>
            <p:ph type="title"/>
          </p:nvPr>
        </p:nvSpPr>
        <p:spPr>
          <a:xfrm>
            <a:off x="762000" y="1142683"/>
            <a:ext cx="5257800" cy="868362"/>
          </a:xfrm>
        </p:spPr>
        <p:txBody>
          <a:bodyPr vert="horz" wrap="square" lIns="91440" tIns="45720" rIns="91440" bIns="45720" anchor="ctr" anchorCtr="0"/>
          <a:p>
            <a:pPr algn="l" eaLnBrk="1" hangingPunct="1"/>
            <a:r>
              <a:rPr lang="en-US" altLang="zh-CN" sz="2800" i="0" dirty="0">
                <a:solidFill>
                  <a:srgbClr val="0070C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1.1.2 </a:t>
            </a:r>
            <a:r>
              <a:rPr lang="zh-CN" altLang="en-US" sz="2800" i="0" dirty="0">
                <a:solidFill>
                  <a:srgbClr val="0070C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数字量与数字信号</a:t>
            </a:r>
            <a:endParaRPr lang="zh-CN" altLang="en-US" sz="2800" i="0" dirty="0">
              <a:solidFill>
                <a:srgbClr val="0070C0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6147" name="Rectangle 3"/>
          <p:cNvSpPr>
            <a:spLocks noGrp="1"/>
          </p:cNvSpPr>
          <p:nvPr>
            <p:ph idx="1"/>
          </p:nvPr>
        </p:nvSpPr>
        <p:spPr>
          <a:xfrm>
            <a:off x="685800" y="1905000"/>
            <a:ext cx="8003540" cy="1523365"/>
          </a:xfrm>
        </p:spPr>
        <p:txBody>
          <a:bodyPr vert="horz" wrap="square" lIns="91440" tIns="45720" rIns="91440" bIns="45720" anchor="t" anchorCtr="0"/>
          <a:p>
            <a:pPr marL="0" indent="0" eaLnBrk="1" latinLnBrk="0" hangingPunct="1">
              <a:lnSpc>
                <a:spcPct val="120000"/>
              </a:lnSpc>
              <a:spcBef>
                <a:spcPts val="0"/>
              </a:spcBef>
              <a:buNone/>
            </a:pPr>
            <a:r>
              <a:rPr lang="en-US" altLang="zh-CN" sz="2400" b="1" kern="1200" dirty="0">
                <a:solidFill>
                  <a:srgbClr val="000066"/>
                </a:solidFill>
                <a:latin typeface="Arial" panose="020B0604020202020204" pitchFamily="34" charset="0"/>
                <a:ea typeface="楷体_GB2312" pitchFamily="49" charset="-122"/>
              </a:rPr>
              <a:t>      </a:t>
            </a:r>
            <a:r>
              <a:rPr lang="zh-CN" altLang="en-US" sz="2400" b="1" kern="1200" dirty="0">
                <a:solidFill>
                  <a:srgbClr val="000066"/>
                </a:solidFill>
                <a:latin typeface="Arial" panose="020B0604020202020204" pitchFamily="34" charset="0"/>
                <a:ea typeface="楷体_GB2312" pitchFamily="49" charset="-122"/>
              </a:rPr>
              <a:t>有些物理量数值变化是不连续的或离散的，这样的物理量称为数字量。表示数字量的信号是数字信号，如图1-2所示。</a:t>
            </a:r>
            <a:endParaRPr lang="zh-CN" altLang="en-US" sz="2400" b="1" kern="1200" dirty="0">
              <a:solidFill>
                <a:srgbClr val="000066"/>
              </a:solidFill>
              <a:latin typeface="Arial" panose="020B0604020202020204" pitchFamily="34" charset="0"/>
              <a:ea typeface="楷体_GB2312" pitchFamily="49" charset="-122"/>
            </a:endParaRPr>
          </a:p>
        </p:txBody>
      </p:sp>
      <p:sp>
        <p:nvSpPr>
          <p:cNvPr id="6148" name="TextBox 6"/>
          <p:cNvSpPr txBox="1"/>
          <p:nvPr/>
        </p:nvSpPr>
        <p:spPr>
          <a:xfrm>
            <a:off x="2514600" y="533400"/>
            <a:ext cx="5593080" cy="583565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5pPr>
          </a:lstStyle>
          <a:p>
            <a:pPr marL="0" lvl="0" indent="0" algn="l"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b="1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1.1</a:t>
            </a:r>
            <a:r>
              <a:rPr lang="zh-CN" altLang="en-US" b="1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数字电路基本概念</a:t>
            </a:r>
            <a:endParaRPr lang="zh-CN" altLang="en-US" b="1" dirty="0">
              <a:solidFill>
                <a:srgbClr val="FF0000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6150" name="灯片编号占位符 5"/>
          <p:cNvSpPr txBox="1">
            <a:spLocks noGrp="1"/>
          </p:cNvSpPr>
          <p:nvPr>
            <p:ph type="sldNum" sz="quarter" idx="12"/>
          </p:nvPr>
        </p:nvSpPr>
        <p:spPr>
          <a:xfrm>
            <a:off x="6553200" y="6537325"/>
            <a:ext cx="2133600" cy="244475"/>
          </a:xfrm>
        </p:spPr>
        <p:txBody>
          <a:bodyPr/>
          <a:p>
            <a:pPr marL="0" indent="0" algn="r" eaLnBrk="1" hangingPunct="1">
              <a:spcBef>
                <a:spcPct val="0"/>
              </a:spcBef>
              <a:buClrTx/>
              <a:buFontTx/>
              <a:buNone/>
            </a:pPr>
            <a:fld id="{9A0DB2DC-4C9A-4742-B13C-FB6460FD3503}" type="slidenum">
              <a:rPr lang="en-US" altLang="zh-CN" sz="1200" dirty="0">
                <a:solidFill>
                  <a:schemeClr val="bg1"/>
                </a:solidFill>
                <a:ea typeface="宋体" panose="02010600030101010101" pitchFamily="2" charset="-122"/>
              </a:rPr>
            </a:fld>
            <a:endParaRPr lang="en-US" altLang="zh-CN" sz="1200" dirty="0">
              <a:solidFill>
                <a:schemeClr val="bg1"/>
              </a:solidFill>
              <a:ea typeface="宋体" panose="02010600030101010101" pitchFamily="2" charset="-122"/>
            </a:endParaRPr>
          </a:p>
        </p:txBody>
      </p:sp>
      <p:grpSp>
        <p:nvGrpSpPr>
          <p:cNvPr id="2" name="组合 1"/>
          <p:cNvGrpSpPr/>
          <p:nvPr/>
        </p:nvGrpSpPr>
        <p:grpSpPr>
          <a:xfrm>
            <a:off x="3429000" y="3048000"/>
            <a:ext cx="2552700" cy="2317750"/>
            <a:chOff x="5280" y="4920"/>
            <a:chExt cx="4020" cy="3650"/>
          </a:xfrm>
        </p:grpSpPr>
        <p:sp>
          <p:nvSpPr>
            <p:cNvPr id="100" name="文本框 99"/>
            <p:cNvSpPr txBox="1"/>
            <p:nvPr/>
          </p:nvSpPr>
          <p:spPr>
            <a:xfrm>
              <a:off x="5880" y="8040"/>
              <a:ext cx="2540" cy="53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square">
              <a:spAutoFit/>
            </a:bodyPr>
            <a:p>
              <a:r>
                <a:rPr sz="1600">
                  <a:ea typeface="宋体" panose="02010600030101010101" pitchFamily="2" charset="-122"/>
                </a:rPr>
                <a:t>图1-2 数字信号</a:t>
              </a:r>
              <a:endParaRPr sz="1600">
                <a:ea typeface="宋体" panose="02010600030101010101" pitchFamily="2" charset="-122"/>
              </a:endParaRPr>
            </a:p>
          </p:txBody>
        </p:sp>
        <p:pic>
          <p:nvPicPr>
            <p:cNvPr id="9195" name="图片 2632"/>
            <p:cNvPicPr>
              <a:picLocks noChangeAspect="1"/>
            </p:cNvPicPr>
            <p:nvPr/>
          </p:nvPicPr>
          <p:blipFill>
            <a:blip r:embed="rId1"/>
            <a:stretch>
              <a:fillRect/>
            </a:stretch>
          </p:blipFill>
          <p:spPr>
            <a:xfrm>
              <a:off x="5280" y="4920"/>
              <a:ext cx="4020" cy="281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6" name="Rectangle 3"/>
          <p:cNvSpPr>
            <a:spLocks noGrp="1"/>
          </p:cNvSpPr>
          <p:nvPr/>
        </p:nvSpPr>
        <p:spPr>
          <a:xfrm>
            <a:off x="533400" y="5410200"/>
            <a:ext cx="8003540" cy="1075055"/>
          </a:xfrm>
          <a:prstGeom prst="rect">
            <a:avLst/>
          </a:prstGeom>
          <a:noFill/>
          <a:ln w="9525">
            <a:noFill/>
          </a:ln>
        </p:spPr>
        <p:txBody>
          <a:bodyPr vert="horz" wrap="square" lIns="91440" tIns="45720" rIns="91440" bIns="45720" anchor="t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9pPr>
          </a:lstStyle>
          <a:p>
            <a:pPr marL="0" indent="0" eaLnBrk="1" latinLnBrk="0" hangingPunct="1">
              <a:lnSpc>
                <a:spcPct val="120000"/>
              </a:lnSpc>
              <a:spcBef>
                <a:spcPts val="0"/>
              </a:spcBef>
              <a:buNone/>
            </a:pPr>
            <a:r>
              <a:rPr lang="en-US" altLang="zh-CN" sz="2400" b="1" kern="1200" dirty="0">
                <a:solidFill>
                  <a:srgbClr val="000066"/>
                </a:solidFill>
                <a:latin typeface="Arial" panose="020B0604020202020204" pitchFamily="34" charset="0"/>
                <a:ea typeface="楷体_GB2312" pitchFamily="49" charset="-122"/>
              </a:rPr>
              <a:t>      </a:t>
            </a:r>
            <a:r>
              <a:rPr lang="zh-CN" altLang="en-US" sz="2400" b="1" kern="1200" dirty="0">
                <a:solidFill>
                  <a:srgbClr val="000066"/>
                </a:solidFill>
                <a:latin typeface="Arial" panose="020B0604020202020204" pitchFamily="34" charset="0"/>
                <a:ea typeface="楷体_GB2312" pitchFamily="49" charset="-122"/>
              </a:rPr>
              <a:t>从图1-1和图1-2可知，模拟信号在其定义域内的取值有无限个值，而数字信号的取值只有有限个值。</a:t>
            </a:r>
            <a:endParaRPr lang="zh-CN" altLang="en-US" sz="2400" b="1" kern="1200" dirty="0">
              <a:solidFill>
                <a:srgbClr val="000066"/>
              </a:solidFill>
              <a:latin typeface="Arial" panose="020B0604020202020204" pitchFamily="34" charset="0"/>
              <a:ea typeface="楷体_GB2312" pitchFamily="49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6146" name="Rectangle 2"/>
          <p:cNvSpPr>
            <a:spLocks noGrp="1"/>
          </p:cNvSpPr>
          <p:nvPr>
            <p:ph type="title"/>
          </p:nvPr>
        </p:nvSpPr>
        <p:spPr>
          <a:xfrm>
            <a:off x="762000" y="1142683"/>
            <a:ext cx="5257800" cy="868362"/>
          </a:xfrm>
        </p:spPr>
        <p:txBody>
          <a:bodyPr vert="horz" wrap="square" lIns="91440" tIns="45720" rIns="91440" bIns="45720" anchor="ctr" anchorCtr="0"/>
          <a:p>
            <a:pPr algn="l" eaLnBrk="1" hangingPunct="1"/>
            <a:r>
              <a:rPr lang="en-US" altLang="zh-CN" sz="2800" i="0" dirty="0">
                <a:solidFill>
                  <a:srgbClr val="0070C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1.1.3 </a:t>
            </a:r>
            <a:r>
              <a:rPr lang="zh-CN" altLang="en-US" sz="2800" i="0" dirty="0">
                <a:solidFill>
                  <a:srgbClr val="0070C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数字波形</a:t>
            </a:r>
            <a:endParaRPr lang="zh-CN" altLang="en-US" sz="2800" i="0" dirty="0">
              <a:solidFill>
                <a:srgbClr val="0070C0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6147" name="Rectangle 3"/>
          <p:cNvSpPr>
            <a:spLocks noGrp="1"/>
          </p:cNvSpPr>
          <p:nvPr>
            <p:ph idx="1"/>
          </p:nvPr>
        </p:nvSpPr>
        <p:spPr>
          <a:xfrm>
            <a:off x="685800" y="2438400"/>
            <a:ext cx="8003540" cy="1884045"/>
          </a:xfrm>
        </p:spPr>
        <p:txBody>
          <a:bodyPr vert="horz" wrap="square" lIns="91440" tIns="45720" rIns="91440" bIns="45720" anchor="t" anchorCtr="0"/>
          <a:p>
            <a:pPr marL="0" indent="0" eaLnBrk="1" latinLnBrk="0" hangingPunct="1">
              <a:lnSpc>
                <a:spcPct val="120000"/>
              </a:lnSpc>
              <a:spcBef>
                <a:spcPts val="0"/>
              </a:spcBef>
              <a:buNone/>
            </a:pPr>
            <a:r>
              <a:rPr lang="en-US" altLang="zh-CN" sz="2400" b="1" kern="1200" dirty="0">
                <a:solidFill>
                  <a:srgbClr val="000066"/>
                </a:solidFill>
                <a:latin typeface="Arial" panose="020B0604020202020204" pitchFamily="34" charset="0"/>
                <a:ea typeface="楷体_GB2312" pitchFamily="49" charset="-122"/>
              </a:rPr>
              <a:t>       </a:t>
            </a:r>
            <a:r>
              <a:rPr lang="zh-CN" altLang="en-US" sz="2400" b="1" kern="1200" dirty="0">
                <a:solidFill>
                  <a:srgbClr val="000066"/>
                </a:solidFill>
                <a:latin typeface="Arial" panose="020B0604020202020204" pitchFamily="34" charset="0"/>
                <a:ea typeface="楷体_GB2312" pitchFamily="49" charset="-122"/>
              </a:rPr>
              <a:t>数字信号可以用0和1组成的二进制数来表示数值的大小，也可以用0和1表示高与低、开与关、真与假、通与断等相互对立的逻辑状态。这种只有两种对立逻辑状态表示的逻辑关系称为二值逻辑。</a:t>
            </a:r>
            <a:endParaRPr lang="zh-CN" altLang="en-US" sz="2400" b="1" kern="1200" dirty="0">
              <a:solidFill>
                <a:srgbClr val="000066"/>
              </a:solidFill>
              <a:latin typeface="Arial" panose="020B0604020202020204" pitchFamily="34" charset="0"/>
              <a:ea typeface="楷体_GB2312" pitchFamily="49" charset="-122"/>
            </a:endParaRPr>
          </a:p>
        </p:txBody>
      </p:sp>
      <p:sp>
        <p:nvSpPr>
          <p:cNvPr id="6148" name="TextBox 6"/>
          <p:cNvSpPr txBox="1"/>
          <p:nvPr/>
        </p:nvSpPr>
        <p:spPr>
          <a:xfrm>
            <a:off x="2514600" y="533400"/>
            <a:ext cx="5593080" cy="583565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5pPr>
          </a:lstStyle>
          <a:p>
            <a:pPr marL="0" lvl="0" indent="0" algn="l"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b="1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1.1</a:t>
            </a:r>
            <a:r>
              <a:rPr lang="zh-CN" altLang="en-US" b="1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数字电路基本概念</a:t>
            </a:r>
            <a:endParaRPr lang="zh-CN" altLang="en-US" b="1" dirty="0">
              <a:solidFill>
                <a:srgbClr val="FF0000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6150" name="灯片编号占位符 5"/>
          <p:cNvSpPr txBox="1">
            <a:spLocks noGrp="1"/>
          </p:cNvSpPr>
          <p:nvPr>
            <p:ph type="sldNum" sz="quarter" idx="12"/>
          </p:nvPr>
        </p:nvSpPr>
        <p:spPr>
          <a:xfrm>
            <a:off x="6553200" y="6537325"/>
            <a:ext cx="2133600" cy="244475"/>
          </a:xfrm>
        </p:spPr>
        <p:txBody>
          <a:bodyPr/>
          <a:p>
            <a:pPr marL="0" indent="0" algn="r" eaLnBrk="1" hangingPunct="1">
              <a:spcBef>
                <a:spcPct val="0"/>
              </a:spcBef>
              <a:buClrTx/>
              <a:buFontTx/>
              <a:buNone/>
            </a:pPr>
            <a:fld id="{9A0DB2DC-4C9A-4742-B13C-FB6460FD3503}" type="slidenum">
              <a:rPr lang="en-US" altLang="zh-CN" sz="1200" dirty="0">
                <a:solidFill>
                  <a:schemeClr val="bg1"/>
                </a:solidFill>
                <a:ea typeface="宋体" panose="02010600030101010101" pitchFamily="2" charset="-122"/>
              </a:rPr>
            </a:fld>
            <a:endParaRPr lang="en-US" altLang="zh-CN" sz="1200" dirty="0">
              <a:solidFill>
                <a:schemeClr val="bg1"/>
              </a:solidFill>
              <a:ea typeface="宋体" panose="02010600030101010101" pitchFamily="2" charset="-122"/>
            </a:endParaRPr>
          </a:p>
        </p:txBody>
      </p:sp>
      <p:sp>
        <p:nvSpPr>
          <p:cNvPr id="2" name="Rectangle 3"/>
          <p:cNvSpPr>
            <a:spLocks noGrp="1"/>
          </p:cNvSpPr>
          <p:nvPr/>
        </p:nvSpPr>
        <p:spPr>
          <a:xfrm>
            <a:off x="1323340" y="1905000"/>
            <a:ext cx="2591435" cy="560070"/>
          </a:xfrm>
          <a:prstGeom prst="rect">
            <a:avLst/>
          </a:prstGeom>
          <a:noFill/>
          <a:ln w="9525">
            <a:noFill/>
          </a:ln>
        </p:spPr>
        <p:txBody>
          <a:bodyPr vert="horz" wrap="square" lIns="91440" tIns="45720" rIns="91440" bIns="45720" anchor="t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9pPr>
          </a:lstStyle>
          <a:p>
            <a:pPr marL="0" indent="0" eaLnBrk="1" latinLnBrk="0" hangingPunct="1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2400" b="1" kern="1200" dirty="0">
                <a:solidFill>
                  <a:srgbClr val="FE09D6"/>
                </a:solidFill>
                <a:latin typeface="Times New Roman" panose="02020603050405020304" charset="0"/>
                <a:ea typeface="楷体_GB2312" pitchFamily="49" charset="-122"/>
                <a:cs typeface="Times New Roman" panose="02020603050405020304" charset="0"/>
              </a:rPr>
              <a:t>1. 逻辑电平</a:t>
            </a:r>
            <a:endParaRPr lang="en-US" sz="2400" b="1" kern="1200" dirty="0">
              <a:solidFill>
                <a:srgbClr val="FE09D6"/>
              </a:solidFill>
              <a:latin typeface="Times New Roman" panose="02020603050405020304" charset="0"/>
              <a:ea typeface="楷体_GB2312" pitchFamily="49" charset="-122"/>
              <a:cs typeface="Times New Roman" panose="02020603050405020304" charset="0"/>
            </a:endParaRPr>
          </a:p>
        </p:txBody>
      </p:sp>
      <p:sp>
        <p:nvSpPr>
          <p:cNvPr id="3" name="Rectangle 3"/>
          <p:cNvSpPr>
            <a:spLocks noGrp="1"/>
          </p:cNvSpPr>
          <p:nvPr/>
        </p:nvSpPr>
        <p:spPr>
          <a:xfrm>
            <a:off x="660400" y="4241800"/>
            <a:ext cx="8003540" cy="1015365"/>
          </a:xfrm>
          <a:prstGeom prst="rect">
            <a:avLst/>
          </a:prstGeom>
          <a:noFill/>
          <a:ln w="9525">
            <a:noFill/>
          </a:ln>
        </p:spPr>
        <p:txBody>
          <a:bodyPr vert="horz" wrap="square" lIns="91440" tIns="45720" rIns="91440" bIns="45720" anchor="t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9pPr>
          </a:lstStyle>
          <a:p>
            <a:pPr marL="0" indent="0" eaLnBrk="1" latinLnBrk="0" hangingPunct="1">
              <a:lnSpc>
                <a:spcPct val="120000"/>
              </a:lnSpc>
              <a:spcBef>
                <a:spcPts val="0"/>
              </a:spcBef>
              <a:buNone/>
            </a:pPr>
            <a:r>
              <a:rPr lang="en-US" altLang="zh-CN" sz="2400" b="1" kern="1200" dirty="0">
                <a:solidFill>
                  <a:srgbClr val="000066"/>
                </a:solidFill>
                <a:latin typeface="Arial" panose="020B0604020202020204" pitchFamily="34" charset="0"/>
                <a:ea typeface="楷体_GB2312" pitchFamily="49" charset="-122"/>
              </a:rPr>
              <a:t>       </a:t>
            </a:r>
            <a:r>
              <a:rPr lang="zh-CN" altLang="en-US" sz="2400" b="1" kern="1200" dirty="0">
                <a:solidFill>
                  <a:srgbClr val="000066"/>
                </a:solidFill>
                <a:latin typeface="Arial" panose="020B0604020202020204" pitchFamily="34" charset="0"/>
                <a:ea typeface="楷体_GB2312" pitchFamily="49" charset="-122"/>
              </a:rPr>
              <a:t>在二值逻辑中，0和1不再表示数值的大小，而是表示两种不同的逻辑状态，称为逻辑0和逻辑1。</a:t>
            </a:r>
            <a:endParaRPr lang="zh-CN" altLang="en-US" sz="2400" b="1" kern="1200" dirty="0">
              <a:solidFill>
                <a:srgbClr val="000066"/>
              </a:solidFill>
              <a:latin typeface="Arial" panose="020B0604020202020204" pitchFamily="34" charset="0"/>
              <a:ea typeface="楷体_GB2312" pitchFamily="49" charset="-122"/>
            </a:endParaRPr>
          </a:p>
        </p:txBody>
      </p:sp>
      <p:sp>
        <p:nvSpPr>
          <p:cNvPr id="5" name="Rectangle 3"/>
          <p:cNvSpPr>
            <a:spLocks noGrp="1"/>
          </p:cNvSpPr>
          <p:nvPr/>
        </p:nvSpPr>
        <p:spPr>
          <a:xfrm>
            <a:off x="635000" y="5207000"/>
            <a:ext cx="8003540" cy="1015365"/>
          </a:xfrm>
          <a:prstGeom prst="rect">
            <a:avLst/>
          </a:prstGeom>
          <a:noFill/>
          <a:ln w="9525">
            <a:noFill/>
          </a:ln>
        </p:spPr>
        <p:txBody>
          <a:bodyPr vert="horz" wrap="square" lIns="91440" tIns="45720" rIns="91440" bIns="45720" anchor="t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9pPr>
          </a:lstStyle>
          <a:p>
            <a:pPr marL="0" indent="0" eaLnBrk="1" latinLnBrk="0" hangingPunct="1">
              <a:lnSpc>
                <a:spcPct val="120000"/>
              </a:lnSpc>
              <a:spcBef>
                <a:spcPts val="0"/>
              </a:spcBef>
              <a:buNone/>
            </a:pPr>
            <a:r>
              <a:rPr lang="en-US" altLang="zh-CN" sz="2400" b="1" kern="1200" dirty="0">
                <a:solidFill>
                  <a:srgbClr val="000066"/>
                </a:solidFill>
                <a:latin typeface="Arial" panose="020B0604020202020204" pitchFamily="34" charset="0"/>
                <a:ea typeface="楷体_GB2312" pitchFamily="49" charset="-122"/>
              </a:rPr>
              <a:t>       </a:t>
            </a:r>
            <a:r>
              <a:rPr lang="zh-CN" altLang="en-US" sz="2400" b="1" kern="1200" dirty="0">
                <a:solidFill>
                  <a:srgbClr val="000066"/>
                </a:solidFill>
                <a:latin typeface="Arial" panose="020B0604020202020204" pitchFamily="34" charset="0"/>
                <a:ea typeface="楷体_GB2312" pitchFamily="49" charset="-122"/>
              </a:rPr>
              <a:t>在数字电路中，数字信号往住表现为突变的电压或电流，表示数字电压的高、低电平通常称为逻辑电平。</a:t>
            </a:r>
            <a:endParaRPr lang="zh-CN" altLang="en-US" sz="2400" b="1" kern="1200" dirty="0">
              <a:solidFill>
                <a:srgbClr val="000066"/>
              </a:solidFill>
              <a:latin typeface="Arial" panose="020B0604020202020204" pitchFamily="34" charset="0"/>
              <a:ea typeface="楷体_GB2312" pitchFamily="49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1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5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6147" name="Rectangle 3"/>
          <p:cNvSpPr>
            <a:spLocks noGrp="1"/>
          </p:cNvSpPr>
          <p:nvPr>
            <p:ph idx="1"/>
          </p:nvPr>
        </p:nvSpPr>
        <p:spPr>
          <a:xfrm>
            <a:off x="685800" y="1447800"/>
            <a:ext cx="8003540" cy="2409190"/>
          </a:xfrm>
        </p:spPr>
        <p:txBody>
          <a:bodyPr vert="horz" wrap="square" lIns="91440" tIns="45720" rIns="91440" bIns="45720" anchor="t" anchorCtr="0"/>
          <a:p>
            <a:pPr marL="0" indent="0" algn="just" eaLnBrk="1" latinLnBrk="0" hangingPunct="1">
              <a:lnSpc>
                <a:spcPct val="120000"/>
              </a:lnSpc>
              <a:spcBef>
                <a:spcPts val="0"/>
              </a:spcBef>
              <a:buNone/>
            </a:pPr>
            <a:r>
              <a:rPr lang="en-US" altLang="zh-CN" sz="2400" b="1" kern="1200" dirty="0">
                <a:solidFill>
                  <a:srgbClr val="000066"/>
                </a:solidFill>
                <a:latin typeface="Arial" panose="020B0604020202020204" pitchFamily="34" charset="0"/>
                <a:ea typeface="楷体_GB2312" pitchFamily="49" charset="-122"/>
              </a:rPr>
              <a:t>       </a:t>
            </a:r>
            <a:r>
              <a:rPr lang="zh-CN" altLang="en-US" sz="2400" b="1" kern="1200" dirty="0">
                <a:solidFill>
                  <a:srgbClr val="000066"/>
                </a:solidFill>
                <a:latin typeface="Arial" panose="020B0604020202020204" pitchFamily="34" charset="0"/>
                <a:ea typeface="楷体_GB2312" pitchFamily="49" charset="-122"/>
              </a:rPr>
              <a:t>在晶体管-晶体管逻辑 (Transistor-Transistor </a:t>
            </a:r>
            <a:r>
              <a:rPr lang="en-US" altLang="zh-CN" sz="2400" b="1" kern="1200" dirty="0">
                <a:solidFill>
                  <a:srgbClr val="000066"/>
                </a:solidFill>
                <a:latin typeface="Arial" panose="020B0604020202020204" pitchFamily="34" charset="0"/>
                <a:ea typeface="楷体_GB2312" pitchFamily="49" charset="-122"/>
              </a:rPr>
              <a:t>L</a:t>
            </a:r>
            <a:r>
              <a:rPr lang="zh-CN" altLang="en-US" sz="2400" b="1" kern="1200" dirty="0">
                <a:solidFill>
                  <a:srgbClr val="000066"/>
                </a:solidFill>
                <a:latin typeface="Arial" panose="020B0604020202020204" pitchFamily="34" charset="0"/>
                <a:ea typeface="楷体_GB2312" pitchFamily="49" charset="-122"/>
              </a:rPr>
              <a:t>ogic，TTL) 数字集成电路中，当输入电压范围为2~5V时，逻辑电平为高电平，用字母“H”表示；当输入电压范围为0~0.8V，逻辑电平为低电平，用字母“L”表示。通常情况下，高电平表示逻辑1，低电平表示逻辑0。</a:t>
            </a:r>
            <a:endParaRPr lang="zh-CN" altLang="en-US" sz="2400" b="1" kern="1200" dirty="0">
              <a:solidFill>
                <a:srgbClr val="000066"/>
              </a:solidFill>
              <a:latin typeface="Arial" panose="020B0604020202020204" pitchFamily="34" charset="0"/>
              <a:ea typeface="楷体_GB2312" pitchFamily="49" charset="-122"/>
            </a:endParaRPr>
          </a:p>
        </p:txBody>
      </p:sp>
      <p:sp>
        <p:nvSpPr>
          <p:cNvPr id="6148" name="TextBox 6"/>
          <p:cNvSpPr txBox="1"/>
          <p:nvPr/>
        </p:nvSpPr>
        <p:spPr>
          <a:xfrm>
            <a:off x="2514600" y="533400"/>
            <a:ext cx="5593080" cy="583565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5pPr>
          </a:lstStyle>
          <a:p>
            <a:pPr marL="0" lvl="0" indent="0" algn="l"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b="1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1.1</a:t>
            </a:r>
            <a:r>
              <a:rPr lang="zh-CN" altLang="en-US" b="1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数字电路基本概念</a:t>
            </a:r>
            <a:endParaRPr lang="zh-CN" altLang="en-US" b="1" dirty="0">
              <a:solidFill>
                <a:srgbClr val="FF0000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6150" name="灯片编号占位符 5"/>
          <p:cNvSpPr txBox="1">
            <a:spLocks noGrp="1"/>
          </p:cNvSpPr>
          <p:nvPr>
            <p:ph type="sldNum" sz="quarter" idx="12"/>
          </p:nvPr>
        </p:nvSpPr>
        <p:spPr>
          <a:xfrm>
            <a:off x="6553200" y="6537325"/>
            <a:ext cx="2133600" cy="244475"/>
          </a:xfrm>
        </p:spPr>
        <p:txBody>
          <a:bodyPr/>
          <a:p>
            <a:pPr marL="0" indent="0" algn="r" eaLnBrk="1" hangingPunct="1">
              <a:spcBef>
                <a:spcPct val="0"/>
              </a:spcBef>
              <a:buClrTx/>
              <a:buFontTx/>
              <a:buNone/>
            </a:pPr>
            <a:fld id="{9A0DB2DC-4C9A-4742-B13C-FB6460FD3503}" type="slidenum">
              <a:rPr lang="en-US" altLang="zh-CN" sz="1200" dirty="0">
                <a:solidFill>
                  <a:schemeClr val="bg1"/>
                </a:solidFill>
                <a:ea typeface="宋体" panose="02010600030101010101" pitchFamily="2" charset="-122"/>
              </a:rPr>
            </a:fld>
            <a:endParaRPr lang="en-US" altLang="zh-CN" sz="1200" dirty="0">
              <a:solidFill>
                <a:schemeClr val="bg1"/>
              </a:solidFill>
              <a:ea typeface="宋体" panose="02010600030101010101" pitchFamily="2" charset="-122"/>
            </a:endParaRPr>
          </a:p>
        </p:txBody>
      </p:sp>
      <p:pic>
        <p:nvPicPr>
          <p:cNvPr id="6" name="图片 5" descr="IXS9WJCRZ96Z]UKR11BTD5F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38200" y="3886200"/>
            <a:ext cx="7607935" cy="1698625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1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6147" name="Rectangle 3"/>
          <p:cNvSpPr>
            <a:spLocks noGrp="1"/>
          </p:cNvSpPr>
          <p:nvPr>
            <p:ph idx="1"/>
          </p:nvPr>
        </p:nvSpPr>
        <p:spPr>
          <a:xfrm>
            <a:off x="685800" y="1905000"/>
            <a:ext cx="8003540" cy="1884045"/>
          </a:xfrm>
        </p:spPr>
        <p:txBody>
          <a:bodyPr vert="horz" wrap="square" lIns="91440" tIns="45720" rIns="91440" bIns="45720" anchor="t" anchorCtr="0"/>
          <a:p>
            <a:pPr marL="0" indent="0" eaLnBrk="1" latinLnBrk="0" hangingPunct="1">
              <a:lnSpc>
                <a:spcPct val="120000"/>
              </a:lnSpc>
              <a:spcBef>
                <a:spcPts val="0"/>
              </a:spcBef>
              <a:buNone/>
            </a:pPr>
            <a:r>
              <a:rPr lang="en-US" altLang="zh-CN" sz="2400" b="1" kern="1200" dirty="0">
                <a:solidFill>
                  <a:srgbClr val="000066"/>
                </a:solidFill>
                <a:latin typeface="Arial" panose="020B0604020202020204" pitchFamily="34" charset="0"/>
                <a:ea typeface="楷体_GB2312" pitchFamily="49" charset="-122"/>
              </a:rPr>
              <a:t>       </a:t>
            </a:r>
            <a:r>
              <a:rPr lang="zh-CN" altLang="en-US" sz="2400" b="1" kern="1200" dirty="0">
                <a:solidFill>
                  <a:srgbClr val="000066"/>
                </a:solidFill>
                <a:latin typeface="Arial" panose="020B0604020202020204" pitchFamily="34" charset="0"/>
                <a:ea typeface="楷体_GB2312" pitchFamily="49" charset="-122"/>
              </a:rPr>
              <a:t>数字波形是表示逻辑电平与时间关系的图形，理想的数字波形如图1-3 所示。</a:t>
            </a:r>
            <a:endParaRPr lang="zh-CN" altLang="en-US" sz="2400" b="1" kern="1200" dirty="0">
              <a:solidFill>
                <a:srgbClr val="000066"/>
              </a:solidFill>
              <a:latin typeface="Arial" panose="020B0604020202020204" pitchFamily="34" charset="0"/>
              <a:ea typeface="楷体_GB2312" pitchFamily="49" charset="-122"/>
            </a:endParaRPr>
          </a:p>
        </p:txBody>
      </p:sp>
      <p:sp>
        <p:nvSpPr>
          <p:cNvPr id="6148" name="TextBox 6"/>
          <p:cNvSpPr txBox="1"/>
          <p:nvPr/>
        </p:nvSpPr>
        <p:spPr>
          <a:xfrm>
            <a:off x="2590800" y="533400"/>
            <a:ext cx="5593080" cy="583565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5pPr>
          </a:lstStyle>
          <a:p>
            <a:pPr marL="0" lvl="0" indent="0" algn="l"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b="1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1.1</a:t>
            </a:r>
            <a:r>
              <a:rPr lang="zh-CN" altLang="en-US" b="1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数字电路基本概念</a:t>
            </a:r>
            <a:endParaRPr lang="zh-CN" altLang="en-US" b="1" dirty="0">
              <a:solidFill>
                <a:srgbClr val="FF0000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6150" name="灯片编号占位符 5"/>
          <p:cNvSpPr txBox="1">
            <a:spLocks noGrp="1"/>
          </p:cNvSpPr>
          <p:nvPr>
            <p:ph type="sldNum" sz="quarter" idx="12"/>
          </p:nvPr>
        </p:nvSpPr>
        <p:spPr>
          <a:xfrm>
            <a:off x="6553200" y="6537325"/>
            <a:ext cx="2133600" cy="244475"/>
          </a:xfrm>
        </p:spPr>
        <p:txBody>
          <a:bodyPr/>
          <a:p>
            <a:pPr marL="0" indent="0" algn="r" eaLnBrk="1" hangingPunct="1">
              <a:spcBef>
                <a:spcPct val="0"/>
              </a:spcBef>
              <a:buClrTx/>
              <a:buFontTx/>
              <a:buNone/>
            </a:pPr>
            <a:fld id="{9A0DB2DC-4C9A-4742-B13C-FB6460FD3503}" type="slidenum">
              <a:rPr lang="en-US" altLang="zh-CN" sz="1200" dirty="0">
                <a:solidFill>
                  <a:schemeClr val="bg1"/>
                </a:solidFill>
                <a:ea typeface="宋体" panose="02010600030101010101" pitchFamily="2" charset="-122"/>
              </a:rPr>
            </a:fld>
            <a:endParaRPr lang="en-US" altLang="zh-CN" sz="1200" dirty="0">
              <a:solidFill>
                <a:schemeClr val="bg1"/>
              </a:solidFill>
              <a:ea typeface="宋体" panose="02010600030101010101" pitchFamily="2" charset="-122"/>
            </a:endParaRPr>
          </a:p>
        </p:txBody>
      </p:sp>
      <p:sp>
        <p:nvSpPr>
          <p:cNvPr id="2" name="Rectangle 3"/>
          <p:cNvSpPr>
            <a:spLocks noGrp="1"/>
          </p:cNvSpPr>
          <p:nvPr/>
        </p:nvSpPr>
        <p:spPr>
          <a:xfrm>
            <a:off x="1323340" y="1371600"/>
            <a:ext cx="3334385" cy="614680"/>
          </a:xfrm>
          <a:prstGeom prst="rect">
            <a:avLst/>
          </a:prstGeom>
          <a:noFill/>
          <a:ln w="9525">
            <a:noFill/>
          </a:ln>
        </p:spPr>
        <p:txBody>
          <a:bodyPr vert="horz" wrap="square" lIns="91440" tIns="45720" rIns="91440" bIns="45720" anchor="t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9pPr>
          </a:lstStyle>
          <a:p>
            <a:pPr marL="0" indent="0" eaLnBrk="1" latinLnBrk="0" hangingPunct="1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2400" b="1" kern="1200" dirty="0">
                <a:solidFill>
                  <a:srgbClr val="FE09D6"/>
                </a:solidFill>
                <a:latin typeface="Times New Roman" panose="02020603050405020304" charset="0"/>
                <a:ea typeface="楷体_GB2312" pitchFamily="49" charset="-122"/>
                <a:cs typeface="Times New Roman" panose="02020603050405020304" charset="0"/>
              </a:rPr>
              <a:t>2. 理想的数字波形</a:t>
            </a:r>
            <a:endParaRPr lang="en-US" sz="2400" b="1" kern="1200" dirty="0">
              <a:solidFill>
                <a:srgbClr val="FE09D6"/>
              </a:solidFill>
              <a:latin typeface="Times New Roman" panose="02020603050405020304" charset="0"/>
              <a:ea typeface="楷体_GB2312" pitchFamily="49" charset="-122"/>
              <a:cs typeface="Times New Roman" panose="02020603050405020304" charset="0"/>
            </a:endParaRPr>
          </a:p>
        </p:txBody>
      </p:sp>
      <p:grpSp>
        <p:nvGrpSpPr>
          <p:cNvPr id="3" name="组合 2"/>
          <p:cNvGrpSpPr/>
          <p:nvPr/>
        </p:nvGrpSpPr>
        <p:grpSpPr>
          <a:xfrm>
            <a:off x="914400" y="3048000"/>
            <a:ext cx="7330440" cy="2214880"/>
            <a:chOff x="1440" y="4800"/>
            <a:chExt cx="11544" cy="3488"/>
          </a:xfrm>
        </p:grpSpPr>
        <p:pic>
          <p:nvPicPr>
            <p:cNvPr id="9196" name="图片 2633"/>
            <p:cNvPicPr>
              <a:picLocks noChangeAspect="1"/>
            </p:cNvPicPr>
            <p:nvPr/>
          </p:nvPicPr>
          <p:blipFill>
            <a:blip r:embed="rId1"/>
            <a:stretch>
              <a:fillRect/>
            </a:stretch>
          </p:blipFill>
          <p:spPr>
            <a:xfrm>
              <a:off x="1440" y="4800"/>
              <a:ext cx="11544" cy="2793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6" name="文本框 5"/>
            <p:cNvSpPr txBox="1"/>
            <p:nvPr/>
          </p:nvSpPr>
          <p:spPr>
            <a:xfrm>
              <a:off x="5400" y="7680"/>
              <a:ext cx="3480" cy="608"/>
            </a:xfrm>
            <a:prstGeom prst="rect">
              <a:avLst/>
            </a:prstGeom>
            <a:noFill/>
          </p:spPr>
          <p:txBody>
            <a:bodyPr wrap="none" rtlCol="0" anchor="t">
              <a:spAutoFit/>
            </a:bodyPr>
            <a:p>
              <a:pPr marL="0" indent="0" algn="l" eaLnBrk="1" latinLnBrk="0" hangingPunct="1">
                <a:lnSpc>
                  <a:spcPct val="120000"/>
                </a:lnSpc>
                <a:spcBef>
                  <a:spcPts val="0"/>
                </a:spcBef>
                <a:buNone/>
              </a:pPr>
              <a:r>
                <a:rPr lang="en-US" sz="1600">
                  <a:latin typeface="Times New Roman" panose="02020603050405020304" charset="0"/>
                  <a:sym typeface="+mn-ea"/>
                </a:rPr>
                <a:t> </a:t>
              </a:r>
              <a:r>
                <a:rPr lang="zh-CN" sz="1600">
                  <a:sym typeface="+mn-ea"/>
                </a:rPr>
                <a:t>图1-3 理想的数字波形</a:t>
              </a:r>
              <a:endParaRPr lang="zh-CN" altLang="en-US" sz="1600"/>
            </a:p>
          </p:txBody>
        </p:sp>
      </p:grpSp>
      <p:sp>
        <p:nvSpPr>
          <p:cNvPr id="7" name="文本框 6"/>
          <p:cNvSpPr txBox="1"/>
          <p:nvPr/>
        </p:nvSpPr>
        <p:spPr>
          <a:xfrm>
            <a:off x="646430" y="5410200"/>
            <a:ext cx="7837170" cy="82994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indent="0" algn="l" eaLnBrk="1" latinLnBrk="0" hangingPunct="1">
              <a:lnSpc>
                <a:spcPct val="120000"/>
              </a:lnSpc>
              <a:spcBef>
                <a:spcPts val="0"/>
              </a:spcBef>
              <a:buNone/>
            </a:pPr>
            <a:r>
              <a:rPr lang="zh-CN" sz="2000">
                <a:solidFill>
                  <a:srgbClr val="FF0000"/>
                </a:solidFill>
                <a:sym typeface="+mn-ea"/>
              </a:rPr>
              <a:t>图中，逻辑1表示5V的高电平，逻辑0表示0V的低电平。通常，在数字波形图中，高、低电平的电压值和时间值不标注，如图(b) 所示。</a:t>
            </a:r>
            <a:endParaRPr lang="zh-CN" sz="2000">
              <a:solidFill>
                <a:srgbClr val="FF0000"/>
              </a:solidFill>
              <a:sym typeface="+mn-ea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500"/>
                            </p:stCondLst>
                            <p:childTnLst>
                              <p:par>
                                <p:cTn id="11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6147" name="Rectangle 3"/>
          <p:cNvSpPr>
            <a:spLocks noGrp="1"/>
          </p:cNvSpPr>
          <p:nvPr>
            <p:ph idx="1"/>
          </p:nvPr>
        </p:nvSpPr>
        <p:spPr>
          <a:xfrm>
            <a:off x="685800" y="1447800"/>
            <a:ext cx="8003540" cy="1451610"/>
          </a:xfrm>
        </p:spPr>
        <p:txBody>
          <a:bodyPr vert="horz" wrap="square" lIns="91440" tIns="45720" rIns="91440" bIns="45720" anchor="t" anchorCtr="0"/>
          <a:p>
            <a:pPr marL="0" indent="0" eaLnBrk="1" latinLnBrk="0" hangingPunct="1">
              <a:lnSpc>
                <a:spcPct val="120000"/>
              </a:lnSpc>
              <a:spcBef>
                <a:spcPts val="0"/>
              </a:spcBef>
              <a:buNone/>
            </a:pPr>
            <a:r>
              <a:rPr lang="en-US" altLang="zh-CN" sz="2400" b="1" kern="1200" dirty="0">
                <a:solidFill>
                  <a:srgbClr val="000066"/>
                </a:solidFill>
                <a:latin typeface="Arial" panose="020B0604020202020204" pitchFamily="34" charset="0"/>
                <a:ea typeface="楷体_GB2312" pitchFamily="49" charset="-122"/>
              </a:rPr>
              <a:t>       </a:t>
            </a:r>
            <a:r>
              <a:rPr lang="zh-CN" altLang="en-US" sz="2400" b="1" kern="1200" dirty="0">
                <a:solidFill>
                  <a:srgbClr val="000066"/>
                </a:solidFill>
                <a:latin typeface="Arial" panose="020B0604020202020204" pitchFamily="34" charset="0"/>
                <a:ea typeface="楷体_GB2312" pitchFamily="49" charset="-122"/>
              </a:rPr>
              <a:t>数字波形可分为周期性的数字波形和非周期性的数字波形。周期性的数字波形除了用周期和频率来描述外，也可以用占空比来描述。</a:t>
            </a:r>
            <a:endParaRPr lang="zh-CN" altLang="en-US" sz="2400" b="1" kern="1200" dirty="0">
              <a:solidFill>
                <a:srgbClr val="000066"/>
              </a:solidFill>
              <a:latin typeface="Arial" panose="020B0604020202020204" pitchFamily="34" charset="0"/>
              <a:ea typeface="楷体_GB2312" pitchFamily="49" charset="-122"/>
            </a:endParaRPr>
          </a:p>
        </p:txBody>
      </p:sp>
      <p:sp>
        <p:nvSpPr>
          <p:cNvPr id="6148" name="TextBox 6"/>
          <p:cNvSpPr txBox="1"/>
          <p:nvPr/>
        </p:nvSpPr>
        <p:spPr>
          <a:xfrm>
            <a:off x="2438400" y="533400"/>
            <a:ext cx="5593080" cy="583565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5pPr>
          </a:lstStyle>
          <a:p>
            <a:pPr marL="0" lvl="0" indent="0" algn="l"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b="1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1.1</a:t>
            </a:r>
            <a:r>
              <a:rPr lang="zh-CN" altLang="en-US" b="1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数字电路基本概念</a:t>
            </a:r>
            <a:endParaRPr lang="zh-CN" altLang="en-US" b="1" dirty="0">
              <a:solidFill>
                <a:srgbClr val="FF0000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6150" name="灯片编号占位符 5"/>
          <p:cNvSpPr txBox="1">
            <a:spLocks noGrp="1"/>
          </p:cNvSpPr>
          <p:nvPr>
            <p:ph type="sldNum" sz="quarter" idx="12"/>
          </p:nvPr>
        </p:nvSpPr>
        <p:spPr>
          <a:xfrm>
            <a:off x="6553200" y="6537325"/>
            <a:ext cx="2133600" cy="244475"/>
          </a:xfrm>
        </p:spPr>
        <p:txBody>
          <a:bodyPr/>
          <a:p>
            <a:pPr marL="0" indent="0" algn="r" eaLnBrk="1" hangingPunct="1">
              <a:spcBef>
                <a:spcPct val="0"/>
              </a:spcBef>
              <a:buClrTx/>
              <a:buFontTx/>
              <a:buNone/>
            </a:pPr>
            <a:fld id="{9A0DB2DC-4C9A-4742-B13C-FB6460FD3503}" type="slidenum">
              <a:rPr lang="en-US" altLang="zh-CN" sz="1200" dirty="0">
                <a:solidFill>
                  <a:schemeClr val="bg1"/>
                </a:solidFill>
                <a:ea typeface="宋体" panose="02010600030101010101" pitchFamily="2" charset="-122"/>
              </a:rPr>
            </a:fld>
            <a:endParaRPr lang="en-US" altLang="zh-CN" sz="1200" dirty="0">
              <a:solidFill>
                <a:schemeClr val="bg1"/>
              </a:solidFill>
              <a:ea typeface="宋体" panose="02010600030101010101" pitchFamily="2" charset="-122"/>
            </a:endParaRPr>
          </a:p>
        </p:txBody>
      </p:sp>
      <p:sp>
        <p:nvSpPr>
          <p:cNvPr id="3" name="Rectangle 3"/>
          <p:cNvSpPr>
            <a:spLocks noGrp="1"/>
          </p:cNvSpPr>
          <p:nvPr/>
        </p:nvSpPr>
        <p:spPr>
          <a:xfrm>
            <a:off x="660400" y="4699000"/>
            <a:ext cx="8003540" cy="1015365"/>
          </a:xfrm>
          <a:prstGeom prst="rect">
            <a:avLst/>
          </a:prstGeom>
          <a:noFill/>
          <a:ln w="9525">
            <a:noFill/>
          </a:ln>
        </p:spPr>
        <p:txBody>
          <a:bodyPr vert="horz" wrap="square" lIns="91440" tIns="45720" rIns="91440" bIns="45720" anchor="t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9pPr>
          </a:lstStyle>
          <a:p>
            <a:pPr marL="0" indent="0" eaLnBrk="1" latinLnBrk="0" hangingPunct="1">
              <a:lnSpc>
                <a:spcPct val="120000"/>
              </a:lnSpc>
              <a:spcBef>
                <a:spcPts val="0"/>
              </a:spcBef>
              <a:buNone/>
            </a:pPr>
            <a:r>
              <a:rPr lang="en-US" altLang="zh-CN" sz="2400" b="1" kern="1200" dirty="0">
                <a:solidFill>
                  <a:srgbClr val="000066"/>
                </a:solidFill>
                <a:latin typeface="Arial" panose="020B0604020202020204" pitchFamily="34" charset="0"/>
                <a:ea typeface="楷体_GB2312" pitchFamily="49" charset="-122"/>
              </a:rPr>
              <a:t>       </a:t>
            </a:r>
            <a:r>
              <a:rPr lang="zh-CN" altLang="en-US" sz="2400" b="1" kern="1200" dirty="0">
                <a:solidFill>
                  <a:srgbClr val="000066"/>
                </a:solidFill>
                <a:latin typeface="Arial" panose="020B0604020202020204" pitchFamily="34" charset="0"/>
                <a:ea typeface="楷体_GB2312" pitchFamily="49" charset="-122"/>
              </a:rPr>
              <a:t>其中，</a:t>
            </a:r>
            <a:r>
              <a:rPr lang="en-US" altLang="zh-CN" sz="2400" b="1" i="1" kern="1200" dirty="0">
                <a:solidFill>
                  <a:srgbClr val="000066"/>
                </a:solidFill>
                <a:latin typeface="Arial" panose="020B0604020202020204" pitchFamily="34" charset="0"/>
                <a:ea typeface="楷体_GB2312" pitchFamily="49" charset="-122"/>
              </a:rPr>
              <a:t>q</a:t>
            </a:r>
            <a:r>
              <a:rPr lang="zh-CN" altLang="en-US" sz="2400" b="1" kern="1200" dirty="0">
                <a:solidFill>
                  <a:srgbClr val="000066"/>
                </a:solidFill>
                <a:latin typeface="Arial" panose="020B0604020202020204" pitchFamily="34" charset="0"/>
                <a:ea typeface="楷体_GB2312" pitchFamily="49" charset="-122"/>
              </a:rPr>
              <a:t>表示占空比，</a:t>
            </a:r>
            <a:r>
              <a:rPr lang="en-US" altLang="zh-CN" sz="2400" b="1" i="1" kern="1200" dirty="0">
                <a:solidFill>
                  <a:srgbClr val="000066"/>
                </a:solidFill>
                <a:latin typeface="Arial" panose="020B0604020202020204" pitchFamily="34" charset="0"/>
                <a:ea typeface="楷体_GB2312" pitchFamily="49" charset="-122"/>
              </a:rPr>
              <a:t>t</a:t>
            </a:r>
            <a:r>
              <a:rPr lang="en-US" altLang="zh-CN" sz="2400" b="1" kern="1200" baseline="-25000" dirty="0">
                <a:solidFill>
                  <a:srgbClr val="000066"/>
                </a:solidFill>
                <a:latin typeface="Arial" panose="020B0604020202020204" pitchFamily="34" charset="0"/>
                <a:ea typeface="楷体_GB2312" pitchFamily="49" charset="-122"/>
              </a:rPr>
              <a:t>w</a:t>
            </a:r>
            <a:r>
              <a:rPr lang="zh-CN" altLang="en-US" sz="2400" b="1" kern="1200" dirty="0">
                <a:solidFill>
                  <a:srgbClr val="000066"/>
                </a:solidFill>
                <a:latin typeface="Arial" panose="020B0604020202020204" pitchFamily="34" charset="0"/>
                <a:ea typeface="楷体_GB2312" pitchFamily="49" charset="-122"/>
              </a:rPr>
              <a:t>表示脉冲宽度，</a:t>
            </a:r>
            <a:r>
              <a:rPr lang="en-US" altLang="zh-CN" sz="2400" b="1" i="1" kern="1200" dirty="0">
                <a:solidFill>
                  <a:srgbClr val="000066"/>
                </a:solidFill>
                <a:latin typeface="Arial" panose="020B0604020202020204" pitchFamily="34" charset="0"/>
                <a:ea typeface="楷体_GB2312" pitchFamily="49" charset="-122"/>
              </a:rPr>
              <a:t>T</a:t>
            </a:r>
            <a:r>
              <a:rPr lang="zh-CN" altLang="en-US" sz="2400" b="1" kern="1200" dirty="0">
                <a:solidFill>
                  <a:srgbClr val="000066"/>
                </a:solidFill>
                <a:latin typeface="Arial" panose="020B0604020202020204" pitchFamily="34" charset="0"/>
                <a:ea typeface="楷体_GB2312" pitchFamily="49" charset="-122"/>
              </a:rPr>
              <a:t>表示周期。对理想的数字波形而言，脉冲宽度为高电平的持续时间。</a:t>
            </a:r>
            <a:endParaRPr lang="zh-CN" altLang="en-US" sz="2400" b="1" kern="1200" dirty="0">
              <a:solidFill>
                <a:srgbClr val="000066"/>
              </a:solidFill>
              <a:latin typeface="Arial" panose="020B0604020202020204" pitchFamily="34" charset="0"/>
              <a:ea typeface="楷体_GB2312" pitchFamily="49" charset="-122"/>
            </a:endParaRPr>
          </a:p>
        </p:txBody>
      </p:sp>
      <p:sp>
        <p:nvSpPr>
          <p:cNvPr id="4" name="Rectangle 3"/>
          <p:cNvSpPr>
            <a:spLocks noGrp="1"/>
          </p:cNvSpPr>
          <p:nvPr/>
        </p:nvSpPr>
        <p:spPr>
          <a:xfrm>
            <a:off x="762000" y="2895600"/>
            <a:ext cx="8003540" cy="992505"/>
          </a:xfrm>
          <a:prstGeom prst="rect">
            <a:avLst/>
          </a:prstGeom>
          <a:noFill/>
          <a:ln w="9525">
            <a:noFill/>
          </a:ln>
        </p:spPr>
        <p:txBody>
          <a:bodyPr vert="horz" wrap="square" lIns="91440" tIns="45720" rIns="91440" bIns="45720" anchor="t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9pPr>
          </a:lstStyle>
          <a:p>
            <a:pPr marL="0" indent="0" eaLnBrk="1" latinLnBrk="0" hangingPunct="1">
              <a:lnSpc>
                <a:spcPct val="120000"/>
              </a:lnSpc>
              <a:spcBef>
                <a:spcPts val="0"/>
              </a:spcBef>
              <a:buNone/>
            </a:pPr>
            <a:r>
              <a:rPr lang="en-US" altLang="zh-CN" sz="2400" b="1" kern="1200" dirty="0">
                <a:solidFill>
                  <a:srgbClr val="000066"/>
                </a:solidFill>
                <a:latin typeface="Arial" panose="020B0604020202020204" pitchFamily="34" charset="0"/>
                <a:ea typeface="楷体_GB2312" pitchFamily="49" charset="-122"/>
              </a:rPr>
              <a:t>      </a:t>
            </a:r>
            <a:r>
              <a:rPr lang="zh-CN" altLang="en-US" sz="2400" b="1" kern="1200" dirty="0">
                <a:solidFill>
                  <a:srgbClr val="000066"/>
                </a:solidFill>
                <a:latin typeface="Arial" panose="020B0604020202020204" pitchFamily="34" charset="0"/>
                <a:ea typeface="楷体_GB2312" pitchFamily="49" charset="-122"/>
              </a:rPr>
              <a:t>占空比表示一个周期内的脉冲宽度占整个周期的百分数，用公式表示为</a:t>
            </a:r>
            <a:endParaRPr lang="zh-CN" altLang="en-US" sz="2400" b="1" kern="1200" dirty="0">
              <a:solidFill>
                <a:srgbClr val="000066"/>
              </a:solidFill>
              <a:latin typeface="Arial" panose="020B0604020202020204" pitchFamily="34" charset="0"/>
              <a:ea typeface="楷体_GB2312" pitchFamily="49" charset="-122"/>
            </a:endParaRPr>
          </a:p>
        </p:txBody>
      </p:sp>
      <p:graphicFrame>
        <p:nvGraphicFramePr>
          <p:cNvPr id="7" name="对象 6">
            <a:hlinkClick r:id="" action="ppaction://ole?verb="/>
          </p:cNvPr>
          <p:cNvGraphicFramePr>
            <a:graphicFrameLocks noChangeAspect="1"/>
          </p:cNvGraphicFramePr>
          <p:nvPr/>
        </p:nvGraphicFramePr>
        <p:xfrm>
          <a:off x="3200400" y="3886200"/>
          <a:ext cx="1863090" cy="80264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25" name="" r:id="rId1" imgW="914400" imgH="393700" progId="Equation.KSEE3">
                  <p:embed/>
                </p:oleObj>
              </mc:Choice>
              <mc:Fallback>
                <p:oleObj name="" r:id="rId1" imgW="914400" imgH="393700" progId="Equation.KSEE3">
                  <p:embed/>
                  <p:pic>
                    <p:nvPicPr>
                      <p:cNvPr id="0" name="图片 1024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3200400" y="3886200"/>
                        <a:ext cx="1863090" cy="80264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4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4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3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+0.3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600" decel="50000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5000">
                                          <p:val>
                                            <p:strVal val="#ppt_x+0.0242"/>
                                          </p:val>
                                        </p:tav>
                                        <p:tav tm="10000">
                                          <p:val>
                                            <p:strVal val="#ppt_x+0.0479"/>
                                          </p:val>
                                        </p:tav>
                                        <p:tav tm="15000">
                                          <p:val>
                                            <p:strVal val="#ppt_x+0.0704"/>
                                          </p:val>
                                        </p:tav>
                                        <p:tav tm="20000">
                                          <p:val>
                                            <p:strVal val="#ppt_x+0.0911"/>
                                          </p:val>
                                        </p:tav>
                                        <p:tav tm="25000">
                                          <p:val>
                                            <p:strVal val="#ppt_x+0.1096"/>
                                          </p:val>
                                        </p:tav>
                                        <p:tav tm="30000">
                                          <p:val>
                                            <p:strVal val="#ppt_x+0.1254"/>
                                          </p:val>
                                        </p:tav>
                                        <p:tav tm="35000">
                                          <p:val>
                                            <p:strVal val="#ppt_x+0.1381"/>
                                          </p:val>
                                        </p:tav>
                                        <p:tav tm="40000">
                                          <p:val>
                                            <p:strVal val="#ppt_x+0.1474"/>
                                          </p:val>
                                        </p:tav>
                                        <p:tav tm="45000">
                                          <p:val>
                                            <p:strVal val="#ppt_x+0.1531"/>
                                          </p:val>
                                        </p:tav>
                                        <p:tav tm="50000">
                                          <p:val>
                                            <p:strVal val="#ppt_x+0.1550"/>
                                          </p:val>
                                        </p:tav>
                                        <p:tav tm="55000">
                                          <p:val>
                                            <p:strVal val="#ppt_x+0.1531"/>
                                          </p:val>
                                        </p:tav>
                                        <p:tav tm="60000">
                                          <p:val>
                                            <p:strVal val="#ppt_x+0.1474"/>
                                          </p:val>
                                        </p:tav>
                                        <p:tav tm="65000">
                                          <p:val>
                                            <p:strVal val="#ppt_x+0.1381"/>
                                          </p:val>
                                        </p:tav>
                                        <p:tav tm="70000">
                                          <p:val>
                                            <p:strVal val="#ppt_x+0.1254"/>
                                          </p:val>
                                        </p:tav>
                                        <p:tav tm="75000">
                                          <p:val>
                                            <p:strVal val="#ppt_x+0.1096"/>
                                          </p:val>
                                        </p:tav>
                                        <p:tav tm="80000">
                                          <p:val>
                                            <p:strVal val="#ppt_x+0.0911"/>
                                          </p:val>
                                        </p:tav>
                                        <p:tav tm="85000">
                                          <p:val>
                                            <p:strVal val="#ppt_x+0.0704"/>
                                          </p:val>
                                        </p:tav>
                                        <p:tav tm="90000">
                                          <p:val>
                                            <p:strVal val="#ppt_x+0.0479"/>
                                          </p:val>
                                        </p:tav>
                                        <p:tav tm="95000">
                                          <p:val>
                                            <p:strVal val="#ppt_x+0.024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600" decel="50000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31"/>
                                          </p:val>
                                        </p:tav>
                                        <p:tav tm="5000">
                                          <p:val>
                                            <p:strVal val="#ppt_y+0.308"/>
                                          </p:val>
                                        </p:tav>
                                        <p:tav tm="10000">
                                          <p:val>
                                            <p:strVal val="#ppt_y+0.3024"/>
                                          </p:val>
                                        </p:tav>
                                        <p:tav tm="15000">
                                          <p:val>
                                            <p:strVal val="#ppt_y+0.2931"/>
                                          </p:val>
                                        </p:tav>
                                        <p:tav tm="20000">
                                          <p:val>
                                            <p:strVal val="#ppt_y+0.2804"/>
                                          </p:val>
                                        </p:tav>
                                        <p:tav tm="25000">
                                          <p:val>
                                            <p:strVal val="#ppt_y+0.2646"/>
                                          </p:val>
                                        </p:tav>
                                        <p:tav tm="30000">
                                          <p:val>
                                            <p:strVal val="#ppt_y+0.2461"/>
                                          </p:val>
                                        </p:tav>
                                        <p:tav tm="35000">
                                          <p:val>
                                            <p:strVal val="#ppt_y+0.2253"/>
                                          </p:val>
                                        </p:tav>
                                        <p:tav tm="40000">
                                          <p:val>
                                            <p:strVal val="#ppt_y+0.2029"/>
                                          </p:val>
                                        </p:tav>
                                        <p:tav tm="45000">
                                          <p:val>
                                            <p:strVal val="#ppt_y+0.1792"/>
                                          </p:val>
                                        </p:tav>
                                        <p:tav tm="50000">
                                          <p:val>
                                            <p:strVal val="#ppt_y+0.155"/>
                                          </p:val>
                                        </p:tav>
                                        <p:tav tm="55000">
                                          <p:val>
                                            <p:strVal val="#ppt_y+0.1307"/>
                                          </p:val>
                                        </p:tav>
                                        <p:tav tm="60000">
                                          <p:val>
                                            <p:strVal val="#ppt_y+0.1071"/>
                                          </p:val>
                                        </p:tav>
                                        <p:tav tm="65000">
                                          <p:val>
                                            <p:strVal val="#ppt_y+0.0846"/>
                                          </p:val>
                                        </p:tav>
                                        <p:tav tm="70000">
                                          <p:val>
                                            <p:strVal val="#ppt_y+0.0639"/>
                                          </p:val>
                                        </p:tav>
                                        <p:tav tm="75000">
                                          <p:val>
                                            <p:strVal val="#ppt_y+0.0454"/>
                                          </p:val>
                                        </p:tav>
                                        <p:tav tm="80000">
                                          <p:val>
                                            <p:strVal val="#ppt_y+0.0296"/>
                                          </p:val>
                                        </p:tav>
                                        <p:tav tm="85000">
                                          <p:val>
                                            <p:strVal val="#ppt_y+0.0169"/>
                                          </p:val>
                                        </p:tav>
                                        <p:tav tm="90000">
                                          <p:val>
                                            <p:strVal val="#ppt_y+0.0076"/>
                                          </p:val>
                                        </p:tav>
                                        <p:tav tm="95000">
                                          <p:val>
                                            <p:strVal val="#ppt_y+0.0019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1000"/>
                            </p:stCondLst>
                            <p:childTnLst>
                              <p:par>
                                <p:cTn id="20" presetID="21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2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4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6147" name="Rectangle 3"/>
          <p:cNvSpPr>
            <a:spLocks noGrp="1"/>
          </p:cNvSpPr>
          <p:nvPr>
            <p:ph idx="1"/>
          </p:nvPr>
        </p:nvSpPr>
        <p:spPr>
          <a:xfrm>
            <a:off x="685800" y="1524000"/>
            <a:ext cx="8003540" cy="1029970"/>
          </a:xfrm>
        </p:spPr>
        <p:txBody>
          <a:bodyPr vert="horz" wrap="square" lIns="91440" tIns="45720" rIns="91440" bIns="45720" anchor="t" anchorCtr="0"/>
          <a:p>
            <a:pPr marL="0" indent="0" eaLnBrk="1" latinLnBrk="0" hangingPunct="1">
              <a:lnSpc>
                <a:spcPct val="120000"/>
              </a:lnSpc>
              <a:spcBef>
                <a:spcPts val="0"/>
              </a:spcBef>
              <a:buNone/>
            </a:pPr>
            <a:r>
              <a:rPr lang="en-US" altLang="zh-CN" sz="2400" b="1" kern="1200" dirty="0">
                <a:solidFill>
                  <a:srgbClr val="000066"/>
                </a:solidFill>
                <a:latin typeface="Arial" panose="020B0604020202020204" pitchFamily="34" charset="0"/>
                <a:ea typeface="楷体_GB2312" pitchFamily="49" charset="-122"/>
              </a:rPr>
              <a:t>       </a:t>
            </a:r>
            <a:r>
              <a:rPr lang="zh-CN" altLang="en-US" sz="2400" b="1" kern="1200" dirty="0">
                <a:solidFill>
                  <a:srgbClr val="000066"/>
                </a:solidFill>
                <a:latin typeface="Arial" panose="020B0604020202020204" pitchFamily="34" charset="0"/>
                <a:ea typeface="楷体_GB2312" pitchFamily="49" charset="-122"/>
              </a:rPr>
              <a:t>在数字电路，常见的周期性数字波形是矩形波，矩形波由一个个矩形脉冲组成。</a:t>
            </a:r>
            <a:endParaRPr lang="zh-CN" altLang="en-US" sz="2400" b="1" kern="1200" dirty="0">
              <a:solidFill>
                <a:srgbClr val="000066"/>
              </a:solidFill>
              <a:latin typeface="Arial" panose="020B0604020202020204" pitchFamily="34" charset="0"/>
              <a:ea typeface="楷体_GB2312" pitchFamily="49" charset="-122"/>
            </a:endParaRPr>
          </a:p>
        </p:txBody>
      </p:sp>
      <p:sp>
        <p:nvSpPr>
          <p:cNvPr id="6148" name="TextBox 6"/>
          <p:cNvSpPr txBox="1"/>
          <p:nvPr/>
        </p:nvSpPr>
        <p:spPr>
          <a:xfrm>
            <a:off x="2743200" y="533400"/>
            <a:ext cx="5593080" cy="583565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5pPr>
          </a:lstStyle>
          <a:p>
            <a:pPr marL="0" lvl="0" indent="0" algn="l"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b="1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1.1</a:t>
            </a:r>
            <a:r>
              <a:rPr lang="zh-CN" altLang="en-US" b="1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数字电路基本概念</a:t>
            </a:r>
            <a:endParaRPr lang="zh-CN" altLang="en-US" b="1" dirty="0">
              <a:solidFill>
                <a:srgbClr val="FF0000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6150" name="灯片编号占位符 5"/>
          <p:cNvSpPr txBox="1">
            <a:spLocks noGrp="1"/>
          </p:cNvSpPr>
          <p:nvPr>
            <p:ph type="sldNum" sz="quarter" idx="12"/>
          </p:nvPr>
        </p:nvSpPr>
        <p:spPr>
          <a:xfrm>
            <a:off x="6553200" y="6537325"/>
            <a:ext cx="2133600" cy="244475"/>
          </a:xfrm>
        </p:spPr>
        <p:txBody>
          <a:bodyPr/>
          <a:p>
            <a:pPr marL="0" indent="0" algn="r" eaLnBrk="1" hangingPunct="1">
              <a:spcBef>
                <a:spcPct val="0"/>
              </a:spcBef>
              <a:buClrTx/>
              <a:buFontTx/>
              <a:buNone/>
            </a:pPr>
            <a:fld id="{9A0DB2DC-4C9A-4742-B13C-FB6460FD3503}" type="slidenum">
              <a:rPr lang="en-US" altLang="zh-CN" sz="1200" dirty="0">
                <a:solidFill>
                  <a:schemeClr val="bg1"/>
                </a:solidFill>
                <a:ea typeface="宋体" panose="02010600030101010101" pitchFamily="2" charset="-122"/>
              </a:rPr>
            </a:fld>
            <a:endParaRPr lang="en-US" altLang="zh-CN" sz="1200" dirty="0">
              <a:solidFill>
                <a:schemeClr val="bg1"/>
              </a:solidFill>
              <a:ea typeface="宋体" panose="02010600030101010101" pitchFamily="2" charset="-122"/>
            </a:endParaRPr>
          </a:p>
        </p:txBody>
      </p:sp>
      <p:sp>
        <p:nvSpPr>
          <p:cNvPr id="3" name="Rectangle 3"/>
          <p:cNvSpPr>
            <a:spLocks noGrp="1"/>
          </p:cNvSpPr>
          <p:nvPr/>
        </p:nvSpPr>
        <p:spPr>
          <a:xfrm>
            <a:off x="685800" y="2514600"/>
            <a:ext cx="8003540" cy="1015365"/>
          </a:xfrm>
          <a:prstGeom prst="rect">
            <a:avLst/>
          </a:prstGeom>
          <a:noFill/>
          <a:ln w="9525">
            <a:noFill/>
          </a:ln>
        </p:spPr>
        <p:txBody>
          <a:bodyPr vert="horz" wrap="square" lIns="91440" tIns="45720" rIns="91440" bIns="45720" anchor="t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9pPr>
          </a:lstStyle>
          <a:p>
            <a:pPr marL="0" indent="0" eaLnBrk="1" latinLnBrk="0" hangingPunct="1">
              <a:lnSpc>
                <a:spcPct val="120000"/>
              </a:lnSpc>
              <a:spcBef>
                <a:spcPts val="0"/>
              </a:spcBef>
              <a:buNone/>
            </a:pPr>
            <a:r>
              <a:rPr lang="en-US" altLang="zh-CN" sz="2400" b="1" kern="1200" dirty="0">
                <a:solidFill>
                  <a:srgbClr val="000066"/>
                </a:solidFill>
                <a:latin typeface="Arial" panose="020B0604020202020204" pitchFamily="34" charset="0"/>
                <a:ea typeface="楷体_GB2312" pitchFamily="49" charset="-122"/>
              </a:rPr>
              <a:t>       </a:t>
            </a:r>
            <a:r>
              <a:rPr lang="zh-CN" altLang="en-US" sz="2400" b="1" dirty="0">
                <a:solidFill>
                  <a:srgbClr val="000066"/>
                </a:solidFill>
                <a:latin typeface="Arial" panose="020B0604020202020204" pitchFamily="34" charset="0"/>
                <a:ea typeface="楷体_GB2312" pitchFamily="49" charset="-122"/>
                <a:sym typeface="+mn-ea"/>
              </a:rPr>
              <a:t>占空比为50%的矩形波称为方波，即一个周期内高电平和低电平持续的时间相同。</a:t>
            </a:r>
            <a:endParaRPr lang="zh-CN" altLang="en-US" sz="2400" b="1" kern="1200" dirty="0">
              <a:solidFill>
                <a:srgbClr val="000066"/>
              </a:solidFill>
              <a:latin typeface="Arial" panose="020B0604020202020204" pitchFamily="34" charset="0"/>
              <a:ea typeface="楷体_GB2312" pitchFamily="49" charset="-122"/>
            </a:endParaRPr>
          </a:p>
          <a:p>
            <a:pPr marL="0" indent="0" eaLnBrk="1" latinLnBrk="0" hangingPunct="1">
              <a:lnSpc>
                <a:spcPct val="120000"/>
              </a:lnSpc>
              <a:spcBef>
                <a:spcPts val="0"/>
              </a:spcBef>
              <a:buNone/>
            </a:pPr>
            <a:endParaRPr lang="zh-CN" altLang="en-US" sz="2400" b="1" kern="1200" dirty="0">
              <a:solidFill>
                <a:srgbClr val="000066"/>
              </a:solidFill>
              <a:latin typeface="Arial" panose="020B0604020202020204" pitchFamily="34" charset="0"/>
              <a:ea typeface="楷体_GB2312" pitchFamily="49" charset="-122"/>
            </a:endParaRPr>
          </a:p>
        </p:txBody>
      </p:sp>
      <p:sp>
        <p:nvSpPr>
          <p:cNvPr id="5" name="Rectangle 3"/>
          <p:cNvSpPr>
            <a:spLocks noGrp="1"/>
          </p:cNvSpPr>
          <p:nvPr/>
        </p:nvSpPr>
        <p:spPr>
          <a:xfrm>
            <a:off x="609600" y="5334000"/>
            <a:ext cx="8003540" cy="1012825"/>
          </a:xfrm>
          <a:prstGeom prst="rect">
            <a:avLst/>
          </a:prstGeom>
          <a:noFill/>
          <a:ln w="9525">
            <a:noFill/>
          </a:ln>
        </p:spPr>
        <p:txBody>
          <a:bodyPr vert="horz" wrap="square" lIns="91440" tIns="45720" rIns="91440" bIns="45720" anchor="t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9pPr>
          </a:lstStyle>
          <a:p>
            <a:pPr marL="0" indent="0" eaLnBrk="1" latinLnBrk="0" hangingPunct="1">
              <a:lnSpc>
                <a:spcPct val="120000"/>
              </a:lnSpc>
              <a:spcBef>
                <a:spcPts val="0"/>
              </a:spcBef>
              <a:buNone/>
            </a:pPr>
            <a:r>
              <a:rPr lang="en-US" altLang="zh-CN" sz="2400" b="1" kern="1200" dirty="0">
                <a:solidFill>
                  <a:srgbClr val="000066"/>
                </a:solidFill>
                <a:latin typeface="Arial" panose="020B0604020202020204" pitchFamily="34" charset="0"/>
                <a:ea typeface="楷体_GB2312" pitchFamily="49" charset="-122"/>
              </a:rPr>
              <a:t>       </a:t>
            </a:r>
            <a:r>
              <a:rPr lang="zh-CN" altLang="en-US" sz="2400" b="1" dirty="0">
                <a:solidFill>
                  <a:srgbClr val="000066"/>
                </a:solidFill>
                <a:latin typeface="Arial" panose="020B0604020202020204" pitchFamily="34" charset="0"/>
                <a:ea typeface="楷体_GB2312" pitchFamily="49" charset="-122"/>
                <a:sym typeface="+mn-ea"/>
              </a:rPr>
              <a:t>若矩形波的周期</a:t>
            </a:r>
            <a:r>
              <a:rPr lang="zh-CN" altLang="en-US" sz="2400" b="1" i="1" dirty="0">
                <a:solidFill>
                  <a:srgbClr val="000066"/>
                </a:solidFill>
                <a:latin typeface="Arial" panose="020B0604020202020204" pitchFamily="34" charset="0"/>
                <a:ea typeface="楷体_GB2312" pitchFamily="49" charset="-122"/>
                <a:sym typeface="+mn-ea"/>
              </a:rPr>
              <a:t>T</a:t>
            </a:r>
            <a:r>
              <a:rPr lang="zh-CN" altLang="en-US" sz="2400" b="1" dirty="0">
                <a:solidFill>
                  <a:srgbClr val="000066"/>
                </a:solidFill>
                <a:latin typeface="Arial" panose="020B0604020202020204" pitchFamily="34" charset="0"/>
                <a:ea typeface="楷体_GB2312" pitchFamily="49" charset="-122"/>
                <a:sym typeface="+mn-ea"/>
              </a:rPr>
              <a:t>为5</a:t>
            </a:r>
            <a:r>
              <a:rPr lang="en-US" altLang="zh-CN" sz="2400" b="1" dirty="0">
                <a:solidFill>
                  <a:srgbClr val="000066"/>
                </a:solidFill>
                <a:latin typeface="Arial" panose="020B0604020202020204" pitchFamily="34" charset="0"/>
                <a:ea typeface="楷体_GB2312" pitchFamily="49" charset="-122"/>
                <a:sym typeface="+mn-ea"/>
              </a:rPr>
              <a:t>s</a:t>
            </a:r>
            <a:r>
              <a:rPr lang="zh-CN" altLang="en-US" sz="2400" b="1" dirty="0">
                <a:solidFill>
                  <a:srgbClr val="000066"/>
                </a:solidFill>
                <a:latin typeface="Arial" panose="020B0604020202020204" pitchFamily="34" charset="0"/>
                <a:ea typeface="楷体_GB2312" pitchFamily="49" charset="-122"/>
                <a:sym typeface="+mn-ea"/>
              </a:rPr>
              <a:t>，脉冲宽度为2</a:t>
            </a:r>
            <a:r>
              <a:rPr lang="en-US" altLang="zh-CN" sz="2400" b="1" dirty="0">
                <a:solidFill>
                  <a:srgbClr val="000066"/>
                </a:solidFill>
                <a:latin typeface="Arial" panose="020B0604020202020204" pitchFamily="34" charset="0"/>
                <a:ea typeface="楷体_GB2312" pitchFamily="49" charset="-122"/>
                <a:sym typeface="+mn-ea"/>
              </a:rPr>
              <a:t>s</a:t>
            </a:r>
            <a:r>
              <a:rPr lang="zh-CN" altLang="en-US" sz="2400" b="1" dirty="0">
                <a:solidFill>
                  <a:srgbClr val="000066"/>
                </a:solidFill>
                <a:latin typeface="Arial" panose="020B0604020202020204" pitchFamily="34" charset="0"/>
                <a:ea typeface="楷体_GB2312" pitchFamily="49" charset="-122"/>
                <a:sym typeface="+mn-ea"/>
              </a:rPr>
              <a:t>，则其占空比为</a:t>
            </a:r>
            <a:r>
              <a:rPr lang="zh-CN" altLang="en-US" sz="2400" b="1" u="sng" dirty="0">
                <a:solidFill>
                  <a:srgbClr val="000066"/>
                </a:solidFill>
                <a:latin typeface="Arial" panose="020B0604020202020204" pitchFamily="34" charset="0"/>
                <a:ea typeface="楷体_GB2312" pitchFamily="49" charset="-122"/>
                <a:sym typeface="+mn-ea"/>
              </a:rPr>
              <a:t> </a:t>
            </a:r>
            <a:r>
              <a:rPr lang="en-US" altLang="zh-CN" sz="2400" b="1" u="sng" dirty="0">
                <a:solidFill>
                  <a:srgbClr val="000066"/>
                </a:solidFill>
                <a:latin typeface="Arial" panose="020B0604020202020204" pitchFamily="34" charset="0"/>
                <a:ea typeface="楷体_GB2312" pitchFamily="49" charset="-122"/>
                <a:sym typeface="+mn-ea"/>
              </a:rPr>
              <a:t>             </a:t>
            </a:r>
            <a:r>
              <a:rPr lang="zh-CN" altLang="en-US" sz="2400" b="1" dirty="0">
                <a:solidFill>
                  <a:srgbClr val="000066"/>
                </a:solidFill>
                <a:latin typeface="Arial" panose="020B0604020202020204" pitchFamily="34" charset="0"/>
                <a:ea typeface="楷体_GB2312" pitchFamily="49" charset="-122"/>
                <a:sym typeface="+mn-ea"/>
              </a:rPr>
              <a:t>。</a:t>
            </a:r>
            <a:endParaRPr lang="zh-CN" altLang="en-US" sz="2400" b="1" kern="1200" dirty="0">
              <a:solidFill>
                <a:srgbClr val="000066"/>
              </a:solidFill>
              <a:latin typeface="Arial" panose="020B0604020202020204" pitchFamily="34" charset="0"/>
              <a:ea typeface="楷体_GB2312" pitchFamily="49" charset="-122"/>
            </a:endParaRPr>
          </a:p>
        </p:txBody>
      </p:sp>
      <p:grpSp>
        <p:nvGrpSpPr>
          <p:cNvPr id="8" name="组合 7"/>
          <p:cNvGrpSpPr/>
          <p:nvPr/>
        </p:nvGrpSpPr>
        <p:grpSpPr>
          <a:xfrm>
            <a:off x="1447800" y="3733800"/>
            <a:ext cx="3448050" cy="1479550"/>
            <a:chOff x="2280" y="5880"/>
            <a:chExt cx="5430" cy="2330"/>
          </a:xfrm>
        </p:grpSpPr>
        <p:pic>
          <p:nvPicPr>
            <p:cNvPr id="9197" name="图片 2634"/>
            <p:cNvPicPr>
              <a:picLocks noChangeAspect="1"/>
            </p:cNvPicPr>
            <p:nvPr/>
          </p:nvPicPr>
          <p:blipFill>
            <a:blip r:embed="rId1"/>
            <a:stretch>
              <a:fillRect/>
            </a:stretch>
          </p:blipFill>
          <p:spPr>
            <a:xfrm>
              <a:off x="2280" y="5880"/>
              <a:ext cx="5431" cy="153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00" name="文本框 99"/>
            <p:cNvSpPr txBox="1"/>
            <p:nvPr/>
          </p:nvSpPr>
          <p:spPr>
            <a:xfrm>
              <a:off x="3600" y="7680"/>
              <a:ext cx="2613" cy="53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square">
              <a:spAutoFit/>
            </a:bodyPr>
            <a:p>
              <a:r>
                <a:rPr lang="zh-CN" sz="1600">
                  <a:ea typeface="宋体" panose="02010600030101010101" pitchFamily="2" charset="-122"/>
                </a:rPr>
                <a:t>图</a:t>
              </a:r>
              <a:r>
                <a:rPr lang="en-US" sz="1600">
                  <a:latin typeface="Times New Roman" panose="02020603050405020304" charset="0"/>
                  <a:ea typeface="宋体" panose="02010600030101010101" pitchFamily="2" charset="-122"/>
                </a:rPr>
                <a:t>1-4 </a:t>
              </a:r>
              <a:r>
                <a:rPr lang="zh-CN" sz="1600">
                  <a:ea typeface="宋体" panose="02010600030101010101" pitchFamily="2" charset="-122"/>
                </a:rPr>
                <a:t>矩形波</a:t>
              </a:r>
              <a:endParaRPr lang="zh-CN" altLang="en-US" sz="1600"/>
            </a:p>
          </p:txBody>
        </p:sp>
      </p:grpSp>
      <p:grpSp>
        <p:nvGrpSpPr>
          <p:cNvPr id="9" name="组合 8"/>
          <p:cNvGrpSpPr/>
          <p:nvPr/>
        </p:nvGrpSpPr>
        <p:grpSpPr>
          <a:xfrm>
            <a:off x="4953000" y="3733800"/>
            <a:ext cx="3362960" cy="1479550"/>
            <a:chOff x="7800" y="5880"/>
            <a:chExt cx="5296" cy="2330"/>
          </a:xfrm>
        </p:grpSpPr>
        <p:pic>
          <p:nvPicPr>
            <p:cNvPr id="9198" name="图片 2635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7800" y="5880"/>
              <a:ext cx="5297" cy="1571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6" name="文本框 5"/>
            <p:cNvSpPr txBox="1"/>
            <p:nvPr/>
          </p:nvSpPr>
          <p:spPr>
            <a:xfrm>
              <a:off x="9360" y="7680"/>
              <a:ext cx="1949" cy="53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square">
              <a:spAutoFit/>
            </a:bodyPr>
            <a:p>
              <a:r>
                <a:rPr lang="en-US" sz="1600">
                  <a:latin typeface="宋体" panose="02010600030101010101" pitchFamily="2" charset="-122"/>
                  <a:ea typeface="宋体" panose="02010600030101010101" pitchFamily="2" charset="-122"/>
                </a:rPr>
                <a:t> </a:t>
              </a:r>
              <a:r>
                <a:rPr lang="zh-CN" sz="1600">
                  <a:ea typeface="宋体" panose="02010600030101010101" pitchFamily="2" charset="-122"/>
                </a:rPr>
                <a:t>图</a:t>
              </a:r>
              <a:r>
                <a:rPr lang="en-US" sz="1600">
                  <a:latin typeface="Times New Roman" panose="02020603050405020304" charset="0"/>
                  <a:ea typeface="宋体" panose="02010600030101010101" pitchFamily="2" charset="-122"/>
                </a:rPr>
                <a:t>1-5 </a:t>
              </a:r>
              <a:r>
                <a:rPr lang="zh-CN" sz="1600">
                  <a:ea typeface="宋体" panose="02010600030101010101" pitchFamily="2" charset="-122"/>
                </a:rPr>
                <a:t>方波</a:t>
              </a:r>
              <a:endParaRPr lang="zh-CN" altLang="en-US" sz="1600"/>
            </a:p>
          </p:txBody>
        </p:sp>
      </p:grpSp>
      <p:sp>
        <p:nvSpPr>
          <p:cNvPr id="7" name="文本框 6"/>
          <p:cNvSpPr txBox="1"/>
          <p:nvPr/>
        </p:nvSpPr>
        <p:spPr>
          <a:xfrm>
            <a:off x="1143000" y="5791200"/>
            <a:ext cx="793115" cy="460375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p>
            <a:r>
              <a:rPr lang="zh-CN" altLang="en-US" sz="2400" b="1" dirty="0">
                <a:solidFill>
                  <a:srgbClr val="000066"/>
                </a:solidFill>
                <a:ea typeface="楷体_GB2312" pitchFamily="49" charset="-122"/>
                <a:sym typeface="+mn-ea"/>
              </a:rPr>
              <a:t>40%</a:t>
            </a:r>
            <a:endParaRPr lang="zh-CN" altLang="en-US" sz="2400" b="1" dirty="0">
              <a:solidFill>
                <a:srgbClr val="000066"/>
              </a:solidFill>
              <a:ea typeface="楷体_GB2312" pitchFamily="49" charset="-122"/>
              <a:sym typeface="+mn-ea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55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6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6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1" dur="145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2" dur="456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166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166" tmFilter="0, 0; 0.125,0.2665; 0.25,0.4; 0.375,0.465; 0.5,0.5;  0.625,0.535; 0.75,0.6; 0.875,0.7335; 1,1">
                                          <p:stCondLst>
                                            <p:cond delay="166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83" tmFilter="0, 0; 0.125,0.2665; 0.25,0.4; 0.375,0.465; 0.5,0.5;  0.625,0.535; 0.75,0.6; 0.875,0.7335; 1,1">
                                          <p:stCondLst>
                                            <p:cond delay="331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41" tmFilter="0, 0; 0.125,0.2665; 0.25,0.4; 0.375,0.465; 0.5,0.5;  0.625,0.535; 0.75,0.6; 0.875,0.7335; 1,1">
                                          <p:stCondLst>
                                            <p:cond delay="414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37" dur="7">
                                          <p:stCondLst>
                                            <p:cond delay="162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38" dur="41" decel="50000">
                                          <p:stCondLst>
                                            <p:cond delay="169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39" dur="7">
                                          <p:stCondLst>
                                            <p:cond delay="328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40" dur="41" decel="50000">
                                          <p:stCondLst>
                                            <p:cond delay="335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41" dur="7">
                                          <p:stCondLst>
                                            <p:cond delay="41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42" dur="41" decel="50000">
                                          <p:stCondLst>
                                            <p:cond delay="417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43" dur="7">
                                          <p:stCondLst>
                                            <p:cond delay="452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44" dur="41" decel="50000">
                                          <p:stCondLst>
                                            <p:cond delay="458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7" grpId="0"/>
      <p:bldP spid="3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6147" name="Rectangle 3"/>
          <p:cNvSpPr>
            <a:spLocks noGrp="1"/>
          </p:cNvSpPr>
          <p:nvPr>
            <p:ph idx="1"/>
          </p:nvPr>
        </p:nvSpPr>
        <p:spPr>
          <a:xfrm>
            <a:off x="685800" y="1905000"/>
            <a:ext cx="8003540" cy="1010920"/>
          </a:xfrm>
        </p:spPr>
        <p:txBody>
          <a:bodyPr vert="horz" wrap="square" lIns="91440" tIns="45720" rIns="91440" bIns="45720" anchor="t" anchorCtr="0"/>
          <a:p>
            <a:pPr marL="0" indent="0" eaLnBrk="1" latinLnBrk="0" hangingPunct="1">
              <a:lnSpc>
                <a:spcPct val="120000"/>
              </a:lnSpc>
              <a:spcBef>
                <a:spcPts val="0"/>
              </a:spcBef>
              <a:buNone/>
            </a:pPr>
            <a:r>
              <a:rPr lang="en-US" altLang="zh-CN" sz="2400" b="1" kern="1200" dirty="0">
                <a:solidFill>
                  <a:srgbClr val="000066"/>
                </a:solidFill>
                <a:latin typeface="Arial" panose="020B0604020202020204" pitchFamily="34" charset="0"/>
                <a:ea typeface="楷体_GB2312" pitchFamily="49" charset="-122"/>
              </a:rPr>
              <a:t>       </a:t>
            </a:r>
            <a:r>
              <a:rPr lang="zh-CN" altLang="en-US" sz="2400" b="1" kern="1200" dirty="0">
                <a:solidFill>
                  <a:srgbClr val="000066"/>
                </a:solidFill>
                <a:latin typeface="Arial" panose="020B0604020202020204" pitchFamily="34" charset="0"/>
                <a:ea typeface="楷体_GB2312" pitchFamily="49" charset="-122"/>
              </a:rPr>
              <a:t>实际的矩形脉冲不可能像理想的波形那样在高、低电平转换时呈一条直线，而是要经历一个过渡过程。</a:t>
            </a:r>
            <a:endParaRPr lang="zh-CN" altLang="en-US" sz="2400" b="1" kern="1200" dirty="0">
              <a:solidFill>
                <a:srgbClr val="000066"/>
              </a:solidFill>
              <a:latin typeface="Arial" panose="020B0604020202020204" pitchFamily="34" charset="0"/>
              <a:ea typeface="楷体_GB2312" pitchFamily="49" charset="-122"/>
            </a:endParaRPr>
          </a:p>
        </p:txBody>
      </p:sp>
      <p:sp>
        <p:nvSpPr>
          <p:cNvPr id="6148" name="TextBox 6"/>
          <p:cNvSpPr txBox="1"/>
          <p:nvPr/>
        </p:nvSpPr>
        <p:spPr>
          <a:xfrm>
            <a:off x="2743200" y="533400"/>
            <a:ext cx="5593080" cy="583565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5pPr>
          </a:lstStyle>
          <a:p>
            <a:pPr marL="0" lvl="0" indent="0" algn="l"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b="1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1.1</a:t>
            </a:r>
            <a:r>
              <a:rPr lang="zh-CN" altLang="en-US" b="1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数字电路基本概念</a:t>
            </a:r>
            <a:endParaRPr lang="zh-CN" altLang="en-US" b="1" dirty="0">
              <a:solidFill>
                <a:srgbClr val="FF0000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6150" name="灯片编号占位符 5"/>
          <p:cNvSpPr txBox="1">
            <a:spLocks noGrp="1"/>
          </p:cNvSpPr>
          <p:nvPr>
            <p:ph type="sldNum" sz="quarter" idx="12"/>
          </p:nvPr>
        </p:nvSpPr>
        <p:spPr>
          <a:xfrm>
            <a:off x="6553200" y="6537325"/>
            <a:ext cx="2133600" cy="244475"/>
          </a:xfrm>
        </p:spPr>
        <p:txBody>
          <a:bodyPr/>
          <a:p>
            <a:pPr marL="0" indent="0" algn="r" eaLnBrk="1" hangingPunct="1">
              <a:spcBef>
                <a:spcPct val="0"/>
              </a:spcBef>
              <a:buClrTx/>
              <a:buFontTx/>
              <a:buNone/>
            </a:pPr>
            <a:fld id="{9A0DB2DC-4C9A-4742-B13C-FB6460FD3503}" type="slidenum">
              <a:rPr lang="en-US" altLang="zh-CN" sz="1200" dirty="0">
                <a:solidFill>
                  <a:schemeClr val="bg1"/>
                </a:solidFill>
                <a:ea typeface="宋体" panose="02010600030101010101" pitchFamily="2" charset="-122"/>
              </a:rPr>
            </a:fld>
            <a:endParaRPr lang="en-US" altLang="zh-CN" sz="1200" dirty="0">
              <a:solidFill>
                <a:schemeClr val="bg1"/>
              </a:solidFill>
              <a:ea typeface="宋体" panose="02010600030101010101" pitchFamily="2" charset="-122"/>
            </a:endParaRPr>
          </a:p>
        </p:txBody>
      </p:sp>
      <p:sp>
        <p:nvSpPr>
          <p:cNvPr id="2" name="Rectangle 3"/>
          <p:cNvSpPr>
            <a:spLocks noGrp="1"/>
          </p:cNvSpPr>
          <p:nvPr/>
        </p:nvSpPr>
        <p:spPr>
          <a:xfrm>
            <a:off x="1371600" y="1371600"/>
            <a:ext cx="3327400" cy="539115"/>
          </a:xfrm>
          <a:prstGeom prst="rect">
            <a:avLst/>
          </a:prstGeom>
          <a:noFill/>
          <a:ln w="9525">
            <a:noFill/>
          </a:ln>
        </p:spPr>
        <p:txBody>
          <a:bodyPr vert="horz" wrap="square" lIns="91440" tIns="45720" rIns="91440" bIns="45720" anchor="t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9pPr>
          </a:lstStyle>
          <a:p>
            <a:pPr marL="0" indent="0" eaLnBrk="1" latinLnBrk="0" hangingPunct="1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2400" b="1" kern="1200" dirty="0">
                <a:solidFill>
                  <a:srgbClr val="FE09D6"/>
                </a:solidFill>
                <a:latin typeface="Times New Roman" panose="02020603050405020304" charset="0"/>
                <a:ea typeface="楷体_GB2312" pitchFamily="49" charset="-122"/>
                <a:cs typeface="Times New Roman" panose="02020603050405020304" charset="0"/>
              </a:rPr>
              <a:t>3. 实际的脉冲波形</a:t>
            </a:r>
            <a:endParaRPr lang="en-US" sz="2400" b="1" kern="1200" dirty="0">
              <a:solidFill>
                <a:srgbClr val="FE09D6"/>
              </a:solidFill>
              <a:latin typeface="Times New Roman" panose="02020603050405020304" charset="0"/>
              <a:ea typeface="楷体_GB2312" pitchFamily="49" charset="-122"/>
              <a:cs typeface="Times New Roman" panose="02020603050405020304" charset="0"/>
            </a:endParaRPr>
          </a:p>
        </p:txBody>
      </p:sp>
      <p:sp>
        <p:nvSpPr>
          <p:cNvPr id="5" name="Rectangle 3"/>
          <p:cNvSpPr>
            <a:spLocks noGrp="1"/>
          </p:cNvSpPr>
          <p:nvPr/>
        </p:nvSpPr>
        <p:spPr>
          <a:xfrm>
            <a:off x="685800" y="5334000"/>
            <a:ext cx="8003540" cy="1015365"/>
          </a:xfrm>
          <a:prstGeom prst="rect">
            <a:avLst/>
          </a:prstGeom>
          <a:noFill/>
          <a:ln w="9525">
            <a:noFill/>
          </a:ln>
        </p:spPr>
        <p:txBody>
          <a:bodyPr vert="horz" wrap="square" lIns="91440" tIns="45720" rIns="91440" bIns="45720" anchor="t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9pPr>
          </a:lstStyle>
          <a:p>
            <a:pPr marL="0" indent="0" eaLnBrk="1" latinLnBrk="0" hangingPunct="1">
              <a:lnSpc>
                <a:spcPct val="120000"/>
              </a:lnSpc>
              <a:spcBef>
                <a:spcPts val="0"/>
              </a:spcBef>
              <a:buNone/>
            </a:pPr>
            <a:r>
              <a:rPr lang="en-US" altLang="zh-CN" sz="2400" b="1" kern="1200" dirty="0">
                <a:solidFill>
                  <a:srgbClr val="000066"/>
                </a:solidFill>
                <a:latin typeface="Arial" panose="020B0604020202020204" pitchFamily="34" charset="0"/>
                <a:ea typeface="楷体_GB2312" pitchFamily="49" charset="-122"/>
              </a:rPr>
              <a:t>       </a:t>
            </a:r>
            <a:r>
              <a:rPr lang="zh-CN" altLang="en-US" sz="2400" b="1" kern="1200" dirty="0">
                <a:solidFill>
                  <a:srgbClr val="000066"/>
                </a:solidFill>
                <a:latin typeface="Arial" panose="020B0604020202020204" pitchFamily="34" charset="0"/>
                <a:ea typeface="楷体_GB2312" pitchFamily="49" charset="-122"/>
              </a:rPr>
              <a:t>(1) 脉冲幅度V</a:t>
            </a:r>
            <a:r>
              <a:rPr lang="zh-CN" altLang="en-US" sz="2400" b="1" kern="1200" baseline="-25000" dirty="0">
                <a:solidFill>
                  <a:srgbClr val="000066"/>
                </a:solidFill>
                <a:latin typeface="Arial" panose="020B0604020202020204" pitchFamily="34" charset="0"/>
                <a:ea typeface="楷体_GB2312" pitchFamily="49" charset="-122"/>
              </a:rPr>
              <a:t>m</a:t>
            </a:r>
            <a:r>
              <a:rPr lang="zh-CN" altLang="en-US" sz="2400" b="1" kern="1200" dirty="0">
                <a:solidFill>
                  <a:srgbClr val="000066"/>
                </a:solidFill>
                <a:latin typeface="Arial" panose="020B0604020202020204" pitchFamily="34" charset="0"/>
                <a:ea typeface="楷体_GB2312" pitchFamily="49" charset="-122"/>
              </a:rPr>
              <a:t>：脉冲电压变化的最大值。</a:t>
            </a:r>
            <a:endParaRPr lang="zh-CN" altLang="en-US" sz="2400" b="1" kern="1200" dirty="0">
              <a:solidFill>
                <a:srgbClr val="000066"/>
              </a:solidFill>
              <a:latin typeface="Arial" panose="020B0604020202020204" pitchFamily="34" charset="0"/>
              <a:ea typeface="楷体_GB2312" pitchFamily="49" charset="-122"/>
            </a:endParaRPr>
          </a:p>
        </p:txBody>
      </p:sp>
      <p:sp>
        <p:nvSpPr>
          <p:cNvPr id="100" name="文本框 99"/>
          <p:cNvSpPr txBox="1"/>
          <p:nvPr/>
        </p:nvSpPr>
        <p:spPr>
          <a:xfrm>
            <a:off x="2971800" y="4953000"/>
            <a:ext cx="3310255" cy="337185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p>
            <a:r>
              <a:rPr lang="zh-CN" sz="1600">
                <a:ea typeface="宋体" panose="02010600030101010101" pitchFamily="2" charset="-122"/>
              </a:rPr>
              <a:t>图</a:t>
            </a:r>
            <a:r>
              <a:rPr lang="en-US" sz="1600">
                <a:latin typeface="Times New Roman" panose="02020603050405020304" charset="0"/>
                <a:ea typeface="宋体" panose="02010600030101010101" pitchFamily="2" charset="-122"/>
              </a:rPr>
              <a:t>1-6 </a:t>
            </a:r>
            <a:r>
              <a:rPr lang="zh-CN" sz="1600">
                <a:ea typeface="宋体" panose="02010600030101010101" pitchFamily="2" charset="-122"/>
              </a:rPr>
              <a:t>实际的脉冲波形主要参数</a:t>
            </a:r>
            <a:endParaRPr lang="zh-CN" altLang="en-US" sz="1600"/>
          </a:p>
        </p:txBody>
      </p:sp>
      <p:pic>
        <p:nvPicPr>
          <p:cNvPr id="3" name="图片 2" descr="[$UNG_XRSQ74LY)6F`DN{ES"/>
          <p:cNvPicPr>
            <a:picLocks noChangeAspect="1"/>
          </p:cNvPicPr>
          <p:nvPr/>
        </p:nvPicPr>
        <p:blipFill>
          <a:blip r:embed="rId1"/>
          <a:srcRect b="12752"/>
          <a:stretch>
            <a:fillRect/>
          </a:stretch>
        </p:blipFill>
        <p:spPr>
          <a:xfrm>
            <a:off x="2057400" y="2895600"/>
            <a:ext cx="5003800" cy="200787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3" name="图片 2" descr="[$UNG_XRSQ74LY)6F`DN{ES"/>
          <p:cNvPicPr>
            <a:picLocks noChangeAspect="1"/>
          </p:cNvPicPr>
          <p:nvPr/>
        </p:nvPicPr>
        <p:blipFill>
          <a:blip r:embed="rId1"/>
          <a:srcRect b="12752"/>
          <a:stretch>
            <a:fillRect/>
          </a:stretch>
        </p:blipFill>
        <p:spPr>
          <a:xfrm>
            <a:off x="2133600" y="1371600"/>
            <a:ext cx="4870450" cy="1954530"/>
          </a:xfrm>
          <a:prstGeom prst="rect">
            <a:avLst/>
          </a:prstGeom>
        </p:spPr>
      </p:pic>
      <p:sp>
        <p:nvSpPr>
          <p:cNvPr id="6148" name="TextBox 6"/>
          <p:cNvSpPr txBox="1"/>
          <p:nvPr/>
        </p:nvSpPr>
        <p:spPr>
          <a:xfrm>
            <a:off x="2743200" y="533400"/>
            <a:ext cx="5593080" cy="583565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5pPr>
          </a:lstStyle>
          <a:p>
            <a:pPr marL="0" lvl="0" indent="0" algn="l"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b="1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1.1</a:t>
            </a:r>
            <a:r>
              <a:rPr lang="zh-CN" altLang="en-US" b="1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数字电路基本概念</a:t>
            </a:r>
            <a:endParaRPr lang="zh-CN" altLang="en-US" b="1" dirty="0">
              <a:solidFill>
                <a:srgbClr val="FF0000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6150" name="灯片编号占位符 5"/>
          <p:cNvSpPr txBox="1">
            <a:spLocks noGrp="1"/>
          </p:cNvSpPr>
          <p:nvPr>
            <p:ph type="sldNum" sz="quarter" idx="12"/>
          </p:nvPr>
        </p:nvSpPr>
        <p:spPr>
          <a:xfrm>
            <a:off x="6553200" y="6537325"/>
            <a:ext cx="2133600" cy="244475"/>
          </a:xfrm>
        </p:spPr>
        <p:txBody>
          <a:bodyPr/>
          <a:p>
            <a:pPr marL="0" indent="0" algn="r" eaLnBrk="1" hangingPunct="1">
              <a:spcBef>
                <a:spcPct val="0"/>
              </a:spcBef>
              <a:buClrTx/>
              <a:buFontTx/>
              <a:buNone/>
            </a:pPr>
            <a:fld id="{9A0DB2DC-4C9A-4742-B13C-FB6460FD3503}" type="slidenum">
              <a:rPr lang="en-US" altLang="zh-CN" sz="1200" dirty="0">
                <a:solidFill>
                  <a:schemeClr val="bg1"/>
                </a:solidFill>
                <a:ea typeface="宋体" panose="02010600030101010101" pitchFamily="2" charset="-122"/>
              </a:rPr>
            </a:fld>
            <a:endParaRPr lang="en-US" altLang="zh-CN" sz="1200" dirty="0">
              <a:solidFill>
                <a:schemeClr val="bg1"/>
              </a:solidFill>
              <a:ea typeface="宋体" panose="02010600030101010101" pitchFamily="2" charset="-122"/>
            </a:endParaRPr>
          </a:p>
        </p:txBody>
      </p:sp>
      <p:sp>
        <p:nvSpPr>
          <p:cNvPr id="5" name="Rectangle 3"/>
          <p:cNvSpPr>
            <a:spLocks noGrp="1"/>
          </p:cNvSpPr>
          <p:nvPr/>
        </p:nvSpPr>
        <p:spPr>
          <a:xfrm>
            <a:off x="685800" y="3505200"/>
            <a:ext cx="8003540" cy="1015365"/>
          </a:xfrm>
          <a:prstGeom prst="rect">
            <a:avLst/>
          </a:prstGeom>
          <a:noFill/>
          <a:ln w="9525">
            <a:noFill/>
          </a:ln>
        </p:spPr>
        <p:txBody>
          <a:bodyPr vert="horz" wrap="square" lIns="91440" tIns="45720" rIns="91440" bIns="45720" anchor="t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9pPr>
          </a:lstStyle>
          <a:p>
            <a:pPr marL="0" indent="0" eaLnBrk="1" latinLnBrk="0" hangingPunct="1">
              <a:lnSpc>
                <a:spcPct val="120000"/>
              </a:lnSpc>
              <a:spcBef>
                <a:spcPts val="0"/>
              </a:spcBef>
              <a:buNone/>
            </a:pPr>
            <a:r>
              <a:rPr lang="en-US" altLang="zh-CN" sz="2400" b="1" kern="1200" dirty="0">
                <a:solidFill>
                  <a:srgbClr val="000066"/>
                </a:solidFill>
                <a:latin typeface="Arial" panose="020B0604020202020204" pitchFamily="34" charset="0"/>
                <a:ea typeface="楷体_GB2312" pitchFamily="49" charset="-122"/>
              </a:rPr>
              <a:t>       </a:t>
            </a:r>
            <a:r>
              <a:rPr lang="zh-CN" altLang="en-US" sz="2400" b="1" kern="1200" dirty="0">
                <a:solidFill>
                  <a:srgbClr val="000066"/>
                </a:solidFill>
                <a:latin typeface="Arial" panose="020B0604020202020204" pitchFamily="34" charset="0"/>
                <a:ea typeface="楷体_GB2312" pitchFamily="49" charset="-122"/>
              </a:rPr>
              <a:t>(2) 上升时间</a:t>
            </a:r>
            <a:r>
              <a:rPr lang="zh-CN" altLang="en-US" sz="2400" b="1" i="1" kern="1200" dirty="0">
                <a:solidFill>
                  <a:srgbClr val="000066"/>
                </a:solidFill>
                <a:latin typeface="Arial" panose="020B0604020202020204" pitchFamily="34" charset="0"/>
                <a:ea typeface="楷体_GB2312" pitchFamily="49" charset="-122"/>
              </a:rPr>
              <a:t>t</a:t>
            </a:r>
            <a:r>
              <a:rPr lang="zh-CN" altLang="en-US" sz="2400" b="1" kern="1200" baseline="-25000" dirty="0">
                <a:solidFill>
                  <a:srgbClr val="000066"/>
                </a:solidFill>
                <a:latin typeface="Arial" panose="020B0604020202020204" pitchFamily="34" charset="0"/>
                <a:ea typeface="楷体_GB2312" pitchFamily="49" charset="-122"/>
              </a:rPr>
              <a:t>r</a:t>
            </a:r>
            <a:r>
              <a:rPr lang="zh-CN" altLang="en-US" sz="2400" b="1" kern="1200" dirty="0">
                <a:solidFill>
                  <a:srgbClr val="000066"/>
                </a:solidFill>
                <a:latin typeface="Arial" panose="020B0604020202020204" pitchFamily="34" charset="0"/>
                <a:ea typeface="楷体_GB2312" pitchFamily="49" charset="-122"/>
              </a:rPr>
              <a:t>：脉冲电压从10%</a:t>
            </a:r>
            <a:r>
              <a:rPr lang="zh-CN" altLang="en-US" sz="2400" b="1" i="1" kern="1200" dirty="0">
                <a:solidFill>
                  <a:srgbClr val="000066"/>
                </a:solidFill>
                <a:latin typeface="Arial" panose="020B0604020202020204" pitchFamily="34" charset="0"/>
                <a:ea typeface="楷体_GB2312" pitchFamily="49" charset="-122"/>
              </a:rPr>
              <a:t>V</a:t>
            </a:r>
            <a:r>
              <a:rPr lang="zh-CN" altLang="en-US" sz="2400" b="1" kern="1200" baseline="-25000" dirty="0">
                <a:solidFill>
                  <a:srgbClr val="000066"/>
                </a:solidFill>
                <a:latin typeface="Arial" panose="020B0604020202020204" pitchFamily="34" charset="0"/>
                <a:ea typeface="楷体_GB2312" pitchFamily="49" charset="-122"/>
              </a:rPr>
              <a:t>m</a:t>
            </a:r>
            <a:r>
              <a:rPr lang="zh-CN" altLang="en-US" sz="2400" b="1" kern="1200" dirty="0">
                <a:solidFill>
                  <a:srgbClr val="000066"/>
                </a:solidFill>
                <a:latin typeface="Arial" panose="020B0604020202020204" pitchFamily="34" charset="0"/>
                <a:ea typeface="楷体_GB2312" pitchFamily="49" charset="-122"/>
              </a:rPr>
              <a:t>上升到90%</a:t>
            </a:r>
            <a:r>
              <a:rPr lang="zh-CN" altLang="en-US" sz="2400" b="1" i="1" kern="1200" dirty="0">
                <a:solidFill>
                  <a:srgbClr val="000066"/>
                </a:solidFill>
                <a:latin typeface="Arial" panose="020B0604020202020204" pitchFamily="34" charset="0"/>
                <a:ea typeface="楷体_GB2312" pitchFamily="49" charset="-122"/>
              </a:rPr>
              <a:t>V</a:t>
            </a:r>
            <a:r>
              <a:rPr lang="zh-CN" altLang="en-US" sz="2400" b="1" kern="1200" baseline="-25000" dirty="0">
                <a:solidFill>
                  <a:srgbClr val="000066"/>
                </a:solidFill>
                <a:latin typeface="Arial" panose="020B0604020202020204" pitchFamily="34" charset="0"/>
                <a:ea typeface="楷体_GB2312" pitchFamily="49" charset="-122"/>
              </a:rPr>
              <a:t>m</a:t>
            </a:r>
            <a:r>
              <a:rPr lang="zh-CN" altLang="en-US" sz="2400" b="1" kern="1200" dirty="0">
                <a:solidFill>
                  <a:srgbClr val="000066"/>
                </a:solidFill>
                <a:latin typeface="Arial" panose="020B0604020202020204" pitchFamily="34" charset="0"/>
                <a:ea typeface="楷体_GB2312" pitchFamily="49" charset="-122"/>
              </a:rPr>
              <a:t>所经历的时间。</a:t>
            </a:r>
            <a:endParaRPr lang="zh-CN" altLang="en-US" sz="2400" b="1" kern="1200" dirty="0">
              <a:solidFill>
                <a:srgbClr val="000066"/>
              </a:solidFill>
              <a:latin typeface="Arial" panose="020B0604020202020204" pitchFamily="34" charset="0"/>
              <a:ea typeface="楷体_GB2312" pitchFamily="49" charset="-122"/>
            </a:endParaRPr>
          </a:p>
        </p:txBody>
      </p:sp>
      <p:sp>
        <p:nvSpPr>
          <p:cNvPr id="100" name="文本框 99"/>
          <p:cNvSpPr txBox="1"/>
          <p:nvPr/>
        </p:nvSpPr>
        <p:spPr>
          <a:xfrm>
            <a:off x="2971800" y="3200400"/>
            <a:ext cx="3310255" cy="337185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p>
            <a:r>
              <a:rPr lang="zh-CN" sz="1600">
                <a:ea typeface="宋体" panose="02010600030101010101" pitchFamily="2" charset="-122"/>
              </a:rPr>
              <a:t>图</a:t>
            </a:r>
            <a:r>
              <a:rPr lang="en-US" sz="1600">
                <a:latin typeface="Times New Roman" panose="02020603050405020304" charset="0"/>
                <a:ea typeface="宋体" panose="02010600030101010101" pitchFamily="2" charset="-122"/>
              </a:rPr>
              <a:t>1-6 </a:t>
            </a:r>
            <a:r>
              <a:rPr lang="zh-CN" sz="1600">
                <a:ea typeface="宋体" panose="02010600030101010101" pitchFamily="2" charset="-122"/>
              </a:rPr>
              <a:t>实际的脉冲波形主要参数</a:t>
            </a:r>
            <a:endParaRPr lang="zh-CN" altLang="en-US" sz="1600"/>
          </a:p>
        </p:txBody>
      </p:sp>
      <p:sp>
        <p:nvSpPr>
          <p:cNvPr id="4" name="Rectangle 3"/>
          <p:cNvSpPr>
            <a:spLocks noGrp="1"/>
          </p:cNvSpPr>
          <p:nvPr/>
        </p:nvSpPr>
        <p:spPr>
          <a:xfrm>
            <a:off x="708660" y="4394200"/>
            <a:ext cx="8003540" cy="1015365"/>
          </a:xfrm>
          <a:prstGeom prst="rect">
            <a:avLst/>
          </a:prstGeom>
          <a:noFill/>
          <a:ln w="9525">
            <a:noFill/>
          </a:ln>
        </p:spPr>
        <p:txBody>
          <a:bodyPr vert="horz" wrap="square" lIns="91440" tIns="45720" rIns="91440" bIns="45720" anchor="t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9pPr>
          </a:lstStyle>
          <a:p>
            <a:pPr marL="0" indent="0" eaLnBrk="1" latinLnBrk="0" hangingPunct="1">
              <a:lnSpc>
                <a:spcPct val="120000"/>
              </a:lnSpc>
              <a:spcBef>
                <a:spcPts val="0"/>
              </a:spcBef>
              <a:buNone/>
            </a:pPr>
            <a:r>
              <a:rPr lang="en-US" altLang="zh-CN" sz="2400" b="1" kern="1200" dirty="0">
                <a:solidFill>
                  <a:srgbClr val="000066"/>
                </a:solidFill>
                <a:latin typeface="Arial" panose="020B0604020202020204" pitchFamily="34" charset="0"/>
                <a:ea typeface="楷体_GB2312" pitchFamily="49" charset="-122"/>
              </a:rPr>
              <a:t>       </a:t>
            </a:r>
            <a:r>
              <a:rPr lang="zh-CN" altLang="en-US" sz="2400" b="1" kern="1200" dirty="0">
                <a:solidFill>
                  <a:srgbClr val="000066"/>
                </a:solidFill>
                <a:latin typeface="Arial" panose="020B0604020202020204" pitchFamily="34" charset="0"/>
                <a:ea typeface="楷体_GB2312" pitchFamily="49" charset="-122"/>
              </a:rPr>
              <a:t>(3) 下降时间</a:t>
            </a:r>
            <a:r>
              <a:rPr lang="zh-CN" altLang="en-US" sz="2400" b="1" i="1" kern="1200" dirty="0">
                <a:solidFill>
                  <a:srgbClr val="000066"/>
                </a:solidFill>
                <a:latin typeface="Arial" panose="020B0604020202020204" pitchFamily="34" charset="0"/>
                <a:ea typeface="楷体_GB2312" pitchFamily="49" charset="-122"/>
              </a:rPr>
              <a:t>t</a:t>
            </a:r>
            <a:r>
              <a:rPr lang="zh-CN" altLang="en-US" sz="2400" b="1" kern="1200" baseline="-25000" dirty="0">
                <a:solidFill>
                  <a:srgbClr val="000066"/>
                </a:solidFill>
                <a:latin typeface="Arial" panose="020B0604020202020204" pitchFamily="34" charset="0"/>
                <a:ea typeface="楷体_GB2312" pitchFamily="49" charset="-122"/>
              </a:rPr>
              <a:t>f</a:t>
            </a:r>
            <a:r>
              <a:rPr lang="zh-CN" altLang="en-US" sz="2400" b="1" kern="1200" dirty="0">
                <a:solidFill>
                  <a:srgbClr val="000066"/>
                </a:solidFill>
                <a:latin typeface="Arial" panose="020B0604020202020204" pitchFamily="34" charset="0"/>
                <a:ea typeface="楷体_GB2312" pitchFamily="49" charset="-122"/>
              </a:rPr>
              <a:t>：脉冲电压从90%</a:t>
            </a:r>
            <a:r>
              <a:rPr lang="zh-CN" altLang="en-US" sz="2400" b="1" i="1" kern="1200" dirty="0">
                <a:solidFill>
                  <a:srgbClr val="000066"/>
                </a:solidFill>
                <a:latin typeface="Arial" panose="020B0604020202020204" pitchFamily="34" charset="0"/>
                <a:ea typeface="楷体_GB2312" pitchFamily="49" charset="-122"/>
              </a:rPr>
              <a:t>V</a:t>
            </a:r>
            <a:r>
              <a:rPr lang="zh-CN" altLang="en-US" sz="2400" b="1" kern="1200" baseline="-25000" dirty="0">
                <a:solidFill>
                  <a:srgbClr val="000066"/>
                </a:solidFill>
                <a:latin typeface="Arial" panose="020B0604020202020204" pitchFamily="34" charset="0"/>
                <a:ea typeface="楷体_GB2312" pitchFamily="49" charset="-122"/>
              </a:rPr>
              <a:t>m</a:t>
            </a:r>
            <a:r>
              <a:rPr lang="zh-CN" altLang="en-US" sz="2400" b="1" kern="1200" dirty="0">
                <a:solidFill>
                  <a:srgbClr val="000066"/>
                </a:solidFill>
                <a:latin typeface="Arial" panose="020B0604020202020204" pitchFamily="34" charset="0"/>
                <a:ea typeface="楷体_GB2312" pitchFamily="49" charset="-122"/>
              </a:rPr>
              <a:t>下降到10%</a:t>
            </a:r>
            <a:r>
              <a:rPr lang="zh-CN" altLang="en-US" sz="2400" b="1" i="1" kern="1200" dirty="0">
                <a:solidFill>
                  <a:srgbClr val="000066"/>
                </a:solidFill>
                <a:latin typeface="Arial" panose="020B0604020202020204" pitchFamily="34" charset="0"/>
                <a:ea typeface="楷体_GB2312" pitchFamily="49" charset="-122"/>
              </a:rPr>
              <a:t>V</a:t>
            </a:r>
            <a:r>
              <a:rPr lang="zh-CN" altLang="en-US" sz="2400" b="1" kern="1200" baseline="-25000" dirty="0">
                <a:solidFill>
                  <a:srgbClr val="000066"/>
                </a:solidFill>
                <a:latin typeface="Arial" panose="020B0604020202020204" pitchFamily="34" charset="0"/>
                <a:ea typeface="楷体_GB2312" pitchFamily="49" charset="-122"/>
              </a:rPr>
              <a:t>m</a:t>
            </a:r>
            <a:r>
              <a:rPr lang="zh-CN" altLang="en-US" sz="2400" b="1" kern="1200" dirty="0">
                <a:solidFill>
                  <a:srgbClr val="000066"/>
                </a:solidFill>
                <a:latin typeface="Arial" panose="020B0604020202020204" pitchFamily="34" charset="0"/>
                <a:ea typeface="楷体_GB2312" pitchFamily="49" charset="-122"/>
              </a:rPr>
              <a:t>所经历的时间。</a:t>
            </a:r>
            <a:endParaRPr lang="zh-CN" altLang="en-US" sz="2400" b="1" kern="1200" dirty="0">
              <a:solidFill>
                <a:srgbClr val="000066"/>
              </a:solidFill>
              <a:latin typeface="Arial" panose="020B0604020202020204" pitchFamily="34" charset="0"/>
              <a:ea typeface="楷体_GB2312" pitchFamily="49" charset="-122"/>
            </a:endParaRPr>
          </a:p>
        </p:txBody>
      </p:sp>
      <p:sp>
        <p:nvSpPr>
          <p:cNvPr id="6" name="Rectangle 3"/>
          <p:cNvSpPr>
            <a:spLocks noGrp="1"/>
          </p:cNvSpPr>
          <p:nvPr/>
        </p:nvSpPr>
        <p:spPr>
          <a:xfrm>
            <a:off x="688340" y="5308600"/>
            <a:ext cx="8003540" cy="1015365"/>
          </a:xfrm>
          <a:prstGeom prst="rect">
            <a:avLst/>
          </a:prstGeom>
          <a:noFill/>
          <a:ln w="9525">
            <a:noFill/>
          </a:ln>
        </p:spPr>
        <p:txBody>
          <a:bodyPr vert="horz" wrap="square" lIns="91440" tIns="45720" rIns="91440" bIns="45720" anchor="t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9pPr>
          </a:lstStyle>
          <a:p>
            <a:pPr marL="0" indent="0" eaLnBrk="1" latinLnBrk="0" hangingPunct="1">
              <a:lnSpc>
                <a:spcPct val="120000"/>
              </a:lnSpc>
              <a:spcBef>
                <a:spcPts val="0"/>
              </a:spcBef>
              <a:buNone/>
            </a:pPr>
            <a:r>
              <a:rPr lang="en-US" altLang="zh-CN" sz="2400" b="1" kern="1200" dirty="0">
                <a:solidFill>
                  <a:srgbClr val="000066"/>
                </a:solidFill>
                <a:latin typeface="Arial" panose="020B0604020202020204" pitchFamily="34" charset="0"/>
                <a:ea typeface="楷体_GB2312" pitchFamily="49" charset="-122"/>
              </a:rPr>
              <a:t>       </a:t>
            </a:r>
            <a:r>
              <a:rPr lang="zh-CN" altLang="en-US" sz="2400" b="1" kern="1200" dirty="0">
                <a:solidFill>
                  <a:srgbClr val="000066"/>
                </a:solidFill>
                <a:latin typeface="Arial" panose="020B0604020202020204" pitchFamily="34" charset="0"/>
                <a:ea typeface="楷体_GB2312" pitchFamily="49" charset="-122"/>
              </a:rPr>
              <a:t>(4) 脉冲宽度</a:t>
            </a:r>
            <a:r>
              <a:rPr lang="zh-CN" altLang="en-US" sz="2400" b="1" i="1" kern="1200" dirty="0">
                <a:solidFill>
                  <a:srgbClr val="000066"/>
                </a:solidFill>
                <a:latin typeface="Arial" panose="020B0604020202020204" pitchFamily="34" charset="0"/>
                <a:ea typeface="楷体_GB2312" pitchFamily="49" charset="-122"/>
              </a:rPr>
              <a:t>t</a:t>
            </a:r>
            <a:r>
              <a:rPr lang="zh-CN" altLang="en-US" sz="2400" b="1" kern="1200" baseline="-25000" dirty="0">
                <a:solidFill>
                  <a:srgbClr val="000066"/>
                </a:solidFill>
                <a:latin typeface="Arial" panose="020B0604020202020204" pitchFamily="34" charset="0"/>
                <a:ea typeface="楷体_GB2312" pitchFamily="49" charset="-122"/>
              </a:rPr>
              <a:t>W</a:t>
            </a:r>
            <a:r>
              <a:rPr lang="zh-CN" altLang="en-US" sz="2400" b="1" kern="1200" dirty="0">
                <a:solidFill>
                  <a:srgbClr val="000066"/>
                </a:solidFill>
                <a:latin typeface="Arial" panose="020B0604020202020204" pitchFamily="34" charset="0"/>
                <a:ea typeface="楷体_GB2312" pitchFamily="49" charset="-122"/>
              </a:rPr>
              <a:t>：脉冲电压从上升沿的50%</a:t>
            </a:r>
            <a:r>
              <a:rPr lang="zh-CN" altLang="en-US" sz="2400" b="1" i="1" kern="1200" dirty="0">
                <a:solidFill>
                  <a:srgbClr val="000066"/>
                </a:solidFill>
                <a:latin typeface="Arial" panose="020B0604020202020204" pitchFamily="34" charset="0"/>
                <a:ea typeface="楷体_GB2312" pitchFamily="49" charset="-122"/>
              </a:rPr>
              <a:t>V</a:t>
            </a:r>
            <a:r>
              <a:rPr lang="zh-CN" altLang="en-US" sz="2400" b="1" kern="1200" baseline="-25000" dirty="0">
                <a:solidFill>
                  <a:srgbClr val="000066"/>
                </a:solidFill>
                <a:latin typeface="Arial" panose="020B0604020202020204" pitchFamily="34" charset="0"/>
                <a:ea typeface="楷体_GB2312" pitchFamily="49" charset="-122"/>
              </a:rPr>
              <a:t>m</a:t>
            </a:r>
            <a:r>
              <a:rPr lang="zh-CN" altLang="en-US" sz="2400" b="1" kern="1200" dirty="0">
                <a:solidFill>
                  <a:srgbClr val="000066"/>
                </a:solidFill>
                <a:latin typeface="Arial" panose="020B0604020202020204" pitchFamily="34" charset="0"/>
                <a:ea typeface="楷体_GB2312" pitchFamily="49" charset="-122"/>
              </a:rPr>
              <a:t>到下降沿50%</a:t>
            </a:r>
            <a:r>
              <a:rPr lang="zh-CN" altLang="en-US" sz="2400" b="1" i="1" kern="1200" dirty="0">
                <a:solidFill>
                  <a:srgbClr val="000066"/>
                </a:solidFill>
                <a:latin typeface="Arial" panose="020B0604020202020204" pitchFamily="34" charset="0"/>
                <a:ea typeface="楷体_GB2312" pitchFamily="49" charset="-122"/>
              </a:rPr>
              <a:t>V</a:t>
            </a:r>
            <a:r>
              <a:rPr lang="zh-CN" altLang="en-US" sz="2400" b="1" kern="1200" baseline="-25000" dirty="0">
                <a:solidFill>
                  <a:srgbClr val="000066"/>
                </a:solidFill>
                <a:latin typeface="Arial" panose="020B0604020202020204" pitchFamily="34" charset="0"/>
                <a:ea typeface="楷体_GB2312" pitchFamily="49" charset="-122"/>
              </a:rPr>
              <a:t>m</a:t>
            </a:r>
            <a:r>
              <a:rPr lang="zh-CN" altLang="en-US" sz="2400" b="1" kern="1200" dirty="0">
                <a:solidFill>
                  <a:srgbClr val="000066"/>
                </a:solidFill>
                <a:latin typeface="Arial" panose="020B0604020202020204" pitchFamily="34" charset="0"/>
                <a:ea typeface="楷体_GB2312" pitchFamily="49" charset="-122"/>
              </a:rPr>
              <a:t>所经历的时间。</a:t>
            </a:r>
            <a:endParaRPr lang="zh-CN" altLang="en-US" sz="2400" b="1" kern="1200" dirty="0">
              <a:solidFill>
                <a:srgbClr val="000066"/>
              </a:solidFill>
              <a:latin typeface="Arial" panose="020B0604020202020204" pitchFamily="34" charset="0"/>
              <a:ea typeface="楷体_GB2312" pitchFamily="49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6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6146" name="Rectangle 2"/>
          <p:cNvSpPr>
            <a:spLocks noGrp="1"/>
          </p:cNvSpPr>
          <p:nvPr>
            <p:ph type="title"/>
          </p:nvPr>
        </p:nvSpPr>
        <p:spPr>
          <a:xfrm>
            <a:off x="762000" y="1142683"/>
            <a:ext cx="5257800" cy="868362"/>
          </a:xfrm>
        </p:spPr>
        <p:txBody>
          <a:bodyPr vert="horz" wrap="square" lIns="91440" tIns="45720" rIns="91440" bIns="45720" anchor="ctr" anchorCtr="0"/>
          <a:p>
            <a:pPr algn="l" eaLnBrk="1" hangingPunct="1"/>
            <a:r>
              <a:rPr lang="en-US" altLang="zh-CN" sz="2800" i="0" dirty="0">
                <a:solidFill>
                  <a:srgbClr val="0070C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1.1.4 </a:t>
            </a:r>
            <a:r>
              <a:rPr lang="zh-CN" altLang="en-US" sz="2800" i="0" dirty="0">
                <a:solidFill>
                  <a:srgbClr val="0070C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数字电路的分类</a:t>
            </a:r>
            <a:endParaRPr lang="zh-CN" altLang="en-US" sz="2800" i="0" dirty="0">
              <a:solidFill>
                <a:srgbClr val="0070C0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6147" name="Rectangle 3"/>
          <p:cNvSpPr>
            <a:spLocks noGrp="1"/>
          </p:cNvSpPr>
          <p:nvPr>
            <p:ph idx="1"/>
          </p:nvPr>
        </p:nvSpPr>
        <p:spPr>
          <a:xfrm>
            <a:off x="685800" y="1828800"/>
            <a:ext cx="8003540" cy="591185"/>
          </a:xfrm>
        </p:spPr>
        <p:txBody>
          <a:bodyPr vert="horz" wrap="square" lIns="91440" tIns="45720" rIns="91440" bIns="45720" anchor="t" anchorCtr="0"/>
          <a:p>
            <a:pPr marL="0" indent="0" eaLnBrk="1" latinLnBrk="0" hangingPunct="1">
              <a:lnSpc>
                <a:spcPct val="120000"/>
              </a:lnSpc>
              <a:spcBef>
                <a:spcPts val="0"/>
              </a:spcBef>
              <a:buNone/>
            </a:pPr>
            <a:r>
              <a:rPr lang="en-US" altLang="zh-CN" sz="2400" b="1" kern="1200" dirty="0">
                <a:solidFill>
                  <a:srgbClr val="000066"/>
                </a:solidFill>
                <a:latin typeface="Arial" panose="020B0604020202020204" pitchFamily="34" charset="0"/>
                <a:ea typeface="楷体_GB2312" pitchFamily="49" charset="-122"/>
              </a:rPr>
              <a:t>       </a:t>
            </a:r>
            <a:r>
              <a:rPr lang="zh-CN" altLang="en-US" sz="2400" b="1" kern="1200" dirty="0">
                <a:solidFill>
                  <a:srgbClr val="000066"/>
                </a:solidFill>
                <a:latin typeface="Arial" panose="020B0604020202020204" pitchFamily="34" charset="0"/>
                <a:ea typeface="楷体_GB2312" pitchFamily="49" charset="-122"/>
              </a:rPr>
              <a:t>数字电路是指传送、变换和处理数字信号的电子电路。</a:t>
            </a:r>
            <a:endParaRPr lang="zh-CN" altLang="en-US" sz="2400" b="1" kern="1200" dirty="0">
              <a:solidFill>
                <a:srgbClr val="000066"/>
              </a:solidFill>
              <a:latin typeface="Arial" panose="020B0604020202020204" pitchFamily="34" charset="0"/>
              <a:ea typeface="楷体_GB2312" pitchFamily="49" charset="-122"/>
            </a:endParaRPr>
          </a:p>
        </p:txBody>
      </p:sp>
      <p:sp>
        <p:nvSpPr>
          <p:cNvPr id="6148" name="TextBox 6"/>
          <p:cNvSpPr txBox="1"/>
          <p:nvPr/>
        </p:nvSpPr>
        <p:spPr>
          <a:xfrm>
            <a:off x="2743200" y="533400"/>
            <a:ext cx="5593080" cy="583565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5pPr>
          </a:lstStyle>
          <a:p>
            <a:pPr marL="0" lvl="0" indent="0" algn="l"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b="1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1.1</a:t>
            </a:r>
            <a:r>
              <a:rPr lang="zh-CN" altLang="en-US" b="1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数字电路基本概念</a:t>
            </a:r>
            <a:endParaRPr lang="zh-CN" altLang="en-US" b="1" dirty="0">
              <a:solidFill>
                <a:srgbClr val="FF0000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6150" name="灯片编号占位符 5"/>
          <p:cNvSpPr txBox="1">
            <a:spLocks noGrp="1"/>
          </p:cNvSpPr>
          <p:nvPr>
            <p:ph type="sldNum" sz="quarter" idx="12"/>
          </p:nvPr>
        </p:nvSpPr>
        <p:spPr>
          <a:xfrm>
            <a:off x="6553200" y="6537325"/>
            <a:ext cx="2133600" cy="244475"/>
          </a:xfrm>
        </p:spPr>
        <p:txBody>
          <a:bodyPr/>
          <a:p>
            <a:pPr marL="0" indent="0" algn="r" eaLnBrk="1" hangingPunct="1">
              <a:spcBef>
                <a:spcPct val="0"/>
              </a:spcBef>
              <a:buClrTx/>
              <a:buFontTx/>
              <a:buNone/>
            </a:pPr>
            <a:fld id="{9A0DB2DC-4C9A-4742-B13C-FB6460FD3503}" type="slidenum">
              <a:rPr lang="en-US" altLang="zh-CN" sz="1200" dirty="0">
                <a:solidFill>
                  <a:schemeClr val="bg1"/>
                </a:solidFill>
                <a:ea typeface="宋体" panose="02010600030101010101" pitchFamily="2" charset="-122"/>
              </a:rPr>
            </a:fld>
            <a:endParaRPr lang="en-US" altLang="zh-CN" sz="1200" dirty="0">
              <a:solidFill>
                <a:schemeClr val="bg1"/>
              </a:solidFill>
              <a:ea typeface="宋体" panose="02010600030101010101" pitchFamily="2" charset="-122"/>
            </a:endParaRPr>
          </a:p>
        </p:txBody>
      </p:sp>
      <p:sp>
        <p:nvSpPr>
          <p:cNvPr id="3" name="Rectangle 3"/>
          <p:cNvSpPr>
            <a:spLocks noGrp="1"/>
          </p:cNvSpPr>
          <p:nvPr/>
        </p:nvSpPr>
        <p:spPr>
          <a:xfrm>
            <a:off x="660400" y="2336800"/>
            <a:ext cx="8003540" cy="1015365"/>
          </a:xfrm>
          <a:prstGeom prst="rect">
            <a:avLst/>
          </a:prstGeom>
          <a:noFill/>
          <a:ln w="9525">
            <a:noFill/>
          </a:ln>
        </p:spPr>
        <p:txBody>
          <a:bodyPr vert="horz" wrap="square" lIns="91440" tIns="45720" rIns="91440" bIns="45720" anchor="t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9pPr>
          </a:lstStyle>
          <a:p>
            <a:pPr marL="0" indent="0" eaLnBrk="1" latinLnBrk="0" hangingPunct="1">
              <a:lnSpc>
                <a:spcPct val="120000"/>
              </a:lnSpc>
              <a:spcBef>
                <a:spcPts val="0"/>
              </a:spcBef>
              <a:buNone/>
            </a:pPr>
            <a:r>
              <a:rPr lang="en-US" altLang="zh-CN" sz="2400" b="1" kern="1200" dirty="0">
                <a:solidFill>
                  <a:srgbClr val="000066"/>
                </a:solidFill>
                <a:latin typeface="Arial" panose="020B0604020202020204" pitchFamily="34" charset="0"/>
                <a:ea typeface="楷体_GB2312" pitchFamily="49" charset="-122"/>
              </a:rPr>
              <a:t>       </a:t>
            </a:r>
            <a:r>
              <a:rPr lang="zh-CN" altLang="en-US" sz="2400" b="1" kern="1200" dirty="0">
                <a:solidFill>
                  <a:srgbClr val="000066"/>
                </a:solidFill>
                <a:latin typeface="Arial" panose="020B0604020202020204" pitchFamily="34" charset="0"/>
                <a:ea typeface="楷体_GB2312" pitchFamily="49" charset="-122"/>
              </a:rPr>
              <a:t>根据逻辑功能的不同，数字电路可以分成组合逻辑电路和时序逻辑电路。</a:t>
            </a:r>
            <a:endParaRPr lang="zh-CN" altLang="en-US" sz="2400" b="1" kern="1200" dirty="0">
              <a:solidFill>
                <a:srgbClr val="000066"/>
              </a:solidFill>
              <a:latin typeface="Arial" panose="020B0604020202020204" pitchFamily="34" charset="0"/>
              <a:ea typeface="楷体_GB2312" pitchFamily="49" charset="-122"/>
            </a:endParaRPr>
          </a:p>
        </p:txBody>
      </p:sp>
      <p:sp>
        <p:nvSpPr>
          <p:cNvPr id="5" name="Rectangle 3"/>
          <p:cNvSpPr>
            <a:spLocks noGrp="1"/>
          </p:cNvSpPr>
          <p:nvPr/>
        </p:nvSpPr>
        <p:spPr>
          <a:xfrm>
            <a:off x="635000" y="3225800"/>
            <a:ext cx="8003540" cy="1015365"/>
          </a:xfrm>
          <a:prstGeom prst="rect">
            <a:avLst/>
          </a:prstGeom>
          <a:noFill/>
          <a:ln w="9525">
            <a:noFill/>
          </a:ln>
        </p:spPr>
        <p:txBody>
          <a:bodyPr vert="horz" wrap="square" lIns="91440" tIns="45720" rIns="91440" bIns="45720" anchor="t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9pPr>
          </a:lstStyle>
          <a:p>
            <a:pPr marL="0" indent="0" eaLnBrk="1" latinLnBrk="0" hangingPunct="1">
              <a:lnSpc>
                <a:spcPct val="120000"/>
              </a:lnSpc>
              <a:spcBef>
                <a:spcPts val="0"/>
              </a:spcBef>
              <a:buNone/>
            </a:pPr>
            <a:r>
              <a:rPr lang="en-US" altLang="zh-CN" sz="2400" b="1" kern="1200" dirty="0">
                <a:solidFill>
                  <a:srgbClr val="000066"/>
                </a:solidFill>
                <a:latin typeface="Arial" panose="020B0604020202020204" pitchFamily="34" charset="0"/>
                <a:ea typeface="楷体_GB2312" pitchFamily="49" charset="-122"/>
              </a:rPr>
              <a:t>       </a:t>
            </a:r>
            <a:r>
              <a:rPr lang="zh-CN" altLang="en-US" sz="2400" b="1" kern="1200" dirty="0">
                <a:solidFill>
                  <a:srgbClr val="000066"/>
                </a:solidFill>
                <a:latin typeface="Arial" panose="020B0604020202020204" pitchFamily="34" charset="0"/>
                <a:ea typeface="楷体_GB2312" pitchFamily="49" charset="-122"/>
              </a:rPr>
              <a:t>根据电路结构的不同，数字电路可以分为分立元件电路和集成电路。</a:t>
            </a:r>
            <a:endParaRPr lang="zh-CN" altLang="en-US" sz="2400" b="1" kern="1200" dirty="0">
              <a:solidFill>
                <a:srgbClr val="000066"/>
              </a:solidFill>
              <a:latin typeface="Arial" panose="020B0604020202020204" pitchFamily="34" charset="0"/>
              <a:ea typeface="楷体_GB2312" pitchFamily="49" charset="-122"/>
            </a:endParaRPr>
          </a:p>
        </p:txBody>
      </p:sp>
      <p:sp>
        <p:nvSpPr>
          <p:cNvPr id="4" name="Rectangle 3"/>
          <p:cNvSpPr>
            <a:spLocks noGrp="1"/>
          </p:cNvSpPr>
          <p:nvPr/>
        </p:nvSpPr>
        <p:spPr>
          <a:xfrm>
            <a:off x="637540" y="4114800"/>
            <a:ext cx="8003540" cy="1015365"/>
          </a:xfrm>
          <a:prstGeom prst="rect">
            <a:avLst/>
          </a:prstGeom>
          <a:noFill/>
          <a:ln w="9525">
            <a:noFill/>
          </a:ln>
        </p:spPr>
        <p:txBody>
          <a:bodyPr vert="horz" wrap="square" lIns="91440" tIns="45720" rIns="91440" bIns="45720" anchor="t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9pPr>
          </a:lstStyle>
          <a:p>
            <a:pPr marL="0" indent="0" eaLnBrk="1" latinLnBrk="0" hangingPunct="1">
              <a:lnSpc>
                <a:spcPct val="120000"/>
              </a:lnSpc>
              <a:spcBef>
                <a:spcPts val="0"/>
              </a:spcBef>
              <a:buNone/>
            </a:pPr>
            <a:r>
              <a:rPr lang="en-US" altLang="zh-CN" sz="2400" b="1" kern="1200" dirty="0">
                <a:solidFill>
                  <a:srgbClr val="000066"/>
                </a:solidFill>
                <a:latin typeface="Arial" panose="020B0604020202020204" pitchFamily="34" charset="0"/>
                <a:ea typeface="楷体_GB2312" pitchFamily="49" charset="-122"/>
              </a:rPr>
              <a:t>       </a:t>
            </a:r>
            <a:r>
              <a:rPr lang="zh-CN" altLang="en-US" sz="2400" b="1" kern="1200" dirty="0">
                <a:solidFill>
                  <a:srgbClr val="000066"/>
                </a:solidFill>
                <a:latin typeface="Arial" panose="020B0604020202020204" pitchFamily="34" charset="0"/>
                <a:ea typeface="楷体_GB2312" pitchFamily="49" charset="-122"/>
              </a:rPr>
              <a:t>分立元件电路是由二极管、三极管、电阻、电容等分立元件而构成的电路。</a:t>
            </a:r>
            <a:endParaRPr lang="zh-CN" altLang="en-US" sz="2400" b="1" kern="1200" dirty="0">
              <a:solidFill>
                <a:srgbClr val="000066"/>
              </a:solidFill>
              <a:latin typeface="Arial" panose="020B0604020202020204" pitchFamily="34" charset="0"/>
              <a:ea typeface="楷体_GB2312" pitchFamily="49" charset="-122"/>
            </a:endParaRPr>
          </a:p>
        </p:txBody>
      </p:sp>
      <p:sp>
        <p:nvSpPr>
          <p:cNvPr id="6" name="Rectangle 3"/>
          <p:cNvSpPr>
            <a:spLocks noGrp="1"/>
          </p:cNvSpPr>
          <p:nvPr/>
        </p:nvSpPr>
        <p:spPr>
          <a:xfrm>
            <a:off x="643890" y="5029200"/>
            <a:ext cx="8003540" cy="1397635"/>
          </a:xfrm>
          <a:prstGeom prst="rect">
            <a:avLst/>
          </a:prstGeom>
          <a:noFill/>
          <a:ln w="9525">
            <a:noFill/>
          </a:ln>
        </p:spPr>
        <p:txBody>
          <a:bodyPr vert="horz" wrap="square" lIns="91440" tIns="45720" rIns="91440" bIns="45720" anchor="t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9pPr>
          </a:lstStyle>
          <a:p>
            <a:pPr marL="0" indent="0" eaLnBrk="1" latinLnBrk="0" hangingPunct="1">
              <a:lnSpc>
                <a:spcPct val="120000"/>
              </a:lnSpc>
              <a:spcBef>
                <a:spcPts val="0"/>
              </a:spcBef>
              <a:buNone/>
            </a:pPr>
            <a:r>
              <a:rPr lang="en-US" altLang="zh-CN" sz="2400" b="1" kern="1200" dirty="0">
                <a:solidFill>
                  <a:srgbClr val="000066"/>
                </a:solidFill>
                <a:latin typeface="Arial" panose="020B0604020202020204" pitchFamily="34" charset="0"/>
                <a:ea typeface="楷体_GB2312" pitchFamily="49" charset="-122"/>
              </a:rPr>
              <a:t>       </a:t>
            </a:r>
            <a:r>
              <a:rPr lang="zh-CN" altLang="en-US" sz="2400" b="1" kern="1200" dirty="0">
                <a:solidFill>
                  <a:srgbClr val="000066"/>
                </a:solidFill>
                <a:latin typeface="Arial" panose="020B0604020202020204" pitchFamily="34" charset="0"/>
                <a:ea typeface="楷体_GB2312" pitchFamily="49" charset="-122"/>
              </a:rPr>
              <a:t>集成电路是将上述元件和布线通过半导体工艺制作在一块硅片上，然后封装在一个管壳内，构成一个不可分割的整体电路。</a:t>
            </a:r>
            <a:endParaRPr lang="zh-CN" altLang="en-US" sz="2400" b="1" kern="1200" dirty="0">
              <a:solidFill>
                <a:srgbClr val="000066"/>
              </a:solidFill>
              <a:latin typeface="Arial" panose="020B0604020202020204" pitchFamily="34" charset="0"/>
              <a:ea typeface="楷体_GB2312" pitchFamily="49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1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5" grpId="0"/>
      <p:bldP spid="4" grpId="0"/>
      <p:bldP spid="6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6147" name="Rectangle 3"/>
          <p:cNvSpPr>
            <a:spLocks noGrp="1"/>
          </p:cNvSpPr>
          <p:nvPr>
            <p:ph idx="1"/>
          </p:nvPr>
        </p:nvSpPr>
        <p:spPr>
          <a:xfrm>
            <a:off x="685800" y="1295400"/>
            <a:ext cx="8003540" cy="1520190"/>
          </a:xfrm>
        </p:spPr>
        <p:txBody>
          <a:bodyPr vert="horz" wrap="square" lIns="91440" tIns="45720" rIns="91440" bIns="45720" anchor="t" anchorCtr="0"/>
          <a:p>
            <a:pPr marL="0" indent="0" eaLnBrk="1" latinLnBrk="0" hangingPunct="1">
              <a:lnSpc>
                <a:spcPct val="120000"/>
              </a:lnSpc>
              <a:spcBef>
                <a:spcPts val="0"/>
              </a:spcBef>
              <a:buNone/>
            </a:pPr>
            <a:r>
              <a:rPr lang="en-US" altLang="zh-CN" sz="2400" b="1" kern="1200" dirty="0">
                <a:solidFill>
                  <a:srgbClr val="000066"/>
                </a:solidFill>
                <a:latin typeface="Arial" panose="020B0604020202020204" pitchFamily="34" charset="0"/>
                <a:ea typeface="楷体_GB2312" pitchFamily="49" charset="-122"/>
              </a:rPr>
              <a:t>       </a:t>
            </a:r>
            <a:r>
              <a:rPr lang="zh-CN" altLang="en-US" sz="2400" b="1" kern="1200" dirty="0">
                <a:solidFill>
                  <a:srgbClr val="000066"/>
                </a:solidFill>
                <a:latin typeface="Arial" panose="020B0604020202020204" pitchFamily="34" charset="0"/>
                <a:ea typeface="楷体_GB2312" pitchFamily="49" charset="-122"/>
              </a:rPr>
              <a:t>根据半导体导电类型的不同，数字集成电路可分为双极型电路和单极型电路。双极型电路有TTL和ECL 集成电路。单极型电路有NMOS、PMOS和CMOS集成电路。</a:t>
            </a:r>
            <a:endParaRPr lang="zh-CN" altLang="en-US" sz="2400" b="1" kern="1200" dirty="0">
              <a:solidFill>
                <a:srgbClr val="000066"/>
              </a:solidFill>
              <a:latin typeface="Arial" panose="020B0604020202020204" pitchFamily="34" charset="0"/>
              <a:ea typeface="楷体_GB2312" pitchFamily="49" charset="-122"/>
            </a:endParaRPr>
          </a:p>
        </p:txBody>
      </p:sp>
      <p:sp>
        <p:nvSpPr>
          <p:cNvPr id="6148" name="TextBox 6"/>
          <p:cNvSpPr txBox="1"/>
          <p:nvPr/>
        </p:nvSpPr>
        <p:spPr>
          <a:xfrm>
            <a:off x="2743200" y="533400"/>
            <a:ext cx="5593080" cy="583565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5pPr>
          </a:lstStyle>
          <a:p>
            <a:pPr marL="0" lvl="0" indent="0" algn="l"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b="1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1.1</a:t>
            </a:r>
            <a:r>
              <a:rPr lang="zh-CN" altLang="en-US" b="1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数字电路基本概念</a:t>
            </a:r>
            <a:endParaRPr lang="zh-CN" altLang="en-US" b="1" dirty="0">
              <a:solidFill>
                <a:srgbClr val="FF0000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6150" name="灯片编号占位符 5"/>
          <p:cNvSpPr txBox="1">
            <a:spLocks noGrp="1"/>
          </p:cNvSpPr>
          <p:nvPr>
            <p:ph type="sldNum" sz="quarter" idx="12"/>
          </p:nvPr>
        </p:nvSpPr>
        <p:spPr>
          <a:xfrm>
            <a:off x="6553200" y="6537325"/>
            <a:ext cx="2133600" cy="244475"/>
          </a:xfrm>
        </p:spPr>
        <p:txBody>
          <a:bodyPr/>
          <a:p>
            <a:pPr marL="0" indent="0" algn="r" eaLnBrk="1" hangingPunct="1">
              <a:spcBef>
                <a:spcPct val="0"/>
              </a:spcBef>
              <a:buClrTx/>
              <a:buFontTx/>
              <a:buNone/>
            </a:pPr>
            <a:fld id="{9A0DB2DC-4C9A-4742-B13C-FB6460FD3503}" type="slidenum">
              <a:rPr lang="en-US" altLang="zh-CN" sz="1200" dirty="0">
                <a:solidFill>
                  <a:schemeClr val="bg1"/>
                </a:solidFill>
                <a:ea typeface="宋体" panose="02010600030101010101" pitchFamily="2" charset="-122"/>
              </a:rPr>
            </a:fld>
            <a:endParaRPr lang="en-US" altLang="zh-CN" sz="1200" dirty="0">
              <a:solidFill>
                <a:schemeClr val="bg1"/>
              </a:solidFill>
              <a:ea typeface="宋体" panose="02010600030101010101" pitchFamily="2" charset="-122"/>
            </a:endParaRPr>
          </a:p>
        </p:txBody>
      </p:sp>
      <p:sp>
        <p:nvSpPr>
          <p:cNvPr id="3" name="Rectangle 3"/>
          <p:cNvSpPr>
            <a:spLocks noGrp="1"/>
          </p:cNvSpPr>
          <p:nvPr/>
        </p:nvSpPr>
        <p:spPr>
          <a:xfrm>
            <a:off x="685800" y="2743200"/>
            <a:ext cx="8003540" cy="3516630"/>
          </a:xfrm>
          <a:prstGeom prst="rect">
            <a:avLst/>
          </a:prstGeom>
          <a:noFill/>
          <a:ln w="9525">
            <a:noFill/>
          </a:ln>
        </p:spPr>
        <p:txBody>
          <a:bodyPr vert="horz" wrap="square" lIns="91440" tIns="45720" rIns="91440" bIns="45720" anchor="t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9pPr>
          </a:lstStyle>
          <a:p>
            <a:pPr marL="0" indent="0" algn="just" eaLnBrk="1" latinLnBrk="0" hangingPunct="1">
              <a:lnSpc>
                <a:spcPct val="120000"/>
              </a:lnSpc>
              <a:spcBef>
                <a:spcPts val="0"/>
              </a:spcBef>
              <a:buNone/>
            </a:pPr>
            <a:r>
              <a:rPr lang="en-US" altLang="zh-CN" sz="2400" b="1" kern="1200" dirty="0">
                <a:solidFill>
                  <a:srgbClr val="000066"/>
                </a:solidFill>
                <a:latin typeface="Arial" panose="020B0604020202020204" pitchFamily="34" charset="0"/>
                <a:ea typeface="楷体_GB2312" pitchFamily="49" charset="-122"/>
              </a:rPr>
              <a:t>       </a:t>
            </a:r>
            <a:r>
              <a:rPr lang="zh-CN" altLang="en-US" sz="2400" b="1" kern="1200" dirty="0">
                <a:solidFill>
                  <a:srgbClr val="000066"/>
                </a:solidFill>
                <a:latin typeface="Arial" panose="020B0604020202020204" pitchFamily="34" charset="0"/>
                <a:ea typeface="楷体_GB2312" pitchFamily="49" charset="-122"/>
              </a:rPr>
              <a:t>数字集成电路根据集成度可以进一步分为小规模集成电路 (Small-Scale Integrated Circuit，SSIC)，中规模集成电路 (Medium-Scale Integrated Circuit，MSIC)，大规模集成电路 (Large-Scale Integrated Circuit，LSIC)，超大规模集成电路 (Very Large-Scale Integrated Circuit，VLSIC)，甚大规模集成电路 (Ultra Large-Scale Integrated Circuit，ULSIC) 五类。</a:t>
            </a:r>
            <a:endParaRPr lang="zh-CN" altLang="en-US" sz="2400" b="1" kern="1200" dirty="0">
              <a:solidFill>
                <a:srgbClr val="000066"/>
              </a:solidFill>
              <a:latin typeface="Arial" panose="020B0604020202020204" pitchFamily="34" charset="0"/>
              <a:ea typeface="楷体_GB2312" pitchFamily="49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1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6146" name="Rectangle 2"/>
          <p:cNvSpPr>
            <a:spLocks noGrp="1"/>
          </p:cNvSpPr>
          <p:nvPr>
            <p:ph type="title"/>
          </p:nvPr>
        </p:nvSpPr>
        <p:spPr>
          <a:xfrm>
            <a:off x="762000" y="1295083"/>
            <a:ext cx="5257800" cy="868362"/>
          </a:xfrm>
        </p:spPr>
        <p:txBody>
          <a:bodyPr vert="horz" wrap="square" lIns="91440" tIns="45720" rIns="91440" bIns="45720" anchor="ctr" anchorCtr="0"/>
          <a:p>
            <a:pPr algn="l" eaLnBrk="1" hangingPunct="1"/>
            <a:r>
              <a:rPr lang="en-US" altLang="zh-CN" sz="2800" i="0" dirty="0">
                <a:solidFill>
                  <a:srgbClr val="0070C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1.1.5 </a:t>
            </a:r>
            <a:r>
              <a:rPr lang="zh-CN" altLang="en-US" sz="2800" i="0" dirty="0">
                <a:solidFill>
                  <a:srgbClr val="0070C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数字电路的特点</a:t>
            </a:r>
            <a:endParaRPr lang="zh-CN" altLang="en-US" sz="2800" i="0" dirty="0">
              <a:solidFill>
                <a:srgbClr val="0070C0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6147" name="Rectangle 3"/>
          <p:cNvSpPr>
            <a:spLocks noGrp="1"/>
          </p:cNvSpPr>
          <p:nvPr>
            <p:ph idx="1"/>
          </p:nvPr>
        </p:nvSpPr>
        <p:spPr>
          <a:xfrm>
            <a:off x="713740" y="2757170"/>
            <a:ext cx="8003540" cy="597535"/>
          </a:xfrm>
        </p:spPr>
        <p:txBody>
          <a:bodyPr vert="horz" wrap="square" lIns="91440" tIns="45720" rIns="91440" bIns="45720" anchor="t" anchorCtr="0"/>
          <a:p>
            <a:pPr marL="0" algn="l" defTabSz="914400" eaLnBrk="1" latinLnBrk="0" hangingPunct="1">
              <a:lnSpc>
                <a:spcPct val="120000"/>
              </a:lnSpc>
              <a:spcBef>
                <a:spcPts val="0"/>
              </a:spcBef>
              <a:buSzTx/>
              <a:buNone/>
            </a:pPr>
            <a:r>
              <a:rPr lang="en-US" altLang="zh-CN" sz="2400" b="1" kern="1200" dirty="0">
                <a:solidFill>
                  <a:srgbClr val="000066"/>
                </a:solidFill>
                <a:latin typeface="Arial" panose="020B0604020202020204" pitchFamily="34" charset="0"/>
                <a:ea typeface="楷体_GB2312" pitchFamily="49" charset="-122"/>
              </a:rPr>
              <a:t>    </a:t>
            </a:r>
            <a:r>
              <a:rPr lang="zh-CN" altLang="en-US" sz="2400" b="1" kern="1200" dirty="0">
                <a:solidFill>
                  <a:srgbClr val="000066"/>
                </a:solidFill>
                <a:latin typeface="Arial" panose="020B0604020202020204" pitchFamily="34" charset="0"/>
                <a:ea typeface="楷体_GB2312" pitchFamily="49" charset="-122"/>
              </a:rPr>
              <a:t>   2. 便于集成，成本低廉。</a:t>
            </a:r>
            <a:endParaRPr lang="zh-CN" altLang="en-US" sz="2400" b="1" kern="1200" dirty="0">
              <a:solidFill>
                <a:srgbClr val="000066"/>
              </a:solidFill>
              <a:latin typeface="Arial" panose="020B0604020202020204" pitchFamily="34" charset="0"/>
              <a:ea typeface="楷体_GB2312" pitchFamily="49" charset="-122"/>
            </a:endParaRPr>
          </a:p>
        </p:txBody>
      </p:sp>
      <p:sp>
        <p:nvSpPr>
          <p:cNvPr id="6148" name="TextBox 6"/>
          <p:cNvSpPr txBox="1"/>
          <p:nvPr/>
        </p:nvSpPr>
        <p:spPr>
          <a:xfrm>
            <a:off x="2743200" y="533400"/>
            <a:ext cx="5593080" cy="583565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5pPr>
          </a:lstStyle>
          <a:p>
            <a:pPr marL="0" lvl="0" indent="0" algn="l"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b="1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1.1</a:t>
            </a:r>
            <a:r>
              <a:rPr lang="zh-CN" altLang="en-US" b="1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数字电路基本概念</a:t>
            </a:r>
            <a:endParaRPr lang="zh-CN" altLang="en-US" b="1" dirty="0">
              <a:solidFill>
                <a:srgbClr val="FF0000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6150" name="灯片编号占位符 5"/>
          <p:cNvSpPr txBox="1">
            <a:spLocks noGrp="1"/>
          </p:cNvSpPr>
          <p:nvPr>
            <p:ph type="sldNum" sz="quarter" idx="12"/>
          </p:nvPr>
        </p:nvSpPr>
        <p:spPr>
          <a:xfrm>
            <a:off x="6553200" y="6537325"/>
            <a:ext cx="2133600" cy="244475"/>
          </a:xfrm>
        </p:spPr>
        <p:txBody>
          <a:bodyPr/>
          <a:p>
            <a:pPr marL="0" indent="0" algn="r" eaLnBrk="1" hangingPunct="1">
              <a:spcBef>
                <a:spcPct val="0"/>
              </a:spcBef>
              <a:buClrTx/>
              <a:buFontTx/>
              <a:buNone/>
            </a:pPr>
            <a:fld id="{9A0DB2DC-4C9A-4742-B13C-FB6460FD3503}" type="slidenum">
              <a:rPr lang="en-US" altLang="zh-CN" sz="1200" dirty="0">
                <a:solidFill>
                  <a:schemeClr val="bg1"/>
                </a:solidFill>
                <a:ea typeface="宋体" panose="02010600030101010101" pitchFamily="2" charset="-122"/>
              </a:rPr>
            </a:fld>
            <a:endParaRPr lang="en-US" altLang="zh-CN" sz="1200" dirty="0">
              <a:solidFill>
                <a:schemeClr val="bg1"/>
              </a:solidFill>
              <a:ea typeface="宋体" panose="02010600030101010101" pitchFamily="2" charset="-122"/>
            </a:endParaRPr>
          </a:p>
        </p:txBody>
      </p:sp>
      <p:sp>
        <p:nvSpPr>
          <p:cNvPr id="2" name="Rectangle 3"/>
          <p:cNvSpPr>
            <a:spLocks noGrp="1"/>
          </p:cNvSpPr>
          <p:nvPr/>
        </p:nvSpPr>
        <p:spPr>
          <a:xfrm>
            <a:off x="1295400" y="2209800"/>
            <a:ext cx="4304665" cy="552450"/>
          </a:xfrm>
          <a:prstGeom prst="rect">
            <a:avLst/>
          </a:prstGeom>
          <a:noFill/>
          <a:ln w="9525">
            <a:noFill/>
          </a:ln>
        </p:spPr>
        <p:txBody>
          <a:bodyPr vert="horz" wrap="square" lIns="91440" tIns="45720" rIns="91440" bIns="45720" anchor="t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9pPr>
          </a:lstStyle>
          <a:p>
            <a:pPr marL="0" indent="0" eaLnBrk="1" latinLnBrk="0" hangingPunct="1">
              <a:lnSpc>
                <a:spcPct val="120000"/>
              </a:lnSpc>
              <a:spcBef>
                <a:spcPts val="0"/>
              </a:spcBef>
              <a:buNone/>
            </a:pPr>
            <a:r>
              <a:rPr lang="zh-CN" altLang="en-US" sz="2400" b="1" kern="1200" dirty="0">
                <a:solidFill>
                  <a:srgbClr val="000066"/>
                </a:solidFill>
                <a:latin typeface="Arial" panose="020B0604020202020204" pitchFamily="34" charset="0"/>
                <a:ea typeface="楷体_GB2312" pitchFamily="49" charset="-122"/>
              </a:rPr>
              <a:t>1. 稳定性高，抗干扰能力强。</a:t>
            </a:r>
            <a:endParaRPr lang="zh-CN" altLang="en-US" sz="2400" b="1" kern="1200" dirty="0">
              <a:solidFill>
                <a:srgbClr val="000066"/>
              </a:solidFill>
              <a:latin typeface="Arial" panose="020B0604020202020204" pitchFamily="34" charset="0"/>
              <a:ea typeface="楷体_GB2312" pitchFamily="49" charset="-122"/>
            </a:endParaRPr>
          </a:p>
        </p:txBody>
      </p:sp>
      <p:sp>
        <p:nvSpPr>
          <p:cNvPr id="3" name="Rectangle 3"/>
          <p:cNvSpPr>
            <a:spLocks noGrp="1"/>
          </p:cNvSpPr>
          <p:nvPr/>
        </p:nvSpPr>
        <p:spPr>
          <a:xfrm>
            <a:off x="713740" y="3352800"/>
            <a:ext cx="8003540" cy="575945"/>
          </a:xfrm>
          <a:prstGeom prst="rect">
            <a:avLst/>
          </a:prstGeom>
          <a:noFill/>
          <a:ln w="9525">
            <a:noFill/>
          </a:ln>
        </p:spPr>
        <p:txBody>
          <a:bodyPr vert="horz" wrap="square" lIns="91440" tIns="45720" rIns="91440" bIns="45720" anchor="t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9pPr>
          </a:lstStyle>
          <a:p>
            <a:pPr marL="0" algn="l" eaLnBrk="1" latinLnBrk="0" hangingPunct="1">
              <a:lnSpc>
                <a:spcPct val="120000"/>
              </a:lnSpc>
              <a:spcBef>
                <a:spcPts val="0"/>
              </a:spcBef>
              <a:buSzTx/>
              <a:buNone/>
            </a:pPr>
            <a:r>
              <a:rPr lang="en-US" altLang="zh-CN" sz="2400" b="1" kern="1200" dirty="0">
                <a:solidFill>
                  <a:srgbClr val="000066"/>
                </a:solidFill>
                <a:latin typeface="Arial" panose="020B0604020202020204" pitchFamily="34" charset="0"/>
                <a:ea typeface="楷体_GB2312" pitchFamily="49" charset="-122"/>
              </a:rPr>
              <a:t>      </a:t>
            </a:r>
            <a:r>
              <a:rPr lang="zh-CN" altLang="en-US" sz="2400" b="1" kern="1200" dirty="0">
                <a:solidFill>
                  <a:srgbClr val="000066"/>
                </a:solidFill>
                <a:latin typeface="Arial" panose="020B0604020202020204" pitchFamily="34" charset="0"/>
                <a:ea typeface="楷体_GB2312" pitchFamily="49" charset="-122"/>
              </a:rPr>
              <a:t> 3. 速度快，功耗低。</a:t>
            </a:r>
            <a:endParaRPr lang="zh-CN" altLang="en-US" sz="2400" b="1" kern="1200" dirty="0">
              <a:solidFill>
                <a:srgbClr val="000066"/>
              </a:solidFill>
              <a:latin typeface="Arial" panose="020B0604020202020204" pitchFamily="34" charset="0"/>
              <a:ea typeface="楷体_GB2312" pitchFamily="49" charset="-122"/>
            </a:endParaRPr>
          </a:p>
        </p:txBody>
      </p:sp>
      <p:sp>
        <p:nvSpPr>
          <p:cNvPr id="5" name="Rectangle 3"/>
          <p:cNvSpPr>
            <a:spLocks noGrp="1"/>
          </p:cNvSpPr>
          <p:nvPr/>
        </p:nvSpPr>
        <p:spPr>
          <a:xfrm>
            <a:off x="704850" y="3911600"/>
            <a:ext cx="8003540" cy="558800"/>
          </a:xfrm>
          <a:prstGeom prst="rect">
            <a:avLst/>
          </a:prstGeom>
          <a:noFill/>
          <a:ln w="9525">
            <a:noFill/>
          </a:ln>
        </p:spPr>
        <p:txBody>
          <a:bodyPr vert="horz" wrap="square" lIns="91440" tIns="45720" rIns="91440" bIns="45720" anchor="t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9pPr>
          </a:lstStyle>
          <a:p>
            <a:pPr marL="0" algn="l" eaLnBrk="1" latinLnBrk="0" hangingPunct="1">
              <a:lnSpc>
                <a:spcPct val="120000"/>
              </a:lnSpc>
              <a:spcBef>
                <a:spcPts val="0"/>
              </a:spcBef>
              <a:buSzTx/>
              <a:buNone/>
            </a:pPr>
            <a:r>
              <a:rPr lang="en-US" altLang="zh-CN" sz="2400" b="1" kern="1200" dirty="0">
                <a:solidFill>
                  <a:srgbClr val="000066"/>
                </a:solidFill>
                <a:latin typeface="Arial" panose="020B0604020202020204" pitchFamily="34" charset="0"/>
                <a:ea typeface="楷体_GB2312" pitchFamily="49" charset="-122"/>
              </a:rPr>
              <a:t>      </a:t>
            </a:r>
            <a:r>
              <a:rPr lang="zh-CN" altLang="en-US" sz="2400" b="1" kern="1200" dirty="0">
                <a:solidFill>
                  <a:srgbClr val="000066"/>
                </a:solidFill>
                <a:latin typeface="Arial" panose="020B0604020202020204" pitchFamily="34" charset="0"/>
                <a:ea typeface="楷体_GB2312" pitchFamily="49" charset="-122"/>
              </a:rPr>
              <a:t> 4. 易于分析、设计和维护。</a:t>
            </a:r>
            <a:endParaRPr lang="zh-CN" altLang="en-US" sz="2400" b="1" kern="1200" dirty="0">
              <a:solidFill>
                <a:srgbClr val="000066"/>
              </a:solidFill>
              <a:latin typeface="Arial" panose="020B0604020202020204" pitchFamily="34" charset="0"/>
              <a:ea typeface="楷体_GB2312" pitchFamily="49" charset="-122"/>
            </a:endParaRPr>
          </a:p>
        </p:txBody>
      </p:sp>
      <p:sp>
        <p:nvSpPr>
          <p:cNvPr id="4" name="Rectangle 3"/>
          <p:cNvSpPr>
            <a:spLocks noGrp="1"/>
          </p:cNvSpPr>
          <p:nvPr/>
        </p:nvSpPr>
        <p:spPr>
          <a:xfrm>
            <a:off x="704850" y="4445000"/>
            <a:ext cx="8003540" cy="614045"/>
          </a:xfrm>
          <a:prstGeom prst="rect">
            <a:avLst/>
          </a:prstGeom>
          <a:noFill/>
          <a:ln w="9525">
            <a:noFill/>
          </a:ln>
        </p:spPr>
        <p:txBody>
          <a:bodyPr vert="horz" wrap="square" lIns="91440" tIns="45720" rIns="91440" bIns="45720" anchor="t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9pPr>
          </a:lstStyle>
          <a:p>
            <a:pPr marL="0" algn="l" eaLnBrk="1" latinLnBrk="0" hangingPunct="1">
              <a:lnSpc>
                <a:spcPct val="120000"/>
              </a:lnSpc>
              <a:spcBef>
                <a:spcPts val="0"/>
              </a:spcBef>
              <a:buSzTx/>
              <a:buNone/>
            </a:pPr>
            <a:r>
              <a:rPr lang="en-US" altLang="zh-CN" sz="2400" b="1" kern="1200" dirty="0">
                <a:solidFill>
                  <a:srgbClr val="000066"/>
                </a:solidFill>
                <a:latin typeface="Arial" panose="020B0604020202020204" pitchFamily="34" charset="0"/>
                <a:ea typeface="楷体_GB2312" pitchFamily="49" charset="-122"/>
              </a:rPr>
              <a:t>      </a:t>
            </a:r>
            <a:r>
              <a:rPr lang="zh-CN" altLang="en-US" sz="2400" b="1" kern="1200" dirty="0">
                <a:solidFill>
                  <a:srgbClr val="000066"/>
                </a:solidFill>
                <a:latin typeface="Arial" panose="020B0604020202020204" pitchFamily="34" charset="0"/>
                <a:ea typeface="楷体_GB2312" pitchFamily="49" charset="-122"/>
              </a:rPr>
              <a:t> 5. 数字信息便于长期保存。</a:t>
            </a:r>
            <a:endParaRPr lang="zh-CN" altLang="en-US" sz="2400" b="1" kern="1200" dirty="0">
              <a:solidFill>
                <a:srgbClr val="000066"/>
              </a:solidFill>
              <a:latin typeface="Arial" panose="020B0604020202020204" pitchFamily="34" charset="0"/>
              <a:ea typeface="楷体_GB2312" pitchFamily="49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614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614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614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1000"/>
                                        <p:tgtEl>
                                          <p:spTgt spid="614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1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15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0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5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5" grpId="0"/>
      <p:bldP spid="4" grpId="0"/>
      <p:bldP spid="6147" grpId="0" build="p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6146" name="Rectangle 2"/>
          <p:cNvSpPr>
            <a:spLocks noGrp="1"/>
          </p:cNvSpPr>
          <p:nvPr>
            <p:ph type="title"/>
          </p:nvPr>
        </p:nvSpPr>
        <p:spPr>
          <a:xfrm>
            <a:off x="762000" y="1142683"/>
            <a:ext cx="5257800" cy="868362"/>
          </a:xfrm>
        </p:spPr>
        <p:txBody>
          <a:bodyPr vert="horz" wrap="square" lIns="91440" tIns="45720" rIns="91440" bIns="45720" anchor="ctr" anchorCtr="0"/>
          <a:p>
            <a:pPr algn="l" eaLnBrk="1" hangingPunct="1"/>
            <a:r>
              <a:rPr lang="en-US" altLang="zh-CN" sz="2800" i="0" dirty="0">
                <a:solidFill>
                  <a:srgbClr val="0070C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1.2.1 </a:t>
            </a:r>
            <a:r>
              <a:rPr lang="zh-CN" altLang="en-US" sz="2800" i="0" dirty="0">
                <a:solidFill>
                  <a:srgbClr val="0070C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数制</a:t>
            </a:r>
            <a:endParaRPr lang="zh-CN" altLang="en-US" sz="2800" i="0" dirty="0">
              <a:solidFill>
                <a:srgbClr val="0070C0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6147" name="Rectangle 3"/>
          <p:cNvSpPr>
            <a:spLocks noGrp="1"/>
          </p:cNvSpPr>
          <p:nvPr>
            <p:ph idx="1"/>
          </p:nvPr>
        </p:nvSpPr>
        <p:spPr>
          <a:xfrm>
            <a:off x="685800" y="1828800"/>
            <a:ext cx="8003540" cy="946785"/>
          </a:xfrm>
        </p:spPr>
        <p:txBody>
          <a:bodyPr vert="horz" wrap="square" lIns="91440" tIns="45720" rIns="91440" bIns="45720" anchor="t" anchorCtr="0"/>
          <a:p>
            <a:pPr marL="0" indent="0" eaLnBrk="1" latinLnBrk="0" hangingPunct="1">
              <a:lnSpc>
                <a:spcPct val="120000"/>
              </a:lnSpc>
              <a:spcBef>
                <a:spcPts val="0"/>
              </a:spcBef>
              <a:buNone/>
            </a:pPr>
            <a:r>
              <a:rPr lang="en-US" altLang="zh-CN" sz="2400" b="1" kern="1200" dirty="0">
                <a:solidFill>
                  <a:srgbClr val="000066"/>
                </a:solidFill>
                <a:latin typeface="Arial" panose="020B0604020202020204" pitchFamily="34" charset="0"/>
                <a:ea typeface="楷体_GB2312" pitchFamily="49" charset="-122"/>
              </a:rPr>
              <a:t>       </a:t>
            </a:r>
            <a:r>
              <a:rPr lang="zh-CN" altLang="en-US" sz="2400" b="1" kern="1200" dirty="0">
                <a:solidFill>
                  <a:srgbClr val="000066"/>
                </a:solidFill>
                <a:latin typeface="Arial" panose="020B0604020202020204" pitchFamily="34" charset="0"/>
                <a:ea typeface="楷体_GB2312" pitchFamily="49" charset="-122"/>
              </a:rPr>
              <a:t>用一组固定的符号和统一的规则来表示数值的方法称为数制，也称为计数制。</a:t>
            </a:r>
            <a:endParaRPr lang="zh-CN" altLang="en-US" sz="2400" b="1" kern="1200" dirty="0">
              <a:solidFill>
                <a:srgbClr val="000066"/>
              </a:solidFill>
              <a:latin typeface="Arial" panose="020B0604020202020204" pitchFamily="34" charset="0"/>
              <a:ea typeface="楷体_GB2312" pitchFamily="49" charset="-122"/>
            </a:endParaRPr>
          </a:p>
        </p:txBody>
      </p:sp>
      <p:sp>
        <p:nvSpPr>
          <p:cNvPr id="6148" name="TextBox 6"/>
          <p:cNvSpPr txBox="1"/>
          <p:nvPr/>
        </p:nvSpPr>
        <p:spPr>
          <a:xfrm>
            <a:off x="2819400" y="533400"/>
            <a:ext cx="5593080" cy="583565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5pPr>
          </a:lstStyle>
          <a:p>
            <a:pPr marL="0" lvl="0" indent="0" algn="l"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b="1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1.2 </a:t>
            </a:r>
            <a:r>
              <a:rPr lang="zh-CN" altLang="en-US" b="1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数制与码制</a:t>
            </a:r>
            <a:endParaRPr lang="zh-CN" altLang="en-US" b="1" dirty="0">
              <a:solidFill>
                <a:srgbClr val="FF0000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6150" name="灯片编号占位符 5"/>
          <p:cNvSpPr txBox="1">
            <a:spLocks noGrp="1"/>
          </p:cNvSpPr>
          <p:nvPr>
            <p:ph type="sldNum" sz="quarter" idx="12"/>
          </p:nvPr>
        </p:nvSpPr>
        <p:spPr>
          <a:xfrm>
            <a:off x="6553200" y="6537325"/>
            <a:ext cx="2133600" cy="244475"/>
          </a:xfrm>
        </p:spPr>
        <p:txBody>
          <a:bodyPr/>
          <a:p>
            <a:pPr marL="0" indent="0" algn="r" eaLnBrk="1" hangingPunct="1">
              <a:spcBef>
                <a:spcPct val="0"/>
              </a:spcBef>
              <a:buClrTx/>
              <a:buFontTx/>
              <a:buNone/>
            </a:pPr>
            <a:fld id="{9A0DB2DC-4C9A-4742-B13C-FB6460FD3503}" type="slidenum">
              <a:rPr lang="en-US" altLang="zh-CN" sz="1200" dirty="0">
                <a:solidFill>
                  <a:schemeClr val="bg1"/>
                </a:solidFill>
                <a:ea typeface="宋体" panose="02010600030101010101" pitchFamily="2" charset="-122"/>
              </a:rPr>
            </a:fld>
            <a:endParaRPr lang="en-US" altLang="zh-CN" sz="1200" dirty="0">
              <a:solidFill>
                <a:schemeClr val="bg1"/>
              </a:solidFill>
              <a:ea typeface="宋体" panose="02010600030101010101" pitchFamily="2" charset="-122"/>
            </a:endParaRPr>
          </a:p>
        </p:txBody>
      </p:sp>
      <p:sp>
        <p:nvSpPr>
          <p:cNvPr id="2" name="Rectangle 3"/>
          <p:cNvSpPr>
            <a:spLocks noGrp="1"/>
          </p:cNvSpPr>
          <p:nvPr/>
        </p:nvSpPr>
        <p:spPr>
          <a:xfrm>
            <a:off x="1295400" y="2895600"/>
            <a:ext cx="2896870" cy="789940"/>
          </a:xfrm>
          <a:prstGeom prst="rect">
            <a:avLst/>
          </a:prstGeom>
          <a:noFill/>
          <a:ln w="9525">
            <a:noFill/>
          </a:ln>
        </p:spPr>
        <p:txBody>
          <a:bodyPr vert="horz" wrap="square" lIns="91440" tIns="45720" rIns="91440" bIns="45720" anchor="t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9pPr>
          </a:lstStyle>
          <a:p>
            <a:pPr marL="0" indent="0" eaLnBrk="1" latinLnBrk="0" hangingPunct="1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2400" b="1" kern="1200" dirty="0">
                <a:solidFill>
                  <a:srgbClr val="FE09D6"/>
                </a:solidFill>
                <a:latin typeface="Times New Roman" panose="02020603050405020304" charset="0"/>
                <a:ea typeface="楷体_GB2312" pitchFamily="49" charset="-122"/>
                <a:cs typeface="Times New Roman" panose="02020603050405020304" charset="0"/>
              </a:rPr>
              <a:t>1. 十进制</a:t>
            </a:r>
            <a:endParaRPr lang="en-US" sz="2400" b="1" kern="1200" dirty="0">
              <a:solidFill>
                <a:srgbClr val="FE09D6"/>
              </a:solidFill>
              <a:latin typeface="Times New Roman" panose="02020603050405020304" charset="0"/>
              <a:ea typeface="楷体_GB2312" pitchFamily="49" charset="-122"/>
              <a:cs typeface="Times New Roman" panose="02020603050405020304" charset="0"/>
            </a:endParaRPr>
          </a:p>
        </p:txBody>
      </p:sp>
      <p:sp>
        <p:nvSpPr>
          <p:cNvPr id="3" name="Rectangle 3"/>
          <p:cNvSpPr>
            <a:spLocks noGrp="1"/>
          </p:cNvSpPr>
          <p:nvPr/>
        </p:nvSpPr>
        <p:spPr>
          <a:xfrm>
            <a:off x="660400" y="3479800"/>
            <a:ext cx="8003540" cy="1374140"/>
          </a:xfrm>
          <a:prstGeom prst="rect">
            <a:avLst/>
          </a:prstGeom>
          <a:noFill/>
          <a:ln w="9525">
            <a:noFill/>
          </a:ln>
        </p:spPr>
        <p:txBody>
          <a:bodyPr vert="horz" wrap="square" lIns="91440" tIns="45720" rIns="91440" bIns="45720" anchor="t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9pPr>
          </a:lstStyle>
          <a:p>
            <a:pPr marL="0" indent="0" eaLnBrk="1" latinLnBrk="0" hangingPunct="1">
              <a:lnSpc>
                <a:spcPct val="120000"/>
              </a:lnSpc>
              <a:spcBef>
                <a:spcPts val="0"/>
              </a:spcBef>
              <a:buNone/>
            </a:pPr>
            <a:r>
              <a:rPr lang="en-US" altLang="zh-CN" sz="2400" b="1" kern="1200" dirty="0">
                <a:solidFill>
                  <a:srgbClr val="000066"/>
                </a:solidFill>
                <a:latin typeface="Arial" panose="020B0604020202020204" pitchFamily="34" charset="0"/>
                <a:ea typeface="楷体_GB2312" pitchFamily="49" charset="-122"/>
              </a:rPr>
              <a:t>       </a:t>
            </a:r>
            <a:r>
              <a:rPr lang="zh-CN" altLang="en-US" sz="2400" b="1" kern="1200" dirty="0">
                <a:solidFill>
                  <a:srgbClr val="000066"/>
                </a:solidFill>
                <a:latin typeface="Arial" panose="020B0604020202020204" pitchFamily="34" charset="0"/>
                <a:ea typeface="楷体_GB2312" pitchFamily="49" charset="-122"/>
              </a:rPr>
              <a:t>在十进制中，固定的符号是指0、1、2、3、4、5、6、7、8、9这十个数码，统一的规则就是“逢十进一”，即每相邻的两个计数单位之间的进率都为十。</a:t>
            </a:r>
            <a:endParaRPr lang="zh-CN" altLang="en-US" sz="2400" b="1" kern="1200" dirty="0">
              <a:solidFill>
                <a:srgbClr val="000066"/>
              </a:solidFill>
              <a:latin typeface="Arial" panose="020B0604020202020204" pitchFamily="34" charset="0"/>
              <a:ea typeface="楷体_GB2312" pitchFamily="49" charset="-122"/>
            </a:endParaRPr>
          </a:p>
        </p:txBody>
      </p:sp>
      <p:sp>
        <p:nvSpPr>
          <p:cNvPr id="5" name="Rectangle 3"/>
          <p:cNvSpPr>
            <a:spLocks noGrp="1"/>
          </p:cNvSpPr>
          <p:nvPr/>
        </p:nvSpPr>
        <p:spPr>
          <a:xfrm>
            <a:off x="635000" y="4902200"/>
            <a:ext cx="8003540" cy="570230"/>
          </a:xfrm>
          <a:prstGeom prst="rect">
            <a:avLst/>
          </a:prstGeom>
          <a:noFill/>
          <a:ln w="9525">
            <a:noFill/>
          </a:ln>
        </p:spPr>
        <p:txBody>
          <a:bodyPr vert="horz" wrap="square" lIns="91440" tIns="45720" rIns="91440" bIns="45720" anchor="t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9pPr>
          </a:lstStyle>
          <a:p>
            <a:pPr marL="0" indent="0" eaLnBrk="1" latinLnBrk="0" hangingPunct="1">
              <a:lnSpc>
                <a:spcPct val="120000"/>
              </a:lnSpc>
              <a:spcBef>
                <a:spcPts val="0"/>
              </a:spcBef>
              <a:buNone/>
            </a:pPr>
            <a:r>
              <a:rPr lang="en-US" altLang="zh-CN" sz="2400" b="1" kern="1200" dirty="0">
                <a:solidFill>
                  <a:srgbClr val="000066"/>
                </a:solidFill>
                <a:latin typeface="Arial" panose="020B0604020202020204" pitchFamily="34" charset="0"/>
                <a:ea typeface="楷体_GB2312" pitchFamily="49" charset="-122"/>
              </a:rPr>
              <a:t>       </a:t>
            </a:r>
            <a:r>
              <a:rPr lang="zh-CN" altLang="en-US" sz="2400" b="1" kern="1200" dirty="0">
                <a:solidFill>
                  <a:srgbClr val="000066"/>
                </a:solidFill>
                <a:latin typeface="Arial" panose="020B0604020202020204" pitchFamily="34" charset="0"/>
                <a:ea typeface="楷体_GB2312" pitchFamily="49" charset="-122"/>
              </a:rPr>
              <a:t>十进制数5517.43可以展开表示为：</a:t>
            </a:r>
            <a:endParaRPr lang="zh-CN" altLang="en-US" sz="2400" b="1" kern="1200" dirty="0">
              <a:solidFill>
                <a:srgbClr val="000066"/>
              </a:solidFill>
              <a:latin typeface="Arial" panose="020B0604020202020204" pitchFamily="34" charset="0"/>
              <a:ea typeface="楷体_GB2312" pitchFamily="49" charset="-122"/>
            </a:endParaRPr>
          </a:p>
        </p:txBody>
      </p:sp>
      <p:graphicFrame>
        <p:nvGraphicFramePr>
          <p:cNvPr id="4" name="对象 -2147482617"/>
          <p:cNvGraphicFramePr>
            <a:graphicFrameLocks noChangeAspect="1"/>
          </p:cNvGraphicFramePr>
          <p:nvPr/>
        </p:nvGraphicFramePr>
        <p:xfrm>
          <a:off x="1295400" y="5715000"/>
          <a:ext cx="7052310" cy="43053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76" name="" r:id="rId1" imgW="3324225" imgH="203200" progId="Equation.DSMT4">
                  <p:embed/>
                </p:oleObj>
              </mc:Choice>
              <mc:Fallback>
                <p:oleObj name="" r:id="rId1" imgW="3324225" imgH="203200" progId="Equation.DSMT4">
                  <p:embed/>
                  <p:pic>
                    <p:nvPicPr>
                      <p:cNvPr id="0" name="图片 3075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1295400" y="5715000"/>
                        <a:ext cx="7052310" cy="43053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7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5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discrete" valueType="clr">
                                      <p:cBhvr override="childStyle">
                                        <p:cTn id="7" dur="80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anim calcmode="discrete" valueType="clr">
                                      <p:cBhvr>
                                        <p:cTn id="8" dur="80"/>
                                        <p:tgtEl>
                                          <p:spTgt spid="2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9" dur="80"/>
                                        <p:tgtEl>
                                          <p:spTgt spid="2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280"/>
                            </p:stCondLst>
                            <p:childTnLst>
                              <p:par>
                                <p:cTn id="11" presetID="21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13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8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4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1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4" dur="4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4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3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+0.3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600" decel="50000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5000">
                                          <p:val>
                                            <p:strVal val="#ppt_x+0.0242"/>
                                          </p:val>
                                        </p:tav>
                                        <p:tav tm="10000">
                                          <p:val>
                                            <p:strVal val="#ppt_x+0.0479"/>
                                          </p:val>
                                        </p:tav>
                                        <p:tav tm="15000">
                                          <p:val>
                                            <p:strVal val="#ppt_x+0.0704"/>
                                          </p:val>
                                        </p:tav>
                                        <p:tav tm="20000">
                                          <p:val>
                                            <p:strVal val="#ppt_x+0.0911"/>
                                          </p:val>
                                        </p:tav>
                                        <p:tav tm="25000">
                                          <p:val>
                                            <p:strVal val="#ppt_x+0.1096"/>
                                          </p:val>
                                        </p:tav>
                                        <p:tav tm="30000">
                                          <p:val>
                                            <p:strVal val="#ppt_x+0.1254"/>
                                          </p:val>
                                        </p:tav>
                                        <p:tav tm="35000">
                                          <p:val>
                                            <p:strVal val="#ppt_x+0.1381"/>
                                          </p:val>
                                        </p:tav>
                                        <p:tav tm="40000">
                                          <p:val>
                                            <p:strVal val="#ppt_x+0.1474"/>
                                          </p:val>
                                        </p:tav>
                                        <p:tav tm="45000">
                                          <p:val>
                                            <p:strVal val="#ppt_x+0.1531"/>
                                          </p:val>
                                        </p:tav>
                                        <p:tav tm="50000">
                                          <p:val>
                                            <p:strVal val="#ppt_x+0.1550"/>
                                          </p:val>
                                        </p:tav>
                                        <p:tav tm="55000">
                                          <p:val>
                                            <p:strVal val="#ppt_x+0.1531"/>
                                          </p:val>
                                        </p:tav>
                                        <p:tav tm="60000">
                                          <p:val>
                                            <p:strVal val="#ppt_x+0.1474"/>
                                          </p:val>
                                        </p:tav>
                                        <p:tav tm="65000">
                                          <p:val>
                                            <p:strVal val="#ppt_x+0.1381"/>
                                          </p:val>
                                        </p:tav>
                                        <p:tav tm="70000">
                                          <p:val>
                                            <p:strVal val="#ppt_x+0.1254"/>
                                          </p:val>
                                        </p:tav>
                                        <p:tav tm="75000">
                                          <p:val>
                                            <p:strVal val="#ppt_x+0.1096"/>
                                          </p:val>
                                        </p:tav>
                                        <p:tav tm="80000">
                                          <p:val>
                                            <p:strVal val="#ppt_x+0.0911"/>
                                          </p:val>
                                        </p:tav>
                                        <p:tav tm="85000">
                                          <p:val>
                                            <p:strVal val="#ppt_x+0.0704"/>
                                          </p:val>
                                        </p:tav>
                                        <p:tav tm="90000">
                                          <p:val>
                                            <p:strVal val="#ppt_x+0.0479"/>
                                          </p:val>
                                        </p:tav>
                                        <p:tav tm="95000">
                                          <p:val>
                                            <p:strVal val="#ppt_x+0.024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600" decel="50000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31"/>
                                          </p:val>
                                        </p:tav>
                                        <p:tav tm="5000">
                                          <p:val>
                                            <p:strVal val="#ppt_y+0.308"/>
                                          </p:val>
                                        </p:tav>
                                        <p:tav tm="10000">
                                          <p:val>
                                            <p:strVal val="#ppt_y+0.3024"/>
                                          </p:val>
                                        </p:tav>
                                        <p:tav tm="15000">
                                          <p:val>
                                            <p:strVal val="#ppt_y+0.2931"/>
                                          </p:val>
                                        </p:tav>
                                        <p:tav tm="20000">
                                          <p:val>
                                            <p:strVal val="#ppt_y+0.2804"/>
                                          </p:val>
                                        </p:tav>
                                        <p:tav tm="25000">
                                          <p:val>
                                            <p:strVal val="#ppt_y+0.2646"/>
                                          </p:val>
                                        </p:tav>
                                        <p:tav tm="30000">
                                          <p:val>
                                            <p:strVal val="#ppt_y+0.2461"/>
                                          </p:val>
                                        </p:tav>
                                        <p:tav tm="35000">
                                          <p:val>
                                            <p:strVal val="#ppt_y+0.2253"/>
                                          </p:val>
                                        </p:tav>
                                        <p:tav tm="40000">
                                          <p:val>
                                            <p:strVal val="#ppt_y+0.2029"/>
                                          </p:val>
                                        </p:tav>
                                        <p:tav tm="45000">
                                          <p:val>
                                            <p:strVal val="#ppt_y+0.1792"/>
                                          </p:val>
                                        </p:tav>
                                        <p:tav tm="50000">
                                          <p:val>
                                            <p:strVal val="#ppt_y+0.155"/>
                                          </p:val>
                                        </p:tav>
                                        <p:tav tm="55000">
                                          <p:val>
                                            <p:strVal val="#ppt_y+0.1307"/>
                                          </p:val>
                                        </p:tav>
                                        <p:tav tm="60000">
                                          <p:val>
                                            <p:strVal val="#ppt_y+0.1071"/>
                                          </p:val>
                                        </p:tav>
                                        <p:tav tm="65000">
                                          <p:val>
                                            <p:strVal val="#ppt_y+0.0846"/>
                                          </p:val>
                                        </p:tav>
                                        <p:tav tm="70000">
                                          <p:val>
                                            <p:strVal val="#ppt_y+0.0639"/>
                                          </p:val>
                                        </p:tav>
                                        <p:tav tm="75000">
                                          <p:val>
                                            <p:strVal val="#ppt_y+0.0454"/>
                                          </p:val>
                                        </p:tav>
                                        <p:tav tm="80000">
                                          <p:val>
                                            <p:strVal val="#ppt_y+0.0296"/>
                                          </p:val>
                                        </p:tav>
                                        <p:tav tm="85000">
                                          <p:val>
                                            <p:strVal val="#ppt_y+0.0169"/>
                                          </p:val>
                                        </p:tav>
                                        <p:tav tm="90000">
                                          <p:val>
                                            <p:strVal val="#ppt_y+0.0076"/>
                                          </p:val>
                                        </p:tav>
                                        <p:tav tm="95000">
                                          <p:val>
                                            <p:strVal val="#ppt_y+0.0019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5" grpId="0"/>
      <p:bldP spid="2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6147" name="Rectangle 3"/>
          <p:cNvSpPr>
            <a:spLocks noGrp="1"/>
          </p:cNvSpPr>
          <p:nvPr>
            <p:ph idx="1"/>
          </p:nvPr>
        </p:nvSpPr>
        <p:spPr>
          <a:xfrm>
            <a:off x="685800" y="1524000"/>
            <a:ext cx="8003540" cy="657225"/>
          </a:xfrm>
        </p:spPr>
        <p:txBody>
          <a:bodyPr vert="horz" wrap="square" lIns="91440" tIns="45720" rIns="91440" bIns="45720" anchor="t" anchorCtr="0"/>
          <a:p>
            <a:pPr marL="0" indent="0" eaLnBrk="1" latinLnBrk="0" hangingPunct="1">
              <a:lnSpc>
                <a:spcPct val="120000"/>
              </a:lnSpc>
              <a:spcBef>
                <a:spcPts val="0"/>
              </a:spcBef>
              <a:buNone/>
            </a:pPr>
            <a:r>
              <a:rPr lang="en-US" altLang="zh-CN" sz="2400" b="1" kern="1200" dirty="0">
                <a:solidFill>
                  <a:srgbClr val="000066"/>
                </a:solidFill>
                <a:latin typeface="Arial" panose="020B0604020202020204" pitchFamily="34" charset="0"/>
                <a:ea typeface="楷体_GB2312" pitchFamily="49" charset="-122"/>
              </a:rPr>
              <a:t>       </a:t>
            </a:r>
            <a:r>
              <a:rPr lang="zh-CN" altLang="en-US" sz="2400" b="1" kern="1200" dirty="0">
                <a:solidFill>
                  <a:srgbClr val="000066"/>
                </a:solidFill>
                <a:latin typeface="Arial" panose="020B0604020202020204" pitchFamily="34" charset="0"/>
                <a:ea typeface="楷体_GB2312" pitchFamily="49" charset="-122"/>
              </a:rPr>
              <a:t>任意一个</a:t>
            </a:r>
            <a:r>
              <a:rPr lang="zh-CN" altLang="en-US" sz="2400" b="1" i="1" kern="1200" dirty="0">
                <a:solidFill>
                  <a:srgbClr val="000066"/>
                </a:solidFill>
                <a:latin typeface="Arial" panose="020B0604020202020204" pitchFamily="34" charset="0"/>
                <a:ea typeface="楷体_GB2312" pitchFamily="49" charset="-122"/>
              </a:rPr>
              <a:t>n</a:t>
            </a:r>
            <a:r>
              <a:rPr lang="zh-CN" altLang="en-US" sz="2400" b="1" kern="1200" dirty="0">
                <a:solidFill>
                  <a:srgbClr val="000066"/>
                </a:solidFill>
                <a:latin typeface="Arial" panose="020B0604020202020204" pitchFamily="34" charset="0"/>
                <a:ea typeface="楷体_GB2312" pitchFamily="49" charset="-122"/>
              </a:rPr>
              <a:t>位整数，</a:t>
            </a:r>
            <a:r>
              <a:rPr lang="zh-CN" altLang="en-US" sz="2400" b="1" i="1" kern="1200" dirty="0">
                <a:solidFill>
                  <a:srgbClr val="000066"/>
                </a:solidFill>
                <a:latin typeface="Arial" panose="020B0604020202020204" pitchFamily="34" charset="0"/>
                <a:ea typeface="楷体_GB2312" pitchFamily="49" charset="-122"/>
              </a:rPr>
              <a:t>m</a:t>
            </a:r>
            <a:r>
              <a:rPr lang="zh-CN" altLang="en-US" sz="2400" b="1" kern="1200" dirty="0">
                <a:solidFill>
                  <a:srgbClr val="000066"/>
                </a:solidFill>
                <a:latin typeface="Arial" panose="020B0604020202020204" pitchFamily="34" charset="0"/>
                <a:ea typeface="楷体_GB2312" pitchFamily="49" charset="-122"/>
              </a:rPr>
              <a:t>位小数的十进制数可表示为：</a:t>
            </a:r>
            <a:endParaRPr lang="zh-CN" altLang="en-US" sz="2400" b="1" kern="1200" dirty="0">
              <a:solidFill>
                <a:srgbClr val="000066"/>
              </a:solidFill>
              <a:latin typeface="Arial" panose="020B0604020202020204" pitchFamily="34" charset="0"/>
              <a:ea typeface="楷体_GB2312" pitchFamily="49" charset="-122"/>
            </a:endParaRPr>
          </a:p>
        </p:txBody>
      </p:sp>
      <p:sp>
        <p:nvSpPr>
          <p:cNvPr id="6148" name="TextBox 6"/>
          <p:cNvSpPr txBox="1"/>
          <p:nvPr/>
        </p:nvSpPr>
        <p:spPr>
          <a:xfrm>
            <a:off x="2819400" y="533400"/>
            <a:ext cx="5593080" cy="583565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5pPr>
          </a:lstStyle>
          <a:p>
            <a:pPr marL="0" lvl="0" indent="0" algn="l"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b="1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1.2 </a:t>
            </a:r>
            <a:r>
              <a:rPr lang="zh-CN" altLang="en-US" b="1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数制与码制</a:t>
            </a:r>
            <a:endParaRPr lang="zh-CN" altLang="en-US" b="1" dirty="0">
              <a:solidFill>
                <a:srgbClr val="FF0000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6150" name="灯片编号占位符 5"/>
          <p:cNvSpPr txBox="1">
            <a:spLocks noGrp="1"/>
          </p:cNvSpPr>
          <p:nvPr>
            <p:ph type="sldNum" sz="quarter" idx="12"/>
          </p:nvPr>
        </p:nvSpPr>
        <p:spPr>
          <a:xfrm>
            <a:off x="6553200" y="6537325"/>
            <a:ext cx="2133600" cy="244475"/>
          </a:xfrm>
        </p:spPr>
        <p:txBody>
          <a:bodyPr/>
          <a:p>
            <a:pPr marL="0" indent="0" algn="r" eaLnBrk="1" hangingPunct="1">
              <a:spcBef>
                <a:spcPct val="0"/>
              </a:spcBef>
              <a:buClrTx/>
              <a:buFontTx/>
              <a:buNone/>
            </a:pPr>
            <a:fld id="{9A0DB2DC-4C9A-4742-B13C-FB6460FD3503}" type="slidenum">
              <a:rPr lang="en-US" altLang="zh-CN" sz="1200" dirty="0">
                <a:solidFill>
                  <a:schemeClr val="bg1"/>
                </a:solidFill>
                <a:ea typeface="宋体" panose="02010600030101010101" pitchFamily="2" charset="-122"/>
              </a:rPr>
            </a:fld>
            <a:endParaRPr lang="en-US" altLang="zh-CN" sz="1200" dirty="0">
              <a:solidFill>
                <a:schemeClr val="bg1"/>
              </a:solidFill>
              <a:ea typeface="宋体" panose="02010600030101010101" pitchFamily="2" charset="-122"/>
            </a:endParaRPr>
          </a:p>
        </p:txBody>
      </p:sp>
      <p:sp>
        <p:nvSpPr>
          <p:cNvPr id="3" name="Rectangle 3"/>
          <p:cNvSpPr>
            <a:spLocks noGrp="1"/>
          </p:cNvSpPr>
          <p:nvPr/>
        </p:nvSpPr>
        <p:spPr>
          <a:xfrm>
            <a:off x="660400" y="3784600"/>
            <a:ext cx="8003540" cy="1015365"/>
          </a:xfrm>
          <a:prstGeom prst="rect">
            <a:avLst/>
          </a:prstGeom>
          <a:noFill/>
          <a:ln w="9525">
            <a:noFill/>
          </a:ln>
        </p:spPr>
        <p:txBody>
          <a:bodyPr vert="horz" wrap="square" lIns="91440" tIns="45720" rIns="91440" bIns="45720" anchor="t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9pPr>
          </a:lstStyle>
          <a:p>
            <a:pPr marL="0" indent="0" eaLnBrk="1" latinLnBrk="0" hangingPunct="1">
              <a:lnSpc>
                <a:spcPct val="120000"/>
              </a:lnSpc>
              <a:spcBef>
                <a:spcPts val="0"/>
              </a:spcBef>
              <a:buNone/>
            </a:pPr>
            <a:r>
              <a:rPr lang="en-US" altLang="zh-CN" sz="2400" b="1" kern="1200" dirty="0">
                <a:solidFill>
                  <a:srgbClr val="000066"/>
                </a:solidFill>
                <a:latin typeface="Arial" panose="020B0604020202020204" pitchFamily="34" charset="0"/>
                <a:ea typeface="楷体_GB2312" pitchFamily="49" charset="-122"/>
              </a:rPr>
              <a:t>       </a:t>
            </a:r>
            <a:r>
              <a:rPr lang="zh-CN" altLang="en-US" sz="2400" b="1" kern="1200" dirty="0">
                <a:solidFill>
                  <a:srgbClr val="000066"/>
                </a:solidFill>
                <a:latin typeface="Arial" panose="020B0604020202020204" pitchFamily="34" charset="0"/>
                <a:ea typeface="楷体_GB2312" pitchFamily="49" charset="-122"/>
              </a:rPr>
              <a:t>其中，</a:t>
            </a:r>
            <a:r>
              <a:rPr lang="en-US" altLang="zh-CN" sz="2400" b="1" i="1" kern="1200" dirty="0">
                <a:solidFill>
                  <a:srgbClr val="000066"/>
                </a:solidFill>
                <a:latin typeface="Arial" panose="020B0604020202020204" pitchFamily="34" charset="0"/>
                <a:ea typeface="楷体_GB2312" pitchFamily="49" charset="-122"/>
              </a:rPr>
              <a:t>k</a:t>
            </a:r>
            <a:r>
              <a:rPr lang="en-US" altLang="zh-CN" sz="2400" b="1" i="1" kern="1200" baseline="-25000" dirty="0">
                <a:solidFill>
                  <a:srgbClr val="000066"/>
                </a:solidFill>
                <a:latin typeface="Arial" panose="020B0604020202020204" pitchFamily="34" charset="0"/>
                <a:ea typeface="楷体_GB2312" pitchFamily="49" charset="-122"/>
              </a:rPr>
              <a:t>i</a:t>
            </a:r>
            <a:r>
              <a:rPr lang="zh-CN" altLang="en-US" sz="2400" b="1" kern="1200" dirty="0">
                <a:solidFill>
                  <a:srgbClr val="000066"/>
                </a:solidFill>
                <a:latin typeface="Arial" panose="020B0604020202020204" pitchFamily="34" charset="0"/>
                <a:ea typeface="楷体_GB2312" pitchFamily="49" charset="-122"/>
              </a:rPr>
              <a:t>为0~9中的某个数码，它表示第</a:t>
            </a:r>
            <a:r>
              <a:rPr lang="zh-CN" altLang="en-US" sz="2400" b="1" i="1" kern="1200" dirty="0">
                <a:solidFill>
                  <a:srgbClr val="000066"/>
                </a:solidFill>
                <a:latin typeface="Arial" panose="020B0604020202020204" pitchFamily="34" charset="0"/>
                <a:ea typeface="楷体_GB2312" pitchFamily="49" charset="-122"/>
              </a:rPr>
              <a:t>i</a:t>
            </a:r>
            <a:r>
              <a:rPr lang="zh-CN" altLang="en-US" sz="2400" b="1" kern="1200" dirty="0">
                <a:solidFill>
                  <a:srgbClr val="000066"/>
                </a:solidFill>
                <a:latin typeface="Arial" panose="020B0604020202020204" pitchFamily="34" charset="0"/>
                <a:ea typeface="楷体_GB2312" pitchFamily="49" charset="-122"/>
              </a:rPr>
              <a:t>位的加权系数；10表示计数的基数；</a:t>
            </a:r>
            <a:r>
              <a:rPr lang="en-US" altLang="zh-CN" sz="2400" b="1" kern="1200" dirty="0">
                <a:solidFill>
                  <a:srgbClr val="000066"/>
                </a:solidFill>
                <a:latin typeface="Arial" panose="020B0604020202020204" pitchFamily="34" charset="0"/>
                <a:ea typeface="楷体_GB2312" pitchFamily="49" charset="-122"/>
              </a:rPr>
              <a:t>10</a:t>
            </a:r>
            <a:r>
              <a:rPr lang="en-US" altLang="zh-CN" sz="2400" b="1" i="1" baseline="42000" dirty="0">
                <a:solidFill>
                  <a:srgbClr val="000066"/>
                </a:solidFill>
                <a:uFillTx/>
                <a:latin typeface="Arial" panose="020B0604020202020204" pitchFamily="34" charset="0"/>
                <a:ea typeface="楷体_GB2312" pitchFamily="49" charset="-122"/>
              </a:rPr>
              <a:t>i</a:t>
            </a:r>
            <a:r>
              <a:rPr lang="zh-CN" altLang="en-US" sz="2400" b="1" kern="1200" dirty="0">
                <a:solidFill>
                  <a:srgbClr val="000066"/>
                </a:solidFill>
                <a:latin typeface="Arial" panose="020B0604020202020204" pitchFamily="34" charset="0"/>
                <a:ea typeface="楷体_GB2312" pitchFamily="49" charset="-122"/>
              </a:rPr>
              <a:t>表示第</a:t>
            </a:r>
            <a:r>
              <a:rPr lang="zh-CN" altLang="en-US" sz="2400" b="1" i="1" kern="1200" dirty="0">
                <a:solidFill>
                  <a:srgbClr val="000066"/>
                </a:solidFill>
                <a:latin typeface="Arial" panose="020B0604020202020204" pitchFamily="34" charset="0"/>
                <a:ea typeface="楷体_GB2312" pitchFamily="49" charset="-122"/>
              </a:rPr>
              <a:t>i</a:t>
            </a:r>
            <a:r>
              <a:rPr lang="zh-CN" altLang="en-US" sz="2400" b="1" kern="1200" dirty="0">
                <a:solidFill>
                  <a:srgbClr val="000066"/>
                </a:solidFill>
                <a:latin typeface="Arial" panose="020B0604020202020204" pitchFamily="34" charset="0"/>
                <a:ea typeface="楷体_GB2312" pitchFamily="49" charset="-122"/>
              </a:rPr>
              <a:t>位的权</a:t>
            </a:r>
            <a:r>
              <a:rPr lang="en-US" altLang="zh-CN" sz="2400" b="1" kern="1200" dirty="0">
                <a:solidFill>
                  <a:srgbClr val="000066"/>
                </a:solidFill>
                <a:latin typeface="Arial" panose="020B0604020202020204" pitchFamily="34" charset="0"/>
                <a:ea typeface="楷体_GB2312" pitchFamily="49" charset="-122"/>
              </a:rPr>
              <a:t>(</a:t>
            </a:r>
            <a:r>
              <a:rPr lang="zh-CN" altLang="en-US" sz="2400" b="1" kern="1200" dirty="0">
                <a:solidFill>
                  <a:srgbClr val="000066"/>
                </a:solidFill>
                <a:latin typeface="Arial" panose="020B0604020202020204" pitchFamily="34" charset="0"/>
                <a:ea typeface="楷体_GB2312" pitchFamily="49" charset="-122"/>
              </a:rPr>
              <a:t>即位权</a:t>
            </a:r>
            <a:r>
              <a:rPr lang="en-US" altLang="zh-CN" sz="2400" b="1" kern="1200" dirty="0">
                <a:solidFill>
                  <a:srgbClr val="000066"/>
                </a:solidFill>
                <a:latin typeface="Arial" panose="020B0604020202020204" pitchFamily="34" charset="0"/>
                <a:ea typeface="楷体_GB2312" pitchFamily="49" charset="-122"/>
              </a:rPr>
              <a:t>)</a:t>
            </a:r>
            <a:r>
              <a:rPr lang="zh-CN" altLang="en-US" sz="2400" b="1" kern="1200" dirty="0">
                <a:solidFill>
                  <a:srgbClr val="000066"/>
                </a:solidFill>
                <a:latin typeface="Arial" panose="020B0604020202020204" pitchFamily="34" charset="0"/>
                <a:ea typeface="楷体_GB2312" pitchFamily="49" charset="-122"/>
              </a:rPr>
              <a:t>。</a:t>
            </a:r>
            <a:endParaRPr lang="zh-CN" altLang="en-US" sz="2400" b="1" kern="1200" dirty="0">
              <a:solidFill>
                <a:srgbClr val="000066"/>
              </a:solidFill>
              <a:latin typeface="Arial" panose="020B0604020202020204" pitchFamily="34" charset="0"/>
              <a:ea typeface="楷体_GB2312" pitchFamily="49" charset="-122"/>
            </a:endParaRPr>
          </a:p>
        </p:txBody>
      </p:sp>
      <p:graphicFrame>
        <p:nvGraphicFramePr>
          <p:cNvPr id="2" name="对象 -2147482616"/>
          <p:cNvGraphicFramePr>
            <a:graphicFrameLocks noChangeAspect="1"/>
          </p:cNvGraphicFramePr>
          <p:nvPr/>
        </p:nvGraphicFramePr>
        <p:xfrm>
          <a:off x="1143000" y="2438400"/>
          <a:ext cx="7221220" cy="112839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76" name="" r:id="rId1" imgW="3656330" imgH="571500" progId="Equation.DSMT4">
                  <p:embed/>
                </p:oleObj>
              </mc:Choice>
              <mc:Fallback>
                <p:oleObj name="" r:id="rId1" imgW="3656330" imgH="571500" progId="Equation.DSMT4">
                  <p:embed/>
                  <p:pic>
                    <p:nvPicPr>
                      <p:cNvPr id="0" name="图片 3075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1143000" y="2438400"/>
                        <a:ext cx="7221220" cy="112839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1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6147" name="Rectangle 3"/>
          <p:cNvSpPr>
            <a:spLocks noGrp="1"/>
          </p:cNvSpPr>
          <p:nvPr>
            <p:ph idx="1"/>
          </p:nvPr>
        </p:nvSpPr>
        <p:spPr>
          <a:xfrm>
            <a:off x="685800" y="1468120"/>
            <a:ext cx="8003540" cy="1499235"/>
          </a:xfrm>
        </p:spPr>
        <p:txBody>
          <a:bodyPr vert="horz" wrap="square" lIns="91440" tIns="45720" rIns="91440" bIns="45720" anchor="t" anchorCtr="0"/>
          <a:p>
            <a:pPr marL="0" indent="0" eaLnBrk="1" latinLnBrk="0" hangingPunct="1">
              <a:lnSpc>
                <a:spcPct val="120000"/>
              </a:lnSpc>
              <a:spcBef>
                <a:spcPts val="0"/>
              </a:spcBef>
              <a:buNone/>
            </a:pPr>
            <a:r>
              <a:rPr lang="en-US" altLang="zh-CN" sz="2400" b="1" kern="1200" dirty="0">
                <a:solidFill>
                  <a:srgbClr val="000066"/>
                </a:solidFill>
                <a:latin typeface="Arial" panose="020B0604020202020204" pitchFamily="34" charset="0"/>
                <a:ea typeface="楷体_GB2312" pitchFamily="49" charset="-122"/>
              </a:rPr>
              <a:t>       </a:t>
            </a:r>
            <a:r>
              <a:rPr lang="zh-CN" altLang="en-US" sz="2400" b="1" kern="1200" dirty="0">
                <a:solidFill>
                  <a:srgbClr val="000066"/>
                </a:solidFill>
                <a:latin typeface="Arial" panose="020B0604020202020204" pitchFamily="34" charset="0"/>
                <a:ea typeface="楷体_GB2312" pitchFamily="49" charset="-122"/>
              </a:rPr>
              <a:t>在二进制中，计数的基数是2，它只有0和1两个数码，计数的规则是“逢二进一”。任意一个n位整数，m位小数的二进制数N转换为十进制数可表示为</a:t>
            </a:r>
            <a:endParaRPr lang="zh-CN" altLang="en-US" sz="2400" b="1" kern="1200" dirty="0">
              <a:solidFill>
                <a:srgbClr val="000066"/>
              </a:solidFill>
              <a:latin typeface="Arial" panose="020B0604020202020204" pitchFamily="34" charset="0"/>
              <a:ea typeface="楷体_GB2312" pitchFamily="49" charset="-122"/>
            </a:endParaRPr>
          </a:p>
        </p:txBody>
      </p:sp>
      <p:sp>
        <p:nvSpPr>
          <p:cNvPr id="6148" name="TextBox 6"/>
          <p:cNvSpPr txBox="1"/>
          <p:nvPr/>
        </p:nvSpPr>
        <p:spPr>
          <a:xfrm>
            <a:off x="2819400" y="533400"/>
            <a:ext cx="5593080" cy="583565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5pPr>
          </a:lstStyle>
          <a:p>
            <a:pPr marL="0" lvl="0" indent="0" algn="l"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b="1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1.2 </a:t>
            </a:r>
            <a:r>
              <a:rPr lang="zh-CN" altLang="en-US" b="1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数制与码制</a:t>
            </a:r>
            <a:endParaRPr lang="zh-CN" altLang="en-US" b="1" dirty="0">
              <a:solidFill>
                <a:srgbClr val="FF0000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6150" name="灯片编号占位符 5"/>
          <p:cNvSpPr txBox="1">
            <a:spLocks noGrp="1"/>
          </p:cNvSpPr>
          <p:nvPr>
            <p:ph type="sldNum" sz="quarter" idx="12"/>
          </p:nvPr>
        </p:nvSpPr>
        <p:spPr>
          <a:xfrm>
            <a:off x="6553200" y="6537325"/>
            <a:ext cx="2133600" cy="244475"/>
          </a:xfrm>
        </p:spPr>
        <p:txBody>
          <a:bodyPr/>
          <a:p>
            <a:pPr marL="0" indent="0" algn="r" eaLnBrk="1" hangingPunct="1">
              <a:spcBef>
                <a:spcPct val="0"/>
              </a:spcBef>
              <a:buClrTx/>
              <a:buFontTx/>
              <a:buNone/>
            </a:pPr>
            <a:fld id="{9A0DB2DC-4C9A-4742-B13C-FB6460FD3503}" type="slidenum">
              <a:rPr lang="en-US" altLang="zh-CN" sz="1200" dirty="0">
                <a:solidFill>
                  <a:schemeClr val="bg1"/>
                </a:solidFill>
                <a:ea typeface="宋体" panose="02010600030101010101" pitchFamily="2" charset="-122"/>
              </a:rPr>
            </a:fld>
            <a:endParaRPr lang="en-US" altLang="zh-CN" sz="1200" dirty="0">
              <a:solidFill>
                <a:schemeClr val="bg1"/>
              </a:solidFill>
              <a:ea typeface="宋体" panose="02010600030101010101" pitchFamily="2" charset="-122"/>
            </a:endParaRPr>
          </a:p>
        </p:txBody>
      </p:sp>
      <p:sp>
        <p:nvSpPr>
          <p:cNvPr id="2" name="Rectangle 3"/>
          <p:cNvSpPr>
            <a:spLocks noGrp="1"/>
          </p:cNvSpPr>
          <p:nvPr/>
        </p:nvSpPr>
        <p:spPr>
          <a:xfrm>
            <a:off x="1295400" y="1066800"/>
            <a:ext cx="3844925" cy="553085"/>
          </a:xfrm>
          <a:prstGeom prst="rect">
            <a:avLst/>
          </a:prstGeom>
          <a:noFill/>
          <a:ln w="9525">
            <a:noFill/>
          </a:ln>
        </p:spPr>
        <p:txBody>
          <a:bodyPr vert="horz" wrap="square" lIns="91440" tIns="45720" rIns="91440" bIns="45720" anchor="t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9pPr>
          </a:lstStyle>
          <a:p>
            <a:pPr marL="0" indent="0" eaLnBrk="1" latinLnBrk="0" hangingPunct="1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2400" b="1" kern="1200" dirty="0">
                <a:solidFill>
                  <a:srgbClr val="FE09D6"/>
                </a:solidFill>
                <a:latin typeface="Times New Roman" panose="02020603050405020304" charset="0"/>
                <a:ea typeface="楷体_GB2312" pitchFamily="49" charset="-122"/>
                <a:cs typeface="Times New Roman" panose="02020603050405020304" charset="0"/>
              </a:rPr>
              <a:t>2. </a:t>
            </a:r>
            <a:r>
              <a:rPr lang="zh-CN" altLang="en-US" sz="2400" b="1" kern="1200" dirty="0">
                <a:solidFill>
                  <a:srgbClr val="FE09D6"/>
                </a:solidFill>
                <a:latin typeface="Times New Roman" panose="02020603050405020304" charset="0"/>
                <a:ea typeface="楷体_GB2312" pitchFamily="49" charset="-122"/>
                <a:cs typeface="Times New Roman" panose="02020603050405020304" charset="0"/>
              </a:rPr>
              <a:t>二</a:t>
            </a:r>
            <a:r>
              <a:rPr lang="en-US" sz="2400" b="1" kern="1200" dirty="0">
                <a:solidFill>
                  <a:srgbClr val="FE09D6"/>
                </a:solidFill>
                <a:latin typeface="Times New Roman" panose="02020603050405020304" charset="0"/>
                <a:ea typeface="楷体_GB2312" pitchFamily="49" charset="-122"/>
                <a:cs typeface="Times New Roman" panose="02020603050405020304" charset="0"/>
              </a:rPr>
              <a:t>进制</a:t>
            </a:r>
            <a:endParaRPr lang="en-US" sz="2400" b="1" kern="1200" dirty="0">
              <a:solidFill>
                <a:srgbClr val="FE09D6"/>
              </a:solidFill>
              <a:latin typeface="Times New Roman" panose="02020603050405020304" charset="0"/>
              <a:ea typeface="楷体_GB2312" pitchFamily="49" charset="-122"/>
              <a:cs typeface="Times New Roman" panose="02020603050405020304" charset="0"/>
            </a:endParaRPr>
          </a:p>
        </p:txBody>
      </p:sp>
      <p:graphicFrame>
        <p:nvGraphicFramePr>
          <p:cNvPr id="3" name="对象 -2147482613"/>
          <p:cNvGraphicFramePr>
            <a:graphicFrameLocks noChangeAspect="1"/>
          </p:cNvGraphicFramePr>
          <p:nvPr/>
        </p:nvGraphicFramePr>
        <p:xfrm>
          <a:off x="1524000" y="2611120"/>
          <a:ext cx="6373495" cy="86804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76" name="" r:id="rId1" imgW="2705100" imgH="368300" progId="Equation.DSMT4">
                  <p:embed/>
                </p:oleObj>
              </mc:Choice>
              <mc:Fallback>
                <p:oleObj name="" r:id="rId1" imgW="2705100" imgH="368300" progId="Equation.DSMT4">
                  <p:embed/>
                  <p:pic>
                    <p:nvPicPr>
                      <p:cNvPr id="0" name="图片 3075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1524000" y="2611120"/>
                        <a:ext cx="6373495" cy="86804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6" name="Rectangle 3"/>
          <p:cNvSpPr>
            <a:spLocks noGrp="1"/>
          </p:cNvSpPr>
          <p:nvPr/>
        </p:nvSpPr>
        <p:spPr>
          <a:xfrm>
            <a:off x="76200" y="3220720"/>
            <a:ext cx="8003540" cy="484505"/>
          </a:xfrm>
          <a:prstGeom prst="rect">
            <a:avLst/>
          </a:prstGeom>
          <a:noFill/>
          <a:ln w="9525">
            <a:noFill/>
          </a:ln>
        </p:spPr>
        <p:txBody>
          <a:bodyPr vert="horz" wrap="square" lIns="91440" tIns="45720" rIns="91440" bIns="45720" anchor="t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9pPr>
          </a:lstStyle>
          <a:p>
            <a:pPr marL="0" indent="0" eaLnBrk="1" latinLnBrk="0" hangingPunct="1">
              <a:lnSpc>
                <a:spcPct val="120000"/>
              </a:lnSpc>
              <a:spcBef>
                <a:spcPts val="0"/>
              </a:spcBef>
              <a:buNone/>
            </a:pPr>
            <a:r>
              <a:rPr lang="en-US" altLang="zh-CN" sz="2400" b="1" kern="1200" dirty="0">
                <a:solidFill>
                  <a:srgbClr val="000066"/>
                </a:solidFill>
                <a:latin typeface="Arial" panose="020B0604020202020204" pitchFamily="34" charset="0"/>
                <a:ea typeface="楷体_GB2312" pitchFamily="49" charset="-122"/>
              </a:rPr>
              <a:t>       </a:t>
            </a:r>
            <a:r>
              <a:rPr lang="zh-CN" altLang="en-US" sz="2400" b="1" kern="1200" dirty="0">
                <a:solidFill>
                  <a:srgbClr val="000066"/>
                </a:solidFill>
                <a:latin typeface="Arial" panose="020B0604020202020204" pitchFamily="34" charset="0"/>
                <a:ea typeface="楷体_GB2312" pitchFamily="49" charset="-122"/>
              </a:rPr>
              <a:t>其中，</a:t>
            </a:r>
            <a:r>
              <a:rPr lang="en-US" altLang="zh-CN" sz="2400" b="1" i="1" kern="1200" dirty="0">
                <a:solidFill>
                  <a:srgbClr val="000066"/>
                </a:solidFill>
                <a:latin typeface="Arial" panose="020B0604020202020204" pitchFamily="34" charset="0"/>
                <a:ea typeface="楷体_GB2312" pitchFamily="49" charset="-122"/>
              </a:rPr>
              <a:t>k</a:t>
            </a:r>
            <a:r>
              <a:rPr lang="en-US" altLang="zh-CN" sz="2400" b="1" i="1" kern="1200" baseline="-25000" dirty="0">
                <a:solidFill>
                  <a:srgbClr val="000066"/>
                </a:solidFill>
                <a:latin typeface="Arial" panose="020B0604020202020204" pitchFamily="34" charset="0"/>
                <a:ea typeface="楷体_GB2312" pitchFamily="49" charset="-122"/>
              </a:rPr>
              <a:t>i</a:t>
            </a:r>
            <a:r>
              <a:rPr sz="2400" b="1" kern="1200" dirty="0">
                <a:solidFill>
                  <a:srgbClr val="000066"/>
                </a:solidFill>
                <a:latin typeface="Arial" panose="020B0604020202020204" pitchFamily="34" charset="0"/>
                <a:ea typeface="楷体_GB2312" pitchFamily="49" charset="-122"/>
              </a:rPr>
              <a:t>的取值为0或1</a:t>
            </a:r>
            <a:r>
              <a:rPr lang="zh-CN" sz="2400" b="1" kern="1200" dirty="0">
                <a:solidFill>
                  <a:srgbClr val="000066"/>
                </a:solidFill>
                <a:latin typeface="Arial" panose="020B0604020202020204" pitchFamily="34" charset="0"/>
                <a:ea typeface="楷体_GB2312" pitchFamily="49" charset="-122"/>
              </a:rPr>
              <a:t>；</a:t>
            </a:r>
            <a:r>
              <a:rPr lang="en-US" sz="2400" b="1" kern="1200" dirty="0">
                <a:solidFill>
                  <a:srgbClr val="000066"/>
                </a:solidFill>
                <a:latin typeface="Arial" panose="020B0604020202020204" pitchFamily="34" charset="0"/>
                <a:ea typeface="楷体_GB2312" pitchFamily="49" charset="-122"/>
              </a:rPr>
              <a:t>2</a:t>
            </a:r>
            <a:r>
              <a:rPr lang="en-US" sz="2400" b="1" i="1" kern="1200" baseline="30000" dirty="0">
                <a:solidFill>
                  <a:srgbClr val="000066"/>
                </a:solidFill>
                <a:latin typeface="Arial" panose="020B0604020202020204" pitchFamily="34" charset="0"/>
                <a:ea typeface="楷体_GB2312" pitchFamily="49" charset="-122"/>
              </a:rPr>
              <a:t>i</a:t>
            </a:r>
            <a:r>
              <a:rPr sz="2400" b="1" kern="1200" dirty="0">
                <a:solidFill>
                  <a:srgbClr val="000066"/>
                </a:solidFill>
                <a:latin typeface="Arial" panose="020B0604020202020204" pitchFamily="34" charset="0"/>
                <a:ea typeface="楷体_GB2312" pitchFamily="49" charset="-122"/>
              </a:rPr>
              <a:t>表示位权</a:t>
            </a:r>
            <a:r>
              <a:rPr lang="zh-CN" altLang="en-US" sz="2400" b="1" kern="1200" dirty="0">
                <a:solidFill>
                  <a:srgbClr val="000066"/>
                </a:solidFill>
                <a:latin typeface="Arial" panose="020B0604020202020204" pitchFamily="34" charset="0"/>
                <a:ea typeface="楷体_GB2312" pitchFamily="49" charset="-122"/>
              </a:rPr>
              <a:t>。</a:t>
            </a:r>
            <a:endParaRPr lang="zh-CN" altLang="en-US" sz="2400" b="1" kern="1200" dirty="0">
              <a:solidFill>
                <a:srgbClr val="000066"/>
              </a:solidFill>
              <a:latin typeface="Arial" panose="020B0604020202020204" pitchFamily="34" charset="0"/>
              <a:ea typeface="楷体_GB2312" pitchFamily="49" charset="-122"/>
            </a:endParaRPr>
          </a:p>
        </p:txBody>
      </p:sp>
      <p:sp>
        <p:nvSpPr>
          <p:cNvPr id="7" name="Rectangle 3"/>
          <p:cNvSpPr>
            <a:spLocks noGrp="1"/>
          </p:cNvSpPr>
          <p:nvPr/>
        </p:nvSpPr>
        <p:spPr>
          <a:xfrm>
            <a:off x="685800" y="3581400"/>
            <a:ext cx="8003540" cy="1420495"/>
          </a:xfrm>
          <a:prstGeom prst="rect">
            <a:avLst/>
          </a:prstGeom>
          <a:noFill/>
          <a:ln w="9525">
            <a:noFill/>
          </a:ln>
        </p:spPr>
        <p:txBody>
          <a:bodyPr vert="horz" wrap="square" lIns="91440" tIns="45720" rIns="91440" bIns="45720" anchor="t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9pPr>
          </a:lstStyle>
          <a:p>
            <a:pPr marL="0" indent="0" algn="just" eaLnBrk="1" latinLnBrk="0" hangingPunct="1">
              <a:lnSpc>
                <a:spcPct val="120000"/>
              </a:lnSpc>
              <a:spcBef>
                <a:spcPts val="0"/>
              </a:spcBef>
              <a:buNone/>
            </a:pPr>
            <a:r>
              <a:rPr lang="en-US" altLang="zh-CN" sz="2400" b="1" kern="1200" dirty="0">
                <a:solidFill>
                  <a:srgbClr val="000066"/>
                </a:solidFill>
                <a:latin typeface="Arial" panose="020B0604020202020204" pitchFamily="34" charset="0"/>
                <a:ea typeface="楷体_GB2312" pitchFamily="49" charset="-122"/>
              </a:rPr>
              <a:t>       </a:t>
            </a:r>
            <a:r>
              <a:rPr sz="2400" b="1" kern="1200" dirty="0">
                <a:solidFill>
                  <a:srgbClr val="000066"/>
                </a:solidFill>
                <a:latin typeface="Arial" panose="020B0604020202020204" pitchFamily="34" charset="0"/>
                <a:ea typeface="楷体_GB2312" pitchFamily="49" charset="-122"/>
              </a:rPr>
              <a:t>由</a:t>
            </a:r>
            <a:r>
              <a:rPr lang="zh-CN" sz="2400" b="1" kern="1200" dirty="0">
                <a:solidFill>
                  <a:srgbClr val="000066"/>
                </a:solidFill>
                <a:latin typeface="Arial" panose="020B0604020202020204" pitchFamily="34" charset="0"/>
                <a:ea typeface="楷体_GB2312" pitchFamily="49" charset="-122"/>
              </a:rPr>
              <a:t>上</a:t>
            </a:r>
            <a:r>
              <a:rPr sz="2400" b="1" kern="1200" dirty="0">
                <a:solidFill>
                  <a:srgbClr val="000066"/>
                </a:solidFill>
                <a:latin typeface="Arial" panose="020B0604020202020204" pitchFamily="34" charset="0"/>
                <a:ea typeface="楷体_GB2312" pitchFamily="49" charset="-122"/>
              </a:rPr>
              <a:t>式可知，任何一个二进制数都可以按位权展开，然后求出加权系数</a:t>
            </a:r>
            <a:r>
              <a:rPr lang="en-US" altLang="zh-CN" sz="2400" b="1" i="1" dirty="0">
                <a:solidFill>
                  <a:srgbClr val="000066"/>
                </a:solidFill>
                <a:latin typeface="Arial" panose="020B0604020202020204" pitchFamily="34" charset="0"/>
                <a:ea typeface="楷体_GB2312" pitchFamily="49" charset="-122"/>
                <a:sym typeface="+mn-ea"/>
              </a:rPr>
              <a:t>k</a:t>
            </a:r>
            <a:r>
              <a:rPr lang="en-US" altLang="zh-CN" sz="2400" b="1" i="1" baseline="-25000" dirty="0">
                <a:solidFill>
                  <a:srgbClr val="000066"/>
                </a:solidFill>
                <a:latin typeface="Arial" panose="020B0604020202020204" pitchFamily="34" charset="0"/>
                <a:ea typeface="楷体_GB2312" pitchFamily="49" charset="-122"/>
                <a:sym typeface="+mn-ea"/>
              </a:rPr>
              <a:t>i</a:t>
            </a:r>
            <a:r>
              <a:rPr sz="2400" b="1" kern="1200" dirty="0">
                <a:solidFill>
                  <a:srgbClr val="000066"/>
                </a:solidFill>
                <a:latin typeface="Arial" panose="020B0604020202020204" pitchFamily="34" charset="0"/>
                <a:ea typeface="楷体_GB2312" pitchFamily="49" charset="-122"/>
              </a:rPr>
              <a:t>与位权</a:t>
            </a:r>
            <a:r>
              <a:rPr lang="en-US" sz="2400" b="1" dirty="0">
                <a:solidFill>
                  <a:srgbClr val="000066"/>
                </a:solidFill>
                <a:latin typeface="Arial" panose="020B0604020202020204" pitchFamily="34" charset="0"/>
                <a:ea typeface="楷体_GB2312" pitchFamily="49" charset="-122"/>
                <a:sym typeface="+mn-ea"/>
              </a:rPr>
              <a:t>2</a:t>
            </a:r>
            <a:r>
              <a:rPr lang="en-US" sz="2400" b="1" i="1" baseline="30000" dirty="0">
                <a:solidFill>
                  <a:srgbClr val="000066"/>
                </a:solidFill>
                <a:latin typeface="Arial" panose="020B0604020202020204" pitchFamily="34" charset="0"/>
                <a:ea typeface="楷体_GB2312" pitchFamily="49" charset="-122"/>
                <a:sym typeface="+mn-ea"/>
              </a:rPr>
              <a:t>i</a:t>
            </a:r>
            <a:r>
              <a:rPr sz="2400" b="1" kern="1200" dirty="0">
                <a:solidFill>
                  <a:srgbClr val="000066"/>
                </a:solidFill>
                <a:latin typeface="Arial" panose="020B0604020202020204" pitchFamily="34" charset="0"/>
                <a:ea typeface="楷体_GB2312" pitchFamily="49" charset="-122"/>
              </a:rPr>
              <a:t>的乘积，再把各乘积项相加便可得到十进制数，这种展开方法称为位权展开法。</a:t>
            </a:r>
            <a:endParaRPr sz="2400" b="1" kern="1200" dirty="0">
              <a:solidFill>
                <a:srgbClr val="000066"/>
              </a:solidFill>
              <a:latin typeface="Arial" panose="020B0604020202020204" pitchFamily="34" charset="0"/>
              <a:ea typeface="楷体_GB2312" pitchFamily="49" charset="-122"/>
            </a:endParaRPr>
          </a:p>
        </p:txBody>
      </p:sp>
      <p:graphicFrame>
        <p:nvGraphicFramePr>
          <p:cNvPr id="4" name="对象 -2147482608"/>
          <p:cNvGraphicFramePr>
            <a:graphicFrameLocks noChangeAspect="1"/>
          </p:cNvGraphicFramePr>
          <p:nvPr/>
        </p:nvGraphicFramePr>
        <p:xfrm>
          <a:off x="990600" y="5486400"/>
          <a:ext cx="7378065" cy="74993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" name="" r:id="rId3" imgW="3871595" imgH="393700" progId="Equation.DSMT4">
                  <p:embed/>
                </p:oleObj>
              </mc:Choice>
              <mc:Fallback>
                <p:oleObj name="" r:id="rId3" imgW="3871595" imgH="393700" progId="Equation.DSMT4">
                  <p:embed/>
                  <p:pic>
                    <p:nvPicPr>
                      <p:cNvPr id="0" name="图片 7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990600" y="5486400"/>
                        <a:ext cx="7378065" cy="74993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9" name="Rectangle 3"/>
          <p:cNvSpPr>
            <a:spLocks noGrp="1"/>
          </p:cNvSpPr>
          <p:nvPr/>
        </p:nvSpPr>
        <p:spPr>
          <a:xfrm>
            <a:off x="1295400" y="4953000"/>
            <a:ext cx="7152005" cy="539115"/>
          </a:xfrm>
          <a:prstGeom prst="rect">
            <a:avLst/>
          </a:prstGeom>
          <a:noFill/>
          <a:ln w="9525">
            <a:noFill/>
          </a:ln>
        </p:spPr>
        <p:txBody>
          <a:bodyPr vert="horz" wrap="square" lIns="91440" tIns="45720" rIns="91440" bIns="45720" anchor="t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9pPr>
          </a:lstStyle>
          <a:p>
            <a:pPr marL="0" indent="0" algn="just" eaLnBrk="1" latinLnBrk="0" hangingPunct="1">
              <a:lnSpc>
                <a:spcPct val="120000"/>
              </a:lnSpc>
              <a:spcBef>
                <a:spcPts val="0"/>
              </a:spcBef>
              <a:buNone/>
            </a:pPr>
            <a:r>
              <a:rPr sz="2400" b="1" kern="1200" dirty="0">
                <a:solidFill>
                  <a:srgbClr val="000066"/>
                </a:solidFill>
                <a:latin typeface="Arial" panose="020B0604020202020204" pitchFamily="34" charset="0"/>
                <a:ea typeface="楷体_GB2312" pitchFamily="49" charset="-122"/>
              </a:rPr>
              <a:t>例如：二进制数11001.101按位权展开法可表示为</a:t>
            </a:r>
            <a:endParaRPr sz="2400" b="1" kern="1200" dirty="0">
              <a:solidFill>
                <a:srgbClr val="000066"/>
              </a:solidFill>
              <a:latin typeface="Arial" panose="020B0604020202020204" pitchFamily="34" charset="0"/>
              <a:ea typeface="楷体_GB2312" pitchFamily="49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500"/>
                            </p:stCondLst>
                            <p:childTnLst>
                              <p:par>
                                <p:cTn id="11" presetID="21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13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1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18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1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23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50" presetClass="entr" presetSubtype="0" decel="10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+.3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0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7" grpId="0"/>
      <p:bldP spid="9" grpId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6147" name="Rectangle 3"/>
          <p:cNvSpPr>
            <a:spLocks noGrp="1"/>
          </p:cNvSpPr>
          <p:nvPr>
            <p:ph idx="1"/>
          </p:nvPr>
        </p:nvSpPr>
        <p:spPr>
          <a:xfrm>
            <a:off x="685800" y="1772920"/>
            <a:ext cx="8003540" cy="1499235"/>
          </a:xfrm>
        </p:spPr>
        <p:txBody>
          <a:bodyPr vert="horz" wrap="square" lIns="91440" tIns="45720" rIns="91440" bIns="45720" anchor="t" anchorCtr="0"/>
          <a:p>
            <a:pPr marL="0" indent="0" eaLnBrk="1" latinLnBrk="0" hangingPunct="1">
              <a:lnSpc>
                <a:spcPct val="120000"/>
              </a:lnSpc>
              <a:spcBef>
                <a:spcPts val="0"/>
              </a:spcBef>
              <a:buNone/>
            </a:pPr>
            <a:r>
              <a:rPr lang="en-US" altLang="zh-CN" sz="2400" b="1" kern="1200" dirty="0">
                <a:solidFill>
                  <a:srgbClr val="000066"/>
                </a:solidFill>
                <a:latin typeface="Arial" panose="020B0604020202020204" pitchFamily="34" charset="0"/>
                <a:ea typeface="楷体_GB2312" pitchFamily="49" charset="-122"/>
              </a:rPr>
              <a:t>       </a:t>
            </a:r>
            <a:r>
              <a:rPr lang="zh-CN" altLang="en-US" sz="2400" b="1" kern="1200" dirty="0">
                <a:solidFill>
                  <a:srgbClr val="000066"/>
                </a:solidFill>
                <a:latin typeface="Arial" panose="020B0604020202020204" pitchFamily="34" charset="0"/>
                <a:ea typeface="楷体_GB2312" pitchFamily="49" charset="-122"/>
              </a:rPr>
              <a:t>八进制是以8为基数的计数体制，它有0、1、2、3、4、5、6、7八个数码，计数规则为“逢八进一”。任意一个n位整数，m位小数的八进制数N转换为十进制数可表示为</a:t>
            </a:r>
            <a:endParaRPr lang="zh-CN" altLang="en-US" sz="2400" b="1" kern="1200" dirty="0">
              <a:solidFill>
                <a:srgbClr val="000066"/>
              </a:solidFill>
              <a:latin typeface="Arial" panose="020B0604020202020204" pitchFamily="34" charset="0"/>
              <a:ea typeface="楷体_GB2312" pitchFamily="49" charset="-122"/>
            </a:endParaRPr>
          </a:p>
        </p:txBody>
      </p:sp>
      <p:sp>
        <p:nvSpPr>
          <p:cNvPr id="6148" name="TextBox 6"/>
          <p:cNvSpPr txBox="1"/>
          <p:nvPr/>
        </p:nvSpPr>
        <p:spPr>
          <a:xfrm>
            <a:off x="2819400" y="533400"/>
            <a:ext cx="5593080" cy="583565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5pPr>
          </a:lstStyle>
          <a:p>
            <a:pPr marL="0" lvl="0" indent="0" algn="l"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b="1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1.2 </a:t>
            </a:r>
            <a:r>
              <a:rPr lang="zh-CN" altLang="en-US" b="1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数制与码制</a:t>
            </a:r>
            <a:endParaRPr lang="zh-CN" altLang="en-US" b="1" dirty="0">
              <a:solidFill>
                <a:srgbClr val="FF0000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6150" name="灯片编号占位符 5"/>
          <p:cNvSpPr txBox="1">
            <a:spLocks noGrp="1"/>
          </p:cNvSpPr>
          <p:nvPr>
            <p:ph type="sldNum" sz="quarter" idx="12"/>
          </p:nvPr>
        </p:nvSpPr>
        <p:spPr>
          <a:xfrm>
            <a:off x="6553200" y="6537325"/>
            <a:ext cx="2133600" cy="244475"/>
          </a:xfrm>
        </p:spPr>
        <p:txBody>
          <a:bodyPr/>
          <a:p>
            <a:pPr marL="0" indent="0" algn="r" eaLnBrk="1" hangingPunct="1">
              <a:spcBef>
                <a:spcPct val="0"/>
              </a:spcBef>
              <a:buClrTx/>
              <a:buFontTx/>
              <a:buNone/>
            </a:pPr>
            <a:fld id="{9A0DB2DC-4C9A-4742-B13C-FB6460FD3503}" type="slidenum">
              <a:rPr lang="en-US" altLang="zh-CN" sz="1200" dirty="0">
                <a:solidFill>
                  <a:schemeClr val="bg1"/>
                </a:solidFill>
                <a:ea typeface="宋体" panose="02010600030101010101" pitchFamily="2" charset="-122"/>
              </a:rPr>
            </a:fld>
            <a:endParaRPr lang="en-US" altLang="zh-CN" sz="1200" dirty="0">
              <a:solidFill>
                <a:schemeClr val="bg1"/>
              </a:solidFill>
              <a:ea typeface="宋体" panose="02010600030101010101" pitchFamily="2" charset="-122"/>
            </a:endParaRPr>
          </a:p>
        </p:txBody>
      </p:sp>
      <p:sp>
        <p:nvSpPr>
          <p:cNvPr id="2" name="Rectangle 3"/>
          <p:cNvSpPr>
            <a:spLocks noGrp="1"/>
          </p:cNvSpPr>
          <p:nvPr/>
        </p:nvSpPr>
        <p:spPr>
          <a:xfrm>
            <a:off x="1295400" y="1295400"/>
            <a:ext cx="3844925" cy="553085"/>
          </a:xfrm>
          <a:prstGeom prst="rect">
            <a:avLst/>
          </a:prstGeom>
          <a:noFill/>
          <a:ln w="9525">
            <a:noFill/>
          </a:ln>
        </p:spPr>
        <p:txBody>
          <a:bodyPr vert="horz" wrap="square" lIns="91440" tIns="45720" rIns="91440" bIns="45720" anchor="t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9pPr>
          </a:lstStyle>
          <a:p>
            <a:pPr marL="0" indent="0" eaLnBrk="1" latinLnBrk="0" hangingPunct="1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2400" b="1" kern="1200" dirty="0">
                <a:solidFill>
                  <a:srgbClr val="FE09D6"/>
                </a:solidFill>
                <a:latin typeface="Times New Roman" panose="02020603050405020304" charset="0"/>
                <a:ea typeface="楷体_GB2312" pitchFamily="49" charset="-122"/>
                <a:cs typeface="Times New Roman" panose="02020603050405020304" charset="0"/>
              </a:rPr>
              <a:t>3. </a:t>
            </a:r>
            <a:r>
              <a:rPr lang="zh-CN" altLang="en-US" sz="2400" b="1" kern="1200" dirty="0">
                <a:solidFill>
                  <a:srgbClr val="FE09D6"/>
                </a:solidFill>
                <a:latin typeface="Times New Roman" panose="02020603050405020304" charset="0"/>
                <a:ea typeface="楷体_GB2312" pitchFamily="49" charset="-122"/>
                <a:cs typeface="Times New Roman" panose="02020603050405020304" charset="0"/>
              </a:rPr>
              <a:t>八</a:t>
            </a:r>
            <a:r>
              <a:rPr lang="en-US" sz="2400" b="1" kern="1200" dirty="0">
                <a:solidFill>
                  <a:srgbClr val="FE09D6"/>
                </a:solidFill>
                <a:latin typeface="Times New Roman" panose="02020603050405020304" charset="0"/>
                <a:ea typeface="楷体_GB2312" pitchFamily="49" charset="-122"/>
                <a:cs typeface="Times New Roman" panose="02020603050405020304" charset="0"/>
              </a:rPr>
              <a:t>进制</a:t>
            </a:r>
            <a:endParaRPr lang="en-US" sz="2400" b="1" kern="1200" dirty="0">
              <a:solidFill>
                <a:srgbClr val="FE09D6"/>
              </a:solidFill>
              <a:latin typeface="Times New Roman" panose="02020603050405020304" charset="0"/>
              <a:ea typeface="楷体_GB2312" pitchFamily="49" charset="-122"/>
              <a:cs typeface="Times New Roman" panose="02020603050405020304" charset="0"/>
            </a:endParaRPr>
          </a:p>
        </p:txBody>
      </p:sp>
      <p:sp>
        <p:nvSpPr>
          <p:cNvPr id="6" name="Rectangle 3"/>
          <p:cNvSpPr>
            <a:spLocks noGrp="1"/>
          </p:cNvSpPr>
          <p:nvPr/>
        </p:nvSpPr>
        <p:spPr>
          <a:xfrm>
            <a:off x="0" y="3830320"/>
            <a:ext cx="8003540" cy="484505"/>
          </a:xfrm>
          <a:prstGeom prst="rect">
            <a:avLst/>
          </a:prstGeom>
          <a:noFill/>
          <a:ln w="9525">
            <a:noFill/>
          </a:ln>
        </p:spPr>
        <p:txBody>
          <a:bodyPr vert="horz" wrap="square" lIns="91440" tIns="45720" rIns="91440" bIns="45720" anchor="t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9pPr>
          </a:lstStyle>
          <a:p>
            <a:pPr marL="0" indent="0" eaLnBrk="1" latinLnBrk="0" hangingPunct="1">
              <a:lnSpc>
                <a:spcPct val="120000"/>
              </a:lnSpc>
              <a:spcBef>
                <a:spcPts val="0"/>
              </a:spcBef>
              <a:buNone/>
            </a:pPr>
            <a:r>
              <a:rPr lang="en-US" altLang="zh-CN" sz="2400" b="1" kern="1200" dirty="0">
                <a:solidFill>
                  <a:srgbClr val="000066"/>
                </a:solidFill>
                <a:latin typeface="Arial" panose="020B0604020202020204" pitchFamily="34" charset="0"/>
                <a:ea typeface="楷体_GB2312" pitchFamily="49" charset="-122"/>
              </a:rPr>
              <a:t>       </a:t>
            </a:r>
            <a:r>
              <a:rPr lang="zh-CN" altLang="en-US" sz="2400" b="1" kern="1200" dirty="0">
                <a:solidFill>
                  <a:srgbClr val="000066"/>
                </a:solidFill>
                <a:latin typeface="Arial" panose="020B0604020202020204" pitchFamily="34" charset="0"/>
                <a:ea typeface="楷体_GB2312" pitchFamily="49" charset="-122"/>
              </a:rPr>
              <a:t>其中，</a:t>
            </a:r>
            <a:r>
              <a:rPr lang="en-US" altLang="zh-CN" sz="2400" b="1" i="1" kern="1200" dirty="0">
                <a:solidFill>
                  <a:srgbClr val="000066"/>
                </a:solidFill>
                <a:latin typeface="Arial" panose="020B0604020202020204" pitchFamily="34" charset="0"/>
                <a:ea typeface="楷体_GB2312" pitchFamily="49" charset="-122"/>
              </a:rPr>
              <a:t>k</a:t>
            </a:r>
            <a:r>
              <a:rPr lang="en-US" altLang="zh-CN" sz="2400" b="1" i="1" kern="1200" baseline="-25000" dirty="0">
                <a:solidFill>
                  <a:srgbClr val="000066"/>
                </a:solidFill>
                <a:latin typeface="Arial" panose="020B0604020202020204" pitchFamily="34" charset="0"/>
                <a:ea typeface="楷体_GB2312" pitchFamily="49" charset="-122"/>
              </a:rPr>
              <a:t>i</a:t>
            </a:r>
            <a:r>
              <a:rPr sz="2400" b="1" kern="1200" dirty="0">
                <a:solidFill>
                  <a:srgbClr val="000066"/>
                </a:solidFill>
                <a:latin typeface="Arial" panose="020B0604020202020204" pitchFamily="34" charset="0"/>
                <a:ea typeface="楷体_GB2312" pitchFamily="49" charset="-122"/>
              </a:rPr>
              <a:t>的取值为0~7中的某个数码</a:t>
            </a:r>
            <a:r>
              <a:rPr lang="zh-CN" altLang="en-US" sz="2400" b="1" kern="1200" dirty="0">
                <a:solidFill>
                  <a:srgbClr val="000066"/>
                </a:solidFill>
                <a:latin typeface="Arial" panose="020B0604020202020204" pitchFamily="34" charset="0"/>
                <a:ea typeface="楷体_GB2312" pitchFamily="49" charset="-122"/>
              </a:rPr>
              <a:t>。</a:t>
            </a:r>
            <a:endParaRPr lang="zh-CN" altLang="en-US" sz="2400" b="1" kern="1200" dirty="0">
              <a:solidFill>
                <a:srgbClr val="000066"/>
              </a:solidFill>
              <a:latin typeface="Arial" panose="020B0604020202020204" pitchFamily="34" charset="0"/>
              <a:ea typeface="楷体_GB2312" pitchFamily="49" charset="-122"/>
            </a:endParaRPr>
          </a:p>
        </p:txBody>
      </p:sp>
      <p:sp>
        <p:nvSpPr>
          <p:cNvPr id="9" name="Rectangle 3"/>
          <p:cNvSpPr>
            <a:spLocks noGrp="1"/>
          </p:cNvSpPr>
          <p:nvPr/>
        </p:nvSpPr>
        <p:spPr>
          <a:xfrm>
            <a:off x="1295400" y="4419600"/>
            <a:ext cx="7152005" cy="539115"/>
          </a:xfrm>
          <a:prstGeom prst="rect">
            <a:avLst/>
          </a:prstGeom>
          <a:noFill/>
          <a:ln w="9525">
            <a:noFill/>
          </a:ln>
        </p:spPr>
        <p:txBody>
          <a:bodyPr vert="horz" wrap="square" lIns="91440" tIns="45720" rIns="91440" bIns="45720" anchor="t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9pPr>
          </a:lstStyle>
          <a:p>
            <a:pPr marL="0" indent="0" algn="just" eaLnBrk="1" latinLnBrk="0" hangingPunct="1">
              <a:lnSpc>
                <a:spcPct val="120000"/>
              </a:lnSpc>
              <a:spcBef>
                <a:spcPts val="0"/>
              </a:spcBef>
              <a:buNone/>
            </a:pPr>
            <a:r>
              <a:rPr sz="2400" b="1" kern="1200" dirty="0">
                <a:solidFill>
                  <a:srgbClr val="000066"/>
                </a:solidFill>
                <a:latin typeface="Arial" panose="020B0604020202020204" pitchFamily="34" charset="0"/>
                <a:ea typeface="楷体_GB2312" pitchFamily="49" charset="-122"/>
              </a:rPr>
              <a:t>八进制数347.65按位权展开可以表示为</a:t>
            </a:r>
            <a:endParaRPr sz="2400" b="1" kern="1200" dirty="0">
              <a:solidFill>
                <a:srgbClr val="000066"/>
              </a:solidFill>
              <a:latin typeface="Arial" panose="020B0604020202020204" pitchFamily="34" charset="0"/>
              <a:ea typeface="楷体_GB2312" pitchFamily="49" charset="-122"/>
            </a:endParaRPr>
          </a:p>
        </p:txBody>
      </p:sp>
      <p:graphicFrame>
        <p:nvGraphicFramePr>
          <p:cNvPr id="3" name="对象 -2147482607"/>
          <p:cNvGraphicFramePr>
            <a:graphicFrameLocks noChangeAspect="1"/>
          </p:cNvGraphicFramePr>
          <p:nvPr/>
        </p:nvGraphicFramePr>
        <p:xfrm>
          <a:off x="1752600" y="3200400"/>
          <a:ext cx="5271770" cy="72136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" name="" r:id="rId1" imgW="2692400" imgH="368300" progId="Equation.DSMT4">
                  <p:embed/>
                </p:oleObj>
              </mc:Choice>
              <mc:Fallback>
                <p:oleObj name="" r:id="rId1" imgW="2692400" imgH="368300" progId="Equation.DSMT4">
                  <p:embed/>
                  <p:pic>
                    <p:nvPicPr>
                      <p:cNvPr id="0" name="图片 4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1752600" y="3200400"/>
                        <a:ext cx="5271770" cy="72136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" name="对象 -2147482605"/>
          <p:cNvGraphicFramePr>
            <a:graphicFrameLocks noChangeAspect="1"/>
          </p:cNvGraphicFramePr>
          <p:nvPr/>
        </p:nvGraphicFramePr>
        <p:xfrm>
          <a:off x="1371600" y="5105400"/>
          <a:ext cx="5734685" cy="89344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" name="" r:id="rId3" imgW="2526030" imgH="393700" progId="Equation.DSMT4">
                  <p:embed/>
                </p:oleObj>
              </mc:Choice>
              <mc:Fallback>
                <p:oleObj name="" r:id="rId3" imgW="2526030" imgH="393700" progId="Equation.DSMT4">
                  <p:embed/>
                  <p:pic>
                    <p:nvPicPr>
                      <p:cNvPr id="0" name="图片 9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371600" y="5105400"/>
                        <a:ext cx="5734685" cy="89344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9" presetClass="entr" presetSubtype="0" decel="10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500"/>
                            </p:stCondLst>
                            <p:childTnLst>
                              <p:par>
                                <p:cTn id="12" presetID="21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14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1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19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25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4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-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*.05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500" accel="50000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+.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500" accel="50000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1" dur="1000" decel="5000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9" grpId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6147" name="Rectangle 3"/>
          <p:cNvSpPr>
            <a:spLocks noGrp="1"/>
          </p:cNvSpPr>
          <p:nvPr>
            <p:ph idx="1"/>
          </p:nvPr>
        </p:nvSpPr>
        <p:spPr>
          <a:xfrm>
            <a:off x="685800" y="1696720"/>
            <a:ext cx="8003540" cy="1756410"/>
          </a:xfrm>
        </p:spPr>
        <p:txBody>
          <a:bodyPr vert="horz" wrap="square" lIns="91440" tIns="45720" rIns="91440" bIns="45720" anchor="t" anchorCtr="0"/>
          <a:p>
            <a:pPr marL="0" indent="0" eaLnBrk="1" latinLnBrk="0" hangingPunct="1">
              <a:lnSpc>
                <a:spcPct val="120000"/>
              </a:lnSpc>
              <a:spcBef>
                <a:spcPts val="0"/>
              </a:spcBef>
              <a:buNone/>
            </a:pPr>
            <a:r>
              <a:rPr lang="en-US" altLang="zh-CN" sz="2400" b="1" kern="1200" dirty="0">
                <a:solidFill>
                  <a:srgbClr val="000066"/>
                </a:solidFill>
                <a:latin typeface="Arial" panose="020B0604020202020204" pitchFamily="34" charset="0"/>
                <a:ea typeface="楷体_GB2312" pitchFamily="49" charset="-122"/>
              </a:rPr>
              <a:t>       </a:t>
            </a:r>
            <a:r>
              <a:rPr lang="zh-CN" altLang="en-US" sz="2400" b="1" kern="1200" dirty="0">
                <a:solidFill>
                  <a:srgbClr val="000066"/>
                </a:solidFill>
                <a:latin typeface="Arial" panose="020B0604020202020204" pitchFamily="34" charset="0"/>
                <a:ea typeface="楷体_GB2312" pitchFamily="49" charset="-122"/>
              </a:rPr>
              <a:t>十六进制有0</a:t>
            </a:r>
            <a:r>
              <a:rPr lang="en-US" altLang="zh-CN" sz="2400" b="1" kern="1200" dirty="0">
                <a:solidFill>
                  <a:srgbClr val="000066"/>
                </a:solidFill>
                <a:latin typeface="Arial" panose="020B0604020202020204" pitchFamily="34" charset="0"/>
                <a:ea typeface="楷体_GB2312" pitchFamily="49" charset="-122"/>
              </a:rPr>
              <a:t>~</a:t>
            </a:r>
            <a:r>
              <a:rPr lang="zh-CN" altLang="en-US" sz="2400" b="1" kern="1200" dirty="0">
                <a:solidFill>
                  <a:srgbClr val="000066"/>
                </a:solidFill>
                <a:latin typeface="Arial" panose="020B0604020202020204" pitchFamily="34" charset="0"/>
                <a:ea typeface="楷体_GB2312" pitchFamily="49" charset="-122"/>
              </a:rPr>
              <a:t>9、A、B、C、D、E、F共16个数码，其中A~F分别对应于十进制数的10~15。十六进制数的计数规则是“逢十六进一”。任意一个n位整数，m位小数的十六进制数N转换为十进制数可表示为</a:t>
            </a:r>
            <a:endParaRPr lang="zh-CN" altLang="en-US" sz="2400" b="1" kern="1200" dirty="0">
              <a:solidFill>
                <a:srgbClr val="000066"/>
              </a:solidFill>
              <a:latin typeface="Arial" panose="020B0604020202020204" pitchFamily="34" charset="0"/>
              <a:ea typeface="楷体_GB2312" pitchFamily="49" charset="-122"/>
            </a:endParaRPr>
          </a:p>
        </p:txBody>
      </p:sp>
      <p:sp>
        <p:nvSpPr>
          <p:cNvPr id="6148" name="TextBox 6"/>
          <p:cNvSpPr txBox="1"/>
          <p:nvPr/>
        </p:nvSpPr>
        <p:spPr>
          <a:xfrm>
            <a:off x="2819400" y="533400"/>
            <a:ext cx="5593080" cy="583565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5pPr>
          </a:lstStyle>
          <a:p>
            <a:pPr marL="0" lvl="0" indent="0" algn="l"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b="1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1.2 </a:t>
            </a:r>
            <a:r>
              <a:rPr lang="zh-CN" altLang="en-US" b="1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数制与码制</a:t>
            </a:r>
            <a:endParaRPr lang="zh-CN" altLang="en-US" b="1" dirty="0">
              <a:solidFill>
                <a:srgbClr val="FF0000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6150" name="灯片编号占位符 5"/>
          <p:cNvSpPr txBox="1">
            <a:spLocks noGrp="1"/>
          </p:cNvSpPr>
          <p:nvPr>
            <p:ph type="sldNum" sz="quarter" idx="12"/>
          </p:nvPr>
        </p:nvSpPr>
        <p:spPr>
          <a:xfrm>
            <a:off x="6553200" y="6537325"/>
            <a:ext cx="2133600" cy="244475"/>
          </a:xfrm>
        </p:spPr>
        <p:txBody>
          <a:bodyPr/>
          <a:p>
            <a:pPr marL="0" indent="0" algn="r" eaLnBrk="1" hangingPunct="1">
              <a:spcBef>
                <a:spcPct val="0"/>
              </a:spcBef>
              <a:buClrTx/>
              <a:buFontTx/>
              <a:buNone/>
            </a:pPr>
            <a:fld id="{9A0DB2DC-4C9A-4742-B13C-FB6460FD3503}" type="slidenum">
              <a:rPr lang="en-US" altLang="zh-CN" sz="1200" dirty="0">
                <a:solidFill>
                  <a:schemeClr val="bg1"/>
                </a:solidFill>
                <a:ea typeface="宋体" panose="02010600030101010101" pitchFamily="2" charset="-122"/>
              </a:rPr>
            </a:fld>
            <a:endParaRPr lang="en-US" altLang="zh-CN" sz="1200" dirty="0">
              <a:solidFill>
                <a:schemeClr val="bg1"/>
              </a:solidFill>
              <a:ea typeface="宋体" panose="02010600030101010101" pitchFamily="2" charset="-122"/>
            </a:endParaRPr>
          </a:p>
        </p:txBody>
      </p:sp>
      <p:sp>
        <p:nvSpPr>
          <p:cNvPr id="2" name="Rectangle 3"/>
          <p:cNvSpPr>
            <a:spLocks noGrp="1"/>
          </p:cNvSpPr>
          <p:nvPr/>
        </p:nvSpPr>
        <p:spPr>
          <a:xfrm>
            <a:off x="1295400" y="1219200"/>
            <a:ext cx="3844925" cy="553085"/>
          </a:xfrm>
          <a:prstGeom prst="rect">
            <a:avLst/>
          </a:prstGeom>
          <a:noFill/>
          <a:ln w="9525">
            <a:noFill/>
          </a:ln>
        </p:spPr>
        <p:txBody>
          <a:bodyPr vert="horz" wrap="square" lIns="91440" tIns="45720" rIns="91440" bIns="45720" anchor="t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9pPr>
          </a:lstStyle>
          <a:p>
            <a:pPr marL="0" indent="0" eaLnBrk="1" latinLnBrk="0" hangingPunct="1">
              <a:lnSpc>
                <a:spcPct val="120000"/>
              </a:lnSpc>
              <a:spcBef>
                <a:spcPts val="0"/>
              </a:spcBef>
              <a:buNone/>
            </a:pPr>
            <a:r>
              <a:rPr sz="2400" b="1" kern="1200" dirty="0">
                <a:solidFill>
                  <a:srgbClr val="FE09D6"/>
                </a:solidFill>
                <a:latin typeface="Times New Roman" panose="02020603050405020304" charset="0"/>
                <a:ea typeface="楷体_GB2312" pitchFamily="49" charset="-122"/>
                <a:cs typeface="Times New Roman" panose="02020603050405020304" charset="0"/>
              </a:rPr>
              <a:t>4. 十六进制</a:t>
            </a:r>
            <a:endParaRPr sz="2400" b="1" kern="1200" dirty="0">
              <a:solidFill>
                <a:srgbClr val="FE09D6"/>
              </a:solidFill>
              <a:latin typeface="Times New Roman" panose="02020603050405020304" charset="0"/>
              <a:ea typeface="楷体_GB2312" pitchFamily="49" charset="-122"/>
              <a:cs typeface="Times New Roman" panose="02020603050405020304" charset="0"/>
            </a:endParaRPr>
          </a:p>
        </p:txBody>
      </p:sp>
      <p:sp>
        <p:nvSpPr>
          <p:cNvPr id="9" name="Rectangle 3"/>
          <p:cNvSpPr>
            <a:spLocks noGrp="1"/>
          </p:cNvSpPr>
          <p:nvPr/>
        </p:nvSpPr>
        <p:spPr>
          <a:xfrm>
            <a:off x="1295400" y="4724400"/>
            <a:ext cx="7152005" cy="539115"/>
          </a:xfrm>
          <a:prstGeom prst="rect">
            <a:avLst/>
          </a:prstGeom>
          <a:noFill/>
          <a:ln w="9525">
            <a:noFill/>
          </a:ln>
        </p:spPr>
        <p:txBody>
          <a:bodyPr vert="horz" wrap="square" lIns="91440" tIns="45720" rIns="91440" bIns="45720" anchor="t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9pPr>
          </a:lstStyle>
          <a:p>
            <a:pPr marL="0" indent="0" algn="just" eaLnBrk="1" latinLnBrk="0" hangingPunct="1">
              <a:lnSpc>
                <a:spcPct val="120000"/>
              </a:lnSpc>
              <a:spcBef>
                <a:spcPts val="0"/>
              </a:spcBef>
              <a:buNone/>
            </a:pPr>
            <a:r>
              <a:rPr lang="zh-CN" sz="2400" b="1" kern="1200" dirty="0">
                <a:solidFill>
                  <a:srgbClr val="000066"/>
                </a:solidFill>
                <a:latin typeface="Arial" panose="020B0604020202020204" pitchFamily="34" charset="0"/>
                <a:ea typeface="楷体_GB2312" pitchFamily="49" charset="-122"/>
              </a:rPr>
              <a:t>十六</a:t>
            </a:r>
            <a:r>
              <a:rPr sz="2400" b="1" kern="1200" dirty="0">
                <a:solidFill>
                  <a:srgbClr val="000066"/>
                </a:solidFill>
                <a:latin typeface="Arial" panose="020B0604020202020204" pitchFamily="34" charset="0"/>
                <a:ea typeface="楷体_GB2312" pitchFamily="49" charset="-122"/>
              </a:rPr>
              <a:t>进制数52A.C按位权展开可表示为</a:t>
            </a:r>
            <a:endParaRPr sz="2400" b="1" kern="1200" dirty="0">
              <a:solidFill>
                <a:srgbClr val="000066"/>
              </a:solidFill>
              <a:latin typeface="Arial" panose="020B0604020202020204" pitchFamily="34" charset="0"/>
              <a:ea typeface="楷体_GB2312" pitchFamily="49" charset="-122"/>
            </a:endParaRPr>
          </a:p>
        </p:txBody>
      </p:sp>
      <p:graphicFrame>
        <p:nvGraphicFramePr>
          <p:cNvPr id="3" name="对象 -2147482604"/>
          <p:cNvGraphicFramePr>
            <a:graphicFrameLocks noChangeAspect="1"/>
          </p:cNvGraphicFramePr>
          <p:nvPr/>
        </p:nvGraphicFramePr>
        <p:xfrm>
          <a:off x="1905000" y="3505200"/>
          <a:ext cx="5229860" cy="68326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76" name="" r:id="rId1" imgW="2819400" imgH="368300" progId="Equation.DSMT4">
                  <p:embed/>
                </p:oleObj>
              </mc:Choice>
              <mc:Fallback>
                <p:oleObj name="" r:id="rId1" imgW="2819400" imgH="368300" progId="Equation.DSMT4">
                  <p:embed/>
                  <p:pic>
                    <p:nvPicPr>
                      <p:cNvPr id="0" name="图片 3075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1905000" y="3505200"/>
                        <a:ext cx="5229860" cy="68326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7" name="Rectangle 3"/>
          <p:cNvSpPr>
            <a:spLocks noGrp="1"/>
          </p:cNvSpPr>
          <p:nvPr/>
        </p:nvSpPr>
        <p:spPr>
          <a:xfrm>
            <a:off x="685800" y="4135120"/>
            <a:ext cx="8003540" cy="484505"/>
          </a:xfrm>
          <a:prstGeom prst="rect">
            <a:avLst/>
          </a:prstGeom>
          <a:noFill/>
          <a:ln w="9525">
            <a:noFill/>
          </a:ln>
        </p:spPr>
        <p:txBody>
          <a:bodyPr vert="horz" wrap="square" lIns="91440" tIns="45720" rIns="91440" bIns="45720" anchor="t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9pPr>
          </a:lstStyle>
          <a:p>
            <a:pPr marL="0" indent="0" eaLnBrk="1" latinLnBrk="0" hangingPunct="1">
              <a:lnSpc>
                <a:spcPct val="120000"/>
              </a:lnSpc>
              <a:spcBef>
                <a:spcPts val="0"/>
              </a:spcBef>
              <a:buNone/>
            </a:pPr>
            <a:r>
              <a:rPr lang="zh-CN" altLang="en-US" sz="2400" b="1" kern="1200" dirty="0">
                <a:solidFill>
                  <a:srgbClr val="000066"/>
                </a:solidFill>
                <a:latin typeface="Arial" panose="020B0604020202020204" pitchFamily="34" charset="0"/>
                <a:ea typeface="楷体_GB2312" pitchFamily="49" charset="-122"/>
              </a:rPr>
              <a:t>式中，</a:t>
            </a:r>
            <a:r>
              <a:rPr lang="en-US" altLang="zh-CN" sz="2400" b="1" i="1" kern="1200" dirty="0">
                <a:solidFill>
                  <a:srgbClr val="000066"/>
                </a:solidFill>
                <a:latin typeface="Arial" panose="020B0604020202020204" pitchFamily="34" charset="0"/>
                <a:ea typeface="楷体_GB2312" pitchFamily="49" charset="-122"/>
              </a:rPr>
              <a:t>k</a:t>
            </a:r>
            <a:r>
              <a:rPr lang="en-US" altLang="zh-CN" sz="2400" b="1" i="1" kern="1200" baseline="-25000" dirty="0">
                <a:solidFill>
                  <a:srgbClr val="000066"/>
                </a:solidFill>
                <a:latin typeface="Arial" panose="020B0604020202020204" pitchFamily="34" charset="0"/>
                <a:ea typeface="楷体_GB2312" pitchFamily="49" charset="-122"/>
              </a:rPr>
              <a:t>i</a:t>
            </a:r>
            <a:r>
              <a:rPr sz="2400" b="1" kern="1200" dirty="0">
                <a:solidFill>
                  <a:srgbClr val="000066"/>
                </a:solidFill>
                <a:latin typeface="Arial" panose="020B0604020202020204" pitchFamily="34" charset="0"/>
                <a:ea typeface="楷体_GB2312" pitchFamily="49" charset="-122"/>
              </a:rPr>
              <a:t>的取值为0~9和A~F中的某个数码</a:t>
            </a:r>
            <a:r>
              <a:rPr lang="zh-CN" altLang="en-US" sz="2400" b="1" kern="1200" dirty="0">
                <a:solidFill>
                  <a:srgbClr val="000066"/>
                </a:solidFill>
                <a:latin typeface="Arial" panose="020B0604020202020204" pitchFamily="34" charset="0"/>
                <a:ea typeface="楷体_GB2312" pitchFamily="49" charset="-122"/>
              </a:rPr>
              <a:t>。</a:t>
            </a:r>
            <a:endParaRPr lang="zh-CN" altLang="en-US" sz="2400" b="1" kern="1200" dirty="0">
              <a:solidFill>
                <a:srgbClr val="000066"/>
              </a:solidFill>
              <a:latin typeface="Arial" panose="020B0604020202020204" pitchFamily="34" charset="0"/>
              <a:ea typeface="楷体_GB2312" pitchFamily="49" charset="-122"/>
            </a:endParaRPr>
          </a:p>
        </p:txBody>
      </p:sp>
      <p:graphicFrame>
        <p:nvGraphicFramePr>
          <p:cNvPr id="4" name="对象 -2147482602"/>
          <p:cNvGraphicFramePr>
            <a:graphicFrameLocks noChangeAspect="1"/>
          </p:cNvGraphicFramePr>
          <p:nvPr/>
        </p:nvGraphicFramePr>
        <p:xfrm>
          <a:off x="1447800" y="5410200"/>
          <a:ext cx="5819775" cy="93472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" name="" r:id="rId3" imgW="2449830" imgH="393700" progId="Equation.DSMT4">
                  <p:embed/>
                </p:oleObj>
              </mc:Choice>
              <mc:Fallback>
                <p:oleObj name="" r:id="rId3" imgW="2449830" imgH="393700" progId="Equation.DSMT4">
                  <p:embed/>
                  <p:pic>
                    <p:nvPicPr>
                      <p:cNvPr id="0" name="图片 7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447800" y="5410200"/>
                        <a:ext cx="5819775" cy="93472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8" presetClass="entr" presetSubtype="0" ac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80000">
                                          <p:val>
                                            <p:fltVal val="90"/>
                                          </p:val>
                                        </p:tav>
                                        <p:tav tm="8000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-1"/>
                                          </p:val>
                                        </p:tav>
                                        <p:tav tm="50000">
                                          <p:val>
                                            <p:fltVal val="0.9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1000"/>
                            </p:stCondLst>
                            <p:childTnLst>
                              <p:par>
                                <p:cTn id="12" presetID="21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14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1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19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5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 fmla="#ppt_x+(cos(-2*pi*(1-$))*-#ppt_x-sin(-2*pi*(1-$))*(1-#ppt_y))*(1-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+(sin(-2*pi*(1-$))*-#ppt_x+cos(-2*pi*(1-$))*(1-#ppt_y))*(1-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  <p:bldP spid="7" grpId="0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6146" name="Rectangle 2"/>
          <p:cNvSpPr>
            <a:spLocks noGrp="1"/>
          </p:cNvSpPr>
          <p:nvPr>
            <p:ph type="title"/>
          </p:nvPr>
        </p:nvSpPr>
        <p:spPr>
          <a:xfrm>
            <a:off x="762000" y="1142683"/>
            <a:ext cx="5257800" cy="868362"/>
          </a:xfrm>
        </p:spPr>
        <p:txBody>
          <a:bodyPr vert="horz" wrap="square" lIns="91440" tIns="45720" rIns="91440" bIns="45720" anchor="ctr" anchorCtr="0"/>
          <a:p>
            <a:pPr algn="l" eaLnBrk="1" hangingPunct="1"/>
            <a:r>
              <a:rPr lang="en-US" altLang="zh-CN" sz="2800" i="0" dirty="0">
                <a:solidFill>
                  <a:srgbClr val="0070C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1.2.2 </a:t>
            </a:r>
            <a:r>
              <a:rPr lang="zh-CN" altLang="en-US" sz="2800" i="0" dirty="0">
                <a:solidFill>
                  <a:srgbClr val="0070C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数制之间的转换</a:t>
            </a:r>
            <a:endParaRPr lang="zh-CN" altLang="en-US" sz="2800" i="0" dirty="0">
              <a:solidFill>
                <a:srgbClr val="0070C0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6147" name="Rectangle 3"/>
          <p:cNvSpPr>
            <a:spLocks noGrp="1"/>
          </p:cNvSpPr>
          <p:nvPr>
            <p:ph idx="1"/>
          </p:nvPr>
        </p:nvSpPr>
        <p:spPr>
          <a:xfrm>
            <a:off x="609600" y="2334260"/>
            <a:ext cx="8003540" cy="974725"/>
          </a:xfrm>
        </p:spPr>
        <p:txBody>
          <a:bodyPr vert="horz" wrap="square" lIns="91440" tIns="45720" rIns="91440" bIns="45720" anchor="t" anchorCtr="0"/>
          <a:p>
            <a:pPr marL="0" indent="0" eaLnBrk="1" latinLnBrk="0" hangingPunct="1">
              <a:lnSpc>
                <a:spcPct val="120000"/>
              </a:lnSpc>
              <a:spcBef>
                <a:spcPts val="0"/>
              </a:spcBef>
              <a:buNone/>
            </a:pPr>
            <a:r>
              <a:rPr lang="en-US" altLang="zh-CN" sz="2400" b="1" kern="1200" dirty="0">
                <a:solidFill>
                  <a:srgbClr val="000066"/>
                </a:solidFill>
                <a:latin typeface="Arial" panose="020B0604020202020204" pitchFamily="34" charset="0"/>
                <a:ea typeface="楷体_GB2312" pitchFamily="49" charset="-122"/>
              </a:rPr>
              <a:t>       </a:t>
            </a:r>
            <a:r>
              <a:rPr lang="zh-CN" altLang="en-US" sz="2400" b="1" kern="1200" dirty="0">
                <a:solidFill>
                  <a:srgbClr val="000066"/>
                </a:solidFill>
                <a:latin typeface="Arial" panose="020B0604020202020204" pitchFamily="34" charset="0"/>
                <a:ea typeface="楷体_GB2312" pitchFamily="49" charset="-122"/>
              </a:rPr>
              <a:t>将二进制、八进制、十六进制等进制的数转换成十进制数时，都可以按位权展开法进行。</a:t>
            </a:r>
            <a:endParaRPr lang="zh-CN" altLang="en-US" sz="2400" b="1" kern="1200" dirty="0">
              <a:solidFill>
                <a:srgbClr val="000066"/>
              </a:solidFill>
              <a:latin typeface="Arial" panose="020B0604020202020204" pitchFamily="34" charset="0"/>
              <a:ea typeface="楷体_GB2312" pitchFamily="49" charset="-122"/>
            </a:endParaRPr>
          </a:p>
        </p:txBody>
      </p:sp>
      <p:sp>
        <p:nvSpPr>
          <p:cNvPr id="6148" name="TextBox 6"/>
          <p:cNvSpPr txBox="1"/>
          <p:nvPr/>
        </p:nvSpPr>
        <p:spPr>
          <a:xfrm>
            <a:off x="2819400" y="533400"/>
            <a:ext cx="5593080" cy="583565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5pPr>
          </a:lstStyle>
          <a:p>
            <a:pPr marL="0" lvl="0" indent="0" algn="l"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b="1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1.2 </a:t>
            </a:r>
            <a:r>
              <a:rPr lang="zh-CN" altLang="en-US" b="1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数制与码制</a:t>
            </a:r>
            <a:endParaRPr lang="zh-CN" altLang="en-US" b="1" dirty="0">
              <a:solidFill>
                <a:srgbClr val="FF0000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6150" name="灯片编号占位符 5"/>
          <p:cNvSpPr txBox="1">
            <a:spLocks noGrp="1"/>
          </p:cNvSpPr>
          <p:nvPr>
            <p:ph type="sldNum" sz="quarter" idx="12"/>
          </p:nvPr>
        </p:nvSpPr>
        <p:spPr>
          <a:xfrm>
            <a:off x="6553200" y="6537325"/>
            <a:ext cx="2133600" cy="244475"/>
          </a:xfrm>
        </p:spPr>
        <p:txBody>
          <a:bodyPr/>
          <a:p>
            <a:pPr marL="0" indent="0" algn="r" eaLnBrk="1" hangingPunct="1">
              <a:spcBef>
                <a:spcPct val="0"/>
              </a:spcBef>
              <a:buClrTx/>
              <a:buFontTx/>
              <a:buNone/>
            </a:pPr>
            <a:fld id="{9A0DB2DC-4C9A-4742-B13C-FB6460FD3503}" type="slidenum">
              <a:rPr lang="en-US" altLang="zh-CN" sz="1200" dirty="0">
                <a:solidFill>
                  <a:schemeClr val="bg1"/>
                </a:solidFill>
                <a:ea typeface="宋体" panose="02010600030101010101" pitchFamily="2" charset="-122"/>
              </a:rPr>
            </a:fld>
            <a:endParaRPr lang="en-US" altLang="zh-CN" sz="1200" dirty="0">
              <a:solidFill>
                <a:schemeClr val="bg1"/>
              </a:solidFill>
              <a:ea typeface="宋体" panose="02010600030101010101" pitchFamily="2" charset="-122"/>
            </a:endParaRPr>
          </a:p>
        </p:txBody>
      </p:sp>
      <p:sp>
        <p:nvSpPr>
          <p:cNvPr id="2" name="Rectangle 3"/>
          <p:cNvSpPr>
            <a:spLocks noGrp="1"/>
          </p:cNvSpPr>
          <p:nvPr/>
        </p:nvSpPr>
        <p:spPr>
          <a:xfrm>
            <a:off x="1267460" y="1800860"/>
            <a:ext cx="4481195" cy="546100"/>
          </a:xfrm>
          <a:prstGeom prst="rect">
            <a:avLst/>
          </a:prstGeom>
          <a:noFill/>
          <a:ln w="9525">
            <a:noFill/>
          </a:ln>
        </p:spPr>
        <p:txBody>
          <a:bodyPr vert="horz" wrap="square" lIns="91440" tIns="45720" rIns="91440" bIns="45720" anchor="t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9pPr>
          </a:lstStyle>
          <a:p>
            <a:pPr marL="0" indent="0" eaLnBrk="1" latinLnBrk="0" hangingPunct="1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2400" b="1" kern="1200" dirty="0">
                <a:solidFill>
                  <a:srgbClr val="FE09D6"/>
                </a:solidFill>
                <a:latin typeface="Times New Roman" panose="02020603050405020304" charset="0"/>
                <a:ea typeface="楷体_GB2312" pitchFamily="49" charset="-122"/>
                <a:cs typeface="Times New Roman" panose="02020603050405020304" charset="0"/>
              </a:rPr>
              <a:t>1. 其他进制转换成十进制</a:t>
            </a:r>
            <a:endParaRPr lang="en-US" sz="2400" b="1" kern="1200" dirty="0">
              <a:solidFill>
                <a:srgbClr val="FE09D6"/>
              </a:solidFill>
              <a:latin typeface="Times New Roman" panose="02020603050405020304" charset="0"/>
              <a:ea typeface="楷体_GB2312" pitchFamily="49" charset="-122"/>
              <a:cs typeface="Times New Roman" panose="02020603050405020304" charset="0"/>
            </a:endParaRPr>
          </a:p>
        </p:txBody>
      </p:sp>
      <p:sp>
        <p:nvSpPr>
          <p:cNvPr id="3" name="Rectangle 3"/>
          <p:cNvSpPr>
            <a:spLocks noGrp="1"/>
          </p:cNvSpPr>
          <p:nvPr/>
        </p:nvSpPr>
        <p:spPr>
          <a:xfrm>
            <a:off x="660400" y="3680460"/>
            <a:ext cx="8003540" cy="2692400"/>
          </a:xfrm>
          <a:prstGeom prst="rect">
            <a:avLst/>
          </a:prstGeom>
          <a:noFill/>
          <a:ln w="9525">
            <a:noFill/>
          </a:ln>
        </p:spPr>
        <p:txBody>
          <a:bodyPr vert="horz" wrap="square" lIns="91440" tIns="45720" rIns="91440" bIns="45720" anchor="t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9pPr>
          </a:lstStyle>
          <a:p>
            <a:pPr marL="0" indent="0" eaLnBrk="1" latinLnBrk="0" hangingPunct="1">
              <a:lnSpc>
                <a:spcPct val="120000"/>
              </a:lnSpc>
              <a:spcBef>
                <a:spcPts val="0"/>
              </a:spcBef>
              <a:buNone/>
            </a:pPr>
            <a:r>
              <a:rPr lang="en-US" altLang="zh-CN" sz="2400" b="1" kern="1200" dirty="0">
                <a:solidFill>
                  <a:srgbClr val="000066"/>
                </a:solidFill>
                <a:latin typeface="Arial" panose="020B0604020202020204" pitchFamily="34" charset="0"/>
                <a:ea typeface="楷体_GB2312" pitchFamily="49" charset="-122"/>
              </a:rPr>
              <a:t>       </a:t>
            </a:r>
            <a:r>
              <a:rPr lang="zh-CN" altLang="en-US" sz="2400" b="1" kern="1200" dirty="0">
                <a:solidFill>
                  <a:srgbClr val="000066"/>
                </a:solidFill>
                <a:latin typeface="Arial" panose="020B0604020202020204" pitchFamily="34" charset="0"/>
                <a:ea typeface="楷体_GB2312" pitchFamily="49" charset="-122"/>
              </a:rPr>
              <a:t>一个十进制数N转换成R (二进制、八进制、六十进制等等) 进制数时，应将N分成整数部分Z和小数部分F分别进行处理。整数部分是Z除以R取余，</a:t>
            </a:r>
            <a:r>
              <a:rPr lang="zh-CN" altLang="en-US" sz="2400" b="1" dirty="0">
                <a:solidFill>
                  <a:srgbClr val="000066"/>
                </a:solidFill>
                <a:latin typeface="Arial" panose="020B0604020202020204" pitchFamily="34" charset="0"/>
                <a:ea typeface="楷体_GB2312" pitchFamily="49" charset="-122"/>
                <a:sym typeface="+mn-ea"/>
              </a:rPr>
              <a:t>直到商为0，再将所有的余数按顺序写在一起就构成了R 进制数的整数部分；</a:t>
            </a:r>
            <a:r>
              <a:rPr lang="zh-CN" altLang="en-US" sz="2400" b="1" kern="1200" dirty="0">
                <a:solidFill>
                  <a:srgbClr val="000066"/>
                </a:solidFill>
                <a:latin typeface="Arial" panose="020B0604020202020204" pitchFamily="34" charset="0"/>
                <a:ea typeface="楷体_GB2312" pitchFamily="49" charset="-122"/>
              </a:rPr>
              <a:t>小数部分是F乘以R取整，</a:t>
            </a:r>
            <a:r>
              <a:rPr lang="zh-CN" altLang="en-US" sz="2400" b="1" dirty="0">
                <a:solidFill>
                  <a:srgbClr val="000066"/>
                </a:solidFill>
                <a:latin typeface="Arial" panose="020B0604020202020204" pitchFamily="34" charset="0"/>
                <a:ea typeface="楷体_GB2312" pitchFamily="49" charset="-122"/>
                <a:sym typeface="+mn-ea"/>
              </a:rPr>
              <a:t>直到小数为0，将所有的整数按顺序写在一起就构成了R 进制数的小数部分</a:t>
            </a:r>
            <a:r>
              <a:rPr lang="zh-CN" altLang="en-US" sz="2400" b="1" kern="1200" dirty="0">
                <a:solidFill>
                  <a:srgbClr val="000066"/>
                </a:solidFill>
                <a:latin typeface="Arial" panose="020B0604020202020204" pitchFamily="34" charset="0"/>
                <a:ea typeface="楷体_GB2312" pitchFamily="49" charset="-122"/>
              </a:rPr>
              <a:t>。</a:t>
            </a:r>
            <a:endParaRPr lang="zh-CN" altLang="en-US" sz="2400" b="1" kern="1200" dirty="0">
              <a:solidFill>
                <a:srgbClr val="000066"/>
              </a:solidFill>
              <a:latin typeface="Arial" panose="020B0604020202020204" pitchFamily="34" charset="0"/>
              <a:ea typeface="楷体_GB2312" pitchFamily="49" charset="-122"/>
            </a:endParaRPr>
          </a:p>
        </p:txBody>
      </p:sp>
      <p:sp>
        <p:nvSpPr>
          <p:cNvPr id="4" name="Rectangle 3"/>
          <p:cNvSpPr>
            <a:spLocks noGrp="1"/>
          </p:cNvSpPr>
          <p:nvPr/>
        </p:nvSpPr>
        <p:spPr>
          <a:xfrm>
            <a:off x="1262380" y="3230880"/>
            <a:ext cx="4481195" cy="546100"/>
          </a:xfrm>
          <a:prstGeom prst="rect">
            <a:avLst/>
          </a:prstGeom>
          <a:noFill/>
          <a:ln w="9525">
            <a:noFill/>
          </a:ln>
        </p:spPr>
        <p:txBody>
          <a:bodyPr vert="horz" wrap="square" lIns="91440" tIns="45720" rIns="91440" bIns="45720" anchor="t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9pPr>
          </a:lstStyle>
          <a:p>
            <a:pPr marL="0" indent="0" eaLnBrk="1" latinLnBrk="0" hangingPunct="1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2400" b="1" kern="1200" dirty="0">
                <a:solidFill>
                  <a:srgbClr val="FE09D6"/>
                </a:solidFill>
                <a:latin typeface="Times New Roman" panose="02020603050405020304" charset="0"/>
                <a:ea typeface="楷体_GB2312" pitchFamily="49" charset="-122"/>
                <a:cs typeface="Times New Roman" panose="02020603050405020304" charset="0"/>
              </a:rPr>
              <a:t>2. 十进制转换成其他进制</a:t>
            </a:r>
            <a:endParaRPr lang="en-US" sz="2400" b="1" kern="1200" dirty="0">
              <a:solidFill>
                <a:srgbClr val="FE09D6"/>
              </a:solidFill>
              <a:latin typeface="Times New Roman" panose="02020603050405020304" charset="0"/>
              <a:ea typeface="楷体_GB2312" pitchFamily="49" charset="-122"/>
              <a:cs typeface="Times New Roman" panose="0202060305040502030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1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13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4" grpId="0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6147" name="Rectangle 3"/>
          <p:cNvSpPr>
            <a:spLocks noGrp="1"/>
          </p:cNvSpPr>
          <p:nvPr>
            <p:ph idx="1"/>
          </p:nvPr>
        </p:nvSpPr>
        <p:spPr>
          <a:xfrm>
            <a:off x="457200" y="1295400"/>
            <a:ext cx="8003540" cy="635635"/>
          </a:xfrm>
        </p:spPr>
        <p:txBody>
          <a:bodyPr vert="horz" wrap="square" lIns="91440" tIns="45720" rIns="91440" bIns="45720" anchor="t" anchorCtr="0"/>
          <a:p>
            <a:pPr marL="0" indent="0" eaLnBrk="1" latinLnBrk="0" hangingPunct="1">
              <a:lnSpc>
                <a:spcPct val="120000"/>
              </a:lnSpc>
              <a:spcBef>
                <a:spcPts val="0"/>
              </a:spcBef>
              <a:buNone/>
            </a:pPr>
            <a:r>
              <a:rPr lang="en-US" altLang="zh-CN" sz="2400" b="1" kern="1200" dirty="0">
                <a:solidFill>
                  <a:srgbClr val="000066"/>
                </a:solidFill>
                <a:latin typeface="Arial" panose="020B0604020202020204" pitchFamily="34" charset="0"/>
                <a:ea typeface="楷体_GB2312" pitchFamily="49" charset="-122"/>
              </a:rPr>
              <a:t>       </a:t>
            </a:r>
            <a:r>
              <a:rPr lang="zh-CN" altLang="en-US" sz="2400" b="1" kern="1200" dirty="0">
                <a:solidFill>
                  <a:srgbClr val="000066"/>
                </a:solidFill>
                <a:latin typeface="Arial" panose="020B0604020202020204" pitchFamily="34" charset="0"/>
                <a:ea typeface="楷体_GB2312" pitchFamily="49" charset="-122"/>
              </a:rPr>
              <a:t>【例1-1】将十进制数150.625转化成二进制数。</a:t>
            </a:r>
            <a:endParaRPr lang="zh-CN" altLang="en-US" sz="2400" b="1" kern="1200" dirty="0">
              <a:solidFill>
                <a:srgbClr val="000066"/>
              </a:solidFill>
              <a:latin typeface="Arial" panose="020B0604020202020204" pitchFamily="34" charset="0"/>
              <a:ea typeface="楷体_GB2312" pitchFamily="49" charset="-122"/>
            </a:endParaRPr>
          </a:p>
        </p:txBody>
      </p:sp>
      <p:sp>
        <p:nvSpPr>
          <p:cNvPr id="6148" name="TextBox 6"/>
          <p:cNvSpPr txBox="1"/>
          <p:nvPr/>
        </p:nvSpPr>
        <p:spPr>
          <a:xfrm>
            <a:off x="2819400" y="533400"/>
            <a:ext cx="5593080" cy="583565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5pPr>
          </a:lstStyle>
          <a:p>
            <a:pPr marL="0" lvl="0" indent="0" algn="l"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b="1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1.2 </a:t>
            </a:r>
            <a:r>
              <a:rPr lang="zh-CN" altLang="en-US" b="1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数制与码制</a:t>
            </a:r>
            <a:endParaRPr lang="zh-CN" altLang="en-US" b="1" dirty="0">
              <a:solidFill>
                <a:srgbClr val="FF0000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6150" name="灯片编号占位符 5"/>
          <p:cNvSpPr txBox="1">
            <a:spLocks noGrp="1"/>
          </p:cNvSpPr>
          <p:nvPr>
            <p:ph type="sldNum" sz="quarter" idx="12"/>
          </p:nvPr>
        </p:nvSpPr>
        <p:spPr>
          <a:xfrm>
            <a:off x="6553200" y="6537325"/>
            <a:ext cx="2133600" cy="244475"/>
          </a:xfrm>
        </p:spPr>
        <p:txBody>
          <a:bodyPr/>
          <a:p>
            <a:pPr marL="0" indent="0" algn="r" eaLnBrk="1" hangingPunct="1">
              <a:spcBef>
                <a:spcPct val="0"/>
              </a:spcBef>
              <a:buClrTx/>
              <a:buFontTx/>
              <a:buNone/>
            </a:pPr>
            <a:fld id="{9A0DB2DC-4C9A-4742-B13C-FB6460FD3503}" type="slidenum">
              <a:rPr lang="en-US" altLang="zh-CN" sz="1200" dirty="0">
                <a:solidFill>
                  <a:schemeClr val="bg1"/>
                </a:solidFill>
                <a:ea typeface="宋体" panose="02010600030101010101" pitchFamily="2" charset="-122"/>
              </a:rPr>
            </a:fld>
            <a:endParaRPr lang="en-US" altLang="zh-CN" sz="1200" dirty="0">
              <a:solidFill>
                <a:schemeClr val="bg1"/>
              </a:solidFill>
              <a:ea typeface="宋体" panose="02010600030101010101" pitchFamily="2" charset="-122"/>
            </a:endParaRPr>
          </a:p>
        </p:txBody>
      </p:sp>
      <p:sp>
        <p:nvSpPr>
          <p:cNvPr id="3" name="Rectangle 3"/>
          <p:cNvSpPr>
            <a:spLocks noGrp="1"/>
          </p:cNvSpPr>
          <p:nvPr/>
        </p:nvSpPr>
        <p:spPr>
          <a:xfrm>
            <a:off x="533400" y="1905000"/>
            <a:ext cx="4234815" cy="527050"/>
          </a:xfrm>
          <a:prstGeom prst="rect">
            <a:avLst/>
          </a:prstGeom>
          <a:noFill/>
          <a:ln w="9525">
            <a:noFill/>
          </a:ln>
        </p:spPr>
        <p:txBody>
          <a:bodyPr vert="horz" wrap="square" lIns="91440" tIns="45720" rIns="91440" bIns="45720" anchor="t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9pPr>
          </a:lstStyle>
          <a:p>
            <a:pPr marL="0" indent="0" eaLnBrk="1" latinLnBrk="0" hangingPunct="1">
              <a:lnSpc>
                <a:spcPct val="120000"/>
              </a:lnSpc>
              <a:spcBef>
                <a:spcPts val="0"/>
              </a:spcBef>
              <a:buNone/>
            </a:pPr>
            <a:r>
              <a:rPr lang="en-US" altLang="zh-CN" sz="2400" b="1" kern="1200" dirty="0">
                <a:solidFill>
                  <a:srgbClr val="000066"/>
                </a:solidFill>
                <a:latin typeface="Arial" panose="020B0604020202020204" pitchFamily="34" charset="0"/>
                <a:ea typeface="楷体_GB2312" pitchFamily="49" charset="-122"/>
              </a:rPr>
              <a:t>       </a:t>
            </a:r>
            <a:r>
              <a:rPr lang="zh-CN" altLang="en-US" sz="2400" b="1" kern="1200" dirty="0">
                <a:solidFill>
                  <a:srgbClr val="000066"/>
                </a:solidFill>
                <a:latin typeface="Arial" panose="020B0604020202020204" pitchFamily="34" charset="0"/>
                <a:ea typeface="楷体_GB2312" pitchFamily="49" charset="-122"/>
              </a:rPr>
              <a:t>解：整数部分转换过程为</a:t>
            </a:r>
            <a:endParaRPr lang="zh-CN" altLang="en-US" sz="2400" b="1" kern="1200" dirty="0">
              <a:solidFill>
                <a:srgbClr val="000066"/>
              </a:solidFill>
              <a:latin typeface="Arial" panose="020B0604020202020204" pitchFamily="34" charset="0"/>
              <a:ea typeface="楷体_GB2312" pitchFamily="49" charset="-122"/>
            </a:endParaRPr>
          </a:p>
        </p:txBody>
      </p:sp>
      <p:sp>
        <p:nvSpPr>
          <p:cNvPr id="5" name="Rectangle 3"/>
          <p:cNvSpPr>
            <a:spLocks noGrp="1"/>
          </p:cNvSpPr>
          <p:nvPr/>
        </p:nvSpPr>
        <p:spPr>
          <a:xfrm>
            <a:off x="406400" y="5511800"/>
            <a:ext cx="8003540" cy="661035"/>
          </a:xfrm>
          <a:prstGeom prst="rect">
            <a:avLst/>
          </a:prstGeom>
          <a:noFill/>
          <a:ln w="9525">
            <a:noFill/>
          </a:ln>
        </p:spPr>
        <p:txBody>
          <a:bodyPr vert="horz" wrap="square" lIns="91440" tIns="45720" rIns="91440" bIns="45720" anchor="t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9pPr>
          </a:lstStyle>
          <a:p>
            <a:pPr marL="0" indent="0" eaLnBrk="1" latinLnBrk="0" hangingPunct="1">
              <a:lnSpc>
                <a:spcPct val="120000"/>
              </a:lnSpc>
              <a:spcBef>
                <a:spcPts val="0"/>
              </a:spcBef>
              <a:buNone/>
            </a:pPr>
            <a:r>
              <a:rPr lang="en-US" altLang="zh-CN" sz="2400" b="1" kern="1200" dirty="0">
                <a:solidFill>
                  <a:srgbClr val="000066"/>
                </a:solidFill>
                <a:latin typeface="Arial" panose="020B0604020202020204" pitchFamily="34" charset="0"/>
                <a:ea typeface="楷体_GB2312" pitchFamily="49" charset="-122"/>
              </a:rPr>
              <a:t>       </a:t>
            </a:r>
            <a:r>
              <a:rPr lang="zh-CN" altLang="en-US" sz="2400" b="1" kern="1200" dirty="0">
                <a:solidFill>
                  <a:srgbClr val="000066"/>
                </a:solidFill>
                <a:latin typeface="Arial" panose="020B0604020202020204" pitchFamily="34" charset="0"/>
                <a:ea typeface="楷体_GB2312" pitchFamily="49" charset="-122"/>
              </a:rPr>
              <a:t>(150.625)10 = (10010110.101)2 = 10010110.101B。</a:t>
            </a:r>
            <a:endParaRPr lang="zh-CN" altLang="en-US" sz="2400" b="1" kern="1200" dirty="0">
              <a:solidFill>
                <a:srgbClr val="000066"/>
              </a:solidFill>
              <a:latin typeface="Arial" panose="020B0604020202020204" pitchFamily="34" charset="0"/>
              <a:ea typeface="楷体_GB2312" pitchFamily="49" charset="-122"/>
            </a:endParaRPr>
          </a:p>
        </p:txBody>
      </p:sp>
      <p:grpSp>
        <p:nvGrpSpPr>
          <p:cNvPr id="8" name="组合 7"/>
          <p:cNvGrpSpPr/>
          <p:nvPr/>
        </p:nvGrpSpPr>
        <p:grpSpPr>
          <a:xfrm>
            <a:off x="1371600" y="2438400"/>
            <a:ext cx="793750" cy="281940"/>
            <a:chOff x="2160" y="3600"/>
            <a:chExt cx="1250" cy="444"/>
          </a:xfrm>
        </p:grpSpPr>
        <p:grpSp>
          <p:nvGrpSpPr>
            <p:cNvPr id="1073744314" name="组合 14401"/>
            <p:cNvGrpSpPr/>
            <p:nvPr/>
          </p:nvGrpSpPr>
          <p:grpSpPr>
            <a:xfrm rot="0">
              <a:off x="2640" y="3720"/>
              <a:ext cx="660" cy="324"/>
              <a:chOff x="3480" y="4839"/>
              <a:chExt cx="660" cy="324"/>
            </a:xfrm>
          </p:grpSpPr>
          <p:sp>
            <p:nvSpPr>
              <p:cNvPr id="1073744315" name="直线 14402"/>
              <p:cNvSpPr/>
              <p:nvPr/>
            </p:nvSpPr>
            <p:spPr>
              <a:xfrm>
                <a:off x="3480" y="4839"/>
                <a:ext cx="0" cy="312"/>
              </a:xfrm>
              <a:prstGeom prst="line">
                <a:avLst/>
              </a:prstGeom>
              <a:ln w="9525" cap="flat" cmpd="sng">
                <a:solidFill>
                  <a:srgbClr val="000000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1073744316" name="直线 14403"/>
              <p:cNvSpPr/>
              <p:nvPr/>
            </p:nvSpPr>
            <p:spPr>
              <a:xfrm>
                <a:off x="3480" y="5163"/>
                <a:ext cx="660" cy="0"/>
              </a:xfrm>
              <a:prstGeom prst="line">
                <a:avLst/>
              </a:prstGeom>
              <a:ln w="9525" cap="flat" cmpd="sng">
                <a:solidFill>
                  <a:srgbClr val="000000"/>
                </a:solidFill>
                <a:prstDash val="solid"/>
                <a:headEnd type="none" w="med" len="med"/>
                <a:tailEnd type="none" w="med" len="med"/>
              </a:ln>
            </p:spPr>
          </p:sp>
        </p:grpSp>
        <p:sp>
          <p:nvSpPr>
            <p:cNvPr id="1073744317" name="文本框 14404"/>
            <p:cNvSpPr txBox="1"/>
            <p:nvPr/>
          </p:nvSpPr>
          <p:spPr>
            <a:xfrm>
              <a:off x="2668" y="3600"/>
              <a:ext cx="742" cy="333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square" lIns="18000" tIns="10800" rIns="18000" bIns="10800"/>
            <a:p>
              <a:pPr algn="r"/>
              <a:r>
                <a:rPr lang="zh-CN" altLang="en-US"/>
                <a:t>150</a:t>
              </a:r>
              <a:endParaRPr lang="zh-CN" altLang="en-US"/>
            </a:p>
            <a:p>
              <a:endParaRPr lang="zh-CN" altLang="en-US"/>
            </a:p>
          </p:txBody>
        </p:sp>
        <p:sp>
          <p:nvSpPr>
            <p:cNvPr id="1073744318" name="文本框 14405"/>
            <p:cNvSpPr txBox="1"/>
            <p:nvPr/>
          </p:nvSpPr>
          <p:spPr>
            <a:xfrm>
              <a:off x="2160" y="3633"/>
              <a:ext cx="200" cy="272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square" lIns="18000" tIns="10800" rIns="18000" bIns="10800"/>
            <a:p>
              <a:r>
                <a:rPr lang="zh-CN" altLang="en-US"/>
                <a:t>2</a:t>
              </a:r>
              <a:endParaRPr lang="zh-CN" altLang="en-US"/>
            </a:p>
            <a:p>
              <a:endParaRPr lang="zh-CN" altLang="en-US"/>
            </a:p>
          </p:txBody>
        </p:sp>
      </p:grpSp>
      <p:grpSp>
        <p:nvGrpSpPr>
          <p:cNvPr id="9" name="组合 8"/>
          <p:cNvGrpSpPr/>
          <p:nvPr/>
        </p:nvGrpSpPr>
        <p:grpSpPr>
          <a:xfrm>
            <a:off x="1381125" y="2814320"/>
            <a:ext cx="1649730" cy="297180"/>
            <a:chOff x="2160" y="4196"/>
            <a:chExt cx="2598" cy="468"/>
          </a:xfrm>
        </p:grpSpPr>
        <p:sp>
          <p:nvSpPr>
            <p:cNvPr id="1073744310" name="文本框 14397"/>
            <p:cNvSpPr txBox="1"/>
            <p:nvPr/>
          </p:nvSpPr>
          <p:spPr>
            <a:xfrm>
              <a:off x="3480" y="4196"/>
              <a:ext cx="1279" cy="428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square" lIns="18000" tIns="10800" rIns="18000" bIns="10800"/>
            <a:p>
              <a:r>
                <a:rPr lang="zh-CN" altLang="en-US"/>
                <a:t>….. 0  </a:t>
              </a:r>
              <a:endParaRPr lang="zh-CN" altLang="en-US"/>
            </a:p>
            <a:p>
              <a:endParaRPr lang="zh-CN" altLang="en-US"/>
            </a:p>
          </p:txBody>
        </p:sp>
        <p:grpSp>
          <p:nvGrpSpPr>
            <p:cNvPr id="1073744320" name="组合 14407"/>
            <p:cNvGrpSpPr/>
            <p:nvPr/>
          </p:nvGrpSpPr>
          <p:grpSpPr>
            <a:xfrm rot="0">
              <a:off x="2640" y="4335"/>
              <a:ext cx="660" cy="324"/>
              <a:chOff x="3480" y="4839"/>
              <a:chExt cx="660" cy="324"/>
            </a:xfrm>
          </p:grpSpPr>
          <p:sp>
            <p:nvSpPr>
              <p:cNvPr id="1073744321" name="直线 14408"/>
              <p:cNvSpPr/>
              <p:nvPr/>
            </p:nvSpPr>
            <p:spPr>
              <a:xfrm>
                <a:off x="3480" y="4839"/>
                <a:ext cx="0" cy="312"/>
              </a:xfrm>
              <a:prstGeom prst="line">
                <a:avLst/>
              </a:prstGeom>
              <a:ln w="9525" cap="flat" cmpd="sng">
                <a:solidFill>
                  <a:srgbClr val="000000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1073744322" name="直线 14409"/>
              <p:cNvSpPr/>
              <p:nvPr/>
            </p:nvSpPr>
            <p:spPr>
              <a:xfrm>
                <a:off x="3480" y="5163"/>
                <a:ext cx="660" cy="0"/>
              </a:xfrm>
              <a:prstGeom prst="line">
                <a:avLst/>
              </a:prstGeom>
              <a:ln w="9525" cap="flat" cmpd="sng">
                <a:solidFill>
                  <a:srgbClr val="000000"/>
                </a:solidFill>
                <a:prstDash val="solid"/>
                <a:headEnd type="none" w="med" len="med"/>
                <a:tailEnd type="none" w="med" len="med"/>
              </a:ln>
            </p:spPr>
          </p:sp>
        </p:grpSp>
        <p:sp>
          <p:nvSpPr>
            <p:cNvPr id="1073744323" name="文本框 14410"/>
            <p:cNvSpPr txBox="1"/>
            <p:nvPr/>
          </p:nvSpPr>
          <p:spPr>
            <a:xfrm>
              <a:off x="2745" y="4204"/>
              <a:ext cx="578" cy="413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square" lIns="18000" tIns="10800" rIns="18000" bIns="10800"/>
            <a:p>
              <a:pPr algn="r"/>
              <a:r>
                <a:rPr lang="zh-CN" altLang="en-US"/>
                <a:t>75</a:t>
              </a:r>
              <a:endParaRPr lang="zh-CN" altLang="en-US"/>
            </a:p>
            <a:p>
              <a:endParaRPr lang="zh-CN" altLang="en-US"/>
            </a:p>
          </p:txBody>
        </p:sp>
        <p:sp>
          <p:nvSpPr>
            <p:cNvPr id="1073744324" name="文本框 14411"/>
            <p:cNvSpPr txBox="1"/>
            <p:nvPr/>
          </p:nvSpPr>
          <p:spPr>
            <a:xfrm>
              <a:off x="2160" y="4200"/>
              <a:ext cx="153" cy="464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square" lIns="18000" tIns="10800" rIns="18000" bIns="10800"/>
            <a:p>
              <a:r>
                <a:rPr lang="zh-CN" altLang="en-US"/>
                <a:t>2</a:t>
              </a:r>
              <a:endParaRPr lang="zh-CN" altLang="en-US"/>
            </a:p>
            <a:p>
              <a:endParaRPr lang="zh-CN" altLang="en-US"/>
            </a:p>
          </p:txBody>
        </p:sp>
      </p:grpSp>
      <p:grpSp>
        <p:nvGrpSpPr>
          <p:cNvPr id="17" name="组合 16"/>
          <p:cNvGrpSpPr/>
          <p:nvPr/>
        </p:nvGrpSpPr>
        <p:grpSpPr>
          <a:xfrm>
            <a:off x="1752600" y="5077460"/>
            <a:ext cx="1372235" cy="439420"/>
            <a:chOff x="2760" y="7756"/>
            <a:chExt cx="2161" cy="692"/>
          </a:xfrm>
        </p:grpSpPr>
        <p:sp>
          <p:nvSpPr>
            <p:cNvPr id="1073744311" name="文本框 14398"/>
            <p:cNvSpPr txBox="1"/>
            <p:nvPr/>
          </p:nvSpPr>
          <p:spPr>
            <a:xfrm>
              <a:off x="3477" y="7756"/>
              <a:ext cx="1444" cy="692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square" lIns="18000" tIns="10800" rIns="18000" bIns="10800"/>
            <a:p>
              <a:r>
                <a:rPr lang="zh-CN" altLang="en-US"/>
                <a:t>….. 1     </a:t>
              </a:r>
              <a:endParaRPr lang="zh-CN" altLang="en-US"/>
            </a:p>
          </p:txBody>
        </p:sp>
        <p:sp>
          <p:nvSpPr>
            <p:cNvPr id="1073744361" name="文本框 14448"/>
            <p:cNvSpPr txBox="1"/>
            <p:nvPr/>
          </p:nvSpPr>
          <p:spPr>
            <a:xfrm>
              <a:off x="2760" y="7764"/>
              <a:ext cx="425" cy="334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square" lIns="18000" tIns="10800" rIns="18000" bIns="10800"/>
            <a:p>
              <a:pPr algn="r"/>
              <a:r>
                <a:rPr lang="zh-CN" altLang="en-US"/>
                <a:t>0</a:t>
              </a:r>
              <a:endParaRPr lang="zh-CN" altLang="en-US"/>
            </a:p>
            <a:p>
              <a:endParaRPr lang="zh-CN" altLang="en-US"/>
            </a:p>
          </p:txBody>
        </p:sp>
      </p:grpSp>
      <p:grpSp>
        <p:nvGrpSpPr>
          <p:cNvPr id="10" name="组合 9"/>
          <p:cNvGrpSpPr/>
          <p:nvPr/>
        </p:nvGrpSpPr>
        <p:grpSpPr>
          <a:xfrm>
            <a:off x="1371600" y="3138170"/>
            <a:ext cx="1690370" cy="343535"/>
            <a:chOff x="2160" y="4702"/>
            <a:chExt cx="2662" cy="541"/>
          </a:xfrm>
        </p:grpSpPr>
        <p:grpSp>
          <p:nvGrpSpPr>
            <p:cNvPr id="1073744326" name="组合 14413"/>
            <p:cNvGrpSpPr/>
            <p:nvPr/>
          </p:nvGrpSpPr>
          <p:grpSpPr>
            <a:xfrm rot="0">
              <a:off x="2640" y="4829"/>
              <a:ext cx="660" cy="324"/>
              <a:chOff x="3480" y="4839"/>
              <a:chExt cx="660" cy="324"/>
            </a:xfrm>
          </p:grpSpPr>
          <p:sp>
            <p:nvSpPr>
              <p:cNvPr id="1073744327" name="直线 14414"/>
              <p:cNvSpPr/>
              <p:nvPr/>
            </p:nvSpPr>
            <p:spPr>
              <a:xfrm>
                <a:off x="3480" y="4839"/>
                <a:ext cx="0" cy="312"/>
              </a:xfrm>
              <a:prstGeom prst="line">
                <a:avLst/>
              </a:prstGeom>
              <a:ln w="9525" cap="flat" cmpd="sng">
                <a:solidFill>
                  <a:srgbClr val="000000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1073744328" name="直线 14415"/>
              <p:cNvSpPr/>
              <p:nvPr/>
            </p:nvSpPr>
            <p:spPr>
              <a:xfrm>
                <a:off x="3480" y="5163"/>
                <a:ext cx="660" cy="0"/>
              </a:xfrm>
              <a:prstGeom prst="line">
                <a:avLst/>
              </a:prstGeom>
              <a:ln w="9525" cap="flat" cmpd="sng">
                <a:solidFill>
                  <a:srgbClr val="000000"/>
                </a:solidFill>
                <a:prstDash val="solid"/>
                <a:headEnd type="none" w="med" len="med"/>
                <a:tailEnd type="none" w="med" len="med"/>
              </a:ln>
            </p:spPr>
          </p:sp>
        </p:grpSp>
        <p:sp>
          <p:nvSpPr>
            <p:cNvPr id="1073744329" name="文本框 14416"/>
            <p:cNvSpPr txBox="1"/>
            <p:nvPr/>
          </p:nvSpPr>
          <p:spPr>
            <a:xfrm>
              <a:off x="2640" y="4702"/>
              <a:ext cx="650" cy="348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square" lIns="18000" tIns="10800" rIns="18000" bIns="10800"/>
            <a:p>
              <a:pPr algn="r"/>
              <a:r>
                <a:rPr lang="zh-CN" altLang="en-US"/>
                <a:t>37</a:t>
              </a:r>
              <a:endParaRPr lang="zh-CN" altLang="en-US"/>
            </a:p>
            <a:p>
              <a:endParaRPr lang="zh-CN" altLang="en-US"/>
            </a:p>
          </p:txBody>
        </p:sp>
        <p:sp>
          <p:nvSpPr>
            <p:cNvPr id="1073744330" name="文本框 14417"/>
            <p:cNvSpPr txBox="1"/>
            <p:nvPr/>
          </p:nvSpPr>
          <p:spPr>
            <a:xfrm>
              <a:off x="2160" y="4742"/>
              <a:ext cx="200" cy="272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square" lIns="18000" tIns="10800" rIns="18000" bIns="10800"/>
            <a:p>
              <a:r>
                <a:rPr lang="zh-CN" altLang="en-US"/>
                <a:t>2</a:t>
              </a:r>
              <a:endParaRPr lang="zh-CN" altLang="en-US"/>
            </a:p>
            <a:p>
              <a:endParaRPr lang="zh-CN" altLang="en-US"/>
            </a:p>
          </p:txBody>
        </p:sp>
        <p:sp>
          <p:nvSpPr>
            <p:cNvPr id="1073744362" name="文本框 14449"/>
            <p:cNvSpPr txBox="1"/>
            <p:nvPr/>
          </p:nvSpPr>
          <p:spPr>
            <a:xfrm>
              <a:off x="3480" y="4725"/>
              <a:ext cx="1342" cy="518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square" lIns="18000" tIns="10800" rIns="18000" bIns="10800"/>
            <a:p>
              <a:r>
                <a:rPr lang="zh-CN" altLang="en-US">
                  <a:sym typeface="+mn-ea"/>
                </a:rPr>
                <a:t>…..</a:t>
              </a:r>
              <a:r>
                <a:rPr lang="zh-CN" altLang="en-US"/>
                <a:t> 1</a:t>
              </a:r>
              <a:endParaRPr lang="zh-CN" altLang="en-US"/>
            </a:p>
            <a:p>
              <a:endParaRPr lang="zh-CN" altLang="en-US"/>
            </a:p>
          </p:txBody>
        </p:sp>
      </p:grpSp>
      <p:grpSp>
        <p:nvGrpSpPr>
          <p:cNvPr id="12" name="组合 11"/>
          <p:cNvGrpSpPr/>
          <p:nvPr/>
        </p:nvGrpSpPr>
        <p:grpSpPr>
          <a:xfrm>
            <a:off x="1381125" y="3477260"/>
            <a:ext cx="2200275" cy="330835"/>
            <a:chOff x="2175" y="5236"/>
            <a:chExt cx="3465" cy="521"/>
          </a:xfrm>
        </p:grpSpPr>
        <p:grpSp>
          <p:nvGrpSpPr>
            <p:cNvPr id="11" name="组合 10"/>
            <p:cNvGrpSpPr/>
            <p:nvPr/>
          </p:nvGrpSpPr>
          <p:grpSpPr>
            <a:xfrm>
              <a:off x="2175" y="5236"/>
              <a:ext cx="1140" cy="407"/>
              <a:chOff x="2175" y="5236"/>
              <a:chExt cx="1140" cy="407"/>
            </a:xfrm>
          </p:grpSpPr>
          <p:grpSp>
            <p:nvGrpSpPr>
              <p:cNvPr id="1073744332" name="组合 14419"/>
              <p:cNvGrpSpPr/>
              <p:nvPr/>
            </p:nvGrpSpPr>
            <p:grpSpPr>
              <a:xfrm rot="0">
                <a:off x="2655" y="5319"/>
                <a:ext cx="660" cy="324"/>
                <a:chOff x="3480" y="4839"/>
                <a:chExt cx="660" cy="324"/>
              </a:xfrm>
            </p:grpSpPr>
            <p:sp>
              <p:nvSpPr>
                <p:cNvPr id="1073744333" name="直线 14420"/>
                <p:cNvSpPr/>
                <p:nvPr/>
              </p:nvSpPr>
              <p:spPr>
                <a:xfrm>
                  <a:off x="3480" y="4839"/>
                  <a:ext cx="0" cy="312"/>
                </a:xfrm>
                <a:prstGeom prst="line">
                  <a:avLst/>
                </a:prstGeom>
                <a:ln w="9525" cap="flat" cmpd="sng">
                  <a:solidFill>
                    <a:srgbClr val="000000"/>
                  </a:solidFill>
                  <a:prstDash val="solid"/>
                  <a:headEnd type="none" w="med" len="med"/>
                  <a:tailEnd type="none" w="med" len="med"/>
                </a:ln>
              </p:spPr>
            </p:sp>
            <p:sp>
              <p:nvSpPr>
                <p:cNvPr id="1073744334" name="直线 14421"/>
                <p:cNvSpPr/>
                <p:nvPr/>
              </p:nvSpPr>
              <p:spPr>
                <a:xfrm>
                  <a:off x="3480" y="5163"/>
                  <a:ext cx="660" cy="0"/>
                </a:xfrm>
                <a:prstGeom prst="line">
                  <a:avLst/>
                </a:prstGeom>
                <a:ln w="9525" cap="flat" cmpd="sng">
                  <a:solidFill>
                    <a:srgbClr val="000000"/>
                  </a:solidFill>
                  <a:prstDash val="solid"/>
                  <a:headEnd type="none" w="med" len="med"/>
                  <a:tailEnd type="none" w="med" len="med"/>
                </a:ln>
              </p:spPr>
            </p:sp>
          </p:grpSp>
          <p:sp>
            <p:nvSpPr>
              <p:cNvPr id="1073744335" name="文本框 14422"/>
              <p:cNvSpPr txBox="1"/>
              <p:nvPr/>
            </p:nvSpPr>
            <p:spPr>
              <a:xfrm>
                <a:off x="2640" y="5236"/>
                <a:ext cx="639" cy="342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square" lIns="18000" tIns="10800" rIns="18000" bIns="10800"/>
              <a:p>
                <a:pPr algn="r"/>
                <a:r>
                  <a:rPr lang="zh-CN" altLang="en-US"/>
                  <a:t>18</a:t>
                </a:r>
                <a:endParaRPr lang="zh-CN" altLang="en-US"/>
              </a:p>
              <a:p>
                <a:endParaRPr lang="zh-CN" altLang="en-US"/>
              </a:p>
            </p:txBody>
          </p:sp>
          <p:sp>
            <p:nvSpPr>
              <p:cNvPr id="1073744336" name="文本框 14423"/>
              <p:cNvSpPr txBox="1"/>
              <p:nvPr/>
            </p:nvSpPr>
            <p:spPr>
              <a:xfrm>
                <a:off x="2175" y="5308"/>
                <a:ext cx="200" cy="272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square" lIns="18000" tIns="10800" rIns="18000" bIns="10800"/>
              <a:p>
                <a:r>
                  <a:rPr lang="zh-CN" altLang="en-US"/>
                  <a:t>2</a:t>
                </a:r>
                <a:endParaRPr lang="zh-CN" altLang="en-US"/>
              </a:p>
              <a:p>
                <a:endParaRPr lang="zh-CN" altLang="en-US"/>
              </a:p>
            </p:txBody>
          </p:sp>
        </p:grpSp>
        <p:sp>
          <p:nvSpPr>
            <p:cNvPr id="1073744363" name="文本框 14450"/>
            <p:cNvSpPr txBox="1"/>
            <p:nvPr/>
          </p:nvSpPr>
          <p:spPr>
            <a:xfrm>
              <a:off x="3480" y="5275"/>
              <a:ext cx="2160" cy="482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square" lIns="18000" tIns="10800" rIns="18000" bIns="10800"/>
            <a:p>
              <a:r>
                <a:rPr lang="zh-CN" altLang="en-US"/>
                <a:t>….. 1</a:t>
              </a:r>
              <a:endParaRPr lang="zh-CN" altLang="en-US"/>
            </a:p>
            <a:p>
              <a:endParaRPr lang="zh-CN" altLang="en-US"/>
            </a:p>
          </p:txBody>
        </p:sp>
      </p:grpSp>
      <p:grpSp>
        <p:nvGrpSpPr>
          <p:cNvPr id="19" name="组合 18"/>
          <p:cNvGrpSpPr/>
          <p:nvPr/>
        </p:nvGrpSpPr>
        <p:grpSpPr>
          <a:xfrm>
            <a:off x="1387475" y="3781425"/>
            <a:ext cx="2193290" cy="260985"/>
            <a:chOff x="2185" y="5715"/>
            <a:chExt cx="3454" cy="411"/>
          </a:xfrm>
        </p:grpSpPr>
        <p:grpSp>
          <p:nvGrpSpPr>
            <p:cNvPr id="1073744338" name="组合 14425"/>
            <p:cNvGrpSpPr/>
            <p:nvPr/>
          </p:nvGrpSpPr>
          <p:grpSpPr>
            <a:xfrm rot="0">
              <a:off x="2655" y="5802"/>
              <a:ext cx="660" cy="324"/>
              <a:chOff x="3480" y="4839"/>
              <a:chExt cx="660" cy="324"/>
            </a:xfrm>
          </p:grpSpPr>
          <p:sp>
            <p:nvSpPr>
              <p:cNvPr id="1073744339" name="直线 14426"/>
              <p:cNvSpPr/>
              <p:nvPr/>
            </p:nvSpPr>
            <p:spPr>
              <a:xfrm>
                <a:off x="3480" y="4839"/>
                <a:ext cx="0" cy="312"/>
              </a:xfrm>
              <a:prstGeom prst="line">
                <a:avLst/>
              </a:prstGeom>
              <a:ln w="9525" cap="flat" cmpd="sng">
                <a:solidFill>
                  <a:srgbClr val="000000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1073744340" name="直线 14427"/>
              <p:cNvSpPr/>
              <p:nvPr/>
            </p:nvSpPr>
            <p:spPr>
              <a:xfrm>
                <a:off x="3480" y="5163"/>
                <a:ext cx="660" cy="0"/>
              </a:xfrm>
              <a:prstGeom prst="line">
                <a:avLst/>
              </a:prstGeom>
              <a:ln w="9525" cap="flat" cmpd="sng">
                <a:solidFill>
                  <a:srgbClr val="000000"/>
                </a:solidFill>
                <a:prstDash val="solid"/>
                <a:headEnd type="none" w="med" len="med"/>
                <a:tailEnd type="none" w="med" len="med"/>
              </a:ln>
            </p:spPr>
          </p:sp>
        </p:grpSp>
        <p:grpSp>
          <p:nvGrpSpPr>
            <p:cNvPr id="18" name="组合 17"/>
            <p:cNvGrpSpPr/>
            <p:nvPr/>
          </p:nvGrpSpPr>
          <p:grpSpPr>
            <a:xfrm>
              <a:off x="2185" y="5715"/>
              <a:ext cx="3455" cy="334"/>
              <a:chOff x="2185" y="5715"/>
              <a:chExt cx="3455" cy="334"/>
            </a:xfrm>
          </p:grpSpPr>
          <p:sp>
            <p:nvSpPr>
              <p:cNvPr id="1073744341" name="文本框 14428"/>
              <p:cNvSpPr txBox="1"/>
              <p:nvPr/>
            </p:nvSpPr>
            <p:spPr>
              <a:xfrm>
                <a:off x="2760" y="5715"/>
                <a:ext cx="425" cy="334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square" lIns="18000" tIns="10800" rIns="18000" bIns="10800"/>
              <a:p>
                <a:pPr algn="r"/>
                <a:r>
                  <a:rPr lang="zh-CN" altLang="en-US"/>
                  <a:t>9</a:t>
                </a:r>
                <a:endParaRPr lang="zh-CN" altLang="en-US"/>
              </a:p>
              <a:p>
                <a:endParaRPr lang="zh-CN" altLang="en-US"/>
              </a:p>
            </p:txBody>
          </p:sp>
          <p:sp>
            <p:nvSpPr>
              <p:cNvPr id="1073744342" name="文本框 14429"/>
              <p:cNvSpPr txBox="1"/>
              <p:nvPr/>
            </p:nvSpPr>
            <p:spPr>
              <a:xfrm>
                <a:off x="2185" y="5725"/>
                <a:ext cx="200" cy="272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square" lIns="18000" tIns="10800" rIns="18000" bIns="10800"/>
              <a:p>
                <a:r>
                  <a:rPr lang="zh-CN" altLang="en-US"/>
                  <a:t>2</a:t>
                </a:r>
                <a:endParaRPr lang="zh-CN" altLang="en-US"/>
              </a:p>
              <a:p>
                <a:endParaRPr lang="zh-CN" altLang="en-US"/>
              </a:p>
            </p:txBody>
          </p:sp>
          <p:sp>
            <p:nvSpPr>
              <p:cNvPr id="1073744364" name="文本框 14451"/>
              <p:cNvSpPr txBox="1"/>
              <p:nvPr/>
            </p:nvSpPr>
            <p:spPr>
              <a:xfrm>
                <a:off x="3480" y="5754"/>
                <a:ext cx="2160" cy="272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square" lIns="18000" tIns="10800" rIns="18000" bIns="10800"/>
              <a:p>
                <a:r>
                  <a:rPr lang="zh-CN" altLang="en-US"/>
                  <a:t>….. 0</a:t>
                </a:r>
                <a:endParaRPr lang="zh-CN" altLang="en-US"/>
              </a:p>
              <a:p>
                <a:endParaRPr lang="zh-CN" altLang="en-US"/>
              </a:p>
            </p:txBody>
          </p:sp>
        </p:grpSp>
      </p:grpSp>
      <p:grpSp>
        <p:nvGrpSpPr>
          <p:cNvPr id="20" name="组合 19"/>
          <p:cNvGrpSpPr/>
          <p:nvPr/>
        </p:nvGrpSpPr>
        <p:grpSpPr>
          <a:xfrm>
            <a:off x="1395095" y="4086860"/>
            <a:ext cx="2186305" cy="267335"/>
            <a:chOff x="2197" y="6196"/>
            <a:chExt cx="3443" cy="421"/>
          </a:xfrm>
        </p:grpSpPr>
        <p:grpSp>
          <p:nvGrpSpPr>
            <p:cNvPr id="1073744344" name="组合 14431"/>
            <p:cNvGrpSpPr/>
            <p:nvPr/>
          </p:nvGrpSpPr>
          <p:grpSpPr>
            <a:xfrm rot="0">
              <a:off x="2655" y="6293"/>
              <a:ext cx="660" cy="324"/>
              <a:chOff x="3480" y="4839"/>
              <a:chExt cx="660" cy="324"/>
            </a:xfrm>
          </p:grpSpPr>
          <p:sp>
            <p:nvSpPr>
              <p:cNvPr id="1073744345" name="直线 14432"/>
              <p:cNvSpPr/>
              <p:nvPr/>
            </p:nvSpPr>
            <p:spPr>
              <a:xfrm>
                <a:off x="3480" y="4839"/>
                <a:ext cx="0" cy="312"/>
              </a:xfrm>
              <a:prstGeom prst="line">
                <a:avLst/>
              </a:prstGeom>
              <a:ln w="9525" cap="flat" cmpd="sng">
                <a:solidFill>
                  <a:srgbClr val="000000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1073744346" name="直线 14433"/>
              <p:cNvSpPr/>
              <p:nvPr/>
            </p:nvSpPr>
            <p:spPr>
              <a:xfrm>
                <a:off x="3480" y="5163"/>
                <a:ext cx="660" cy="0"/>
              </a:xfrm>
              <a:prstGeom prst="line">
                <a:avLst/>
              </a:prstGeom>
              <a:ln w="9525" cap="flat" cmpd="sng">
                <a:solidFill>
                  <a:srgbClr val="000000"/>
                </a:solidFill>
                <a:prstDash val="solid"/>
                <a:headEnd type="none" w="med" len="med"/>
                <a:tailEnd type="none" w="med" len="med"/>
              </a:ln>
            </p:spPr>
          </p:sp>
        </p:grpSp>
        <p:sp>
          <p:nvSpPr>
            <p:cNvPr id="1073744347" name="文本框 14434"/>
            <p:cNvSpPr txBox="1"/>
            <p:nvPr/>
          </p:nvSpPr>
          <p:spPr>
            <a:xfrm>
              <a:off x="2716" y="6196"/>
              <a:ext cx="425" cy="334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square" lIns="18000" tIns="10800" rIns="18000" bIns="10800"/>
            <a:p>
              <a:pPr algn="r"/>
              <a:r>
                <a:rPr lang="zh-CN" altLang="en-US"/>
                <a:t>4</a:t>
              </a:r>
              <a:endParaRPr lang="zh-CN" altLang="en-US"/>
            </a:p>
            <a:p>
              <a:endParaRPr lang="zh-CN" altLang="en-US"/>
            </a:p>
          </p:txBody>
        </p:sp>
        <p:sp>
          <p:nvSpPr>
            <p:cNvPr id="1073744348" name="文本框 14435"/>
            <p:cNvSpPr txBox="1"/>
            <p:nvPr/>
          </p:nvSpPr>
          <p:spPr>
            <a:xfrm>
              <a:off x="2197" y="6216"/>
              <a:ext cx="200" cy="272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square" lIns="18000" tIns="10800" rIns="18000" bIns="10800"/>
            <a:p>
              <a:r>
                <a:rPr lang="zh-CN" altLang="en-US"/>
                <a:t>2</a:t>
              </a:r>
              <a:endParaRPr lang="zh-CN" altLang="en-US"/>
            </a:p>
            <a:p>
              <a:endParaRPr lang="zh-CN" altLang="en-US"/>
            </a:p>
          </p:txBody>
        </p:sp>
        <p:sp>
          <p:nvSpPr>
            <p:cNvPr id="1073744365" name="文本框 14452"/>
            <p:cNvSpPr txBox="1"/>
            <p:nvPr/>
          </p:nvSpPr>
          <p:spPr>
            <a:xfrm>
              <a:off x="3480" y="6240"/>
              <a:ext cx="2160" cy="272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square" lIns="18000" tIns="10800" rIns="18000" bIns="10800"/>
            <a:p>
              <a:r>
                <a:rPr lang="zh-CN" altLang="en-US"/>
                <a:t>….. 1</a:t>
              </a:r>
              <a:endParaRPr lang="zh-CN" altLang="en-US"/>
            </a:p>
            <a:p>
              <a:endParaRPr lang="zh-CN" altLang="en-US"/>
            </a:p>
          </p:txBody>
        </p:sp>
      </p:grpSp>
      <p:grpSp>
        <p:nvGrpSpPr>
          <p:cNvPr id="21" name="组合 20"/>
          <p:cNvGrpSpPr/>
          <p:nvPr/>
        </p:nvGrpSpPr>
        <p:grpSpPr>
          <a:xfrm>
            <a:off x="1395095" y="4399915"/>
            <a:ext cx="2186305" cy="274320"/>
            <a:chOff x="2197" y="6689"/>
            <a:chExt cx="3443" cy="432"/>
          </a:xfrm>
        </p:grpSpPr>
        <p:grpSp>
          <p:nvGrpSpPr>
            <p:cNvPr id="1073744350" name="组合 14437"/>
            <p:cNvGrpSpPr/>
            <p:nvPr/>
          </p:nvGrpSpPr>
          <p:grpSpPr>
            <a:xfrm rot="0">
              <a:off x="2655" y="6788"/>
              <a:ext cx="660" cy="324"/>
              <a:chOff x="3480" y="4839"/>
              <a:chExt cx="660" cy="324"/>
            </a:xfrm>
          </p:grpSpPr>
          <p:sp>
            <p:nvSpPr>
              <p:cNvPr id="1073744351" name="直线 14438"/>
              <p:cNvSpPr/>
              <p:nvPr/>
            </p:nvSpPr>
            <p:spPr>
              <a:xfrm>
                <a:off x="3480" y="4839"/>
                <a:ext cx="0" cy="312"/>
              </a:xfrm>
              <a:prstGeom prst="line">
                <a:avLst/>
              </a:prstGeom>
              <a:ln w="9525" cap="flat" cmpd="sng">
                <a:solidFill>
                  <a:srgbClr val="000000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1073744352" name="直线 14439"/>
              <p:cNvSpPr/>
              <p:nvPr/>
            </p:nvSpPr>
            <p:spPr>
              <a:xfrm>
                <a:off x="3480" y="5163"/>
                <a:ext cx="660" cy="0"/>
              </a:xfrm>
              <a:prstGeom prst="line">
                <a:avLst/>
              </a:prstGeom>
              <a:ln w="9525" cap="flat" cmpd="sng">
                <a:solidFill>
                  <a:srgbClr val="000000"/>
                </a:solidFill>
                <a:prstDash val="solid"/>
                <a:headEnd type="none" w="med" len="med"/>
                <a:tailEnd type="none" w="med" len="med"/>
              </a:ln>
            </p:spPr>
          </p:sp>
        </p:grpSp>
        <p:sp>
          <p:nvSpPr>
            <p:cNvPr id="1073744353" name="文本框 14440"/>
            <p:cNvSpPr txBox="1"/>
            <p:nvPr/>
          </p:nvSpPr>
          <p:spPr>
            <a:xfrm>
              <a:off x="2760" y="6689"/>
              <a:ext cx="425" cy="334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square" lIns="18000" tIns="10800" rIns="18000" bIns="10800"/>
            <a:p>
              <a:pPr algn="r"/>
              <a:r>
                <a:rPr lang="zh-CN" altLang="en-US"/>
                <a:t>2</a:t>
              </a:r>
              <a:endParaRPr lang="zh-CN" altLang="en-US"/>
            </a:p>
            <a:p>
              <a:endParaRPr lang="zh-CN" altLang="en-US"/>
            </a:p>
          </p:txBody>
        </p:sp>
        <p:sp>
          <p:nvSpPr>
            <p:cNvPr id="1073744354" name="文本框 14441"/>
            <p:cNvSpPr txBox="1"/>
            <p:nvPr/>
          </p:nvSpPr>
          <p:spPr>
            <a:xfrm>
              <a:off x="2197" y="6689"/>
              <a:ext cx="200" cy="272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square" lIns="18000" tIns="10800" rIns="18000" bIns="10800"/>
            <a:p>
              <a:r>
                <a:rPr lang="zh-CN" altLang="en-US"/>
                <a:t>2</a:t>
              </a:r>
              <a:endParaRPr lang="zh-CN" altLang="en-US"/>
            </a:p>
            <a:p>
              <a:endParaRPr lang="zh-CN" altLang="en-US"/>
            </a:p>
          </p:txBody>
        </p:sp>
        <p:sp>
          <p:nvSpPr>
            <p:cNvPr id="1073744366" name="文本框 14453"/>
            <p:cNvSpPr txBox="1"/>
            <p:nvPr/>
          </p:nvSpPr>
          <p:spPr>
            <a:xfrm>
              <a:off x="3480" y="6723"/>
              <a:ext cx="2160" cy="398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square" lIns="18000" tIns="10800" rIns="18000" bIns="10800"/>
            <a:p>
              <a:r>
                <a:rPr lang="zh-CN" altLang="en-US"/>
                <a:t>….. 0</a:t>
              </a:r>
              <a:endParaRPr lang="zh-CN" altLang="en-US"/>
            </a:p>
            <a:p>
              <a:endParaRPr lang="zh-CN" altLang="en-US"/>
            </a:p>
          </p:txBody>
        </p:sp>
      </p:grpSp>
      <p:grpSp>
        <p:nvGrpSpPr>
          <p:cNvPr id="16" name="组合 15"/>
          <p:cNvGrpSpPr/>
          <p:nvPr/>
        </p:nvGrpSpPr>
        <p:grpSpPr>
          <a:xfrm>
            <a:off x="1381125" y="4754880"/>
            <a:ext cx="2200275" cy="260985"/>
            <a:chOff x="2175" y="7172"/>
            <a:chExt cx="3465" cy="411"/>
          </a:xfrm>
        </p:grpSpPr>
        <p:grpSp>
          <p:nvGrpSpPr>
            <p:cNvPr id="1073744356" name="组合 14443"/>
            <p:cNvGrpSpPr/>
            <p:nvPr/>
          </p:nvGrpSpPr>
          <p:grpSpPr>
            <a:xfrm rot="0">
              <a:off x="2655" y="7259"/>
              <a:ext cx="660" cy="324"/>
              <a:chOff x="3480" y="4839"/>
              <a:chExt cx="660" cy="324"/>
            </a:xfrm>
          </p:grpSpPr>
          <p:sp>
            <p:nvSpPr>
              <p:cNvPr id="1073744357" name="直线 14444"/>
              <p:cNvSpPr/>
              <p:nvPr/>
            </p:nvSpPr>
            <p:spPr>
              <a:xfrm>
                <a:off x="3480" y="4839"/>
                <a:ext cx="0" cy="312"/>
              </a:xfrm>
              <a:prstGeom prst="line">
                <a:avLst/>
              </a:prstGeom>
              <a:ln w="9525" cap="flat" cmpd="sng">
                <a:solidFill>
                  <a:srgbClr val="000000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1073744358" name="直线 14445"/>
              <p:cNvSpPr/>
              <p:nvPr/>
            </p:nvSpPr>
            <p:spPr>
              <a:xfrm>
                <a:off x="3480" y="5163"/>
                <a:ext cx="660" cy="0"/>
              </a:xfrm>
              <a:prstGeom prst="line">
                <a:avLst/>
              </a:prstGeom>
              <a:ln w="9525" cap="flat" cmpd="sng">
                <a:solidFill>
                  <a:srgbClr val="000000"/>
                </a:solidFill>
                <a:prstDash val="solid"/>
                <a:headEnd type="none" w="med" len="med"/>
                <a:tailEnd type="none" w="med" len="med"/>
              </a:ln>
            </p:spPr>
          </p:sp>
        </p:grpSp>
        <p:sp>
          <p:nvSpPr>
            <p:cNvPr id="1073744359" name="文本框 14446"/>
            <p:cNvSpPr txBox="1"/>
            <p:nvPr/>
          </p:nvSpPr>
          <p:spPr>
            <a:xfrm>
              <a:off x="2760" y="7172"/>
              <a:ext cx="425" cy="334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square" lIns="18000" tIns="10800" rIns="18000" bIns="10800"/>
            <a:p>
              <a:pPr algn="r"/>
              <a:r>
                <a:rPr lang="zh-CN" altLang="en-US"/>
                <a:t>1</a:t>
              </a:r>
              <a:endParaRPr lang="zh-CN" altLang="en-US"/>
            </a:p>
            <a:p>
              <a:endParaRPr lang="zh-CN" altLang="en-US"/>
            </a:p>
          </p:txBody>
        </p:sp>
        <p:sp>
          <p:nvSpPr>
            <p:cNvPr id="1073744360" name="文本框 14447"/>
            <p:cNvSpPr txBox="1"/>
            <p:nvPr/>
          </p:nvSpPr>
          <p:spPr>
            <a:xfrm>
              <a:off x="2175" y="7172"/>
              <a:ext cx="200" cy="272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square" lIns="18000" tIns="10800" rIns="18000" bIns="10800"/>
            <a:p>
              <a:r>
                <a:rPr lang="zh-CN" altLang="en-US"/>
                <a:t>2</a:t>
              </a:r>
              <a:endParaRPr lang="zh-CN" altLang="en-US"/>
            </a:p>
            <a:p>
              <a:endParaRPr lang="zh-CN" altLang="en-US"/>
            </a:p>
          </p:txBody>
        </p:sp>
        <p:sp>
          <p:nvSpPr>
            <p:cNvPr id="1073744367" name="文本框 14454"/>
            <p:cNvSpPr txBox="1"/>
            <p:nvPr/>
          </p:nvSpPr>
          <p:spPr>
            <a:xfrm>
              <a:off x="3480" y="7228"/>
              <a:ext cx="2160" cy="272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square" lIns="18000" tIns="10800" rIns="18000" bIns="10800"/>
            <a:p>
              <a:r>
                <a:rPr lang="zh-CN" altLang="en-US"/>
                <a:t>….. 0</a:t>
              </a:r>
              <a:endParaRPr lang="zh-CN" altLang="en-US"/>
            </a:p>
            <a:p>
              <a:endParaRPr lang="zh-CN" altLang="en-US"/>
            </a:p>
          </p:txBody>
        </p:sp>
      </p:grpSp>
      <p:grpSp>
        <p:nvGrpSpPr>
          <p:cNvPr id="22" name="组合 21"/>
          <p:cNvGrpSpPr/>
          <p:nvPr/>
        </p:nvGrpSpPr>
        <p:grpSpPr>
          <a:xfrm>
            <a:off x="3048000" y="2825750"/>
            <a:ext cx="1018540" cy="2670810"/>
            <a:chOff x="4800" y="4210"/>
            <a:chExt cx="1604" cy="4206"/>
          </a:xfrm>
        </p:grpSpPr>
        <p:sp>
          <p:nvSpPr>
            <p:cNvPr id="1073744368" name="直线 14455"/>
            <p:cNvSpPr/>
            <p:nvPr/>
          </p:nvSpPr>
          <p:spPr>
            <a:xfrm>
              <a:off x="5356" y="4844"/>
              <a:ext cx="1" cy="2760"/>
            </a:xfrm>
            <a:prstGeom prst="line">
              <a:avLst/>
            </a:prstGeom>
            <a:ln w="9525" cap="flat" cmpd="sng">
              <a:solidFill>
                <a:srgbClr val="000000"/>
              </a:solidFill>
              <a:prstDash val="solid"/>
              <a:headEnd type="triangle" w="sm" len="med"/>
              <a:tailEnd type="none" w="med" len="med"/>
            </a:ln>
          </p:spPr>
        </p:sp>
        <p:sp>
          <p:nvSpPr>
            <p:cNvPr id="6" name="文本框 14397"/>
            <p:cNvSpPr txBox="1"/>
            <p:nvPr/>
          </p:nvSpPr>
          <p:spPr>
            <a:xfrm>
              <a:off x="4800" y="4210"/>
              <a:ext cx="1298" cy="408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square" lIns="18000" tIns="10800" rIns="18000" bIns="10800"/>
            <a:p>
              <a:r>
                <a:rPr lang="zh-CN" altLang="en-US"/>
                <a:t>最低位</a:t>
              </a:r>
              <a:endParaRPr lang="zh-CN" altLang="en-US"/>
            </a:p>
            <a:p>
              <a:endParaRPr lang="zh-CN" altLang="en-US"/>
            </a:p>
          </p:txBody>
        </p:sp>
        <p:sp>
          <p:nvSpPr>
            <p:cNvPr id="7" name="文本框 14398"/>
            <p:cNvSpPr txBox="1"/>
            <p:nvPr/>
          </p:nvSpPr>
          <p:spPr>
            <a:xfrm>
              <a:off x="4842" y="7724"/>
              <a:ext cx="1563" cy="692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square" lIns="18000" tIns="10800" rIns="18000" bIns="10800"/>
            <a:p>
              <a:r>
                <a:rPr lang="zh-CN" altLang="en-US"/>
                <a:t>最高位</a:t>
              </a:r>
              <a:endParaRPr lang="zh-CN" altLang="en-US"/>
            </a:p>
            <a:p>
              <a:endParaRPr lang="zh-CN" altLang="en-US"/>
            </a:p>
          </p:txBody>
        </p:sp>
      </p:grpSp>
      <p:sp>
        <p:nvSpPr>
          <p:cNvPr id="1073744370" name="文本框 14457"/>
          <p:cNvSpPr txBox="1"/>
          <p:nvPr/>
        </p:nvSpPr>
        <p:spPr>
          <a:xfrm>
            <a:off x="5181600" y="2667000"/>
            <a:ext cx="2114550" cy="294640"/>
          </a:xfrm>
          <a:prstGeom prst="rect">
            <a:avLst/>
          </a:prstGeom>
          <a:noFill/>
          <a:ln w="9525">
            <a:noFill/>
          </a:ln>
        </p:spPr>
        <p:txBody>
          <a:bodyPr wrap="square" lIns="18000" tIns="10800" rIns="18000" bIns="10800"/>
          <a:p>
            <a:r>
              <a:rPr lang="zh-CN" altLang="en-US"/>
              <a:t>0.625×2=1.25…1</a:t>
            </a:r>
            <a:endParaRPr lang="zh-CN" altLang="en-US"/>
          </a:p>
        </p:txBody>
      </p:sp>
      <p:sp>
        <p:nvSpPr>
          <p:cNvPr id="1073744371" name="文本框 14458"/>
          <p:cNvSpPr txBox="1"/>
          <p:nvPr/>
        </p:nvSpPr>
        <p:spPr>
          <a:xfrm>
            <a:off x="5181600" y="3124200"/>
            <a:ext cx="2051685" cy="333375"/>
          </a:xfrm>
          <a:prstGeom prst="rect">
            <a:avLst/>
          </a:prstGeom>
          <a:noFill/>
          <a:ln w="9525">
            <a:noFill/>
          </a:ln>
        </p:spPr>
        <p:txBody>
          <a:bodyPr wrap="square" lIns="18000" tIns="10800" rIns="18000" bIns="10800"/>
          <a:p>
            <a:r>
              <a:rPr lang="zh-CN" altLang="en-US"/>
              <a:t>0.25</a:t>
            </a:r>
            <a:r>
              <a:rPr lang="zh-CN" altLang="en-US">
                <a:sym typeface="+mn-ea"/>
              </a:rPr>
              <a:t>×</a:t>
            </a:r>
            <a:r>
              <a:rPr lang="zh-CN" altLang="en-US"/>
              <a:t>2=0.5…… 0    </a:t>
            </a:r>
            <a:endParaRPr lang="zh-CN" altLang="en-US"/>
          </a:p>
          <a:p>
            <a:endParaRPr lang="zh-CN" altLang="en-US"/>
          </a:p>
        </p:txBody>
      </p:sp>
      <p:sp>
        <p:nvSpPr>
          <p:cNvPr id="1073744372" name="文本框 14459"/>
          <p:cNvSpPr txBox="1"/>
          <p:nvPr/>
        </p:nvSpPr>
        <p:spPr>
          <a:xfrm>
            <a:off x="5181600" y="3547110"/>
            <a:ext cx="2080260" cy="317500"/>
          </a:xfrm>
          <a:prstGeom prst="rect">
            <a:avLst/>
          </a:prstGeom>
          <a:noFill/>
          <a:ln w="9525">
            <a:noFill/>
          </a:ln>
        </p:spPr>
        <p:txBody>
          <a:bodyPr wrap="square" lIns="18000" tIns="10800" rIns="18000" bIns="10800"/>
          <a:p>
            <a:r>
              <a:rPr lang="zh-CN" altLang="en-US"/>
              <a:t>0.5</a:t>
            </a:r>
            <a:r>
              <a:rPr lang="zh-CN" altLang="en-US">
                <a:sym typeface="+mn-ea"/>
              </a:rPr>
              <a:t>×</a:t>
            </a:r>
            <a:r>
              <a:rPr lang="zh-CN" altLang="en-US"/>
              <a:t>2=1.0…….. 1 </a:t>
            </a:r>
            <a:endParaRPr lang="zh-CN" altLang="en-US"/>
          </a:p>
        </p:txBody>
      </p:sp>
      <p:grpSp>
        <p:nvGrpSpPr>
          <p:cNvPr id="25" name="组合 24"/>
          <p:cNvGrpSpPr/>
          <p:nvPr/>
        </p:nvGrpSpPr>
        <p:grpSpPr>
          <a:xfrm>
            <a:off x="7171690" y="2668270"/>
            <a:ext cx="1431290" cy="1177290"/>
            <a:chOff x="9974" y="3962"/>
            <a:chExt cx="2254" cy="1854"/>
          </a:xfrm>
        </p:grpSpPr>
        <p:sp>
          <p:nvSpPr>
            <p:cNvPr id="1073744373" name="直线 14460"/>
            <p:cNvSpPr/>
            <p:nvPr/>
          </p:nvSpPr>
          <p:spPr>
            <a:xfrm>
              <a:off x="10680" y="4570"/>
              <a:ext cx="1" cy="676"/>
            </a:xfrm>
            <a:prstGeom prst="line">
              <a:avLst/>
            </a:prstGeom>
            <a:ln w="9525" cap="flat" cmpd="sng">
              <a:solidFill>
                <a:srgbClr val="000000"/>
              </a:solidFill>
              <a:prstDash val="solid"/>
              <a:headEnd type="none" w="med" len="med"/>
              <a:tailEnd type="triangle" w="sm" len="med"/>
            </a:ln>
          </p:spPr>
        </p:sp>
        <p:sp>
          <p:nvSpPr>
            <p:cNvPr id="23" name="文本框 14457"/>
            <p:cNvSpPr txBox="1"/>
            <p:nvPr/>
          </p:nvSpPr>
          <p:spPr>
            <a:xfrm>
              <a:off x="9974" y="3962"/>
              <a:ext cx="1757" cy="480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square" lIns="18000" tIns="10800" rIns="18000" bIns="10800"/>
            <a:p>
              <a:r>
                <a:rPr lang="zh-CN" altLang="en-US"/>
                <a:t>   最高位</a:t>
              </a:r>
              <a:endParaRPr lang="zh-CN" altLang="en-US"/>
            </a:p>
            <a:p>
              <a:endParaRPr lang="zh-CN" altLang="en-US"/>
            </a:p>
          </p:txBody>
        </p:sp>
        <p:sp>
          <p:nvSpPr>
            <p:cNvPr id="24" name="文本框 14459"/>
            <p:cNvSpPr txBox="1"/>
            <p:nvPr/>
          </p:nvSpPr>
          <p:spPr>
            <a:xfrm>
              <a:off x="10236" y="5348"/>
              <a:ext cx="1993" cy="469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square" lIns="18000" tIns="10800" rIns="18000" bIns="10800"/>
            <a:p>
              <a:r>
                <a:rPr lang="zh-CN" altLang="en-US"/>
                <a:t> 最低位</a:t>
              </a:r>
              <a:endParaRPr lang="zh-CN" altLang="en-US"/>
            </a:p>
            <a:p>
              <a:endParaRPr lang="zh-CN" altLang="en-US"/>
            </a:p>
          </p:txBody>
        </p:sp>
      </p:grpSp>
      <p:sp>
        <p:nvSpPr>
          <p:cNvPr id="100" name="文本框 99"/>
          <p:cNvSpPr txBox="1"/>
          <p:nvPr/>
        </p:nvSpPr>
        <p:spPr>
          <a:xfrm>
            <a:off x="4953000" y="1981200"/>
            <a:ext cx="3136900" cy="460375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p>
            <a:r>
              <a:rPr lang="zh-CN" altLang="en-US" sz="2400" b="1" dirty="0">
                <a:solidFill>
                  <a:srgbClr val="000066"/>
                </a:solidFill>
                <a:ea typeface="楷体_GB2312" pitchFamily="49" charset="-122"/>
              </a:rPr>
              <a:t>小数部分转换过程为</a:t>
            </a:r>
            <a:endParaRPr lang="zh-CN" altLang="en-US" sz="2400" b="1" dirty="0">
              <a:solidFill>
                <a:srgbClr val="000066"/>
              </a:solidFill>
              <a:ea typeface="楷体_GB2312" pitchFamily="49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1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8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4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5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0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1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>
                      <p:stCondLst>
                        <p:cond delay="indefinite"/>
                      </p:stCondLst>
                      <p:childTnLst>
                        <p:par>
                          <p:cTn id="63" fill="hold">
                            <p:stCondLst>
                              <p:cond delay="0"/>
                            </p:stCondLst>
                            <p:childTnLst>
                              <p:par>
                                <p:cTn id="64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6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55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1" dur="1000" fill="hold"/>
                                        <p:tgtEl>
                                          <p:spTgt spid="10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2" dur="1000" fill="hold"/>
                                        <p:tgtEl>
                                          <p:spTgt spid="10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3" dur="1000"/>
                                        <p:tgtEl>
                                          <p:spTgt spid="1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4" fill="hold">
                      <p:stCondLst>
                        <p:cond delay="indefinite"/>
                      </p:stCondLst>
                      <p:childTnLst>
                        <p:par>
                          <p:cTn id="75" fill="hold">
                            <p:stCondLst>
                              <p:cond delay="0"/>
                            </p:stCondLst>
                            <p:childTnLst>
                              <p:par>
                                <p:cTn id="76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37443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8" dur="500" fill="hold"/>
                                        <p:tgtEl>
                                          <p:spTgt spid="107374437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9" dur="500" fill="hold"/>
                                        <p:tgtEl>
                                          <p:spTgt spid="107374437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0" fill="hold">
                      <p:stCondLst>
                        <p:cond delay="indefinite"/>
                      </p:stCondLst>
                      <p:childTnLst>
                        <p:par>
                          <p:cTn id="81" fill="hold">
                            <p:stCondLst>
                              <p:cond delay="0"/>
                            </p:stCondLst>
                            <p:childTnLst>
                              <p:par>
                                <p:cTn id="82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37443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4" dur="500" fill="hold"/>
                                        <p:tgtEl>
                                          <p:spTgt spid="107374437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5" dur="500" fill="hold"/>
                                        <p:tgtEl>
                                          <p:spTgt spid="107374437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6" fill="hold">
                      <p:stCondLst>
                        <p:cond delay="indefinite"/>
                      </p:stCondLst>
                      <p:childTnLst>
                        <p:par>
                          <p:cTn id="87" fill="hold">
                            <p:stCondLst>
                              <p:cond delay="0"/>
                            </p:stCondLst>
                            <p:childTnLst>
                              <p:par>
                                <p:cTn id="88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37443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0" dur="500" fill="hold"/>
                                        <p:tgtEl>
                                          <p:spTgt spid="107374437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1" dur="500" fill="hold"/>
                                        <p:tgtEl>
                                          <p:spTgt spid="107374437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2" fill="hold">
                      <p:stCondLst>
                        <p:cond delay="indefinite"/>
                      </p:stCondLst>
                      <p:childTnLst>
                        <p:par>
                          <p:cTn id="93" fill="hold">
                            <p:stCondLst>
                              <p:cond delay="0"/>
                            </p:stCondLst>
                            <p:childTnLst>
                              <p:par>
                                <p:cTn id="94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96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7" fill="hold">
                      <p:stCondLst>
                        <p:cond delay="indefinite"/>
                      </p:stCondLst>
                      <p:childTnLst>
                        <p:par>
                          <p:cTn id="98" fill="hold">
                            <p:stCondLst>
                              <p:cond delay="0"/>
                            </p:stCondLst>
                            <p:childTnLst>
                              <p:par>
                                <p:cTn id="99" presetID="21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101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1073744370" grpId="0"/>
      <p:bldP spid="1073744371" grpId="0"/>
      <p:bldP spid="1073744372" grpId="0"/>
      <p:bldP spid="5" grpId="0"/>
      <p:bldP spid="100" grpId="0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6147" name="Rectangle 3"/>
          <p:cNvSpPr>
            <a:spLocks noGrp="1"/>
          </p:cNvSpPr>
          <p:nvPr>
            <p:ph idx="1"/>
          </p:nvPr>
        </p:nvSpPr>
        <p:spPr>
          <a:xfrm>
            <a:off x="685800" y="1447800"/>
            <a:ext cx="8003540" cy="1843405"/>
          </a:xfrm>
        </p:spPr>
        <p:txBody>
          <a:bodyPr vert="horz" wrap="square" lIns="91440" tIns="45720" rIns="91440" bIns="45720" anchor="t" anchorCtr="0"/>
          <a:p>
            <a:pPr marL="0" indent="0" eaLnBrk="1" latinLnBrk="0" hangingPunct="1">
              <a:lnSpc>
                <a:spcPct val="120000"/>
              </a:lnSpc>
              <a:spcBef>
                <a:spcPts val="0"/>
              </a:spcBef>
              <a:buNone/>
            </a:pPr>
            <a:r>
              <a:rPr lang="en-US" altLang="zh-CN" sz="2400" b="1" kern="1200" dirty="0">
                <a:solidFill>
                  <a:srgbClr val="000066"/>
                </a:solidFill>
                <a:latin typeface="Arial" panose="020B0604020202020204" pitchFamily="34" charset="0"/>
                <a:ea typeface="楷体_GB2312" pitchFamily="49" charset="-122"/>
              </a:rPr>
              <a:t>       </a:t>
            </a:r>
            <a:r>
              <a:rPr lang="zh-CN" altLang="en-US" sz="2400" b="1" kern="1200" dirty="0">
                <a:solidFill>
                  <a:srgbClr val="000066"/>
                </a:solidFill>
                <a:latin typeface="Arial" panose="020B0604020202020204" pitchFamily="34" charset="0"/>
                <a:ea typeface="楷体_GB2312" pitchFamily="49" charset="-122"/>
              </a:rPr>
              <a:t>上述转换过程中可以看出，当十进制数的整数部分很大时，除以2取余的过程要经历很多次，直到商</a:t>
            </a:r>
            <a:r>
              <a:rPr lang="zh-CN" altLang="en-US" sz="2400" b="1" kern="1200" dirty="0">
                <a:solidFill>
                  <a:srgbClr val="000066"/>
                </a:solidFill>
                <a:latin typeface="Arial" panose="020B0604020202020204" pitchFamily="34" charset="0"/>
                <a:ea typeface="楷体_GB2312" pitchFamily="49" charset="-122"/>
                <a:sym typeface="+mn-ea"/>
              </a:rPr>
              <a:t>为</a:t>
            </a:r>
            <a:r>
              <a:rPr lang="zh-CN" altLang="en-US" sz="2400" b="1" kern="1200" dirty="0">
                <a:solidFill>
                  <a:srgbClr val="000066"/>
                </a:solidFill>
                <a:latin typeface="Arial" panose="020B0604020202020204" pitchFamily="34" charset="0"/>
                <a:ea typeface="楷体_GB2312" pitchFamily="49" charset="-122"/>
              </a:rPr>
              <a:t>0，因此其</a:t>
            </a:r>
            <a:r>
              <a:rPr lang="zh-CN" altLang="en-US" sz="2400" b="1" kern="1200" dirty="0">
                <a:solidFill>
                  <a:srgbClr val="000066"/>
                </a:solidFill>
                <a:latin typeface="Arial" panose="020B0604020202020204" pitchFamily="34" charset="0"/>
                <a:ea typeface="楷体_GB2312" pitchFamily="49" charset="-122"/>
                <a:sym typeface="+mn-ea"/>
              </a:rPr>
              <a:t>不仅</a:t>
            </a:r>
            <a:r>
              <a:rPr lang="zh-CN" altLang="en-US" sz="2400" b="1" kern="1200" dirty="0">
                <a:solidFill>
                  <a:srgbClr val="000066"/>
                </a:solidFill>
                <a:latin typeface="Arial" panose="020B0604020202020204" pitchFamily="34" charset="0"/>
                <a:ea typeface="楷体_GB2312" pitchFamily="49" charset="-122"/>
              </a:rPr>
              <a:t>运算过程费时，而且容易将得到的结果写错。这种情况下采用降幂法较为简单。</a:t>
            </a:r>
            <a:endParaRPr lang="zh-CN" altLang="en-US" sz="2400" b="1" kern="1200" dirty="0">
              <a:solidFill>
                <a:srgbClr val="000066"/>
              </a:solidFill>
              <a:latin typeface="Arial" panose="020B0604020202020204" pitchFamily="34" charset="0"/>
              <a:ea typeface="楷体_GB2312" pitchFamily="49" charset="-122"/>
            </a:endParaRPr>
          </a:p>
        </p:txBody>
      </p:sp>
      <p:sp>
        <p:nvSpPr>
          <p:cNvPr id="6148" name="TextBox 6"/>
          <p:cNvSpPr txBox="1"/>
          <p:nvPr/>
        </p:nvSpPr>
        <p:spPr>
          <a:xfrm>
            <a:off x="2819400" y="533400"/>
            <a:ext cx="5593080" cy="583565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5pPr>
          </a:lstStyle>
          <a:p>
            <a:pPr marL="0" lvl="0" indent="0" algn="l"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b="1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1.2 </a:t>
            </a:r>
            <a:r>
              <a:rPr lang="zh-CN" altLang="en-US" b="1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数制与码制</a:t>
            </a:r>
            <a:endParaRPr lang="zh-CN" altLang="en-US" b="1" dirty="0">
              <a:solidFill>
                <a:srgbClr val="FF0000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6150" name="灯片编号占位符 5"/>
          <p:cNvSpPr txBox="1">
            <a:spLocks noGrp="1"/>
          </p:cNvSpPr>
          <p:nvPr>
            <p:ph type="sldNum" sz="quarter" idx="12"/>
          </p:nvPr>
        </p:nvSpPr>
        <p:spPr>
          <a:xfrm>
            <a:off x="6553200" y="6537325"/>
            <a:ext cx="2133600" cy="244475"/>
          </a:xfrm>
        </p:spPr>
        <p:txBody>
          <a:bodyPr/>
          <a:p>
            <a:pPr marL="0" indent="0" algn="r" eaLnBrk="1" hangingPunct="1">
              <a:spcBef>
                <a:spcPct val="0"/>
              </a:spcBef>
              <a:buClrTx/>
              <a:buFontTx/>
              <a:buNone/>
            </a:pPr>
            <a:fld id="{9A0DB2DC-4C9A-4742-B13C-FB6460FD3503}" type="slidenum">
              <a:rPr lang="en-US" altLang="zh-CN" sz="1200" dirty="0">
                <a:solidFill>
                  <a:schemeClr val="bg1"/>
                </a:solidFill>
                <a:ea typeface="宋体" panose="02010600030101010101" pitchFamily="2" charset="-122"/>
              </a:rPr>
            </a:fld>
            <a:endParaRPr lang="en-US" altLang="zh-CN" sz="1200" dirty="0">
              <a:solidFill>
                <a:schemeClr val="bg1"/>
              </a:solidFill>
              <a:ea typeface="宋体" panose="02010600030101010101" pitchFamily="2" charset="-122"/>
            </a:endParaRPr>
          </a:p>
        </p:txBody>
      </p:sp>
      <p:sp>
        <p:nvSpPr>
          <p:cNvPr id="6" name="Rectangle 3"/>
          <p:cNvSpPr>
            <a:spLocks noGrp="1"/>
          </p:cNvSpPr>
          <p:nvPr/>
        </p:nvSpPr>
        <p:spPr>
          <a:xfrm>
            <a:off x="685800" y="3276600"/>
            <a:ext cx="8003540" cy="3115310"/>
          </a:xfrm>
          <a:prstGeom prst="rect">
            <a:avLst/>
          </a:prstGeom>
          <a:noFill/>
          <a:ln w="9525">
            <a:noFill/>
          </a:ln>
        </p:spPr>
        <p:txBody>
          <a:bodyPr vert="horz" wrap="square" lIns="91440" tIns="45720" rIns="91440" bIns="45720" anchor="t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9pPr>
          </a:lstStyle>
          <a:p>
            <a:pPr marL="0" indent="0" eaLnBrk="1" latinLnBrk="0" hangingPunct="1">
              <a:lnSpc>
                <a:spcPct val="120000"/>
              </a:lnSpc>
              <a:spcBef>
                <a:spcPts val="0"/>
              </a:spcBef>
              <a:buNone/>
            </a:pPr>
            <a:r>
              <a:rPr lang="en-US" altLang="zh-CN" sz="2400" b="1" kern="1200" dirty="0">
                <a:solidFill>
                  <a:srgbClr val="000066"/>
                </a:solidFill>
                <a:latin typeface="Arial" panose="020B0604020202020204" pitchFamily="34" charset="0"/>
                <a:ea typeface="楷体_GB2312" pitchFamily="49" charset="-122"/>
              </a:rPr>
              <a:t>       </a:t>
            </a:r>
            <a:r>
              <a:rPr lang="zh-CN" altLang="en-US" sz="2400" b="1" kern="1200" dirty="0">
                <a:solidFill>
                  <a:srgbClr val="000066"/>
                </a:solidFill>
                <a:latin typeface="Arial" panose="020B0604020202020204" pitchFamily="34" charset="0"/>
                <a:ea typeface="楷体_GB2312" pitchFamily="49" charset="-122"/>
              </a:rPr>
              <a:t>降幂法的基本原理：设N为待转换的十进制整数，如果</a:t>
            </a:r>
            <a:r>
              <a:rPr lang="en-US" altLang="zh-CN" sz="2400" b="1" kern="1200" dirty="0">
                <a:solidFill>
                  <a:srgbClr val="000066"/>
                </a:solidFill>
                <a:latin typeface="Arial" panose="020B0604020202020204" pitchFamily="34" charset="0"/>
                <a:ea typeface="楷体_GB2312" pitchFamily="49" charset="-122"/>
              </a:rPr>
              <a:t>2</a:t>
            </a:r>
            <a:r>
              <a:rPr lang="en-US" altLang="zh-CN" sz="2400" b="1" i="1" kern="1200" baseline="30000" dirty="0">
                <a:solidFill>
                  <a:srgbClr val="000066"/>
                </a:solidFill>
                <a:latin typeface="Arial" panose="020B0604020202020204" pitchFamily="34" charset="0"/>
                <a:ea typeface="楷体_GB2312" pitchFamily="49" charset="-122"/>
              </a:rPr>
              <a:t>i</a:t>
            </a:r>
            <a:r>
              <a:rPr lang="en-US" altLang="zh-CN" sz="2400" b="1" kern="1200" dirty="0">
                <a:solidFill>
                  <a:srgbClr val="000066"/>
                </a:solidFill>
                <a:latin typeface="Arial" panose="020B0604020202020204" pitchFamily="34" charset="0"/>
                <a:ea typeface="楷体_GB2312" pitchFamily="49" charset="-122"/>
                <a:sym typeface="Symbol" panose="05050102010706020507" charset="0"/>
              </a:rPr>
              <a:t>N&lt;2</a:t>
            </a:r>
            <a:r>
              <a:rPr lang="en-US" altLang="zh-CN" sz="2400" b="1" i="1" kern="1200" baseline="30000" dirty="0">
                <a:solidFill>
                  <a:srgbClr val="000066"/>
                </a:solidFill>
                <a:latin typeface="Arial" panose="020B0604020202020204" pitchFamily="34" charset="0"/>
                <a:ea typeface="楷体_GB2312" pitchFamily="49" charset="-122"/>
                <a:sym typeface="Symbol" panose="05050102010706020507" charset="0"/>
              </a:rPr>
              <a:t>i</a:t>
            </a:r>
            <a:r>
              <a:rPr lang="en-US" altLang="zh-CN" sz="2400" b="1" kern="1200" baseline="30000" dirty="0">
                <a:solidFill>
                  <a:srgbClr val="000066"/>
                </a:solidFill>
                <a:latin typeface="Arial" panose="020B0604020202020204" pitchFamily="34" charset="0"/>
                <a:ea typeface="楷体_GB2312" pitchFamily="49" charset="-122"/>
                <a:sym typeface="Symbol" panose="05050102010706020507" charset="0"/>
              </a:rPr>
              <a:t>+1</a:t>
            </a:r>
            <a:r>
              <a:rPr lang="zh-CN" altLang="en-US" sz="2400" b="1" kern="1200" dirty="0">
                <a:solidFill>
                  <a:srgbClr val="000066"/>
                </a:solidFill>
                <a:latin typeface="Arial" panose="020B0604020202020204" pitchFamily="34" charset="0"/>
                <a:ea typeface="楷体_GB2312" pitchFamily="49" charset="-122"/>
              </a:rPr>
              <a:t>，则N的位权展开式中包含了位权为</a:t>
            </a:r>
            <a:r>
              <a:rPr lang="en-US" altLang="zh-CN" sz="2400" b="1" dirty="0">
                <a:solidFill>
                  <a:srgbClr val="000066"/>
                </a:solidFill>
                <a:latin typeface="Arial" panose="020B0604020202020204" pitchFamily="34" charset="0"/>
                <a:ea typeface="楷体_GB2312" pitchFamily="49" charset="-122"/>
                <a:sym typeface="+mn-ea"/>
              </a:rPr>
              <a:t>2</a:t>
            </a:r>
            <a:r>
              <a:rPr lang="en-US" altLang="zh-CN" sz="2400" b="1" i="1" baseline="30000" dirty="0">
                <a:solidFill>
                  <a:srgbClr val="000066"/>
                </a:solidFill>
                <a:latin typeface="Arial" panose="020B0604020202020204" pitchFamily="34" charset="0"/>
                <a:ea typeface="楷体_GB2312" pitchFamily="49" charset="-122"/>
                <a:sym typeface="+mn-ea"/>
              </a:rPr>
              <a:t>i</a:t>
            </a:r>
            <a:r>
              <a:rPr lang="zh-CN" altLang="en-US" sz="2400" b="1" kern="1200" dirty="0">
                <a:solidFill>
                  <a:srgbClr val="000066"/>
                </a:solidFill>
                <a:latin typeface="Arial" panose="020B0604020202020204" pitchFamily="34" charset="0"/>
                <a:ea typeface="楷体_GB2312" pitchFamily="49" charset="-122"/>
              </a:rPr>
              <a:t>这一项，因此位权</a:t>
            </a:r>
            <a:r>
              <a:rPr lang="en-US" altLang="zh-CN" sz="2400" b="1" dirty="0">
                <a:solidFill>
                  <a:srgbClr val="000066"/>
                </a:solidFill>
                <a:latin typeface="Arial" panose="020B0604020202020204" pitchFamily="34" charset="0"/>
                <a:ea typeface="楷体_GB2312" pitchFamily="49" charset="-122"/>
                <a:sym typeface="+mn-ea"/>
              </a:rPr>
              <a:t>2</a:t>
            </a:r>
            <a:r>
              <a:rPr lang="en-US" altLang="zh-CN" sz="2400" b="1" i="1" baseline="30000" dirty="0">
                <a:solidFill>
                  <a:srgbClr val="000066"/>
                </a:solidFill>
                <a:latin typeface="Arial" panose="020B0604020202020204" pitchFamily="34" charset="0"/>
                <a:ea typeface="楷体_GB2312" pitchFamily="49" charset="-122"/>
                <a:sym typeface="+mn-ea"/>
              </a:rPr>
              <a:t>i</a:t>
            </a:r>
            <a:r>
              <a:rPr lang="zh-CN" altLang="en-US" sz="2400" b="1" kern="1200" dirty="0">
                <a:solidFill>
                  <a:srgbClr val="000066"/>
                </a:solidFill>
                <a:latin typeface="Arial" panose="020B0604020202020204" pitchFamily="34" charset="0"/>
                <a:ea typeface="楷体_GB2312" pitchFamily="49" charset="-122"/>
              </a:rPr>
              <a:t>这一项的加权系数为1。然后再考虑</a:t>
            </a:r>
            <a:r>
              <a:rPr lang="en-US" altLang="zh-CN" sz="2400" b="1" kern="1200" dirty="0">
                <a:solidFill>
                  <a:srgbClr val="000066"/>
                </a:solidFill>
                <a:latin typeface="Arial" panose="020B0604020202020204" pitchFamily="34" charset="0"/>
                <a:ea typeface="楷体_GB2312" pitchFamily="49" charset="-122"/>
              </a:rPr>
              <a:t>N-</a:t>
            </a:r>
            <a:r>
              <a:rPr lang="en-US" altLang="zh-CN" sz="2400" b="1" dirty="0">
                <a:solidFill>
                  <a:srgbClr val="000066"/>
                </a:solidFill>
                <a:latin typeface="Arial" panose="020B0604020202020204" pitchFamily="34" charset="0"/>
                <a:ea typeface="楷体_GB2312" pitchFamily="49" charset="-122"/>
                <a:sym typeface="+mn-ea"/>
              </a:rPr>
              <a:t>2</a:t>
            </a:r>
            <a:r>
              <a:rPr lang="en-US" altLang="zh-CN" sz="2400" b="1" i="1" baseline="30000" dirty="0">
                <a:solidFill>
                  <a:srgbClr val="000066"/>
                </a:solidFill>
                <a:latin typeface="Arial" panose="020B0604020202020204" pitchFamily="34" charset="0"/>
                <a:ea typeface="楷体_GB2312" pitchFamily="49" charset="-122"/>
                <a:sym typeface="+mn-ea"/>
              </a:rPr>
              <a:t>i</a:t>
            </a:r>
            <a:r>
              <a:rPr lang="zh-CN" altLang="en-US" sz="2400" b="1" kern="1200" dirty="0">
                <a:solidFill>
                  <a:srgbClr val="000066"/>
                </a:solidFill>
                <a:latin typeface="Arial" panose="020B0604020202020204" pitchFamily="34" charset="0"/>
                <a:ea typeface="楷体_GB2312" pitchFamily="49" charset="-122"/>
              </a:rPr>
              <a:t>还包含了哪些位权项，若包含了某个位权项则该位权项对应的加权系数为1，否则为0。最后，将所有的位权项与加权系数相乘后再相加得到N，再根据公式 (1-3) 可得到相应的二进制数。</a:t>
            </a:r>
            <a:endParaRPr lang="zh-CN" altLang="en-US" sz="2400" b="1" kern="1200" dirty="0">
              <a:solidFill>
                <a:srgbClr val="000066"/>
              </a:solidFill>
              <a:latin typeface="Arial" panose="020B0604020202020204" pitchFamily="34" charset="0"/>
              <a:ea typeface="楷体_GB2312" pitchFamily="49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1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6147" name="Rectangle 3"/>
          <p:cNvSpPr>
            <a:spLocks noGrp="1"/>
          </p:cNvSpPr>
          <p:nvPr>
            <p:ph idx="1"/>
          </p:nvPr>
        </p:nvSpPr>
        <p:spPr>
          <a:xfrm>
            <a:off x="457200" y="1295400"/>
            <a:ext cx="8003540" cy="635635"/>
          </a:xfrm>
        </p:spPr>
        <p:txBody>
          <a:bodyPr vert="horz" wrap="square" lIns="91440" tIns="45720" rIns="91440" bIns="45720" anchor="t" anchorCtr="0"/>
          <a:p>
            <a:pPr marL="0" indent="0" eaLnBrk="1" latinLnBrk="0" hangingPunct="1">
              <a:lnSpc>
                <a:spcPct val="120000"/>
              </a:lnSpc>
              <a:spcBef>
                <a:spcPts val="0"/>
              </a:spcBef>
              <a:buNone/>
            </a:pPr>
            <a:r>
              <a:rPr lang="en-US" altLang="zh-CN" sz="2400" b="1" kern="1200" dirty="0">
                <a:solidFill>
                  <a:srgbClr val="000066"/>
                </a:solidFill>
                <a:latin typeface="Arial" panose="020B0604020202020204" pitchFamily="34" charset="0"/>
                <a:ea typeface="楷体_GB2312" pitchFamily="49" charset="-122"/>
              </a:rPr>
              <a:t>       </a:t>
            </a:r>
            <a:r>
              <a:rPr lang="zh-CN" altLang="en-US" sz="2400" b="1" kern="1200" dirty="0">
                <a:solidFill>
                  <a:srgbClr val="000066"/>
                </a:solidFill>
                <a:latin typeface="Arial" panose="020B0604020202020204" pitchFamily="34" charset="0"/>
                <a:ea typeface="楷体_GB2312" pitchFamily="49" charset="-122"/>
              </a:rPr>
              <a:t>【例1-</a:t>
            </a:r>
            <a:r>
              <a:rPr lang="en-US" altLang="zh-CN" sz="2400" b="1" kern="1200" dirty="0">
                <a:solidFill>
                  <a:srgbClr val="000066"/>
                </a:solidFill>
                <a:latin typeface="Arial" panose="020B0604020202020204" pitchFamily="34" charset="0"/>
                <a:ea typeface="楷体_GB2312" pitchFamily="49" charset="-122"/>
              </a:rPr>
              <a:t>2</a:t>
            </a:r>
            <a:r>
              <a:rPr lang="zh-CN" altLang="en-US" sz="2400" b="1" kern="1200" dirty="0">
                <a:solidFill>
                  <a:srgbClr val="000066"/>
                </a:solidFill>
                <a:latin typeface="Arial" panose="020B0604020202020204" pitchFamily="34" charset="0"/>
                <a:ea typeface="楷体_GB2312" pitchFamily="49" charset="-122"/>
              </a:rPr>
              <a:t>】用降幂法将十进制数1045转换成二进制数。</a:t>
            </a:r>
            <a:endParaRPr lang="zh-CN" altLang="en-US" sz="2400" b="1" kern="1200" dirty="0">
              <a:solidFill>
                <a:srgbClr val="000066"/>
              </a:solidFill>
              <a:latin typeface="Arial" panose="020B0604020202020204" pitchFamily="34" charset="0"/>
              <a:ea typeface="楷体_GB2312" pitchFamily="49" charset="-122"/>
            </a:endParaRPr>
          </a:p>
        </p:txBody>
      </p:sp>
      <p:sp>
        <p:nvSpPr>
          <p:cNvPr id="6148" name="TextBox 6"/>
          <p:cNvSpPr txBox="1"/>
          <p:nvPr/>
        </p:nvSpPr>
        <p:spPr>
          <a:xfrm>
            <a:off x="2819400" y="533400"/>
            <a:ext cx="5593080" cy="583565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5pPr>
          </a:lstStyle>
          <a:p>
            <a:pPr marL="0" lvl="0" indent="0" algn="l"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b="1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1.2 </a:t>
            </a:r>
            <a:r>
              <a:rPr lang="zh-CN" altLang="en-US" b="1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数制与码制</a:t>
            </a:r>
            <a:endParaRPr lang="zh-CN" altLang="en-US" b="1" dirty="0">
              <a:solidFill>
                <a:srgbClr val="FF0000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6150" name="灯片编号占位符 5"/>
          <p:cNvSpPr txBox="1">
            <a:spLocks noGrp="1"/>
          </p:cNvSpPr>
          <p:nvPr>
            <p:ph type="sldNum" sz="quarter" idx="12"/>
          </p:nvPr>
        </p:nvSpPr>
        <p:spPr>
          <a:xfrm>
            <a:off x="6553200" y="6537325"/>
            <a:ext cx="2133600" cy="244475"/>
          </a:xfrm>
        </p:spPr>
        <p:txBody>
          <a:bodyPr/>
          <a:p>
            <a:pPr marL="0" indent="0" algn="r" eaLnBrk="1" hangingPunct="1">
              <a:spcBef>
                <a:spcPct val="0"/>
              </a:spcBef>
              <a:buClrTx/>
              <a:buFontTx/>
              <a:buNone/>
            </a:pPr>
            <a:fld id="{9A0DB2DC-4C9A-4742-B13C-FB6460FD3503}" type="slidenum">
              <a:rPr lang="en-US" altLang="zh-CN" sz="1200" dirty="0">
                <a:solidFill>
                  <a:schemeClr val="bg1"/>
                </a:solidFill>
                <a:ea typeface="宋体" panose="02010600030101010101" pitchFamily="2" charset="-122"/>
              </a:rPr>
            </a:fld>
            <a:endParaRPr lang="en-US" altLang="zh-CN" sz="1200" dirty="0">
              <a:solidFill>
                <a:schemeClr val="bg1"/>
              </a:solidFill>
              <a:ea typeface="宋体" panose="02010600030101010101" pitchFamily="2" charset="-122"/>
            </a:endParaRPr>
          </a:p>
        </p:txBody>
      </p:sp>
      <p:grpSp>
        <p:nvGrpSpPr>
          <p:cNvPr id="35" name="组合 34"/>
          <p:cNvGrpSpPr/>
          <p:nvPr/>
        </p:nvGrpSpPr>
        <p:grpSpPr>
          <a:xfrm>
            <a:off x="533400" y="1752600"/>
            <a:ext cx="5500370" cy="527050"/>
            <a:chOff x="840" y="2760"/>
            <a:chExt cx="8662" cy="830"/>
          </a:xfrm>
        </p:grpSpPr>
        <p:sp>
          <p:nvSpPr>
            <p:cNvPr id="3" name="Rectangle 3"/>
            <p:cNvSpPr>
              <a:spLocks noGrp="1"/>
            </p:cNvSpPr>
            <p:nvPr/>
          </p:nvSpPr>
          <p:spPr>
            <a:xfrm>
              <a:off x="840" y="2760"/>
              <a:ext cx="6669" cy="830"/>
            </a:xfrm>
            <a:prstGeom prst="rect">
              <a:avLst/>
            </a:prstGeom>
            <a:noFill/>
            <a:ln w="9525">
              <a:noFill/>
            </a:ln>
          </p:spPr>
          <p:txBody>
            <a:bodyPr vert="horz" wrap="square" lIns="91440" tIns="45720" rIns="91440" bIns="45720" anchor="t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Font typeface="Wingdings" panose="05000000000000000000" pitchFamily="2" charset="2"/>
                <a:buChar char="v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+mn-lt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</a:defRPr>
              </a:lvl5pPr>
              <a:lvl6pPr marL="2514600" indent="-228600" algn="l" rtl="0" fontAlgn="base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</a:defRPr>
              </a:lvl6pPr>
              <a:lvl7pPr marL="2971800" indent="-228600" algn="l" rtl="0" fontAlgn="base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</a:defRPr>
              </a:lvl7pPr>
              <a:lvl8pPr marL="3429000" indent="-228600" algn="l" rtl="0" fontAlgn="base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</a:defRPr>
              </a:lvl8pPr>
              <a:lvl9pPr marL="3886200" indent="-228600" algn="l" rtl="0" fontAlgn="base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</a:defRPr>
              </a:lvl9pPr>
            </a:lstStyle>
            <a:p>
              <a:pPr marL="0" indent="0" eaLnBrk="1" latinLnBrk="0" hangingPunct="1">
                <a:lnSpc>
                  <a:spcPct val="120000"/>
                </a:lnSpc>
                <a:spcBef>
                  <a:spcPts val="0"/>
                </a:spcBef>
                <a:buNone/>
              </a:pPr>
              <a:r>
                <a:rPr lang="en-US" altLang="zh-CN" sz="2400" b="1" kern="1200" dirty="0">
                  <a:solidFill>
                    <a:srgbClr val="000066"/>
                  </a:solidFill>
                  <a:latin typeface="Arial" panose="020B0604020202020204" pitchFamily="34" charset="0"/>
                  <a:ea typeface="楷体_GB2312" pitchFamily="49" charset="-122"/>
                </a:rPr>
                <a:t>       </a:t>
              </a:r>
              <a:r>
                <a:rPr lang="zh-CN" altLang="en-US" sz="2400" b="1" kern="1200" dirty="0">
                  <a:solidFill>
                    <a:srgbClr val="000066"/>
                  </a:solidFill>
                  <a:latin typeface="Arial" panose="020B0604020202020204" pitchFamily="34" charset="0"/>
                  <a:ea typeface="楷体_GB2312" pitchFamily="49" charset="-122"/>
                </a:rPr>
                <a:t>解：因为</a:t>
              </a:r>
              <a:endParaRPr lang="en-US" altLang="zh-CN" sz="2400" b="1" kern="1200" dirty="0">
                <a:solidFill>
                  <a:srgbClr val="000066"/>
                </a:solidFill>
                <a:latin typeface="Arial" panose="020B0604020202020204" pitchFamily="34" charset="0"/>
                <a:ea typeface="楷体_GB2312" pitchFamily="49" charset="-122"/>
              </a:endParaRPr>
            </a:p>
          </p:txBody>
        </p:sp>
        <p:graphicFrame>
          <p:nvGraphicFramePr>
            <p:cNvPr id="2" name="对象 -2147482594"/>
            <p:cNvGraphicFramePr>
              <a:graphicFrameLocks noChangeAspect="1"/>
            </p:cNvGraphicFramePr>
            <p:nvPr/>
          </p:nvGraphicFramePr>
          <p:xfrm>
            <a:off x="3960" y="2880"/>
            <a:ext cx="5542" cy="62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076" name="" r:id="rId1" imgW="1572260" imgH="177800" progId="Equation.DSMT4">
                    <p:embed/>
                  </p:oleObj>
                </mc:Choice>
                <mc:Fallback>
                  <p:oleObj name="" r:id="rId1" imgW="1572260" imgH="177800" progId="Equation.DSMT4">
                    <p:embed/>
                    <p:pic>
                      <p:nvPicPr>
                        <p:cNvPr id="0" name="图片 3075"/>
                        <p:cNvPicPr/>
                        <p:nvPr/>
                      </p:nvPicPr>
                      <p:blipFill>
                        <a:blip r:embed="rId2"/>
                        <a:stretch>
                          <a:fillRect/>
                        </a:stretch>
                      </p:blipFill>
                      <p:spPr>
                        <a:xfrm>
                          <a:off x="3960" y="2880"/>
                          <a:ext cx="5542" cy="624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4" name="文本框 3"/>
          <p:cNvSpPr txBox="1"/>
          <p:nvPr/>
        </p:nvSpPr>
        <p:spPr>
          <a:xfrm>
            <a:off x="1718310" y="2195830"/>
            <a:ext cx="5080000" cy="53403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>
              <a:lnSpc>
                <a:spcPct val="120000"/>
              </a:lnSpc>
              <a:spcBef>
                <a:spcPts val="0"/>
              </a:spcBef>
              <a:buClr>
                <a:schemeClr val="folHlink"/>
              </a:buClr>
              <a:buSzTx/>
              <a:buFont typeface="Wingdings" panose="05000000000000000000" pitchFamily="2" charset="2"/>
            </a:pPr>
            <a:r>
              <a:rPr lang="zh-CN" altLang="en-US" sz="2400" b="1" dirty="0">
                <a:solidFill>
                  <a:srgbClr val="000066"/>
                </a:solidFill>
                <a:ea typeface="楷体_GB2312" pitchFamily="49" charset="-122"/>
              </a:rPr>
              <a:t>所以1045中包含了位权</a:t>
            </a:r>
            <a:r>
              <a:rPr lang="en-US" altLang="zh-CN" sz="2400" b="1" dirty="0">
                <a:solidFill>
                  <a:srgbClr val="000066"/>
                </a:solidFill>
                <a:ea typeface="楷体_GB2312" pitchFamily="49" charset="-122"/>
              </a:rPr>
              <a:t>2</a:t>
            </a:r>
            <a:r>
              <a:rPr lang="en-US" altLang="zh-CN" sz="2400" b="1" baseline="30000" dirty="0">
                <a:solidFill>
                  <a:srgbClr val="000066"/>
                </a:solidFill>
                <a:ea typeface="楷体_GB2312" pitchFamily="49" charset="-122"/>
              </a:rPr>
              <a:t>10</a:t>
            </a:r>
            <a:r>
              <a:rPr lang="en-US" altLang="zh-CN" sz="2400" b="1" dirty="0">
                <a:solidFill>
                  <a:srgbClr val="000066"/>
                </a:solidFill>
                <a:ea typeface="楷体_GB2312" pitchFamily="49" charset="-122"/>
              </a:rPr>
              <a:t>;</a:t>
            </a:r>
            <a:endParaRPr lang="en-US" altLang="zh-CN" sz="2400" b="1" baseline="30000" dirty="0">
              <a:solidFill>
                <a:srgbClr val="000066"/>
              </a:solidFill>
              <a:ea typeface="楷体_GB2312" pitchFamily="49" charset="-122"/>
            </a:endParaRPr>
          </a:p>
        </p:txBody>
      </p:sp>
      <p:grpSp>
        <p:nvGrpSpPr>
          <p:cNvPr id="36" name="组合 35"/>
          <p:cNvGrpSpPr/>
          <p:nvPr/>
        </p:nvGrpSpPr>
        <p:grpSpPr>
          <a:xfrm>
            <a:off x="1704340" y="2590800"/>
            <a:ext cx="3956050" cy="533400"/>
            <a:chOff x="2684" y="4080"/>
            <a:chExt cx="6230" cy="840"/>
          </a:xfrm>
        </p:grpSpPr>
        <p:sp>
          <p:nvSpPr>
            <p:cNvPr id="101" name="文本框 100"/>
            <p:cNvSpPr txBox="1"/>
            <p:nvPr/>
          </p:nvSpPr>
          <p:spPr>
            <a:xfrm>
              <a:off x="2684" y="4080"/>
              <a:ext cx="2398" cy="84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square">
              <a:spAutoFit/>
            </a:bodyPr>
            <a:p>
              <a:pPr>
                <a:lnSpc>
                  <a:spcPct val="120000"/>
                </a:lnSpc>
                <a:spcBef>
                  <a:spcPts val="0"/>
                </a:spcBef>
                <a:buClr>
                  <a:schemeClr val="folHlink"/>
                </a:buClr>
                <a:buSzTx/>
                <a:buFont typeface="Wingdings" panose="05000000000000000000" pitchFamily="2" charset="2"/>
              </a:pPr>
              <a:r>
                <a:rPr lang="zh-CN" altLang="en-US" sz="2400" b="1" dirty="0">
                  <a:solidFill>
                    <a:srgbClr val="000066"/>
                  </a:solidFill>
                  <a:ea typeface="楷体_GB2312" pitchFamily="49" charset="-122"/>
                </a:rPr>
                <a:t>又因为</a:t>
              </a:r>
              <a:endParaRPr lang="zh-CN" altLang="en-US" sz="2400" b="1" dirty="0">
                <a:solidFill>
                  <a:srgbClr val="000066"/>
                </a:solidFill>
                <a:ea typeface="楷体_GB2312" pitchFamily="49" charset="-122"/>
              </a:endParaRPr>
            </a:p>
          </p:txBody>
        </p:sp>
        <p:graphicFrame>
          <p:nvGraphicFramePr>
            <p:cNvPr id="5" name="对象 -2147482592"/>
            <p:cNvGraphicFramePr>
              <a:graphicFrameLocks noChangeAspect="1"/>
            </p:cNvGraphicFramePr>
            <p:nvPr/>
          </p:nvGraphicFramePr>
          <p:xfrm>
            <a:off x="4440" y="4200"/>
            <a:ext cx="4474" cy="61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3" name="" r:id="rId3" imgW="1280160" imgH="177800" progId="Equation.DSMT4">
                    <p:embed/>
                  </p:oleObj>
                </mc:Choice>
                <mc:Fallback>
                  <p:oleObj name="" r:id="rId3" imgW="1280160" imgH="177800" progId="Equation.DSMT4">
                    <p:embed/>
                    <p:pic>
                      <p:nvPicPr>
                        <p:cNvPr id="0" name="图片 12"/>
                        <p:cNvPicPr/>
                        <p:nvPr/>
                      </p:nvPicPr>
                      <p:blipFill>
                        <a:blip r:embed="rId4"/>
                        <a:stretch>
                          <a:fillRect/>
                        </a:stretch>
                      </p:blipFill>
                      <p:spPr>
                        <a:xfrm>
                          <a:off x="4440" y="4200"/>
                          <a:ext cx="4474" cy="618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14" name="文本框 13"/>
          <p:cNvSpPr txBox="1"/>
          <p:nvPr/>
        </p:nvSpPr>
        <p:spPr>
          <a:xfrm>
            <a:off x="1727200" y="3074035"/>
            <a:ext cx="4414520" cy="460375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p>
            <a:r>
              <a:rPr lang="zh-CN" altLang="en-US" sz="2400" b="1" dirty="0">
                <a:solidFill>
                  <a:srgbClr val="000066"/>
                </a:solidFill>
                <a:ea typeface="楷体_GB2312" pitchFamily="49" charset="-122"/>
              </a:rPr>
              <a:t>所以1045中还包含了位权</a:t>
            </a:r>
            <a:r>
              <a:rPr lang="en-US" altLang="zh-CN" sz="2400" b="1" dirty="0">
                <a:solidFill>
                  <a:srgbClr val="000066"/>
                </a:solidFill>
                <a:ea typeface="楷体_GB2312" pitchFamily="49" charset="-122"/>
              </a:rPr>
              <a:t>2</a:t>
            </a:r>
            <a:r>
              <a:rPr lang="en-US" altLang="zh-CN" sz="2400" b="1" baseline="30000" dirty="0">
                <a:solidFill>
                  <a:srgbClr val="000066"/>
                </a:solidFill>
                <a:ea typeface="楷体_GB2312" pitchFamily="49" charset="-122"/>
              </a:rPr>
              <a:t>4</a:t>
            </a:r>
            <a:r>
              <a:rPr lang="en-US" altLang="zh-CN" sz="2400" b="1" dirty="0">
                <a:solidFill>
                  <a:srgbClr val="000066"/>
                </a:solidFill>
                <a:ea typeface="楷体_GB2312" pitchFamily="49" charset="-122"/>
              </a:rPr>
              <a:t>;</a:t>
            </a:r>
            <a:endParaRPr lang="en-US" altLang="zh-CN" sz="2400" b="1" dirty="0">
              <a:solidFill>
                <a:srgbClr val="000066"/>
              </a:solidFill>
              <a:ea typeface="楷体_GB2312" pitchFamily="49" charset="-122"/>
            </a:endParaRPr>
          </a:p>
        </p:txBody>
      </p:sp>
      <p:grpSp>
        <p:nvGrpSpPr>
          <p:cNvPr id="37" name="组合 36"/>
          <p:cNvGrpSpPr/>
          <p:nvPr/>
        </p:nvGrpSpPr>
        <p:grpSpPr>
          <a:xfrm>
            <a:off x="1713230" y="3465830"/>
            <a:ext cx="3733800" cy="533400"/>
            <a:chOff x="2698" y="5446"/>
            <a:chExt cx="5880" cy="840"/>
          </a:xfrm>
        </p:grpSpPr>
        <p:graphicFrame>
          <p:nvGraphicFramePr>
            <p:cNvPr id="6" name="对象 -2147482590"/>
            <p:cNvGraphicFramePr>
              <a:graphicFrameLocks noChangeAspect="1"/>
            </p:cNvGraphicFramePr>
            <p:nvPr/>
          </p:nvGraphicFramePr>
          <p:xfrm>
            <a:off x="4440" y="5508"/>
            <a:ext cx="4138" cy="68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5" name="" r:id="rId5" imgW="1064895" imgH="177800" progId="Equation.DSMT4">
                    <p:embed/>
                  </p:oleObj>
                </mc:Choice>
                <mc:Fallback>
                  <p:oleObj name="" r:id="rId5" imgW="1064895" imgH="177800" progId="Equation.DSMT4">
                    <p:embed/>
                    <p:pic>
                      <p:nvPicPr>
                        <p:cNvPr id="0" name="图片 14"/>
                        <p:cNvPicPr/>
                        <p:nvPr/>
                      </p:nvPicPr>
                      <p:blipFill>
                        <a:blip r:embed="rId6"/>
                        <a:stretch>
                          <a:fillRect/>
                        </a:stretch>
                      </p:blipFill>
                      <p:spPr>
                        <a:xfrm>
                          <a:off x="4440" y="5508"/>
                          <a:ext cx="4138" cy="687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27" name="文本框 26"/>
            <p:cNvSpPr txBox="1"/>
            <p:nvPr/>
          </p:nvSpPr>
          <p:spPr>
            <a:xfrm>
              <a:off x="2698" y="5446"/>
              <a:ext cx="2398" cy="84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square">
              <a:spAutoFit/>
            </a:bodyPr>
            <a:p>
              <a:pPr>
                <a:lnSpc>
                  <a:spcPct val="120000"/>
                </a:lnSpc>
                <a:spcBef>
                  <a:spcPts val="0"/>
                </a:spcBef>
                <a:buClr>
                  <a:schemeClr val="folHlink"/>
                </a:buClr>
                <a:buSzTx/>
                <a:buFont typeface="Wingdings" panose="05000000000000000000" pitchFamily="2" charset="2"/>
              </a:pPr>
              <a:r>
                <a:rPr lang="zh-CN" altLang="en-US" sz="2400" b="1" dirty="0">
                  <a:solidFill>
                    <a:srgbClr val="000066"/>
                  </a:solidFill>
                  <a:ea typeface="楷体_GB2312" pitchFamily="49" charset="-122"/>
                </a:rPr>
                <a:t>又因为</a:t>
              </a:r>
              <a:endParaRPr lang="zh-CN" altLang="en-US" sz="2400" b="1" dirty="0">
                <a:solidFill>
                  <a:srgbClr val="000066"/>
                </a:solidFill>
                <a:ea typeface="楷体_GB2312" pitchFamily="49" charset="-122"/>
              </a:endParaRPr>
            </a:p>
          </p:txBody>
        </p:sp>
      </p:grpSp>
      <p:sp>
        <p:nvSpPr>
          <p:cNvPr id="28" name="文本框 27"/>
          <p:cNvSpPr txBox="1"/>
          <p:nvPr/>
        </p:nvSpPr>
        <p:spPr>
          <a:xfrm>
            <a:off x="1736090" y="3941445"/>
            <a:ext cx="4414520" cy="460375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p>
            <a:r>
              <a:rPr lang="zh-CN" altLang="en-US" sz="2400" b="1" dirty="0">
                <a:solidFill>
                  <a:srgbClr val="000066"/>
                </a:solidFill>
                <a:ea typeface="楷体_GB2312" pitchFamily="49" charset="-122"/>
              </a:rPr>
              <a:t>所以1045中还包含了位权</a:t>
            </a:r>
            <a:r>
              <a:rPr lang="en-US" altLang="zh-CN" sz="2400" b="1" dirty="0">
                <a:solidFill>
                  <a:srgbClr val="000066"/>
                </a:solidFill>
                <a:ea typeface="楷体_GB2312" pitchFamily="49" charset="-122"/>
              </a:rPr>
              <a:t>2</a:t>
            </a:r>
            <a:r>
              <a:rPr lang="en-US" altLang="zh-CN" sz="2400" b="1" baseline="30000" dirty="0">
                <a:solidFill>
                  <a:srgbClr val="000066"/>
                </a:solidFill>
                <a:ea typeface="楷体_GB2312" pitchFamily="49" charset="-122"/>
              </a:rPr>
              <a:t>2</a:t>
            </a:r>
            <a:r>
              <a:rPr lang="en-US" altLang="zh-CN" sz="2400" b="1" dirty="0">
                <a:solidFill>
                  <a:srgbClr val="000066"/>
                </a:solidFill>
                <a:ea typeface="楷体_GB2312" pitchFamily="49" charset="-122"/>
              </a:rPr>
              <a:t>;</a:t>
            </a:r>
            <a:endParaRPr lang="en-US" altLang="zh-CN" sz="2400" b="1" dirty="0">
              <a:solidFill>
                <a:srgbClr val="000066"/>
              </a:solidFill>
              <a:ea typeface="楷体_GB2312" pitchFamily="49" charset="-122"/>
            </a:endParaRPr>
          </a:p>
        </p:txBody>
      </p:sp>
      <p:grpSp>
        <p:nvGrpSpPr>
          <p:cNvPr id="39" name="组合 38"/>
          <p:cNvGrpSpPr/>
          <p:nvPr/>
        </p:nvGrpSpPr>
        <p:grpSpPr>
          <a:xfrm>
            <a:off x="1715770" y="4361180"/>
            <a:ext cx="2854960" cy="533400"/>
            <a:chOff x="2702" y="6868"/>
            <a:chExt cx="4496" cy="840"/>
          </a:xfrm>
        </p:grpSpPr>
        <p:sp>
          <p:nvSpPr>
            <p:cNvPr id="29" name="文本框 28"/>
            <p:cNvSpPr txBox="1"/>
            <p:nvPr/>
          </p:nvSpPr>
          <p:spPr>
            <a:xfrm>
              <a:off x="2702" y="6868"/>
              <a:ext cx="2398" cy="84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square">
              <a:spAutoFit/>
            </a:bodyPr>
            <a:p>
              <a:pPr>
                <a:lnSpc>
                  <a:spcPct val="120000"/>
                </a:lnSpc>
                <a:spcBef>
                  <a:spcPts val="0"/>
                </a:spcBef>
                <a:buClr>
                  <a:schemeClr val="folHlink"/>
                </a:buClr>
                <a:buSzTx/>
                <a:buFont typeface="Wingdings" panose="05000000000000000000" pitchFamily="2" charset="2"/>
              </a:pPr>
              <a:r>
                <a:rPr lang="zh-CN" altLang="en-US" sz="2400" b="1" dirty="0">
                  <a:solidFill>
                    <a:srgbClr val="000066"/>
                  </a:solidFill>
                  <a:ea typeface="楷体_GB2312" pitchFamily="49" charset="-122"/>
                </a:rPr>
                <a:t>又因为</a:t>
              </a:r>
              <a:endParaRPr lang="zh-CN" altLang="en-US" sz="2400" b="1" dirty="0">
                <a:solidFill>
                  <a:srgbClr val="000066"/>
                </a:solidFill>
                <a:ea typeface="楷体_GB2312" pitchFamily="49" charset="-122"/>
              </a:endParaRPr>
            </a:p>
          </p:txBody>
        </p:sp>
        <p:graphicFrame>
          <p:nvGraphicFramePr>
            <p:cNvPr id="7" name="对象 -2147482588"/>
            <p:cNvGraphicFramePr>
              <a:graphicFrameLocks noChangeAspect="1"/>
            </p:cNvGraphicFramePr>
            <p:nvPr/>
          </p:nvGraphicFramePr>
          <p:xfrm>
            <a:off x="4440" y="6992"/>
            <a:ext cx="2758" cy="65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1" name="" r:id="rId7" imgW="748030" imgH="177800" progId="Equation.DSMT4">
                    <p:embed/>
                  </p:oleObj>
                </mc:Choice>
                <mc:Fallback>
                  <p:oleObj name="" r:id="rId7" imgW="748030" imgH="177800" progId="Equation.DSMT4">
                    <p:embed/>
                    <p:pic>
                      <p:nvPicPr>
                        <p:cNvPr id="0" name="图片 30"/>
                        <p:cNvPicPr/>
                        <p:nvPr/>
                      </p:nvPicPr>
                      <p:blipFill>
                        <a:blip r:embed="rId8"/>
                        <a:stretch>
                          <a:fillRect/>
                        </a:stretch>
                      </p:blipFill>
                      <p:spPr>
                        <a:xfrm>
                          <a:off x="4440" y="6992"/>
                          <a:ext cx="2758" cy="653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40" name="组合 39"/>
          <p:cNvGrpSpPr/>
          <p:nvPr/>
        </p:nvGrpSpPr>
        <p:grpSpPr>
          <a:xfrm>
            <a:off x="1738630" y="4920615"/>
            <a:ext cx="7247890" cy="459740"/>
            <a:chOff x="2738" y="7749"/>
            <a:chExt cx="11414" cy="724"/>
          </a:xfrm>
        </p:grpSpPr>
        <p:sp>
          <p:nvSpPr>
            <p:cNvPr id="30" name="文本框 29"/>
            <p:cNvSpPr txBox="1"/>
            <p:nvPr/>
          </p:nvSpPr>
          <p:spPr>
            <a:xfrm>
              <a:off x="2738" y="7749"/>
              <a:ext cx="6952" cy="725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square">
              <a:spAutoFit/>
            </a:bodyPr>
            <a:p>
              <a:r>
                <a:rPr lang="zh-CN" altLang="en-US" sz="2400" b="1" dirty="0">
                  <a:solidFill>
                    <a:srgbClr val="000066"/>
                  </a:solidFill>
                  <a:ea typeface="楷体_GB2312" pitchFamily="49" charset="-122"/>
                </a:rPr>
                <a:t>所以1045中还包含了位权</a:t>
              </a:r>
              <a:r>
                <a:rPr lang="en-US" altLang="zh-CN" sz="2400" b="1" dirty="0">
                  <a:solidFill>
                    <a:srgbClr val="000066"/>
                  </a:solidFill>
                  <a:ea typeface="楷体_GB2312" pitchFamily="49" charset="-122"/>
                </a:rPr>
                <a:t>2</a:t>
              </a:r>
              <a:r>
                <a:rPr lang="en-US" altLang="zh-CN" sz="2400" b="1" baseline="30000" dirty="0">
                  <a:solidFill>
                    <a:srgbClr val="000066"/>
                  </a:solidFill>
                  <a:ea typeface="楷体_GB2312" pitchFamily="49" charset="-122"/>
                </a:rPr>
                <a:t>0</a:t>
              </a:r>
              <a:r>
                <a:rPr lang="zh-CN" altLang="en-US" sz="2400" b="1" baseline="30000" dirty="0">
                  <a:solidFill>
                    <a:srgbClr val="000066"/>
                  </a:solidFill>
                  <a:ea typeface="楷体_GB2312" pitchFamily="49" charset="-122"/>
                </a:rPr>
                <a:t>，</a:t>
              </a:r>
              <a:r>
                <a:rPr lang="zh-CN" altLang="en-US" sz="2400" b="1" dirty="0">
                  <a:solidFill>
                    <a:srgbClr val="000066"/>
                  </a:solidFill>
                  <a:ea typeface="楷体_GB2312" pitchFamily="49" charset="-122"/>
                </a:rPr>
                <a:t>故</a:t>
              </a:r>
              <a:endParaRPr lang="zh-CN" altLang="en-US" sz="2400" b="1" dirty="0">
                <a:solidFill>
                  <a:srgbClr val="000066"/>
                </a:solidFill>
                <a:ea typeface="楷体_GB2312" pitchFamily="49" charset="-122"/>
              </a:endParaRPr>
            </a:p>
          </p:txBody>
        </p:sp>
        <p:graphicFrame>
          <p:nvGraphicFramePr>
            <p:cNvPr id="8" name="对象 -2147482586"/>
            <p:cNvGraphicFramePr>
              <a:graphicFrameLocks noChangeAspect="1"/>
            </p:cNvGraphicFramePr>
            <p:nvPr/>
          </p:nvGraphicFramePr>
          <p:xfrm>
            <a:off x="9556" y="7756"/>
            <a:ext cx="4597" cy="64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2" name="" r:id="rId9" imgW="1255395" imgH="177800" progId="Equation.DSMT4">
                    <p:embed/>
                  </p:oleObj>
                </mc:Choice>
                <mc:Fallback>
                  <p:oleObj name="" r:id="rId9" imgW="1255395" imgH="177800" progId="Equation.DSMT4">
                    <p:embed/>
                    <p:pic>
                      <p:nvPicPr>
                        <p:cNvPr id="0" name="图片 31"/>
                        <p:cNvPicPr/>
                        <p:nvPr/>
                      </p:nvPicPr>
                      <p:blipFill>
                        <a:blip r:embed="rId10"/>
                        <a:stretch>
                          <a:fillRect/>
                        </a:stretch>
                      </p:blipFill>
                      <p:spPr>
                        <a:xfrm>
                          <a:off x="9556" y="7756"/>
                          <a:ext cx="4597" cy="648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9" name="对象 -2147482585"/>
          <p:cNvGraphicFramePr>
            <a:graphicFrameLocks noChangeAspect="1"/>
          </p:cNvGraphicFramePr>
          <p:nvPr/>
        </p:nvGraphicFramePr>
        <p:xfrm>
          <a:off x="914400" y="5486400"/>
          <a:ext cx="7731760" cy="30035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3" name="" r:id="rId11" imgW="4551680" imgH="177800" progId="Equation.DSMT4">
                  <p:embed/>
                </p:oleObj>
              </mc:Choice>
              <mc:Fallback>
                <p:oleObj name="" r:id="rId11" imgW="4551680" imgH="177800" progId="Equation.DSMT4">
                  <p:embed/>
                  <p:pic>
                    <p:nvPicPr>
                      <p:cNvPr id="0" name="图片 32"/>
                      <p:cNvPicPr/>
                      <p:nvPr/>
                    </p:nvPicPr>
                    <p:blipFill>
                      <a:blip r:embed="rId12"/>
                      <a:stretch>
                        <a:fillRect/>
                      </a:stretch>
                    </p:blipFill>
                    <p:spPr>
                      <a:xfrm>
                        <a:off x="914400" y="5486400"/>
                        <a:ext cx="7731760" cy="30035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34" name="文本框 33"/>
          <p:cNvSpPr txBox="1"/>
          <p:nvPr/>
        </p:nvSpPr>
        <p:spPr>
          <a:xfrm>
            <a:off x="1143000" y="5943600"/>
            <a:ext cx="6913880" cy="460375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p>
            <a:r>
              <a:rPr lang="zh-CN" altLang="en-US" sz="2400" b="1" dirty="0">
                <a:solidFill>
                  <a:srgbClr val="000066"/>
                </a:solidFill>
                <a:ea typeface="楷体_GB2312" pitchFamily="49" charset="-122"/>
              </a:rPr>
              <a:t>故 (1045)</a:t>
            </a:r>
            <a:r>
              <a:rPr lang="zh-CN" altLang="en-US" sz="2400" b="1" baseline="-25000" dirty="0">
                <a:solidFill>
                  <a:srgbClr val="000066"/>
                </a:solidFill>
                <a:ea typeface="楷体_GB2312" pitchFamily="49" charset="-122"/>
              </a:rPr>
              <a:t>10 </a:t>
            </a:r>
            <a:r>
              <a:rPr lang="zh-CN" altLang="en-US" sz="2400" b="1" dirty="0">
                <a:solidFill>
                  <a:srgbClr val="000066"/>
                </a:solidFill>
                <a:ea typeface="楷体_GB2312" pitchFamily="49" charset="-122"/>
              </a:rPr>
              <a:t>= (10000010101)</a:t>
            </a:r>
            <a:r>
              <a:rPr lang="zh-CN" altLang="en-US" sz="2400" b="1" baseline="-25000" dirty="0">
                <a:solidFill>
                  <a:srgbClr val="000066"/>
                </a:solidFill>
                <a:ea typeface="楷体_GB2312" pitchFamily="49" charset="-122"/>
              </a:rPr>
              <a:t>2</a:t>
            </a:r>
            <a:r>
              <a:rPr lang="zh-CN" altLang="en-US" sz="2400" b="1" dirty="0">
                <a:solidFill>
                  <a:srgbClr val="000066"/>
                </a:solidFill>
                <a:ea typeface="楷体_GB2312" pitchFamily="49" charset="-122"/>
              </a:rPr>
              <a:t> = 10000010101B。</a:t>
            </a:r>
            <a:endParaRPr lang="zh-CN" altLang="en-US" sz="2400" b="1" dirty="0">
              <a:solidFill>
                <a:srgbClr val="000066"/>
              </a:solidFill>
              <a:ea typeface="楷体_GB2312" pitchFamily="49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7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50000"/>
                                  </p:iterate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discrete" valueType="clr">
                                      <p:cBhvr override="childStyle">
                                        <p:cTn id="13" dur="80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anim calcmode="discrete" valueType="clr">
                                      <p:cBhvr>
                                        <p:cTn id="14" dur="80"/>
                                        <p:tgtEl>
                                          <p:spTgt spid="4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5" dur="80"/>
                                        <p:tgtEl>
                                          <p:spTgt spid="4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9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5" dur="5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0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5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Scale>
                                      <p:cBhvr>
                                        <p:cTn id="55" dur="10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</p:cBhvr>
                                      <p:from x="250000" y="250000"/>
                                      <p:to x="100000" y="100000"/>
                                    </p:animScale>
                                    <p:animMotion origin="layout" path="M -0.46736 0.92887 C -0.37517 0.88508  -0.02552 0.75279  0.0908 0.66613  C  0.20747 0.57948  0.21649 0.50394  0.23177 0.40825  C 0.24705 0.31256 0.22118 0.15964   0.18264 0.09152  C 0.1441 0.02341  0.03802 0.0  0.0 0.0  " pathEditMode="relative" ptsTypes="">
                                      <p:cBhvr>
                                        <p:cTn id="56" dur="10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  <p:animEffect transition="in" filter="fade">
                                      <p:cBhvr>
                                        <p:cTn id="57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26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2" dur="29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3" dur="911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4" dur="332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5" dur="332" tmFilter="0, 0; 0.125,0.2665; 0.25,0.4; 0.375,0.465; 0.5,0.5;  0.625,0.535; 0.75,0.6; 0.875,0.7335; 1,1">
                                          <p:stCondLst>
                                            <p:cond delay="332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6" dur="166" tmFilter="0, 0; 0.125,0.2665; 0.25,0.4; 0.375,0.465; 0.5,0.5;  0.625,0.535; 0.75,0.6; 0.875,0.7335; 1,1">
                                          <p:stCondLst>
                                            <p:cond delay="662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7" dur="82" tmFilter="0, 0; 0.125,0.2665; 0.25,0.4; 0.375,0.465; 0.5,0.5;  0.625,0.535; 0.75,0.6; 0.875,0.7335; 1,1">
                                          <p:stCondLst>
                                            <p:cond delay="828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68" dur="13">
                                          <p:stCondLst>
                                            <p:cond delay="325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69" dur="83" decel="50000">
                                          <p:stCondLst>
                                            <p:cond delay="338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70" dur="13">
                                          <p:stCondLst>
                                            <p:cond delay="656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71" dur="83" decel="50000">
                                          <p:stCondLst>
                                            <p:cond delay="669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72" dur="13">
                                          <p:stCondLst>
                                            <p:cond delay="821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73" dur="83" decel="50000">
                                          <p:stCondLst>
                                            <p:cond delay="834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74" dur="13">
                                          <p:stCondLst>
                                            <p:cond delay="904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75" dur="83" decel="50000">
                                          <p:stCondLst>
                                            <p:cond delay="917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/>
      <p:bldP spid="28" grpId="0"/>
      <p:bldP spid="34" grpId="0"/>
      <p:bldP spid="4" grpId="0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6147" name="Rectangle 3"/>
          <p:cNvSpPr>
            <a:spLocks noGrp="1"/>
          </p:cNvSpPr>
          <p:nvPr>
            <p:ph idx="1"/>
          </p:nvPr>
        </p:nvSpPr>
        <p:spPr>
          <a:xfrm>
            <a:off x="457200" y="1295400"/>
            <a:ext cx="8589645" cy="487045"/>
          </a:xfrm>
        </p:spPr>
        <p:txBody>
          <a:bodyPr vert="horz" wrap="square" lIns="91440" tIns="45720" rIns="91440" bIns="45720" anchor="t" anchorCtr="0"/>
          <a:p>
            <a:pPr marL="0" indent="0" eaLnBrk="1" latinLnBrk="0" hangingPunct="1">
              <a:lnSpc>
                <a:spcPct val="120000"/>
              </a:lnSpc>
              <a:spcBef>
                <a:spcPts val="0"/>
              </a:spcBef>
              <a:buNone/>
            </a:pPr>
            <a:r>
              <a:rPr lang="en-US" altLang="zh-CN" sz="2400" b="1" kern="1200" dirty="0">
                <a:solidFill>
                  <a:srgbClr val="000066"/>
                </a:solidFill>
                <a:latin typeface="Arial" panose="020B0604020202020204" pitchFamily="34" charset="0"/>
                <a:ea typeface="楷体_GB2312" pitchFamily="49" charset="-122"/>
              </a:rPr>
              <a:t>       </a:t>
            </a:r>
            <a:r>
              <a:rPr sz="2400" b="1" kern="1200" dirty="0">
                <a:solidFill>
                  <a:srgbClr val="000066"/>
                </a:solidFill>
                <a:latin typeface="Arial" panose="020B0604020202020204" pitchFamily="34" charset="0"/>
                <a:ea typeface="楷体_GB2312" pitchFamily="49" charset="-122"/>
              </a:rPr>
              <a:t>【例1-3】用降幂法将十进制数0.65625转化成二进制数。</a:t>
            </a:r>
            <a:endParaRPr sz="2400" b="1" kern="1200" dirty="0">
              <a:solidFill>
                <a:srgbClr val="000066"/>
              </a:solidFill>
              <a:latin typeface="Arial" panose="020B0604020202020204" pitchFamily="34" charset="0"/>
              <a:ea typeface="楷体_GB2312" pitchFamily="49" charset="-122"/>
            </a:endParaRPr>
          </a:p>
        </p:txBody>
      </p:sp>
      <p:sp>
        <p:nvSpPr>
          <p:cNvPr id="6148" name="TextBox 6"/>
          <p:cNvSpPr txBox="1"/>
          <p:nvPr/>
        </p:nvSpPr>
        <p:spPr>
          <a:xfrm>
            <a:off x="2819400" y="533400"/>
            <a:ext cx="5593080" cy="583565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5pPr>
          </a:lstStyle>
          <a:p>
            <a:pPr marL="0" lvl="0" indent="0" algn="l"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b="1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1.2 </a:t>
            </a:r>
            <a:r>
              <a:rPr lang="zh-CN" altLang="en-US" b="1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数制与码制</a:t>
            </a:r>
            <a:endParaRPr lang="zh-CN" altLang="en-US" b="1" dirty="0">
              <a:solidFill>
                <a:srgbClr val="FF0000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6150" name="灯片编号占位符 5"/>
          <p:cNvSpPr txBox="1">
            <a:spLocks noGrp="1"/>
          </p:cNvSpPr>
          <p:nvPr>
            <p:ph type="sldNum" sz="quarter" idx="12"/>
          </p:nvPr>
        </p:nvSpPr>
        <p:spPr>
          <a:xfrm>
            <a:off x="6553200" y="6537325"/>
            <a:ext cx="2133600" cy="244475"/>
          </a:xfrm>
        </p:spPr>
        <p:txBody>
          <a:bodyPr/>
          <a:p>
            <a:pPr marL="0" indent="0" algn="r" eaLnBrk="1" hangingPunct="1">
              <a:spcBef>
                <a:spcPct val="0"/>
              </a:spcBef>
              <a:buClrTx/>
              <a:buFontTx/>
              <a:buNone/>
            </a:pPr>
            <a:fld id="{9A0DB2DC-4C9A-4742-B13C-FB6460FD3503}" type="slidenum">
              <a:rPr lang="en-US" altLang="zh-CN" sz="1200" dirty="0">
                <a:solidFill>
                  <a:schemeClr val="bg1"/>
                </a:solidFill>
                <a:ea typeface="宋体" panose="02010600030101010101" pitchFamily="2" charset="-122"/>
              </a:rPr>
            </a:fld>
            <a:endParaRPr lang="en-US" altLang="zh-CN" sz="1200" dirty="0">
              <a:solidFill>
                <a:schemeClr val="bg1"/>
              </a:solidFill>
              <a:ea typeface="宋体" panose="02010600030101010101" pitchFamily="2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718310" y="2272030"/>
            <a:ext cx="5080000" cy="53403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>
              <a:lnSpc>
                <a:spcPct val="120000"/>
              </a:lnSpc>
              <a:spcBef>
                <a:spcPts val="0"/>
              </a:spcBef>
              <a:buClr>
                <a:schemeClr val="folHlink"/>
              </a:buClr>
              <a:buSzTx/>
              <a:buFont typeface="Wingdings" panose="05000000000000000000" pitchFamily="2" charset="2"/>
            </a:pPr>
            <a:r>
              <a:rPr lang="zh-CN" altLang="en-US" sz="2400" b="1" dirty="0">
                <a:solidFill>
                  <a:srgbClr val="000066"/>
                </a:solidFill>
                <a:ea typeface="楷体_GB2312" pitchFamily="49" charset="-122"/>
              </a:rPr>
              <a:t>所以</a:t>
            </a:r>
            <a:r>
              <a:rPr sz="2400" b="1" dirty="0">
                <a:solidFill>
                  <a:srgbClr val="000066"/>
                </a:solidFill>
                <a:ea typeface="楷体_GB2312" pitchFamily="49" charset="-122"/>
                <a:sym typeface="+mn-ea"/>
              </a:rPr>
              <a:t>0.65625</a:t>
            </a:r>
            <a:r>
              <a:rPr lang="zh-CN" altLang="en-US" sz="2400" b="1" dirty="0">
                <a:solidFill>
                  <a:srgbClr val="000066"/>
                </a:solidFill>
                <a:ea typeface="楷体_GB2312" pitchFamily="49" charset="-122"/>
              </a:rPr>
              <a:t>中包含了位权</a:t>
            </a:r>
            <a:r>
              <a:rPr lang="en-US" altLang="zh-CN" sz="2400" b="1" dirty="0">
                <a:solidFill>
                  <a:srgbClr val="000066"/>
                </a:solidFill>
                <a:ea typeface="楷体_GB2312" pitchFamily="49" charset="-122"/>
              </a:rPr>
              <a:t>2</a:t>
            </a:r>
            <a:r>
              <a:rPr lang="en-US" altLang="zh-CN" sz="2400" b="1" baseline="30000" dirty="0">
                <a:solidFill>
                  <a:srgbClr val="000066"/>
                </a:solidFill>
                <a:ea typeface="楷体_GB2312" pitchFamily="49" charset="-122"/>
              </a:rPr>
              <a:t>-1</a:t>
            </a:r>
            <a:r>
              <a:rPr lang="en-US" altLang="zh-CN" sz="2400" b="1" dirty="0">
                <a:solidFill>
                  <a:srgbClr val="000066"/>
                </a:solidFill>
                <a:ea typeface="楷体_GB2312" pitchFamily="49" charset="-122"/>
              </a:rPr>
              <a:t>;</a:t>
            </a:r>
            <a:endParaRPr lang="en-US" altLang="zh-CN" sz="2400" b="1" baseline="30000" dirty="0">
              <a:solidFill>
                <a:srgbClr val="000066"/>
              </a:solidFill>
              <a:ea typeface="楷体_GB2312" pitchFamily="49" charset="-122"/>
            </a:endParaRPr>
          </a:p>
        </p:txBody>
      </p:sp>
      <p:sp>
        <p:nvSpPr>
          <p:cNvPr id="14" name="文本框 13"/>
          <p:cNvSpPr txBox="1"/>
          <p:nvPr/>
        </p:nvSpPr>
        <p:spPr>
          <a:xfrm>
            <a:off x="1727200" y="3302635"/>
            <a:ext cx="4414520" cy="460375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p>
            <a:r>
              <a:rPr lang="zh-CN" altLang="en-US" sz="2400" b="1" dirty="0">
                <a:solidFill>
                  <a:srgbClr val="000066"/>
                </a:solidFill>
                <a:ea typeface="楷体_GB2312" pitchFamily="49" charset="-122"/>
              </a:rPr>
              <a:t>所以</a:t>
            </a:r>
            <a:r>
              <a:rPr sz="2400" b="1" dirty="0">
                <a:solidFill>
                  <a:srgbClr val="000066"/>
                </a:solidFill>
                <a:ea typeface="楷体_GB2312" pitchFamily="49" charset="-122"/>
                <a:sym typeface="+mn-ea"/>
              </a:rPr>
              <a:t>0.65625</a:t>
            </a:r>
            <a:r>
              <a:rPr lang="zh-CN" altLang="en-US" sz="2400" b="1" dirty="0">
                <a:solidFill>
                  <a:srgbClr val="000066"/>
                </a:solidFill>
                <a:ea typeface="楷体_GB2312" pitchFamily="49" charset="-122"/>
              </a:rPr>
              <a:t>中还包含了位权</a:t>
            </a:r>
            <a:r>
              <a:rPr lang="en-US" altLang="zh-CN" sz="2400" b="1" dirty="0">
                <a:solidFill>
                  <a:srgbClr val="000066"/>
                </a:solidFill>
                <a:ea typeface="楷体_GB2312" pitchFamily="49" charset="-122"/>
              </a:rPr>
              <a:t>2</a:t>
            </a:r>
            <a:r>
              <a:rPr lang="en-US" altLang="zh-CN" sz="2400" b="1" baseline="30000" dirty="0">
                <a:solidFill>
                  <a:srgbClr val="000066"/>
                </a:solidFill>
                <a:ea typeface="楷体_GB2312" pitchFamily="49" charset="-122"/>
              </a:rPr>
              <a:t>-3</a:t>
            </a:r>
            <a:r>
              <a:rPr lang="en-US" altLang="zh-CN" sz="2400" b="1" dirty="0">
                <a:solidFill>
                  <a:srgbClr val="000066"/>
                </a:solidFill>
                <a:ea typeface="楷体_GB2312" pitchFamily="49" charset="-122"/>
              </a:rPr>
              <a:t>;</a:t>
            </a:r>
            <a:endParaRPr lang="en-US" altLang="zh-CN" sz="2400" b="1" dirty="0">
              <a:solidFill>
                <a:srgbClr val="000066"/>
              </a:solidFill>
              <a:ea typeface="楷体_GB2312" pitchFamily="49" charset="-122"/>
            </a:endParaRPr>
          </a:p>
        </p:txBody>
      </p:sp>
      <p:sp>
        <p:nvSpPr>
          <p:cNvPr id="28" name="文本框 27"/>
          <p:cNvSpPr txBox="1"/>
          <p:nvPr/>
        </p:nvSpPr>
        <p:spPr>
          <a:xfrm>
            <a:off x="1736090" y="4322445"/>
            <a:ext cx="5175250" cy="460375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p>
            <a:r>
              <a:rPr lang="zh-CN" altLang="en-US" sz="2400" b="1" dirty="0">
                <a:solidFill>
                  <a:srgbClr val="000066"/>
                </a:solidFill>
                <a:ea typeface="楷体_GB2312" pitchFamily="49" charset="-122"/>
              </a:rPr>
              <a:t>所以</a:t>
            </a:r>
            <a:r>
              <a:rPr sz="2400" b="1" dirty="0">
                <a:solidFill>
                  <a:srgbClr val="000066"/>
                </a:solidFill>
                <a:ea typeface="楷体_GB2312" pitchFamily="49" charset="-122"/>
                <a:sym typeface="+mn-ea"/>
              </a:rPr>
              <a:t>0.65625</a:t>
            </a:r>
            <a:r>
              <a:rPr lang="zh-CN" altLang="en-US" sz="2400" b="1" dirty="0">
                <a:solidFill>
                  <a:srgbClr val="000066"/>
                </a:solidFill>
                <a:ea typeface="楷体_GB2312" pitchFamily="49" charset="-122"/>
              </a:rPr>
              <a:t>中还包含了位权</a:t>
            </a:r>
            <a:r>
              <a:rPr lang="en-US" altLang="zh-CN" sz="2400" b="1" dirty="0">
                <a:solidFill>
                  <a:srgbClr val="000066"/>
                </a:solidFill>
                <a:ea typeface="楷体_GB2312" pitchFamily="49" charset="-122"/>
              </a:rPr>
              <a:t>2</a:t>
            </a:r>
            <a:r>
              <a:rPr lang="en-US" altLang="zh-CN" sz="2400" b="1" baseline="30000" dirty="0">
                <a:solidFill>
                  <a:srgbClr val="000066"/>
                </a:solidFill>
                <a:ea typeface="楷体_GB2312" pitchFamily="49" charset="-122"/>
              </a:rPr>
              <a:t>-5</a:t>
            </a:r>
            <a:r>
              <a:rPr lang="en-US" altLang="zh-CN" sz="2400" b="1" dirty="0">
                <a:solidFill>
                  <a:srgbClr val="000066"/>
                </a:solidFill>
                <a:ea typeface="楷体_GB2312" pitchFamily="49" charset="-122"/>
              </a:rPr>
              <a:t>;</a:t>
            </a:r>
            <a:endParaRPr lang="en-US" altLang="zh-CN" sz="2400" b="1" dirty="0">
              <a:solidFill>
                <a:srgbClr val="000066"/>
              </a:solidFill>
              <a:ea typeface="楷体_GB2312" pitchFamily="49" charset="-122"/>
            </a:endParaRPr>
          </a:p>
        </p:txBody>
      </p:sp>
      <p:sp>
        <p:nvSpPr>
          <p:cNvPr id="34" name="文本框 33"/>
          <p:cNvSpPr txBox="1"/>
          <p:nvPr/>
        </p:nvSpPr>
        <p:spPr>
          <a:xfrm>
            <a:off x="1143000" y="5410200"/>
            <a:ext cx="6913880" cy="460375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p>
            <a:r>
              <a:rPr lang="zh-CN" altLang="en-US" sz="2400" b="1" dirty="0">
                <a:solidFill>
                  <a:srgbClr val="000066"/>
                </a:solidFill>
                <a:ea typeface="楷体_GB2312" pitchFamily="49" charset="-122"/>
              </a:rPr>
              <a:t>故 (0.65625)</a:t>
            </a:r>
            <a:r>
              <a:rPr lang="zh-CN" altLang="en-US" sz="2400" b="1" baseline="-25000" dirty="0">
                <a:solidFill>
                  <a:srgbClr val="000066"/>
                </a:solidFill>
                <a:ea typeface="楷体_GB2312" pitchFamily="49" charset="-122"/>
              </a:rPr>
              <a:t>10</a:t>
            </a:r>
            <a:r>
              <a:rPr lang="zh-CN" altLang="en-US" sz="2400" b="1" dirty="0">
                <a:solidFill>
                  <a:srgbClr val="000066"/>
                </a:solidFill>
                <a:ea typeface="楷体_GB2312" pitchFamily="49" charset="-122"/>
              </a:rPr>
              <a:t> = (0.10101)</a:t>
            </a:r>
            <a:r>
              <a:rPr lang="zh-CN" altLang="en-US" sz="2400" b="1" baseline="-25000" dirty="0">
                <a:solidFill>
                  <a:srgbClr val="000066"/>
                </a:solidFill>
                <a:ea typeface="楷体_GB2312" pitchFamily="49" charset="-122"/>
              </a:rPr>
              <a:t>2</a:t>
            </a:r>
            <a:r>
              <a:rPr lang="zh-CN" altLang="en-US" sz="2400" b="1" dirty="0">
                <a:solidFill>
                  <a:srgbClr val="000066"/>
                </a:solidFill>
                <a:ea typeface="楷体_GB2312" pitchFamily="49" charset="-122"/>
              </a:rPr>
              <a:t> = 0.10101B。</a:t>
            </a:r>
            <a:endParaRPr lang="zh-CN" altLang="en-US" sz="2400" b="1" dirty="0">
              <a:solidFill>
                <a:srgbClr val="000066"/>
              </a:solidFill>
              <a:ea typeface="楷体_GB2312" pitchFamily="49" charset="-122"/>
            </a:endParaRPr>
          </a:p>
        </p:txBody>
      </p:sp>
      <p:grpSp>
        <p:nvGrpSpPr>
          <p:cNvPr id="19" name="组合 18"/>
          <p:cNvGrpSpPr/>
          <p:nvPr/>
        </p:nvGrpSpPr>
        <p:grpSpPr>
          <a:xfrm>
            <a:off x="533400" y="1752600"/>
            <a:ext cx="5077460" cy="527050"/>
            <a:chOff x="840" y="2760"/>
            <a:chExt cx="7996" cy="830"/>
          </a:xfrm>
        </p:grpSpPr>
        <p:sp>
          <p:nvSpPr>
            <p:cNvPr id="3" name="Rectangle 3"/>
            <p:cNvSpPr>
              <a:spLocks noGrp="1"/>
            </p:cNvSpPr>
            <p:nvPr/>
          </p:nvSpPr>
          <p:spPr>
            <a:xfrm>
              <a:off x="840" y="2760"/>
              <a:ext cx="3388" cy="830"/>
            </a:xfrm>
            <a:prstGeom prst="rect">
              <a:avLst/>
            </a:prstGeom>
            <a:noFill/>
            <a:ln w="9525">
              <a:noFill/>
            </a:ln>
          </p:spPr>
          <p:txBody>
            <a:bodyPr vert="horz" wrap="square" lIns="91440" tIns="45720" rIns="91440" bIns="45720" anchor="t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Font typeface="Wingdings" panose="05000000000000000000" pitchFamily="2" charset="2"/>
                <a:buChar char="v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+mn-lt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</a:defRPr>
              </a:lvl5pPr>
              <a:lvl6pPr marL="2514600" indent="-228600" algn="l" rtl="0" fontAlgn="base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</a:defRPr>
              </a:lvl6pPr>
              <a:lvl7pPr marL="2971800" indent="-228600" algn="l" rtl="0" fontAlgn="base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</a:defRPr>
              </a:lvl7pPr>
              <a:lvl8pPr marL="3429000" indent="-228600" algn="l" rtl="0" fontAlgn="base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</a:defRPr>
              </a:lvl8pPr>
              <a:lvl9pPr marL="3886200" indent="-228600" algn="l" rtl="0" fontAlgn="base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</a:defRPr>
              </a:lvl9pPr>
            </a:lstStyle>
            <a:p>
              <a:pPr marL="0" indent="0" eaLnBrk="1" latinLnBrk="0" hangingPunct="1">
                <a:lnSpc>
                  <a:spcPct val="120000"/>
                </a:lnSpc>
                <a:spcBef>
                  <a:spcPts val="0"/>
                </a:spcBef>
                <a:buNone/>
              </a:pPr>
              <a:r>
                <a:rPr lang="en-US" altLang="zh-CN" sz="2400" b="1" kern="1200" dirty="0">
                  <a:solidFill>
                    <a:srgbClr val="000066"/>
                  </a:solidFill>
                  <a:latin typeface="Arial" panose="020B0604020202020204" pitchFamily="34" charset="0"/>
                  <a:ea typeface="楷体_GB2312" pitchFamily="49" charset="-122"/>
                </a:rPr>
                <a:t>       </a:t>
              </a:r>
              <a:r>
                <a:rPr lang="zh-CN" altLang="en-US" sz="2400" b="1" kern="1200" dirty="0">
                  <a:solidFill>
                    <a:srgbClr val="000066"/>
                  </a:solidFill>
                  <a:latin typeface="Arial" panose="020B0604020202020204" pitchFamily="34" charset="0"/>
                  <a:ea typeface="楷体_GB2312" pitchFamily="49" charset="-122"/>
                </a:rPr>
                <a:t>解：因为</a:t>
              </a:r>
              <a:endParaRPr lang="en-US" altLang="zh-CN" sz="2400" b="1" kern="1200" dirty="0">
                <a:solidFill>
                  <a:srgbClr val="000066"/>
                </a:solidFill>
                <a:latin typeface="Arial" panose="020B0604020202020204" pitchFamily="34" charset="0"/>
                <a:ea typeface="楷体_GB2312" pitchFamily="49" charset="-122"/>
              </a:endParaRPr>
            </a:p>
          </p:txBody>
        </p:sp>
        <p:graphicFrame>
          <p:nvGraphicFramePr>
            <p:cNvPr id="2" name="对象 -2147482584"/>
            <p:cNvGraphicFramePr>
              <a:graphicFrameLocks noChangeAspect="1"/>
            </p:cNvGraphicFramePr>
            <p:nvPr/>
          </p:nvGraphicFramePr>
          <p:xfrm>
            <a:off x="3960" y="2880"/>
            <a:ext cx="4877" cy="60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0" name="" r:id="rId1" imgW="1432560" imgH="177800" progId="Equation.DSMT4">
                    <p:embed/>
                  </p:oleObj>
                </mc:Choice>
                <mc:Fallback>
                  <p:oleObj name="" r:id="rId1" imgW="1432560" imgH="177800" progId="Equation.DSMT4">
                    <p:embed/>
                    <p:pic>
                      <p:nvPicPr>
                        <p:cNvPr id="0" name="图片 9"/>
                        <p:cNvPicPr/>
                        <p:nvPr/>
                      </p:nvPicPr>
                      <p:blipFill>
                        <a:blip r:embed="rId2"/>
                        <a:stretch>
                          <a:fillRect/>
                        </a:stretch>
                      </p:blipFill>
                      <p:spPr>
                        <a:xfrm>
                          <a:off x="3960" y="2880"/>
                          <a:ext cx="4877" cy="602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12" name="组合 11"/>
          <p:cNvGrpSpPr/>
          <p:nvPr/>
        </p:nvGrpSpPr>
        <p:grpSpPr>
          <a:xfrm>
            <a:off x="1676400" y="2743200"/>
            <a:ext cx="6772910" cy="533400"/>
            <a:chOff x="2640" y="4080"/>
            <a:chExt cx="10666" cy="840"/>
          </a:xfrm>
        </p:grpSpPr>
        <p:sp>
          <p:nvSpPr>
            <p:cNvPr id="101" name="文本框 100"/>
            <p:cNvSpPr txBox="1"/>
            <p:nvPr/>
          </p:nvSpPr>
          <p:spPr>
            <a:xfrm>
              <a:off x="2640" y="4080"/>
              <a:ext cx="2398" cy="84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square">
              <a:spAutoFit/>
            </a:bodyPr>
            <a:p>
              <a:pPr>
                <a:lnSpc>
                  <a:spcPct val="120000"/>
                </a:lnSpc>
                <a:spcBef>
                  <a:spcPts val="0"/>
                </a:spcBef>
                <a:buClr>
                  <a:schemeClr val="folHlink"/>
                </a:buClr>
                <a:buSzTx/>
                <a:buFont typeface="Wingdings" panose="05000000000000000000" pitchFamily="2" charset="2"/>
              </a:pPr>
              <a:r>
                <a:rPr lang="zh-CN" altLang="en-US" sz="2400" b="1" dirty="0">
                  <a:solidFill>
                    <a:srgbClr val="000066"/>
                  </a:solidFill>
                  <a:ea typeface="楷体_GB2312" pitchFamily="49" charset="-122"/>
                </a:rPr>
                <a:t>又因为</a:t>
              </a:r>
              <a:endParaRPr lang="zh-CN" altLang="en-US" sz="2400" b="1" dirty="0">
                <a:solidFill>
                  <a:srgbClr val="000066"/>
                </a:solidFill>
                <a:ea typeface="楷体_GB2312" pitchFamily="49" charset="-122"/>
              </a:endParaRPr>
            </a:p>
          </p:txBody>
        </p:sp>
        <p:graphicFrame>
          <p:nvGraphicFramePr>
            <p:cNvPr id="5" name="对象 -2147482582"/>
            <p:cNvGraphicFramePr>
              <a:graphicFrameLocks noChangeAspect="1"/>
            </p:cNvGraphicFramePr>
            <p:nvPr/>
          </p:nvGraphicFramePr>
          <p:xfrm>
            <a:off x="4396" y="4200"/>
            <a:ext cx="8911" cy="61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1" name="" r:id="rId3" imgW="2586355" imgH="177800" progId="Equation.DSMT4">
                    <p:embed/>
                  </p:oleObj>
                </mc:Choice>
                <mc:Fallback>
                  <p:oleObj name="" r:id="rId3" imgW="2586355" imgH="177800" progId="Equation.DSMT4">
                    <p:embed/>
                    <p:pic>
                      <p:nvPicPr>
                        <p:cNvPr id="0" name="图片 10"/>
                        <p:cNvPicPr/>
                        <p:nvPr/>
                      </p:nvPicPr>
                      <p:blipFill>
                        <a:blip r:embed="rId4"/>
                        <a:stretch>
                          <a:fillRect/>
                        </a:stretch>
                      </p:blipFill>
                      <p:spPr>
                        <a:xfrm>
                          <a:off x="4396" y="4200"/>
                          <a:ext cx="8911" cy="610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20" name="组合 19"/>
          <p:cNvGrpSpPr/>
          <p:nvPr/>
        </p:nvGrpSpPr>
        <p:grpSpPr>
          <a:xfrm>
            <a:off x="1713230" y="3770630"/>
            <a:ext cx="6117590" cy="533400"/>
            <a:chOff x="2698" y="5938"/>
            <a:chExt cx="9634" cy="840"/>
          </a:xfrm>
        </p:grpSpPr>
        <p:sp>
          <p:nvSpPr>
            <p:cNvPr id="27" name="文本框 26"/>
            <p:cNvSpPr txBox="1"/>
            <p:nvPr/>
          </p:nvSpPr>
          <p:spPr>
            <a:xfrm>
              <a:off x="2698" y="5938"/>
              <a:ext cx="2398" cy="84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square">
              <a:spAutoFit/>
            </a:bodyPr>
            <a:p>
              <a:pPr>
                <a:lnSpc>
                  <a:spcPct val="120000"/>
                </a:lnSpc>
                <a:spcBef>
                  <a:spcPts val="0"/>
                </a:spcBef>
                <a:buClr>
                  <a:schemeClr val="folHlink"/>
                </a:buClr>
                <a:buSzTx/>
                <a:buFont typeface="Wingdings" panose="05000000000000000000" pitchFamily="2" charset="2"/>
              </a:pPr>
              <a:r>
                <a:rPr lang="zh-CN" altLang="en-US" sz="2400" b="1" dirty="0">
                  <a:solidFill>
                    <a:srgbClr val="000066"/>
                  </a:solidFill>
                  <a:ea typeface="楷体_GB2312" pitchFamily="49" charset="-122"/>
                </a:rPr>
                <a:t>又因为</a:t>
              </a:r>
              <a:endParaRPr lang="zh-CN" altLang="en-US" sz="2400" b="1" dirty="0">
                <a:solidFill>
                  <a:srgbClr val="000066"/>
                </a:solidFill>
                <a:ea typeface="楷体_GB2312" pitchFamily="49" charset="-122"/>
              </a:endParaRPr>
            </a:p>
          </p:txBody>
        </p:sp>
        <p:graphicFrame>
          <p:nvGraphicFramePr>
            <p:cNvPr id="6" name="对象 -2147482580"/>
            <p:cNvGraphicFramePr>
              <a:graphicFrameLocks noChangeAspect="1"/>
            </p:cNvGraphicFramePr>
            <p:nvPr/>
          </p:nvGraphicFramePr>
          <p:xfrm>
            <a:off x="4396" y="6066"/>
            <a:ext cx="7936" cy="60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6" name="" r:id="rId5" imgW="2307590" imgH="177800" progId="Equation.DSMT4">
                    <p:embed/>
                  </p:oleObj>
                </mc:Choice>
                <mc:Fallback>
                  <p:oleObj name="" r:id="rId5" imgW="2307590" imgH="177800" progId="Equation.DSMT4">
                    <p:embed/>
                    <p:pic>
                      <p:nvPicPr>
                        <p:cNvPr id="0" name="图片 15"/>
                        <p:cNvPicPr/>
                        <p:nvPr/>
                      </p:nvPicPr>
                      <p:blipFill>
                        <a:blip r:embed="rId6"/>
                        <a:stretch>
                          <a:fillRect/>
                        </a:stretch>
                      </p:blipFill>
                      <p:spPr>
                        <a:xfrm>
                          <a:off x="4396" y="6066"/>
                          <a:ext cx="7936" cy="608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21" name="组合 20"/>
          <p:cNvGrpSpPr/>
          <p:nvPr/>
        </p:nvGrpSpPr>
        <p:grpSpPr>
          <a:xfrm>
            <a:off x="1715770" y="4742180"/>
            <a:ext cx="3816350" cy="533400"/>
            <a:chOff x="2702" y="7468"/>
            <a:chExt cx="6010" cy="840"/>
          </a:xfrm>
        </p:grpSpPr>
        <p:sp>
          <p:nvSpPr>
            <p:cNvPr id="29" name="文本框 28"/>
            <p:cNvSpPr txBox="1"/>
            <p:nvPr/>
          </p:nvSpPr>
          <p:spPr>
            <a:xfrm>
              <a:off x="2702" y="7468"/>
              <a:ext cx="2398" cy="84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square">
              <a:spAutoFit/>
            </a:bodyPr>
            <a:p>
              <a:pPr>
                <a:lnSpc>
                  <a:spcPct val="120000"/>
                </a:lnSpc>
                <a:spcBef>
                  <a:spcPts val="0"/>
                </a:spcBef>
                <a:buClr>
                  <a:schemeClr val="folHlink"/>
                </a:buClr>
                <a:buSzTx/>
                <a:buFont typeface="Wingdings" panose="05000000000000000000" pitchFamily="2" charset="2"/>
              </a:pPr>
              <a:r>
                <a:rPr lang="zh-CN" altLang="en-US" sz="2400" b="1" dirty="0">
                  <a:solidFill>
                    <a:srgbClr val="000066"/>
                  </a:solidFill>
                  <a:ea typeface="楷体_GB2312" pitchFamily="49" charset="-122"/>
                </a:rPr>
                <a:t>综上，</a:t>
              </a:r>
              <a:endParaRPr lang="zh-CN" altLang="en-US" sz="2400" b="1" dirty="0">
                <a:solidFill>
                  <a:srgbClr val="000066"/>
                </a:solidFill>
                <a:ea typeface="楷体_GB2312" pitchFamily="49" charset="-122"/>
              </a:endParaRPr>
            </a:p>
          </p:txBody>
        </p:sp>
        <p:graphicFrame>
          <p:nvGraphicFramePr>
            <p:cNvPr id="7" name="对象 -2147482578"/>
            <p:cNvGraphicFramePr>
              <a:graphicFrameLocks noChangeAspect="1"/>
            </p:cNvGraphicFramePr>
            <p:nvPr/>
          </p:nvGraphicFramePr>
          <p:xfrm>
            <a:off x="4320" y="7560"/>
            <a:ext cx="4393" cy="61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8" name="" r:id="rId7" imgW="1268095" imgH="177800" progId="Equation.DSMT4">
                    <p:embed/>
                  </p:oleObj>
                </mc:Choice>
                <mc:Fallback>
                  <p:oleObj name="" r:id="rId7" imgW="1268095" imgH="177800" progId="Equation.DSMT4">
                    <p:embed/>
                    <p:pic>
                      <p:nvPicPr>
                        <p:cNvPr id="0" name="图片 17"/>
                        <p:cNvPicPr/>
                        <p:nvPr/>
                      </p:nvPicPr>
                      <p:blipFill>
                        <a:blip r:embed="rId8"/>
                        <a:stretch>
                          <a:fillRect/>
                        </a:stretch>
                      </p:blipFill>
                      <p:spPr>
                        <a:xfrm>
                          <a:off x="4320" y="7560"/>
                          <a:ext cx="4393" cy="613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3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26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8" dur="29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9" dur="911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0" dur="332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332" tmFilter="0, 0; 0.125,0.2665; 0.25,0.4; 0.375,0.465; 0.5,0.5;  0.625,0.535; 0.75,0.6; 0.875,0.7335; 1,1">
                                          <p:stCondLst>
                                            <p:cond delay="332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2" dur="166" tmFilter="0, 0; 0.125,0.2665; 0.25,0.4; 0.375,0.465; 0.5,0.5;  0.625,0.535; 0.75,0.6; 0.875,0.7335; 1,1">
                                          <p:stCondLst>
                                            <p:cond delay="662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3" dur="82" tmFilter="0, 0; 0.125,0.2665; 0.25,0.4; 0.375,0.465; 0.5,0.5;  0.625,0.535; 0.75,0.6; 0.875,0.7335; 1,1">
                                          <p:stCondLst>
                                            <p:cond delay="828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54" dur="13">
                                          <p:stCondLst>
                                            <p:cond delay="325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55" dur="83" decel="50000">
                                          <p:stCondLst>
                                            <p:cond delay="338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56" dur="13">
                                          <p:stCondLst>
                                            <p:cond delay="656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57" dur="83" decel="50000">
                                          <p:stCondLst>
                                            <p:cond delay="669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58" dur="13">
                                          <p:stCondLst>
                                            <p:cond delay="821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59" dur="83" decel="50000">
                                          <p:stCondLst>
                                            <p:cond delay="834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60" dur="13">
                                          <p:stCondLst>
                                            <p:cond delay="904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61" dur="83" decel="50000">
                                          <p:stCondLst>
                                            <p:cond delay="917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14" grpId="0"/>
      <p:bldP spid="28" grpId="0"/>
      <p:bldP spid="34" grpId="0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73744317" name="文本框 14404"/>
          <p:cNvSpPr txBox="1"/>
          <p:nvPr/>
        </p:nvSpPr>
        <p:spPr>
          <a:xfrm>
            <a:off x="1694180" y="2590800"/>
            <a:ext cx="471170" cy="211455"/>
          </a:xfrm>
          <a:prstGeom prst="rect">
            <a:avLst/>
          </a:prstGeom>
          <a:noFill/>
          <a:ln w="9525">
            <a:noFill/>
          </a:ln>
        </p:spPr>
        <p:txBody>
          <a:bodyPr wrap="square" lIns="18000" tIns="10800" rIns="18000" bIns="10800"/>
          <a:p>
            <a:pPr algn="r"/>
            <a:r>
              <a:rPr lang="en-US" altLang="zh-CN"/>
              <a:t>378</a:t>
            </a:r>
            <a:endParaRPr lang="zh-CN" altLang="en-US"/>
          </a:p>
          <a:p>
            <a:endParaRPr lang="zh-CN" altLang="en-US"/>
          </a:p>
        </p:txBody>
      </p:sp>
      <p:sp>
        <p:nvSpPr>
          <p:cNvPr id="6147" name="Rectangle 3"/>
          <p:cNvSpPr>
            <a:spLocks noGrp="1"/>
          </p:cNvSpPr>
          <p:nvPr>
            <p:ph idx="1"/>
          </p:nvPr>
        </p:nvSpPr>
        <p:spPr>
          <a:xfrm>
            <a:off x="457200" y="1295400"/>
            <a:ext cx="8003540" cy="635635"/>
          </a:xfrm>
        </p:spPr>
        <p:txBody>
          <a:bodyPr vert="horz" wrap="square" lIns="91440" tIns="45720" rIns="91440" bIns="45720" anchor="t" anchorCtr="0"/>
          <a:p>
            <a:pPr marL="0" indent="0" eaLnBrk="1" latinLnBrk="0" hangingPunct="1">
              <a:lnSpc>
                <a:spcPct val="120000"/>
              </a:lnSpc>
              <a:spcBef>
                <a:spcPts val="0"/>
              </a:spcBef>
              <a:buNone/>
            </a:pPr>
            <a:r>
              <a:rPr lang="en-US" altLang="zh-CN" sz="2400" b="1" kern="1200" dirty="0">
                <a:solidFill>
                  <a:srgbClr val="000066"/>
                </a:solidFill>
                <a:latin typeface="Arial" panose="020B0604020202020204" pitchFamily="34" charset="0"/>
                <a:ea typeface="楷体_GB2312" pitchFamily="49" charset="-122"/>
              </a:rPr>
              <a:t>       </a:t>
            </a:r>
            <a:r>
              <a:rPr sz="2400" b="1" kern="1200" dirty="0">
                <a:solidFill>
                  <a:srgbClr val="000066"/>
                </a:solidFill>
                <a:latin typeface="Arial" panose="020B0604020202020204" pitchFamily="34" charset="0"/>
                <a:ea typeface="楷体_GB2312" pitchFamily="49" charset="-122"/>
                <a:sym typeface="+mn-ea"/>
              </a:rPr>
              <a:t>【例1-</a:t>
            </a:r>
            <a:r>
              <a:rPr lang="en-US" sz="2400" b="1" kern="1200" dirty="0">
                <a:solidFill>
                  <a:srgbClr val="000066"/>
                </a:solidFill>
                <a:latin typeface="Arial" panose="020B0604020202020204" pitchFamily="34" charset="0"/>
                <a:ea typeface="楷体_GB2312" pitchFamily="49" charset="-122"/>
                <a:sym typeface="+mn-ea"/>
              </a:rPr>
              <a:t>4</a:t>
            </a:r>
            <a:r>
              <a:rPr sz="2400" b="1" kern="1200" dirty="0">
                <a:solidFill>
                  <a:srgbClr val="000066"/>
                </a:solidFill>
                <a:latin typeface="Arial" panose="020B0604020202020204" pitchFamily="34" charset="0"/>
                <a:ea typeface="楷体_GB2312" pitchFamily="49" charset="-122"/>
                <a:sym typeface="+mn-ea"/>
              </a:rPr>
              <a:t>】将十进制数378.8046875转化成十六进制数。</a:t>
            </a:r>
            <a:endParaRPr lang="zh-CN" altLang="en-US" sz="2400" b="1" kern="1200" dirty="0">
              <a:solidFill>
                <a:srgbClr val="000066"/>
              </a:solidFill>
              <a:latin typeface="Arial" panose="020B0604020202020204" pitchFamily="34" charset="0"/>
              <a:ea typeface="楷体_GB2312" pitchFamily="49" charset="-122"/>
            </a:endParaRPr>
          </a:p>
        </p:txBody>
      </p:sp>
      <p:sp>
        <p:nvSpPr>
          <p:cNvPr id="6148" name="TextBox 6"/>
          <p:cNvSpPr txBox="1"/>
          <p:nvPr/>
        </p:nvSpPr>
        <p:spPr>
          <a:xfrm>
            <a:off x="2819400" y="533400"/>
            <a:ext cx="5593080" cy="583565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5pPr>
          </a:lstStyle>
          <a:p>
            <a:pPr marL="0" lvl="0" indent="0" algn="l"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b="1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1.2 </a:t>
            </a:r>
            <a:r>
              <a:rPr lang="zh-CN" altLang="en-US" b="1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数制与码制</a:t>
            </a:r>
            <a:endParaRPr lang="zh-CN" altLang="en-US" b="1" dirty="0">
              <a:solidFill>
                <a:srgbClr val="FF0000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6150" name="灯片编号占位符 5"/>
          <p:cNvSpPr txBox="1">
            <a:spLocks noGrp="1"/>
          </p:cNvSpPr>
          <p:nvPr>
            <p:ph type="sldNum" sz="quarter" idx="12"/>
          </p:nvPr>
        </p:nvSpPr>
        <p:spPr>
          <a:xfrm>
            <a:off x="6553200" y="6537325"/>
            <a:ext cx="2133600" cy="244475"/>
          </a:xfrm>
        </p:spPr>
        <p:txBody>
          <a:bodyPr/>
          <a:p>
            <a:pPr marL="0" indent="0" algn="r" eaLnBrk="1" hangingPunct="1">
              <a:spcBef>
                <a:spcPct val="0"/>
              </a:spcBef>
              <a:buClrTx/>
              <a:buFontTx/>
              <a:buNone/>
            </a:pPr>
            <a:fld id="{9A0DB2DC-4C9A-4742-B13C-FB6460FD3503}" type="slidenum">
              <a:rPr lang="en-US" altLang="zh-CN" sz="1200" dirty="0">
                <a:solidFill>
                  <a:schemeClr val="bg1"/>
                </a:solidFill>
                <a:ea typeface="宋体" panose="02010600030101010101" pitchFamily="2" charset="-122"/>
              </a:rPr>
            </a:fld>
            <a:endParaRPr lang="en-US" altLang="zh-CN" sz="1200" dirty="0">
              <a:solidFill>
                <a:schemeClr val="bg1"/>
              </a:solidFill>
              <a:ea typeface="宋体" panose="02010600030101010101" pitchFamily="2" charset="-122"/>
            </a:endParaRPr>
          </a:p>
        </p:txBody>
      </p:sp>
      <p:sp>
        <p:nvSpPr>
          <p:cNvPr id="3" name="Rectangle 3"/>
          <p:cNvSpPr>
            <a:spLocks noGrp="1"/>
          </p:cNvSpPr>
          <p:nvPr/>
        </p:nvSpPr>
        <p:spPr>
          <a:xfrm>
            <a:off x="533400" y="1905000"/>
            <a:ext cx="4234815" cy="527050"/>
          </a:xfrm>
          <a:prstGeom prst="rect">
            <a:avLst/>
          </a:prstGeom>
          <a:noFill/>
          <a:ln w="9525">
            <a:noFill/>
          </a:ln>
        </p:spPr>
        <p:txBody>
          <a:bodyPr vert="horz" wrap="square" lIns="91440" tIns="45720" rIns="91440" bIns="45720" anchor="t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9pPr>
          </a:lstStyle>
          <a:p>
            <a:pPr marL="0" indent="0" eaLnBrk="1" latinLnBrk="0" hangingPunct="1">
              <a:lnSpc>
                <a:spcPct val="120000"/>
              </a:lnSpc>
              <a:spcBef>
                <a:spcPts val="0"/>
              </a:spcBef>
              <a:buNone/>
            </a:pPr>
            <a:r>
              <a:rPr lang="en-US" altLang="zh-CN" sz="2400" b="1" kern="1200" dirty="0">
                <a:solidFill>
                  <a:srgbClr val="000066"/>
                </a:solidFill>
                <a:latin typeface="Arial" panose="020B0604020202020204" pitchFamily="34" charset="0"/>
                <a:ea typeface="楷体_GB2312" pitchFamily="49" charset="-122"/>
              </a:rPr>
              <a:t>       </a:t>
            </a:r>
            <a:r>
              <a:rPr lang="zh-CN" altLang="en-US" sz="2400" b="1" kern="1200" dirty="0">
                <a:solidFill>
                  <a:srgbClr val="000066"/>
                </a:solidFill>
                <a:latin typeface="Arial" panose="020B0604020202020204" pitchFamily="34" charset="0"/>
                <a:ea typeface="楷体_GB2312" pitchFamily="49" charset="-122"/>
              </a:rPr>
              <a:t>解：整数部分转换过程为</a:t>
            </a:r>
            <a:endParaRPr lang="zh-CN" altLang="en-US" sz="2400" b="1" kern="1200" dirty="0">
              <a:solidFill>
                <a:srgbClr val="000066"/>
              </a:solidFill>
              <a:latin typeface="Arial" panose="020B0604020202020204" pitchFamily="34" charset="0"/>
              <a:ea typeface="楷体_GB2312" pitchFamily="49" charset="-122"/>
            </a:endParaRPr>
          </a:p>
        </p:txBody>
      </p:sp>
      <p:sp>
        <p:nvSpPr>
          <p:cNvPr id="5" name="Rectangle 3"/>
          <p:cNvSpPr>
            <a:spLocks noGrp="1"/>
          </p:cNvSpPr>
          <p:nvPr/>
        </p:nvSpPr>
        <p:spPr>
          <a:xfrm>
            <a:off x="558800" y="4597400"/>
            <a:ext cx="8003540" cy="661035"/>
          </a:xfrm>
          <a:prstGeom prst="rect">
            <a:avLst/>
          </a:prstGeom>
          <a:noFill/>
          <a:ln w="9525">
            <a:noFill/>
          </a:ln>
        </p:spPr>
        <p:txBody>
          <a:bodyPr vert="horz" wrap="square" lIns="91440" tIns="45720" rIns="91440" bIns="45720" anchor="t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9pPr>
          </a:lstStyle>
          <a:p>
            <a:pPr marL="0" indent="0" eaLnBrk="1" latinLnBrk="0" hangingPunct="1">
              <a:lnSpc>
                <a:spcPct val="120000"/>
              </a:lnSpc>
              <a:spcBef>
                <a:spcPts val="0"/>
              </a:spcBef>
              <a:buNone/>
            </a:pPr>
            <a:r>
              <a:rPr lang="en-US" altLang="zh-CN" sz="2400" b="1" kern="1200" dirty="0">
                <a:solidFill>
                  <a:srgbClr val="000066"/>
                </a:solidFill>
                <a:latin typeface="Arial" panose="020B0604020202020204" pitchFamily="34" charset="0"/>
                <a:ea typeface="楷体_GB2312" pitchFamily="49" charset="-122"/>
              </a:rPr>
              <a:t>       </a:t>
            </a:r>
            <a:r>
              <a:rPr lang="zh-CN" altLang="en-US" sz="2400" b="1" kern="1200" dirty="0">
                <a:solidFill>
                  <a:srgbClr val="000066"/>
                </a:solidFill>
                <a:latin typeface="Arial" panose="020B0604020202020204" pitchFamily="34" charset="0"/>
                <a:ea typeface="楷体_GB2312" pitchFamily="49" charset="-122"/>
              </a:rPr>
              <a:t>(378.8046875)</a:t>
            </a:r>
            <a:r>
              <a:rPr lang="zh-CN" altLang="en-US" sz="2400" b="1" kern="1200" baseline="-25000" dirty="0">
                <a:solidFill>
                  <a:srgbClr val="000066"/>
                </a:solidFill>
                <a:latin typeface="Arial" panose="020B0604020202020204" pitchFamily="34" charset="0"/>
                <a:ea typeface="楷体_GB2312" pitchFamily="49" charset="-122"/>
              </a:rPr>
              <a:t>10 </a:t>
            </a:r>
            <a:r>
              <a:rPr lang="zh-CN" altLang="en-US" sz="2400" b="1" kern="1200" dirty="0">
                <a:solidFill>
                  <a:srgbClr val="000066"/>
                </a:solidFill>
                <a:latin typeface="Arial" panose="020B0604020202020204" pitchFamily="34" charset="0"/>
                <a:ea typeface="楷体_GB2312" pitchFamily="49" charset="-122"/>
              </a:rPr>
              <a:t>= (17A.CE)</a:t>
            </a:r>
            <a:r>
              <a:rPr lang="zh-CN" altLang="en-US" sz="2400" b="1" kern="1200" baseline="-25000" dirty="0">
                <a:solidFill>
                  <a:srgbClr val="000066"/>
                </a:solidFill>
                <a:latin typeface="Arial" panose="020B0604020202020204" pitchFamily="34" charset="0"/>
                <a:ea typeface="楷体_GB2312" pitchFamily="49" charset="-122"/>
              </a:rPr>
              <a:t>16</a:t>
            </a:r>
            <a:r>
              <a:rPr lang="zh-CN" altLang="en-US" sz="2400" b="1" kern="1200" dirty="0">
                <a:solidFill>
                  <a:srgbClr val="000066"/>
                </a:solidFill>
                <a:latin typeface="Arial" panose="020B0604020202020204" pitchFamily="34" charset="0"/>
                <a:ea typeface="楷体_GB2312" pitchFamily="49" charset="-122"/>
              </a:rPr>
              <a:t> = 17A.CEH。</a:t>
            </a:r>
            <a:endParaRPr lang="zh-CN" altLang="en-US" sz="2400" b="1" kern="1200" dirty="0">
              <a:solidFill>
                <a:srgbClr val="000066"/>
              </a:solidFill>
              <a:latin typeface="Arial" panose="020B0604020202020204" pitchFamily="34" charset="0"/>
              <a:ea typeface="楷体_GB2312" pitchFamily="49" charset="-122"/>
            </a:endParaRPr>
          </a:p>
        </p:txBody>
      </p:sp>
      <p:grpSp>
        <p:nvGrpSpPr>
          <p:cNvPr id="1073744314" name="组合 14401"/>
          <p:cNvGrpSpPr/>
          <p:nvPr/>
        </p:nvGrpSpPr>
        <p:grpSpPr>
          <a:xfrm rot="0">
            <a:off x="1676400" y="2667000"/>
            <a:ext cx="419100" cy="205740"/>
            <a:chOff x="3480" y="4839"/>
            <a:chExt cx="660" cy="324"/>
          </a:xfrm>
        </p:grpSpPr>
        <p:sp>
          <p:nvSpPr>
            <p:cNvPr id="1073744315" name="直线 14402"/>
            <p:cNvSpPr/>
            <p:nvPr/>
          </p:nvSpPr>
          <p:spPr>
            <a:xfrm>
              <a:off x="3480" y="4839"/>
              <a:ext cx="0" cy="312"/>
            </a:xfrm>
            <a:prstGeom prst="line">
              <a:avLst/>
            </a:prstGeom>
            <a:ln w="9525" cap="flat" cmpd="sng">
              <a:solidFill>
                <a:srgbClr val="0000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1073744316" name="直线 14403"/>
            <p:cNvSpPr/>
            <p:nvPr/>
          </p:nvSpPr>
          <p:spPr>
            <a:xfrm>
              <a:off x="3480" y="5163"/>
              <a:ext cx="660" cy="0"/>
            </a:xfrm>
            <a:prstGeom prst="line">
              <a:avLst/>
            </a:prstGeom>
            <a:ln w="9525" cap="flat" cmpd="sng">
              <a:solidFill>
                <a:srgbClr val="000000"/>
              </a:solidFill>
              <a:prstDash val="solid"/>
              <a:headEnd type="none" w="med" len="med"/>
              <a:tailEnd type="none" w="med" len="med"/>
            </a:ln>
          </p:spPr>
        </p:sp>
      </p:grpSp>
      <p:grpSp>
        <p:nvGrpSpPr>
          <p:cNvPr id="1073744320" name="组合 14407"/>
          <p:cNvGrpSpPr/>
          <p:nvPr/>
        </p:nvGrpSpPr>
        <p:grpSpPr>
          <a:xfrm rot="0">
            <a:off x="1685925" y="3131185"/>
            <a:ext cx="419100" cy="205740"/>
            <a:chOff x="3480" y="4839"/>
            <a:chExt cx="660" cy="324"/>
          </a:xfrm>
        </p:grpSpPr>
        <p:sp>
          <p:nvSpPr>
            <p:cNvPr id="1073744321" name="直线 14408"/>
            <p:cNvSpPr/>
            <p:nvPr/>
          </p:nvSpPr>
          <p:spPr>
            <a:xfrm>
              <a:off x="3480" y="4839"/>
              <a:ext cx="0" cy="312"/>
            </a:xfrm>
            <a:prstGeom prst="line">
              <a:avLst/>
            </a:prstGeom>
            <a:ln w="9525" cap="flat" cmpd="sng">
              <a:solidFill>
                <a:srgbClr val="0000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1073744322" name="直线 14409"/>
            <p:cNvSpPr/>
            <p:nvPr/>
          </p:nvSpPr>
          <p:spPr>
            <a:xfrm>
              <a:off x="3480" y="5163"/>
              <a:ext cx="660" cy="0"/>
            </a:xfrm>
            <a:prstGeom prst="line">
              <a:avLst/>
            </a:prstGeom>
            <a:ln w="9525" cap="flat" cmpd="sng">
              <a:solidFill>
                <a:srgbClr val="000000"/>
              </a:solidFill>
              <a:prstDash val="solid"/>
              <a:headEnd type="none" w="med" len="med"/>
              <a:tailEnd type="none" w="med" len="med"/>
            </a:ln>
          </p:spPr>
        </p:sp>
      </p:grpSp>
      <p:grpSp>
        <p:nvGrpSpPr>
          <p:cNvPr id="2" name="组合 1"/>
          <p:cNvGrpSpPr/>
          <p:nvPr/>
        </p:nvGrpSpPr>
        <p:grpSpPr>
          <a:xfrm>
            <a:off x="1314450" y="2621915"/>
            <a:ext cx="1792605" cy="713105"/>
            <a:chOff x="1950" y="4129"/>
            <a:chExt cx="2823" cy="1123"/>
          </a:xfrm>
        </p:grpSpPr>
        <p:sp>
          <p:nvSpPr>
            <p:cNvPr id="1073744318" name="文本框 14405"/>
            <p:cNvSpPr txBox="1"/>
            <p:nvPr/>
          </p:nvSpPr>
          <p:spPr>
            <a:xfrm>
              <a:off x="1950" y="4129"/>
              <a:ext cx="530" cy="327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square" lIns="18000" tIns="10800" rIns="18000" bIns="10800"/>
            <a:p>
              <a:r>
                <a:rPr lang="en-US" altLang="zh-CN"/>
                <a:t>16</a:t>
              </a:r>
              <a:endParaRPr lang="en-US" altLang="zh-CN"/>
            </a:p>
          </p:txBody>
        </p:sp>
        <p:sp>
          <p:nvSpPr>
            <p:cNvPr id="1073744310" name="文本框 14397"/>
            <p:cNvSpPr txBox="1"/>
            <p:nvPr/>
          </p:nvSpPr>
          <p:spPr>
            <a:xfrm>
              <a:off x="3495" y="4824"/>
              <a:ext cx="1279" cy="428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square" lIns="18000" tIns="10800" rIns="18000" bIns="10800"/>
            <a:p>
              <a:r>
                <a:rPr lang="zh-CN" altLang="en-US"/>
                <a:t>….. </a:t>
              </a:r>
              <a:r>
                <a:rPr lang="en-US" altLang="zh-CN"/>
                <a:t>A</a:t>
              </a:r>
              <a:r>
                <a:rPr lang="zh-CN" altLang="en-US"/>
                <a:t> </a:t>
              </a:r>
              <a:endParaRPr lang="zh-CN" altLang="en-US"/>
            </a:p>
            <a:p>
              <a:endParaRPr lang="zh-CN" altLang="en-US"/>
            </a:p>
          </p:txBody>
        </p:sp>
        <p:sp>
          <p:nvSpPr>
            <p:cNvPr id="1073744323" name="文本框 14410"/>
            <p:cNvSpPr txBox="1"/>
            <p:nvPr/>
          </p:nvSpPr>
          <p:spPr>
            <a:xfrm>
              <a:off x="2760" y="4800"/>
              <a:ext cx="578" cy="413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square" lIns="18000" tIns="10800" rIns="18000" bIns="10800"/>
            <a:p>
              <a:r>
                <a:rPr lang="en-US" altLang="zh-CN"/>
                <a:t>23</a:t>
              </a:r>
              <a:endParaRPr lang="en-US" altLang="zh-CN"/>
            </a:p>
          </p:txBody>
        </p:sp>
      </p:grpSp>
      <p:grpSp>
        <p:nvGrpSpPr>
          <p:cNvPr id="1073744326" name="组合 14413"/>
          <p:cNvGrpSpPr/>
          <p:nvPr/>
        </p:nvGrpSpPr>
        <p:grpSpPr>
          <a:xfrm rot="0">
            <a:off x="1676400" y="3676015"/>
            <a:ext cx="419100" cy="205740"/>
            <a:chOff x="3480" y="4839"/>
            <a:chExt cx="660" cy="324"/>
          </a:xfrm>
        </p:grpSpPr>
        <p:sp>
          <p:nvSpPr>
            <p:cNvPr id="1073744327" name="直线 14414"/>
            <p:cNvSpPr/>
            <p:nvPr/>
          </p:nvSpPr>
          <p:spPr>
            <a:xfrm>
              <a:off x="3480" y="4839"/>
              <a:ext cx="0" cy="312"/>
            </a:xfrm>
            <a:prstGeom prst="line">
              <a:avLst/>
            </a:prstGeom>
            <a:ln w="9525" cap="flat" cmpd="sng">
              <a:solidFill>
                <a:srgbClr val="0000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1073744328" name="直线 14415"/>
            <p:cNvSpPr/>
            <p:nvPr/>
          </p:nvSpPr>
          <p:spPr>
            <a:xfrm>
              <a:off x="3480" y="5163"/>
              <a:ext cx="660" cy="0"/>
            </a:xfrm>
            <a:prstGeom prst="line">
              <a:avLst/>
            </a:prstGeom>
            <a:ln w="9525" cap="flat" cmpd="sng">
              <a:solidFill>
                <a:srgbClr val="000000"/>
              </a:solidFill>
              <a:prstDash val="solid"/>
              <a:headEnd type="none" w="med" len="med"/>
              <a:tailEnd type="none" w="med" len="med"/>
            </a:ln>
          </p:spPr>
        </p:sp>
      </p:grpSp>
      <p:grpSp>
        <p:nvGrpSpPr>
          <p:cNvPr id="13" name="组合 12"/>
          <p:cNvGrpSpPr/>
          <p:nvPr/>
        </p:nvGrpSpPr>
        <p:grpSpPr>
          <a:xfrm>
            <a:off x="1264285" y="3639820"/>
            <a:ext cx="1859915" cy="810260"/>
            <a:chOff x="1991" y="5732"/>
            <a:chExt cx="2929" cy="1276"/>
          </a:xfrm>
        </p:grpSpPr>
        <p:grpSp>
          <p:nvGrpSpPr>
            <p:cNvPr id="17" name="组合 16"/>
            <p:cNvGrpSpPr/>
            <p:nvPr/>
          </p:nvGrpSpPr>
          <p:grpSpPr>
            <a:xfrm>
              <a:off x="2760" y="6316"/>
              <a:ext cx="2161" cy="692"/>
              <a:chOff x="2760" y="7756"/>
              <a:chExt cx="2161" cy="692"/>
            </a:xfrm>
          </p:grpSpPr>
          <p:sp>
            <p:nvSpPr>
              <p:cNvPr id="1073744311" name="文本框 14398"/>
              <p:cNvSpPr txBox="1"/>
              <p:nvPr/>
            </p:nvSpPr>
            <p:spPr>
              <a:xfrm>
                <a:off x="3477" y="7756"/>
                <a:ext cx="1444" cy="692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square" lIns="18000" tIns="10800" rIns="18000" bIns="10800"/>
              <a:p>
                <a:r>
                  <a:rPr lang="zh-CN" altLang="en-US"/>
                  <a:t>….. 1     </a:t>
                </a:r>
                <a:endParaRPr lang="zh-CN" altLang="en-US"/>
              </a:p>
            </p:txBody>
          </p:sp>
          <p:sp>
            <p:nvSpPr>
              <p:cNvPr id="1073744361" name="文本框 14448"/>
              <p:cNvSpPr txBox="1"/>
              <p:nvPr/>
            </p:nvSpPr>
            <p:spPr>
              <a:xfrm>
                <a:off x="2760" y="7764"/>
                <a:ext cx="425" cy="334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square" lIns="18000" tIns="10800" rIns="18000" bIns="10800"/>
              <a:p>
                <a:pPr algn="r"/>
                <a:r>
                  <a:rPr lang="zh-CN" altLang="en-US"/>
                  <a:t>0</a:t>
                </a:r>
                <a:endParaRPr lang="zh-CN" altLang="en-US"/>
              </a:p>
              <a:p>
                <a:endParaRPr lang="zh-CN" altLang="en-US"/>
              </a:p>
            </p:txBody>
          </p:sp>
        </p:grpSp>
        <p:sp>
          <p:nvSpPr>
            <p:cNvPr id="1073744330" name="文本框 14417"/>
            <p:cNvSpPr txBox="1"/>
            <p:nvPr/>
          </p:nvSpPr>
          <p:spPr>
            <a:xfrm>
              <a:off x="1991" y="5732"/>
              <a:ext cx="478" cy="454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square" lIns="18000" tIns="10800" rIns="18000" bIns="10800"/>
            <a:p>
              <a:r>
                <a:rPr lang="en-US" altLang="zh-CN"/>
                <a:t>16</a:t>
              </a:r>
              <a:endParaRPr lang="en-US" altLang="zh-CN"/>
            </a:p>
          </p:txBody>
        </p:sp>
      </p:grpSp>
      <p:grpSp>
        <p:nvGrpSpPr>
          <p:cNvPr id="4" name="组合 3"/>
          <p:cNvGrpSpPr/>
          <p:nvPr/>
        </p:nvGrpSpPr>
        <p:grpSpPr>
          <a:xfrm>
            <a:off x="1240155" y="3101340"/>
            <a:ext cx="1821815" cy="837565"/>
            <a:chOff x="1953" y="4884"/>
            <a:chExt cx="2869" cy="1319"/>
          </a:xfrm>
        </p:grpSpPr>
        <p:sp>
          <p:nvSpPr>
            <p:cNvPr id="1073744324" name="文本框 14411"/>
            <p:cNvSpPr txBox="1"/>
            <p:nvPr/>
          </p:nvSpPr>
          <p:spPr>
            <a:xfrm>
              <a:off x="1953" y="4884"/>
              <a:ext cx="537" cy="496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square" lIns="18000" tIns="10800" rIns="18000" bIns="10800"/>
            <a:p>
              <a:r>
                <a:rPr lang="en-US" altLang="zh-CN"/>
                <a:t>16</a:t>
              </a:r>
              <a:endParaRPr lang="en-US" altLang="zh-CN"/>
            </a:p>
          </p:txBody>
        </p:sp>
        <p:sp>
          <p:nvSpPr>
            <p:cNvPr id="1073744329" name="文本框 14416"/>
            <p:cNvSpPr txBox="1"/>
            <p:nvPr/>
          </p:nvSpPr>
          <p:spPr>
            <a:xfrm>
              <a:off x="2760" y="5662"/>
              <a:ext cx="359" cy="349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square" lIns="18000" tIns="10800" rIns="18000" bIns="10800"/>
            <a:p>
              <a:pPr algn="r"/>
              <a:r>
                <a:rPr lang="en-US" altLang="zh-CN"/>
                <a:t>1</a:t>
              </a:r>
              <a:endParaRPr lang="zh-CN" altLang="en-US"/>
            </a:p>
            <a:p>
              <a:endParaRPr lang="zh-CN" altLang="en-US"/>
            </a:p>
          </p:txBody>
        </p:sp>
        <p:sp>
          <p:nvSpPr>
            <p:cNvPr id="1073744362" name="文本框 14449"/>
            <p:cNvSpPr txBox="1"/>
            <p:nvPr/>
          </p:nvSpPr>
          <p:spPr>
            <a:xfrm>
              <a:off x="3480" y="5685"/>
              <a:ext cx="1342" cy="518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square" lIns="18000" tIns="10800" rIns="18000" bIns="10800"/>
            <a:p>
              <a:r>
                <a:rPr lang="zh-CN" altLang="en-US">
                  <a:sym typeface="+mn-ea"/>
                </a:rPr>
                <a:t>…..</a:t>
              </a:r>
              <a:r>
                <a:rPr lang="zh-CN" altLang="en-US"/>
                <a:t> </a:t>
              </a:r>
              <a:r>
                <a:rPr lang="en-US" altLang="zh-CN"/>
                <a:t>7</a:t>
              </a:r>
              <a:endParaRPr lang="zh-CN" altLang="en-US"/>
            </a:p>
            <a:p>
              <a:endParaRPr lang="zh-CN" altLang="en-US"/>
            </a:p>
          </p:txBody>
        </p:sp>
      </p:grpSp>
      <p:grpSp>
        <p:nvGrpSpPr>
          <p:cNvPr id="15" name="组合 14"/>
          <p:cNvGrpSpPr/>
          <p:nvPr/>
        </p:nvGrpSpPr>
        <p:grpSpPr>
          <a:xfrm>
            <a:off x="3200400" y="3055620"/>
            <a:ext cx="991870" cy="1374140"/>
            <a:chOff x="5040" y="4812"/>
            <a:chExt cx="1562" cy="2164"/>
          </a:xfrm>
        </p:grpSpPr>
        <p:sp>
          <p:nvSpPr>
            <p:cNvPr id="1073744368" name="直线 14455"/>
            <p:cNvSpPr/>
            <p:nvPr/>
          </p:nvSpPr>
          <p:spPr>
            <a:xfrm>
              <a:off x="5716" y="5336"/>
              <a:ext cx="1" cy="919"/>
            </a:xfrm>
            <a:prstGeom prst="line">
              <a:avLst/>
            </a:prstGeom>
            <a:ln w="9525" cap="flat" cmpd="sng">
              <a:solidFill>
                <a:srgbClr val="000000"/>
              </a:solidFill>
              <a:prstDash val="solid"/>
              <a:headEnd type="triangle" w="sm" len="med"/>
              <a:tailEnd type="none" w="med" len="med"/>
            </a:ln>
          </p:spPr>
        </p:sp>
        <p:sp>
          <p:nvSpPr>
            <p:cNvPr id="6" name="文本框 14397"/>
            <p:cNvSpPr txBox="1"/>
            <p:nvPr/>
          </p:nvSpPr>
          <p:spPr>
            <a:xfrm>
              <a:off x="5160" y="4812"/>
              <a:ext cx="1298" cy="408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square" lIns="18000" tIns="10800" rIns="18000" bIns="10800"/>
            <a:p>
              <a:r>
                <a:rPr lang="zh-CN" altLang="en-US"/>
                <a:t>最低位</a:t>
              </a:r>
              <a:endParaRPr lang="zh-CN" altLang="en-US"/>
            </a:p>
            <a:p>
              <a:endParaRPr lang="zh-CN" altLang="en-US"/>
            </a:p>
          </p:txBody>
        </p:sp>
        <p:sp>
          <p:nvSpPr>
            <p:cNvPr id="7" name="文本框 14398"/>
            <p:cNvSpPr txBox="1"/>
            <p:nvPr/>
          </p:nvSpPr>
          <p:spPr>
            <a:xfrm>
              <a:off x="5040" y="6284"/>
              <a:ext cx="1563" cy="692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square" lIns="18000" tIns="10800" rIns="18000" bIns="10800"/>
            <a:p>
              <a:r>
                <a:rPr lang="zh-CN" altLang="en-US"/>
                <a:t>最高位</a:t>
              </a:r>
              <a:endParaRPr lang="zh-CN" altLang="en-US"/>
            </a:p>
            <a:p>
              <a:endParaRPr lang="zh-CN" altLang="en-US"/>
            </a:p>
          </p:txBody>
        </p:sp>
      </p:grpSp>
      <p:sp>
        <p:nvSpPr>
          <p:cNvPr id="1073744370" name="文本框 14457"/>
          <p:cNvSpPr txBox="1"/>
          <p:nvPr/>
        </p:nvSpPr>
        <p:spPr>
          <a:xfrm>
            <a:off x="4800600" y="2667000"/>
            <a:ext cx="3165475" cy="264160"/>
          </a:xfrm>
          <a:prstGeom prst="rect">
            <a:avLst/>
          </a:prstGeom>
          <a:noFill/>
          <a:ln w="9525">
            <a:noFill/>
          </a:ln>
        </p:spPr>
        <p:txBody>
          <a:bodyPr wrap="square" lIns="18000" tIns="10800" rIns="18000" bIns="10800"/>
          <a:p>
            <a:r>
              <a:rPr lang="zh-CN" altLang="en-US"/>
              <a:t>0.</a:t>
            </a:r>
            <a:r>
              <a:rPr lang="en-US" altLang="zh-CN"/>
              <a:t>8046875</a:t>
            </a:r>
            <a:r>
              <a:rPr lang="zh-CN" altLang="en-US"/>
              <a:t>×</a:t>
            </a:r>
            <a:r>
              <a:rPr lang="en-US" altLang="zh-CN"/>
              <a:t>16</a:t>
            </a:r>
            <a:r>
              <a:rPr lang="zh-CN" altLang="en-US"/>
              <a:t>=1</a:t>
            </a:r>
            <a:r>
              <a:rPr lang="en-US" altLang="zh-CN"/>
              <a:t>2</a:t>
            </a:r>
            <a:r>
              <a:rPr lang="zh-CN" altLang="en-US"/>
              <a:t>.</a:t>
            </a:r>
            <a:r>
              <a:rPr lang="en-US" altLang="zh-CN"/>
              <a:t>87</a:t>
            </a:r>
            <a:r>
              <a:rPr lang="zh-CN" altLang="en-US"/>
              <a:t>5…</a:t>
            </a:r>
            <a:r>
              <a:rPr lang="en-US" altLang="zh-CN"/>
              <a:t>C</a:t>
            </a:r>
            <a:endParaRPr lang="en-US" altLang="zh-CN"/>
          </a:p>
        </p:txBody>
      </p:sp>
      <p:sp>
        <p:nvSpPr>
          <p:cNvPr id="1073744371" name="文本框 14458"/>
          <p:cNvSpPr txBox="1"/>
          <p:nvPr/>
        </p:nvSpPr>
        <p:spPr>
          <a:xfrm>
            <a:off x="4800600" y="3124200"/>
            <a:ext cx="2485390" cy="333375"/>
          </a:xfrm>
          <a:prstGeom prst="rect">
            <a:avLst/>
          </a:prstGeom>
          <a:noFill/>
          <a:ln w="9525">
            <a:noFill/>
          </a:ln>
        </p:spPr>
        <p:txBody>
          <a:bodyPr wrap="square" lIns="18000" tIns="10800" rIns="18000" bIns="10800"/>
          <a:p>
            <a:r>
              <a:rPr lang="zh-CN" altLang="en-US"/>
              <a:t>0.</a:t>
            </a:r>
            <a:r>
              <a:rPr lang="en-US" altLang="zh-CN"/>
              <a:t>87</a:t>
            </a:r>
            <a:r>
              <a:rPr lang="zh-CN" altLang="en-US"/>
              <a:t>5</a:t>
            </a:r>
            <a:r>
              <a:rPr lang="zh-CN" altLang="en-US">
                <a:sym typeface="+mn-ea"/>
              </a:rPr>
              <a:t>×</a:t>
            </a:r>
            <a:r>
              <a:rPr lang="en-US" altLang="zh-CN"/>
              <a:t>16</a:t>
            </a:r>
            <a:r>
              <a:rPr lang="zh-CN" altLang="en-US"/>
              <a:t>=</a:t>
            </a:r>
            <a:r>
              <a:rPr lang="en-US" altLang="zh-CN"/>
              <a:t>14.0</a:t>
            </a:r>
            <a:r>
              <a:rPr lang="zh-CN" altLang="en-US"/>
              <a:t>…… </a:t>
            </a:r>
            <a:r>
              <a:rPr lang="en-US" altLang="zh-CN"/>
              <a:t>E</a:t>
            </a:r>
            <a:r>
              <a:rPr lang="zh-CN" altLang="en-US"/>
              <a:t>    </a:t>
            </a:r>
            <a:endParaRPr lang="zh-CN" altLang="en-US"/>
          </a:p>
          <a:p>
            <a:endParaRPr lang="zh-CN" altLang="en-US"/>
          </a:p>
        </p:txBody>
      </p:sp>
      <p:grpSp>
        <p:nvGrpSpPr>
          <p:cNvPr id="14" name="组合 13"/>
          <p:cNvGrpSpPr/>
          <p:nvPr/>
        </p:nvGrpSpPr>
        <p:grpSpPr>
          <a:xfrm>
            <a:off x="7620000" y="2667000"/>
            <a:ext cx="1417320" cy="754380"/>
            <a:chOff x="12000" y="4200"/>
            <a:chExt cx="2232" cy="1188"/>
          </a:xfrm>
        </p:grpSpPr>
        <p:sp>
          <p:nvSpPr>
            <p:cNvPr id="23" name="文本框 14457"/>
            <p:cNvSpPr txBox="1"/>
            <p:nvPr/>
          </p:nvSpPr>
          <p:spPr>
            <a:xfrm>
              <a:off x="12000" y="4200"/>
              <a:ext cx="1757" cy="480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square" lIns="18000" tIns="10800" rIns="18000" bIns="10800"/>
            <a:p>
              <a:r>
                <a:rPr lang="zh-CN" altLang="en-US"/>
                <a:t>   高位</a:t>
              </a:r>
              <a:endParaRPr lang="zh-CN" altLang="en-US"/>
            </a:p>
            <a:p>
              <a:endParaRPr lang="zh-CN" altLang="en-US"/>
            </a:p>
          </p:txBody>
        </p:sp>
        <p:sp>
          <p:nvSpPr>
            <p:cNvPr id="24" name="文本框 14459"/>
            <p:cNvSpPr txBox="1"/>
            <p:nvPr/>
          </p:nvSpPr>
          <p:spPr>
            <a:xfrm>
              <a:off x="12240" y="4920"/>
              <a:ext cx="1993" cy="469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square" lIns="18000" tIns="10800" rIns="18000" bIns="10800"/>
            <a:p>
              <a:r>
                <a:rPr lang="zh-CN" altLang="en-US"/>
                <a:t> 低位</a:t>
              </a:r>
              <a:endParaRPr lang="zh-CN" altLang="en-US"/>
            </a:p>
            <a:p>
              <a:endParaRPr lang="zh-CN" altLang="en-US"/>
            </a:p>
          </p:txBody>
        </p:sp>
      </p:grpSp>
      <p:sp>
        <p:nvSpPr>
          <p:cNvPr id="100" name="文本框 99"/>
          <p:cNvSpPr txBox="1"/>
          <p:nvPr/>
        </p:nvSpPr>
        <p:spPr>
          <a:xfrm>
            <a:off x="4751070" y="1981200"/>
            <a:ext cx="3136900" cy="460375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p>
            <a:r>
              <a:rPr lang="zh-CN" altLang="en-US" sz="2400" b="1" dirty="0">
                <a:solidFill>
                  <a:srgbClr val="000066"/>
                </a:solidFill>
                <a:ea typeface="楷体_GB2312" pitchFamily="49" charset="-122"/>
              </a:rPr>
              <a:t>小数部分转换过程为</a:t>
            </a:r>
            <a:endParaRPr lang="zh-CN" altLang="en-US" sz="2400" b="1" dirty="0">
              <a:solidFill>
                <a:srgbClr val="000066"/>
              </a:solidFill>
              <a:ea typeface="楷体_GB2312" pitchFamily="49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1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37443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10737443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0737443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37443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2" dur="500"/>
                                        <p:tgtEl>
                                          <p:spTgt spid="10737443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37443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1" dur="500"/>
                                        <p:tgtEl>
                                          <p:spTgt spid="10737443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8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37443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0" dur="500"/>
                                        <p:tgtEl>
                                          <p:spTgt spid="10737443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5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6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55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1" dur="1000" fill="hold"/>
                                        <p:tgtEl>
                                          <p:spTgt spid="10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2" dur="1000" fill="hold"/>
                                        <p:tgtEl>
                                          <p:spTgt spid="10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3" dur="1000"/>
                                        <p:tgtEl>
                                          <p:spTgt spid="1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indefinite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37443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8" dur="500" fill="hold"/>
                                        <p:tgtEl>
                                          <p:spTgt spid="107374437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9" dur="500" fill="hold"/>
                                        <p:tgtEl>
                                          <p:spTgt spid="107374437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37443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4" dur="500" fill="hold"/>
                                        <p:tgtEl>
                                          <p:spTgt spid="107374437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5" dur="500" fill="hold"/>
                                        <p:tgtEl>
                                          <p:spTgt spid="107374437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>
                      <p:stCondLst>
                        <p:cond delay="indefinite"/>
                      </p:stCondLst>
                      <p:childTnLst>
                        <p:par>
                          <p:cTn id="67" fill="hold">
                            <p:stCondLst>
                              <p:cond delay="0"/>
                            </p:stCondLst>
                            <p:childTnLst>
                              <p:par>
                                <p:cTn id="68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0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1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2" fill="hold">
                      <p:stCondLst>
                        <p:cond delay="indefinite"/>
                      </p:stCondLst>
                      <p:childTnLst>
                        <p:par>
                          <p:cTn id="73" fill="hold">
                            <p:stCondLst>
                              <p:cond delay="0"/>
                            </p:stCondLst>
                            <p:childTnLst>
                              <p:par>
                                <p:cTn id="74" presetID="21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76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1073744370" grpId="0"/>
      <p:bldP spid="1073744371" grpId="0"/>
      <p:bldP spid="5" grpId="0"/>
      <p:bldP spid="100" grpId="0"/>
      <p:bldP spid="1073744317" grpId="0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6147" name="Rectangle 3"/>
          <p:cNvSpPr>
            <a:spLocks noGrp="1"/>
          </p:cNvSpPr>
          <p:nvPr>
            <p:ph idx="1"/>
          </p:nvPr>
        </p:nvSpPr>
        <p:spPr>
          <a:xfrm>
            <a:off x="525780" y="2056130"/>
            <a:ext cx="8003540" cy="1036320"/>
          </a:xfrm>
        </p:spPr>
        <p:txBody>
          <a:bodyPr vert="horz" wrap="square" lIns="91440" tIns="45720" rIns="91440" bIns="45720" anchor="t" anchorCtr="0"/>
          <a:p>
            <a:pPr marL="0" indent="0" eaLnBrk="1" latinLnBrk="0" hangingPunct="1">
              <a:lnSpc>
                <a:spcPct val="120000"/>
              </a:lnSpc>
              <a:spcBef>
                <a:spcPts val="0"/>
              </a:spcBef>
              <a:buNone/>
            </a:pPr>
            <a:r>
              <a:rPr lang="en-US" altLang="zh-CN" sz="2400" b="1" kern="1200" dirty="0">
                <a:solidFill>
                  <a:srgbClr val="000066"/>
                </a:solidFill>
                <a:latin typeface="Arial" panose="020B0604020202020204" pitchFamily="34" charset="0"/>
                <a:ea typeface="楷体_GB2312" pitchFamily="49" charset="-122"/>
              </a:rPr>
              <a:t>       </a:t>
            </a:r>
            <a:r>
              <a:rPr lang="zh-CN" altLang="en-US" sz="2400" b="1" kern="1200" dirty="0">
                <a:solidFill>
                  <a:srgbClr val="000066"/>
                </a:solidFill>
                <a:latin typeface="Arial" panose="020B0604020202020204" pitchFamily="34" charset="0"/>
                <a:ea typeface="楷体_GB2312" pitchFamily="49" charset="-122"/>
              </a:rPr>
              <a:t>八进制转换成二进制只要将八进制数的每1位转换成3位二进制数即可。</a:t>
            </a:r>
            <a:endParaRPr lang="zh-CN" altLang="en-US" sz="2400" b="1" kern="1200" dirty="0">
              <a:solidFill>
                <a:srgbClr val="000066"/>
              </a:solidFill>
              <a:latin typeface="Arial" panose="020B0604020202020204" pitchFamily="34" charset="0"/>
              <a:ea typeface="楷体_GB2312" pitchFamily="49" charset="-122"/>
            </a:endParaRPr>
          </a:p>
        </p:txBody>
      </p:sp>
      <p:sp>
        <p:nvSpPr>
          <p:cNvPr id="6148" name="TextBox 6"/>
          <p:cNvSpPr txBox="1"/>
          <p:nvPr/>
        </p:nvSpPr>
        <p:spPr>
          <a:xfrm>
            <a:off x="2819400" y="533400"/>
            <a:ext cx="5593080" cy="583565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5pPr>
          </a:lstStyle>
          <a:p>
            <a:pPr marL="0" lvl="0" indent="0" algn="l"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b="1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1.2 </a:t>
            </a:r>
            <a:r>
              <a:rPr lang="zh-CN" altLang="en-US" b="1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数制与码制</a:t>
            </a:r>
            <a:endParaRPr lang="zh-CN" altLang="en-US" b="1" dirty="0">
              <a:solidFill>
                <a:srgbClr val="FF0000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6150" name="灯片编号占位符 5"/>
          <p:cNvSpPr txBox="1">
            <a:spLocks noGrp="1"/>
          </p:cNvSpPr>
          <p:nvPr>
            <p:ph type="sldNum" sz="quarter" idx="12"/>
          </p:nvPr>
        </p:nvSpPr>
        <p:spPr>
          <a:xfrm>
            <a:off x="6553200" y="6537325"/>
            <a:ext cx="2133600" cy="244475"/>
          </a:xfrm>
        </p:spPr>
        <p:txBody>
          <a:bodyPr/>
          <a:p>
            <a:pPr marL="0" indent="0" algn="r" eaLnBrk="1" hangingPunct="1">
              <a:spcBef>
                <a:spcPct val="0"/>
              </a:spcBef>
              <a:buClrTx/>
              <a:buFontTx/>
              <a:buNone/>
            </a:pPr>
            <a:fld id="{9A0DB2DC-4C9A-4742-B13C-FB6460FD3503}" type="slidenum">
              <a:rPr lang="en-US" altLang="zh-CN" sz="1200" dirty="0">
                <a:solidFill>
                  <a:schemeClr val="bg1"/>
                </a:solidFill>
                <a:ea typeface="宋体" panose="02010600030101010101" pitchFamily="2" charset="-122"/>
              </a:rPr>
            </a:fld>
            <a:endParaRPr lang="en-US" altLang="zh-CN" sz="1200" dirty="0">
              <a:solidFill>
                <a:schemeClr val="bg1"/>
              </a:solidFill>
              <a:ea typeface="宋体" panose="02010600030101010101" pitchFamily="2" charset="-122"/>
            </a:endParaRPr>
          </a:p>
        </p:txBody>
      </p:sp>
      <p:sp>
        <p:nvSpPr>
          <p:cNvPr id="2" name="Rectangle 3"/>
          <p:cNvSpPr>
            <a:spLocks noGrp="1"/>
          </p:cNvSpPr>
          <p:nvPr/>
        </p:nvSpPr>
        <p:spPr>
          <a:xfrm>
            <a:off x="1217930" y="1143000"/>
            <a:ext cx="5832475" cy="522605"/>
          </a:xfrm>
          <a:prstGeom prst="rect">
            <a:avLst/>
          </a:prstGeom>
          <a:noFill/>
          <a:ln w="9525">
            <a:noFill/>
          </a:ln>
        </p:spPr>
        <p:txBody>
          <a:bodyPr vert="horz" wrap="square" lIns="91440" tIns="45720" rIns="91440" bIns="45720" anchor="t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9pPr>
          </a:lstStyle>
          <a:p>
            <a:pPr marL="0" indent="0" eaLnBrk="1" latinLnBrk="0" hangingPunct="1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2400" b="1" kern="1200" dirty="0">
                <a:solidFill>
                  <a:srgbClr val="FE09D6"/>
                </a:solidFill>
                <a:latin typeface="Times New Roman" panose="02020603050405020304" charset="0"/>
                <a:ea typeface="楷体_GB2312" pitchFamily="49" charset="-122"/>
                <a:cs typeface="Times New Roman" panose="02020603050405020304" charset="0"/>
              </a:rPr>
              <a:t>3. 八进制与二进制间的相互转换</a:t>
            </a:r>
            <a:endParaRPr lang="en-US" sz="2400" b="1" kern="1200" dirty="0">
              <a:solidFill>
                <a:srgbClr val="FE09D6"/>
              </a:solidFill>
              <a:latin typeface="Times New Roman" panose="02020603050405020304" charset="0"/>
              <a:ea typeface="楷体_GB2312" pitchFamily="49" charset="-122"/>
              <a:cs typeface="Times New Roman" panose="02020603050405020304" charset="0"/>
            </a:endParaRPr>
          </a:p>
        </p:txBody>
      </p:sp>
      <p:sp>
        <p:nvSpPr>
          <p:cNvPr id="3" name="Rectangle 3"/>
          <p:cNvSpPr>
            <a:spLocks noGrp="1"/>
          </p:cNvSpPr>
          <p:nvPr/>
        </p:nvSpPr>
        <p:spPr>
          <a:xfrm>
            <a:off x="514350" y="2985770"/>
            <a:ext cx="8003540" cy="600075"/>
          </a:xfrm>
          <a:prstGeom prst="rect">
            <a:avLst/>
          </a:prstGeom>
          <a:noFill/>
          <a:ln w="9525">
            <a:noFill/>
          </a:ln>
        </p:spPr>
        <p:txBody>
          <a:bodyPr vert="horz" wrap="square" lIns="91440" tIns="45720" rIns="91440" bIns="45720" anchor="t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9pPr>
          </a:lstStyle>
          <a:p>
            <a:pPr marL="0" indent="0" eaLnBrk="1" latinLnBrk="0" hangingPunct="1">
              <a:lnSpc>
                <a:spcPct val="120000"/>
              </a:lnSpc>
              <a:spcBef>
                <a:spcPts val="0"/>
              </a:spcBef>
              <a:buNone/>
            </a:pPr>
            <a:r>
              <a:rPr lang="en-US" altLang="zh-CN" sz="2400" b="1" kern="1200" dirty="0">
                <a:solidFill>
                  <a:srgbClr val="000066"/>
                </a:solidFill>
                <a:latin typeface="Arial" panose="020B0604020202020204" pitchFamily="34" charset="0"/>
                <a:ea typeface="楷体_GB2312" pitchFamily="49" charset="-122"/>
              </a:rPr>
              <a:t>       </a:t>
            </a:r>
            <a:r>
              <a:rPr lang="zh-CN" altLang="en-US" sz="2400" b="1" kern="1200" dirty="0">
                <a:solidFill>
                  <a:srgbClr val="000066"/>
                </a:solidFill>
                <a:latin typeface="Arial" panose="020B0604020202020204" pitchFamily="34" charset="0"/>
                <a:ea typeface="楷体_GB2312" pitchFamily="49" charset="-122"/>
              </a:rPr>
              <a:t>【例1-5】将八进制数274.51转换成二进制数。</a:t>
            </a:r>
            <a:endParaRPr lang="zh-CN" altLang="en-US" sz="2400" b="1" kern="1200" dirty="0">
              <a:solidFill>
                <a:srgbClr val="000066"/>
              </a:solidFill>
              <a:latin typeface="Arial" panose="020B0604020202020204" pitchFamily="34" charset="0"/>
              <a:ea typeface="楷体_GB2312" pitchFamily="49" charset="-122"/>
            </a:endParaRPr>
          </a:p>
        </p:txBody>
      </p:sp>
      <p:sp>
        <p:nvSpPr>
          <p:cNvPr id="5" name="Rectangle 3"/>
          <p:cNvSpPr>
            <a:spLocks noGrp="1"/>
          </p:cNvSpPr>
          <p:nvPr/>
        </p:nvSpPr>
        <p:spPr>
          <a:xfrm>
            <a:off x="635000" y="3418840"/>
            <a:ext cx="8003540" cy="565150"/>
          </a:xfrm>
          <a:prstGeom prst="rect">
            <a:avLst/>
          </a:prstGeom>
          <a:noFill/>
          <a:ln w="9525">
            <a:noFill/>
          </a:ln>
        </p:spPr>
        <p:txBody>
          <a:bodyPr vert="horz" wrap="square" lIns="91440" tIns="45720" rIns="91440" bIns="45720" anchor="t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9pPr>
          </a:lstStyle>
          <a:p>
            <a:pPr marL="0" indent="0" eaLnBrk="1" latinLnBrk="0" hangingPunct="1">
              <a:lnSpc>
                <a:spcPct val="120000"/>
              </a:lnSpc>
              <a:spcBef>
                <a:spcPts val="0"/>
              </a:spcBef>
              <a:buNone/>
            </a:pPr>
            <a:r>
              <a:rPr lang="en-US" altLang="zh-CN" sz="2400" b="1" kern="1200" dirty="0">
                <a:solidFill>
                  <a:srgbClr val="000066"/>
                </a:solidFill>
                <a:latin typeface="Arial" panose="020B0604020202020204" pitchFamily="34" charset="0"/>
                <a:ea typeface="楷体_GB2312" pitchFamily="49" charset="-122"/>
              </a:rPr>
              <a:t>       </a:t>
            </a:r>
            <a:r>
              <a:rPr lang="zh-CN" altLang="en-US" sz="2400" b="1" kern="1200" dirty="0">
                <a:solidFill>
                  <a:srgbClr val="000066"/>
                </a:solidFill>
                <a:latin typeface="Arial" panose="020B0604020202020204" pitchFamily="34" charset="0"/>
                <a:ea typeface="楷体_GB2312" pitchFamily="49" charset="-122"/>
              </a:rPr>
              <a:t>解：(274.51)</a:t>
            </a:r>
            <a:r>
              <a:rPr lang="zh-CN" altLang="en-US" sz="2400" b="1" kern="1200" baseline="-25000" dirty="0">
                <a:solidFill>
                  <a:srgbClr val="000066"/>
                </a:solidFill>
                <a:latin typeface="Arial" panose="020B0604020202020204" pitchFamily="34" charset="0"/>
                <a:ea typeface="楷体_GB2312" pitchFamily="49" charset="-122"/>
              </a:rPr>
              <a:t>8</a:t>
            </a:r>
            <a:r>
              <a:rPr lang="zh-CN" altLang="en-US" sz="2400" b="1" kern="1200" dirty="0">
                <a:solidFill>
                  <a:srgbClr val="000066"/>
                </a:solidFill>
                <a:latin typeface="Arial" panose="020B0604020202020204" pitchFamily="34" charset="0"/>
                <a:ea typeface="楷体_GB2312" pitchFamily="49" charset="-122"/>
              </a:rPr>
              <a:t> = (010111100.101001)</a:t>
            </a:r>
            <a:r>
              <a:rPr lang="zh-CN" altLang="en-US" sz="2400" b="1" kern="1200" baseline="-25000" dirty="0">
                <a:solidFill>
                  <a:srgbClr val="000066"/>
                </a:solidFill>
                <a:latin typeface="Arial" panose="020B0604020202020204" pitchFamily="34" charset="0"/>
                <a:ea typeface="楷体_GB2312" pitchFamily="49" charset="-122"/>
              </a:rPr>
              <a:t>2</a:t>
            </a:r>
            <a:r>
              <a:rPr lang="zh-CN" altLang="en-US" sz="2400" b="1" kern="1200" dirty="0">
                <a:solidFill>
                  <a:srgbClr val="000066"/>
                </a:solidFill>
                <a:latin typeface="Arial" panose="020B0604020202020204" pitchFamily="34" charset="0"/>
                <a:ea typeface="楷体_GB2312" pitchFamily="49" charset="-122"/>
              </a:rPr>
              <a:t>。</a:t>
            </a:r>
            <a:endParaRPr lang="zh-CN" altLang="en-US" sz="2400" b="1" kern="1200" dirty="0">
              <a:solidFill>
                <a:srgbClr val="000066"/>
              </a:solidFill>
              <a:latin typeface="Arial" panose="020B0604020202020204" pitchFamily="34" charset="0"/>
              <a:ea typeface="楷体_GB2312" pitchFamily="49" charset="-122"/>
            </a:endParaRPr>
          </a:p>
        </p:txBody>
      </p:sp>
      <p:sp>
        <p:nvSpPr>
          <p:cNvPr id="6" name="Rectangle 3"/>
          <p:cNvSpPr>
            <a:spLocks noGrp="1"/>
          </p:cNvSpPr>
          <p:nvPr/>
        </p:nvSpPr>
        <p:spPr>
          <a:xfrm>
            <a:off x="1178560" y="1601470"/>
            <a:ext cx="5832475" cy="522605"/>
          </a:xfrm>
          <a:prstGeom prst="rect">
            <a:avLst/>
          </a:prstGeom>
          <a:noFill/>
          <a:ln w="9525">
            <a:noFill/>
          </a:ln>
        </p:spPr>
        <p:txBody>
          <a:bodyPr vert="horz" wrap="square" lIns="91440" tIns="45720" rIns="91440" bIns="45720" anchor="t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9pPr>
          </a:lstStyle>
          <a:p>
            <a:pPr marL="0" indent="0" eaLnBrk="1" latinLnBrk="0" hangingPunct="1">
              <a:lnSpc>
                <a:spcPct val="120000"/>
              </a:lnSpc>
              <a:spcBef>
                <a:spcPts val="0"/>
              </a:spcBef>
              <a:buNone/>
            </a:pPr>
            <a:r>
              <a:rPr lang="en-US" altLang="zh-CN" sz="2400" b="1" kern="1200" dirty="0">
                <a:solidFill>
                  <a:srgbClr val="070707"/>
                </a:solidFill>
                <a:latin typeface="Times New Roman" panose="02020603050405020304" charset="0"/>
                <a:ea typeface="楷体_GB2312" pitchFamily="49" charset="-122"/>
                <a:cs typeface="Times New Roman" panose="02020603050405020304" charset="0"/>
              </a:rPr>
              <a:t>(</a:t>
            </a:r>
            <a:r>
              <a:rPr lang="en-US" sz="2400" b="1" kern="1200" dirty="0">
                <a:solidFill>
                  <a:srgbClr val="070707"/>
                </a:solidFill>
                <a:latin typeface="Times New Roman" panose="02020603050405020304" charset="0"/>
                <a:ea typeface="楷体_GB2312" pitchFamily="49" charset="-122"/>
                <a:cs typeface="Times New Roman" panose="02020603050405020304" charset="0"/>
              </a:rPr>
              <a:t>1</a:t>
            </a:r>
            <a:r>
              <a:rPr lang="en-US" altLang="zh-CN" sz="2400" b="1" kern="1200" dirty="0">
                <a:solidFill>
                  <a:srgbClr val="070707"/>
                </a:solidFill>
                <a:latin typeface="Times New Roman" panose="02020603050405020304" charset="0"/>
                <a:ea typeface="楷体_GB2312" pitchFamily="49" charset="-122"/>
                <a:cs typeface="Times New Roman" panose="02020603050405020304" charset="0"/>
              </a:rPr>
              <a:t>) </a:t>
            </a:r>
            <a:r>
              <a:rPr lang="en-US" sz="2400" b="1" kern="1200" dirty="0">
                <a:solidFill>
                  <a:srgbClr val="070707"/>
                </a:solidFill>
                <a:latin typeface="Times New Roman" panose="02020603050405020304" charset="0"/>
                <a:ea typeface="楷体_GB2312" pitchFamily="49" charset="-122"/>
                <a:cs typeface="Times New Roman" panose="02020603050405020304" charset="0"/>
              </a:rPr>
              <a:t>八进制转为二进制</a:t>
            </a:r>
            <a:r>
              <a:rPr lang="zh-CN" altLang="en-US" sz="2400" b="1" kern="1200" dirty="0">
                <a:solidFill>
                  <a:srgbClr val="070707"/>
                </a:solidFill>
                <a:latin typeface="Times New Roman" panose="02020603050405020304" charset="0"/>
                <a:ea typeface="楷体_GB2312" pitchFamily="49" charset="-122"/>
                <a:cs typeface="Times New Roman" panose="02020603050405020304" charset="0"/>
              </a:rPr>
              <a:t>。</a:t>
            </a:r>
            <a:endParaRPr lang="zh-CN" altLang="en-US" sz="2400" b="1" kern="1200" dirty="0">
              <a:solidFill>
                <a:srgbClr val="070707"/>
              </a:solidFill>
              <a:latin typeface="Times New Roman" panose="02020603050405020304" charset="0"/>
              <a:ea typeface="楷体_GB2312" pitchFamily="49" charset="-122"/>
              <a:cs typeface="Times New Roman" panose="02020603050405020304" charset="0"/>
            </a:endParaRPr>
          </a:p>
        </p:txBody>
      </p:sp>
      <p:sp>
        <p:nvSpPr>
          <p:cNvPr id="11" name="Rectangle 3"/>
          <p:cNvSpPr>
            <a:spLocks noGrp="1"/>
          </p:cNvSpPr>
          <p:nvPr/>
        </p:nvSpPr>
        <p:spPr>
          <a:xfrm>
            <a:off x="534670" y="4358640"/>
            <a:ext cx="8003540" cy="1036320"/>
          </a:xfrm>
          <a:prstGeom prst="rect">
            <a:avLst/>
          </a:prstGeom>
          <a:noFill/>
          <a:ln w="9525">
            <a:noFill/>
          </a:ln>
        </p:spPr>
        <p:txBody>
          <a:bodyPr vert="horz" wrap="square" lIns="91440" tIns="45720" rIns="91440" bIns="45720" anchor="t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9pPr>
          </a:lstStyle>
          <a:p>
            <a:pPr marL="0" indent="0" eaLnBrk="1" latinLnBrk="0" hangingPunct="1">
              <a:lnSpc>
                <a:spcPct val="120000"/>
              </a:lnSpc>
              <a:spcBef>
                <a:spcPts val="0"/>
              </a:spcBef>
              <a:buNone/>
            </a:pPr>
            <a:r>
              <a:rPr lang="en-US" altLang="zh-CN" sz="2400" b="1" kern="1200" dirty="0">
                <a:solidFill>
                  <a:srgbClr val="000066"/>
                </a:solidFill>
                <a:latin typeface="Arial" panose="020B0604020202020204" pitchFamily="34" charset="0"/>
                <a:ea typeface="楷体_GB2312" pitchFamily="49" charset="-122"/>
              </a:rPr>
              <a:t>       </a:t>
            </a:r>
            <a:r>
              <a:rPr lang="zh-CN" altLang="en-US" sz="2400" b="1" kern="1200" dirty="0">
                <a:solidFill>
                  <a:srgbClr val="000066"/>
                </a:solidFill>
                <a:latin typeface="Arial" panose="020B0604020202020204" pitchFamily="34" charset="0"/>
                <a:ea typeface="楷体_GB2312" pitchFamily="49" charset="-122"/>
              </a:rPr>
              <a:t>从二进制数的小数点开始，分别向左和向右每3位为一组，不足3位者补零，再将每组转换成八进制数。</a:t>
            </a:r>
            <a:endParaRPr lang="zh-CN" altLang="en-US" sz="2400" b="1" kern="1200" dirty="0">
              <a:solidFill>
                <a:srgbClr val="000066"/>
              </a:solidFill>
              <a:latin typeface="Arial" panose="020B0604020202020204" pitchFamily="34" charset="0"/>
              <a:ea typeface="楷体_GB2312" pitchFamily="49" charset="-122"/>
            </a:endParaRPr>
          </a:p>
        </p:txBody>
      </p:sp>
      <p:sp>
        <p:nvSpPr>
          <p:cNvPr id="13" name="Rectangle 3"/>
          <p:cNvSpPr>
            <a:spLocks noGrp="1"/>
          </p:cNvSpPr>
          <p:nvPr/>
        </p:nvSpPr>
        <p:spPr>
          <a:xfrm>
            <a:off x="523240" y="5288280"/>
            <a:ext cx="8003540" cy="600075"/>
          </a:xfrm>
          <a:prstGeom prst="rect">
            <a:avLst/>
          </a:prstGeom>
          <a:noFill/>
          <a:ln w="9525">
            <a:noFill/>
          </a:ln>
        </p:spPr>
        <p:txBody>
          <a:bodyPr vert="horz" wrap="square" lIns="91440" tIns="45720" rIns="91440" bIns="45720" anchor="t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9pPr>
          </a:lstStyle>
          <a:p>
            <a:pPr marL="0" indent="0" eaLnBrk="1" latinLnBrk="0" hangingPunct="1">
              <a:lnSpc>
                <a:spcPct val="120000"/>
              </a:lnSpc>
              <a:spcBef>
                <a:spcPts val="0"/>
              </a:spcBef>
              <a:buNone/>
            </a:pPr>
            <a:r>
              <a:rPr lang="en-US" altLang="zh-CN" sz="2400" b="1" kern="1200" dirty="0">
                <a:solidFill>
                  <a:srgbClr val="000066"/>
                </a:solidFill>
                <a:latin typeface="Arial" panose="020B0604020202020204" pitchFamily="34" charset="0"/>
                <a:ea typeface="楷体_GB2312" pitchFamily="49" charset="-122"/>
              </a:rPr>
              <a:t>       </a:t>
            </a:r>
            <a:r>
              <a:rPr lang="zh-CN" altLang="en-US" sz="2400" b="1" kern="1200" dirty="0">
                <a:solidFill>
                  <a:srgbClr val="000066"/>
                </a:solidFill>
                <a:latin typeface="Arial" panose="020B0604020202020204" pitchFamily="34" charset="0"/>
                <a:ea typeface="楷体_GB2312" pitchFamily="49" charset="-122"/>
              </a:rPr>
              <a:t>【例1-6】将二进制数10111110.1011转换成八进制数。</a:t>
            </a:r>
            <a:endParaRPr lang="zh-CN" altLang="en-US" sz="2400" b="1" kern="1200" dirty="0">
              <a:solidFill>
                <a:srgbClr val="000066"/>
              </a:solidFill>
              <a:latin typeface="Arial" panose="020B0604020202020204" pitchFamily="34" charset="0"/>
              <a:ea typeface="楷体_GB2312" pitchFamily="49" charset="-122"/>
            </a:endParaRPr>
          </a:p>
        </p:txBody>
      </p:sp>
      <p:sp>
        <p:nvSpPr>
          <p:cNvPr id="14" name="Rectangle 3"/>
          <p:cNvSpPr>
            <a:spLocks noGrp="1"/>
          </p:cNvSpPr>
          <p:nvPr/>
        </p:nvSpPr>
        <p:spPr>
          <a:xfrm>
            <a:off x="601980" y="5721350"/>
            <a:ext cx="4191635" cy="565150"/>
          </a:xfrm>
          <a:prstGeom prst="rect">
            <a:avLst/>
          </a:prstGeom>
          <a:noFill/>
          <a:ln w="9525">
            <a:noFill/>
          </a:ln>
        </p:spPr>
        <p:txBody>
          <a:bodyPr vert="horz" wrap="square" lIns="91440" tIns="45720" rIns="91440" bIns="45720" anchor="t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9pPr>
          </a:lstStyle>
          <a:p>
            <a:pPr marL="0" indent="0" eaLnBrk="1" latinLnBrk="0" hangingPunct="1">
              <a:lnSpc>
                <a:spcPct val="120000"/>
              </a:lnSpc>
              <a:spcBef>
                <a:spcPts val="0"/>
              </a:spcBef>
              <a:buNone/>
            </a:pPr>
            <a:r>
              <a:rPr lang="en-US" altLang="zh-CN" sz="2400" b="1" kern="1200" dirty="0">
                <a:solidFill>
                  <a:srgbClr val="000066"/>
                </a:solidFill>
                <a:latin typeface="Arial" panose="020B0604020202020204" pitchFamily="34" charset="0"/>
                <a:ea typeface="楷体_GB2312" pitchFamily="49" charset="-122"/>
              </a:rPr>
              <a:t>       </a:t>
            </a:r>
            <a:r>
              <a:rPr lang="zh-CN" altLang="en-US" sz="2400" b="1" kern="1200" dirty="0">
                <a:solidFill>
                  <a:srgbClr val="000066"/>
                </a:solidFill>
                <a:latin typeface="Arial" panose="020B0604020202020204" pitchFamily="34" charset="0"/>
                <a:ea typeface="楷体_GB2312" pitchFamily="49" charset="-122"/>
              </a:rPr>
              <a:t>解：(10111110.1011)</a:t>
            </a:r>
            <a:r>
              <a:rPr lang="zh-CN" altLang="en-US" sz="2400" b="1" kern="1200" baseline="-25000" dirty="0">
                <a:solidFill>
                  <a:srgbClr val="000066"/>
                </a:solidFill>
                <a:latin typeface="Arial" panose="020B0604020202020204" pitchFamily="34" charset="0"/>
                <a:ea typeface="楷体_GB2312" pitchFamily="49" charset="-122"/>
              </a:rPr>
              <a:t>2</a:t>
            </a:r>
            <a:r>
              <a:rPr lang="zh-CN" altLang="en-US" sz="2400" b="1" kern="1200" dirty="0">
                <a:solidFill>
                  <a:srgbClr val="000066"/>
                </a:solidFill>
                <a:latin typeface="Arial" panose="020B0604020202020204" pitchFamily="34" charset="0"/>
                <a:ea typeface="楷体_GB2312" pitchFamily="49" charset="-122"/>
              </a:rPr>
              <a:t> =</a:t>
            </a:r>
            <a:endParaRPr lang="zh-CN" altLang="en-US" sz="2400" b="1" kern="1200" baseline="-25000" dirty="0">
              <a:solidFill>
                <a:srgbClr val="000066"/>
              </a:solidFill>
              <a:latin typeface="Arial" panose="020B0604020202020204" pitchFamily="34" charset="0"/>
              <a:ea typeface="楷体_GB2312" pitchFamily="49" charset="-122"/>
            </a:endParaRPr>
          </a:p>
        </p:txBody>
      </p:sp>
      <p:sp>
        <p:nvSpPr>
          <p:cNvPr id="15" name="Rectangle 3"/>
          <p:cNvSpPr>
            <a:spLocks noGrp="1"/>
          </p:cNvSpPr>
          <p:nvPr/>
        </p:nvSpPr>
        <p:spPr>
          <a:xfrm>
            <a:off x="1187450" y="3903980"/>
            <a:ext cx="5832475" cy="522605"/>
          </a:xfrm>
          <a:prstGeom prst="rect">
            <a:avLst/>
          </a:prstGeom>
          <a:noFill/>
          <a:ln w="9525">
            <a:noFill/>
          </a:ln>
        </p:spPr>
        <p:txBody>
          <a:bodyPr vert="horz" wrap="square" lIns="91440" tIns="45720" rIns="91440" bIns="45720" anchor="t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9pPr>
          </a:lstStyle>
          <a:p>
            <a:pPr marL="0" indent="0" eaLnBrk="1" latinLnBrk="0" hangingPunct="1">
              <a:lnSpc>
                <a:spcPct val="120000"/>
              </a:lnSpc>
              <a:spcBef>
                <a:spcPts val="0"/>
              </a:spcBef>
              <a:buNone/>
            </a:pPr>
            <a:r>
              <a:rPr lang="en-US" altLang="zh-CN" sz="2400" b="1" kern="1200" dirty="0">
                <a:solidFill>
                  <a:srgbClr val="070707"/>
                </a:solidFill>
                <a:latin typeface="Times New Roman" panose="02020603050405020304" charset="0"/>
                <a:ea typeface="楷体_GB2312" pitchFamily="49" charset="-122"/>
                <a:cs typeface="Times New Roman" panose="02020603050405020304" charset="0"/>
              </a:rPr>
              <a:t>(</a:t>
            </a:r>
            <a:r>
              <a:rPr lang="en-US" sz="2400" b="1" kern="1200" dirty="0">
                <a:solidFill>
                  <a:srgbClr val="070707"/>
                </a:solidFill>
                <a:latin typeface="Times New Roman" panose="02020603050405020304" charset="0"/>
                <a:ea typeface="楷体_GB2312" pitchFamily="49" charset="-122"/>
                <a:cs typeface="Times New Roman" panose="02020603050405020304" charset="0"/>
              </a:rPr>
              <a:t>2</a:t>
            </a:r>
            <a:r>
              <a:rPr lang="en-US" altLang="zh-CN" sz="2400" b="1" kern="1200" dirty="0">
                <a:solidFill>
                  <a:srgbClr val="070707"/>
                </a:solidFill>
                <a:latin typeface="Times New Roman" panose="02020603050405020304" charset="0"/>
                <a:ea typeface="楷体_GB2312" pitchFamily="49" charset="-122"/>
                <a:cs typeface="Times New Roman" panose="02020603050405020304" charset="0"/>
              </a:rPr>
              <a:t>) </a:t>
            </a:r>
            <a:r>
              <a:rPr lang="en-US" sz="2400" b="1" kern="1200" dirty="0">
                <a:solidFill>
                  <a:srgbClr val="070707"/>
                </a:solidFill>
                <a:latin typeface="Times New Roman" panose="02020603050405020304" charset="0"/>
                <a:ea typeface="楷体_GB2312" pitchFamily="49" charset="-122"/>
                <a:cs typeface="Times New Roman" panose="02020603050405020304" charset="0"/>
              </a:rPr>
              <a:t> 二进制转为八进制</a:t>
            </a:r>
            <a:r>
              <a:rPr lang="zh-CN" altLang="en-US" sz="2400" b="1" kern="1200" dirty="0">
                <a:solidFill>
                  <a:srgbClr val="070707"/>
                </a:solidFill>
                <a:latin typeface="Times New Roman" panose="02020603050405020304" charset="0"/>
                <a:ea typeface="楷体_GB2312" pitchFamily="49" charset="-122"/>
                <a:cs typeface="Times New Roman" panose="02020603050405020304" charset="0"/>
              </a:rPr>
              <a:t>。</a:t>
            </a:r>
            <a:endParaRPr lang="zh-CN" altLang="en-US" sz="2400" b="1" kern="1200" dirty="0">
              <a:solidFill>
                <a:srgbClr val="070707"/>
              </a:solidFill>
              <a:latin typeface="Times New Roman" panose="02020603050405020304" charset="0"/>
              <a:ea typeface="楷体_GB2312" pitchFamily="49" charset="-122"/>
              <a:cs typeface="Times New Roman" panose="02020603050405020304" charset="0"/>
            </a:endParaRPr>
          </a:p>
        </p:txBody>
      </p:sp>
      <p:sp>
        <p:nvSpPr>
          <p:cNvPr id="16" name="Rectangle 3"/>
          <p:cNvSpPr>
            <a:spLocks noGrp="1"/>
          </p:cNvSpPr>
          <p:nvPr/>
        </p:nvSpPr>
        <p:spPr>
          <a:xfrm>
            <a:off x="4335780" y="5721350"/>
            <a:ext cx="3615690" cy="565150"/>
          </a:xfrm>
          <a:prstGeom prst="rect">
            <a:avLst/>
          </a:prstGeom>
          <a:noFill/>
          <a:ln w="9525">
            <a:noFill/>
          </a:ln>
        </p:spPr>
        <p:txBody>
          <a:bodyPr vert="horz" wrap="square" lIns="91440" tIns="45720" rIns="91440" bIns="45720" anchor="t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9pPr>
          </a:lstStyle>
          <a:p>
            <a:pPr marL="0" indent="0" eaLnBrk="1" latinLnBrk="0" hangingPunct="1">
              <a:lnSpc>
                <a:spcPct val="120000"/>
              </a:lnSpc>
              <a:spcBef>
                <a:spcPts val="0"/>
              </a:spcBef>
              <a:buNone/>
            </a:pPr>
            <a:r>
              <a:rPr lang="zh-CN" altLang="en-US" sz="2400" b="1" kern="1200" dirty="0">
                <a:solidFill>
                  <a:srgbClr val="000066"/>
                </a:solidFill>
                <a:latin typeface="Arial" panose="020B0604020202020204" pitchFamily="34" charset="0"/>
                <a:ea typeface="楷体_GB2312" pitchFamily="49" charset="-122"/>
              </a:rPr>
              <a:t> (010111110.101100)</a:t>
            </a:r>
            <a:r>
              <a:rPr lang="zh-CN" altLang="en-US" sz="2400" b="1" kern="1200" baseline="-25000" dirty="0">
                <a:solidFill>
                  <a:srgbClr val="000066"/>
                </a:solidFill>
                <a:latin typeface="Arial" panose="020B0604020202020204" pitchFamily="34" charset="0"/>
                <a:ea typeface="楷体_GB2312" pitchFamily="49" charset="-122"/>
              </a:rPr>
              <a:t>2</a:t>
            </a:r>
            <a:r>
              <a:rPr lang="zh-CN" altLang="en-US" sz="2400" b="1" kern="1200" dirty="0">
                <a:solidFill>
                  <a:srgbClr val="000066"/>
                </a:solidFill>
                <a:latin typeface="Arial" panose="020B0604020202020204" pitchFamily="34" charset="0"/>
                <a:ea typeface="楷体_GB2312" pitchFamily="49" charset="-122"/>
              </a:rPr>
              <a:t> </a:t>
            </a:r>
            <a:endParaRPr lang="zh-CN" altLang="en-US" sz="2400" b="1" kern="1200" baseline="-25000" dirty="0">
              <a:solidFill>
                <a:srgbClr val="000066"/>
              </a:solidFill>
              <a:latin typeface="Arial" panose="020B0604020202020204" pitchFamily="34" charset="0"/>
              <a:ea typeface="楷体_GB2312" pitchFamily="49" charset="-122"/>
            </a:endParaRPr>
          </a:p>
        </p:txBody>
      </p:sp>
      <p:sp>
        <p:nvSpPr>
          <p:cNvPr id="17" name="Rectangle 3"/>
          <p:cNvSpPr>
            <a:spLocks noGrp="1"/>
          </p:cNvSpPr>
          <p:nvPr/>
        </p:nvSpPr>
        <p:spPr>
          <a:xfrm>
            <a:off x="7358380" y="5716270"/>
            <a:ext cx="1957070" cy="565150"/>
          </a:xfrm>
          <a:prstGeom prst="rect">
            <a:avLst/>
          </a:prstGeom>
          <a:noFill/>
          <a:ln w="9525">
            <a:noFill/>
          </a:ln>
        </p:spPr>
        <p:txBody>
          <a:bodyPr vert="horz" wrap="square" lIns="91440" tIns="45720" rIns="91440" bIns="45720" anchor="t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9pPr>
          </a:lstStyle>
          <a:p>
            <a:pPr marL="0" indent="0" eaLnBrk="1" latinLnBrk="0" hangingPunct="1">
              <a:lnSpc>
                <a:spcPct val="120000"/>
              </a:lnSpc>
              <a:spcBef>
                <a:spcPts val="0"/>
              </a:spcBef>
              <a:buNone/>
            </a:pPr>
            <a:r>
              <a:rPr lang="zh-CN" altLang="en-US" sz="2400" b="1" kern="1200" dirty="0">
                <a:solidFill>
                  <a:srgbClr val="000066"/>
                </a:solidFill>
                <a:latin typeface="Arial" panose="020B0604020202020204" pitchFamily="34" charset="0"/>
                <a:ea typeface="楷体_GB2312" pitchFamily="49" charset="-122"/>
              </a:rPr>
              <a:t>= (276.54)</a:t>
            </a:r>
            <a:r>
              <a:rPr lang="zh-CN" altLang="en-US" sz="2400" b="1" kern="1200" baseline="-25000" dirty="0">
                <a:solidFill>
                  <a:srgbClr val="000066"/>
                </a:solidFill>
                <a:latin typeface="Arial" panose="020B0604020202020204" pitchFamily="34" charset="0"/>
                <a:ea typeface="楷体_GB2312" pitchFamily="49" charset="-122"/>
              </a:rPr>
              <a:t>8</a:t>
            </a:r>
            <a:endParaRPr lang="zh-CN" altLang="en-US" sz="2400" b="1" kern="1200" baseline="-25000" dirty="0">
              <a:solidFill>
                <a:srgbClr val="000066"/>
              </a:solidFill>
              <a:latin typeface="Arial" panose="020B0604020202020204" pitchFamily="34" charset="0"/>
              <a:ea typeface="楷体_GB2312" pitchFamily="49" charset="-122"/>
            </a:endParaRPr>
          </a:p>
        </p:txBody>
      </p:sp>
      <p:grpSp>
        <p:nvGrpSpPr>
          <p:cNvPr id="22" name="组合 21"/>
          <p:cNvGrpSpPr/>
          <p:nvPr/>
        </p:nvGrpSpPr>
        <p:grpSpPr>
          <a:xfrm>
            <a:off x="2344420" y="5735320"/>
            <a:ext cx="1541780" cy="577215"/>
            <a:chOff x="3692" y="9032"/>
            <a:chExt cx="2428" cy="909"/>
          </a:xfrm>
        </p:grpSpPr>
        <p:cxnSp>
          <p:nvCxnSpPr>
            <p:cNvPr id="18" name="直接连接符 17"/>
            <p:cNvCxnSpPr/>
            <p:nvPr/>
          </p:nvCxnSpPr>
          <p:spPr>
            <a:xfrm>
              <a:off x="4421" y="9067"/>
              <a:ext cx="0" cy="874"/>
            </a:xfrm>
            <a:prstGeom prst="line">
              <a:avLst/>
            </a:prstGeom>
            <a:ln w="22225">
              <a:solidFill>
                <a:srgbClr val="FF0000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直接连接符 18"/>
            <p:cNvCxnSpPr/>
            <p:nvPr/>
          </p:nvCxnSpPr>
          <p:spPr>
            <a:xfrm>
              <a:off x="3692" y="9032"/>
              <a:ext cx="0" cy="874"/>
            </a:xfrm>
            <a:prstGeom prst="line">
              <a:avLst/>
            </a:prstGeom>
            <a:ln w="22225">
              <a:solidFill>
                <a:srgbClr val="FF0000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直接连接符 19"/>
            <p:cNvCxnSpPr/>
            <p:nvPr/>
          </p:nvCxnSpPr>
          <p:spPr>
            <a:xfrm>
              <a:off x="6120" y="9032"/>
              <a:ext cx="0" cy="874"/>
            </a:xfrm>
            <a:prstGeom prst="line">
              <a:avLst/>
            </a:prstGeom>
            <a:ln w="22225">
              <a:solidFill>
                <a:srgbClr val="FF0000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3" name="组合 22"/>
          <p:cNvGrpSpPr/>
          <p:nvPr/>
        </p:nvGrpSpPr>
        <p:grpSpPr>
          <a:xfrm>
            <a:off x="5138420" y="5730240"/>
            <a:ext cx="1541780" cy="577215"/>
            <a:chOff x="3692" y="9032"/>
            <a:chExt cx="2428" cy="909"/>
          </a:xfrm>
        </p:grpSpPr>
        <p:cxnSp>
          <p:nvCxnSpPr>
            <p:cNvPr id="24" name="直接连接符 23"/>
            <p:cNvCxnSpPr/>
            <p:nvPr/>
          </p:nvCxnSpPr>
          <p:spPr>
            <a:xfrm>
              <a:off x="4421" y="9067"/>
              <a:ext cx="0" cy="874"/>
            </a:xfrm>
            <a:prstGeom prst="line">
              <a:avLst/>
            </a:prstGeom>
            <a:ln w="22225">
              <a:solidFill>
                <a:srgbClr val="FF0000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直接连接符 24"/>
            <p:cNvCxnSpPr/>
            <p:nvPr/>
          </p:nvCxnSpPr>
          <p:spPr>
            <a:xfrm>
              <a:off x="3692" y="9032"/>
              <a:ext cx="0" cy="874"/>
            </a:xfrm>
            <a:prstGeom prst="line">
              <a:avLst/>
            </a:prstGeom>
            <a:ln w="22225">
              <a:solidFill>
                <a:srgbClr val="FF0000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直接连接符 25"/>
            <p:cNvCxnSpPr/>
            <p:nvPr/>
          </p:nvCxnSpPr>
          <p:spPr>
            <a:xfrm>
              <a:off x="6120" y="9032"/>
              <a:ext cx="0" cy="874"/>
            </a:xfrm>
            <a:prstGeom prst="line">
              <a:avLst/>
            </a:prstGeom>
            <a:ln w="22225">
              <a:solidFill>
                <a:srgbClr val="FF0000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5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14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614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72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614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500" fill="hold"/>
                                        <p:tgtEl>
                                          <p:spTgt spid="614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1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15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0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56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24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by="(-#ppt_w*2)" calcmode="lin" valueType="num">
                                      <p:cBhvr rctx="PPT">
                                        <p:cTn id="25" dur="500" autoRev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</p:anim>
                                    <p:anim by="(#ppt_w*0.50)" calcmode="lin" valueType="num">
                                      <p:cBhvr>
                                        <p:cTn id="26" dur="500" decel="50000" autoRev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</p:anim>
                                    <p:anim from="(-#ppt_h/2)" to="(#ppt_y)" calcmode="lin" valueType="num">
                                      <p:cBhvr>
                                        <p:cTn id="27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</p:anim>
                                    <p:animRot by="21600000">
                                      <p:cBhvr>
                                        <p:cTn id="28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3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800" decel="100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4" dur="800" decel="100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-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800" decel="100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0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x-0.05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800" decel="100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0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+0.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200" accel="1000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200" accel="1000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1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43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8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8" fill="hold">
                            <p:stCondLst>
                              <p:cond delay="500"/>
                            </p:stCondLst>
                            <p:childTnLst>
                              <p:par>
                                <p:cTn id="59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1" fill="hold">
                            <p:stCondLst>
                              <p:cond delay="500"/>
                            </p:stCondLst>
                            <p:childTnLst>
                              <p:par>
                                <p:cTn id="6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>
                      <p:stCondLst>
                        <p:cond delay="indefinite"/>
                      </p:stCondLst>
                      <p:childTnLst>
                        <p:par>
                          <p:cTn id="65" fill="hold">
                            <p:stCondLst>
                              <p:cond delay="0"/>
                            </p:stCondLst>
                            <p:childTnLst>
                              <p:par>
                                <p:cTn id="66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8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5" grpId="0"/>
      <p:bldP spid="13" grpId="0"/>
      <p:bldP spid="14" grpId="0"/>
      <p:bldP spid="16" grpId="0"/>
      <p:bldP spid="17" grpId="0"/>
      <p:bldP spid="6147" grpId="0" build="p"/>
      <p:bldP spid="15" grpId="0"/>
      <p:bldP spid="11" grpId="0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6147" name="Rectangle 3"/>
          <p:cNvSpPr>
            <a:spLocks noGrp="1"/>
          </p:cNvSpPr>
          <p:nvPr>
            <p:ph idx="1"/>
          </p:nvPr>
        </p:nvSpPr>
        <p:spPr>
          <a:xfrm>
            <a:off x="601980" y="1827530"/>
            <a:ext cx="8003540" cy="1036320"/>
          </a:xfrm>
        </p:spPr>
        <p:txBody>
          <a:bodyPr vert="horz" wrap="square" lIns="91440" tIns="45720" rIns="91440" bIns="45720" anchor="t" anchorCtr="0"/>
          <a:p>
            <a:pPr marL="0" indent="0" eaLnBrk="1" latinLnBrk="0" hangingPunct="1">
              <a:lnSpc>
                <a:spcPct val="120000"/>
              </a:lnSpc>
              <a:spcBef>
                <a:spcPts val="0"/>
              </a:spcBef>
              <a:buNone/>
            </a:pPr>
            <a:r>
              <a:rPr lang="en-US" altLang="zh-CN" sz="2400" b="1" kern="1200" dirty="0">
                <a:solidFill>
                  <a:srgbClr val="000066"/>
                </a:solidFill>
                <a:latin typeface="Arial" panose="020B0604020202020204" pitchFamily="34" charset="0"/>
                <a:ea typeface="楷体_GB2312" pitchFamily="49" charset="-122"/>
              </a:rPr>
              <a:t>       </a:t>
            </a:r>
            <a:r>
              <a:rPr lang="zh-CN" altLang="en-US" sz="2400" b="1" kern="1200" dirty="0">
                <a:solidFill>
                  <a:srgbClr val="000066"/>
                </a:solidFill>
                <a:latin typeface="Arial" panose="020B0604020202020204" pitchFamily="34" charset="0"/>
                <a:ea typeface="楷体_GB2312" pitchFamily="49" charset="-122"/>
              </a:rPr>
              <a:t>因为1位十六进制数对应4位二进制数，所以只要将十六进制数的每1位转换成4位二进制数即可。</a:t>
            </a:r>
            <a:endParaRPr lang="zh-CN" altLang="en-US" sz="2400" b="1" kern="1200" dirty="0">
              <a:solidFill>
                <a:srgbClr val="000066"/>
              </a:solidFill>
              <a:latin typeface="Arial" panose="020B0604020202020204" pitchFamily="34" charset="0"/>
              <a:ea typeface="楷体_GB2312" pitchFamily="49" charset="-122"/>
            </a:endParaRPr>
          </a:p>
        </p:txBody>
      </p:sp>
      <p:sp>
        <p:nvSpPr>
          <p:cNvPr id="6148" name="TextBox 6"/>
          <p:cNvSpPr txBox="1"/>
          <p:nvPr/>
        </p:nvSpPr>
        <p:spPr>
          <a:xfrm>
            <a:off x="2819400" y="533400"/>
            <a:ext cx="5593080" cy="583565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5pPr>
          </a:lstStyle>
          <a:p>
            <a:pPr marL="0" lvl="0" indent="0" algn="l"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b="1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1.2 </a:t>
            </a:r>
            <a:r>
              <a:rPr lang="zh-CN" altLang="en-US" b="1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数制与码制</a:t>
            </a:r>
            <a:endParaRPr lang="zh-CN" altLang="en-US" b="1" dirty="0">
              <a:solidFill>
                <a:srgbClr val="FF0000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6150" name="灯片编号占位符 5"/>
          <p:cNvSpPr txBox="1">
            <a:spLocks noGrp="1"/>
          </p:cNvSpPr>
          <p:nvPr>
            <p:ph type="sldNum" sz="quarter" idx="12"/>
          </p:nvPr>
        </p:nvSpPr>
        <p:spPr>
          <a:xfrm>
            <a:off x="6553200" y="6537325"/>
            <a:ext cx="2133600" cy="244475"/>
          </a:xfrm>
        </p:spPr>
        <p:txBody>
          <a:bodyPr/>
          <a:p>
            <a:pPr marL="0" indent="0" algn="r" eaLnBrk="1" hangingPunct="1">
              <a:spcBef>
                <a:spcPct val="0"/>
              </a:spcBef>
              <a:buClrTx/>
              <a:buFontTx/>
              <a:buNone/>
            </a:pPr>
            <a:fld id="{9A0DB2DC-4C9A-4742-B13C-FB6460FD3503}" type="slidenum">
              <a:rPr lang="en-US" altLang="zh-CN" sz="1200" dirty="0">
                <a:solidFill>
                  <a:schemeClr val="bg1"/>
                </a:solidFill>
                <a:ea typeface="宋体" panose="02010600030101010101" pitchFamily="2" charset="-122"/>
              </a:rPr>
            </a:fld>
            <a:endParaRPr lang="en-US" altLang="zh-CN" sz="1200" dirty="0">
              <a:solidFill>
                <a:schemeClr val="bg1"/>
              </a:solidFill>
              <a:ea typeface="宋体" panose="02010600030101010101" pitchFamily="2" charset="-122"/>
            </a:endParaRPr>
          </a:p>
        </p:txBody>
      </p:sp>
      <p:sp>
        <p:nvSpPr>
          <p:cNvPr id="2" name="Rectangle 3"/>
          <p:cNvSpPr>
            <a:spLocks noGrp="1"/>
          </p:cNvSpPr>
          <p:nvPr/>
        </p:nvSpPr>
        <p:spPr>
          <a:xfrm>
            <a:off x="1217930" y="1066800"/>
            <a:ext cx="5832475" cy="522605"/>
          </a:xfrm>
          <a:prstGeom prst="rect">
            <a:avLst/>
          </a:prstGeom>
          <a:noFill/>
          <a:ln w="9525">
            <a:noFill/>
          </a:ln>
        </p:spPr>
        <p:txBody>
          <a:bodyPr vert="horz" wrap="square" lIns="91440" tIns="45720" rIns="91440" bIns="45720" anchor="t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9pPr>
          </a:lstStyle>
          <a:p>
            <a:pPr marL="0" indent="0" eaLnBrk="1" latinLnBrk="0" hangingPunct="1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2400" b="1" kern="1200" dirty="0">
                <a:solidFill>
                  <a:srgbClr val="FE09D6"/>
                </a:solidFill>
                <a:latin typeface="Times New Roman" panose="02020603050405020304" charset="0"/>
                <a:ea typeface="楷体_GB2312" pitchFamily="49" charset="-122"/>
                <a:cs typeface="Times New Roman" panose="02020603050405020304" charset="0"/>
              </a:rPr>
              <a:t>4. 二进制与十六进制间的相互转换</a:t>
            </a:r>
            <a:endParaRPr lang="en-US" sz="2400" b="1" kern="1200" dirty="0">
              <a:solidFill>
                <a:srgbClr val="FE09D6"/>
              </a:solidFill>
              <a:latin typeface="Times New Roman" panose="02020603050405020304" charset="0"/>
              <a:ea typeface="楷体_GB2312" pitchFamily="49" charset="-122"/>
              <a:cs typeface="Times New Roman" panose="02020603050405020304" charset="0"/>
            </a:endParaRPr>
          </a:p>
        </p:txBody>
      </p:sp>
      <p:sp>
        <p:nvSpPr>
          <p:cNvPr id="3" name="Rectangle 3"/>
          <p:cNvSpPr>
            <a:spLocks noGrp="1"/>
          </p:cNvSpPr>
          <p:nvPr/>
        </p:nvSpPr>
        <p:spPr>
          <a:xfrm>
            <a:off x="514350" y="2639060"/>
            <a:ext cx="8003540" cy="600075"/>
          </a:xfrm>
          <a:prstGeom prst="rect">
            <a:avLst/>
          </a:prstGeom>
          <a:noFill/>
          <a:ln w="9525">
            <a:noFill/>
          </a:ln>
        </p:spPr>
        <p:txBody>
          <a:bodyPr vert="horz" wrap="square" lIns="91440" tIns="45720" rIns="91440" bIns="45720" anchor="t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9pPr>
          </a:lstStyle>
          <a:p>
            <a:pPr marL="0" indent="0" eaLnBrk="1" latinLnBrk="0" hangingPunct="1">
              <a:lnSpc>
                <a:spcPct val="120000"/>
              </a:lnSpc>
              <a:spcBef>
                <a:spcPts val="0"/>
              </a:spcBef>
              <a:buNone/>
            </a:pPr>
            <a:r>
              <a:rPr lang="en-US" altLang="zh-CN" sz="2400" b="1" kern="1200" dirty="0">
                <a:solidFill>
                  <a:srgbClr val="000066"/>
                </a:solidFill>
                <a:latin typeface="Arial" panose="020B0604020202020204" pitchFamily="34" charset="0"/>
                <a:ea typeface="楷体_GB2312" pitchFamily="49" charset="-122"/>
              </a:rPr>
              <a:t>       </a:t>
            </a:r>
            <a:r>
              <a:rPr lang="zh-CN" altLang="en-US" sz="2400" b="1" kern="1200" dirty="0">
                <a:solidFill>
                  <a:srgbClr val="000066"/>
                </a:solidFill>
                <a:latin typeface="Arial" panose="020B0604020202020204" pitchFamily="34" charset="0"/>
                <a:ea typeface="楷体_GB2312" pitchFamily="49" charset="-122"/>
              </a:rPr>
              <a:t>【例1-7】将十六进制数</a:t>
            </a:r>
            <a:r>
              <a:rPr lang="en-US" altLang="zh-CN" sz="2400" b="1" kern="1200" dirty="0">
                <a:solidFill>
                  <a:srgbClr val="000066"/>
                </a:solidFill>
                <a:latin typeface="Arial" panose="020B0604020202020204" pitchFamily="34" charset="0"/>
                <a:ea typeface="楷体_GB2312" pitchFamily="49" charset="-122"/>
              </a:rPr>
              <a:t>9</a:t>
            </a:r>
            <a:r>
              <a:rPr lang="zh-CN" altLang="en-US" sz="2400" b="1" kern="1200" dirty="0">
                <a:solidFill>
                  <a:srgbClr val="000066"/>
                </a:solidFill>
                <a:latin typeface="Arial" panose="020B0604020202020204" pitchFamily="34" charset="0"/>
                <a:ea typeface="楷体_GB2312" pitchFamily="49" charset="-122"/>
              </a:rPr>
              <a:t>B</a:t>
            </a:r>
            <a:r>
              <a:rPr lang="en-US" altLang="zh-CN" sz="2400" b="1" kern="1200" dirty="0">
                <a:solidFill>
                  <a:srgbClr val="000066"/>
                </a:solidFill>
                <a:latin typeface="Arial" panose="020B0604020202020204" pitchFamily="34" charset="0"/>
                <a:ea typeface="楷体_GB2312" pitchFamily="49" charset="-122"/>
              </a:rPr>
              <a:t>3</a:t>
            </a:r>
            <a:r>
              <a:rPr lang="zh-CN" altLang="en-US" sz="2400" b="1" kern="1200" dirty="0">
                <a:solidFill>
                  <a:srgbClr val="000066"/>
                </a:solidFill>
                <a:latin typeface="Arial" panose="020B0604020202020204" pitchFamily="34" charset="0"/>
                <a:ea typeface="楷体_GB2312" pitchFamily="49" charset="-122"/>
              </a:rPr>
              <a:t>.</a:t>
            </a:r>
            <a:r>
              <a:rPr lang="en-US" altLang="zh-CN" sz="2400" b="1" kern="1200" dirty="0">
                <a:solidFill>
                  <a:srgbClr val="000066"/>
                </a:solidFill>
                <a:latin typeface="Arial" panose="020B0604020202020204" pitchFamily="34" charset="0"/>
                <a:ea typeface="楷体_GB2312" pitchFamily="49" charset="-122"/>
              </a:rPr>
              <a:t>7</a:t>
            </a:r>
            <a:r>
              <a:rPr lang="zh-CN" altLang="en-US" sz="2400" b="1" kern="1200" dirty="0">
                <a:solidFill>
                  <a:srgbClr val="000066"/>
                </a:solidFill>
                <a:latin typeface="Arial" panose="020B0604020202020204" pitchFamily="34" charset="0"/>
                <a:ea typeface="楷体_GB2312" pitchFamily="49" charset="-122"/>
              </a:rPr>
              <a:t>D转换成二进制数。</a:t>
            </a:r>
            <a:endParaRPr lang="zh-CN" altLang="en-US" sz="2400" b="1" kern="1200" dirty="0">
              <a:solidFill>
                <a:srgbClr val="000066"/>
              </a:solidFill>
              <a:latin typeface="Arial" panose="020B0604020202020204" pitchFamily="34" charset="0"/>
              <a:ea typeface="楷体_GB2312" pitchFamily="49" charset="-122"/>
            </a:endParaRPr>
          </a:p>
        </p:txBody>
      </p:sp>
      <p:sp>
        <p:nvSpPr>
          <p:cNvPr id="5" name="Rectangle 3"/>
          <p:cNvSpPr>
            <a:spLocks noGrp="1"/>
          </p:cNvSpPr>
          <p:nvPr/>
        </p:nvSpPr>
        <p:spPr>
          <a:xfrm>
            <a:off x="635000" y="3016250"/>
            <a:ext cx="8003540" cy="565150"/>
          </a:xfrm>
          <a:prstGeom prst="rect">
            <a:avLst/>
          </a:prstGeom>
          <a:noFill/>
          <a:ln w="9525">
            <a:noFill/>
          </a:ln>
        </p:spPr>
        <p:txBody>
          <a:bodyPr vert="horz" wrap="square" lIns="91440" tIns="45720" rIns="91440" bIns="45720" anchor="t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9pPr>
          </a:lstStyle>
          <a:p>
            <a:pPr marL="0" indent="0" eaLnBrk="1" latinLnBrk="0" hangingPunct="1">
              <a:lnSpc>
                <a:spcPct val="120000"/>
              </a:lnSpc>
              <a:spcBef>
                <a:spcPts val="0"/>
              </a:spcBef>
              <a:buNone/>
            </a:pPr>
            <a:r>
              <a:rPr lang="en-US" altLang="zh-CN" sz="2400" b="1" kern="1200" dirty="0">
                <a:solidFill>
                  <a:srgbClr val="000066"/>
                </a:solidFill>
                <a:latin typeface="Arial" panose="020B0604020202020204" pitchFamily="34" charset="0"/>
                <a:ea typeface="楷体_GB2312" pitchFamily="49" charset="-122"/>
              </a:rPr>
              <a:t>       </a:t>
            </a:r>
            <a:r>
              <a:rPr lang="zh-CN" altLang="en-US" sz="2400" b="1" kern="1200" dirty="0">
                <a:solidFill>
                  <a:srgbClr val="000066"/>
                </a:solidFill>
                <a:latin typeface="Arial" panose="020B0604020202020204" pitchFamily="34" charset="0"/>
                <a:ea typeface="楷体_GB2312" pitchFamily="49" charset="-122"/>
              </a:rPr>
              <a:t>解：(9B3.7D)</a:t>
            </a:r>
            <a:r>
              <a:rPr lang="zh-CN" altLang="en-US" sz="2400" b="1" kern="1200" baseline="-25000" dirty="0">
                <a:solidFill>
                  <a:srgbClr val="000066"/>
                </a:solidFill>
                <a:latin typeface="Arial" panose="020B0604020202020204" pitchFamily="34" charset="0"/>
                <a:ea typeface="楷体_GB2312" pitchFamily="49" charset="-122"/>
              </a:rPr>
              <a:t>16</a:t>
            </a:r>
            <a:r>
              <a:rPr lang="zh-CN" altLang="en-US" sz="2400" b="1" kern="1200" dirty="0">
                <a:solidFill>
                  <a:srgbClr val="000066"/>
                </a:solidFill>
                <a:latin typeface="Arial" panose="020B0604020202020204" pitchFamily="34" charset="0"/>
                <a:ea typeface="楷体_GB2312" pitchFamily="49" charset="-122"/>
              </a:rPr>
              <a:t> = (100110110011.01111101)</a:t>
            </a:r>
            <a:r>
              <a:rPr lang="zh-CN" altLang="en-US" sz="2400" b="1" kern="1200" baseline="-25000" dirty="0">
                <a:solidFill>
                  <a:srgbClr val="000066"/>
                </a:solidFill>
                <a:latin typeface="Arial" panose="020B0604020202020204" pitchFamily="34" charset="0"/>
                <a:ea typeface="楷体_GB2312" pitchFamily="49" charset="-122"/>
              </a:rPr>
              <a:t>2</a:t>
            </a:r>
            <a:endParaRPr lang="zh-CN" altLang="en-US" sz="2400" b="1" kern="1200" baseline="-25000" dirty="0">
              <a:solidFill>
                <a:srgbClr val="000066"/>
              </a:solidFill>
              <a:latin typeface="Arial" panose="020B0604020202020204" pitchFamily="34" charset="0"/>
              <a:ea typeface="楷体_GB2312" pitchFamily="49" charset="-122"/>
            </a:endParaRPr>
          </a:p>
        </p:txBody>
      </p:sp>
      <p:sp>
        <p:nvSpPr>
          <p:cNvPr id="6" name="Rectangle 3"/>
          <p:cNvSpPr>
            <a:spLocks noGrp="1"/>
          </p:cNvSpPr>
          <p:nvPr/>
        </p:nvSpPr>
        <p:spPr>
          <a:xfrm>
            <a:off x="1178560" y="1449070"/>
            <a:ext cx="5832475" cy="522605"/>
          </a:xfrm>
          <a:prstGeom prst="rect">
            <a:avLst/>
          </a:prstGeom>
          <a:noFill/>
          <a:ln w="9525">
            <a:noFill/>
          </a:ln>
        </p:spPr>
        <p:txBody>
          <a:bodyPr vert="horz" wrap="square" lIns="91440" tIns="45720" rIns="91440" bIns="45720" anchor="t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9pPr>
          </a:lstStyle>
          <a:p>
            <a:pPr marL="0" indent="0" eaLnBrk="1" latinLnBrk="0" hangingPunct="1">
              <a:lnSpc>
                <a:spcPct val="120000"/>
              </a:lnSpc>
              <a:spcBef>
                <a:spcPts val="0"/>
              </a:spcBef>
              <a:buNone/>
            </a:pPr>
            <a:r>
              <a:rPr lang="en-US" altLang="zh-CN" sz="2400" b="1" kern="1200" dirty="0">
                <a:solidFill>
                  <a:srgbClr val="070707"/>
                </a:solidFill>
                <a:latin typeface="Times New Roman" panose="02020603050405020304" charset="0"/>
                <a:ea typeface="楷体_GB2312" pitchFamily="49" charset="-122"/>
                <a:cs typeface="Times New Roman" panose="02020603050405020304" charset="0"/>
              </a:rPr>
              <a:t>(</a:t>
            </a:r>
            <a:r>
              <a:rPr lang="en-US" sz="2400" b="1" kern="1200" dirty="0">
                <a:solidFill>
                  <a:srgbClr val="070707"/>
                </a:solidFill>
                <a:latin typeface="Times New Roman" panose="02020603050405020304" charset="0"/>
                <a:ea typeface="楷体_GB2312" pitchFamily="49" charset="-122"/>
                <a:cs typeface="Times New Roman" panose="02020603050405020304" charset="0"/>
              </a:rPr>
              <a:t>1</a:t>
            </a:r>
            <a:r>
              <a:rPr lang="en-US" altLang="zh-CN" sz="2400" b="1" kern="1200" dirty="0">
                <a:solidFill>
                  <a:srgbClr val="070707"/>
                </a:solidFill>
                <a:latin typeface="Times New Roman" panose="02020603050405020304" charset="0"/>
                <a:ea typeface="楷体_GB2312" pitchFamily="49" charset="-122"/>
                <a:cs typeface="Times New Roman" panose="02020603050405020304" charset="0"/>
              </a:rPr>
              <a:t>) </a:t>
            </a:r>
            <a:r>
              <a:rPr lang="en-US" sz="2400" b="1" kern="1200" dirty="0">
                <a:solidFill>
                  <a:srgbClr val="070707"/>
                </a:solidFill>
                <a:latin typeface="Times New Roman" panose="02020603050405020304" charset="0"/>
                <a:ea typeface="楷体_GB2312" pitchFamily="49" charset="-122"/>
                <a:cs typeface="Times New Roman" panose="02020603050405020304" charset="0"/>
              </a:rPr>
              <a:t>十六进制转为二进制</a:t>
            </a:r>
            <a:r>
              <a:rPr lang="zh-CN" altLang="en-US" sz="2400" b="1" kern="1200" dirty="0">
                <a:solidFill>
                  <a:srgbClr val="070707"/>
                </a:solidFill>
                <a:latin typeface="Times New Roman" panose="02020603050405020304" charset="0"/>
                <a:ea typeface="楷体_GB2312" pitchFamily="49" charset="-122"/>
                <a:cs typeface="Times New Roman" panose="02020603050405020304" charset="0"/>
              </a:rPr>
              <a:t>。</a:t>
            </a:r>
            <a:endParaRPr lang="zh-CN" altLang="en-US" sz="2400" b="1" kern="1200" dirty="0">
              <a:solidFill>
                <a:srgbClr val="070707"/>
              </a:solidFill>
              <a:latin typeface="Times New Roman" panose="02020603050405020304" charset="0"/>
              <a:ea typeface="楷体_GB2312" pitchFamily="49" charset="-122"/>
              <a:cs typeface="Times New Roman" panose="02020603050405020304" charset="0"/>
            </a:endParaRPr>
          </a:p>
        </p:txBody>
      </p:sp>
      <p:sp>
        <p:nvSpPr>
          <p:cNvPr id="11" name="Rectangle 3"/>
          <p:cNvSpPr>
            <a:spLocks noGrp="1"/>
          </p:cNvSpPr>
          <p:nvPr/>
        </p:nvSpPr>
        <p:spPr>
          <a:xfrm>
            <a:off x="534670" y="3886200"/>
            <a:ext cx="8003540" cy="1036320"/>
          </a:xfrm>
          <a:prstGeom prst="rect">
            <a:avLst/>
          </a:prstGeom>
          <a:noFill/>
          <a:ln w="9525">
            <a:noFill/>
          </a:ln>
        </p:spPr>
        <p:txBody>
          <a:bodyPr vert="horz" wrap="square" lIns="91440" tIns="45720" rIns="91440" bIns="45720" anchor="t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9pPr>
          </a:lstStyle>
          <a:p>
            <a:pPr marL="0" indent="0" eaLnBrk="1" latinLnBrk="0" hangingPunct="1">
              <a:lnSpc>
                <a:spcPct val="120000"/>
              </a:lnSpc>
              <a:spcBef>
                <a:spcPts val="0"/>
              </a:spcBef>
              <a:buNone/>
            </a:pPr>
            <a:r>
              <a:rPr lang="en-US" altLang="zh-CN" sz="2400" b="1" kern="1200" dirty="0">
                <a:solidFill>
                  <a:srgbClr val="000066"/>
                </a:solidFill>
                <a:latin typeface="Arial" panose="020B0604020202020204" pitchFamily="34" charset="0"/>
                <a:ea typeface="楷体_GB2312" pitchFamily="49" charset="-122"/>
              </a:rPr>
              <a:t>       </a:t>
            </a:r>
            <a:r>
              <a:rPr lang="zh-CN" altLang="en-US" sz="2400" b="1" kern="1200" dirty="0">
                <a:solidFill>
                  <a:srgbClr val="000066"/>
                </a:solidFill>
                <a:latin typeface="Arial" panose="020B0604020202020204" pitchFamily="34" charset="0"/>
                <a:ea typeface="楷体_GB2312" pitchFamily="49" charset="-122"/>
              </a:rPr>
              <a:t>从二进制数的小数点开始，分别向左和向右每4位为一组，不足4位者补零，再将每组转换成十六进制数。</a:t>
            </a:r>
            <a:endParaRPr lang="zh-CN" altLang="en-US" sz="2400" b="1" kern="1200" dirty="0">
              <a:solidFill>
                <a:srgbClr val="000066"/>
              </a:solidFill>
              <a:latin typeface="Arial" panose="020B0604020202020204" pitchFamily="34" charset="0"/>
              <a:ea typeface="楷体_GB2312" pitchFamily="49" charset="-122"/>
            </a:endParaRPr>
          </a:p>
        </p:txBody>
      </p:sp>
      <p:sp>
        <p:nvSpPr>
          <p:cNvPr id="13" name="Rectangle 3"/>
          <p:cNvSpPr>
            <a:spLocks noGrp="1"/>
          </p:cNvSpPr>
          <p:nvPr/>
        </p:nvSpPr>
        <p:spPr>
          <a:xfrm>
            <a:off x="523240" y="4738370"/>
            <a:ext cx="8003540" cy="946150"/>
          </a:xfrm>
          <a:prstGeom prst="rect">
            <a:avLst/>
          </a:prstGeom>
          <a:noFill/>
          <a:ln w="9525">
            <a:noFill/>
          </a:ln>
        </p:spPr>
        <p:txBody>
          <a:bodyPr vert="horz" wrap="square" lIns="91440" tIns="45720" rIns="91440" bIns="45720" anchor="t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9pPr>
          </a:lstStyle>
          <a:p>
            <a:pPr marL="0" indent="0" eaLnBrk="1" latinLnBrk="0" hangingPunct="1">
              <a:lnSpc>
                <a:spcPct val="120000"/>
              </a:lnSpc>
              <a:spcBef>
                <a:spcPts val="0"/>
              </a:spcBef>
              <a:buNone/>
            </a:pPr>
            <a:r>
              <a:rPr lang="en-US" altLang="zh-CN" sz="2400" b="1" kern="1200" dirty="0">
                <a:solidFill>
                  <a:srgbClr val="000066"/>
                </a:solidFill>
                <a:latin typeface="Arial" panose="020B0604020202020204" pitchFamily="34" charset="0"/>
                <a:ea typeface="楷体_GB2312" pitchFamily="49" charset="-122"/>
              </a:rPr>
              <a:t>       </a:t>
            </a:r>
            <a:r>
              <a:rPr lang="zh-CN" altLang="en-US" sz="2400" b="1" kern="1200" dirty="0">
                <a:solidFill>
                  <a:srgbClr val="000066"/>
                </a:solidFill>
                <a:latin typeface="Arial" panose="020B0604020202020204" pitchFamily="34" charset="0"/>
                <a:ea typeface="楷体_GB2312" pitchFamily="49" charset="-122"/>
              </a:rPr>
              <a:t>【例1-8】将二进制数101001110.1100011转换成十六进制数。</a:t>
            </a:r>
            <a:endParaRPr lang="zh-CN" altLang="en-US" sz="2400" b="1" kern="1200" dirty="0">
              <a:solidFill>
                <a:srgbClr val="000066"/>
              </a:solidFill>
              <a:latin typeface="Arial" panose="020B0604020202020204" pitchFamily="34" charset="0"/>
              <a:ea typeface="楷体_GB2312" pitchFamily="49" charset="-122"/>
            </a:endParaRPr>
          </a:p>
        </p:txBody>
      </p:sp>
      <p:sp>
        <p:nvSpPr>
          <p:cNvPr id="14" name="Rectangle 3"/>
          <p:cNvSpPr>
            <a:spLocks noGrp="1"/>
          </p:cNvSpPr>
          <p:nvPr/>
        </p:nvSpPr>
        <p:spPr>
          <a:xfrm>
            <a:off x="628650" y="5570220"/>
            <a:ext cx="4761865" cy="565150"/>
          </a:xfrm>
          <a:prstGeom prst="rect">
            <a:avLst/>
          </a:prstGeom>
          <a:noFill/>
          <a:ln w="9525">
            <a:noFill/>
          </a:ln>
        </p:spPr>
        <p:txBody>
          <a:bodyPr vert="horz" wrap="square" lIns="91440" tIns="45720" rIns="91440" bIns="45720" anchor="t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9pPr>
          </a:lstStyle>
          <a:p>
            <a:pPr marL="0" indent="0" eaLnBrk="1" latinLnBrk="0" hangingPunct="1">
              <a:lnSpc>
                <a:spcPct val="120000"/>
              </a:lnSpc>
              <a:spcBef>
                <a:spcPts val="0"/>
              </a:spcBef>
              <a:buNone/>
            </a:pPr>
            <a:r>
              <a:rPr lang="en-US" altLang="zh-CN" sz="2400" b="1" kern="1200" dirty="0">
                <a:solidFill>
                  <a:srgbClr val="000066"/>
                </a:solidFill>
                <a:latin typeface="Arial" panose="020B0604020202020204" pitchFamily="34" charset="0"/>
                <a:ea typeface="楷体_GB2312" pitchFamily="49" charset="-122"/>
              </a:rPr>
              <a:t>       </a:t>
            </a:r>
            <a:r>
              <a:rPr lang="zh-CN" altLang="en-US" sz="2400" b="1" kern="1200" dirty="0">
                <a:solidFill>
                  <a:srgbClr val="000066"/>
                </a:solidFill>
                <a:latin typeface="Arial" panose="020B0604020202020204" pitchFamily="34" charset="0"/>
                <a:ea typeface="楷体_GB2312" pitchFamily="49" charset="-122"/>
              </a:rPr>
              <a:t>解：(</a:t>
            </a:r>
            <a:r>
              <a:rPr lang="zh-CN" altLang="en-US" sz="2400" b="1" dirty="0">
                <a:solidFill>
                  <a:srgbClr val="000066"/>
                </a:solidFill>
                <a:latin typeface="Arial" panose="020B0604020202020204" pitchFamily="34" charset="0"/>
                <a:ea typeface="楷体_GB2312" pitchFamily="49" charset="-122"/>
                <a:sym typeface="+mn-ea"/>
              </a:rPr>
              <a:t>101001110.1100011</a:t>
            </a:r>
            <a:r>
              <a:rPr lang="zh-CN" altLang="en-US" sz="2400" b="1" kern="1200" dirty="0">
                <a:solidFill>
                  <a:srgbClr val="000066"/>
                </a:solidFill>
                <a:latin typeface="Arial" panose="020B0604020202020204" pitchFamily="34" charset="0"/>
                <a:ea typeface="楷体_GB2312" pitchFamily="49" charset="-122"/>
              </a:rPr>
              <a:t>)</a:t>
            </a:r>
            <a:r>
              <a:rPr lang="zh-CN" altLang="en-US" sz="2400" b="1" kern="1200" baseline="-25000" dirty="0">
                <a:solidFill>
                  <a:srgbClr val="000066"/>
                </a:solidFill>
                <a:latin typeface="Arial" panose="020B0604020202020204" pitchFamily="34" charset="0"/>
                <a:ea typeface="楷体_GB2312" pitchFamily="49" charset="-122"/>
              </a:rPr>
              <a:t>2</a:t>
            </a:r>
            <a:r>
              <a:rPr lang="zh-CN" altLang="en-US" sz="2400" b="1" kern="1200" dirty="0">
                <a:solidFill>
                  <a:srgbClr val="000066"/>
                </a:solidFill>
                <a:latin typeface="Arial" panose="020B0604020202020204" pitchFamily="34" charset="0"/>
                <a:ea typeface="楷体_GB2312" pitchFamily="49" charset="-122"/>
              </a:rPr>
              <a:t> =</a:t>
            </a:r>
            <a:endParaRPr lang="zh-CN" altLang="en-US" sz="2400" b="1" kern="1200" baseline="-25000" dirty="0">
              <a:solidFill>
                <a:srgbClr val="000066"/>
              </a:solidFill>
              <a:latin typeface="Arial" panose="020B0604020202020204" pitchFamily="34" charset="0"/>
              <a:ea typeface="楷体_GB2312" pitchFamily="49" charset="-122"/>
            </a:endParaRPr>
          </a:p>
        </p:txBody>
      </p:sp>
      <p:sp>
        <p:nvSpPr>
          <p:cNvPr id="15" name="Rectangle 3"/>
          <p:cNvSpPr>
            <a:spLocks noGrp="1"/>
          </p:cNvSpPr>
          <p:nvPr/>
        </p:nvSpPr>
        <p:spPr>
          <a:xfrm>
            <a:off x="1187450" y="3445510"/>
            <a:ext cx="5832475" cy="522605"/>
          </a:xfrm>
          <a:prstGeom prst="rect">
            <a:avLst/>
          </a:prstGeom>
          <a:noFill/>
          <a:ln w="9525">
            <a:noFill/>
          </a:ln>
        </p:spPr>
        <p:txBody>
          <a:bodyPr vert="horz" wrap="square" lIns="91440" tIns="45720" rIns="91440" bIns="45720" anchor="t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9pPr>
          </a:lstStyle>
          <a:p>
            <a:pPr marL="0" indent="0" eaLnBrk="1" latinLnBrk="0" hangingPunct="1">
              <a:lnSpc>
                <a:spcPct val="120000"/>
              </a:lnSpc>
              <a:spcBef>
                <a:spcPts val="0"/>
              </a:spcBef>
              <a:buNone/>
            </a:pPr>
            <a:r>
              <a:rPr lang="en-US" altLang="zh-CN" sz="2400" b="1" kern="1200" dirty="0">
                <a:solidFill>
                  <a:srgbClr val="070707"/>
                </a:solidFill>
                <a:latin typeface="Times New Roman" panose="02020603050405020304" charset="0"/>
                <a:ea typeface="楷体_GB2312" pitchFamily="49" charset="-122"/>
                <a:cs typeface="Times New Roman" panose="02020603050405020304" charset="0"/>
              </a:rPr>
              <a:t>(</a:t>
            </a:r>
            <a:r>
              <a:rPr lang="en-US" sz="2400" b="1" kern="1200" dirty="0">
                <a:solidFill>
                  <a:srgbClr val="070707"/>
                </a:solidFill>
                <a:latin typeface="Times New Roman" panose="02020603050405020304" charset="0"/>
                <a:ea typeface="楷体_GB2312" pitchFamily="49" charset="-122"/>
                <a:cs typeface="Times New Roman" panose="02020603050405020304" charset="0"/>
              </a:rPr>
              <a:t>2</a:t>
            </a:r>
            <a:r>
              <a:rPr lang="en-US" altLang="zh-CN" sz="2400" b="1" kern="1200" dirty="0">
                <a:solidFill>
                  <a:srgbClr val="070707"/>
                </a:solidFill>
                <a:latin typeface="Times New Roman" panose="02020603050405020304" charset="0"/>
                <a:ea typeface="楷体_GB2312" pitchFamily="49" charset="-122"/>
                <a:cs typeface="Times New Roman" panose="02020603050405020304" charset="0"/>
              </a:rPr>
              <a:t>) </a:t>
            </a:r>
            <a:r>
              <a:rPr lang="en-US" sz="2400" b="1" kern="1200" dirty="0">
                <a:solidFill>
                  <a:srgbClr val="070707"/>
                </a:solidFill>
                <a:latin typeface="Times New Roman" panose="02020603050405020304" charset="0"/>
                <a:ea typeface="楷体_GB2312" pitchFamily="49" charset="-122"/>
                <a:cs typeface="Times New Roman" panose="02020603050405020304" charset="0"/>
              </a:rPr>
              <a:t> 二进制转为十六进制</a:t>
            </a:r>
            <a:r>
              <a:rPr lang="zh-CN" altLang="en-US" sz="2400" b="1" kern="1200" dirty="0">
                <a:solidFill>
                  <a:srgbClr val="070707"/>
                </a:solidFill>
                <a:latin typeface="Times New Roman" panose="02020603050405020304" charset="0"/>
                <a:ea typeface="楷体_GB2312" pitchFamily="49" charset="-122"/>
                <a:cs typeface="Times New Roman" panose="02020603050405020304" charset="0"/>
              </a:rPr>
              <a:t>。</a:t>
            </a:r>
            <a:endParaRPr lang="zh-CN" altLang="en-US" sz="2400" b="1" kern="1200" dirty="0">
              <a:solidFill>
                <a:srgbClr val="070707"/>
              </a:solidFill>
              <a:latin typeface="Times New Roman" panose="02020603050405020304" charset="0"/>
              <a:ea typeface="楷体_GB2312" pitchFamily="49" charset="-122"/>
              <a:cs typeface="Times New Roman" panose="02020603050405020304" charset="0"/>
            </a:endParaRPr>
          </a:p>
        </p:txBody>
      </p:sp>
      <p:sp>
        <p:nvSpPr>
          <p:cNvPr id="16" name="Rectangle 3"/>
          <p:cNvSpPr>
            <a:spLocks noGrp="1"/>
          </p:cNvSpPr>
          <p:nvPr/>
        </p:nvSpPr>
        <p:spPr>
          <a:xfrm>
            <a:off x="5062220" y="5548630"/>
            <a:ext cx="4817745" cy="565150"/>
          </a:xfrm>
          <a:prstGeom prst="rect">
            <a:avLst/>
          </a:prstGeom>
          <a:noFill/>
          <a:ln w="9525">
            <a:noFill/>
          </a:ln>
        </p:spPr>
        <p:txBody>
          <a:bodyPr vert="horz" wrap="square" lIns="91440" tIns="45720" rIns="91440" bIns="45720" anchor="t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9pPr>
          </a:lstStyle>
          <a:p>
            <a:pPr marL="0" indent="0" eaLnBrk="1" latinLnBrk="0" hangingPunct="1">
              <a:lnSpc>
                <a:spcPct val="120000"/>
              </a:lnSpc>
              <a:spcBef>
                <a:spcPts val="0"/>
              </a:spcBef>
              <a:buNone/>
            </a:pPr>
            <a:r>
              <a:rPr lang="zh-CN" altLang="en-US" sz="2400" b="1" kern="1200" dirty="0">
                <a:solidFill>
                  <a:srgbClr val="000066"/>
                </a:solidFill>
                <a:latin typeface="Arial" panose="020B0604020202020204" pitchFamily="34" charset="0"/>
                <a:ea typeface="楷体_GB2312" pitchFamily="49" charset="-122"/>
              </a:rPr>
              <a:t> (000101001110.11000110)</a:t>
            </a:r>
            <a:r>
              <a:rPr lang="zh-CN" altLang="en-US" sz="2400" b="1" kern="1200" baseline="-25000" dirty="0">
                <a:solidFill>
                  <a:srgbClr val="000066"/>
                </a:solidFill>
                <a:latin typeface="Arial" panose="020B0604020202020204" pitchFamily="34" charset="0"/>
                <a:ea typeface="楷体_GB2312" pitchFamily="49" charset="-122"/>
              </a:rPr>
              <a:t>2</a:t>
            </a:r>
            <a:r>
              <a:rPr lang="zh-CN" altLang="en-US" sz="2400" b="1" kern="1200" dirty="0">
                <a:solidFill>
                  <a:srgbClr val="000066"/>
                </a:solidFill>
                <a:latin typeface="Arial" panose="020B0604020202020204" pitchFamily="34" charset="0"/>
                <a:ea typeface="楷体_GB2312" pitchFamily="49" charset="-122"/>
              </a:rPr>
              <a:t> </a:t>
            </a:r>
            <a:endParaRPr lang="zh-CN" altLang="en-US" sz="2400" b="1" kern="1200" baseline="-25000" dirty="0">
              <a:solidFill>
                <a:srgbClr val="000066"/>
              </a:solidFill>
              <a:latin typeface="Arial" panose="020B0604020202020204" pitchFamily="34" charset="0"/>
              <a:ea typeface="楷体_GB2312" pitchFamily="49" charset="-122"/>
            </a:endParaRPr>
          </a:p>
        </p:txBody>
      </p:sp>
      <p:sp>
        <p:nvSpPr>
          <p:cNvPr id="17" name="Rectangle 3"/>
          <p:cNvSpPr>
            <a:spLocks noGrp="1"/>
          </p:cNvSpPr>
          <p:nvPr/>
        </p:nvSpPr>
        <p:spPr>
          <a:xfrm>
            <a:off x="4953000" y="5943600"/>
            <a:ext cx="1957070" cy="565150"/>
          </a:xfrm>
          <a:prstGeom prst="rect">
            <a:avLst/>
          </a:prstGeom>
          <a:noFill/>
          <a:ln w="9525">
            <a:noFill/>
          </a:ln>
        </p:spPr>
        <p:txBody>
          <a:bodyPr vert="horz" wrap="square" lIns="91440" tIns="45720" rIns="91440" bIns="45720" anchor="t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9pPr>
          </a:lstStyle>
          <a:p>
            <a:pPr marL="0" indent="0" eaLnBrk="1" latinLnBrk="0" hangingPunct="1">
              <a:lnSpc>
                <a:spcPct val="120000"/>
              </a:lnSpc>
              <a:spcBef>
                <a:spcPts val="0"/>
              </a:spcBef>
              <a:buNone/>
            </a:pPr>
            <a:r>
              <a:rPr lang="zh-CN" altLang="en-US" sz="2400" b="1" kern="1200" dirty="0">
                <a:solidFill>
                  <a:srgbClr val="000066"/>
                </a:solidFill>
                <a:latin typeface="Arial" panose="020B0604020202020204" pitchFamily="34" charset="0"/>
                <a:ea typeface="楷体_GB2312" pitchFamily="49" charset="-122"/>
              </a:rPr>
              <a:t>= (14E.C6)</a:t>
            </a:r>
            <a:r>
              <a:rPr lang="en-US" altLang="zh-CN" sz="2400" b="1" kern="1200" baseline="-25000" dirty="0">
                <a:solidFill>
                  <a:srgbClr val="000066"/>
                </a:solidFill>
                <a:latin typeface="Arial" panose="020B0604020202020204" pitchFamily="34" charset="0"/>
                <a:ea typeface="楷体_GB2312" pitchFamily="49" charset="-122"/>
              </a:rPr>
              <a:t>16</a:t>
            </a:r>
            <a:endParaRPr lang="en-US" altLang="zh-CN" sz="2400" b="1" kern="1200" baseline="-25000" dirty="0">
              <a:solidFill>
                <a:srgbClr val="000066"/>
              </a:solidFill>
              <a:latin typeface="Arial" panose="020B0604020202020204" pitchFamily="34" charset="0"/>
              <a:ea typeface="楷体_GB2312" pitchFamily="49" charset="-122"/>
            </a:endParaRPr>
          </a:p>
        </p:txBody>
      </p:sp>
      <p:grpSp>
        <p:nvGrpSpPr>
          <p:cNvPr id="20" name="组合 19"/>
          <p:cNvGrpSpPr/>
          <p:nvPr/>
        </p:nvGrpSpPr>
        <p:grpSpPr>
          <a:xfrm>
            <a:off x="2178685" y="5565775"/>
            <a:ext cx="2071370" cy="574040"/>
            <a:chOff x="3431" y="8765"/>
            <a:chExt cx="3262" cy="904"/>
          </a:xfrm>
        </p:grpSpPr>
        <p:cxnSp>
          <p:nvCxnSpPr>
            <p:cNvPr id="4" name="直接连接符 3"/>
            <p:cNvCxnSpPr/>
            <p:nvPr/>
          </p:nvCxnSpPr>
          <p:spPr>
            <a:xfrm>
              <a:off x="4551" y="8795"/>
              <a:ext cx="0" cy="874"/>
            </a:xfrm>
            <a:prstGeom prst="line">
              <a:avLst/>
            </a:prstGeom>
            <a:ln w="22225">
              <a:solidFill>
                <a:srgbClr val="FF0000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" name="直接连接符 6"/>
            <p:cNvCxnSpPr/>
            <p:nvPr/>
          </p:nvCxnSpPr>
          <p:spPr>
            <a:xfrm>
              <a:off x="3431" y="8765"/>
              <a:ext cx="0" cy="874"/>
            </a:xfrm>
            <a:prstGeom prst="line">
              <a:avLst/>
            </a:prstGeom>
            <a:ln w="22225">
              <a:solidFill>
                <a:srgbClr val="FF0000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" name="直接连接符 7"/>
            <p:cNvCxnSpPr/>
            <p:nvPr/>
          </p:nvCxnSpPr>
          <p:spPr>
            <a:xfrm>
              <a:off x="6693" y="8787"/>
              <a:ext cx="0" cy="874"/>
            </a:xfrm>
            <a:prstGeom prst="line">
              <a:avLst/>
            </a:prstGeom>
            <a:ln w="22225">
              <a:solidFill>
                <a:srgbClr val="FF0000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1" name="组合 20"/>
          <p:cNvGrpSpPr/>
          <p:nvPr/>
        </p:nvGrpSpPr>
        <p:grpSpPr>
          <a:xfrm>
            <a:off x="6005195" y="5554345"/>
            <a:ext cx="2071370" cy="577215"/>
            <a:chOff x="9457" y="8747"/>
            <a:chExt cx="3262" cy="909"/>
          </a:xfrm>
        </p:grpSpPr>
        <p:cxnSp>
          <p:nvCxnSpPr>
            <p:cNvPr id="10" name="直接连接符 9"/>
            <p:cNvCxnSpPr/>
            <p:nvPr/>
          </p:nvCxnSpPr>
          <p:spPr>
            <a:xfrm>
              <a:off x="10582" y="8782"/>
              <a:ext cx="0" cy="874"/>
            </a:xfrm>
            <a:prstGeom prst="line">
              <a:avLst/>
            </a:prstGeom>
            <a:ln w="22225">
              <a:solidFill>
                <a:srgbClr val="FF0000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直接连接符 11"/>
            <p:cNvCxnSpPr/>
            <p:nvPr/>
          </p:nvCxnSpPr>
          <p:spPr>
            <a:xfrm>
              <a:off x="9457" y="8747"/>
              <a:ext cx="0" cy="874"/>
            </a:xfrm>
            <a:prstGeom prst="line">
              <a:avLst/>
            </a:prstGeom>
            <a:ln w="22225">
              <a:solidFill>
                <a:srgbClr val="FF0000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直接连接符 17"/>
            <p:cNvCxnSpPr/>
            <p:nvPr/>
          </p:nvCxnSpPr>
          <p:spPr>
            <a:xfrm>
              <a:off x="12719" y="8747"/>
              <a:ext cx="0" cy="874"/>
            </a:xfrm>
            <a:prstGeom prst="line">
              <a:avLst/>
            </a:prstGeom>
            <a:ln w="22225">
              <a:solidFill>
                <a:srgbClr val="FF0000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5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614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614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614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 fmla="#ppt_x+(cos(-2*pi*(1-$))*-#ppt_x-sin(-2*pi*(1-$))*(1-#ppt_y))*(1-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1000" fill="hold"/>
                                        <p:tgtEl>
                                          <p:spTgt spid="614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+(sin(-2*pi*(1-$))*-#ppt_x+cos(-2*pi*(1-$))*(1-#ppt_y))*(1-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1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15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0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35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72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3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21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40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5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4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5" fill="hold">
                            <p:stCondLst>
                              <p:cond delay="500"/>
                            </p:stCondLst>
                            <p:childTnLst>
                              <p:par>
                                <p:cTn id="56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2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5" grpId="0"/>
      <p:bldP spid="13" grpId="0"/>
      <p:bldP spid="14" grpId="0"/>
      <p:bldP spid="16" grpId="0"/>
      <p:bldP spid="17" grpId="0"/>
      <p:bldP spid="6147" grpId="0" build="p"/>
      <p:bldP spid="15" grpId="0"/>
      <p:bldP spid="11" grpId="0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6146" name="Rectangle 2"/>
          <p:cNvSpPr>
            <a:spLocks noGrp="1"/>
          </p:cNvSpPr>
          <p:nvPr>
            <p:ph type="title"/>
          </p:nvPr>
        </p:nvSpPr>
        <p:spPr>
          <a:xfrm>
            <a:off x="762000" y="1142683"/>
            <a:ext cx="5257800" cy="868362"/>
          </a:xfrm>
        </p:spPr>
        <p:txBody>
          <a:bodyPr vert="horz" wrap="square" lIns="91440" tIns="45720" rIns="91440" bIns="45720" anchor="ctr" anchorCtr="0"/>
          <a:p>
            <a:pPr algn="l" eaLnBrk="1" hangingPunct="1"/>
            <a:r>
              <a:rPr lang="en-US" altLang="zh-CN" sz="2800" i="0" dirty="0">
                <a:solidFill>
                  <a:srgbClr val="0070C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1.2.3 </a:t>
            </a:r>
            <a:r>
              <a:rPr lang="zh-CN" altLang="en-US" sz="2800" i="0" dirty="0">
                <a:solidFill>
                  <a:srgbClr val="0070C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码制</a:t>
            </a:r>
            <a:endParaRPr lang="zh-CN" altLang="en-US" sz="2800" i="0" dirty="0">
              <a:solidFill>
                <a:srgbClr val="0070C0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6147" name="Rectangle 3"/>
          <p:cNvSpPr>
            <a:spLocks noGrp="1"/>
          </p:cNvSpPr>
          <p:nvPr>
            <p:ph idx="1"/>
          </p:nvPr>
        </p:nvSpPr>
        <p:spPr>
          <a:xfrm>
            <a:off x="685800" y="1828800"/>
            <a:ext cx="8003540" cy="1884045"/>
          </a:xfrm>
        </p:spPr>
        <p:txBody>
          <a:bodyPr vert="horz" wrap="square" lIns="91440" tIns="45720" rIns="91440" bIns="45720" anchor="t" anchorCtr="0"/>
          <a:p>
            <a:pPr marL="0" indent="0" eaLnBrk="1" latinLnBrk="0" hangingPunct="1">
              <a:lnSpc>
                <a:spcPct val="120000"/>
              </a:lnSpc>
              <a:spcBef>
                <a:spcPts val="0"/>
              </a:spcBef>
              <a:buNone/>
            </a:pPr>
            <a:r>
              <a:rPr lang="en-US" altLang="zh-CN" sz="2400" b="1" kern="1200" dirty="0">
                <a:solidFill>
                  <a:srgbClr val="000066"/>
                </a:solidFill>
                <a:latin typeface="Arial" panose="020B0604020202020204" pitchFamily="34" charset="0"/>
                <a:ea typeface="楷体_GB2312" pitchFamily="49" charset="-122"/>
              </a:rPr>
              <a:t>       </a:t>
            </a:r>
            <a:r>
              <a:rPr lang="zh-CN" altLang="en-US" sz="2400" b="1" kern="1200" dirty="0">
                <a:solidFill>
                  <a:srgbClr val="000066"/>
                </a:solidFill>
                <a:latin typeface="Arial" panose="020B0604020202020204" pitchFamily="34" charset="0"/>
                <a:ea typeface="楷体_GB2312" pitchFamily="49" charset="-122"/>
              </a:rPr>
              <a:t>外界的数值、文字和符号等信息需要数字系统传输或处理之前，必须变成由0和1组成且按照一定规则排列起来的有特定含义的二进制代码。将数值、文字和符号等信息表示成二进制代码的过程称为编码。</a:t>
            </a:r>
            <a:endParaRPr lang="zh-CN" altLang="en-US" sz="2400" b="1" kern="1200" dirty="0">
              <a:solidFill>
                <a:srgbClr val="000066"/>
              </a:solidFill>
              <a:latin typeface="Arial" panose="020B0604020202020204" pitchFamily="34" charset="0"/>
              <a:ea typeface="楷体_GB2312" pitchFamily="49" charset="-122"/>
            </a:endParaRPr>
          </a:p>
        </p:txBody>
      </p:sp>
      <p:sp>
        <p:nvSpPr>
          <p:cNvPr id="6148" name="TextBox 6"/>
          <p:cNvSpPr txBox="1"/>
          <p:nvPr/>
        </p:nvSpPr>
        <p:spPr>
          <a:xfrm>
            <a:off x="2819400" y="533400"/>
            <a:ext cx="5593080" cy="583565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5pPr>
          </a:lstStyle>
          <a:p>
            <a:pPr marL="0" lvl="0" indent="0" algn="l"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b="1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1.2 </a:t>
            </a:r>
            <a:r>
              <a:rPr lang="zh-CN" altLang="en-US" b="1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数制与码制</a:t>
            </a:r>
            <a:endParaRPr lang="zh-CN" altLang="en-US" b="1" dirty="0">
              <a:solidFill>
                <a:srgbClr val="FF0000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6150" name="灯片编号占位符 5"/>
          <p:cNvSpPr txBox="1">
            <a:spLocks noGrp="1"/>
          </p:cNvSpPr>
          <p:nvPr>
            <p:ph type="sldNum" sz="quarter" idx="12"/>
          </p:nvPr>
        </p:nvSpPr>
        <p:spPr>
          <a:xfrm>
            <a:off x="6553200" y="6537325"/>
            <a:ext cx="2133600" cy="244475"/>
          </a:xfrm>
        </p:spPr>
        <p:txBody>
          <a:bodyPr/>
          <a:p>
            <a:pPr marL="0" indent="0" algn="r" eaLnBrk="1" hangingPunct="1">
              <a:spcBef>
                <a:spcPct val="0"/>
              </a:spcBef>
              <a:buClrTx/>
              <a:buFontTx/>
              <a:buNone/>
            </a:pPr>
            <a:fld id="{9A0DB2DC-4C9A-4742-B13C-FB6460FD3503}" type="slidenum">
              <a:rPr lang="en-US" altLang="zh-CN" sz="1200" dirty="0">
                <a:solidFill>
                  <a:schemeClr val="bg1"/>
                </a:solidFill>
                <a:ea typeface="宋体" panose="02010600030101010101" pitchFamily="2" charset="-122"/>
              </a:rPr>
            </a:fld>
            <a:endParaRPr lang="en-US" altLang="zh-CN" sz="1200" dirty="0">
              <a:solidFill>
                <a:schemeClr val="bg1"/>
              </a:solidFill>
              <a:ea typeface="宋体" panose="02010600030101010101" pitchFamily="2" charset="-122"/>
            </a:endParaRPr>
          </a:p>
        </p:txBody>
      </p:sp>
      <p:sp>
        <p:nvSpPr>
          <p:cNvPr id="3" name="Rectangle 3"/>
          <p:cNvSpPr>
            <a:spLocks noGrp="1"/>
          </p:cNvSpPr>
          <p:nvPr/>
        </p:nvSpPr>
        <p:spPr>
          <a:xfrm>
            <a:off x="660400" y="3708400"/>
            <a:ext cx="8003540" cy="1931670"/>
          </a:xfrm>
          <a:prstGeom prst="rect">
            <a:avLst/>
          </a:prstGeom>
          <a:noFill/>
          <a:ln w="9525">
            <a:noFill/>
          </a:ln>
        </p:spPr>
        <p:txBody>
          <a:bodyPr vert="horz" wrap="square" lIns="91440" tIns="45720" rIns="91440" bIns="45720" anchor="t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9pPr>
          </a:lstStyle>
          <a:p>
            <a:pPr marL="0" indent="0" eaLnBrk="1" latinLnBrk="0" hangingPunct="1">
              <a:lnSpc>
                <a:spcPct val="120000"/>
              </a:lnSpc>
              <a:spcBef>
                <a:spcPts val="0"/>
              </a:spcBef>
              <a:buNone/>
            </a:pPr>
            <a:r>
              <a:rPr lang="en-US" altLang="zh-CN" sz="2400" b="1" kern="1200" dirty="0">
                <a:solidFill>
                  <a:srgbClr val="000066"/>
                </a:solidFill>
                <a:latin typeface="Arial" panose="020B0604020202020204" pitchFamily="34" charset="0"/>
                <a:ea typeface="楷体_GB2312" pitchFamily="49" charset="-122"/>
              </a:rPr>
              <a:t>       </a:t>
            </a:r>
            <a:r>
              <a:rPr lang="zh-CN" altLang="en-US" sz="2400" b="1" kern="1200" dirty="0">
                <a:solidFill>
                  <a:srgbClr val="000066"/>
                </a:solidFill>
                <a:latin typeface="Arial" panose="020B0604020202020204" pitchFamily="34" charset="0"/>
                <a:ea typeface="楷体_GB2312" pitchFamily="49" charset="-122"/>
              </a:rPr>
              <a:t>数字电路中常用的二进制代码有二-十进制代码、格雷码和美国标准信息交换码（</a:t>
            </a:r>
            <a:r>
              <a:rPr lang="en-US" altLang="zh-CN" sz="2400" b="1" kern="1200" dirty="0">
                <a:solidFill>
                  <a:srgbClr val="000066"/>
                </a:solidFill>
                <a:latin typeface="Arial" panose="020B0604020202020204" pitchFamily="34" charset="0"/>
                <a:ea typeface="楷体_GB2312" pitchFamily="49" charset="-122"/>
              </a:rPr>
              <a:t>American Standard Code for Information Interchange, </a:t>
            </a:r>
            <a:r>
              <a:rPr lang="zh-CN" altLang="en-US" sz="2400" b="1" kern="1200" dirty="0">
                <a:solidFill>
                  <a:srgbClr val="000066"/>
                </a:solidFill>
                <a:latin typeface="Arial" panose="020B0604020202020204" pitchFamily="34" charset="0"/>
                <a:ea typeface="楷体_GB2312" pitchFamily="49" charset="-122"/>
              </a:rPr>
              <a:t>ASCII码）。由于二-十进制代码的英文为Binary Coded Decimal，又称其为BCD码。</a:t>
            </a:r>
            <a:endParaRPr lang="zh-CN" altLang="en-US" sz="2400" b="1" kern="1200" dirty="0">
              <a:solidFill>
                <a:srgbClr val="000066"/>
              </a:solidFill>
              <a:latin typeface="Arial" panose="020B0604020202020204" pitchFamily="34" charset="0"/>
              <a:ea typeface="楷体_GB2312" pitchFamily="49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1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6147" name="Rectangle 3"/>
          <p:cNvSpPr>
            <a:spLocks noGrp="1"/>
          </p:cNvSpPr>
          <p:nvPr>
            <p:ph idx="1"/>
          </p:nvPr>
        </p:nvSpPr>
        <p:spPr>
          <a:xfrm>
            <a:off x="685800" y="1371600"/>
            <a:ext cx="8003540" cy="3213735"/>
          </a:xfrm>
        </p:spPr>
        <p:txBody>
          <a:bodyPr vert="horz" wrap="square" lIns="91440" tIns="45720" rIns="91440" bIns="45720" anchor="t" anchorCtr="0"/>
          <a:p>
            <a:pPr marL="0" indent="0" algn="just" eaLnBrk="1" latinLnBrk="0" hangingPunct="1">
              <a:lnSpc>
                <a:spcPct val="120000"/>
              </a:lnSpc>
              <a:spcBef>
                <a:spcPts val="0"/>
              </a:spcBef>
              <a:buNone/>
            </a:pPr>
            <a:r>
              <a:rPr lang="en-US" altLang="zh-CN" sz="2400" b="1" kern="1200" dirty="0">
                <a:solidFill>
                  <a:srgbClr val="000066"/>
                </a:solidFill>
                <a:latin typeface="Arial" panose="020B0604020202020204" pitchFamily="34" charset="0"/>
                <a:ea typeface="楷体_GB2312" pitchFamily="49" charset="-122"/>
              </a:rPr>
              <a:t>       </a:t>
            </a:r>
            <a:r>
              <a:rPr lang="zh-CN" altLang="en-US" sz="2400" b="1" kern="1200" dirty="0">
                <a:solidFill>
                  <a:srgbClr val="000066"/>
                </a:solidFill>
                <a:latin typeface="Arial" panose="020B0604020202020204" pitchFamily="34" charset="0"/>
                <a:ea typeface="楷体_GB2312" pitchFamily="49" charset="-122"/>
              </a:rPr>
              <a:t>BCD码是用4位二进制数来表示1位十进制数的编码方法。假设BCD码中的4位二进制数用</a:t>
            </a:r>
            <a:r>
              <a:rPr lang="zh-CN" altLang="en-US" sz="2400" b="1" i="1" kern="1200" dirty="0">
                <a:solidFill>
                  <a:srgbClr val="000066"/>
                </a:solidFill>
                <a:latin typeface="Arial" panose="020B0604020202020204" pitchFamily="34" charset="0"/>
                <a:ea typeface="楷体_GB2312" pitchFamily="49" charset="-122"/>
              </a:rPr>
              <a:t>k</a:t>
            </a:r>
            <a:r>
              <a:rPr lang="zh-CN" altLang="en-US" sz="2400" b="1" kern="1200" baseline="-25000" dirty="0">
                <a:solidFill>
                  <a:srgbClr val="000066"/>
                </a:solidFill>
                <a:latin typeface="Arial" panose="020B0604020202020204" pitchFamily="34" charset="0"/>
                <a:ea typeface="楷体_GB2312" pitchFamily="49" charset="-122"/>
              </a:rPr>
              <a:t>3</a:t>
            </a:r>
            <a:r>
              <a:rPr lang="zh-CN" altLang="en-US" sz="2400" b="1" i="1" kern="1200" dirty="0">
                <a:solidFill>
                  <a:srgbClr val="000066"/>
                </a:solidFill>
                <a:latin typeface="Arial" panose="020B0604020202020204" pitchFamily="34" charset="0"/>
                <a:ea typeface="楷体_GB2312" pitchFamily="49" charset="-122"/>
              </a:rPr>
              <a:t>k</a:t>
            </a:r>
            <a:r>
              <a:rPr lang="zh-CN" altLang="en-US" sz="2400" b="1" kern="1200" baseline="-25000" dirty="0">
                <a:solidFill>
                  <a:srgbClr val="000066"/>
                </a:solidFill>
                <a:latin typeface="Arial" panose="020B0604020202020204" pitchFamily="34" charset="0"/>
                <a:ea typeface="楷体_GB2312" pitchFamily="49" charset="-122"/>
              </a:rPr>
              <a:t>2</a:t>
            </a:r>
            <a:r>
              <a:rPr lang="zh-CN" altLang="en-US" sz="2400" b="1" i="1" kern="1200" dirty="0">
                <a:solidFill>
                  <a:srgbClr val="000066"/>
                </a:solidFill>
                <a:latin typeface="Arial" panose="020B0604020202020204" pitchFamily="34" charset="0"/>
                <a:ea typeface="楷体_GB2312" pitchFamily="49" charset="-122"/>
              </a:rPr>
              <a:t>k</a:t>
            </a:r>
            <a:r>
              <a:rPr lang="zh-CN" altLang="en-US" sz="2400" b="1" kern="1200" baseline="-25000" dirty="0">
                <a:solidFill>
                  <a:srgbClr val="000066"/>
                </a:solidFill>
                <a:latin typeface="Arial" panose="020B0604020202020204" pitchFamily="34" charset="0"/>
                <a:ea typeface="楷体_GB2312" pitchFamily="49" charset="-122"/>
              </a:rPr>
              <a:t>1</a:t>
            </a:r>
            <a:r>
              <a:rPr lang="zh-CN" altLang="en-US" sz="2400" b="1" i="1" kern="1200" dirty="0">
                <a:solidFill>
                  <a:srgbClr val="000066"/>
                </a:solidFill>
                <a:latin typeface="Arial" panose="020B0604020202020204" pitchFamily="34" charset="0"/>
                <a:ea typeface="楷体_GB2312" pitchFamily="49" charset="-122"/>
              </a:rPr>
              <a:t>k</a:t>
            </a:r>
            <a:r>
              <a:rPr lang="zh-CN" altLang="en-US" sz="2400" b="1" kern="1200" baseline="-25000" dirty="0">
                <a:solidFill>
                  <a:srgbClr val="000066"/>
                </a:solidFill>
                <a:latin typeface="Arial" panose="020B0604020202020204" pitchFamily="34" charset="0"/>
                <a:ea typeface="楷体_GB2312" pitchFamily="49" charset="-122"/>
              </a:rPr>
              <a:t>0</a:t>
            </a:r>
            <a:r>
              <a:rPr lang="zh-CN" altLang="en-US" sz="2400" b="1" kern="1200" dirty="0">
                <a:solidFill>
                  <a:srgbClr val="000066"/>
                </a:solidFill>
                <a:latin typeface="Arial" panose="020B0604020202020204" pitchFamily="34" charset="0"/>
                <a:ea typeface="楷体_GB2312" pitchFamily="49" charset="-122"/>
              </a:rPr>
              <a:t>表示，每1位的权值固定为一个常数，这样的编码称为有权BCD码。常见的有权BCD码有：8421BCD码、5421BCD码和2421BCD码。还有一类BCD码，4位二进制数的每1位权值不是一个固定的常数，这类BCD码称为无权BCD码。常用的无权BCD码有余3码。</a:t>
            </a:r>
            <a:endParaRPr lang="zh-CN" altLang="en-US" sz="2400" b="1" kern="1200" dirty="0">
              <a:solidFill>
                <a:srgbClr val="000066"/>
              </a:solidFill>
              <a:latin typeface="Arial" panose="020B0604020202020204" pitchFamily="34" charset="0"/>
              <a:ea typeface="楷体_GB2312" pitchFamily="49" charset="-122"/>
            </a:endParaRPr>
          </a:p>
        </p:txBody>
      </p:sp>
      <p:sp>
        <p:nvSpPr>
          <p:cNvPr id="6148" name="TextBox 6"/>
          <p:cNvSpPr txBox="1"/>
          <p:nvPr/>
        </p:nvSpPr>
        <p:spPr>
          <a:xfrm>
            <a:off x="2819400" y="533400"/>
            <a:ext cx="5593080" cy="583565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5pPr>
          </a:lstStyle>
          <a:p>
            <a:pPr marL="0" lvl="0" indent="0" algn="l"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b="1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1.2 </a:t>
            </a:r>
            <a:r>
              <a:rPr lang="zh-CN" altLang="en-US" b="1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数制与码制</a:t>
            </a:r>
            <a:endParaRPr lang="zh-CN" altLang="en-US" b="1" dirty="0">
              <a:solidFill>
                <a:srgbClr val="FF0000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6150" name="灯片编号占位符 5"/>
          <p:cNvSpPr txBox="1">
            <a:spLocks noGrp="1"/>
          </p:cNvSpPr>
          <p:nvPr>
            <p:ph type="sldNum" sz="quarter" idx="12"/>
          </p:nvPr>
        </p:nvSpPr>
        <p:spPr>
          <a:xfrm>
            <a:off x="6553200" y="6537325"/>
            <a:ext cx="2133600" cy="244475"/>
          </a:xfrm>
        </p:spPr>
        <p:txBody>
          <a:bodyPr/>
          <a:p>
            <a:pPr marL="0" indent="0" algn="r" eaLnBrk="1" hangingPunct="1">
              <a:spcBef>
                <a:spcPct val="0"/>
              </a:spcBef>
              <a:buClrTx/>
              <a:buFontTx/>
              <a:buNone/>
            </a:pPr>
            <a:fld id="{9A0DB2DC-4C9A-4742-B13C-FB6460FD3503}" type="slidenum">
              <a:rPr lang="en-US" altLang="zh-CN" sz="1200" dirty="0">
                <a:solidFill>
                  <a:schemeClr val="bg1"/>
                </a:solidFill>
                <a:ea typeface="宋体" panose="02010600030101010101" pitchFamily="2" charset="-122"/>
              </a:rPr>
            </a:fld>
            <a:endParaRPr lang="en-US" altLang="zh-CN" sz="1200" dirty="0">
              <a:solidFill>
                <a:schemeClr val="bg1"/>
              </a:solidFill>
              <a:ea typeface="宋体" panose="02010600030101010101" pitchFamily="2" charset="-122"/>
            </a:endParaRPr>
          </a:p>
        </p:txBody>
      </p:sp>
      <p:sp>
        <p:nvSpPr>
          <p:cNvPr id="2" name="Rectangle 3"/>
          <p:cNvSpPr>
            <a:spLocks noGrp="1"/>
          </p:cNvSpPr>
          <p:nvPr/>
        </p:nvSpPr>
        <p:spPr>
          <a:xfrm>
            <a:off x="1267460" y="1018540"/>
            <a:ext cx="3331210" cy="542290"/>
          </a:xfrm>
          <a:prstGeom prst="rect">
            <a:avLst/>
          </a:prstGeom>
          <a:noFill/>
          <a:ln w="9525">
            <a:noFill/>
          </a:ln>
        </p:spPr>
        <p:txBody>
          <a:bodyPr vert="horz" wrap="square" lIns="91440" tIns="45720" rIns="91440" bIns="45720" anchor="t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9pPr>
          </a:lstStyle>
          <a:p>
            <a:pPr marL="0" indent="0" eaLnBrk="1" latinLnBrk="0" hangingPunct="1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2400" b="1" kern="1200" dirty="0">
                <a:solidFill>
                  <a:srgbClr val="FE09D6"/>
                </a:solidFill>
                <a:latin typeface="Times New Roman" panose="02020603050405020304" charset="0"/>
                <a:ea typeface="楷体_GB2312" pitchFamily="49" charset="-122"/>
                <a:cs typeface="Times New Roman" panose="02020603050405020304" charset="0"/>
              </a:rPr>
              <a:t>1. BCD码</a:t>
            </a:r>
            <a:endParaRPr lang="en-US" sz="2400" b="1" kern="1200" dirty="0">
              <a:solidFill>
                <a:srgbClr val="FE09D6"/>
              </a:solidFill>
              <a:latin typeface="Times New Roman" panose="02020603050405020304" charset="0"/>
              <a:ea typeface="楷体_GB2312" pitchFamily="49" charset="-122"/>
              <a:cs typeface="Times New Roman" panose="02020603050405020304" charset="0"/>
            </a:endParaRPr>
          </a:p>
        </p:txBody>
      </p:sp>
      <p:sp>
        <p:nvSpPr>
          <p:cNvPr id="6" name="Rectangle 3"/>
          <p:cNvSpPr>
            <a:spLocks noGrp="1"/>
          </p:cNvSpPr>
          <p:nvPr/>
        </p:nvSpPr>
        <p:spPr>
          <a:xfrm>
            <a:off x="678180" y="4715510"/>
            <a:ext cx="8003540" cy="1395095"/>
          </a:xfrm>
          <a:prstGeom prst="rect">
            <a:avLst/>
          </a:prstGeom>
          <a:noFill/>
          <a:ln w="9525">
            <a:noFill/>
          </a:ln>
        </p:spPr>
        <p:txBody>
          <a:bodyPr vert="horz" wrap="square" lIns="91440" tIns="45720" rIns="91440" bIns="45720" anchor="t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9pPr>
          </a:lstStyle>
          <a:p>
            <a:pPr marL="0" indent="0" eaLnBrk="1" latinLnBrk="0" hangingPunct="1">
              <a:lnSpc>
                <a:spcPct val="120000"/>
              </a:lnSpc>
              <a:spcBef>
                <a:spcPts val="0"/>
              </a:spcBef>
              <a:buNone/>
            </a:pPr>
            <a:r>
              <a:rPr lang="en-US" altLang="zh-CN" sz="2400" b="1" kern="1200" dirty="0">
                <a:solidFill>
                  <a:srgbClr val="000066"/>
                </a:solidFill>
                <a:latin typeface="Arial" panose="020B0604020202020204" pitchFamily="34" charset="0"/>
                <a:ea typeface="楷体_GB2312" pitchFamily="49" charset="-122"/>
              </a:rPr>
              <a:t>       </a:t>
            </a:r>
            <a:r>
              <a:rPr lang="zh-CN" altLang="en-US" sz="2400" b="1" kern="1200" dirty="0">
                <a:solidFill>
                  <a:srgbClr val="000066"/>
                </a:solidFill>
                <a:latin typeface="Arial" panose="020B0604020202020204" pitchFamily="34" charset="0"/>
                <a:ea typeface="楷体_GB2312" pitchFamily="49" charset="-122"/>
              </a:rPr>
              <a:t>在8421BCD码中，4位二进制数</a:t>
            </a:r>
            <a:r>
              <a:rPr lang="zh-CN" altLang="en-US" sz="2400" b="1" i="1" kern="1200" dirty="0">
                <a:solidFill>
                  <a:srgbClr val="000066"/>
                </a:solidFill>
                <a:latin typeface="Arial" panose="020B0604020202020204" pitchFamily="34" charset="0"/>
                <a:ea typeface="楷体_GB2312" pitchFamily="49" charset="-122"/>
              </a:rPr>
              <a:t>k</a:t>
            </a:r>
            <a:r>
              <a:rPr lang="zh-CN" altLang="en-US" sz="2400" b="1" kern="1200" baseline="-25000" dirty="0">
                <a:solidFill>
                  <a:srgbClr val="000066"/>
                </a:solidFill>
                <a:latin typeface="Arial" panose="020B0604020202020204" pitchFamily="34" charset="0"/>
                <a:ea typeface="楷体_GB2312" pitchFamily="49" charset="-122"/>
              </a:rPr>
              <a:t>3</a:t>
            </a:r>
            <a:r>
              <a:rPr lang="zh-CN" altLang="en-US" sz="2400" b="1" kern="1200" dirty="0">
                <a:solidFill>
                  <a:srgbClr val="000066"/>
                </a:solidFill>
                <a:latin typeface="Arial" panose="020B0604020202020204" pitchFamily="34" charset="0"/>
                <a:ea typeface="楷体_GB2312" pitchFamily="49" charset="-122"/>
              </a:rPr>
              <a:t>、</a:t>
            </a:r>
            <a:r>
              <a:rPr lang="zh-CN" altLang="en-US" sz="2400" b="1" i="1" kern="1200" dirty="0">
                <a:solidFill>
                  <a:srgbClr val="000066"/>
                </a:solidFill>
                <a:latin typeface="Arial" panose="020B0604020202020204" pitchFamily="34" charset="0"/>
                <a:ea typeface="楷体_GB2312" pitchFamily="49" charset="-122"/>
              </a:rPr>
              <a:t>k</a:t>
            </a:r>
            <a:r>
              <a:rPr lang="zh-CN" altLang="en-US" sz="2400" b="1" kern="1200" baseline="-25000" dirty="0">
                <a:solidFill>
                  <a:srgbClr val="000066"/>
                </a:solidFill>
                <a:latin typeface="Arial" panose="020B0604020202020204" pitchFamily="34" charset="0"/>
                <a:ea typeface="楷体_GB2312" pitchFamily="49" charset="-122"/>
              </a:rPr>
              <a:t>2</a:t>
            </a:r>
            <a:r>
              <a:rPr lang="zh-CN" altLang="en-US" sz="2400" b="1" kern="1200" dirty="0">
                <a:solidFill>
                  <a:srgbClr val="000066"/>
                </a:solidFill>
                <a:latin typeface="Arial" panose="020B0604020202020204" pitchFamily="34" charset="0"/>
                <a:ea typeface="楷体_GB2312" pitchFamily="49" charset="-122"/>
              </a:rPr>
              <a:t>、</a:t>
            </a:r>
            <a:r>
              <a:rPr lang="zh-CN" altLang="en-US" sz="2400" b="1" i="1" kern="1200" dirty="0">
                <a:solidFill>
                  <a:srgbClr val="000066"/>
                </a:solidFill>
                <a:latin typeface="Arial" panose="020B0604020202020204" pitchFamily="34" charset="0"/>
                <a:ea typeface="楷体_GB2312" pitchFamily="49" charset="-122"/>
              </a:rPr>
              <a:t>k</a:t>
            </a:r>
            <a:r>
              <a:rPr lang="zh-CN" altLang="en-US" sz="2400" b="1" kern="1200" baseline="-25000" dirty="0">
                <a:solidFill>
                  <a:srgbClr val="000066"/>
                </a:solidFill>
                <a:latin typeface="Arial" panose="020B0604020202020204" pitchFamily="34" charset="0"/>
                <a:ea typeface="楷体_GB2312" pitchFamily="49" charset="-122"/>
              </a:rPr>
              <a:t>1</a:t>
            </a:r>
            <a:r>
              <a:rPr lang="zh-CN" altLang="en-US" sz="2400" b="1" kern="1200" dirty="0">
                <a:solidFill>
                  <a:srgbClr val="000066"/>
                </a:solidFill>
                <a:latin typeface="Arial" panose="020B0604020202020204" pitchFamily="34" charset="0"/>
                <a:ea typeface="楷体_GB2312" pitchFamily="49" charset="-122"/>
              </a:rPr>
              <a:t>、</a:t>
            </a:r>
            <a:r>
              <a:rPr lang="zh-CN" altLang="en-US" sz="2400" b="1" i="1" kern="1200" dirty="0">
                <a:solidFill>
                  <a:srgbClr val="000066"/>
                </a:solidFill>
                <a:latin typeface="Arial" panose="020B0604020202020204" pitchFamily="34" charset="0"/>
                <a:ea typeface="楷体_GB2312" pitchFamily="49" charset="-122"/>
              </a:rPr>
              <a:t>k</a:t>
            </a:r>
            <a:r>
              <a:rPr lang="zh-CN" altLang="en-US" sz="2400" b="1" kern="1200" baseline="-25000" dirty="0">
                <a:solidFill>
                  <a:srgbClr val="000066"/>
                </a:solidFill>
                <a:latin typeface="Arial" panose="020B0604020202020204" pitchFamily="34" charset="0"/>
                <a:ea typeface="楷体_GB2312" pitchFamily="49" charset="-122"/>
              </a:rPr>
              <a:t>0</a:t>
            </a:r>
            <a:r>
              <a:rPr lang="zh-CN" altLang="en-US" sz="2400" b="1" kern="1200" dirty="0">
                <a:solidFill>
                  <a:srgbClr val="000066"/>
                </a:solidFill>
                <a:latin typeface="Arial" panose="020B0604020202020204" pitchFamily="34" charset="0"/>
                <a:ea typeface="楷体_GB2312" pitchFamily="49" charset="-122"/>
              </a:rPr>
              <a:t>权值分别固定为2</a:t>
            </a:r>
            <a:r>
              <a:rPr lang="zh-CN" altLang="en-US" sz="2400" b="1" kern="1200" baseline="30000" dirty="0">
                <a:solidFill>
                  <a:srgbClr val="000066"/>
                </a:solidFill>
                <a:latin typeface="Arial" panose="020B0604020202020204" pitchFamily="34" charset="0"/>
                <a:ea typeface="楷体_GB2312" pitchFamily="49" charset="-122"/>
              </a:rPr>
              <a:t>3</a:t>
            </a:r>
            <a:r>
              <a:rPr lang="zh-CN" altLang="en-US" sz="2400" b="1" kern="1200" dirty="0">
                <a:solidFill>
                  <a:srgbClr val="000066"/>
                </a:solidFill>
                <a:latin typeface="Arial" panose="020B0604020202020204" pitchFamily="34" charset="0"/>
                <a:ea typeface="楷体_GB2312" pitchFamily="49" charset="-122"/>
              </a:rPr>
              <a:t>(8)、2</a:t>
            </a:r>
            <a:r>
              <a:rPr lang="zh-CN" altLang="en-US" sz="2400" b="1" kern="1200" baseline="30000" dirty="0">
                <a:solidFill>
                  <a:srgbClr val="000066"/>
                </a:solidFill>
                <a:latin typeface="Arial" panose="020B0604020202020204" pitchFamily="34" charset="0"/>
                <a:ea typeface="楷体_GB2312" pitchFamily="49" charset="-122"/>
              </a:rPr>
              <a:t>2</a:t>
            </a:r>
            <a:r>
              <a:rPr lang="zh-CN" altLang="en-US" sz="2400" b="1" kern="1200" dirty="0">
                <a:solidFill>
                  <a:srgbClr val="000066"/>
                </a:solidFill>
                <a:latin typeface="Arial" panose="020B0604020202020204" pitchFamily="34" charset="0"/>
                <a:ea typeface="楷体_GB2312" pitchFamily="49" charset="-122"/>
              </a:rPr>
              <a:t>(4)、2</a:t>
            </a:r>
            <a:r>
              <a:rPr lang="zh-CN" altLang="en-US" sz="2400" b="1" kern="1200" baseline="30000" dirty="0">
                <a:solidFill>
                  <a:srgbClr val="000066"/>
                </a:solidFill>
                <a:latin typeface="Arial" panose="020B0604020202020204" pitchFamily="34" charset="0"/>
                <a:ea typeface="楷体_GB2312" pitchFamily="49" charset="-122"/>
              </a:rPr>
              <a:t>1</a:t>
            </a:r>
            <a:r>
              <a:rPr lang="zh-CN" altLang="en-US" sz="2400" b="1" kern="1200" dirty="0">
                <a:solidFill>
                  <a:srgbClr val="000066"/>
                </a:solidFill>
                <a:latin typeface="Arial" panose="020B0604020202020204" pitchFamily="34" charset="0"/>
                <a:ea typeface="楷体_GB2312" pitchFamily="49" charset="-122"/>
              </a:rPr>
              <a:t>(2)、2</a:t>
            </a:r>
            <a:r>
              <a:rPr lang="zh-CN" altLang="en-US" sz="2400" b="1" kern="1200" baseline="30000" dirty="0">
                <a:solidFill>
                  <a:srgbClr val="000066"/>
                </a:solidFill>
                <a:latin typeface="Arial" panose="020B0604020202020204" pitchFamily="34" charset="0"/>
                <a:ea typeface="楷体_GB2312" pitchFamily="49" charset="-122"/>
              </a:rPr>
              <a:t>0</a:t>
            </a:r>
            <a:r>
              <a:rPr lang="zh-CN" altLang="en-US" sz="2400" b="1" kern="1200" dirty="0">
                <a:solidFill>
                  <a:srgbClr val="000066"/>
                </a:solidFill>
                <a:latin typeface="Arial" panose="020B0604020202020204" pitchFamily="34" charset="0"/>
                <a:ea typeface="楷体_GB2312" pitchFamily="49" charset="-122"/>
              </a:rPr>
              <a:t>(1)，故称为8421BCD码。由</a:t>
            </a:r>
            <a:r>
              <a:rPr lang="zh-CN" altLang="en-US" sz="2400" b="1" i="1" kern="1200" dirty="0">
                <a:solidFill>
                  <a:srgbClr val="000066"/>
                </a:solidFill>
                <a:latin typeface="Arial" panose="020B0604020202020204" pitchFamily="34" charset="0"/>
                <a:ea typeface="楷体_GB2312" pitchFamily="49" charset="-122"/>
              </a:rPr>
              <a:t>k</a:t>
            </a:r>
            <a:r>
              <a:rPr lang="zh-CN" altLang="en-US" sz="2400" b="1" kern="1200" baseline="-25000" dirty="0">
                <a:solidFill>
                  <a:srgbClr val="000066"/>
                </a:solidFill>
                <a:latin typeface="Arial" panose="020B0604020202020204" pitchFamily="34" charset="0"/>
                <a:ea typeface="楷体_GB2312" pitchFamily="49" charset="-122"/>
              </a:rPr>
              <a:t>3</a:t>
            </a:r>
            <a:r>
              <a:rPr lang="zh-CN" altLang="en-US" sz="2400" b="1" i="1" kern="1200" dirty="0">
                <a:solidFill>
                  <a:srgbClr val="000066"/>
                </a:solidFill>
                <a:latin typeface="Arial" panose="020B0604020202020204" pitchFamily="34" charset="0"/>
                <a:ea typeface="楷体_GB2312" pitchFamily="49" charset="-122"/>
              </a:rPr>
              <a:t>k</a:t>
            </a:r>
            <a:r>
              <a:rPr lang="zh-CN" altLang="en-US" sz="2400" b="1" kern="1200" baseline="-25000" dirty="0">
                <a:solidFill>
                  <a:srgbClr val="000066"/>
                </a:solidFill>
                <a:latin typeface="Arial" panose="020B0604020202020204" pitchFamily="34" charset="0"/>
                <a:ea typeface="楷体_GB2312" pitchFamily="49" charset="-122"/>
              </a:rPr>
              <a:t>2</a:t>
            </a:r>
            <a:r>
              <a:rPr lang="zh-CN" altLang="en-US" sz="2400" b="1" i="1" kern="1200" dirty="0">
                <a:solidFill>
                  <a:srgbClr val="000066"/>
                </a:solidFill>
                <a:latin typeface="Arial" panose="020B0604020202020204" pitchFamily="34" charset="0"/>
                <a:ea typeface="楷体_GB2312" pitchFamily="49" charset="-122"/>
              </a:rPr>
              <a:t>k</a:t>
            </a:r>
            <a:r>
              <a:rPr lang="zh-CN" altLang="en-US" sz="2400" b="1" kern="1200" baseline="-25000" dirty="0">
                <a:solidFill>
                  <a:srgbClr val="000066"/>
                </a:solidFill>
                <a:latin typeface="Arial" panose="020B0604020202020204" pitchFamily="34" charset="0"/>
                <a:ea typeface="楷体_GB2312" pitchFamily="49" charset="-122"/>
              </a:rPr>
              <a:t>1</a:t>
            </a:r>
            <a:r>
              <a:rPr lang="zh-CN" altLang="en-US" sz="2400" b="1" i="1" kern="1200" dirty="0">
                <a:solidFill>
                  <a:srgbClr val="000066"/>
                </a:solidFill>
                <a:latin typeface="Arial" panose="020B0604020202020204" pitchFamily="34" charset="0"/>
                <a:ea typeface="楷体_GB2312" pitchFamily="49" charset="-122"/>
              </a:rPr>
              <a:t>k</a:t>
            </a:r>
            <a:r>
              <a:rPr lang="zh-CN" altLang="en-US" sz="2400" b="1" kern="1200" baseline="-25000" dirty="0">
                <a:solidFill>
                  <a:srgbClr val="000066"/>
                </a:solidFill>
                <a:latin typeface="Arial" panose="020B0604020202020204" pitchFamily="34" charset="0"/>
                <a:ea typeface="楷体_GB2312" pitchFamily="49" charset="-122"/>
              </a:rPr>
              <a:t>0</a:t>
            </a:r>
            <a:r>
              <a:rPr lang="zh-CN" altLang="en-US" sz="2400" b="1" kern="1200" dirty="0">
                <a:solidFill>
                  <a:srgbClr val="000066"/>
                </a:solidFill>
                <a:latin typeface="Arial" panose="020B0604020202020204" pitchFamily="34" charset="0"/>
                <a:ea typeface="楷体_GB2312" pitchFamily="49" charset="-122"/>
              </a:rPr>
              <a:t>表示的8421BCD与十进制数之间的关系为</a:t>
            </a:r>
            <a:endParaRPr lang="zh-CN" altLang="en-US" sz="2400" b="1" kern="1200" dirty="0">
              <a:solidFill>
                <a:srgbClr val="000066"/>
              </a:solidFill>
              <a:latin typeface="Arial" panose="020B0604020202020204" pitchFamily="34" charset="0"/>
              <a:ea typeface="楷体_GB2312" pitchFamily="49" charset="-122"/>
            </a:endParaRPr>
          </a:p>
        </p:txBody>
      </p:sp>
      <p:sp>
        <p:nvSpPr>
          <p:cNvPr id="7" name="Rectangle 3"/>
          <p:cNvSpPr>
            <a:spLocks noGrp="1"/>
          </p:cNvSpPr>
          <p:nvPr/>
        </p:nvSpPr>
        <p:spPr>
          <a:xfrm>
            <a:off x="1254760" y="4337050"/>
            <a:ext cx="5832475" cy="522605"/>
          </a:xfrm>
          <a:prstGeom prst="rect">
            <a:avLst/>
          </a:prstGeom>
          <a:noFill/>
          <a:ln w="9525">
            <a:noFill/>
          </a:ln>
        </p:spPr>
        <p:txBody>
          <a:bodyPr vert="horz" wrap="square" lIns="91440" tIns="45720" rIns="91440" bIns="45720" anchor="t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9pPr>
          </a:lstStyle>
          <a:p>
            <a:pPr marL="0" indent="0" eaLnBrk="1" latinLnBrk="0" hangingPunct="1">
              <a:lnSpc>
                <a:spcPct val="120000"/>
              </a:lnSpc>
              <a:spcBef>
                <a:spcPts val="0"/>
              </a:spcBef>
              <a:buNone/>
            </a:pPr>
            <a:r>
              <a:rPr lang="en-US" altLang="zh-CN" sz="2400" b="1" kern="1200" dirty="0">
                <a:solidFill>
                  <a:srgbClr val="070707"/>
                </a:solidFill>
                <a:latin typeface="Times New Roman" panose="02020603050405020304" charset="0"/>
                <a:ea typeface="楷体_GB2312" pitchFamily="49" charset="-122"/>
                <a:cs typeface="Times New Roman" panose="02020603050405020304" charset="0"/>
              </a:rPr>
              <a:t>(</a:t>
            </a:r>
            <a:r>
              <a:rPr lang="en-US" sz="2400" b="1" kern="1200" dirty="0">
                <a:solidFill>
                  <a:srgbClr val="070707"/>
                </a:solidFill>
                <a:latin typeface="Times New Roman" panose="02020603050405020304" charset="0"/>
                <a:ea typeface="楷体_GB2312" pitchFamily="49" charset="-122"/>
                <a:cs typeface="Times New Roman" panose="02020603050405020304" charset="0"/>
              </a:rPr>
              <a:t>1</a:t>
            </a:r>
            <a:r>
              <a:rPr lang="en-US" altLang="zh-CN" sz="2400" b="1" kern="1200" dirty="0">
                <a:solidFill>
                  <a:srgbClr val="070707"/>
                </a:solidFill>
                <a:latin typeface="Times New Roman" panose="02020603050405020304" charset="0"/>
                <a:ea typeface="楷体_GB2312" pitchFamily="49" charset="-122"/>
                <a:cs typeface="Times New Roman" panose="02020603050405020304" charset="0"/>
              </a:rPr>
              <a:t>) </a:t>
            </a:r>
            <a:r>
              <a:rPr lang="en-US" sz="2400" b="1" kern="1200" dirty="0">
                <a:solidFill>
                  <a:srgbClr val="070707"/>
                </a:solidFill>
                <a:latin typeface="Times New Roman" panose="02020603050405020304" charset="0"/>
                <a:ea typeface="楷体_GB2312" pitchFamily="49" charset="-122"/>
                <a:cs typeface="Times New Roman" panose="02020603050405020304" charset="0"/>
              </a:rPr>
              <a:t> 8421BCD码</a:t>
            </a:r>
            <a:r>
              <a:rPr lang="zh-CN" altLang="en-US" sz="2400" b="1" kern="1200" dirty="0">
                <a:solidFill>
                  <a:srgbClr val="070707"/>
                </a:solidFill>
                <a:latin typeface="Times New Roman" panose="02020603050405020304" charset="0"/>
                <a:ea typeface="楷体_GB2312" pitchFamily="49" charset="-122"/>
                <a:cs typeface="Times New Roman" panose="02020603050405020304" charset="0"/>
              </a:rPr>
              <a:t>。</a:t>
            </a:r>
            <a:endParaRPr lang="zh-CN" altLang="en-US" sz="2400" b="1" kern="1200" dirty="0">
              <a:solidFill>
                <a:srgbClr val="070707"/>
              </a:solidFill>
              <a:latin typeface="Times New Roman" panose="02020603050405020304" charset="0"/>
              <a:ea typeface="楷体_GB2312" pitchFamily="49" charset="-122"/>
              <a:cs typeface="Times New Roman" panose="02020603050405020304" charset="0"/>
            </a:endParaRPr>
          </a:p>
        </p:txBody>
      </p:sp>
      <p:graphicFrame>
        <p:nvGraphicFramePr>
          <p:cNvPr id="8" name="对象 -2147482577"/>
          <p:cNvGraphicFramePr>
            <a:graphicFrameLocks noChangeAspect="1"/>
          </p:cNvGraphicFramePr>
          <p:nvPr/>
        </p:nvGraphicFramePr>
        <p:xfrm>
          <a:off x="1981200" y="6096000"/>
          <a:ext cx="5257800" cy="3841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76" name="" r:id="rId1" imgW="2778760" imgH="203200" progId="Equation.DSMT4">
                  <p:embed/>
                </p:oleObj>
              </mc:Choice>
              <mc:Fallback>
                <p:oleObj name="" r:id="rId1" imgW="2778760" imgH="203200" progId="Equation.DSMT4">
                  <p:embed/>
                  <p:pic>
                    <p:nvPicPr>
                      <p:cNvPr id="0" name="图片 3075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1981200" y="6096000"/>
                        <a:ext cx="5257800" cy="38417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5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 fmla="#ppt_x+(cos(-2*pi*(1-$))*-#ppt_x-sin(-2*pi*(1-$))*(1-#ppt_y))*(1-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+(sin(-2*pi*(1-$))*-#ppt_x+cos(-2*pi*(1-$))*(1-#ppt_y))*(1-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7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6" grpId="0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6148" name="TextBox 6"/>
          <p:cNvSpPr txBox="1"/>
          <p:nvPr/>
        </p:nvSpPr>
        <p:spPr>
          <a:xfrm>
            <a:off x="2819400" y="533400"/>
            <a:ext cx="5593080" cy="583565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5pPr>
          </a:lstStyle>
          <a:p>
            <a:pPr marL="0" lvl="0" indent="0" algn="l"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b="1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1.2 </a:t>
            </a:r>
            <a:r>
              <a:rPr lang="zh-CN" altLang="en-US" b="1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数制与码制</a:t>
            </a:r>
            <a:endParaRPr lang="zh-CN" altLang="en-US" b="1" dirty="0">
              <a:solidFill>
                <a:srgbClr val="FF0000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6150" name="灯片编号占位符 5"/>
          <p:cNvSpPr txBox="1">
            <a:spLocks noGrp="1"/>
          </p:cNvSpPr>
          <p:nvPr>
            <p:ph type="sldNum" sz="quarter" idx="12"/>
          </p:nvPr>
        </p:nvSpPr>
        <p:spPr>
          <a:xfrm>
            <a:off x="6553200" y="6537325"/>
            <a:ext cx="2133600" cy="244475"/>
          </a:xfrm>
        </p:spPr>
        <p:txBody>
          <a:bodyPr/>
          <a:p>
            <a:pPr marL="0" indent="0" algn="r" eaLnBrk="1" hangingPunct="1">
              <a:spcBef>
                <a:spcPct val="0"/>
              </a:spcBef>
              <a:buClrTx/>
              <a:buFontTx/>
              <a:buNone/>
            </a:pPr>
            <a:fld id="{9A0DB2DC-4C9A-4742-B13C-FB6460FD3503}" type="slidenum">
              <a:rPr lang="en-US" altLang="zh-CN" sz="1200" dirty="0">
                <a:solidFill>
                  <a:schemeClr val="bg1"/>
                </a:solidFill>
                <a:ea typeface="宋体" panose="02010600030101010101" pitchFamily="2" charset="-122"/>
              </a:rPr>
            </a:fld>
            <a:endParaRPr lang="en-US" altLang="zh-CN" sz="1200" dirty="0">
              <a:solidFill>
                <a:schemeClr val="bg1"/>
              </a:solidFill>
              <a:ea typeface="宋体" panose="02010600030101010101" pitchFamily="2" charset="-122"/>
            </a:endParaRPr>
          </a:p>
        </p:txBody>
      </p:sp>
      <p:sp>
        <p:nvSpPr>
          <p:cNvPr id="3" name="Rectangle 3"/>
          <p:cNvSpPr>
            <a:spLocks noGrp="1"/>
          </p:cNvSpPr>
          <p:nvPr/>
        </p:nvSpPr>
        <p:spPr>
          <a:xfrm>
            <a:off x="408940" y="1419860"/>
            <a:ext cx="8003540" cy="974725"/>
          </a:xfrm>
          <a:prstGeom prst="rect">
            <a:avLst/>
          </a:prstGeom>
          <a:noFill/>
          <a:ln w="9525">
            <a:noFill/>
          </a:ln>
        </p:spPr>
        <p:txBody>
          <a:bodyPr vert="horz" wrap="square" lIns="91440" tIns="45720" rIns="91440" bIns="45720" anchor="t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9pPr>
          </a:lstStyle>
          <a:p>
            <a:pPr marL="0" indent="0" eaLnBrk="1" latinLnBrk="0" hangingPunct="1">
              <a:lnSpc>
                <a:spcPct val="120000"/>
              </a:lnSpc>
              <a:spcBef>
                <a:spcPts val="0"/>
              </a:spcBef>
              <a:buNone/>
            </a:pPr>
            <a:r>
              <a:rPr lang="en-US" altLang="zh-CN" sz="2400" b="1" kern="1200" dirty="0">
                <a:solidFill>
                  <a:srgbClr val="000066"/>
                </a:solidFill>
                <a:latin typeface="Arial" panose="020B0604020202020204" pitchFamily="34" charset="0"/>
                <a:ea typeface="楷体_GB2312" pitchFamily="49" charset="-122"/>
              </a:rPr>
              <a:t>       </a:t>
            </a:r>
            <a:r>
              <a:rPr lang="zh-CN" altLang="en-US" sz="2400" b="1" kern="1200" dirty="0">
                <a:solidFill>
                  <a:srgbClr val="000066"/>
                </a:solidFill>
                <a:latin typeface="Arial" panose="020B0604020202020204" pitchFamily="34" charset="0"/>
                <a:ea typeface="楷体_GB2312" pitchFamily="49" charset="-122"/>
              </a:rPr>
              <a:t>【例1-9】8421BCD码01111001.0100表示的十进制数是多少？</a:t>
            </a:r>
            <a:endParaRPr lang="zh-CN" altLang="en-US" sz="2400" b="1" kern="1200" dirty="0">
              <a:solidFill>
                <a:srgbClr val="000066"/>
              </a:solidFill>
              <a:latin typeface="Arial" panose="020B0604020202020204" pitchFamily="34" charset="0"/>
              <a:ea typeface="楷体_GB2312" pitchFamily="49" charset="-122"/>
            </a:endParaRPr>
          </a:p>
        </p:txBody>
      </p:sp>
      <p:sp>
        <p:nvSpPr>
          <p:cNvPr id="11" name="Rectangle 3"/>
          <p:cNvSpPr>
            <a:spLocks noGrp="1"/>
          </p:cNvSpPr>
          <p:nvPr/>
        </p:nvSpPr>
        <p:spPr>
          <a:xfrm>
            <a:off x="485140" y="2334260"/>
            <a:ext cx="8003540" cy="852805"/>
          </a:xfrm>
          <a:prstGeom prst="rect">
            <a:avLst/>
          </a:prstGeom>
          <a:noFill/>
          <a:ln w="9525">
            <a:noFill/>
          </a:ln>
        </p:spPr>
        <p:txBody>
          <a:bodyPr vert="horz" wrap="square" lIns="91440" tIns="45720" rIns="91440" bIns="45720" anchor="t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9pPr>
          </a:lstStyle>
          <a:p>
            <a:pPr marL="0" indent="0" eaLnBrk="1" latinLnBrk="0" hangingPunct="1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2400" b="1" kern="1200" dirty="0">
                <a:solidFill>
                  <a:srgbClr val="000066"/>
                </a:solidFill>
                <a:latin typeface="Arial" panose="020B0604020202020204" pitchFamily="34" charset="0"/>
                <a:ea typeface="楷体_GB2312" pitchFamily="49" charset="-122"/>
              </a:rPr>
              <a:t>       </a:t>
            </a:r>
            <a:r>
              <a:rPr sz="2400" b="1" kern="1200" dirty="0">
                <a:solidFill>
                  <a:srgbClr val="000066"/>
                </a:solidFill>
                <a:latin typeface="Arial" panose="020B0604020202020204" pitchFamily="34" charset="0"/>
                <a:ea typeface="楷体_GB2312" pitchFamily="49" charset="-122"/>
              </a:rPr>
              <a:t>解：只要将每4位的8421BCD分别转换成十进制数就可以得到结果，即： </a:t>
            </a:r>
            <a:endParaRPr sz="2400" b="1" kern="1200" baseline="-25000" dirty="0">
              <a:solidFill>
                <a:srgbClr val="000066"/>
              </a:solidFill>
              <a:latin typeface="Arial" panose="020B0604020202020204" pitchFamily="34" charset="0"/>
              <a:ea typeface="楷体_GB2312" pitchFamily="49" charset="-122"/>
            </a:endParaRPr>
          </a:p>
        </p:txBody>
      </p:sp>
      <p:sp>
        <p:nvSpPr>
          <p:cNvPr id="17" name="Rectangle 3"/>
          <p:cNvSpPr>
            <a:spLocks noGrp="1"/>
          </p:cNvSpPr>
          <p:nvPr/>
        </p:nvSpPr>
        <p:spPr>
          <a:xfrm>
            <a:off x="4953000" y="3276600"/>
            <a:ext cx="1957070" cy="565150"/>
          </a:xfrm>
          <a:prstGeom prst="rect">
            <a:avLst/>
          </a:prstGeom>
          <a:noFill/>
          <a:ln w="9525">
            <a:noFill/>
          </a:ln>
        </p:spPr>
        <p:txBody>
          <a:bodyPr vert="horz" wrap="square" lIns="91440" tIns="45720" rIns="91440" bIns="45720" anchor="t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9pPr>
          </a:lstStyle>
          <a:p>
            <a:pPr marL="0" indent="0" eaLnBrk="1" latinLnBrk="0" hangingPunct="1">
              <a:lnSpc>
                <a:spcPct val="120000"/>
              </a:lnSpc>
              <a:spcBef>
                <a:spcPts val="0"/>
              </a:spcBef>
              <a:buNone/>
            </a:pPr>
            <a:r>
              <a:rPr lang="zh-CN" altLang="en-US" sz="2400" b="1" kern="1200" dirty="0">
                <a:solidFill>
                  <a:srgbClr val="000066"/>
                </a:solidFill>
                <a:latin typeface="Arial" panose="020B0604020202020204" pitchFamily="34" charset="0"/>
                <a:ea typeface="楷体_GB2312" pitchFamily="49" charset="-122"/>
              </a:rPr>
              <a:t> </a:t>
            </a:r>
            <a:r>
              <a:rPr sz="2400" b="1" dirty="0">
                <a:solidFill>
                  <a:srgbClr val="000066"/>
                </a:solidFill>
                <a:latin typeface="Arial" panose="020B0604020202020204" pitchFamily="34" charset="0"/>
                <a:ea typeface="楷体_GB2312" pitchFamily="49" charset="-122"/>
                <a:sym typeface="+mn-ea"/>
              </a:rPr>
              <a:t> = (79.4)</a:t>
            </a:r>
            <a:r>
              <a:rPr sz="2400" b="1" baseline="-25000" dirty="0">
                <a:solidFill>
                  <a:srgbClr val="000066"/>
                </a:solidFill>
                <a:latin typeface="Arial" panose="020B0604020202020204" pitchFamily="34" charset="0"/>
                <a:ea typeface="楷体_GB2312" pitchFamily="49" charset="-122"/>
                <a:sym typeface="+mn-ea"/>
              </a:rPr>
              <a:t>10</a:t>
            </a:r>
            <a:endParaRPr lang="en-US" altLang="zh-CN" sz="2400" b="1" kern="1200" baseline="-25000" dirty="0">
              <a:solidFill>
                <a:srgbClr val="000066"/>
              </a:solidFill>
              <a:latin typeface="Arial" panose="020B0604020202020204" pitchFamily="34" charset="0"/>
              <a:ea typeface="楷体_GB2312" pitchFamily="49" charset="-122"/>
            </a:endParaRPr>
          </a:p>
        </p:txBody>
      </p:sp>
      <p:sp>
        <p:nvSpPr>
          <p:cNvPr id="7" name="Rectangle 3"/>
          <p:cNvSpPr>
            <a:spLocks noGrp="1"/>
          </p:cNvSpPr>
          <p:nvPr/>
        </p:nvSpPr>
        <p:spPr>
          <a:xfrm>
            <a:off x="411480" y="3832860"/>
            <a:ext cx="8003540" cy="600075"/>
          </a:xfrm>
          <a:prstGeom prst="rect">
            <a:avLst/>
          </a:prstGeom>
          <a:noFill/>
          <a:ln w="9525">
            <a:noFill/>
          </a:ln>
        </p:spPr>
        <p:txBody>
          <a:bodyPr vert="horz" wrap="square" lIns="91440" tIns="45720" rIns="91440" bIns="45720" anchor="t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9pPr>
          </a:lstStyle>
          <a:p>
            <a:pPr marL="0" indent="0" eaLnBrk="1" latinLnBrk="0" hangingPunct="1">
              <a:lnSpc>
                <a:spcPct val="120000"/>
              </a:lnSpc>
              <a:spcBef>
                <a:spcPts val="0"/>
              </a:spcBef>
              <a:buNone/>
            </a:pPr>
            <a:r>
              <a:rPr lang="en-US" altLang="zh-CN" sz="2400" b="1" kern="1200" dirty="0">
                <a:solidFill>
                  <a:srgbClr val="000066"/>
                </a:solidFill>
                <a:latin typeface="Arial" panose="020B0604020202020204" pitchFamily="34" charset="0"/>
                <a:ea typeface="楷体_GB2312" pitchFamily="49" charset="-122"/>
              </a:rPr>
              <a:t>       </a:t>
            </a:r>
            <a:r>
              <a:rPr lang="zh-CN" altLang="en-US" sz="2400" b="1" kern="1200" dirty="0">
                <a:solidFill>
                  <a:srgbClr val="000066"/>
                </a:solidFill>
                <a:latin typeface="Arial" panose="020B0604020202020204" pitchFamily="34" charset="0"/>
                <a:ea typeface="楷体_GB2312" pitchFamily="49" charset="-122"/>
              </a:rPr>
              <a:t>【例1-10】将十进制数28.51转换成8421的BCD码。</a:t>
            </a:r>
            <a:endParaRPr lang="zh-CN" altLang="en-US" sz="2400" b="1" kern="1200" dirty="0">
              <a:solidFill>
                <a:srgbClr val="000066"/>
              </a:solidFill>
              <a:latin typeface="Arial" panose="020B0604020202020204" pitchFamily="34" charset="0"/>
              <a:ea typeface="楷体_GB2312" pitchFamily="49" charset="-122"/>
            </a:endParaRPr>
          </a:p>
        </p:txBody>
      </p:sp>
      <p:sp>
        <p:nvSpPr>
          <p:cNvPr id="8" name="Rectangle 3"/>
          <p:cNvSpPr>
            <a:spLocks noGrp="1"/>
          </p:cNvSpPr>
          <p:nvPr/>
        </p:nvSpPr>
        <p:spPr>
          <a:xfrm>
            <a:off x="487680" y="4290060"/>
            <a:ext cx="8003540" cy="962025"/>
          </a:xfrm>
          <a:prstGeom prst="rect">
            <a:avLst/>
          </a:prstGeom>
          <a:noFill/>
          <a:ln w="9525">
            <a:noFill/>
          </a:ln>
        </p:spPr>
        <p:txBody>
          <a:bodyPr vert="horz" wrap="square" lIns="91440" tIns="45720" rIns="91440" bIns="45720" anchor="t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9pPr>
          </a:lstStyle>
          <a:p>
            <a:pPr marL="0" indent="0" eaLnBrk="1" latinLnBrk="0" hangingPunct="1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2400" b="1" kern="1200" dirty="0">
                <a:solidFill>
                  <a:srgbClr val="000066"/>
                </a:solidFill>
                <a:latin typeface="Arial" panose="020B0604020202020204" pitchFamily="34" charset="0"/>
                <a:ea typeface="楷体_GB2312" pitchFamily="49" charset="-122"/>
              </a:rPr>
              <a:t>       </a:t>
            </a:r>
            <a:r>
              <a:rPr sz="2400" b="1" kern="1200" dirty="0">
                <a:solidFill>
                  <a:srgbClr val="000066"/>
                </a:solidFill>
                <a:latin typeface="Arial" panose="020B0604020202020204" pitchFamily="34" charset="0"/>
                <a:ea typeface="楷体_GB2312" pitchFamily="49" charset="-122"/>
              </a:rPr>
              <a:t>解：只要将每1位十进制数变成4位8421的BCD码即可：</a:t>
            </a:r>
            <a:r>
              <a:rPr sz="2400" b="1" kern="1200" dirty="0">
                <a:solidFill>
                  <a:srgbClr val="000066"/>
                </a:solidFill>
                <a:latin typeface="Arial" panose="020B0604020202020204" pitchFamily="34" charset="0"/>
                <a:ea typeface="楷体_GB2312" pitchFamily="49" charset="-122"/>
              </a:rPr>
              <a:t> </a:t>
            </a:r>
            <a:endParaRPr sz="2400" b="1" kern="1200" dirty="0">
              <a:solidFill>
                <a:srgbClr val="000066"/>
              </a:solidFill>
              <a:latin typeface="Arial" panose="020B0604020202020204" pitchFamily="34" charset="0"/>
              <a:ea typeface="楷体_GB2312" pitchFamily="49" charset="-122"/>
            </a:endParaRPr>
          </a:p>
          <a:p>
            <a:pPr marL="0" indent="0" eaLnBrk="1" latinLnBrk="0" hangingPunct="1">
              <a:lnSpc>
                <a:spcPct val="120000"/>
              </a:lnSpc>
              <a:spcBef>
                <a:spcPts val="0"/>
              </a:spcBef>
              <a:buNone/>
            </a:pPr>
            <a:r>
              <a:rPr sz="2400" b="1" kern="1200" dirty="0">
                <a:solidFill>
                  <a:srgbClr val="000066"/>
                </a:solidFill>
                <a:latin typeface="Arial" panose="020B0604020202020204" pitchFamily="34" charset="0"/>
                <a:ea typeface="楷体_GB2312" pitchFamily="49" charset="-122"/>
              </a:rPr>
              <a:t> </a:t>
            </a:r>
            <a:r>
              <a:rPr lang="en-US" sz="2400" b="1" kern="1200" dirty="0">
                <a:solidFill>
                  <a:srgbClr val="000066"/>
                </a:solidFill>
                <a:latin typeface="Arial" panose="020B0604020202020204" pitchFamily="34" charset="0"/>
                <a:ea typeface="楷体_GB2312" pitchFamily="49" charset="-122"/>
              </a:rPr>
              <a:t>       </a:t>
            </a:r>
            <a:r>
              <a:rPr sz="2400" b="1" dirty="0">
                <a:solidFill>
                  <a:srgbClr val="000066"/>
                </a:solidFill>
                <a:latin typeface="Arial" panose="020B0604020202020204" pitchFamily="34" charset="0"/>
                <a:ea typeface="楷体_GB2312" pitchFamily="49" charset="-122"/>
                <a:sym typeface="+mn-ea"/>
              </a:rPr>
              <a:t>(28.51)</a:t>
            </a:r>
            <a:r>
              <a:rPr sz="2400" b="1" baseline="-25000" dirty="0">
                <a:solidFill>
                  <a:srgbClr val="000066"/>
                </a:solidFill>
                <a:latin typeface="Arial" panose="020B0604020202020204" pitchFamily="34" charset="0"/>
                <a:ea typeface="楷体_GB2312" pitchFamily="49" charset="-122"/>
                <a:sym typeface="+mn-ea"/>
              </a:rPr>
              <a:t>10</a:t>
            </a:r>
            <a:endParaRPr sz="2400" b="1" kern="1200" baseline="-25000" dirty="0">
              <a:solidFill>
                <a:srgbClr val="000066"/>
              </a:solidFill>
              <a:latin typeface="Arial" panose="020B0604020202020204" pitchFamily="34" charset="0"/>
              <a:ea typeface="楷体_GB2312" pitchFamily="49" charset="-122"/>
            </a:endParaRPr>
          </a:p>
        </p:txBody>
      </p:sp>
      <p:sp>
        <p:nvSpPr>
          <p:cNvPr id="9" name="Rectangle 3"/>
          <p:cNvSpPr>
            <a:spLocks noGrp="1"/>
          </p:cNvSpPr>
          <p:nvPr/>
        </p:nvSpPr>
        <p:spPr>
          <a:xfrm>
            <a:off x="2209800" y="4724400"/>
            <a:ext cx="5781675" cy="565150"/>
          </a:xfrm>
          <a:prstGeom prst="rect">
            <a:avLst/>
          </a:prstGeom>
          <a:noFill/>
          <a:ln w="9525">
            <a:noFill/>
          </a:ln>
        </p:spPr>
        <p:txBody>
          <a:bodyPr vert="horz" wrap="square" lIns="91440" tIns="45720" rIns="91440" bIns="45720" anchor="t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9pPr>
          </a:lstStyle>
          <a:p>
            <a:pPr marL="0" indent="0" eaLnBrk="1" latinLnBrk="0" hangingPunct="1">
              <a:lnSpc>
                <a:spcPct val="120000"/>
              </a:lnSpc>
              <a:spcBef>
                <a:spcPts val="0"/>
              </a:spcBef>
              <a:buNone/>
            </a:pPr>
            <a:r>
              <a:rPr lang="zh-CN" altLang="en-US" sz="2400" b="1" kern="1200" dirty="0">
                <a:solidFill>
                  <a:srgbClr val="000066"/>
                </a:solidFill>
                <a:latin typeface="Arial" panose="020B0604020202020204" pitchFamily="34" charset="0"/>
                <a:ea typeface="楷体_GB2312" pitchFamily="49" charset="-122"/>
              </a:rPr>
              <a:t> </a:t>
            </a:r>
            <a:r>
              <a:rPr sz="2400" b="1" dirty="0">
                <a:solidFill>
                  <a:srgbClr val="000066"/>
                </a:solidFill>
                <a:latin typeface="Arial" panose="020B0604020202020204" pitchFamily="34" charset="0"/>
                <a:ea typeface="楷体_GB2312" pitchFamily="49" charset="-122"/>
                <a:sym typeface="+mn-ea"/>
              </a:rPr>
              <a:t>  = (00101000.01010001)</a:t>
            </a:r>
            <a:r>
              <a:rPr sz="2400" b="1" baseline="-25000" dirty="0">
                <a:solidFill>
                  <a:srgbClr val="000066"/>
                </a:solidFill>
                <a:latin typeface="Arial" panose="020B0604020202020204" pitchFamily="34" charset="0"/>
                <a:ea typeface="楷体_GB2312" pitchFamily="49" charset="-122"/>
                <a:sym typeface="+mn-ea"/>
              </a:rPr>
              <a:t>8421BCD</a:t>
            </a:r>
            <a:endParaRPr lang="en-US" altLang="zh-CN" sz="2400" b="1" kern="1200" baseline="-25000" dirty="0">
              <a:solidFill>
                <a:srgbClr val="000066"/>
              </a:solidFill>
              <a:latin typeface="Arial" panose="020B0604020202020204" pitchFamily="34" charset="0"/>
              <a:ea typeface="楷体_GB2312" pitchFamily="49" charset="-122"/>
              <a:sym typeface="+mn-ea"/>
            </a:endParaRPr>
          </a:p>
        </p:txBody>
      </p:sp>
      <p:sp>
        <p:nvSpPr>
          <p:cNvPr id="10" name="Rectangle 3"/>
          <p:cNvSpPr>
            <a:spLocks noGrp="1"/>
          </p:cNvSpPr>
          <p:nvPr/>
        </p:nvSpPr>
        <p:spPr>
          <a:xfrm>
            <a:off x="1219200" y="3276600"/>
            <a:ext cx="4116070" cy="555625"/>
          </a:xfrm>
          <a:prstGeom prst="rect">
            <a:avLst/>
          </a:prstGeom>
          <a:noFill/>
          <a:ln w="9525">
            <a:noFill/>
          </a:ln>
        </p:spPr>
        <p:txBody>
          <a:bodyPr vert="horz" wrap="square" lIns="91440" tIns="45720" rIns="91440" bIns="45720" anchor="t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9pPr>
          </a:lstStyle>
          <a:p>
            <a:pPr marL="0" indent="0" eaLnBrk="1" latinLnBrk="0" hangingPunct="1">
              <a:lnSpc>
                <a:spcPct val="120000"/>
              </a:lnSpc>
              <a:spcBef>
                <a:spcPts val="0"/>
              </a:spcBef>
              <a:buNone/>
            </a:pPr>
            <a:r>
              <a:rPr sz="2400" b="1" kern="1200" dirty="0">
                <a:solidFill>
                  <a:srgbClr val="000066"/>
                </a:solidFill>
                <a:latin typeface="Arial" panose="020B0604020202020204" pitchFamily="34" charset="0"/>
                <a:ea typeface="楷体_GB2312" pitchFamily="49" charset="-122"/>
              </a:rPr>
              <a:t>  </a:t>
            </a:r>
            <a:r>
              <a:rPr lang="en-US" sz="2400" b="1" kern="1200" dirty="0">
                <a:solidFill>
                  <a:srgbClr val="000066"/>
                </a:solidFill>
                <a:latin typeface="Arial" panose="020B0604020202020204" pitchFamily="34" charset="0"/>
                <a:ea typeface="楷体_GB2312" pitchFamily="49" charset="-122"/>
              </a:rPr>
              <a:t>      </a:t>
            </a:r>
            <a:r>
              <a:rPr sz="2400" b="1" kern="1200" dirty="0">
                <a:solidFill>
                  <a:srgbClr val="000066"/>
                </a:solidFill>
                <a:latin typeface="Arial" panose="020B0604020202020204" pitchFamily="34" charset="0"/>
                <a:ea typeface="楷体_GB2312" pitchFamily="49" charset="-122"/>
              </a:rPr>
              <a:t>(01111001.0100)</a:t>
            </a:r>
            <a:r>
              <a:rPr sz="2400" b="1" kern="1200" baseline="-25000" dirty="0">
                <a:solidFill>
                  <a:srgbClr val="000066"/>
                </a:solidFill>
                <a:latin typeface="Arial" panose="020B0604020202020204" pitchFamily="34" charset="0"/>
                <a:ea typeface="楷体_GB2312" pitchFamily="49" charset="-122"/>
              </a:rPr>
              <a:t>8421BCD</a:t>
            </a:r>
            <a:endParaRPr sz="2400" b="1" kern="1200" baseline="-25000" dirty="0">
              <a:solidFill>
                <a:srgbClr val="000066"/>
              </a:solidFill>
              <a:latin typeface="Arial" panose="020B0604020202020204" pitchFamily="34" charset="0"/>
              <a:ea typeface="楷体_GB2312" pitchFamily="49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9" presetClass="entr" presetSubtype="0" decel="10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21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26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31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6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9" grpId="0"/>
      <p:bldP spid="11" grpId="0"/>
      <p:bldP spid="8" grpId="0"/>
      <p:bldP spid="10" grpId="0"/>
      <p:bldP spid="17" grpId="0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6147" name="Rectangle 3"/>
          <p:cNvSpPr>
            <a:spLocks noGrp="1"/>
          </p:cNvSpPr>
          <p:nvPr>
            <p:ph idx="1"/>
          </p:nvPr>
        </p:nvSpPr>
        <p:spPr>
          <a:xfrm>
            <a:off x="601980" y="1827530"/>
            <a:ext cx="8003540" cy="1036320"/>
          </a:xfrm>
        </p:spPr>
        <p:txBody>
          <a:bodyPr vert="horz" wrap="square" lIns="91440" tIns="45720" rIns="91440" bIns="45720" anchor="t" anchorCtr="0"/>
          <a:p>
            <a:pPr marL="0" indent="0" eaLnBrk="1" latinLnBrk="0" hangingPunct="1">
              <a:lnSpc>
                <a:spcPct val="120000"/>
              </a:lnSpc>
              <a:spcBef>
                <a:spcPts val="0"/>
              </a:spcBef>
              <a:buNone/>
            </a:pPr>
            <a:r>
              <a:rPr lang="en-US" altLang="zh-CN" sz="2400" b="1" kern="1200" dirty="0">
                <a:solidFill>
                  <a:srgbClr val="000066"/>
                </a:solidFill>
                <a:latin typeface="Arial" panose="020B0604020202020204" pitchFamily="34" charset="0"/>
                <a:ea typeface="楷体_GB2312" pitchFamily="49" charset="-122"/>
              </a:rPr>
              <a:t>       </a:t>
            </a:r>
            <a:r>
              <a:rPr lang="zh-CN" altLang="en-US" sz="2400" b="1" kern="1200" dirty="0">
                <a:solidFill>
                  <a:srgbClr val="000066"/>
                </a:solidFill>
                <a:latin typeface="Arial" panose="020B0604020202020204" pitchFamily="34" charset="0"/>
                <a:ea typeface="楷体_GB2312" pitchFamily="49" charset="-122"/>
              </a:rPr>
              <a:t>在5421BCD码中，4位二进制数</a:t>
            </a:r>
            <a:r>
              <a:rPr lang="zh-CN" altLang="en-US" sz="2400" b="1" i="1" kern="1200" dirty="0">
                <a:solidFill>
                  <a:srgbClr val="000066"/>
                </a:solidFill>
                <a:latin typeface="Arial" panose="020B0604020202020204" pitchFamily="34" charset="0"/>
                <a:ea typeface="楷体_GB2312" pitchFamily="49" charset="-122"/>
              </a:rPr>
              <a:t>k</a:t>
            </a:r>
            <a:r>
              <a:rPr lang="zh-CN" altLang="en-US" sz="2400" b="1" kern="1200" baseline="-25000" dirty="0">
                <a:solidFill>
                  <a:srgbClr val="000066"/>
                </a:solidFill>
                <a:latin typeface="Arial" panose="020B0604020202020204" pitchFamily="34" charset="0"/>
                <a:ea typeface="楷体_GB2312" pitchFamily="49" charset="-122"/>
              </a:rPr>
              <a:t>3</a:t>
            </a:r>
            <a:r>
              <a:rPr lang="zh-CN" altLang="en-US" sz="2400" b="1" kern="1200" dirty="0">
                <a:solidFill>
                  <a:srgbClr val="000066"/>
                </a:solidFill>
                <a:latin typeface="Arial" panose="020B0604020202020204" pitchFamily="34" charset="0"/>
                <a:ea typeface="楷体_GB2312" pitchFamily="49" charset="-122"/>
              </a:rPr>
              <a:t>、</a:t>
            </a:r>
            <a:r>
              <a:rPr lang="zh-CN" altLang="en-US" sz="2400" b="1" i="1" kern="1200" dirty="0">
                <a:solidFill>
                  <a:srgbClr val="000066"/>
                </a:solidFill>
                <a:latin typeface="Arial" panose="020B0604020202020204" pitchFamily="34" charset="0"/>
                <a:ea typeface="楷体_GB2312" pitchFamily="49" charset="-122"/>
              </a:rPr>
              <a:t>k</a:t>
            </a:r>
            <a:r>
              <a:rPr lang="zh-CN" altLang="en-US" sz="2400" b="1" kern="1200" baseline="-25000" dirty="0">
                <a:solidFill>
                  <a:srgbClr val="000066"/>
                </a:solidFill>
                <a:latin typeface="Arial" panose="020B0604020202020204" pitchFamily="34" charset="0"/>
                <a:ea typeface="楷体_GB2312" pitchFamily="49" charset="-122"/>
              </a:rPr>
              <a:t>2</a:t>
            </a:r>
            <a:r>
              <a:rPr lang="zh-CN" altLang="en-US" sz="2400" b="1" kern="1200" dirty="0">
                <a:solidFill>
                  <a:srgbClr val="000066"/>
                </a:solidFill>
                <a:latin typeface="Arial" panose="020B0604020202020204" pitchFamily="34" charset="0"/>
                <a:ea typeface="楷体_GB2312" pitchFamily="49" charset="-122"/>
              </a:rPr>
              <a:t>、</a:t>
            </a:r>
            <a:r>
              <a:rPr lang="zh-CN" altLang="en-US" sz="2400" b="1" i="1" kern="1200" dirty="0">
                <a:solidFill>
                  <a:srgbClr val="000066"/>
                </a:solidFill>
                <a:latin typeface="Arial" panose="020B0604020202020204" pitchFamily="34" charset="0"/>
                <a:ea typeface="楷体_GB2312" pitchFamily="49" charset="-122"/>
              </a:rPr>
              <a:t>k</a:t>
            </a:r>
            <a:r>
              <a:rPr lang="zh-CN" altLang="en-US" sz="2400" b="1" kern="1200" baseline="-25000" dirty="0">
                <a:solidFill>
                  <a:srgbClr val="000066"/>
                </a:solidFill>
                <a:latin typeface="Arial" panose="020B0604020202020204" pitchFamily="34" charset="0"/>
                <a:ea typeface="楷体_GB2312" pitchFamily="49" charset="-122"/>
              </a:rPr>
              <a:t>1</a:t>
            </a:r>
            <a:r>
              <a:rPr lang="zh-CN" altLang="en-US" sz="2400" b="1" kern="1200" dirty="0">
                <a:solidFill>
                  <a:srgbClr val="000066"/>
                </a:solidFill>
                <a:latin typeface="Arial" panose="020B0604020202020204" pitchFamily="34" charset="0"/>
                <a:ea typeface="楷体_GB2312" pitchFamily="49" charset="-122"/>
              </a:rPr>
              <a:t>、</a:t>
            </a:r>
            <a:r>
              <a:rPr lang="zh-CN" altLang="en-US" sz="2400" b="1" i="1" kern="1200" dirty="0">
                <a:solidFill>
                  <a:srgbClr val="000066"/>
                </a:solidFill>
                <a:latin typeface="Arial" panose="020B0604020202020204" pitchFamily="34" charset="0"/>
                <a:ea typeface="楷体_GB2312" pitchFamily="49" charset="-122"/>
              </a:rPr>
              <a:t>k</a:t>
            </a:r>
            <a:r>
              <a:rPr lang="zh-CN" altLang="en-US" sz="2400" b="1" kern="1200" baseline="-25000" dirty="0">
                <a:solidFill>
                  <a:srgbClr val="000066"/>
                </a:solidFill>
                <a:latin typeface="Arial" panose="020B0604020202020204" pitchFamily="34" charset="0"/>
                <a:ea typeface="楷体_GB2312" pitchFamily="49" charset="-122"/>
              </a:rPr>
              <a:t>0</a:t>
            </a:r>
            <a:r>
              <a:rPr lang="zh-CN" altLang="en-US" sz="2400" b="1" kern="1200" dirty="0">
                <a:solidFill>
                  <a:srgbClr val="000066"/>
                </a:solidFill>
                <a:latin typeface="Arial" panose="020B0604020202020204" pitchFamily="34" charset="0"/>
                <a:ea typeface="楷体_GB2312" pitchFamily="49" charset="-122"/>
              </a:rPr>
              <a:t>权值分别固定为5、4、2、1。</a:t>
            </a:r>
            <a:endParaRPr lang="zh-CN" altLang="en-US" sz="2400" b="1" kern="1200" dirty="0">
              <a:solidFill>
                <a:srgbClr val="000066"/>
              </a:solidFill>
              <a:latin typeface="Arial" panose="020B0604020202020204" pitchFamily="34" charset="0"/>
              <a:ea typeface="楷体_GB2312" pitchFamily="49" charset="-122"/>
            </a:endParaRPr>
          </a:p>
        </p:txBody>
      </p:sp>
      <p:sp>
        <p:nvSpPr>
          <p:cNvPr id="6148" name="TextBox 6"/>
          <p:cNvSpPr txBox="1"/>
          <p:nvPr/>
        </p:nvSpPr>
        <p:spPr>
          <a:xfrm>
            <a:off x="2819400" y="533400"/>
            <a:ext cx="5593080" cy="583565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5pPr>
          </a:lstStyle>
          <a:p>
            <a:pPr marL="0" lvl="0" indent="0" algn="l"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b="1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1.2 </a:t>
            </a:r>
            <a:r>
              <a:rPr lang="zh-CN" altLang="en-US" b="1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数制与码制</a:t>
            </a:r>
            <a:endParaRPr lang="zh-CN" altLang="en-US" b="1" dirty="0">
              <a:solidFill>
                <a:srgbClr val="FF0000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6150" name="灯片编号占位符 5"/>
          <p:cNvSpPr txBox="1">
            <a:spLocks noGrp="1"/>
          </p:cNvSpPr>
          <p:nvPr>
            <p:ph type="sldNum" sz="quarter" idx="12"/>
          </p:nvPr>
        </p:nvSpPr>
        <p:spPr>
          <a:xfrm>
            <a:off x="6553200" y="6537325"/>
            <a:ext cx="2133600" cy="244475"/>
          </a:xfrm>
        </p:spPr>
        <p:txBody>
          <a:bodyPr/>
          <a:p>
            <a:pPr marL="0" indent="0" algn="r" eaLnBrk="1" hangingPunct="1">
              <a:spcBef>
                <a:spcPct val="0"/>
              </a:spcBef>
              <a:buClrTx/>
              <a:buFontTx/>
              <a:buNone/>
            </a:pPr>
            <a:fld id="{9A0DB2DC-4C9A-4742-B13C-FB6460FD3503}" type="slidenum">
              <a:rPr lang="en-US" altLang="zh-CN" sz="1200" dirty="0">
                <a:solidFill>
                  <a:schemeClr val="bg1"/>
                </a:solidFill>
                <a:ea typeface="宋体" panose="02010600030101010101" pitchFamily="2" charset="-122"/>
              </a:rPr>
            </a:fld>
            <a:endParaRPr lang="en-US" altLang="zh-CN" sz="1200" dirty="0">
              <a:solidFill>
                <a:schemeClr val="bg1"/>
              </a:solidFill>
              <a:ea typeface="宋体" panose="02010600030101010101" pitchFamily="2" charset="-122"/>
            </a:endParaRPr>
          </a:p>
        </p:txBody>
      </p:sp>
      <p:sp>
        <p:nvSpPr>
          <p:cNvPr id="3" name="Rectangle 3"/>
          <p:cNvSpPr>
            <a:spLocks noGrp="1"/>
          </p:cNvSpPr>
          <p:nvPr/>
        </p:nvSpPr>
        <p:spPr>
          <a:xfrm>
            <a:off x="514350" y="2791460"/>
            <a:ext cx="8227060" cy="956310"/>
          </a:xfrm>
          <a:prstGeom prst="rect">
            <a:avLst/>
          </a:prstGeom>
          <a:noFill/>
          <a:ln w="9525">
            <a:noFill/>
          </a:ln>
        </p:spPr>
        <p:txBody>
          <a:bodyPr vert="horz" wrap="square" lIns="91440" tIns="45720" rIns="91440" bIns="45720" anchor="t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9pPr>
          </a:lstStyle>
          <a:p>
            <a:pPr marL="0" indent="0" eaLnBrk="1" latinLnBrk="0" hangingPunct="1">
              <a:lnSpc>
                <a:spcPct val="120000"/>
              </a:lnSpc>
              <a:spcBef>
                <a:spcPts val="0"/>
              </a:spcBef>
              <a:buNone/>
            </a:pPr>
            <a:r>
              <a:rPr lang="en-US" altLang="zh-CN" sz="2400" b="1" kern="1200" dirty="0">
                <a:solidFill>
                  <a:srgbClr val="000066"/>
                </a:solidFill>
                <a:latin typeface="Arial" panose="020B0604020202020204" pitchFamily="34" charset="0"/>
                <a:ea typeface="楷体_GB2312" pitchFamily="49" charset="-122"/>
              </a:rPr>
              <a:t>       </a:t>
            </a:r>
            <a:r>
              <a:rPr lang="zh-CN" altLang="en-US" sz="2400" b="1" kern="1200" dirty="0">
                <a:solidFill>
                  <a:srgbClr val="000066"/>
                </a:solidFill>
                <a:latin typeface="Arial" panose="020B0604020202020204" pitchFamily="34" charset="0"/>
                <a:ea typeface="楷体_GB2312" pitchFamily="49" charset="-122"/>
              </a:rPr>
              <a:t>【例1-11】5421BCD码01111001.0100表示的十进制数是多少？</a:t>
            </a:r>
            <a:endParaRPr lang="zh-CN" altLang="en-US" sz="2400" b="1" kern="1200" dirty="0">
              <a:solidFill>
                <a:srgbClr val="000066"/>
              </a:solidFill>
              <a:latin typeface="Arial" panose="020B0604020202020204" pitchFamily="34" charset="0"/>
              <a:ea typeface="楷体_GB2312" pitchFamily="49" charset="-122"/>
            </a:endParaRPr>
          </a:p>
        </p:txBody>
      </p:sp>
      <p:sp>
        <p:nvSpPr>
          <p:cNvPr id="6" name="Rectangle 3"/>
          <p:cNvSpPr>
            <a:spLocks noGrp="1"/>
          </p:cNvSpPr>
          <p:nvPr/>
        </p:nvSpPr>
        <p:spPr>
          <a:xfrm>
            <a:off x="1178560" y="1296670"/>
            <a:ext cx="5832475" cy="522605"/>
          </a:xfrm>
          <a:prstGeom prst="rect">
            <a:avLst/>
          </a:prstGeom>
          <a:noFill/>
          <a:ln w="9525">
            <a:noFill/>
          </a:ln>
        </p:spPr>
        <p:txBody>
          <a:bodyPr vert="horz" wrap="square" lIns="91440" tIns="45720" rIns="91440" bIns="45720" anchor="t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9pPr>
          </a:lstStyle>
          <a:p>
            <a:pPr marL="0" indent="0" eaLnBrk="1" latinLnBrk="0" hangingPunct="1">
              <a:lnSpc>
                <a:spcPct val="120000"/>
              </a:lnSpc>
              <a:spcBef>
                <a:spcPts val="0"/>
              </a:spcBef>
              <a:buNone/>
            </a:pPr>
            <a:r>
              <a:rPr lang="en-US" altLang="zh-CN" sz="2400" b="1" kern="1200" dirty="0">
                <a:solidFill>
                  <a:srgbClr val="070707"/>
                </a:solidFill>
                <a:latin typeface="Times New Roman" panose="02020603050405020304" charset="0"/>
                <a:ea typeface="楷体_GB2312" pitchFamily="49" charset="-122"/>
                <a:cs typeface="Times New Roman" panose="02020603050405020304" charset="0"/>
              </a:rPr>
              <a:t>(</a:t>
            </a:r>
            <a:r>
              <a:rPr lang="en-US" sz="2400" b="1" kern="1200" dirty="0">
                <a:solidFill>
                  <a:srgbClr val="070707"/>
                </a:solidFill>
                <a:latin typeface="Times New Roman" panose="02020603050405020304" charset="0"/>
                <a:ea typeface="楷体_GB2312" pitchFamily="49" charset="-122"/>
                <a:cs typeface="Times New Roman" panose="02020603050405020304" charset="0"/>
              </a:rPr>
              <a:t>2</a:t>
            </a:r>
            <a:r>
              <a:rPr lang="en-US" altLang="zh-CN" sz="2400" b="1" kern="1200" dirty="0">
                <a:solidFill>
                  <a:srgbClr val="070707"/>
                </a:solidFill>
                <a:latin typeface="Times New Roman" panose="02020603050405020304" charset="0"/>
                <a:ea typeface="楷体_GB2312" pitchFamily="49" charset="-122"/>
                <a:cs typeface="Times New Roman" panose="02020603050405020304" charset="0"/>
              </a:rPr>
              <a:t>) </a:t>
            </a:r>
            <a:r>
              <a:rPr lang="en-US" sz="2400" b="1" kern="1200" dirty="0">
                <a:solidFill>
                  <a:srgbClr val="070707"/>
                </a:solidFill>
                <a:latin typeface="Times New Roman" panose="02020603050405020304" charset="0"/>
                <a:ea typeface="楷体_GB2312" pitchFamily="49" charset="-122"/>
                <a:cs typeface="Times New Roman" panose="02020603050405020304" charset="0"/>
              </a:rPr>
              <a:t>5421BCD码</a:t>
            </a:r>
            <a:r>
              <a:rPr lang="zh-CN" altLang="en-US" sz="2400" b="1" kern="1200" dirty="0">
                <a:solidFill>
                  <a:srgbClr val="070707"/>
                </a:solidFill>
                <a:latin typeface="Times New Roman" panose="02020603050405020304" charset="0"/>
                <a:ea typeface="楷体_GB2312" pitchFamily="49" charset="-122"/>
                <a:cs typeface="Times New Roman" panose="02020603050405020304" charset="0"/>
              </a:rPr>
              <a:t>。</a:t>
            </a:r>
            <a:endParaRPr lang="zh-CN" altLang="en-US" sz="2400" b="1" kern="1200" dirty="0">
              <a:solidFill>
                <a:srgbClr val="070707"/>
              </a:solidFill>
              <a:latin typeface="Times New Roman" panose="02020603050405020304" charset="0"/>
              <a:ea typeface="楷体_GB2312" pitchFamily="49" charset="-122"/>
              <a:cs typeface="Times New Roman" panose="02020603050405020304" charset="0"/>
            </a:endParaRPr>
          </a:p>
        </p:txBody>
      </p:sp>
      <p:sp>
        <p:nvSpPr>
          <p:cNvPr id="14" name="Rectangle 3"/>
          <p:cNvSpPr>
            <a:spLocks noGrp="1"/>
          </p:cNvSpPr>
          <p:nvPr/>
        </p:nvSpPr>
        <p:spPr>
          <a:xfrm>
            <a:off x="628650" y="3665220"/>
            <a:ext cx="8173085" cy="1073150"/>
          </a:xfrm>
          <a:prstGeom prst="rect">
            <a:avLst/>
          </a:prstGeom>
          <a:noFill/>
          <a:ln w="9525">
            <a:noFill/>
          </a:ln>
        </p:spPr>
        <p:txBody>
          <a:bodyPr vert="horz" wrap="square" lIns="91440" tIns="45720" rIns="91440" bIns="45720" anchor="t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9pPr>
          </a:lstStyle>
          <a:p>
            <a:pPr marL="0" indent="0" eaLnBrk="1" latinLnBrk="0" hangingPunct="1">
              <a:lnSpc>
                <a:spcPct val="120000"/>
              </a:lnSpc>
              <a:spcBef>
                <a:spcPts val="0"/>
              </a:spcBef>
              <a:buNone/>
            </a:pPr>
            <a:r>
              <a:rPr lang="en-US" altLang="zh-CN" sz="2400" b="1" kern="1200" dirty="0">
                <a:solidFill>
                  <a:srgbClr val="000066"/>
                </a:solidFill>
                <a:latin typeface="Arial" panose="020B0604020202020204" pitchFamily="34" charset="0"/>
                <a:ea typeface="楷体_GB2312" pitchFamily="49" charset="-122"/>
              </a:rPr>
              <a:t>       </a:t>
            </a:r>
            <a:r>
              <a:rPr lang="zh-CN" altLang="en-US" sz="2400" b="1" kern="1200" dirty="0">
                <a:solidFill>
                  <a:srgbClr val="000066"/>
                </a:solidFill>
                <a:latin typeface="Arial" panose="020B0604020202020204" pitchFamily="34" charset="0"/>
                <a:ea typeface="楷体_GB2312" pitchFamily="49" charset="-122"/>
              </a:rPr>
              <a:t>解：</a:t>
            </a:r>
            <a:r>
              <a:rPr lang="zh-CN" altLang="en-US" sz="2400" b="1" dirty="0">
                <a:solidFill>
                  <a:srgbClr val="000066"/>
                </a:solidFill>
                <a:latin typeface="Arial" panose="020B0604020202020204" pitchFamily="34" charset="0"/>
                <a:ea typeface="楷体_GB2312" pitchFamily="49" charset="-122"/>
              </a:rPr>
              <a:t>只要将每4位的8421BCD分别转换成十进制数就可以得到结果，即：</a:t>
            </a:r>
            <a:endParaRPr lang="zh-CN" altLang="en-US" sz="2400" b="1" dirty="0">
              <a:solidFill>
                <a:srgbClr val="000066"/>
              </a:solidFill>
              <a:latin typeface="Arial" panose="020B0604020202020204" pitchFamily="34" charset="0"/>
              <a:ea typeface="楷体_GB2312" pitchFamily="49" charset="-122"/>
            </a:endParaRPr>
          </a:p>
        </p:txBody>
      </p:sp>
      <p:sp>
        <p:nvSpPr>
          <p:cNvPr id="16" name="Rectangle 3"/>
          <p:cNvSpPr>
            <a:spLocks noGrp="1"/>
          </p:cNvSpPr>
          <p:nvPr/>
        </p:nvSpPr>
        <p:spPr>
          <a:xfrm>
            <a:off x="1600200" y="5715000"/>
            <a:ext cx="5607050" cy="565150"/>
          </a:xfrm>
          <a:prstGeom prst="rect">
            <a:avLst/>
          </a:prstGeom>
          <a:noFill/>
          <a:ln w="9525">
            <a:noFill/>
          </a:ln>
        </p:spPr>
        <p:txBody>
          <a:bodyPr vert="horz" wrap="square" lIns="91440" tIns="45720" rIns="91440" bIns="45720" anchor="t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9pPr>
          </a:lstStyle>
          <a:p>
            <a:pPr marL="0" indent="0" eaLnBrk="1" latinLnBrk="0" hangingPunct="1">
              <a:lnSpc>
                <a:spcPct val="120000"/>
              </a:lnSpc>
              <a:spcBef>
                <a:spcPts val="0"/>
              </a:spcBef>
              <a:buNone/>
            </a:pPr>
            <a:r>
              <a:rPr lang="zh-CN" altLang="en-US" sz="2400" b="1" kern="1200" dirty="0">
                <a:solidFill>
                  <a:srgbClr val="000066"/>
                </a:solidFill>
                <a:latin typeface="Arial" panose="020B0604020202020204" pitchFamily="34" charset="0"/>
                <a:ea typeface="楷体_GB2312" pitchFamily="49" charset="-122"/>
              </a:rPr>
              <a:t> (01111001.0100)</a:t>
            </a:r>
            <a:r>
              <a:rPr lang="zh-CN" altLang="en-US" sz="2400" b="1" kern="1200" baseline="-25000" dirty="0">
                <a:solidFill>
                  <a:srgbClr val="000066"/>
                </a:solidFill>
                <a:latin typeface="Arial" panose="020B0604020202020204" pitchFamily="34" charset="0"/>
                <a:ea typeface="楷体_GB2312" pitchFamily="49" charset="-122"/>
              </a:rPr>
              <a:t>5421BCD</a:t>
            </a:r>
            <a:r>
              <a:rPr lang="zh-CN" altLang="en-US" sz="2400" b="1" kern="1200" dirty="0">
                <a:solidFill>
                  <a:srgbClr val="000066"/>
                </a:solidFill>
                <a:latin typeface="Arial" panose="020B0604020202020204" pitchFamily="34" charset="0"/>
                <a:ea typeface="楷体_GB2312" pitchFamily="49" charset="-122"/>
              </a:rPr>
              <a:t> = (76.4)</a:t>
            </a:r>
            <a:r>
              <a:rPr lang="zh-CN" altLang="en-US" sz="2400" b="1" kern="1200" baseline="-25000" dirty="0">
                <a:solidFill>
                  <a:srgbClr val="000066"/>
                </a:solidFill>
                <a:latin typeface="Arial" panose="020B0604020202020204" pitchFamily="34" charset="0"/>
                <a:ea typeface="楷体_GB2312" pitchFamily="49" charset="-122"/>
              </a:rPr>
              <a:t>10</a:t>
            </a:r>
            <a:endParaRPr lang="zh-CN" altLang="en-US" sz="2400" b="1" kern="1200" baseline="-25000" dirty="0">
              <a:solidFill>
                <a:srgbClr val="000066"/>
              </a:solidFill>
              <a:latin typeface="Arial" panose="020B0604020202020204" pitchFamily="34" charset="0"/>
              <a:ea typeface="楷体_GB2312" pitchFamily="49" charset="-122"/>
            </a:endParaRPr>
          </a:p>
        </p:txBody>
      </p:sp>
      <p:pic>
        <p:nvPicPr>
          <p:cNvPr id="4" name="图片 3" descr="B3`8X_ECV9LSHV_YF[{IJV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581400" y="4576445"/>
            <a:ext cx="2378075" cy="11176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1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7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3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14" grpId="0"/>
      <p:bldP spid="16" grpId="0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6147" name="Rectangle 3"/>
          <p:cNvSpPr>
            <a:spLocks noGrp="1"/>
          </p:cNvSpPr>
          <p:nvPr>
            <p:ph idx="1"/>
          </p:nvPr>
        </p:nvSpPr>
        <p:spPr>
          <a:xfrm>
            <a:off x="601980" y="1827530"/>
            <a:ext cx="8003540" cy="1796415"/>
          </a:xfrm>
        </p:spPr>
        <p:txBody>
          <a:bodyPr vert="horz" wrap="square" lIns="91440" tIns="45720" rIns="91440" bIns="45720" anchor="t" anchorCtr="0"/>
          <a:p>
            <a:pPr marL="0" indent="0" eaLnBrk="1" latinLnBrk="0" hangingPunct="1">
              <a:lnSpc>
                <a:spcPct val="120000"/>
              </a:lnSpc>
              <a:spcBef>
                <a:spcPts val="0"/>
              </a:spcBef>
              <a:buNone/>
            </a:pPr>
            <a:r>
              <a:rPr lang="en-US" altLang="zh-CN" sz="2400" b="1" kern="1200" dirty="0">
                <a:solidFill>
                  <a:srgbClr val="000066"/>
                </a:solidFill>
                <a:latin typeface="Arial" panose="020B0604020202020204" pitchFamily="34" charset="0"/>
                <a:ea typeface="楷体_GB2312" pitchFamily="49" charset="-122"/>
              </a:rPr>
              <a:t>       </a:t>
            </a:r>
            <a:r>
              <a:rPr lang="zh-CN" altLang="en-US" sz="2400" b="1" kern="1200" dirty="0">
                <a:solidFill>
                  <a:srgbClr val="000066"/>
                </a:solidFill>
                <a:latin typeface="Arial" panose="020B0604020202020204" pitchFamily="34" charset="0"/>
                <a:ea typeface="楷体_GB2312" pitchFamily="49" charset="-122"/>
              </a:rPr>
              <a:t>在2421BCD码中，4位二进制数</a:t>
            </a:r>
            <a:r>
              <a:rPr lang="zh-CN" altLang="en-US" sz="2400" b="1" i="1" kern="1200" dirty="0">
                <a:solidFill>
                  <a:srgbClr val="000066"/>
                </a:solidFill>
                <a:latin typeface="Arial" panose="020B0604020202020204" pitchFamily="34" charset="0"/>
                <a:ea typeface="楷体_GB2312" pitchFamily="49" charset="-122"/>
              </a:rPr>
              <a:t>k</a:t>
            </a:r>
            <a:r>
              <a:rPr lang="zh-CN" altLang="en-US" sz="2400" b="1" kern="1200" baseline="-25000" dirty="0">
                <a:solidFill>
                  <a:srgbClr val="000066"/>
                </a:solidFill>
                <a:latin typeface="Arial" panose="020B0604020202020204" pitchFamily="34" charset="0"/>
                <a:ea typeface="楷体_GB2312" pitchFamily="49" charset="-122"/>
              </a:rPr>
              <a:t>3</a:t>
            </a:r>
            <a:r>
              <a:rPr lang="zh-CN" altLang="en-US" sz="2400" b="1" kern="1200" dirty="0">
                <a:solidFill>
                  <a:srgbClr val="000066"/>
                </a:solidFill>
                <a:latin typeface="Arial" panose="020B0604020202020204" pitchFamily="34" charset="0"/>
                <a:ea typeface="楷体_GB2312" pitchFamily="49" charset="-122"/>
              </a:rPr>
              <a:t>、</a:t>
            </a:r>
            <a:r>
              <a:rPr lang="zh-CN" altLang="en-US" sz="2400" b="1" i="1" kern="1200" dirty="0">
                <a:solidFill>
                  <a:srgbClr val="000066"/>
                </a:solidFill>
                <a:latin typeface="Arial" panose="020B0604020202020204" pitchFamily="34" charset="0"/>
                <a:ea typeface="楷体_GB2312" pitchFamily="49" charset="-122"/>
              </a:rPr>
              <a:t>k</a:t>
            </a:r>
            <a:r>
              <a:rPr lang="zh-CN" altLang="en-US" sz="2400" b="1" kern="1200" baseline="-25000" dirty="0">
                <a:solidFill>
                  <a:srgbClr val="000066"/>
                </a:solidFill>
                <a:latin typeface="Arial" panose="020B0604020202020204" pitchFamily="34" charset="0"/>
                <a:ea typeface="楷体_GB2312" pitchFamily="49" charset="-122"/>
              </a:rPr>
              <a:t>2</a:t>
            </a:r>
            <a:r>
              <a:rPr lang="zh-CN" altLang="en-US" sz="2400" b="1" kern="1200" dirty="0">
                <a:solidFill>
                  <a:srgbClr val="000066"/>
                </a:solidFill>
                <a:latin typeface="Arial" panose="020B0604020202020204" pitchFamily="34" charset="0"/>
                <a:ea typeface="楷体_GB2312" pitchFamily="49" charset="-122"/>
              </a:rPr>
              <a:t>、</a:t>
            </a:r>
            <a:r>
              <a:rPr lang="zh-CN" altLang="en-US" sz="2400" b="1" i="1" kern="1200" dirty="0">
                <a:solidFill>
                  <a:srgbClr val="000066"/>
                </a:solidFill>
                <a:latin typeface="Arial" panose="020B0604020202020204" pitchFamily="34" charset="0"/>
                <a:ea typeface="楷体_GB2312" pitchFamily="49" charset="-122"/>
              </a:rPr>
              <a:t>k</a:t>
            </a:r>
            <a:r>
              <a:rPr lang="zh-CN" altLang="en-US" sz="2400" b="1" kern="1200" baseline="-25000" dirty="0">
                <a:solidFill>
                  <a:srgbClr val="000066"/>
                </a:solidFill>
                <a:latin typeface="Arial" panose="020B0604020202020204" pitchFamily="34" charset="0"/>
                <a:ea typeface="楷体_GB2312" pitchFamily="49" charset="-122"/>
              </a:rPr>
              <a:t>1</a:t>
            </a:r>
            <a:r>
              <a:rPr lang="zh-CN" altLang="en-US" sz="2400" b="1" kern="1200" dirty="0">
                <a:solidFill>
                  <a:srgbClr val="000066"/>
                </a:solidFill>
                <a:latin typeface="Arial" panose="020B0604020202020204" pitchFamily="34" charset="0"/>
                <a:ea typeface="楷体_GB2312" pitchFamily="49" charset="-122"/>
              </a:rPr>
              <a:t>、</a:t>
            </a:r>
            <a:r>
              <a:rPr lang="zh-CN" altLang="en-US" sz="2400" b="1" i="1" kern="1200" dirty="0">
                <a:solidFill>
                  <a:srgbClr val="000066"/>
                </a:solidFill>
                <a:latin typeface="Arial" panose="020B0604020202020204" pitchFamily="34" charset="0"/>
                <a:ea typeface="楷体_GB2312" pitchFamily="49" charset="-122"/>
              </a:rPr>
              <a:t>k</a:t>
            </a:r>
            <a:r>
              <a:rPr lang="zh-CN" altLang="en-US" sz="2400" b="1" kern="1200" baseline="-25000" dirty="0">
                <a:solidFill>
                  <a:srgbClr val="000066"/>
                </a:solidFill>
                <a:latin typeface="Arial" panose="020B0604020202020204" pitchFamily="34" charset="0"/>
                <a:ea typeface="楷体_GB2312" pitchFamily="49" charset="-122"/>
              </a:rPr>
              <a:t>0</a:t>
            </a:r>
            <a:r>
              <a:rPr lang="zh-CN" altLang="en-US" sz="2400" b="1" kern="1200" dirty="0">
                <a:solidFill>
                  <a:srgbClr val="000066"/>
                </a:solidFill>
                <a:latin typeface="Arial" panose="020B0604020202020204" pitchFamily="34" charset="0"/>
                <a:ea typeface="楷体_GB2312" pitchFamily="49" charset="-122"/>
              </a:rPr>
              <a:t>权值分别固定为2、4、2、1。由于</a:t>
            </a:r>
            <a:r>
              <a:rPr lang="zh-CN" altLang="en-US" sz="2400" b="1" i="1" kern="1200" dirty="0">
                <a:solidFill>
                  <a:srgbClr val="000066"/>
                </a:solidFill>
                <a:latin typeface="Arial" panose="020B0604020202020204" pitchFamily="34" charset="0"/>
                <a:ea typeface="楷体_GB2312" pitchFamily="49" charset="-122"/>
              </a:rPr>
              <a:t>k</a:t>
            </a:r>
            <a:r>
              <a:rPr lang="zh-CN" altLang="en-US" sz="2400" b="1" kern="1200" baseline="-25000" dirty="0">
                <a:solidFill>
                  <a:srgbClr val="000066"/>
                </a:solidFill>
                <a:latin typeface="Arial" panose="020B0604020202020204" pitchFamily="34" charset="0"/>
                <a:ea typeface="楷体_GB2312" pitchFamily="49" charset="-122"/>
              </a:rPr>
              <a:t>3</a:t>
            </a:r>
            <a:r>
              <a:rPr lang="zh-CN" altLang="en-US" sz="2400" b="1" kern="1200" dirty="0">
                <a:solidFill>
                  <a:srgbClr val="000066"/>
                </a:solidFill>
                <a:latin typeface="Arial" panose="020B0604020202020204" pitchFamily="34" charset="0"/>
                <a:ea typeface="楷体_GB2312" pitchFamily="49" charset="-122"/>
              </a:rPr>
              <a:t>和</a:t>
            </a:r>
            <a:r>
              <a:rPr lang="zh-CN" altLang="en-US" sz="2400" b="1" i="1" kern="1200" dirty="0">
                <a:solidFill>
                  <a:srgbClr val="000066"/>
                </a:solidFill>
                <a:latin typeface="Arial" panose="020B0604020202020204" pitchFamily="34" charset="0"/>
                <a:ea typeface="楷体_GB2312" pitchFamily="49" charset="-122"/>
              </a:rPr>
              <a:t>k</a:t>
            </a:r>
            <a:r>
              <a:rPr lang="zh-CN" altLang="en-US" sz="2400" b="1" kern="1200" baseline="-25000" dirty="0">
                <a:solidFill>
                  <a:srgbClr val="000066"/>
                </a:solidFill>
                <a:latin typeface="Arial" panose="020B0604020202020204" pitchFamily="34" charset="0"/>
                <a:ea typeface="楷体_GB2312" pitchFamily="49" charset="-122"/>
              </a:rPr>
              <a:t>1</a:t>
            </a:r>
            <a:r>
              <a:rPr lang="zh-CN" altLang="en-US" sz="2400" b="1" kern="1200" dirty="0">
                <a:solidFill>
                  <a:srgbClr val="000066"/>
                </a:solidFill>
                <a:latin typeface="Arial" panose="020B0604020202020204" pitchFamily="34" charset="0"/>
                <a:ea typeface="楷体_GB2312" pitchFamily="49" charset="-122"/>
              </a:rPr>
              <a:t>的权值相同，因此，同一个十进制数可能用两个不同的2421BCD码表示。例如：1101和0111都可以表示十进制数7。</a:t>
            </a:r>
            <a:endParaRPr lang="zh-CN" altLang="en-US" sz="2400" b="1" kern="1200" dirty="0">
              <a:solidFill>
                <a:srgbClr val="000066"/>
              </a:solidFill>
              <a:latin typeface="Arial" panose="020B0604020202020204" pitchFamily="34" charset="0"/>
              <a:ea typeface="楷体_GB2312" pitchFamily="49" charset="-122"/>
            </a:endParaRPr>
          </a:p>
        </p:txBody>
      </p:sp>
      <p:sp>
        <p:nvSpPr>
          <p:cNvPr id="6148" name="TextBox 6"/>
          <p:cNvSpPr txBox="1"/>
          <p:nvPr/>
        </p:nvSpPr>
        <p:spPr>
          <a:xfrm>
            <a:off x="2819400" y="533400"/>
            <a:ext cx="5593080" cy="583565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5pPr>
          </a:lstStyle>
          <a:p>
            <a:pPr marL="0" lvl="0" indent="0" algn="l"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b="1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1.2 </a:t>
            </a:r>
            <a:r>
              <a:rPr lang="zh-CN" altLang="en-US" b="1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数制与码制</a:t>
            </a:r>
            <a:endParaRPr lang="zh-CN" altLang="en-US" b="1" dirty="0">
              <a:solidFill>
                <a:srgbClr val="FF0000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6150" name="灯片编号占位符 5"/>
          <p:cNvSpPr txBox="1">
            <a:spLocks noGrp="1"/>
          </p:cNvSpPr>
          <p:nvPr>
            <p:ph type="sldNum" sz="quarter" idx="12"/>
          </p:nvPr>
        </p:nvSpPr>
        <p:spPr>
          <a:xfrm>
            <a:off x="6553200" y="6537325"/>
            <a:ext cx="2133600" cy="244475"/>
          </a:xfrm>
        </p:spPr>
        <p:txBody>
          <a:bodyPr/>
          <a:p>
            <a:pPr marL="0" indent="0" algn="r" eaLnBrk="1" hangingPunct="1">
              <a:spcBef>
                <a:spcPct val="0"/>
              </a:spcBef>
              <a:buClrTx/>
              <a:buFontTx/>
              <a:buNone/>
            </a:pPr>
            <a:fld id="{9A0DB2DC-4C9A-4742-B13C-FB6460FD3503}" type="slidenum">
              <a:rPr lang="en-US" altLang="zh-CN" sz="1200" dirty="0">
                <a:solidFill>
                  <a:schemeClr val="bg1"/>
                </a:solidFill>
                <a:ea typeface="宋体" panose="02010600030101010101" pitchFamily="2" charset="-122"/>
              </a:rPr>
            </a:fld>
            <a:endParaRPr lang="en-US" altLang="zh-CN" sz="1200" dirty="0">
              <a:solidFill>
                <a:schemeClr val="bg1"/>
              </a:solidFill>
              <a:ea typeface="宋体" panose="02010600030101010101" pitchFamily="2" charset="-122"/>
            </a:endParaRPr>
          </a:p>
        </p:txBody>
      </p:sp>
      <p:sp>
        <p:nvSpPr>
          <p:cNvPr id="6" name="Rectangle 3"/>
          <p:cNvSpPr>
            <a:spLocks noGrp="1"/>
          </p:cNvSpPr>
          <p:nvPr/>
        </p:nvSpPr>
        <p:spPr>
          <a:xfrm>
            <a:off x="1178560" y="1296670"/>
            <a:ext cx="5832475" cy="522605"/>
          </a:xfrm>
          <a:prstGeom prst="rect">
            <a:avLst/>
          </a:prstGeom>
          <a:noFill/>
          <a:ln w="9525">
            <a:noFill/>
          </a:ln>
        </p:spPr>
        <p:txBody>
          <a:bodyPr vert="horz" wrap="square" lIns="91440" tIns="45720" rIns="91440" bIns="45720" anchor="t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9pPr>
          </a:lstStyle>
          <a:p>
            <a:pPr marL="0" indent="0" eaLnBrk="1" latinLnBrk="0" hangingPunct="1">
              <a:lnSpc>
                <a:spcPct val="120000"/>
              </a:lnSpc>
              <a:spcBef>
                <a:spcPts val="0"/>
              </a:spcBef>
              <a:buNone/>
            </a:pPr>
            <a:r>
              <a:rPr lang="en-US" altLang="zh-CN" sz="2400" b="1" kern="1200" dirty="0">
                <a:solidFill>
                  <a:srgbClr val="070707"/>
                </a:solidFill>
                <a:latin typeface="Times New Roman" panose="02020603050405020304" charset="0"/>
                <a:ea typeface="楷体_GB2312" pitchFamily="49" charset="-122"/>
                <a:cs typeface="Times New Roman" panose="02020603050405020304" charset="0"/>
              </a:rPr>
              <a:t>(</a:t>
            </a:r>
            <a:r>
              <a:rPr lang="en-US" sz="2400" b="1" kern="1200" dirty="0">
                <a:solidFill>
                  <a:srgbClr val="070707"/>
                </a:solidFill>
                <a:latin typeface="Times New Roman" panose="02020603050405020304" charset="0"/>
                <a:ea typeface="楷体_GB2312" pitchFamily="49" charset="-122"/>
                <a:cs typeface="Times New Roman" panose="02020603050405020304" charset="0"/>
              </a:rPr>
              <a:t>3</a:t>
            </a:r>
            <a:r>
              <a:rPr lang="en-US" altLang="zh-CN" sz="2400" b="1" kern="1200" dirty="0">
                <a:solidFill>
                  <a:srgbClr val="070707"/>
                </a:solidFill>
                <a:latin typeface="Times New Roman" panose="02020603050405020304" charset="0"/>
                <a:ea typeface="楷体_GB2312" pitchFamily="49" charset="-122"/>
                <a:cs typeface="Times New Roman" panose="02020603050405020304" charset="0"/>
              </a:rPr>
              <a:t>) </a:t>
            </a:r>
            <a:r>
              <a:rPr lang="en-US" sz="2400" b="1" kern="1200" dirty="0">
                <a:solidFill>
                  <a:srgbClr val="070707"/>
                </a:solidFill>
                <a:latin typeface="Times New Roman" panose="02020603050405020304" charset="0"/>
                <a:ea typeface="楷体_GB2312" pitchFamily="49" charset="-122"/>
                <a:cs typeface="Times New Roman" panose="02020603050405020304" charset="0"/>
              </a:rPr>
              <a:t> 2421BCD码</a:t>
            </a:r>
            <a:r>
              <a:rPr lang="zh-CN" altLang="en-US" sz="2400" b="1" kern="1200" dirty="0">
                <a:solidFill>
                  <a:srgbClr val="070707"/>
                </a:solidFill>
                <a:latin typeface="Times New Roman" panose="02020603050405020304" charset="0"/>
                <a:ea typeface="楷体_GB2312" pitchFamily="49" charset="-122"/>
                <a:cs typeface="Times New Roman" panose="02020603050405020304" charset="0"/>
              </a:rPr>
              <a:t>。</a:t>
            </a:r>
            <a:endParaRPr lang="zh-CN" altLang="en-US" sz="2400" b="1" kern="1200" dirty="0">
              <a:solidFill>
                <a:srgbClr val="070707"/>
              </a:solidFill>
              <a:latin typeface="Times New Roman" panose="02020603050405020304" charset="0"/>
              <a:ea typeface="楷体_GB2312" pitchFamily="49" charset="-122"/>
              <a:cs typeface="Times New Roman" panose="02020603050405020304" charset="0"/>
            </a:endParaRPr>
          </a:p>
        </p:txBody>
      </p:sp>
      <p:sp>
        <p:nvSpPr>
          <p:cNvPr id="14" name="Rectangle 3"/>
          <p:cNvSpPr>
            <a:spLocks noGrp="1"/>
          </p:cNvSpPr>
          <p:nvPr/>
        </p:nvSpPr>
        <p:spPr>
          <a:xfrm>
            <a:off x="609600" y="4038600"/>
            <a:ext cx="8173085" cy="1073150"/>
          </a:xfrm>
          <a:prstGeom prst="rect">
            <a:avLst/>
          </a:prstGeom>
          <a:noFill/>
          <a:ln w="9525">
            <a:noFill/>
          </a:ln>
        </p:spPr>
        <p:txBody>
          <a:bodyPr vert="horz" wrap="square" lIns="91440" tIns="45720" rIns="91440" bIns="45720" anchor="t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9pPr>
          </a:lstStyle>
          <a:p>
            <a:pPr marL="0" indent="0" eaLnBrk="1" latinLnBrk="0" hangingPunct="1">
              <a:lnSpc>
                <a:spcPct val="120000"/>
              </a:lnSpc>
              <a:spcBef>
                <a:spcPts val="0"/>
              </a:spcBef>
              <a:buNone/>
            </a:pPr>
            <a:r>
              <a:rPr lang="en-US" altLang="zh-CN" sz="2400" b="1" kern="1200" dirty="0">
                <a:solidFill>
                  <a:srgbClr val="000066"/>
                </a:solidFill>
                <a:latin typeface="Arial" panose="020B0604020202020204" pitchFamily="34" charset="0"/>
                <a:ea typeface="楷体_GB2312" pitchFamily="49" charset="-122"/>
              </a:rPr>
              <a:t>       </a:t>
            </a:r>
            <a:r>
              <a:rPr lang="zh-CN" altLang="en-US" sz="2400" b="1" dirty="0">
                <a:solidFill>
                  <a:srgbClr val="000066"/>
                </a:solidFill>
                <a:latin typeface="Arial" panose="020B0604020202020204" pitchFamily="34" charset="0"/>
                <a:ea typeface="楷体_GB2312" pitchFamily="49" charset="-122"/>
              </a:rPr>
              <a:t>余3码是一种无权BCD码，它是将8421BCD码再加上0011而得到的一种编码，所以称为余3码。</a:t>
            </a:r>
            <a:endParaRPr lang="zh-CN" altLang="en-US" sz="2400" b="1" dirty="0">
              <a:solidFill>
                <a:srgbClr val="000066"/>
              </a:solidFill>
              <a:latin typeface="Arial" panose="020B0604020202020204" pitchFamily="34" charset="0"/>
              <a:ea typeface="楷体_GB2312" pitchFamily="49" charset="-122"/>
            </a:endParaRPr>
          </a:p>
        </p:txBody>
      </p:sp>
      <p:sp>
        <p:nvSpPr>
          <p:cNvPr id="16" name="Rectangle 3"/>
          <p:cNvSpPr>
            <a:spLocks noGrp="1"/>
          </p:cNvSpPr>
          <p:nvPr/>
        </p:nvSpPr>
        <p:spPr>
          <a:xfrm>
            <a:off x="1066800" y="4953000"/>
            <a:ext cx="5607050" cy="565150"/>
          </a:xfrm>
          <a:prstGeom prst="rect">
            <a:avLst/>
          </a:prstGeom>
          <a:noFill/>
          <a:ln w="9525">
            <a:noFill/>
          </a:ln>
        </p:spPr>
        <p:txBody>
          <a:bodyPr vert="horz" wrap="square" lIns="91440" tIns="45720" rIns="91440" bIns="45720" anchor="t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9pPr>
          </a:lstStyle>
          <a:p>
            <a:pPr marL="0" indent="0" eaLnBrk="1" latinLnBrk="0" hangingPunct="1">
              <a:lnSpc>
                <a:spcPct val="120000"/>
              </a:lnSpc>
              <a:spcBef>
                <a:spcPts val="0"/>
              </a:spcBef>
              <a:buNone/>
            </a:pPr>
            <a:r>
              <a:rPr lang="zh-CN" altLang="en-US" sz="2400" b="1" kern="1200" dirty="0">
                <a:solidFill>
                  <a:srgbClr val="000066"/>
                </a:solidFill>
                <a:latin typeface="Arial" panose="020B0604020202020204" pitchFamily="34" charset="0"/>
                <a:ea typeface="楷体_GB2312" pitchFamily="49" charset="-122"/>
              </a:rPr>
              <a:t> 【例1-12】求十进制数8的余3码。</a:t>
            </a:r>
            <a:endParaRPr lang="zh-CN" altLang="en-US" sz="2400" b="1" kern="1200" dirty="0">
              <a:solidFill>
                <a:srgbClr val="000066"/>
              </a:solidFill>
              <a:latin typeface="Arial" panose="020B0604020202020204" pitchFamily="34" charset="0"/>
              <a:ea typeface="楷体_GB2312" pitchFamily="49" charset="-122"/>
            </a:endParaRPr>
          </a:p>
        </p:txBody>
      </p:sp>
      <p:sp>
        <p:nvSpPr>
          <p:cNvPr id="5" name="Rectangle 3"/>
          <p:cNvSpPr>
            <a:spLocks noGrp="1"/>
          </p:cNvSpPr>
          <p:nvPr/>
        </p:nvSpPr>
        <p:spPr>
          <a:xfrm>
            <a:off x="1181100" y="3557270"/>
            <a:ext cx="2980055" cy="522605"/>
          </a:xfrm>
          <a:prstGeom prst="rect">
            <a:avLst/>
          </a:prstGeom>
          <a:noFill/>
          <a:ln w="9525">
            <a:noFill/>
          </a:ln>
        </p:spPr>
        <p:txBody>
          <a:bodyPr vert="horz" wrap="square" lIns="91440" tIns="45720" rIns="91440" bIns="45720" anchor="t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9pPr>
          </a:lstStyle>
          <a:p>
            <a:pPr marL="0" indent="0" eaLnBrk="1" latinLnBrk="0" hangingPunct="1">
              <a:lnSpc>
                <a:spcPct val="120000"/>
              </a:lnSpc>
              <a:spcBef>
                <a:spcPts val="0"/>
              </a:spcBef>
              <a:buNone/>
            </a:pPr>
            <a:r>
              <a:rPr lang="en-US" altLang="zh-CN" sz="2400" b="1" kern="1200" dirty="0">
                <a:solidFill>
                  <a:srgbClr val="070707"/>
                </a:solidFill>
                <a:latin typeface="Times New Roman" panose="02020603050405020304" charset="0"/>
                <a:ea typeface="楷体_GB2312" pitchFamily="49" charset="-122"/>
                <a:cs typeface="Times New Roman" panose="02020603050405020304" charset="0"/>
              </a:rPr>
              <a:t>(</a:t>
            </a:r>
            <a:r>
              <a:rPr lang="en-US" sz="2400" b="1" kern="1200" dirty="0">
                <a:solidFill>
                  <a:srgbClr val="070707"/>
                </a:solidFill>
                <a:latin typeface="Times New Roman" panose="02020603050405020304" charset="0"/>
                <a:ea typeface="楷体_GB2312" pitchFamily="49" charset="-122"/>
                <a:cs typeface="Times New Roman" panose="02020603050405020304" charset="0"/>
              </a:rPr>
              <a:t>4</a:t>
            </a:r>
            <a:r>
              <a:rPr lang="en-US" altLang="zh-CN" sz="2400" b="1" kern="1200" dirty="0">
                <a:solidFill>
                  <a:srgbClr val="070707"/>
                </a:solidFill>
                <a:latin typeface="Times New Roman" panose="02020603050405020304" charset="0"/>
                <a:ea typeface="楷体_GB2312" pitchFamily="49" charset="-122"/>
                <a:cs typeface="Times New Roman" panose="02020603050405020304" charset="0"/>
              </a:rPr>
              <a:t>) </a:t>
            </a:r>
            <a:r>
              <a:rPr lang="en-US" sz="2400" b="1" kern="1200" dirty="0">
                <a:solidFill>
                  <a:srgbClr val="070707"/>
                </a:solidFill>
                <a:latin typeface="Times New Roman" panose="02020603050405020304" charset="0"/>
                <a:ea typeface="楷体_GB2312" pitchFamily="49" charset="-122"/>
                <a:cs typeface="Times New Roman" panose="02020603050405020304" charset="0"/>
              </a:rPr>
              <a:t> </a:t>
            </a:r>
            <a:r>
              <a:rPr lang="en-US" sz="2400" b="1" dirty="0">
                <a:solidFill>
                  <a:srgbClr val="070707"/>
                </a:solidFill>
                <a:latin typeface="Times New Roman" panose="02020603050405020304" charset="0"/>
                <a:ea typeface="楷体_GB2312" pitchFamily="49" charset="-122"/>
                <a:cs typeface="Times New Roman" panose="02020603050405020304" charset="0"/>
                <a:sym typeface="+mn-ea"/>
              </a:rPr>
              <a:t>余3码</a:t>
            </a:r>
            <a:r>
              <a:rPr lang="en-US" sz="2400" b="1" kern="1200" dirty="0">
                <a:solidFill>
                  <a:srgbClr val="070707"/>
                </a:solidFill>
                <a:latin typeface="Times New Roman" panose="02020603050405020304" charset="0"/>
                <a:ea typeface="楷体_GB2312" pitchFamily="49" charset="-122"/>
                <a:cs typeface="Times New Roman" panose="02020603050405020304" charset="0"/>
              </a:rPr>
              <a:t>。</a:t>
            </a:r>
            <a:endParaRPr lang="en-US" sz="2400" b="1" kern="1200" dirty="0">
              <a:solidFill>
                <a:srgbClr val="070707"/>
              </a:solidFill>
              <a:latin typeface="Times New Roman" panose="02020603050405020304" charset="0"/>
              <a:ea typeface="楷体_GB2312" pitchFamily="49" charset="-122"/>
              <a:cs typeface="Times New Roman" panose="02020603050405020304" charset="0"/>
            </a:endParaRPr>
          </a:p>
        </p:txBody>
      </p:sp>
      <p:sp>
        <p:nvSpPr>
          <p:cNvPr id="7" name="Rectangle 3"/>
          <p:cNvSpPr>
            <a:spLocks noGrp="1"/>
          </p:cNvSpPr>
          <p:nvPr/>
        </p:nvSpPr>
        <p:spPr>
          <a:xfrm>
            <a:off x="612140" y="5461000"/>
            <a:ext cx="8173085" cy="614680"/>
          </a:xfrm>
          <a:prstGeom prst="rect">
            <a:avLst/>
          </a:prstGeom>
          <a:noFill/>
          <a:ln w="9525">
            <a:noFill/>
          </a:ln>
        </p:spPr>
        <p:txBody>
          <a:bodyPr vert="horz" wrap="square" lIns="91440" tIns="45720" rIns="91440" bIns="45720" anchor="t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9pPr>
          </a:lstStyle>
          <a:p>
            <a:pPr marL="0" indent="0" eaLnBrk="1" latinLnBrk="0" hangingPunct="1">
              <a:lnSpc>
                <a:spcPct val="120000"/>
              </a:lnSpc>
              <a:spcBef>
                <a:spcPts val="0"/>
              </a:spcBef>
              <a:buNone/>
            </a:pPr>
            <a:r>
              <a:rPr lang="en-US" altLang="zh-CN" sz="2400" b="1" kern="1200" dirty="0">
                <a:solidFill>
                  <a:srgbClr val="000066"/>
                </a:solidFill>
                <a:latin typeface="Arial" panose="020B0604020202020204" pitchFamily="34" charset="0"/>
                <a:ea typeface="楷体_GB2312" pitchFamily="49" charset="-122"/>
              </a:rPr>
              <a:t>       </a:t>
            </a:r>
            <a:r>
              <a:rPr lang="zh-CN" altLang="en-US" sz="2400" b="1" dirty="0">
                <a:solidFill>
                  <a:srgbClr val="000066"/>
                </a:solidFill>
                <a:latin typeface="Arial" panose="020B0604020202020204" pitchFamily="34" charset="0"/>
                <a:ea typeface="楷体_GB2312" pitchFamily="49" charset="-122"/>
              </a:rPr>
              <a:t>解：(8)</a:t>
            </a:r>
            <a:r>
              <a:rPr lang="zh-CN" altLang="en-US" sz="2400" b="1" baseline="-25000" dirty="0">
                <a:solidFill>
                  <a:srgbClr val="000066"/>
                </a:solidFill>
                <a:latin typeface="Arial" panose="020B0604020202020204" pitchFamily="34" charset="0"/>
                <a:ea typeface="楷体_GB2312" pitchFamily="49" charset="-122"/>
              </a:rPr>
              <a:t>10</a:t>
            </a:r>
            <a:r>
              <a:rPr lang="zh-CN" altLang="en-US" sz="2400" b="1" dirty="0">
                <a:solidFill>
                  <a:srgbClr val="000066"/>
                </a:solidFill>
                <a:latin typeface="Arial" panose="020B0604020202020204" pitchFamily="34" charset="0"/>
                <a:ea typeface="楷体_GB2312" pitchFamily="49" charset="-122"/>
              </a:rPr>
              <a:t> = (1000)</a:t>
            </a:r>
            <a:r>
              <a:rPr lang="zh-CN" altLang="en-US" sz="2400" b="1" baseline="-25000" dirty="0">
                <a:solidFill>
                  <a:srgbClr val="000066"/>
                </a:solidFill>
                <a:latin typeface="Arial" panose="020B0604020202020204" pitchFamily="34" charset="0"/>
                <a:ea typeface="楷体_GB2312" pitchFamily="49" charset="-122"/>
              </a:rPr>
              <a:t>8421BCD </a:t>
            </a:r>
            <a:r>
              <a:rPr lang="zh-CN" altLang="en-US" sz="2400" b="1" dirty="0">
                <a:solidFill>
                  <a:srgbClr val="000066"/>
                </a:solidFill>
                <a:latin typeface="Arial" panose="020B0604020202020204" pitchFamily="34" charset="0"/>
                <a:ea typeface="楷体_GB2312" pitchFamily="49" charset="-122"/>
              </a:rPr>
              <a:t>+ 0011 = (1011)</a:t>
            </a:r>
            <a:r>
              <a:rPr lang="zh-CN" altLang="en-US" sz="2400" b="1" baseline="-25000" dirty="0">
                <a:solidFill>
                  <a:srgbClr val="000066"/>
                </a:solidFill>
                <a:latin typeface="Arial" panose="020B0604020202020204" pitchFamily="34" charset="0"/>
                <a:ea typeface="楷体_GB2312" pitchFamily="49" charset="-122"/>
              </a:rPr>
              <a:t>余3</a:t>
            </a:r>
            <a:endParaRPr lang="zh-CN" altLang="en-US" sz="2400" b="1" baseline="-25000" dirty="0">
              <a:solidFill>
                <a:srgbClr val="000066"/>
              </a:solidFill>
              <a:latin typeface="Arial" panose="020B0604020202020204" pitchFamily="34" charset="0"/>
              <a:ea typeface="楷体_GB2312" pitchFamily="49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1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/>
      <p:bldP spid="16" grpId="0"/>
      <p:bldP spid="7" grpId="0"/>
      <p:bldP spid="5" grpId="0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8" name="图片 7" descr="{)2Z$$@OCOWYDNJ77F1R0JY"/>
          <p:cNvPicPr>
            <a:picLocks noChangeAspect="1"/>
          </p:cNvPicPr>
          <p:nvPr/>
        </p:nvPicPr>
        <p:blipFill>
          <a:blip r:embed="rId1"/>
          <a:srcRect t="24994"/>
          <a:stretch>
            <a:fillRect/>
          </a:stretch>
        </p:blipFill>
        <p:spPr>
          <a:xfrm>
            <a:off x="742315" y="3813810"/>
            <a:ext cx="7562850" cy="2021840"/>
          </a:xfrm>
          <a:prstGeom prst="rect">
            <a:avLst/>
          </a:prstGeom>
        </p:spPr>
      </p:pic>
      <p:sp>
        <p:nvSpPr>
          <p:cNvPr id="6148" name="TextBox 6"/>
          <p:cNvSpPr txBox="1"/>
          <p:nvPr/>
        </p:nvSpPr>
        <p:spPr>
          <a:xfrm>
            <a:off x="2819400" y="533400"/>
            <a:ext cx="5593080" cy="583565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5pPr>
          </a:lstStyle>
          <a:p>
            <a:pPr marL="0" lvl="0" indent="0" algn="l"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b="1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1.2 </a:t>
            </a:r>
            <a:r>
              <a:rPr lang="zh-CN" altLang="en-US" b="1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数制与码制</a:t>
            </a:r>
            <a:endParaRPr lang="zh-CN" altLang="en-US" b="1" dirty="0">
              <a:solidFill>
                <a:srgbClr val="FF0000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6150" name="灯片编号占位符 5"/>
          <p:cNvSpPr txBox="1">
            <a:spLocks noGrp="1"/>
          </p:cNvSpPr>
          <p:nvPr>
            <p:ph type="sldNum" sz="quarter" idx="12"/>
          </p:nvPr>
        </p:nvSpPr>
        <p:spPr>
          <a:xfrm>
            <a:off x="6553200" y="6537325"/>
            <a:ext cx="2133600" cy="244475"/>
          </a:xfrm>
        </p:spPr>
        <p:txBody>
          <a:bodyPr/>
          <a:p>
            <a:pPr marL="0" indent="0" algn="r" eaLnBrk="1" hangingPunct="1">
              <a:spcBef>
                <a:spcPct val="0"/>
              </a:spcBef>
              <a:buClrTx/>
              <a:buFontTx/>
              <a:buNone/>
            </a:pPr>
            <a:fld id="{9A0DB2DC-4C9A-4742-B13C-FB6460FD3503}" type="slidenum">
              <a:rPr lang="en-US" altLang="zh-CN" sz="1200" dirty="0">
                <a:solidFill>
                  <a:schemeClr val="bg1"/>
                </a:solidFill>
                <a:ea typeface="宋体" panose="02010600030101010101" pitchFamily="2" charset="-122"/>
              </a:rPr>
            </a:fld>
            <a:endParaRPr lang="en-US" altLang="zh-CN" sz="1200" dirty="0">
              <a:solidFill>
                <a:schemeClr val="bg1"/>
              </a:solidFill>
              <a:ea typeface="宋体" panose="02010600030101010101" pitchFamily="2" charset="-122"/>
            </a:endParaRPr>
          </a:p>
        </p:txBody>
      </p:sp>
      <p:pic>
        <p:nvPicPr>
          <p:cNvPr id="7" name="图片 6" descr="(]C$G_%E8%]G`@D(X]`$REO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2000" y="1524000"/>
            <a:ext cx="7524750" cy="234315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6147" name="Rectangle 3"/>
          <p:cNvSpPr>
            <a:spLocks noGrp="1"/>
          </p:cNvSpPr>
          <p:nvPr>
            <p:ph idx="1"/>
          </p:nvPr>
        </p:nvSpPr>
        <p:spPr>
          <a:xfrm>
            <a:off x="685800" y="1600200"/>
            <a:ext cx="8003540" cy="959485"/>
          </a:xfrm>
        </p:spPr>
        <p:txBody>
          <a:bodyPr vert="horz" wrap="square" lIns="91440" tIns="45720" rIns="91440" bIns="45720" anchor="t" anchorCtr="0"/>
          <a:p>
            <a:pPr marL="0" indent="0" eaLnBrk="1" latinLnBrk="0" hangingPunct="1">
              <a:lnSpc>
                <a:spcPct val="120000"/>
              </a:lnSpc>
              <a:spcBef>
                <a:spcPts val="0"/>
              </a:spcBef>
              <a:buNone/>
            </a:pPr>
            <a:r>
              <a:rPr lang="en-US" altLang="zh-CN" sz="2400" b="1" kern="1200" dirty="0">
                <a:solidFill>
                  <a:srgbClr val="000066"/>
                </a:solidFill>
                <a:latin typeface="Arial" panose="020B0604020202020204" pitchFamily="34" charset="0"/>
                <a:ea typeface="楷体_GB2312" pitchFamily="49" charset="-122"/>
              </a:rPr>
              <a:t>       </a:t>
            </a:r>
            <a:r>
              <a:rPr lang="zh-CN" altLang="en-US" sz="2400" b="1" kern="1200" dirty="0">
                <a:solidFill>
                  <a:srgbClr val="000066"/>
                </a:solidFill>
                <a:latin typeface="Arial" panose="020B0604020202020204" pitchFamily="34" charset="0"/>
                <a:ea typeface="楷体_GB2312" pitchFamily="49" charset="-122"/>
              </a:rPr>
              <a:t>格雷码是一种无权码，相邻的两个代码之间只有1位不同，4位二进制码和格雷码的对应关系如表1-4所示。</a:t>
            </a:r>
            <a:endParaRPr lang="zh-CN" altLang="en-US" sz="2400" b="1" kern="1200" dirty="0">
              <a:solidFill>
                <a:srgbClr val="000066"/>
              </a:solidFill>
              <a:latin typeface="Arial" panose="020B0604020202020204" pitchFamily="34" charset="0"/>
              <a:ea typeface="楷体_GB2312" pitchFamily="49" charset="-122"/>
            </a:endParaRPr>
          </a:p>
        </p:txBody>
      </p:sp>
      <p:sp>
        <p:nvSpPr>
          <p:cNvPr id="6148" name="TextBox 6"/>
          <p:cNvSpPr txBox="1"/>
          <p:nvPr/>
        </p:nvSpPr>
        <p:spPr>
          <a:xfrm>
            <a:off x="2819400" y="533400"/>
            <a:ext cx="5593080" cy="583565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5pPr>
          </a:lstStyle>
          <a:p>
            <a:pPr marL="0" lvl="0" indent="0" algn="l"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b="1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1.2 </a:t>
            </a:r>
            <a:r>
              <a:rPr lang="zh-CN" altLang="en-US" b="1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数制与码制</a:t>
            </a:r>
            <a:endParaRPr lang="zh-CN" altLang="en-US" b="1" dirty="0">
              <a:solidFill>
                <a:srgbClr val="FF0000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6150" name="灯片编号占位符 5"/>
          <p:cNvSpPr txBox="1">
            <a:spLocks noGrp="1"/>
          </p:cNvSpPr>
          <p:nvPr>
            <p:ph type="sldNum" sz="quarter" idx="12"/>
          </p:nvPr>
        </p:nvSpPr>
        <p:spPr>
          <a:xfrm>
            <a:off x="6553200" y="6537325"/>
            <a:ext cx="2133600" cy="244475"/>
          </a:xfrm>
        </p:spPr>
        <p:txBody>
          <a:bodyPr/>
          <a:p>
            <a:pPr marL="0" indent="0" algn="r" eaLnBrk="1" hangingPunct="1">
              <a:spcBef>
                <a:spcPct val="0"/>
              </a:spcBef>
              <a:buClrTx/>
              <a:buFontTx/>
              <a:buNone/>
            </a:pPr>
            <a:fld id="{9A0DB2DC-4C9A-4742-B13C-FB6460FD3503}" type="slidenum">
              <a:rPr lang="en-US" altLang="zh-CN" sz="1200" dirty="0">
                <a:solidFill>
                  <a:schemeClr val="bg1"/>
                </a:solidFill>
                <a:ea typeface="宋体" panose="02010600030101010101" pitchFamily="2" charset="-122"/>
              </a:rPr>
            </a:fld>
            <a:endParaRPr lang="en-US" altLang="zh-CN" sz="1200" dirty="0">
              <a:solidFill>
                <a:schemeClr val="bg1"/>
              </a:solidFill>
              <a:ea typeface="宋体" panose="02010600030101010101" pitchFamily="2" charset="-122"/>
            </a:endParaRPr>
          </a:p>
        </p:txBody>
      </p:sp>
      <p:sp>
        <p:nvSpPr>
          <p:cNvPr id="2" name="Rectangle 3"/>
          <p:cNvSpPr>
            <a:spLocks noGrp="1"/>
          </p:cNvSpPr>
          <p:nvPr/>
        </p:nvSpPr>
        <p:spPr>
          <a:xfrm>
            <a:off x="1295400" y="1143000"/>
            <a:ext cx="8003540" cy="789940"/>
          </a:xfrm>
          <a:prstGeom prst="rect">
            <a:avLst/>
          </a:prstGeom>
          <a:noFill/>
          <a:ln w="9525">
            <a:noFill/>
          </a:ln>
        </p:spPr>
        <p:txBody>
          <a:bodyPr vert="horz" wrap="square" lIns="91440" tIns="45720" rIns="91440" bIns="45720" anchor="t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9pPr>
          </a:lstStyle>
          <a:p>
            <a:pPr marL="0" indent="0" eaLnBrk="1" latinLnBrk="0" hangingPunct="1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2400" b="1" kern="1200" dirty="0">
                <a:solidFill>
                  <a:srgbClr val="FE09D6"/>
                </a:solidFill>
                <a:latin typeface="Times New Roman" panose="02020603050405020304" charset="0"/>
                <a:ea typeface="楷体_GB2312" pitchFamily="49" charset="-122"/>
                <a:cs typeface="Times New Roman" panose="02020603050405020304" charset="0"/>
              </a:rPr>
              <a:t>2. 格雷码</a:t>
            </a:r>
            <a:endParaRPr lang="en-US" sz="2400" b="1" kern="1200" dirty="0">
              <a:solidFill>
                <a:srgbClr val="FE09D6"/>
              </a:solidFill>
              <a:latin typeface="Times New Roman" panose="02020603050405020304" charset="0"/>
              <a:ea typeface="楷体_GB2312" pitchFamily="49" charset="-122"/>
              <a:cs typeface="Times New Roman" panose="02020603050405020304" charset="0"/>
            </a:endParaRPr>
          </a:p>
        </p:txBody>
      </p:sp>
      <p:pic>
        <p:nvPicPr>
          <p:cNvPr id="6" name="图片 5" descr="SJVW]ELQ~@%Z7TJ@LUC09AB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2"/>
          <a:stretch>
            <a:fillRect/>
          </a:stretch>
        </p:blipFill>
        <p:spPr>
          <a:xfrm>
            <a:off x="914400" y="2667000"/>
            <a:ext cx="7691755" cy="36449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8" presetClass="entr" presetSubtype="1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6147" name="Rectangle 3"/>
          <p:cNvSpPr>
            <a:spLocks noGrp="1"/>
          </p:cNvSpPr>
          <p:nvPr>
            <p:ph idx="1"/>
          </p:nvPr>
        </p:nvSpPr>
        <p:spPr>
          <a:xfrm>
            <a:off x="685800" y="1752600"/>
            <a:ext cx="8003540" cy="2734945"/>
          </a:xfrm>
        </p:spPr>
        <p:txBody>
          <a:bodyPr vert="horz" wrap="square" lIns="91440" tIns="45720" rIns="91440" bIns="45720" anchor="t" anchorCtr="0"/>
          <a:p>
            <a:pPr marL="0" indent="0" eaLnBrk="1" latinLnBrk="0" hangingPunct="1">
              <a:lnSpc>
                <a:spcPct val="120000"/>
              </a:lnSpc>
              <a:spcBef>
                <a:spcPts val="0"/>
              </a:spcBef>
              <a:buNone/>
            </a:pPr>
            <a:r>
              <a:rPr lang="en-US" altLang="zh-CN" sz="2400" b="1" kern="1200" dirty="0">
                <a:solidFill>
                  <a:srgbClr val="000066"/>
                </a:solidFill>
                <a:latin typeface="Arial" panose="020B0604020202020204" pitchFamily="34" charset="0"/>
                <a:ea typeface="楷体_GB2312" pitchFamily="49" charset="-122"/>
              </a:rPr>
              <a:t>       </a:t>
            </a:r>
            <a:r>
              <a:rPr lang="zh-CN" altLang="en-US" sz="2400" b="1" kern="1200" dirty="0">
                <a:solidFill>
                  <a:srgbClr val="000066"/>
                </a:solidFill>
                <a:latin typeface="Arial" panose="020B0604020202020204" pitchFamily="34" charset="0"/>
                <a:ea typeface="楷体_GB2312" pitchFamily="49" charset="-122"/>
              </a:rPr>
              <a:t>采用格雷码表示系统状态时，从一个状态变换到下一个状态仅需改变1位，而采用其他编码进行状态转换时改变的位数可能超过1位，因此，采用格雷码表示时系统出错的可能性会降低。例如从十进制数7变为8时，采用二进制码表示时需要改变4位，而采用格雷码只需将最高位由0变为1即可。</a:t>
            </a:r>
            <a:endParaRPr lang="zh-CN" altLang="en-US" sz="2400" b="1" kern="1200" dirty="0">
              <a:solidFill>
                <a:srgbClr val="000066"/>
              </a:solidFill>
              <a:latin typeface="Arial" panose="020B0604020202020204" pitchFamily="34" charset="0"/>
              <a:ea typeface="楷体_GB2312" pitchFamily="49" charset="-122"/>
            </a:endParaRPr>
          </a:p>
        </p:txBody>
      </p:sp>
      <p:sp>
        <p:nvSpPr>
          <p:cNvPr id="6148" name="TextBox 6"/>
          <p:cNvSpPr txBox="1"/>
          <p:nvPr/>
        </p:nvSpPr>
        <p:spPr>
          <a:xfrm>
            <a:off x="2819400" y="533400"/>
            <a:ext cx="5593080" cy="583565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5pPr>
          </a:lstStyle>
          <a:p>
            <a:pPr marL="0" lvl="0" indent="0" algn="l"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b="1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1.2 </a:t>
            </a:r>
            <a:r>
              <a:rPr lang="zh-CN" altLang="en-US" b="1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数制与码制</a:t>
            </a:r>
            <a:endParaRPr lang="zh-CN" altLang="en-US" b="1" dirty="0">
              <a:solidFill>
                <a:srgbClr val="FF0000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6150" name="灯片编号占位符 5"/>
          <p:cNvSpPr txBox="1">
            <a:spLocks noGrp="1"/>
          </p:cNvSpPr>
          <p:nvPr>
            <p:ph type="sldNum" sz="quarter" idx="12"/>
          </p:nvPr>
        </p:nvSpPr>
        <p:spPr>
          <a:xfrm>
            <a:off x="6553200" y="6537325"/>
            <a:ext cx="2133600" cy="244475"/>
          </a:xfrm>
        </p:spPr>
        <p:txBody>
          <a:bodyPr/>
          <a:p>
            <a:pPr marL="0" indent="0" algn="r" eaLnBrk="1" hangingPunct="1">
              <a:spcBef>
                <a:spcPct val="0"/>
              </a:spcBef>
              <a:buClrTx/>
              <a:buFontTx/>
              <a:buNone/>
            </a:pPr>
            <a:fld id="{9A0DB2DC-4C9A-4742-B13C-FB6460FD3503}" type="slidenum">
              <a:rPr lang="en-US" altLang="zh-CN" sz="1200" dirty="0">
                <a:solidFill>
                  <a:schemeClr val="bg1"/>
                </a:solidFill>
                <a:ea typeface="宋体" panose="02010600030101010101" pitchFamily="2" charset="-122"/>
              </a:rPr>
            </a:fld>
            <a:endParaRPr lang="en-US" altLang="zh-CN" sz="1200" dirty="0">
              <a:solidFill>
                <a:schemeClr val="bg1"/>
              </a:solidFill>
              <a:ea typeface="宋体" panose="02010600030101010101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6147" name="Rectangle 3"/>
          <p:cNvSpPr>
            <a:spLocks noGrp="1"/>
          </p:cNvSpPr>
          <p:nvPr>
            <p:ph idx="1"/>
          </p:nvPr>
        </p:nvSpPr>
        <p:spPr>
          <a:xfrm>
            <a:off x="601980" y="1827530"/>
            <a:ext cx="8003540" cy="1449705"/>
          </a:xfrm>
        </p:spPr>
        <p:txBody>
          <a:bodyPr vert="horz" wrap="square" lIns="91440" tIns="45720" rIns="91440" bIns="45720" anchor="t" anchorCtr="0"/>
          <a:p>
            <a:pPr marL="0" indent="0" eaLnBrk="1" latinLnBrk="0" hangingPunct="1">
              <a:lnSpc>
                <a:spcPct val="120000"/>
              </a:lnSpc>
              <a:spcBef>
                <a:spcPts val="0"/>
              </a:spcBef>
              <a:buNone/>
            </a:pPr>
            <a:r>
              <a:rPr lang="en-US" altLang="zh-CN" sz="2400" b="1" kern="1200" dirty="0">
                <a:solidFill>
                  <a:srgbClr val="000066"/>
                </a:solidFill>
                <a:latin typeface="Arial" panose="020B0604020202020204" pitchFamily="34" charset="0"/>
                <a:ea typeface="楷体_GB2312" pitchFamily="49" charset="-122"/>
              </a:rPr>
              <a:t>       </a:t>
            </a:r>
            <a:r>
              <a:rPr lang="zh-CN" altLang="en-US" sz="2400" b="1" kern="1200" dirty="0">
                <a:solidFill>
                  <a:srgbClr val="000066"/>
                </a:solidFill>
                <a:latin typeface="Arial" panose="020B0604020202020204" pitchFamily="34" charset="0"/>
                <a:ea typeface="楷体_GB2312" pitchFamily="49" charset="-122"/>
              </a:rPr>
              <a:t>① 格雷码最左边的最高位与二进制码的最高位相同。</a:t>
            </a:r>
            <a:r>
              <a:rPr lang="en-US" altLang="zh-CN" sz="2400" b="1" kern="1200" dirty="0">
                <a:solidFill>
                  <a:srgbClr val="000066"/>
                </a:solidFill>
                <a:latin typeface="Arial" panose="020B0604020202020204" pitchFamily="34" charset="0"/>
                <a:ea typeface="楷体_GB2312" pitchFamily="49" charset="-122"/>
              </a:rPr>
              <a:t>  </a:t>
            </a:r>
            <a:endParaRPr lang="en-US" altLang="zh-CN" sz="2400" b="1" kern="1200" dirty="0">
              <a:solidFill>
                <a:srgbClr val="000066"/>
              </a:solidFill>
              <a:latin typeface="Arial" panose="020B0604020202020204" pitchFamily="34" charset="0"/>
              <a:ea typeface="楷体_GB2312" pitchFamily="49" charset="-122"/>
            </a:endParaRPr>
          </a:p>
          <a:p>
            <a:pPr marL="0" indent="0" eaLnBrk="1" latinLnBrk="0" hangingPunct="1">
              <a:lnSpc>
                <a:spcPct val="120000"/>
              </a:lnSpc>
              <a:spcBef>
                <a:spcPts val="0"/>
              </a:spcBef>
              <a:buNone/>
            </a:pPr>
            <a:r>
              <a:rPr lang="en-US" altLang="zh-CN" sz="2400" b="1" kern="1200" dirty="0">
                <a:solidFill>
                  <a:srgbClr val="000066"/>
                </a:solidFill>
                <a:latin typeface="Arial" panose="020B0604020202020204" pitchFamily="34" charset="0"/>
                <a:ea typeface="楷体_GB2312" pitchFamily="49" charset="-122"/>
              </a:rPr>
              <a:t>       </a:t>
            </a:r>
            <a:r>
              <a:rPr lang="zh-CN" altLang="en-US" sz="2400" b="1" kern="1200" dirty="0">
                <a:solidFill>
                  <a:srgbClr val="000066"/>
                </a:solidFill>
                <a:latin typeface="Arial" panose="020B0604020202020204" pitchFamily="34" charset="0"/>
                <a:ea typeface="楷体_GB2312" pitchFamily="49" charset="-122"/>
              </a:rPr>
              <a:t>② 从左至右，依次将相邻的2位二进制码相加结果 (若有进位则舍去) 作为格雷码的下一位。</a:t>
            </a:r>
            <a:endParaRPr lang="zh-CN" altLang="en-US" sz="2400" b="1" kern="1200" dirty="0">
              <a:solidFill>
                <a:srgbClr val="000066"/>
              </a:solidFill>
              <a:latin typeface="Arial" panose="020B0604020202020204" pitchFamily="34" charset="0"/>
              <a:ea typeface="楷体_GB2312" pitchFamily="49" charset="-122"/>
            </a:endParaRPr>
          </a:p>
        </p:txBody>
      </p:sp>
      <p:sp>
        <p:nvSpPr>
          <p:cNvPr id="6148" name="TextBox 6"/>
          <p:cNvSpPr txBox="1"/>
          <p:nvPr/>
        </p:nvSpPr>
        <p:spPr>
          <a:xfrm>
            <a:off x="2819400" y="533400"/>
            <a:ext cx="5593080" cy="583565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5pPr>
          </a:lstStyle>
          <a:p>
            <a:pPr marL="0" lvl="0" indent="0" algn="l"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b="1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1.2 </a:t>
            </a:r>
            <a:r>
              <a:rPr lang="zh-CN" altLang="en-US" b="1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数制与码制</a:t>
            </a:r>
            <a:endParaRPr lang="zh-CN" altLang="en-US" b="1" dirty="0">
              <a:solidFill>
                <a:srgbClr val="FF0000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6150" name="灯片编号占位符 5"/>
          <p:cNvSpPr txBox="1">
            <a:spLocks noGrp="1"/>
          </p:cNvSpPr>
          <p:nvPr>
            <p:ph type="sldNum" sz="quarter" idx="12"/>
          </p:nvPr>
        </p:nvSpPr>
        <p:spPr>
          <a:xfrm>
            <a:off x="6553200" y="6537325"/>
            <a:ext cx="2133600" cy="244475"/>
          </a:xfrm>
        </p:spPr>
        <p:txBody>
          <a:bodyPr/>
          <a:p>
            <a:pPr marL="0" indent="0" algn="r" eaLnBrk="1" hangingPunct="1">
              <a:spcBef>
                <a:spcPct val="0"/>
              </a:spcBef>
              <a:buClrTx/>
              <a:buFontTx/>
              <a:buNone/>
            </a:pPr>
            <a:fld id="{9A0DB2DC-4C9A-4742-B13C-FB6460FD3503}" type="slidenum">
              <a:rPr lang="en-US" altLang="zh-CN" sz="1200" dirty="0">
                <a:solidFill>
                  <a:schemeClr val="bg1"/>
                </a:solidFill>
                <a:ea typeface="宋体" panose="02010600030101010101" pitchFamily="2" charset="-122"/>
              </a:rPr>
            </a:fld>
            <a:endParaRPr lang="en-US" altLang="zh-CN" sz="1200" dirty="0">
              <a:solidFill>
                <a:schemeClr val="bg1"/>
              </a:solidFill>
              <a:ea typeface="宋体" panose="02010600030101010101" pitchFamily="2" charset="-122"/>
            </a:endParaRPr>
          </a:p>
        </p:txBody>
      </p:sp>
      <p:sp>
        <p:nvSpPr>
          <p:cNvPr id="6" name="Rectangle 3"/>
          <p:cNvSpPr>
            <a:spLocks noGrp="1"/>
          </p:cNvSpPr>
          <p:nvPr/>
        </p:nvSpPr>
        <p:spPr>
          <a:xfrm>
            <a:off x="1178560" y="1296670"/>
            <a:ext cx="5832475" cy="522605"/>
          </a:xfrm>
          <a:prstGeom prst="rect">
            <a:avLst/>
          </a:prstGeom>
          <a:noFill/>
          <a:ln w="9525">
            <a:noFill/>
          </a:ln>
        </p:spPr>
        <p:txBody>
          <a:bodyPr vert="horz" wrap="square" lIns="91440" tIns="45720" rIns="91440" bIns="45720" anchor="t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9pPr>
          </a:lstStyle>
          <a:p>
            <a:pPr marL="0" indent="0" eaLnBrk="1" latinLnBrk="0" hangingPunct="1">
              <a:lnSpc>
                <a:spcPct val="120000"/>
              </a:lnSpc>
              <a:spcBef>
                <a:spcPts val="0"/>
              </a:spcBef>
              <a:buNone/>
            </a:pPr>
            <a:r>
              <a:rPr lang="en-US" altLang="zh-CN" sz="2400" b="1" kern="1200" dirty="0">
                <a:solidFill>
                  <a:srgbClr val="070707"/>
                </a:solidFill>
                <a:latin typeface="Times New Roman" panose="02020603050405020304" charset="0"/>
                <a:ea typeface="楷体_GB2312" pitchFamily="49" charset="-122"/>
                <a:cs typeface="Times New Roman" panose="02020603050405020304" charset="0"/>
              </a:rPr>
              <a:t>(</a:t>
            </a:r>
            <a:r>
              <a:rPr lang="en-US" sz="2400" b="1" kern="1200" dirty="0">
                <a:solidFill>
                  <a:srgbClr val="070707"/>
                </a:solidFill>
                <a:latin typeface="Times New Roman" panose="02020603050405020304" charset="0"/>
                <a:ea typeface="楷体_GB2312" pitchFamily="49" charset="-122"/>
                <a:cs typeface="Times New Roman" panose="02020603050405020304" charset="0"/>
              </a:rPr>
              <a:t>1</a:t>
            </a:r>
            <a:r>
              <a:rPr lang="en-US" altLang="zh-CN" sz="2400" b="1" kern="1200" dirty="0">
                <a:solidFill>
                  <a:srgbClr val="070707"/>
                </a:solidFill>
                <a:latin typeface="Times New Roman" panose="02020603050405020304" charset="0"/>
                <a:ea typeface="楷体_GB2312" pitchFamily="49" charset="-122"/>
                <a:cs typeface="Times New Roman" panose="02020603050405020304" charset="0"/>
              </a:rPr>
              <a:t>) </a:t>
            </a:r>
            <a:r>
              <a:rPr lang="en-US" sz="2400" b="1" kern="1200" dirty="0">
                <a:solidFill>
                  <a:srgbClr val="070707"/>
                </a:solidFill>
                <a:latin typeface="Times New Roman" panose="02020603050405020304" charset="0"/>
                <a:ea typeface="楷体_GB2312" pitchFamily="49" charset="-122"/>
                <a:cs typeface="Times New Roman" panose="02020603050405020304" charset="0"/>
              </a:rPr>
              <a:t> 二进制码转换为格雷码的步骤</a:t>
            </a:r>
            <a:r>
              <a:rPr lang="zh-CN" altLang="en-US" sz="2400" b="1" kern="1200" dirty="0">
                <a:solidFill>
                  <a:srgbClr val="070707"/>
                </a:solidFill>
                <a:latin typeface="Times New Roman" panose="02020603050405020304" charset="0"/>
                <a:ea typeface="楷体_GB2312" pitchFamily="49" charset="-122"/>
                <a:cs typeface="Times New Roman" panose="02020603050405020304" charset="0"/>
              </a:rPr>
              <a:t>。</a:t>
            </a:r>
            <a:endParaRPr lang="zh-CN" altLang="en-US" sz="2400" b="1" kern="1200" dirty="0">
              <a:solidFill>
                <a:srgbClr val="070707"/>
              </a:solidFill>
              <a:latin typeface="Times New Roman" panose="02020603050405020304" charset="0"/>
              <a:ea typeface="楷体_GB2312" pitchFamily="49" charset="-122"/>
              <a:cs typeface="Times New Roman" panose="02020603050405020304" charset="0"/>
            </a:endParaRPr>
          </a:p>
        </p:txBody>
      </p:sp>
      <p:sp>
        <p:nvSpPr>
          <p:cNvPr id="14" name="Rectangle 3"/>
          <p:cNvSpPr>
            <a:spLocks noGrp="1"/>
          </p:cNvSpPr>
          <p:nvPr/>
        </p:nvSpPr>
        <p:spPr>
          <a:xfrm>
            <a:off x="505460" y="3200400"/>
            <a:ext cx="8173085" cy="572770"/>
          </a:xfrm>
          <a:prstGeom prst="rect">
            <a:avLst/>
          </a:prstGeom>
          <a:noFill/>
          <a:ln w="9525">
            <a:noFill/>
          </a:ln>
        </p:spPr>
        <p:txBody>
          <a:bodyPr vert="horz" wrap="square" lIns="91440" tIns="45720" rIns="91440" bIns="45720" anchor="t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9pPr>
          </a:lstStyle>
          <a:p>
            <a:pPr marL="0" indent="0" eaLnBrk="1" latinLnBrk="0" hangingPunct="1">
              <a:lnSpc>
                <a:spcPct val="120000"/>
              </a:lnSpc>
              <a:spcBef>
                <a:spcPts val="0"/>
              </a:spcBef>
              <a:buNone/>
            </a:pPr>
            <a:r>
              <a:rPr lang="en-US" altLang="zh-CN" sz="2400" b="1" kern="1200" dirty="0">
                <a:solidFill>
                  <a:srgbClr val="000066"/>
                </a:solidFill>
                <a:latin typeface="Arial" panose="020B0604020202020204" pitchFamily="34" charset="0"/>
                <a:ea typeface="楷体_GB2312" pitchFamily="49" charset="-122"/>
              </a:rPr>
              <a:t>       </a:t>
            </a:r>
            <a:r>
              <a:rPr lang="zh-CN" altLang="en-US" sz="2400" b="1" dirty="0">
                <a:solidFill>
                  <a:srgbClr val="000066"/>
                </a:solidFill>
                <a:latin typeface="Arial" panose="020B0604020202020204" pitchFamily="34" charset="0"/>
                <a:ea typeface="楷体_GB2312" pitchFamily="49" charset="-122"/>
              </a:rPr>
              <a:t>【例1-13】将二进制码0111转换成格雷码。</a:t>
            </a:r>
            <a:endParaRPr lang="zh-CN" altLang="en-US" sz="2400" b="1" dirty="0">
              <a:solidFill>
                <a:srgbClr val="000066"/>
              </a:solidFill>
              <a:latin typeface="Arial" panose="020B0604020202020204" pitchFamily="34" charset="0"/>
              <a:ea typeface="楷体_GB2312" pitchFamily="49" charset="-122"/>
            </a:endParaRPr>
          </a:p>
        </p:txBody>
      </p:sp>
      <p:sp>
        <p:nvSpPr>
          <p:cNvPr id="16" name="Rectangle 3"/>
          <p:cNvSpPr>
            <a:spLocks noGrp="1"/>
          </p:cNvSpPr>
          <p:nvPr/>
        </p:nvSpPr>
        <p:spPr>
          <a:xfrm>
            <a:off x="1129030" y="3657600"/>
            <a:ext cx="5607050" cy="565150"/>
          </a:xfrm>
          <a:prstGeom prst="rect">
            <a:avLst/>
          </a:prstGeom>
          <a:noFill/>
          <a:ln w="9525">
            <a:noFill/>
          </a:ln>
        </p:spPr>
        <p:txBody>
          <a:bodyPr vert="horz" wrap="square" lIns="91440" tIns="45720" rIns="91440" bIns="45720" anchor="t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9pPr>
          </a:lstStyle>
          <a:p>
            <a:pPr marL="0" indent="0" eaLnBrk="1" latinLnBrk="0" hangingPunct="1">
              <a:lnSpc>
                <a:spcPct val="120000"/>
              </a:lnSpc>
              <a:spcBef>
                <a:spcPts val="0"/>
              </a:spcBef>
              <a:buNone/>
            </a:pPr>
            <a:r>
              <a:rPr lang="zh-CN" altLang="en-US" sz="2400" b="1" kern="1200" dirty="0">
                <a:solidFill>
                  <a:srgbClr val="000066"/>
                </a:solidFill>
                <a:latin typeface="Arial" panose="020B0604020202020204" pitchFamily="34" charset="0"/>
                <a:ea typeface="楷体_GB2312" pitchFamily="49" charset="-122"/>
              </a:rPr>
              <a:t> 解：转换过程为</a:t>
            </a:r>
            <a:endParaRPr lang="zh-CN" altLang="en-US" sz="2400" b="1" kern="1200" dirty="0">
              <a:solidFill>
                <a:srgbClr val="000066"/>
              </a:solidFill>
              <a:latin typeface="Arial" panose="020B0604020202020204" pitchFamily="34" charset="0"/>
              <a:ea typeface="楷体_GB2312" pitchFamily="49" charset="-122"/>
            </a:endParaRPr>
          </a:p>
        </p:txBody>
      </p:sp>
      <p:sp>
        <p:nvSpPr>
          <p:cNvPr id="7" name="Rectangle 3"/>
          <p:cNvSpPr>
            <a:spLocks noGrp="1"/>
          </p:cNvSpPr>
          <p:nvPr/>
        </p:nvSpPr>
        <p:spPr>
          <a:xfrm>
            <a:off x="612140" y="5765800"/>
            <a:ext cx="7171690" cy="614680"/>
          </a:xfrm>
          <a:prstGeom prst="rect">
            <a:avLst/>
          </a:prstGeom>
          <a:noFill/>
          <a:ln w="9525">
            <a:noFill/>
          </a:ln>
        </p:spPr>
        <p:txBody>
          <a:bodyPr vert="horz" wrap="square" lIns="91440" tIns="45720" rIns="91440" bIns="45720" anchor="t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9pPr>
          </a:lstStyle>
          <a:p>
            <a:pPr marL="0" indent="0" eaLnBrk="1" latinLnBrk="0" hangingPunct="1">
              <a:lnSpc>
                <a:spcPct val="120000"/>
              </a:lnSpc>
              <a:spcBef>
                <a:spcPts val="0"/>
              </a:spcBef>
              <a:buNone/>
            </a:pPr>
            <a:r>
              <a:rPr lang="en-US" altLang="zh-CN" sz="2400" b="1" kern="1200" dirty="0">
                <a:solidFill>
                  <a:srgbClr val="000066"/>
                </a:solidFill>
                <a:latin typeface="Arial" panose="020B0604020202020204" pitchFamily="34" charset="0"/>
                <a:ea typeface="楷体_GB2312" pitchFamily="49" charset="-122"/>
              </a:rPr>
              <a:t>       </a:t>
            </a:r>
            <a:r>
              <a:rPr lang="zh-CN" altLang="en-US" sz="2400" b="1" dirty="0">
                <a:solidFill>
                  <a:srgbClr val="000066"/>
                </a:solidFill>
                <a:latin typeface="Arial" panose="020B0604020202020204" pitchFamily="34" charset="0"/>
                <a:ea typeface="楷体_GB2312" pitchFamily="49" charset="-122"/>
              </a:rPr>
              <a:t>因此，二进制码0111转换成格雷码为0100。</a:t>
            </a:r>
            <a:endParaRPr lang="zh-CN" altLang="en-US" sz="2400" b="1" dirty="0">
              <a:solidFill>
                <a:srgbClr val="000066"/>
              </a:solidFill>
              <a:latin typeface="Arial" panose="020B0604020202020204" pitchFamily="34" charset="0"/>
              <a:ea typeface="楷体_GB2312" pitchFamily="49" charset="-122"/>
            </a:endParaRPr>
          </a:p>
        </p:txBody>
      </p:sp>
      <p:pic>
        <p:nvPicPr>
          <p:cNvPr id="2" name="图片 1" descr="9[K%]`JSBHZP]P@MZ`RD_ER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828800" y="4191000"/>
            <a:ext cx="5279390" cy="1497965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5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 fmla="#ppt_x+(cos(-2*pi*(1-$))*-#ppt_x-sin(-2*pi*(1-$))*(1-#ppt_y))*(1-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+(sin(-2*pi*(1-$))*-#ppt_x+cos(-2*pi*(1-$))*(1-#ppt_y))*(1-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5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/>
      <p:bldP spid="16" grpId="0"/>
      <p:bldP spid="7" grpId="0"/>
    </p:bld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6147" name="Rectangle 3"/>
          <p:cNvSpPr>
            <a:spLocks noGrp="1"/>
          </p:cNvSpPr>
          <p:nvPr>
            <p:ph idx="1"/>
          </p:nvPr>
        </p:nvSpPr>
        <p:spPr>
          <a:xfrm>
            <a:off x="601980" y="1827530"/>
            <a:ext cx="8003540" cy="1449705"/>
          </a:xfrm>
        </p:spPr>
        <p:txBody>
          <a:bodyPr vert="horz" wrap="square" lIns="91440" tIns="45720" rIns="91440" bIns="45720" anchor="t" anchorCtr="0"/>
          <a:p>
            <a:pPr marL="0" indent="0" eaLnBrk="1" latinLnBrk="0" hangingPunct="1">
              <a:lnSpc>
                <a:spcPct val="120000"/>
              </a:lnSpc>
              <a:spcBef>
                <a:spcPts val="0"/>
              </a:spcBef>
              <a:buNone/>
            </a:pPr>
            <a:r>
              <a:rPr lang="en-US" altLang="zh-CN" sz="2400" b="1" kern="1200" dirty="0">
                <a:solidFill>
                  <a:srgbClr val="000066"/>
                </a:solidFill>
                <a:latin typeface="Arial" panose="020B0604020202020204" pitchFamily="34" charset="0"/>
                <a:ea typeface="楷体_GB2312" pitchFamily="49" charset="-122"/>
              </a:rPr>
              <a:t>       </a:t>
            </a:r>
            <a:r>
              <a:rPr sz="2400" b="1" kern="1200" dirty="0">
                <a:solidFill>
                  <a:srgbClr val="000066"/>
                </a:solidFill>
                <a:latin typeface="Arial" panose="020B0604020202020204" pitchFamily="34" charset="0"/>
                <a:ea typeface="楷体_GB2312" pitchFamily="49" charset="-122"/>
              </a:rPr>
              <a:t>① 二进制码最左边的最高位与格雷码的最高位相同。</a:t>
            </a:r>
            <a:endParaRPr sz="2400" b="1" kern="1200" dirty="0">
              <a:solidFill>
                <a:srgbClr val="000066"/>
              </a:solidFill>
              <a:latin typeface="Arial" panose="020B0604020202020204" pitchFamily="34" charset="0"/>
              <a:ea typeface="楷体_GB2312" pitchFamily="49" charset="-122"/>
            </a:endParaRPr>
          </a:p>
          <a:p>
            <a:pPr marL="0" indent="0" eaLnBrk="1" latinLnBrk="0" hangingPunct="1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2400" b="1" kern="1200" dirty="0">
                <a:solidFill>
                  <a:srgbClr val="000066"/>
                </a:solidFill>
                <a:latin typeface="Arial" panose="020B0604020202020204" pitchFamily="34" charset="0"/>
                <a:ea typeface="楷体_GB2312" pitchFamily="49" charset="-122"/>
              </a:rPr>
              <a:t>       </a:t>
            </a:r>
            <a:r>
              <a:rPr sz="2400" b="1" kern="1200" dirty="0">
                <a:solidFill>
                  <a:srgbClr val="000066"/>
                </a:solidFill>
                <a:latin typeface="Arial" panose="020B0604020202020204" pitchFamily="34" charset="0"/>
                <a:ea typeface="楷体_GB2312" pitchFamily="49" charset="-122"/>
              </a:rPr>
              <a:t>② 将产生的每位二进制码，与相邻的下一位格雷码相加结果 (若有进位则舍去) 作为二进制码的下一位。</a:t>
            </a:r>
            <a:endParaRPr sz="2400" b="1" kern="1200" dirty="0">
              <a:solidFill>
                <a:srgbClr val="000066"/>
              </a:solidFill>
              <a:latin typeface="Arial" panose="020B0604020202020204" pitchFamily="34" charset="0"/>
              <a:ea typeface="楷体_GB2312" pitchFamily="49" charset="-122"/>
            </a:endParaRPr>
          </a:p>
        </p:txBody>
      </p:sp>
      <p:sp>
        <p:nvSpPr>
          <p:cNvPr id="6148" name="TextBox 6"/>
          <p:cNvSpPr txBox="1"/>
          <p:nvPr/>
        </p:nvSpPr>
        <p:spPr>
          <a:xfrm>
            <a:off x="2819400" y="533400"/>
            <a:ext cx="5593080" cy="583565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5pPr>
          </a:lstStyle>
          <a:p>
            <a:pPr marL="0" lvl="0" indent="0" algn="l"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b="1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1.2 </a:t>
            </a:r>
            <a:r>
              <a:rPr lang="zh-CN" altLang="en-US" b="1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数制与码制</a:t>
            </a:r>
            <a:endParaRPr lang="zh-CN" altLang="en-US" b="1" dirty="0">
              <a:solidFill>
                <a:srgbClr val="FF0000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6150" name="灯片编号占位符 5"/>
          <p:cNvSpPr txBox="1">
            <a:spLocks noGrp="1"/>
          </p:cNvSpPr>
          <p:nvPr>
            <p:ph type="sldNum" sz="quarter" idx="12"/>
          </p:nvPr>
        </p:nvSpPr>
        <p:spPr>
          <a:xfrm>
            <a:off x="6553200" y="6537325"/>
            <a:ext cx="2133600" cy="244475"/>
          </a:xfrm>
        </p:spPr>
        <p:txBody>
          <a:bodyPr/>
          <a:p>
            <a:pPr marL="0" indent="0" algn="r" eaLnBrk="1" hangingPunct="1">
              <a:spcBef>
                <a:spcPct val="0"/>
              </a:spcBef>
              <a:buClrTx/>
              <a:buFontTx/>
              <a:buNone/>
            </a:pPr>
            <a:fld id="{9A0DB2DC-4C9A-4742-B13C-FB6460FD3503}" type="slidenum">
              <a:rPr lang="en-US" altLang="zh-CN" sz="1200" dirty="0">
                <a:solidFill>
                  <a:schemeClr val="bg1"/>
                </a:solidFill>
                <a:ea typeface="宋体" panose="02010600030101010101" pitchFamily="2" charset="-122"/>
              </a:rPr>
            </a:fld>
            <a:endParaRPr lang="en-US" altLang="zh-CN" sz="1200" dirty="0">
              <a:solidFill>
                <a:schemeClr val="bg1"/>
              </a:solidFill>
              <a:ea typeface="宋体" panose="02010600030101010101" pitchFamily="2" charset="-122"/>
            </a:endParaRPr>
          </a:p>
        </p:txBody>
      </p:sp>
      <p:sp>
        <p:nvSpPr>
          <p:cNvPr id="6" name="Rectangle 3"/>
          <p:cNvSpPr>
            <a:spLocks noGrp="1"/>
          </p:cNvSpPr>
          <p:nvPr/>
        </p:nvSpPr>
        <p:spPr>
          <a:xfrm>
            <a:off x="1178560" y="1296670"/>
            <a:ext cx="5832475" cy="522605"/>
          </a:xfrm>
          <a:prstGeom prst="rect">
            <a:avLst/>
          </a:prstGeom>
          <a:noFill/>
          <a:ln w="9525">
            <a:noFill/>
          </a:ln>
        </p:spPr>
        <p:txBody>
          <a:bodyPr vert="horz" wrap="square" lIns="91440" tIns="45720" rIns="91440" bIns="45720" anchor="t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9pPr>
          </a:lstStyle>
          <a:p>
            <a:pPr marL="0" indent="0" eaLnBrk="1" latinLnBrk="0" hangingPunct="1">
              <a:lnSpc>
                <a:spcPct val="120000"/>
              </a:lnSpc>
              <a:spcBef>
                <a:spcPts val="0"/>
              </a:spcBef>
              <a:buNone/>
            </a:pPr>
            <a:r>
              <a:rPr lang="en-US" altLang="zh-CN" sz="2400" b="1" kern="1200" dirty="0">
                <a:solidFill>
                  <a:srgbClr val="070707"/>
                </a:solidFill>
                <a:latin typeface="Times New Roman" panose="02020603050405020304" charset="0"/>
                <a:ea typeface="楷体_GB2312" pitchFamily="49" charset="-122"/>
                <a:cs typeface="Times New Roman" panose="02020603050405020304" charset="0"/>
              </a:rPr>
              <a:t>(</a:t>
            </a:r>
            <a:r>
              <a:rPr lang="en-US" sz="2400" b="1" kern="1200" dirty="0">
                <a:solidFill>
                  <a:srgbClr val="070707"/>
                </a:solidFill>
                <a:latin typeface="Times New Roman" panose="02020603050405020304" charset="0"/>
                <a:ea typeface="楷体_GB2312" pitchFamily="49" charset="-122"/>
                <a:cs typeface="Times New Roman" panose="02020603050405020304" charset="0"/>
              </a:rPr>
              <a:t>2</a:t>
            </a:r>
            <a:r>
              <a:rPr lang="en-US" altLang="zh-CN" sz="2400" b="1" kern="1200" dirty="0">
                <a:solidFill>
                  <a:srgbClr val="070707"/>
                </a:solidFill>
                <a:latin typeface="Times New Roman" panose="02020603050405020304" charset="0"/>
                <a:ea typeface="楷体_GB2312" pitchFamily="49" charset="-122"/>
                <a:cs typeface="Times New Roman" panose="02020603050405020304" charset="0"/>
              </a:rPr>
              <a:t>) </a:t>
            </a:r>
            <a:r>
              <a:rPr lang="en-US" sz="2400" b="1" kern="1200" dirty="0">
                <a:solidFill>
                  <a:srgbClr val="070707"/>
                </a:solidFill>
                <a:latin typeface="Times New Roman" panose="02020603050405020304" charset="0"/>
                <a:ea typeface="楷体_GB2312" pitchFamily="49" charset="-122"/>
                <a:cs typeface="Times New Roman" panose="02020603050405020304" charset="0"/>
              </a:rPr>
              <a:t> 格雷码转换为二进制码的步骤</a:t>
            </a:r>
            <a:r>
              <a:rPr lang="zh-CN" altLang="en-US" sz="2400" b="1" kern="1200" dirty="0">
                <a:solidFill>
                  <a:srgbClr val="070707"/>
                </a:solidFill>
                <a:latin typeface="Times New Roman" panose="02020603050405020304" charset="0"/>
                <a:ea typeface="楷体_GB2312" pitchFamily="49" charset="-122"/>
                <a:cs typeface="Times New Roman" panose="02020603050405020304" charset="0"/>
              </a:rPr>
              <a:t>。</a:t>
            </a:r>
            <a:endParaRPr lang="zh-CN" altLang="en-US" sz="2400" b="1" kern="1200" dirty="0">
              <a:solidFill>
                <a:srgbClr val="070707"/>
              </a:solidFill>
              <a:latin typeface="Times New Roman" panose="02020603050405020304" charset="0"/>
              <a:ea typeface="楷体_GB2312" pitchFamily="49" charset="-122"/>
              <a:cs typeface="Times New Roman" panose="02020603050405020304" charset="0"/>
            </a:endParaRPr>
          </a:p>
        </p:txBody>
      </p:sp>
      <p:sp>
        <p:nvSpPr>
          <p:cNvPr id="14" name="Rectangle 3"/>
          <p:cNvSpPr>
            <a:spLocks noGrp="1"/>
          </p:cNvSpPr>
          <p:nvPr/>
        </p:nvSpPr>
        <p:spPr>
          <a:xfrm>
            <a:off x="505460" y="3200400"/>
            <a:ext cx="8173085" cy="572770"/>
          </a:xfrm>
          <a:prstGeom prst="rect">
            <a:avLst/>
          </a:prstGeom>
          <a:noFill/>
          <a:ln w="9525">
            <a:noFill/>
          </a:ln>
        </p:spPr>
        <p:txBody>
          <a:bodyPr vert="horz" wrap="square" lIns="91440" tIns="45720" rIns="91440" bIns="45720" anchor="t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9pPr>
          </a:lstStyle>
          <a:p>
            <a:pPr marL="0" indent="0" eaLnBrk="1" latinLnBrk="0" hangingPunct="1">
              <a:lnSpc>
                <a:spcPct val="120000"/>
              </a:lnSpc>
              <a:spcBef>
                <a:spcPts val="0"/>
              </a:spcBef>
              <a:buNone/>
            </a:pPr>
            <a:r>
              <a:rPr lang="en-US" altLang="zh-CN" sz="2400" b="1" kern="1200" dirty="0">
                <a:solidFill>
                  <a:srgbClr val="000066"/>
                </a:solidFill>
                <a:latin typeface="Arial" panose="020B0604020202020204" pitchFamily="34" charset="0"/>
                <a:ea typeface="楷体_GB2312" pitchFamily="49" charset="-122"/>
              </a:rPr>
              <a:t>       </a:t>
            </a:r>
            <a:r>
              <a:rPr lang="zh-CN" altLang="en-US" sz="2400" b="1" dirty="0">
                <a:solidFill>
                  <a:srgbClr val="000066"/>
                </a:solidFill>
                <a:latin typeface="Arial" panose="020B0604020202020204" pitchFamily="34" charset="0"/>
                <a:ea typeface="楷体_GB2312" pitchFamily="49" charset="-122"/>
              </a:rPr>
              <a:t>【例1-14】将格雷码1111转换成二进制码</a:t>
            </a:r>
            <a:r>
              <a:rPr lang="zh-CN" altLang="en-US" sz="2400" b="1" dirty="0">
                <a:solidFill>
                  <a:srgbClr val="000066"/>
                </a:solidFill>
                <a:latin typeface="Arial" panose="020B0604020202020204" pitchFamily="34" charset="0"/>
                <a:ea typeface="楷体_GB2312" pitchFamily="49" charset="-122"/>
              </a:rPr>
              <a:t>。</a:t>
            </a:r>
            <a:endParaRPr lang="zh-CN" altLang="en-US" sz="2400" b="1" dirty="0">
              <a:solidFill>
                <a:srgbClr val="000066"/>
              </a:solidFill>
              <a:latin typeface="Arial" panose="020B0604020202020204" pitchFamily="34" charset="0"/>
              <a:ea typeface="楷体_GB2312" pitchFamily="49" charset="-122"/>
            </a:endParaRPr>
          </a:p>
        </p:txBody>
      </p:sp>
      <p:sp>
        <p:nvSpPr>
          <p:cNvPr id="16" name="Rectangle 3"/>
          <p:cNvSpPr>
            <a:spLocks noGrp="1"/>
          </p:cNvSpPr>
          <p:nvPr/>
        </p:nvSpPr>
        <p:spPr>
          <a:xfrm>
            <a:off x="1129030" y="3657600"/>
            <a:ext cx="5607050" cy="565150"/>
          </a:xfrm>
          <a:prstGeom prst="rect">
            <a:avLst/>
          </a:prstGeom>
          <a:noFill/>
          <a:ln w="9525">
            <a:noFill/>
          </a:ln>
        </p:spPr>
        <p:txBody>
          <a:bodyPr vert="horz" wrap="square" lIns="91440" tIns="45720" rIns="91440" bIns="45720" anchor="t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9pPr>
          </a:lstStyle>
          <a:p>
            <a:pPr marL="0" indent="0" eaLnBrk="1" latinLnBrk="0" hangingPunct="1">
              <a:lnSpc>
                <a:spcPct val="120000"/>
              </a:lnSpc>
              <a:spcBef>
                <a:spcPts val="0"/>
              </a:spcBef>
              <a:buNone/>
            </a:pPr>
            <a:r>
              <a:rPr lang="zh-CN" altLang="en-US" sz="2400" b="1" kern="1200" dirty="0">
                <a:solidFill>
                  <a:srgbClr val="000066"/>
                </a:solidFill>
                <a:latin typeface="Arial" panose="020B0604020202020204" pitchFamily="34" charset="0"/>
                <a:ea typeface="楷体_GB2312" pitchFamily="49" charset="-122"/>
              </a:rPr>
              <a:t> 解：转换过程为</a:t>
            </a:r>
            <a:endParaRPr lang="zh-CN" altLang="en-US" sz="2400" b="1" kern="1200" dirty="0">
              <a:solidFill>
                <a:srgbClr val="000066"/>
              </a:solidFill>
              <a:latin typeface="Arial" panose="020B0604020202020204" pitchFamily="34" charset="0"/>
              <a:ea typeface="楷体_GB2312" pitchFamily="49" charset="-122"/>
            </a:endParaRPr>
          </a:p>
        </p:txBody>
      </p:sp>
      <p:sp>
        <p:nvSpPr>
          <p:cNvPr id="7" name="Rectangle 3"/>
          <p:cNvSpPr>
            <a:spLocks noGrp="1"/>
          </p:cNvSpPr>
          <p:nvPr/>
        </p:nvSpPr>
        <p:spPr>
          <a:xfrm>
            <a:off x="612140" y="5537200"/>
            <a:ext cx="7171690" cy="614680"/>
          </a:xfrm>
          <a:prstGeom prst="rect">
            <a:avLst/>
          </a:prstGeom>
          <a:noFill/>
          <a:ln w="9525">
            <a:noFill/>
          </a:ln>
        </p:spPr>
        <p:txBody>
          <a:bodyPr vert="horz" wrap="square" lIns="91440" tIns="45720" rIns="91440" bIns="45720" anchor="t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9pPr>
          </a:lstStyle>
          <a:p>
            <a:pPr marL="0" indent="0" eaLnBrk="1" latinLnBrk="0" hangingPunct="1">
              <a:lnSpc>
                <a:spcPct val="120000"/>
              </a:lnSpc>
              <a:spcBef>
                <a:spcPts val="0"/>
              </a:spcBef>
              <a:buNone/>
            </a:pPr>
            <a:r>
              <a:rPr lang="en-US" altLang="zh-CN" sz="2400" b="1" kern="1200" dirty="0">
                <a:solidFill>
                  <a:srgbClr val="000066"/>
                </a:solidFill>
                <a:latin typeface="Arial" panose="020B0604020202020204" pitchFamily="34" charset="0"/>
                <a:ea typeface="楷体_GB2312" pitchFamily="49" charset="-122"/>
              </a:rPr>
              <a:t>       </a:t>
            </a:r>
            <a:r>
              <a:rPr lang="zh-CN" altLang="en-US" sz="2400" b="1" dirty="0">
                <a:solidFill>
                  <a:srgbClr val="000066"/>
                </a:solidFill>
                <a:latin typeface="Arial" panose="020B0604020202020204" pitchFamily="34" charset="0"/>
                <a:ea typeface="楷体_GB2312" pitchFamily="49" charset="-122"/>
              </a:rPr>
              <a:t>因此，格雷码1111转换成二进制码为1010。</a:t>
            </a:r>
            <a:endParaRPr lang="zh-CN" altLang="en-US" sz="2400" b="1" dirty="0">
              <a:solidFill>
                <a:srgbClr val="000066"/>
              </a:solidFill>
              <a:latin typeface="Arial" panose="020B0604020202020204" pitchFamily="34" charset="0"/>
              <a:ea typeface="楷体_GB2312" pitchFamily="49" charset="-122"/>
            </a:endParaRPr>
          </a:p>
        </p:txBody>
      </p:sp>
      <p:pic>
        <p:nvPicPr>
          <p:cNvPr id="3" name="图片 2" descr="Z{{X9Y`[J)}$(XHM5)XD}VX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514600" y="4191000"/>
            <a:ext cx="4450080" cy="1318895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0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5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/>
      <p:bldP spid="16" grpId="0"/>
      <p:bldP spid="7" grpId="0"/>
    </p:bld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6147" name="Rectangle 3"/>
          <p:cNvSpPr>
            <a:spLocks noGrp="1"/>
          </p:cNvSpPr>
          <p:nvPr>
            <p:ph idx="1"/>
          </p:nvPr>
        </p:nvSpPr>
        <p:spPr>
          <a:xfrm>
            <a:off x="685800" y="1828800"/>
            <a:ext cx="8003540" cy="3623310"/>
          </a:xfrm>
        </p:spPr>
        <p:txBody>
          <a:bodyPr vert="horz" wrap="square" lIns="91440" tIns="45720" rIns="91440" bIns="45720" anchor="t" anchorCtr="0"/>
          <a:p>
            <a:pPr marL="0" indent="0" eaLnBrk="1" latinLnBrk="0" hangingPunct="1">
              <a:lnSpc>
                <a:spcPct val="120000"/>
              </a:lnSpc>
              <a:spcBef>
                <a:spcPts val="0"/>
              </a:spcBef>
              <a:buNone/>
            </a:pPr>
            <a:r>
              <a:rPr lang="en-US" altLang="zh-CN" sz="2400" b="1" kern="1200" dirty="0">
                <a:solidFill>
                  <a:srgbClr val="000066"/>
                </a:solidFill>
                <a:latin typeface="Arial" panose="020B0604020202020204" pitchFamily="34" charset="0"/>
                <a:ea typeface="楷体_GB2312" pitchFamily="49" charset="-122"/>
              </a:rPr>
              <a:t>       </a:t>
            </a:r>
            <a:r>
              <a:rPr lang="zh-CN" altLang="en-US" sz="2400" b="1" kern="1200" dirty="0">
                <a:solidFill>
                  <a:srgbClr val="000066"/>
                </a:solidFill>
                <a:latin typeface="Arial" panose="020B0604020202020204" pitchFamily="34" charset="0"/>
                <a:ea typeface="楷体_GB2312" pitchFamily="49" charset="-122"/>
              </a:rPr>
              <a:t>数字计算机中各种程序设计语言，都是由字母、数字和符号构成的。而计算机只能识别二进制代码，因此这些字母、数字和符号信息输入计算机时，需要变成相应的二进制代码，这一过程需要进行编码。常用的一种编码方法是美国标准信息交换码 ，即ASCII码。ASCII码是由7位二进制代码来表示数字、英文字母、控制字符和专用字符，共128个，如表1-5所示。</a:t>
            </a:r>
            <a:endParaRPr lang="zh-CN" altLang="en-US" sz="2400" b="1" kern="1200" dirty="0">
              <a:solidFill>
                <a:srgbClr val="000066"/>
              </a:solidFill>
              <a:latin typeface="Arial" panose="020B0604020202020204" pitchFamily="34" charset="0"/>
              <a:ea typeface="楷体_GB2312" pitchFamily="49" charset="-122"/>
            </a:endParaRPr>
          </a:p>
        </p:txBody>
      </p:sp>
      <p:sp>
        <p:nvSpPr>
          <p:cNvPr id="6148" name="TextBox 6"/>
          <p:cNvSpPr txBox="1"/>
          <p:nvPr/>
        </p:nvSpPr>
        <p:spPr>
          <a:xfrm>
            <a:off x="2819400" y="533400"/>
            <a:ext cx="5593080" cy="583565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5pPr>
          </a:lstStyle>
          <a:p>
            <a:pPr marL="0" lvl="0" indent="0" algn="l"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b="1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1.2 </a:t>
            </a:r>
            <a:r>
              <a:rPr lang="zh-CN" altLang="en-US" b="1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数制与码制</a:t>
            </a:r>
            <a:endParaRPr lang="zh-CN" altLang="en-US" b="1" dirty="0">
              <a:solidFill>
                <a:srgbClr val="FF0000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6150" name="灯片编号占位符 5"/>
          <p:cNvSpPr txBox="1">
            <a:spLocks noGrp="1"/>
          </p:cNvSpPr>
          <p:nvPr>
            <p:ph type="sldNum" sz="quarter" idx="12"/>
          </p:nvPr>
        </p:nvSpPr>
        <p:spPr>
          <a:xfrm>
            <a:off x="6553200" y="6537325"/>
            <a:ext cx="2133600" cy="244475"/>
          </a:xfrm>
        </p:spPr>
        <p:txBody>
          <a:bodyPr/>
          <a:p>
            <a:pPr marL="0" indent="0" algn="r" eaLnBrk="1" hangingPunct="1">
              <a:spcBef>
                <a:spcPct val="0"/>
              </a:spcBef>
              <a:buClrTx/>
              <a:buFontTx/>
              <a:buNone/>
            </a:pPr>
            <a:fld id="{9A0DB2DC-4C9A-4742-B13C-FB6460FD3503}" type="slidenum">
              <a:rPr lang="en-US" altLang="zh-CN" sz="1200" dirty="0">
                <a:solidFill>
                  <a:schemeClr val="bg1"/>
                </a:solidFill>
                <a:ea typeface="宋体" panose="02010600030101010101" pitchFamily="2" charset="-122"/>
              </a:rPr>
            </a:fld>
            <a:endParaRPr lang="en-US" altLang="zh-CN" sz="1200" dirty="0">
              <a:solidFill>
                <a:schemeClr val="bg1"/>
              </a:solidFill>
              <a:ea typeface="宋体" panose="02010600030101010101" pitchFamily="2" charset="-122"/>
            </a:endParaRPr>
          </a:p>
        </p:txBody>
      </p:sp>
      <p:sp>
        <p:nvSpPr>
          <p:cNvPr id="2" name="Rectangle 3"/>
          <p:cNvSpPr>
            <a:spLocks noGrp="1"/>
          </p:cNvSpPr>
          <p:nvPr/>
        </p:nvSpPr>
        <p:spPr>
          <a:xfrm>
            <a:off x="1309370" y="1295400"/>
            <a:ext cx="4043045" cy="454025"/>
          </a:xfrm>
          <a:prstGeom prst="rect">
            <a:avLst/>
          </a:prstGeom>
          <a:noFill/>
          <a:ln w="9525">
            <a:noFill/>
          </a:ln>
        </p:spPr>
        <p:txBody>
          <a:bodyPr vert="horz" wrap="square" lIns="91440" tIns="45720" rIns="91440" bIns="45720" anchor="t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9pPr>
          </a:lstStyle>
          <a:p>
            <a:pPr marL="0" indent="0" eaLnBrk="1" latinLnBrk="0" hangingPunct="1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2400" b="1" kern="1200" dirty="0">
                <a:solidFill>
                  <a:srgbClr val="FE09D6"/>
                </a:solidFill>
                <a:latin typeface="Times New Roman" panose="02020603050405020304" charset="0"/>
                <a:ea typeface="楷体_GB2312" pitchFamily="49" charset="-122"/>
                <a:cs typeface="Times New Roman" panose="02020603050405020304" charset="0"/>
              </a:rPr>
              <a:t>3. ASCII码</a:t>
            </a:r>
            <a:endParaRPr lang="en-US" sz="2400" b="1" kern="1200" dirty="0">
              <a:solidFill>
                <a:srgbClr val="FE09D6"/>
              </a:solidFill>
              <a:latin typeface="Times New Roman" panose="02020603050405020304" charset="0"/>
              <a:ea typeface="楷体_GB2312" pitchFamily="49" charset="-122"/>
              <a:cs typeface="Times New Roman" panose="0202060305040502030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/>
      <p:sp>
        <p:nvSpPr>
          <p:cNvPr id="6150" name="灯片编号占位符 5"/>
          <p:cNvSpPr txBox="1">
            <a:spLocks noGrp="1"/>
          </p:cNvSpPr>
          <p:nvPr>
            <p:ph type="sldNum" sz="quarter" idx="12"/>
          </p:nvPr>
        </p:nvSpPr>
        <p:spPr>
          <a:xfrm>
            <a:off x="6553200" y="6537325"/>
            <a:ext cx="2133600" cy="244475"/>
          </a:xfrm>
        </p:spPr>
        <p:txBody>
          <a:bodyPr/>
          <a:p>
            <a:pPr marL="0" indent="0" algn="r" eaLnBrk="1" hangingPunct="1">
              <a:spcBef>
                <a:spcPct val="0"/>
              </a:spcBef>
              <a:buClrTx/>
              <a:buFontTx/>
              <a:buNone/>
            </a:pPr>
            <a:fld id="{9A0DB2DC-4C9A-4742-B13C-FB6460FD3503}" type="slidenum">
              <a:rPr lang="en-US" altLang="zh-CN" sz="1200" dirty="0">
                <a:solidFill>
                  <a:schemeClr val="bg1"/>
                </a:solidFill>
                <a:ea typeface="宋体" panose="02010600030101010101" pitchFamily="2" charset="-122"/>
              </a:rPr>
            </a:fld>
            <a:endParaRPr lang="en-US" altLang="zh-CN" sz="1200" dirty="0">
              <a:solidFill>
                <a:schemeClr val="bg1"/>
              </a:solidFill>
              <a:ea typeface="宋体" panose="02010600030101010101" pitchFamily="2" charset="-122"/>
            </a:endParaRPr>
          </a:p>
        </p:txBody>
      </p:sp>
      <p:grpSp>
        <p:nvGrpSpPr>
          <p:cNvPr id="4" name="组合 3"/>
          <p:cNvGrpSpPr/>
          <p:nvPr/>
        </p:nvGrpSpPr>
        <p:grpSpPr>
          <a:xfrm>
            <a:off x="685800" y="457200"/>
            <a:ext cx="7580630" cy="6162040"/>
            <a:chOff x="1080" y="720"/>
            <a:chExt cx="11938" cy="9704"/>
          </a:xfrm>
        </p:grpSpPr>
        <p:pic>
          <p:nvPicPr>
            <p:cNvPr id="2" name="图片 1" descr="Z~ALRFEV2PIKNK5W)WGGUS6"/>
            <p:cNvPicPr>
              <a:picLocks noChangeAspect="1"/>
            </p:cNvPicPr>
            <p:nvPr/>
          </p:nvPicPr>
          <p:blipFill>
            <a:blip r:embed="rId1"/>
            <a:stretch>
              <a:fillRect/>
            </a:stretch>
          </p:blipFill>
          <p:spPr>
            <a:xfrm>
              <a:off x="1124" y="720"/>
              <a:ext cx="11895" cy="8190"/>
            </a:xfrm>
            <a:prstGeom prst="rect">
              <a:avLst/>
            </a:prstGeom>
          </p:spPr>
        </p:pic>
        <p:pic>
          <p:nvPicPr>
            <p:cNvPr id="3" name="图片 2" descr="0POB@4[@C4M]PS2H0LQF@S4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080" y="8804"/>
              <a:ext cx="11895" cy="1620"/>
            </a:xfrm>
            <a:prstGeom prst="rect">
              <a:avLst/>
            </a:prstGeom>
          </p:spPr>
        </p:pic>
      </p:grp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6147" name="Rectangle 3"/>
          <p:cNvSpPr>
            <a:spLocks noGrp="1"/>
          </p:cNvSpPr>
          <p:nvPr>
            <p:ph idx="1"/>
          </p:nvPr>
        </p:nvSpPr>
        <p:spPr>
          <a:xfrm>
            <a:off x="685800" y="1371600"/>
            <a:ext cx="8003540" cy="1846580"/>
          </a:xfrm>
        </p:spPr>
        <p:txBody>
          <a:bodyPr vert="horz" wrap="square" lIns="91440" tIns="45720" rIns="91440" bIns="45720" anchor="t" anchorCtr="0"/>
          <a:p>
            <a:pPr marL="0" indent="0" eaLnBrk="1" latinLnBrk="0" hangingPunct="1">
              <a:lnSpc>
                <a:spcPct val="120000"/>
              </a:lnSpc>
              <a:spcBef>
                <a:spcPts val="0"/>
              </a:spcBef>
              <a:buNone/>
            </a:pPr>
            <a:r>
              <a:rPr lang="en-US" altLang="zh-CN" sz="2400" b="1" kern="1200" dirty="0">
                <a:solidFill>
                  <a:srgbClr val="000066"/>
                </a:solidFill>
                <a:latin typeface="Arial" panose="020B0604020202020204" pitchFamily="34" charset="0"/>
                <a:ea typeface="楷体_GB2312" pitchFamily="49" charset="-122"/>
              </a:rPr>
              <a:t>       </a:t>
            </a:r>
            <a:r>
              <a:rPr lang="zh-CN" altLang="en-US" sz="2400" b="1" kern="1200" dirty="0">
                <a:solidFill>
                  <a:srgbClr val="000066"/>
                </a:solidFill>
                <a:latin typeface="Arial" panose="020B0604020202020204" pitchFamily="34" charset="0"/>
                <a:ea typeface="楷体_GB2312" pitchFamily="49" charset="-122"/>
              </a:rPr>
              <a:t>1. 模拟信号和数字信号是电子技术中两类不同的信号，</a:t>
            </a:r>
            <a:r>
              <a:rPr lang="zh-CN" altLang="en-US" sz="2400" b="1" kern="1200" dirty="0">
                <a:solidFill>
                  <a:srgbClr val="000066"/>
                </a:solidFill>
                <a:latin typeface="Arial" panose="020B0604020202020204" pitchFamily="34" charset="0"/>
                <a:ea typeface="楷体_GB2312" pitchFamily="49" charset="-122"/>
                <a:sym typeface="+mn-ea"/>
              </a:rPr>
              <a:t>数值上</a:t>
            </a:r>
            <a:r>
              <a:rPr lang="zh-CN" altLang="en-US" sz="2400" b="1" kern="1200" dirty="0">
                <a:solidFill>
                  <a:srgbClr val="000066"/>
                </a:solidFill>
                <a:latin typeface="Arial" panose="020B0604020202020204" pitchFamily="34" charset="0"/>
                <a:ea typeface="楷体_GB2312" pitchFamily="49" charset="-122"/>
              </a:rPr>
              <a:t>前者是连续的，后者是不连续的。数字信号的高、低电平可以用1、0两种逻辑状态来表示，因此，与模拟信号相比，数字信号更容易传输和处理。</a:t>
            </a:r>
            <a:endParaRPr lang="zh-CN" altLang="en-US" sz="2400" b="1" kern="1200" dirty="0">
              <a:solidFill>
                <a:srgbClr val="000066"/>
              </a:solidFill>
              <a:latin typeface="Arial" panose="020B0604020202020204" pitchFamily="34" charset="0"/>
              <a:ea typeface="楷体_GB2312" pitchFamily="49" charset="-122"/>
            </a:endParaRPr>
          </a:p>
          <a:p>
            <a:pPr marL="0" indent="0" eaLnBrk="1" latinLnBrk="0" hangingPunct="1">
              <a:lnSpc>
                <a:spcPct val="120000"/>
              </a:lnSpc>
              <a:spcBef>
                <a:spcPts val="0"/>
              </a:spcBef>
              <a:buNone/>
            </a:pPr>
            <a:endParaRPr lang="zh-CN" altLang="en-US" sz="2400" b="1" kern="1200" dirty="0">
              <a:solidFill>
                <a:srgbClr val="000066"/>
              </a:solidFill>
              <a:latin typeface="Arial" panose="020B0604020202020204" pitchFamily="34" charset="0"/>
              <a:ea typeface="楷体_GB2312" pitchFamily="49" charset="-122"/>
            </a:endParaRPr>
          </a:p>
        </p:txBody>
      </p:sp>
      <p:sp>
        <p:nvSpPr>
          <p:cNvPr id="6148" name="TextBox 6"/>
          <p:cNvSpPr txBox="1"/>
          <p:nvPr/>
        </p:nvSpPr>
        <p:spPr>
          <a:xfrm>
            <a:off x="3657600" y="533400"/>
            <a:ext cx="1875790" cy="583565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5pPr>
          </a:lstStyle>
          <a:p>
            <a:pPr marL="0" lvl="0" indent="0" algn="l" eaLnBrk="1" hangingPunct="1">
              <a:spcBef>
                <a:spcPct val="0"/>
              </a:spcBef>
              <a:buClrTx/>
              <a:buFontTx/>
              <a:buNone/>
            </a:pPr>
            <a:r>
              <a:rPr lang="zh-CN" altLang="en-US" b="1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本章小结</a:t>
            </a:r>
            <a:endParaRPr lang="zh-CN" altLang="en-US" b="1" dirty="0">
              <a:solidFill>
                <a:srgbClr val="FF0000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6150" name="灯片编号占位符 5"/>
          <p:cNvSpPr txBox="1">
            <a:spLocks noGrp="1"/>
          </p:cNvSpPr>
          <p:nvPr>
            <p:ph type="sldNum" sz="quarter" idx="12"/>
          </p:nvPr>
        </p:nvSpPr>
        <p:spPr>
          <a:xfrm>
            <a:off x="6553200" y="6537325"/>
            <a:ext cx="2133600" cy="244475"/>
          </a:xfrm>
        </p:spPr>
        <p:txBody>
          <a:bodyPr/>
          <a:p>
            <a:pPr marL="0" indent="0" algn="r" eaLnBrk="1" hangingPunct="1">
              <a:spcBef>
                <a:spcPct val="0"/>
              </a:spcBef>
              <a:buClrTx/>
              <a:buFontTx/>
              <a:buNone/>
            </a:pPr>
            <a:fld id="{9A0DB2DC-4C9A-4742-B13C-FB6460FD3503}" type="slidenum">
              <a:rPr lang="en-US" altLang="zh-CN" sz="1200" dirty="0">
                <a:solidFill>
                  <a:schemeClr val="bg1"/>
                </a:solidFill>
                <a:ea typeface="宋体" panose="02010600030101010101" pitchFamily="2" charset="-122"/>
              </a:rPr>
            </a:fld>
            <a:endParaRPr lang="en-US" altLang="zh-CN" sz="1200" dirty="0">
              <a:solidFill>
                <a:schemeClr val="bg1"/>
              </a:solidFill>
              <a:ea typeface="宋体" panose="02010600030101010101" pitchFamily="2" charset="-122"/>
            </a:endParaRPr>
          </a:p>
        </p:txBody>
      </p:sp>
      <p:sp>
        <p:nvSpPr>
          <p:cNvPr id="2" name="Rectangle 3"/>
          <p:cNvSpPr>
            <a:spLocks noGrp="1"/>
          </p:cNvSpPr>
          <p:nvPr/>
        </p:nvSpPr>
        <p:spPr>
          <a:xfrm>
            <a:off x="685800" y="3352800"/>
            <a:ext cx="8003540" cy="2304415"/>
          </a:xfrm>
          <a:prstGeom prst="rect">
            <a:avLst/>
          </a:prstGeom>
          <a:noFill/>
          <a:ln w="9525">
            <a:noFill/>
          </a:ln>
        </p:spPr>
        <p:txBody>
          <a:bodyPr vert="horz" wrap="square" lIns="91440" tIns="45720" rIns="91440" bIns="45720" anchor="t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9pPr>
          </a:lstStyle>
          <a:p>
            <a:pPr marL="0" indent="0" eaLnBrk="1" latinLnBrk="0" hangingPunct="1">
              <a:lnSpc>
                <a:spcPct val="120000"/>
              </a:lnSpc>
              <a:spcBef>
                <a:spcPts val="0"/>
              </a:spcBef>
              <a:buNone/>
            </a:pPr>
            <a:r>
              <a:rPr lang="en-US" altLang="zh-CN" sz="2400" b="1" kern="1200" dirty="0">
                <a:solidFill>
                  <a:srgbClr val="000066"/>
                </a:solidFill>
                <a:latin typeface="Arial" panose="020B0604020202020204" pitchFamily="34" charset="0"/>
                <a:ea typeface="楷体_GB2312" pitchFamily="49" charset="-122"/>
              </a:rPr>
              <a:t>       </a:t>
            </a:r>
            <a:r>
              <a:rPr lang="zh-CN" altLang="en-US" sz="2400" b="1" kern="1200" dirty="0">
                <a:solidFill>
                  <a:srgbClr val="000066"/>
                </a:solidFill>
                <a:latin typeface="Arial" panose="020B0604020202020204" pitchFamily="34" charset="0"/>
                <a:ea typeface="楷体_GB2312" pitchFamily="49" charset="-122"/>
              </a:rPr>
              <a:t>2. 能传送、变换和处理数字信号的电子电路是数字电路。根据电路结构的不同，数字电路可以分为分立元件电路和集成电路。实际应用中，由于集成电路具有体积小、集成度高、容易维护等特点，因此数字电路在设计过程中多以集成电路的形式出现。</a:t>
            </a:r>
            <a:endParaRPr lang="zh-CN" altLang="en-US" sz="2400" b="1" kern="1200" dirty="0">
              <a:solidFill>
                <a:srgbClr val="000066"/>
              </a:solidFill>
              <a:latin typeface="Arial" panose="020B0604020202020204" pitchFamily="34" charset="0"/>
              <a:ea typeface="楷体_GB2312" pitchFamily="49" charset="-122"/>
            </a:endParaRPr>
          </a:p>
          <a:p>
            <a:pPr marL="0" indent="0" eaLnBrk="1" latinLnBrk="0" hangingPunct="1">
              <a:lnSpc>
                <a:spcPct val="120000"/>
              </a:lnSpc>
              <a:spcBef>
                <a:spcPts val="0"/>
              </a:spcBef>
              <a:buNone/>
            </a:pPr>
            <a:endParaRPr lang="zh-CN" altLang="en-US" sz="2400" b="1" kern="1200" dirty="0">
              <a:solidFill>
                <a:srgbClr val="000066"/>
              </a:solidFill>
              <a:latin typeface="Arial" panose="020B0604020202020204" pitchFamily="34" charset="0"/>
              <a:ea typeface="楷体_GB2312" pitchFamily="49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4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7" dur="1" fill="hold"/>
                                        <p:tgtEl>
                                          <p:spTgt spid="2"/>
                                        </p:tgtEl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6147" name="Rectangle 3"/>
          <p:cNvSpPr>
            <a:spLocks noGrp="1"/>
          </p:cNvSpPr>
          <p:nvPr>
            <p:ph idx="1"/>
          </p:nvPr>
        </p:nvSpPr>
        <p:spPr>
          <a:xfrm>
            <a:off x="685800" y="1219200"/>
            <a:ext cx="8003540" cy="1892300"/>
          </a:xfrm>
        </p:spPr>
        <p:txBody>
          <a:bodyPr vert="horz" wrap="square" lIns="91440" tIns="45720" rIns="91440" bIns="45720" anchor="t" anchorCtr="0"/>
          <a:p>
            <a:pPr marL="0" indent="0" eaLnBrk="1" latinLnBrk="0" hangingPunct="1">
              <a:lnSpc>
                <a:spcPct val="120000"/>
              </a:lnSpc>
              <a:spcBef>
                <a:spcPts val="0"/>
              </a:spcBef>
              <a:buNone/>
            </a:pPr>
            <a:r>
              <a:rPr lang="en-US" altLang="zh-CN" sz="2400" b="1" kern="1200" dirty="0">
                <a:solidFill>
                  <a:srgbClr val="000066"/>
                </a:solidFill>
                <a:latin typeface="Arial" panose="020B0604020202020204" pitchFamily="34" charset="0"/>
                <a:ea typeface="楷体_GB2312" pitchFamily="49" charset="-122"/>
              </a:rPr>
              <a:t>       </a:t>
            </a:r>
            <a:r>
              <a:rPr lang="zh-CN" altLang="en-US" sz="2400" b="1" kern="1200" dirty="0">
                <a:solidFill>
                  <a:srgbClr val="000066"/>
                </a:solidFill>
                <a:latin typeface="Arial" panose="020B0604020202020204" pitchFamily="34" charset="0"/>
                <a:ea typeface="楷体_GB2312" pitchFamily="49" charset="-122"/>
              </a:rPr>
              <a:t>3. 二进制数是以2为基数的计数体制，计数规则是逢二进一。在数字电路中，数值的表示是以二进制形式出现的。在数字计算机中，为了便于人们识别和记忆，数值还可以用八进制、十六进制等进制来表示。</a:t>
            </a:r>
            <a:endParaRPr lang="zh-CN" altLang="en-US" sz="2400" b="1" kern="1200" dirty="0">
              <a:solidFill>
                <a:srgbClr val="000066"/>
              </a:solidFill>
              <a:latin typeface="Arial" panose="020B0604020202020204" pitchFamily="34" charset="0"/>
              <a:ea typeface="楷体_GB2312" pitchFamily="49" charset="-122"/>
            </a:endParaRPr>
          </a:p>
          <a:p>
            <a:pPr marL="0" indent="0" eaLnBrk="1" latinLnBrk="0" hangingPunct="1">
              <a:lnSpc>
                <a:spcPct val="120000"/>
              </a:lnSpc>
              <a:spcBef>
                <a:spcPts val="0"/>
              </a:spcBef>
              <a:buNone/>
            </a:pPr>
            <a:endParaRPr lang="zh-CN" altLang="en-US" sz="2400" b="1" kern="1200" dirty="0">
              <a:solidFill>
                <a:srgbClr val="000066"/>
              </a:solidFill>
              <a:latin typeface="Arial" panose="020B0604020202020204" pitchFamily="34" charset="0"/>
              <a:ea typeface="楷体_GB2312" pitchFamily="49" charset="-122"/>
            </a:endParaRPr>
          </a:p>
        </p:txBody>
      </p:sp>
      <p:sp>
        <p:nvSpPr>
          <p:cNvPr id="6148" name="TextBox 6"/>
          <p:cNvSpPr txBox="1"/>
          <p:nvPr/>
        </p:nvSpPr>
        <p:spPr>
          <a:xfrm>
            <a:off x="3657600" y="533400"/>
            <a:ext cx="1875790" cy="583565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5pPr>
          </a:lstStyle>
          <a:p>
            <a:pPr marL="0" lvl="0" indent="0" algn="l" eaLnBrk="1" hangingPunct="1">
              <a:spcBef>
                <a:spcPct val="0"/>
              </a:spcBef>
              <a:buClrTx/>
              <a:buFontTx/>
              <a:buNone/>
            </a:pPr>
            <a:r>
              <a:rPr lang="zh-CN" altLang="en-US" b="1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本章小结</a:t>
            </a:r>
            <a:endParaRPr lang="zh-CN" altLang="en-US" b="1" dirty="0">
              <a:solidFill>
                <a:srgbClr val="FF0000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6150" name="灯片编号占位符 5"/>
          <p:cNvSpPr txBox="1">
            <a:spLocks noGrp="1"/>
          </p:cNvSpPr>
          <p:nvPr>
            <p:ph type="sldNum" sz="quarter" idx="12"/>
          </p:nvPr>
        </p:nvSpPr>
        <p:spPr>
          <a:xfrm>
            <a:off x="6553200" y="6537325"/>
            <a:ext cx="2133600" cy="244475"/>
          </a:xfrm>
        </p:spPr>
        <p:txBody>
          <a:bodyPr/>
          <a:p>
            <a:pPr marL="0" indent="0" algn="r" eaLnBrk="1" hangingPunct="1">
              <a:spcBef>
                <a:spcPct val="0"/>
              </a:spcBef>
              <a:buClrTx/>
              <a:buFontTx/>
              <a:buNone/>
            </a:pPr>
            <a:fld id="{9A0DB2DC-4C9A-4742-B13C-FB6460FD3503}" type="slidenum">
              <a:rPr lang="en-US" altLang="zh-CN" sz="1200" dirty="0">
                <a:solidFill>
                  <a:schemeClr val="bg1"/>
                </a:solidFill>
                <a:ea typeface="宋体" panose="02010600030101010101" pitchFamily="2" charset="-122"/>
              </a:rPr>
            </a:fld>
            <a:endParaRPr lang="en-US" altLang="zh-CN" sz="1200" dirty="0">
              <a:solidFill>
                <a:schemeClr val="bg1"/>
              </a:solidFill>
              <a:ea typeface="宋体" panose="02010600030101010101" pitchFamily="2" charset="-122"/>
            </a:endParaRPr>
          </a:p>
        </p:txBody>
      </p:sp>
      <p:sp>
        <p:nvSpPr>
          <p:cNvPr id="2" name="Rectangle 3"/>
          <p:cNvSpPr>
            <a:spLocks noGrp="1"/>
          </p:cNvSpPr>
          <p:nvPr/>
        </p:nvSpPr>
        <p:spPr>
          <a:xfrm>
            <a:off x="685800" y="3048000"/>
            <a:ext cx="8003540" cy="3154680"/>
          </a:xfrm>
          <a:prstGeom prst="rect">
            <a:avLst/>
          </a:prstGeom>
          <a:noFill/>
          <a:ln w="9525">
            <a:noFill/>
          </a:ln>
        </p:spPr>
        <p:txBody>
          <a:bodyPr vert="horz" wrap="square" lIns="91440" tIns="45720" rIns="91440" bIns="45720" anchor="t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9pPr>
          </a:lstStyle>
          <a:p>
            <a:pPr marL="0" indent="0" eaLnBrk="1" latinLnBrk="0" hangingPunct="1">
              <a:lnSpc>
                <a:spcPct val="120000"/>
              </a:lnSpc>
              <a:spcBef>
                <a:spcPts val="0"/>
              </a:spcBef>
              <a:buNone/>
            </a:pPr>
            <a:r>
              <a:rPr lang="en-US" altLang="zh-CN" sz="2400" b="1" kern="1200" dirty="0">
                <a:solidFill>
                  <a:srgbClr val="000066"/>
                </a:solidFill>
                <a:latin typeface="Arial" panose="020B0604020202020204" pitchFamily="34" charset="0"/>
                <a:ea typeface="楷体_GB2312" pitchFamily="49" charset="-122"/>
              </a:rPr>
              <a:t>       </a:t>
            </a:r>
            <a:r>
              <a:rPr lang="zh-CN" altLang="en-US" sz="2400" b="1" kern="1200" dirty="0">
                <a:solidFill>
                  <a:srgbClr val="000066"/>
                </a:solidFill>
                <a:latin typeface="Arial" panose="020B0604020202020204" pitchFamily="34" charset="0"/>
                <a:ea typeface="楷体_GB2312" pitchFamily="49" charset="-122"/>
              </a:rPr>
              <a:t>4. 外界的数值、文字和符号等信息在数字系统传输或处理之前，必须变成有特定含义的二进制代码。在数字系统中，可采用BCD码和格雷码等二进制代码来表示数值的大小。BCD码又可分为有权BCD码和无权BCD码。常用的有权BCD码包括8421BCD码、5421BCD码和2421BCD码。此外，在数字计算机中采用ASCII码来表示数字、英文字母、控制字符和专用字符。</a:t>
            </a:r>
            <a:endParaRPr lang="zh-CN" altLang="en-US" sz="2400" b="1" kern="1200" dirty="0">
              <a:solidFill>
                <a:srgbClr val="000066"/>
              </a:solidFill>
              <a:latin typeface="Arial" panose="020B0604020202020204" pitchFamily="34" charset="0"/>
              <a:ea typeface="楷体_GB2312" pitchFamily="49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6147" name="Rectangle 3"/>
          <p:cNvSpPr>
            <a:spLocks noGrp="1"/>
          </p:cNvSpPr>
          <p:nvPr>
            <p:ph idx="1"/>
          </p:nvPr>
        </p:nvSpPr>
        <p:spPr>
          <a:xfrm>
            <a:off x="533400" y="1981200"/>
            <a:ext cx="8003540" cy="2486025"/>
          </a:xfrm>
        </p:spPr>
        <p:txBody>
          <a:bodyPr vert="horz" wrap="square" lIns="91440" tIns="45720" rIns="91440" bIns="45720" anchor="t" anchorCtr="0"/>
          <a:p>
            <a:pPr marL="0" indent="0" algn="ctr" eaLnBrk="1" latinLnBrk="0" hangingPunct="1">
              <a:lnSpc>
                <a:spcPct val="120000"/>
              </a:lnSpc>
              <a:spcBef>
                <a:spcPts val="0"/>
              </a:spcBef>
              <a:buNone/>
            </a:pPr>
            <a:r>
              <a:rPr lang="en-US" altLang="zh-CN" b="1" kern="1200" dirty="0">
                <a:solidFill>
                  <a:srgbClr val="000066"/>
                </a:solidFill>
                <a:latin typeface="Arial" panose="020B0604020202020204" pitchFamily="34" charset="0"/>
                <a:ea typeface="楷体_GB2312" pitchFamily="49" charset="-122"/>
              </a:rPr>
              <a:t>P12-13</a:t>
            </a:r>
            <a:endParaRPr lang="en-US" altLang="zh-CN" b="1" kern="1200" dirty="0">
              <a:solidFill>
                <a:srgbClr val="000066"/>
              </a:solidFill>
              <a:latin typeface="Arial" panose="020B0604020202020204" pitchFamily="34" charset="0"/>
              <a:ea typeface="楷体_GB2312" pitchFamily="49" charset="-122"/>
            </a:endParaRPr>
          </a:p>
          <a:p>
            <a:pPr marL="0" indent="0" eaLnBrk="1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lang="en-US" altLang="zh-CN" sz="2400" b="1" kern="1200" dirty="0">
                <a:solidFill>
                  <a:srgbClr val="000066"/>
                </a:solidFill>
                <a:latin typeface="Arial" panose="020B0604020202020204" pitchFamily="34" charset="0"/>
                <a:ea typeface="楷体_GB2312" pitchFamily="49" charset="-122"/>
              </a:rPr>
              <a:t>         </a:t>
            </a:r>
            <a:r>
              <a:rPr lang="en-US" altLang="zh-CN" sz="2800" b="1" kern="1200" dirty="0">
                <a:solidFill>
                  <a:srgbClr val="000066"/>
                </a:solidFill>
                <a:latin typeface="Arial" panose="020B0604020202020204" pitchFamily="34" charset="0"/>
                <a:ea typeface="楷体_GB2312" pitchFamily="49" charset="-122"/>
              </a:rPr>
              <a:t>  </a:t>
            </a:r>
            <a:r>
              <a:rPr lang="zh-CN" altLang="en-US" sz="2800" b="1" kern="1200" dirty="0">
                <a:solidFill>
                  <a:srgbClr val="000066"/>
                </a:solidFill>
                <a:latin typeface="Arial" panose="020B0604020202020204" pitchFamily="34" charset="0"/>
                <a:ea typeface="楷体_GB2312" pitchFamily="49" charset="-122"/>
              </a:rPr>
              <a:t>题</a:t>
            </a:r>
            <a:r>
              <a:rPr lang="en-US" altLang="zh-CN" sz="2800" b="1" kern="1200" dirty="0">
                <a:solidFill>
                  <a:srgbClr val="000066"/>
                </a:solidFill>
                <a:latin typeface="Arial" panose="020B0604020202020204" pitchFamily="34" charset="0"/>
                <a:ea typeface="楷体_GB2312" pitchFamily="49" charset="-122"/>
              </a:rPr>
              <a:t>1-7 </a:t>
            </a:r>
            <a:r>
              <a:rPr lang="zh-CN" altLang="en-US" sz="2800" b="1" kern="1200" dirty="0">
                <a:solidFill>
                  <a:srgbClr val="000066"/>
                </a:solidFill>
                <a:latin typeface="Arial" panose="020B0604020202020204" pitchFamily="34" charset="0"/>
                <a:ea typeface="楷体_GB2312" pitchFamily="49" charset="-122"/>
              </a:rPr>
              <a:t>（</a:t>
            </a:r>
            <a:r>
              <a:rPr lang="en-US" altLang="zh-CN" sz="2800" b="1" kern="1200" dirty="0">
                <a:solidFill>
                  <a:srgbClr val="000066"/>
                </a:solidFill>
                <a:latin typeface="Arial" panose="020B0604020202020204" pitchFamily="34" charset="0"/>
                <a:ea typeface="楷体_GB2312" pitchFamily="49" charset="-122"/>
              </a:rPr>
              <a:t>2</a:t>
            </a:r>
            <a:r>
              <a:rPr lang="zh-CN" altLang="en-US" sz="2800" b="1" kern="1200" dirty="0">
                <a:solidFill>
                  <a:srgbClr val="000066"/>
                </a:solidFill>
                <a:latin typeface="Arial" panose="020B0604020202020204" pitchFamily="34" charset="0"/>
                <a:ea typeface="楷体_GB2312" pitchFamily="49" charset="-122"/>
              </a:rPr>
              <a:t>）、</a:t>
            </a:r>
            <a:r>
              <a:rPr lang="zh-CN" altLang="en-US" sz="2800" b="1" kern="1200" dirty="0">
                <a:solidFill>
                  <a:srgbClr val="000066"/>
                </a:solidFill>
                <a:latin typeface="Arial" panose="020B0604020202020204" pitchFamily="34" charset="0"/>
                <a:ea typeface="楷体_GB2312" pitchFamily="49" charset="-122"/>
                <a:sym typeface="+mn-ea"/>
              </a:rPr>
              <a:t>题</a:t>
            </a:r>
            <a:r>
              <a:rPr lang="en-US" altLang="zh-CN" sz="2800" b="1" kern="1200" dirty="0">
                <a:solidFill>
                  <a:srgbClr val="000066"/>
                </a:solidFill>
                <a:latin typeface="Arial" panose="020B0604020202020204" pitchFamily="34" charset="0"/>
                <a:ea typeface="楷体_GB2312" pitchFamily="49" charset="-122"/>
                <a:sym typeface="+mn-ea"/>
              </a:rPr>
              <a:t>1-8 </a:t>
            </a:r>
            <a:r>
              <a:rPr lang="zh-CN" altLang="en-US" sz="2800" b="1" kern="1200" dirty="0">
                <a:solidFill>
                  <a:srgbClr val="000066"/>
                </a:solidFill>
                <a:latin typeface="Arial" panose="020B0604020202020204" pitchFamily="34" charset="0"/>
                <a:ea typeface="楷体_GB2312" pitchFamily="49" charset="-122"/>
                <a:sym typeface="+mn-ea"/>
              </a:rPr>
              <a:t>（</a:t>
            </a:r>
            <a:r>
              <a:rPr lang="en-US" altLang="zh-CN" sz="2800" b="1" kern="1200" dirty="0">
                <a:solidFill>
                  <a:srgbClr val="000066"/>
                </a:solidFill>
                <a:latin typeface="Arial" panose="020B0604020202020204" pitchFamily="34" charset="0"/>
                <a:ea typeface="楷体_GB2312" pitchFamily="49" charset="-122"/>
                <a:sym typeface="+mn-ea"/>
              </a:rPr>
              <a:t>4</a:t>
            </a:r>
            <a:r>
              <a:rPr lang="zh-CN" altLang="en-US" sz="2800" b="1" kern="1200" dirty="0">
                <a:solidFill>
                  <a:srgbClr val="000066"/>
                </a:solidFill>
                <a:latin typeface="Arial" panose="020B0604020202020204" pitchFamily="34" charset="0"/>
                <a:ea typeface="楷体_GB2312" pitchFamily="49" charset="-122"/>
                <a:sym typeface="+mn-ea"/>
              </a:rPr>
              <a:t>）、题</a:t>
            </a:r>
            <a:r>
              <a:rPr lang="en-US" altLang="zh-CN" sz="2800" b="1" kern="1200" dirty="0">
                <a:solidFill>
                  <a:srgbClr val="000066"/>
                </a:solidFill>
                <a:latin typeface="Arial" panose="020B0604020202020204" pitchFamily="34" charset="0"/>
                <a:ea typeface="楷体_GB2312" pitchFamily="49" charset="-122"/>
                <a:sym typeface="+mn-ea"/>
              </a:rPr>
              <a:t>1-11 </a:t>
            </a:r>
            <a:r>
              <a:rPr lang="zh-CN" altLang="en-US" sz="2800" b="1" kern="1200" dirty="0">
                <a:solidFill>
                  <a:srgbClr val="000066"/>
                </a:solidFill>
                <a:latin typeface="Arial" panose="020B0604020202020204" pitchFamily="34" charset="0"/>
                <a:ea typeface="楷体_GB2312" pitchFamily="49" charset="-122"/>
                <a:sym typeface="+mn-ea"/>
              </a:rPr>
              <a:t>（</a:t>
            </a:r>
            <a:r>
              <a:rPr lang="en-US" altLang="zh-CN" sz="2800" b="1" kern="1200" dirty="0">
                <a:solidFill>
                  <a:srgbClr val="000066"/>
                </a:solidFill>
                <a:latin typeface="Arial" panose="020B0604020202020204" pitchFamily="34" charset="0"/>
                <a:ea typeface="楷体_GB2312" pitchFamily="49" charset="-122"/>
                <a:sym typeface="+mn-ea"/>
              </a:rPr>
              <a:t>4</a:t>
            </a:r>
            <a:r>
              <a:rPr lang="zh-CN" altLang="en-US" sz="2800" b="1" kern="1200" dirty="0">
                <a:solidFill>
                  <a:srgbClr val="000066"/>
                </a:solidFill>
                <a:latin typeface="Arial" panose="020B0604020202020204" pitchFamily="34" charset="0"/>
                <a:ea typeface="楷体_GB2312" pitchFamily="49" charset="-122"/>
                <a:sym typeface="+mn-ea"/>
              </a:rPr>
              <a:t>）、</a:t>
            </a:r>
            <a:endParaRPr lang="zh-CN" altLang="en-US" sz="2800" b="1" kern="1200" dirty="0">
              <a:solidFill>
                <a:srgbClr val="000066"/>
              </a:solidFill>
              <a:latin typeface="Arial" panose="020B0604020202020204" pitchFamily="34" charset="0"/>
              <a:ea typeface="楷体_GB2312" pitchFamily="49" charset="-122"/>
              <a:sym typeface="+mn-ea"/>
            </a:endParaRPr>
          </a:p>
          <a:p>
            <a:pPr marL="0" indent="0" eaLnBrk="1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lang="en-US" altLang="zh-CN" sz="2800" b="1" kern="1200" dirty="0">
                <a:solidFill>
                  <a:srgbClr val="000066"/>
                </a:solidFill>
                <a:latin typeface="Arial" panose="020B0604020202020204" pitchFamily="34" charset="0"/>
                <a:ea typeface="楷体_GB2312" pitchFamily="49" charset="-122"/>
                <a:sym typeface="+mn-ea"/>
              </a:rPr>
              <a:t>         </a:t>
            </a:r>
            <a:r>
              <a:rPr lang="zh-CN" altLang="en-US" sz="2800" b="1" kern="1200" dirty="0">
                <a:solidFill>
                  <a:srgbClr val="000066"/>
                </a:solidFill>
                <a:latin typeface="Arial" panose="020B0604020202020204" pitchFamily="34" charset="0"/>
                <a:ea typeface="楷体_GB2312" pitchFamily="49" charset="-122"/>
                <a:sym typeface="+mn-ea"/>
              </a:rPr>
              <a:t>题</a:t>
            </a:r>
            <a:r>
              <a:rPr lang="en-US" altLang="zh-CN" sz="2800" b="1" kern="1200" dirty="0">
                <a:solidFill>
                  <a:srgbClr val="000066"/>
                </a:solidFill>
                <a:latin typeface="Arial" panose="020B0604020202020204" pitchFamily="34" charset="0"/>
                <a:ea typeface="楷体_GB2312" pitchFamily="49" charset="-122"/>
                <a:sym typeface="+mn-ea"/>
              </a:rPr>
              <a:t>1-12 </a:t>
            </a:r>
            <a:r>
              <a:rPr lang="zh-CN" altLang="en-US" sz="2800" b="1" kern="1200" dirty="0">
                <a:solidFill>
                  <a:srgbClr val="000066"/>
                </a:solidFill>
                <a:latin typeface="Arial" panose="020B0604020202020204" pitchFamily="34" charset="0"/>
                <a:ea typeface="楷体_GB2312" pitchFamily="49" charset="-122"/>
                <a:sym typeface="+mn-ea"/>
              </a:rPr>
              <a:t>（</a:t>
            </a:r>
            <a:r>
              <a:rPr lang="en-US" altLang="zh-CN" sz="2800" b="1" kern="1200" dirty="0">
                <a:solidFill>
                  <a:srgbClr val="000066"/>
                </a:solidFill>
                <a:latin typeface="Arial" panose="020B0604020202020204" pitchFamily="34" charset="0"/>
                <a:ea typeface="楷体_GB2312" pitchFamily="49" charset="-122"/>
                <a:sym typeface="+mn-ea"/>
              </a:rPr>
              <a:t>4</a:t>
            </a:r>
            <a:r>
              <a:rPr lang="zh-CN" altLang="en-US" sz="2800" b="1" kern="1200" dirty="0">
                <a:solidFill>
                  <a:srgbClr val="000066"/>
                </a:solidFill>
                <a:latin typeface="Arial" panose="020B0604020202020204" pitchFamily="34" charset="0"/>
                <a:ea typeface="楷体_GB2312" pitchFamily="49" charset="-122"/>
                <a:sym typeface="+mn-ea"/>
              </a:rPr>
              <a:t>）、题</a:t>
            </a:r>
            <a:r>
              <a:rPr lang="en-US" altLang="zh-CN" sz="2800" b="1" kern="1200" dirty="0">
                <a:solidFill>
                  <a:srgbClr val="000066"/>
                </a:solidFill>
                <a:latin typeface="Arial" panose="020B0604020202020204" pitchFamily="34" charset="0"/>
                <a:ea typeface="楷体_GB2312" pitchFamily="49" charset="-122"/>
                <a:sym typeface="+mn-ea"/>
              </a:rPr>
              <a:t>1-13</a:t>
            </a:r>
            <a:r>
              <a:rPr lang="zh-CN" altLang="en-US" sz="2800" b="1" kern="1200" dirty="0">
                <a:solidFill>
                  <a:srgbClr val="000066"/>
                </a:solidFill>
                <a:latin typeface="Arial" panose="020B0604020202020204" pitchFamily="34" charset="0"/>
                <a:ea typeface="楷体_GB2312" pitchFamily="49" charset="-122"/>
                <a:sym typeface="+mn-ea"/>
              </a:rPr>
              <a:t>（</a:t>
            </a:r>
            <a:r>
              <a:rPr lang="en-US" altLang="zh-CN" sz="2800" b="1" kern="1200" dirty="0">
                <a:solidFill>
                  <a:srgbClr val="000066"/>
                </a:solidFill>
                <a:latin typeface="Arial" panose="020B0604020202020204" pitchFamily="34" charset="0"/>
                <a:ea typeface="楷体_GB2312" pitchFamily="49" charset="-122"/>
                <a:sym typeface="+mn-ea"/>
              </a:rPr>
              <a:t>2</a:t>
            </a:r>
            <a:r>
              <a:rPr lang="zh-CN" altLang="en-US" sz="2800" b="1" kern="1200" dirty="0">
                <a:solidFill>
                  <a:srgbClr val="000066"/>
                </a:solidFill>
                <a:latin typeface="Arial" panose="020B0604020202020204" pitchFamily="34" charset="0"/>
                <a:ea typeface="楷体_GB2312" pitchFamily="49" charset="-122"/>
                <a:sym typeface="+mn-ea"/>
              </a:rPr>
              <a:t>）、题</a:t>
            </a:r>
            <a:r>
              <a:rPr lang="en-US" altLang="zh-CN" sz="2800" b="1" kern="1200" dirty="0">
                <a:solidFill>
                  <a:srgbClr val="000066"/>
                </a:solidFill>
                <a:latin typeface="Arial" panose="020B0604020202020204" pitchFamily="34" charset="0"/>
                <a:ea typeface="楷体_GB2312" pitchFamily="49" charset="-122"/>
                <a:sym typeface="+mn-ea"/>
              </a:rPr>
              <a:t>1-14</a:t>
            </a:r>
            <a:r>
              <a:rPr lang="zh-CN" altLang="en-US" sz="2800" b="1" kern="1200" dirty="0">
                <a:solidFill>
                  <a:srgbClr val="000066"/>
                </a:solidFill>
                <a:latin typeface="Arial" panose="020B0604020202020204" pitchFamily="34" charset="0"/>
                <a:ea typeface="楷体_GB2312" pitchFamily="49" charset="-122"/>
                <a:sym typeface="+mn-ea"/>
              </a:rPr>
              <a:t>（</a:t>
            </a:r>
            <a:r>
              <a:rPr lang="en-US" altLang="zh-CN" sz="2800" b="1" kern="1200" dirty="0">
                <a:solidFill>
                  <a:srgbClr val="000066"/>
                </a:solidFill>
                <a:latin typeface="Arial" panose="020B0604020202020204" pitchFamily="34" charset="0"/>
                <a:ea typeface="楷体_GB2312" pitchFamily="49" charset="-122"/>
                <a:sym typeface="+mn-ea"/>
              </a:rPr>
              <a:t>3</a:t>
            </a:r>
            <a:r>
              <a:rPr lang="zh-CN" altLang="en-US" sz="2800" b="1" kern="1200" dirty="0">
                <a:solidFill>
                  <a:srgbClr val="000066"/>
                </a:solidFill>
                <a:latin typeface="Arial" panose="020B0604020202020204" pitchFamily="34" charset="0"/>
                <a:ea typeface="楷体_GB2312" pitchFamily="49" charset="-122"/>
                <a:sym typeface="+mn-ea"/>
              </a:rPr>
              <a:t>）、</a:t>
            </a:r>
            <a:endParaRPr lang="zh-CN" altLang="en-US" sz="2800" b="1" kern="1200" dirty="0">
              <a:solidFill>
                <a:srgbClr val="000066"/>
              </a:solidFill>
              <a:latin typeface="Arial" panose="020B0604020202020204" pitchFamily="34" charset="0"/>
              <a:ea typeface="楷体_GB2312" pitchFamily="49" charset="-122"/>
              <a:sym typeface="+mn-ea"/>
            </a:endParaRPr>
          </a:p>
          <a:p>
            <a:pPr marL="0" indent="0" eaLnBrk="1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lang="en-US" altLang="zh-CN" sz="2800" b="1" kern="1200" dirty="0">
                <a:solidFill>
                  <a:srgbClr val="000066"/>
                </a:solidFill>
                <a:latin typeface="Arial" panose="020B0604020202020204" pitchFamily="34" charset="0"/>
                <a:ea typeface="楷体_GB2312" pitchFamily="49" charset="-122"/>
                <a:sym typeface="+mn-ea"/>
              </a:rPr>
              <a:t>          </a:t>
            </a:r>
            <a:r>
              <a:rPr lang="zh-CN" altLang="en-US" sz="2800" b="1" kern="1200" dirty="0">
                <a:solidFill>
                  <a:srgbClr val="000066"/>
                </a:solidFill>
                <a:latin typeface="Arial" panose="020B0604020202020204" pitchFamily="34" charset="0"/>
                <a:ea typeface="楷体_GB2312" pitchFamily="49" charset="-122"/>
                <a:sym typeface="+mn-ea"/>
              </a:rPr>
              <a:t>题</a:t>
            </a:r>
            <a:r>
              <a:rPr lang="en-US" altLang="zh-CN" sz="2800" b="1" kern="1200" dirty="0">
                <a:solidFill>
                  <a:srgbClr val="000066"/>
                </a:solidFill>
                <a:latin typeface="Arial" panose="020B0604020202020204" pitchFamily="34" charset="0"/>
                <a:ea typeface="楷体_GB2312" pitchFamily="49" charset="-122"/>
                <a:sym typeface="+mn-ea"/>
              </a:rPr>
              <a:t>1-15 </a:t>
            </a:r>
            <a:r>
              <a:rPr lang="zh-CN" altLang="en-US" sz="2800" b="1" kern="1200" dirty="0">
                <a:solidFill>
                  <a:srgbClr val="000066"/>
                </a:solidFill>
                <a:latin typeface="Arial" panose="020B0604020202020204" pitchFamily="34" charset="0"/>
                <a:ea typeface="楷体_GB2312" pitchFamily="49" charset="-122"/>
                <a:sym typeface="+mn-ea"/>
              </a:rPr>
              <a:t>（</a:t>
            </a:r>
            <a:r>
              <a:rPr lang="en-US" altLang="zh-CN" sz="2800" b="1" kern="1200" dirty="0">
                <a:solidFill>
                  <a:srgbClr val="000066"/>
                </a:solidFill>
                <a:latin typeface="Arial" panose="020B0604020202020204" pitchFamily="34" charset="0"/>
                <a:ea typeface="楷体_GB2312" pitchFamily="49" charset="-122"/>
                <a:sym typeface="+mn-ea"/>
              </a:rPr>
              <a:t>1</a:t>
            </a:r>
            <a:r>
              <a:rPr lang="zh-CN" altLang="en-US" sz="2800" b="1" kern="1200" dirty="0">
                <a:solidFill>
                  <a:srgbClr val="000066"/>
                </a:solidFill>
                <a:latin typeface="Arial" panose="020B0604020202020204" pitchFamily="34" charset="0"/>
                <a:ea typeface="楷体_GB2312" pitchFamily="49" charset="-122"/>
                <a:sym typeface="+mn-ea"/>
              </a:rPr>
              <a:t>）、题</a:t>
            </a:r>
            <a:r>
              <a:rPr lang="en-US" altLang="zh-CN" sz="2800" b="1" kern="1200" dirty="0">
                <a:solidFill>
                  <a:srgbClr val="000066"/>
                </a:solidFill>
                <a:latin typeface="Arial" panose="020B0604020202020204" pitchFamily="34" charset="0"/>
                <a:ea typeface="楷体_GB2312" pitchFamily="49" charset="-122"/>
                <a:sym typeface="+mn-ea"/>
              </a:rPr>
              <a:t>1-16 </a:t>
            </a:r>
            <a:r>
              <a:rPr lang="zh-CN" altLang="en-US" sz="2800" b="1" kern="1200" dirty="0">
                <a:solidFill>
                  <a:srgbClr val="000066"/>
                </a:solidFill>
                <a:latin typeface="Arial" panose="020B0604020202020204" pitchFamily="34" charset="0"/>
                <a:ea typeface="楷体_GB2312" pitchFamily="49" charset="-122"/>
                <a:sym typeface="+mn-ea"/>
              </a:rPr>
              <a:t>（</a:t>
            </a:r>
            <a:r>
              <a:rPr lang="en-US" altLang="zh-CN" sz="2800" b="1" kern="1200" dirty="0">
                <a:solidFill>
                  <a:srgbClr val="000066"/>
                </a:solidFill>
                <a:latin typeface="Arial" panose="020B0604020202020204" pitchFamily="34" charset="0"/>
                <a:ea typeface="楷体_GB2312" pitchFamily="49" charset="-122"/>
                <a:sym typeface="+mn-ea"/>
              </a:rPr>
              <a:t>3</a:t>
            </a:r>
            <a:r>
              <a:rPr lang="zh-CN" altLang="en-US" sz="2800" b="1" kern="1200" dirty="0">
                <a:solidFill>
                  <a:srgbClr val="000066"/>
                </a:solidFill>
                <a:latin typeface="Arial" panose="020B0604020202020204" pitchFamily="34" charset="0"/>
                <a:ea typeface="楷体_GB2312" pitchFamily="49" charset="-122"/>
                <a:sym typeface="+mn-ea"/>
              </a:rPr>
              <a:t>）</a:t>
            </a:r>
            <a:endParaRPr lang="zh-CN" altLang="en-US" sz="2800" b="1" kern="1200" dirty="0">
              <a:solidFill>
                <a:srgbClr val="000066"/>
              </a:solidFill>
              <a:latin typeface="Arial" panose="020B0604020202020204" pitchFamily="34" charset="0"/>
              <a:ea typeface="楷体_GB2312" pitchFamily="49" charset="-122"/>
            </a:endParaRPr>
          </a:p>
          <a:p>
            <a:pPr marL="0" indent="0" eaLnBrk="1" latinLnBrk="0" hangingPunct="1">
              <a:lnSpc>
                <a:spcPct val="120000"/>
              </a:lnSpc>
              <a:spcBef>
                <a:spcPts val="0"/>
              </a:spcBef>
              <a:buNone/>
            </a:pPr>
            <a:endParaRPr lang="zh-CN" altLang="en-US" sz="2400" b="1" kern="1200" dirty="0">
              <a:solidFill>
                <a:srgbClr val="000066"/>
              </a:solidFill>
              <a:latin typeface="Arial" panose="020B0604020202020204" pitchFamily="34" charset="0"/>
              <a:ea typeface="楷体_GB2312" pitchFamily="49" charset="-122"/>
            </a:endParaRPr>
          </a:p>
          <a:p>
            <a:pPr marL="0" indent="0" eaLnBrk="1" latinLnBrk="0" hangingPunct="1">
              <a:lnSpc>
                <a:spcPct val="120000"/>
              </a:lnSpc>
              <a:spcBef>
                <a:spcPts val="0"/>
              </a:spcBef>
              <a:buNone/>
            </a:pPr>
            <a:endParaRPr lang="zh-CN" altLang="en-US" sz="2400" b="1" kern="1200" dirty="0">
              <a:solidFill>
                <a:srgbClr val="000066"/>
              </a:solidFill>
              <a:latin typeface="Arial" panose="020B0604020202020204" pitchFamily="34" charset="0"/>
              <a:ea typeface="楷体_GB2312" pitchFamily="49" charset="-122"/>
            </a:endParaRPr>
          </a:p>
        </p:txBody>
      </p:sp>
      <p:sp>
        <p:nvSpPr>
          <p:cNvPr id="6148" name="TextBox 6"/>
          <p:cNvSpPr txBox="1"/>
          <p:nvPr/>
        </p:nvSpPr>
        <p:spPr>
          <a:xfrm>
            <a:off x="3657600" y="533400"/>
            <a:ext cx="1875790" cy="583565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5pPr>
          </a:lstStyle>
          <a:p>
            <a:pPr marL="0" lvl="0" indent="0" algn="l" eaLnBrk="1" hangingPunct="1">
              <a:spcBef>
                <a:spcPct val="0"/>
              </a:spcBef>
              <a:buClrTx/>
              <a:buFontTx/>
              <a:buNone/>
            </a:pPr>
            <a:r>
              <a:rPr lang="zh-CN" altLang="en-US" b="1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本章作业</a:t>
            </a:r>
            <a:endParaRPr lang="zh-CN" altLang="en-US" b="1" dirty="0">
              <a:solidFill>
                <a:srgbClr val="FF0000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6150" name="灯片编号占位符 5"/>
          <p:cNvSpPr txBox="1">
            <a:spLocks noGrp="1"/>
          </p:cNvSpPr>
          <p:nvPr>
            <p:ph type="sldNum" sz="quarter" idx="12"/>
          </p:nvPr>
        </p:nvSpPr>
        <p:spPr>
          <a:xfrm>
            <a:off x="6553200" y="6537325"/>
            <a:ext cx="2133600" cy="244475"/>
          </a:xfrm>
        </p:spPr>
        <p:txBody>
          <a:bodyPr/>
          <a:p>
            <a:pPr marL="0" indent="0" algn="r" eaLnBrk="1" hangingPunct="1">
              <a:spcBef>
                <a:spcPct val="0"/>
              </a:spcBef>
              <a:buClrTx/>
              <a:buFontTx/>
              <a:buNone/>
            </a:pPr>
            <a:fld id="{9A0DB2DC-4C9A-4742-B13C-FB6460FD3503}" type="slidenum">
              <a:rPr lang="en-US" altLang="zh-CN" sz="1200" dirty="0">
                <a:solidFill>
                  <a:schemeClr val="bg1"/>
                </a:solidFill>
                <a:ea typeface="宋体" panose="02010600030101010101" pitchFamily="2" charset="-122"/>
              </a:rPr>
            </a:fld>
            <a:endParaRPr lang="en-US" altLang="zh-CN" sz="1200" dirty="0">
              <a:solidFill>
                <a:schemeClr val="bg1"/>
              </a:solidFill>
              <a:ea typeface="宋体" panose="02010600030101010101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ags/tag1.xml><?xml version="1.0" encoding="utf-8"?>
<p:tagLst xmlns:p="http://schemas.openxmlformats.org/presentationml/2006/main">
  <p:tag name="KSO_WM_UNIT_PLACING_PICTURE_USER_VIEWPORT" val="{&quot;height&quot;:3260,&quot;width&quot;:4758}"/>
</p:tagLst>
</file>

<file path=ppt/tags/tag2.xml><?xml version="1.0" encoding="utf-8"?>
<p:tagLst xmlns:p="http://schemas.openxmlformats.org/presentationml/2006/main">
  <p:tag name="KSO_WM_UNIT_PLACING_PICTURE_USER_VIEWPORT" val="{&quot;height&quot;:5740,&quot;width&quot;:12113}"/>
</p:tagLst>
</file>

<file path=ppt/theme/theme1.xml><?xml version="1.0" encoding="utf-8"?>
<a:theme xmlns:a="http://schemas.openxmlformats.org/drawingml/2006/main" name="Default Design">
  <a:themeElements>
    <a:clrScheme name="Default Design 3">
      <a:dk1>
        <a:srgbClr val="080808"/>
      </a:dk1>
      <a:lt1>
        <a:srgbClr val="FFFFFF"/>
      </a:lt1>
      <a:dk2>
        <a:srgbClr val="A59A55"/>
      </a:dk2>
      <a:lt2>
        <a:srgbClr val="DDDDDD"/>
      </a:lt2>
      <a:accent1>
        <a:srgbClr val="4AB1E4"/>
      </a:accent1>
      <a:accent2>
        <a:srgbClr val="8F038F"/>
      </a:accent2>
      <a:accent3>
        <a:srgbClr val="FFFFFF"/>
      </a:accent3>
      <a:accent4>
        <a:srgbClr val="060606"/>
      </a:accent4>
      <a:accent5>
        <a:srgbClr val="B1D5EF"/>
      </a:accent5>
      <a:accent6>
        <a:srgbClr val="810281"/>
      </a:accent6>
      <a:hlink>
        <a:srgbClr val="F77A1D"/>
      </a:hlink>
      <a:folHlink>
        <a:srgbClr val="5BBE4E"/>
      </a:folHlink>
    </a:clrScheme>
    <a:fontScheme name="Default Design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raClrSchemeLst>
    <a:extraClrScheme>
      <a:clrScheme name="Default Design 1">
        <a:dk1>
          <a:srgbClr val="5F5F5F"/>
        </a:dk1>
        <a:lt1>
          <a:srgbClr val="FFFFFF"/>
        </a:lt1>
        <a:dk2>
          <a:srgbClr val="C36609"/>
        </a:dk2>
        <a:lt2>
          <a:srgbClr val="DDDDDD"/>
        </a:lt2>
        <a:accent1>
          <a:srgbClr val="D2B94E"/>
        </a:accent1>
        <a:accent2>
          <a:srgbClr val="2395B9"/>
        </a:accent2>
        <a:accent3>
          <a:srgbClr val="FFFFFF"/>
        </a:accent3>
        <a:accent4>
          <a:srgbClr val="505050"/>
        </a:accent4>
        <a:accent5>
          <a:srgbClr val="E5D9B2"/>
        </a:accent5>
        <a:accent6>
          <a:srgbClr val="1F87A7"/>
        </a:accent6>
        <a:hlink>
          <a:srgbClr val="5C984E"/>
        </a:hlink>
        <a:folHlink>
          <a:srgbClr val="B5C77B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5F5F5F"/>
        </a:dk1>
        <a:lt1>
          <a:srgbClr val="FFFFFF"/>
        </a:lt1>
        <a:dk2>
          <a:srgbClr val="9FC591"/>
        </a:dk2>
        <a:lt2>
          <a:srgbClr val="DDDDDD"/>
        </a:lt2>
        <a:accent1>
          <a:srgbClr val="7B82B7"/>
        </a:accent1>
        <a:accent2>
          <a:srgbClr val="8D337C"/>
        </a:accent2>
        <a:accent3>
          <a:srgbClr val="FFFFFF"/>
        </a:accent3>
        <a:accent4>
          <a:srgbClr val="505050"/>
        </a:accent4>
        <a:accent5>
          <a:srgbClr val="BFC1D8"/>
        </a:accent5>
        <a:accent6>
          <a:srgbClr val="7F2D70"/>
        </a:accent6>
        <a:hlink>
          <a:srgbClr val="CC87E1"/>
        </a:hlink>
        <a:folHlink>
          <a:srgbClr val="76C5D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80808"/>
        </a:dk1>
        <a:lt1>
          <a:srgbClr val="FFFFFF"/>
        </a:lt1>
        <a:dk2>
          <a:srgbClr val="A59A55"/>
        </a:dk2>
        <a:lt2>
          <a:srgbClr val="DDDDDD"/>
        </a:lt2>
        <a:accent1>
          <a:srgbClr val="4AB1E4"/>
        </a:accent1>
        <a:accent2>
          <a:srgbClr val="8F038F"/>
        </a:accent2>
        <a:accent3>
          <a:srgbClr val="FFFFFF"/>
        </a:accent3>
        <a:accent4>
          <a:srgbClr val="060606"/>
        </a:accent4>
        <a:accent5>
          <a:srgbClr val="B1D5EF"/>
        </a:accent5>
        <a:accent6>
          <a:srgbClr val="810281"/>
        </a:accent6>
        <a:hlink>
          <a:srgbClr val="F77A1D"/>
        </a:hlink>
        <a:folHlink>
          <a:srgbClr val="5BBE4E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7739</Words>
  <Application>WPS 演示</Application>
  <PresentationFormat>全屏显示(4:3)</PresentationFormat>
  <Paragraphs>653</Paragraphs>
  <Slides>42</Slides>
  <Notes>8</Notes>
  <HiddenSlides>0</HiddenSlides>
  <MMClips>0</MMClips>
  <ScaleCrop>false</ScaleCrop>
  <HeadingPairs>
    <vt:vector size="8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1</vt:i4>
      </vt:variant>
      <vt:variant>
        <vt:lpstr>嵌入 OLE 服务器</vt:lpstr>
      </vt:variant>
      <vt:variant>
        <vt:i4>20</vt:i4>
      </vt:variant>
      <vt:variant>
        <vt:lpstr>幻灯片标题</vt:lpstr>
      </vt:variant>
      <vt:variant>
        <vt:i4>42</vt:i4>
      </vt:variant>
    </vt:vector>
  </HeadingPairs>
  <TitlesOfParts>
    <vt:vector size="74" baseType="lpstr">
      <vt:lpstr>Arial</vt:lpstr>
      <vt:lpstr>宋体</vt:lpstr>
      <vt:lpstr>Wingdings</vt:lpstr>
      <vt:lpstr>Calibri</vt:lpstr>
      <vt:lpstr>微软雅黑</vt:lpstr>
      <vt:lpstr>黑体</vt:lpstr>
      <vt:lpstr>楷体_GB2312</vt:lpstr>
      <vt:lpstr>新宋体</vt:lpstr>
      <vt:lpstr>Times New Roman</vt:lpstr>
      <vt:lpstr>Arial Unicode MS</vt:lpstr>
      <vt:lpstr>Symbol</vt:lpstr>
      <vt:lpstr>Default Design</vt:lpstr>
      <vt:lpstr>Equation.KSEE3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PowerPoint 演示文稿</vt:lpstr>
      <vt:lpstr>第1章 数字电路基本概念及数制与码制</vt:lpstr>
      <vt:lpstr>1.1.1 模拟量与模拟信号</vt:lpstr>
      <vt:lpstr>1.1.2 数字量与数字信号</vt:lpstr>
      <vt:lpstr>1.1.3 数字波形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1.1.4 数字电路的分类</vt:lpstr>
      <vt:lpstr>PowerPoint 演示文稿</vt:lpstr>
      <vt:lpstr>1.1.5 数字电路的特点</vt:lpstr>
      <vt:lpstr>1.2.1 数制</vt:lpstr>
      <vt:lpstr>PowerPoint 演示文稿</vt:lpstr>
      <vt:lpstr>PowerPoint 演示文稿</vt:lpstr>
      <vt:lpstr>PowerPoint 演示文稿</vt:lpstr>
      <vt:lpstr>PowerPoint 演示文稿</vt:lpstr>
      <vt:lpstr>1.2.2 数制之间的转换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1.2.3 码制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Guild Design Inc.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ThemeGallery PowerTemplate</dc:title>
  <dc:creator>www.themegallery.com</dc:creator>
  <cp:lastModifiedBy>WPS_1632966238</cp:lastModifiedBy>
  <cp:revision>184</cp:revision>
  <dcterms:created xsi:type="dcterms:W3CDTF">2007-02-20T07:59:00Z</dcterms:created>
  <dcterms:modified xsi:type="dcterms:W3CDTF">2022-03-21T06:22:34Z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D7810DE3FFD04D61A08384750A2B3197</vt:lpwstr>
  </property>
  <property fmtid="{D5CDD505-2E9C-101B-9397-08002B2CF9AE}" pid="3" name="KSOProductBuildVer">
    <vt:lpwstr>2052-11.1.0.11365</vt:lpwstr>
  </property>
</Properties>
</file>
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handoutMasterIdLst>
    <p:handoutMasterId r:id="rId81"/>
  </p:handoutMasterIdLst>
  <p:sldIdLst>
    <p:sldId id="563" r:id="rId3"/>
    <p:sldId id="261" r:id="rId4"/>
    <p:sldId id="259" r:id="rId5"/>
    <p:sldId id="705" r:id="rId6"/>
    <p:sldId id="706" r:id="rId8"/>
    <p:sldId id="707" r:id="rId9"/>
    <p:sldId id="708" r:id="rId10"/>
    <p:sldId id="709" r:id="rId11"/>
    <p:sldId id="710" r:id="rId12"/>
    <p:sldId id="711" r:id="rId13"/>
    <p:sldId id="712" r:id="rId14"/>
    <p:sldId id="713" r:id="rId15"/>
    <p:sldId id="714" r:id="rId16"/>
    <p:sldId id="715" r:id="rId17"/>
    <p:sldId id="551" r:id="rId18"/>
    <p:sldId id="716" r:id="rId19"/>
    <p:sldId id="783" r:id="rId20"/>
    <p:sldId id="784" r:id="rId21"/>
    <p:sldId id="785" r:id="rId22"/>
    <p:sldId id="851" r:id="rId23"/>
    <p:sldId id="852" r:id="rId24"/>
    <p:sldId id="853" r:id="rId25"/>
    <p:sldId id="854" r:id="rId26"/>
    <p:sldId id="855" r:id="rId27"/>
    <p:sldId id="856" r:id="rId28"/>
    <p:sldId id="922" r:id="rId29"/>
    <p:sldId id="923" r:id="rId30"/>
    <p:sldId id="924" r:id="rId31"/>
    <p:sldId id="930" r:id="rId32"/>
    <p:sldId id="931" r:id="rId33"/>
    <p:sldId id="932" r:id="rId34"/>
    <p:sldId id="933" r:id="rId35"/>
    <p:sldId id="934" r:id="rId36"/>
    <p:sldId id="935" r:id="rId37"/>
    <p:sldId id="936" r:id="rId38"/>
    <p:sldId id="937" r:id="rId39"/>
    <p:sldId id="943" r:id="rId40"/>
    <p:sldId id="945" r:id="rId41"/>
    <p:sldId id="946" r:id="rId42"/>
    <p:sldId id="944" r:id="rId43"/>
    <p:sldId id="947" r:id="rId44"/>
    <p:sldId id="948" r:id="rId45"/>
    <p:sldId id="949" r:id="rId46"/>
    <p:sldId id="950" r:id="rId47"/>
    <p:sldId id="951" r:id="rId48"/>
    <p:sldId id="958" r:id="rId49"/>
    <p:sldId id="960" r:id="rId50"/>
    <p:sldId id="961" r:id="rId51"/>
    <p:sldId id="962" r:id="rId52"/>
    <p:sldId id="963" r:id="rId53"/>
    <p:sldId id="964" r:id="rId54"/>
    <p:sldId id="965" r:id="rId55"/>
    <p:sldId id="966" r:id="rId56"/>
    <p:sldId id="967" r:id="rId57"/>
    <p:sldId id="968" r:id="rId58"/>
    <p:sldId id="974" r:id="rId59"/>
    <p:sldId id="975" r:id="rId60"/>
    <p:sldId id="976" r:id="rId61"/>
    <p:sldId id="977" r:id="rId62"/>
    <p:sldId id="978" r:id="rId63"/>
    <p:sldId id="979" r:id="rId64"/>
    <p:sldId id="985" r:id="rId65"/>
    <p:sldId id="986" r:id="rId66"/>
    <p:sldId id="987" r:id="rId67"/>
    <p:sldId id="1006" r:id="rId68"/>
    <p:sldId id="1005" r:id="rId69"/>
    <p:sldId id="988" r:id="rId70"/>
    <p:sldId id="989" r:id="rId71"/>
    <p:sldId id="995" r:id="rId72"/>
    <p:sldId id="996" r:id="rId73"/>
    <p:sldId id="997" r:id="rId74"/>
    <p:sldId id="998" r:id="rId75"/>
    <p:sldId id="999" r:id="rId76"/>
    <p:sldId id="541" r:id="rId77"/>
    <p:sldId id="542" r:id="rId78"/>
    <p:sldId id="700" r:id="rId79"/>
    <p:sldId id="468" r:id="rId80"/>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70707"/>
    <a:srgbClr val="02115E"/>
    <a:srgbClr val="FE09D6"/>
    <a:srgbClr val="FE1CD6"/>
    <a:srgbClr val="FF9900"/>
    <a:srgbClr val="92D0E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71" d="100"/>
          <a:sy n="71" d="100"/>
        </p:scale>
        <p:origin x="-756" y="-90"/>
      </p:cViewPr>
      <p:guideLst>
        <p:guide orient="horz" pos="2532"/>
        <p:guide pos="2988"/>
      </p:guideLst>
    </p:cSldViewPr>
  </p:slideViewPr>
  <p:notesTextViewPr>
    <p:cViewPr>
      <p:scale>
        <a:sx n="100" d="100"/>
        <a:sy n="100" d="100"/>
      </p:scale>
      <p:origin x="0" y="0"/>
    </p:cViewPr>
  </p:notesTextViewPr>
  <p:sorterViewPr showFormatting="0">
    <p:cViewPr>
      <p:scale>
        <a:sx n="66" d="100"/>
        <a:sy n="66" d="100"/>
      </p:scale>
      <p:origin x="0" y="696"/>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4" Type="http://schemas.openxmlformats.org/officeDocument/2006/relationships/tableStyles" Target="tableStyles.xml"/><Relationship Id="rId83" Type="http://schemas.openxmlformats.org/officeDocument/2006/relationships/viewProps" Target="viewProps.xml"/><Relationship Id="rId82" Type="http://schemas.openxmlformats.org/officeDocument/2006/relationships/presProps" Target="presProps.xml"/><Relationship Id="rId81" Type="http://schemas.openxmlformats.org/officeDocument/2006/relationships/handoutMaster" Target="handoutMasters/handoutMaster1.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notesMaster" Target="notesMasters/notesMaster1.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5" Type="http://schemas.openxmlformats.org/officeDocument/2006/relationships/image" Target="../media/image29.wmf"/><Relationship Id="rId4" Type="http://schemas.openxmlformats.org/officeDocument/2006/relationships/image" Target="../media/image28.wmf"/><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2.vml.rels><?xml version="1.0" encoding="UTF-8" standalone="yes"?>
<Relationships xmlns="http://schemas.openxmlformats.org/package/2006/relationships"><Relationship Id="rId9" Type="http://schemas.openxmlformats.org/officeDocument/2006/relationships/image" Target="../media/image38.wmf"/><Relationship Id="rId8" Type="http://schemas.openxmlformats.org/officeDocument/2006/relationships/image" Target="../media/image37.wmf"/><Relationship Id="rId7" Type="http://schemas.openxmlformats.org/officeDocument/2006/relationships/image" Target="../media/image36.wmf"/><Relationship Id="rId6" Type="http://schemas.openxmlformats.org/officeDocument/2006/relationships/image" Target="../media/image35.wmf"/><Relationship Id="rId5" Type="http://schemas.openxmlformats.org/officeDocument/2006/relationships/image" Target="../media/image34.wmf"/><Relationship Id="rId4" Type="http://schemas.openxmlformats.org/officeDocument/2006/relationships/image" Target="../media/image33.wmf"/><Relationship Id="rId3" Type="http://schemas.openxmlformats.org/officeDocument/2006/relationships/image" Target="../media/image32.wmf"/><Relationship Id="rId2" Type="http://schemas.openxmlformats.org/officeDocument/2006/relationships/image" Target="../media/image31.wmf"/><Relationship Id="rId11" Type="http://schemas.openxmlformats.org/officeDocument/2006/relationships/image" Target="../media/image40.wmf"/><Relationship Id="rId10" Type="http://schemas.openxmlformats.org/officeDocument/2006/relationships/image" Target="../media/image39.wmf"/><Relationship Id="rId1" Type="http://schemas.openxmlformats.org/officeDocument/2006/relationships/image" Target="../media/image30.wmf"/></Relationships>
</file>

<file path=ppt/drawings/_rels/vmlDrawing3.vml.rels><?xml version="1.0" encoding="UTF-8" standalone="yes"?>
<Relationships xmlns="http://schemas.openxmlformats.org/package/2006/relationships"><Relationship Id="rId9" Type="http://schemas.openxmlformats.org/officeDocument/2006/relationships/image" Target="../media/image50.wmf"/><Relationship Id="rId8" Type="http://schemas.openxmlformats.org/officeDocument/2006/relationships/image" Target="../media/image49.wmf"/><Relationship Id="rId7" Type="http://schemas.openxmlformats.org/officeDocument/2006/relationships/image" Target="../media/image48.wmf"/><Relationship Id="rId6" Type="http://schemas.openxmlformats.org/officeDocument/2006/relationships/image" Target="../media/image47.wmf"/><Relationship Id="rId5" Type="http://schemas.openxmlformats.org/officeDocument/2006/relationships/image" Target="../media/image46.wmf"/><Relationship Id="rId4" Type="http://schemas.openxmlformats.org/officeDocument/2006/relationships/image" Target="../media/image45.wmf"/><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58.wmf"/><Relationship Id="rId7" Type="http://schemas.openxmlformats.org/officeDocument/2006/relationships/image" Target="../media/image57.wmf"/><Relationship Id="rId6" Type="http://schemas.openxmlformats.org/officeDocument/2006/relationships/image" Target="../media/image56.wmf"/><Relationship Id="rId5" Type="http://schemas.openxmlformats.org/officeDocument/2006/relationships/image" Target="../media/image55.wmf"/><Relationship Id="rId4" Type="http://schemas.openxmlformats.org/officeDocument/2006/relationships/image" Target="../media/image54.wmf"/><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s>
</file>

<file path=ppt/drawings/_rels/vmlDrawing5.vml.rels><?xml version="1.0" encoding="UTF-8" standalone="yes"?>
<Relationships xmlns="http://schemas.openxmlformats.org/package/2006/relationships"><Relationship Id="rId5" Type="http://schemas.openxmlformats.org/officeDocument/2006/relationships/image" Target="../media/image68.wmf"/><Relationship Id="rId4" Type="http://schemas.openxmlformats.org/officeDocument/2006/relationships/image" Target="../media/image67.wmf"/><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71.wmf"/><Relationship Id="rId3" Type="http://schemas.openxmlformats.org/officeDocument/2006/relationships/image" Target="../media/image64.wmf"/><Relationship Id="rId2" Type="http://schemas.openxmlformats.org/officeDocument/2006/relationships/image" Target="../media/image70.wmf"/><Relationship Id="rId1" Type="http://schemas.openxmlformats.org/officeDocument/2006/relationships/image" Target="../media/image6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74.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image" Target="../media/image64.wmf"/><Relationship Id="rId1" Type="http://schemas.openxmlformats.org/officeDocument/2006/relationships/image" Target="../media/image76.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82.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86.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88.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95.wmf"/><Relationship Id="rId2" Type="http://schemas.openxmlformats.org/officeDocument/2006/relationships/image" Target="../media/image94.wmf"/><Relationship Id="rId1" Type="http://schemas.openxmlformats.org/officeDocument/2006/relationships/image" Target="../media/image93.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image" Target="../media/image99.wmf"/><Relationship Id="rId1" Type="http://schemas.openxmlformats.org/officeDocument/2006/relationships/image" Target="../media/image98.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104.wmf"/><Relationship Id="rId2" Type="http://schemas.openxmlformats.org/officeDocument/2006/relationships/image" Target="../media/image103.wmf"/><Relationship Id="rId1" Type="http://schemas.openxmlformats.org/officeDocument/2006/relationships/image" Target="../media/image102.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108.wmf"/><Relationship Id="rId1" Type="http://schemas.openxmlformats.org/officeDocument/2006/relationships/image" Target="../media/image107.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111.wmf"/><Relationship Id="rId2" Type="http://schemas.openxmlformats.org/officeDocument/2006/relationships/image" Target="../media/image110.wmf"/><Relationship Id="rId1" Type="http://schemas.openxmlformats.org/officeDocument/2006/relationships/image" Target="../media/image109.wmf"/></Relationships>
</file>

<file path=ppt/drawings/_rels/vmlDrawing18.vml.rels><?xml version="1.0" encoding="UTF-8" standalone="yes"?>
<Relationships xmlns="http://schemas.openxmlformats.org/package/2006/relationships"><Relationship Id="rId4" Type="http://schemas.openxmlformats.org/officeDocument/2006/relationships/image" Target="../media/image131.wmf"/><Relationship Id="rId3" Type="http://schemas.openxmlformats.org/officeDocument/2006/relationships/image" Target="../media/image130.wmf"/><Relationship Id="rId2" Type="http://schemas.openxmlformats.org/officeDocument/2006/relationships/image" Target="../media/image129.wmf"/><Relationship Id="rId1" Type="http://schemas.openxmlformats.org/officeDocument/2006/relationships/image" Target="../media/image128.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134.wmf"/><Relationship Id="rId1" Type="http://schemas.openxmlformats.org/officeDocument/2006/relationships/image" Target="../media/image133.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134.wmf"/><Relationship Id="rId1" Type="http://schemas.openxmlformats.org/officeDocument/2006/relationships/image" Target="../media/image133.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36.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134.wmf"/><Relationship Id="rId1" Type="http://schemas.openxmlformats.org/officeDocument/2006/relationships/image" Target="../media/image133.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144.wmf"/><Relationship Id="rId1" Type="http://schemas.openxmlformats.org/officeDocument/2006/relationships/image" Target="../media/image143.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147.wmf"/><Relationship Id="rId1" Type="http://schemas.openxmlformats.org/officeDocument/2006/relationships/image" Target="../media/image146.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150.wmf"/><Relationship Id="rId1" Type="http://schemas.openxmlformats.org/officeDocument/2006/relationships/image" Target="../media/image149.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154.wmf"/><Relationship Id="rId1" Type="http://schemas.openxmlformats.org/officeDocument/2006/relationships/image" Target="../media/image153.wmf"/></Relationships>
</file>

<file path=ppt/drawings/_rels/vmlDrawing27.vml.rels><?xml version="1.0" encoding="UTF-8" standalone="yes"?>
<Relationships xmlns="http://schemas.openxmlformats.org/package/2006/relationships"><Relationship Id="rId5" Type="http://schemas.openxmlformats.org/officeDocument/2006/relationships/image" Target="../media/image164.wmf"/><Relationship Id="rId4" Type="http://schemas.openxmlformats.org/officeDocument/2006/relationships/image" Target="../media/image163.wmf"/><Relationship Id="rId3" Type="http://schemas.openxmlformats.org/officeDocument/2006/relationships/image" Target="../media/image162.wmf"/><Relationship Id="rId2" Type="http://schemas.openxmlformats.org/officeDocument/2006/relationships/image" Target="../media/image161.wmf"/><Relationship Id="rId1" Type="http://schemas.openxmlformats.org/officeDocument/2006/relationships/image" Target="../media/image16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D4CE3B78-4C24-40AA-B3C7-9D99C1C50DA8}"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ea typeface="+mn-ea"/>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EBB3A8F-C92E-4D35-9C30-EEB82B447B3F}"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image" Target="../media/image7.png"/><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1" Type="http://schemas.openxmlformats.org/officeDocument/2006/relationships/image" Target="../media/image10.png"/><Relationship Id="rId10" Type="http://schemas.openxmlformats.org/officeDocument/2006/relationships/image" Target="../media/image9.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PhAnim="0" showMasterSp="0">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18" name="Rectangle 127"/>
          <p:cNvSpPr>
            <a:spLocks noChangeArrowheads="1"/>
          </p:cNvSpPr>
          <p:nvPr/>
        </p:nvSpPr>
        <p:spPr bwMode="gray">
          <a:xfrm>
            <a:off x="0" y="0"/>
            <a:ext cx="9144000" cy="18288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2051" name="Group 15"/>
          <p:cNvGrpSpPr/>
          <p:nvPr/>
        </p:nvGrpSpPr>
        <p:grpSpPr>
          <a:xfrm>
            <a:off x="152400" y="381000"/>
            <a:ext cx="6838950" cy="3365500"/>
            <a:chOff x="664" y="1951"/>
            <a:chExt cx="4308" cy="2120"/>
          </a:xfrm>
        </p:grpSpPr>
        <p:sp>
          <p:nvSpPr>
            <p:cNvPr id="2066" name="Freeform 16"/>
            <p:cNvSpPr/>
            <p:nvPr/>
          </p:nvSpPr>
          <p:spPr>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w="12700">
              <a:noFill/>
            </a:ln>
          </p:spPr>
          <p:txBody>
            <a:bodyPr/>
            <a:p>
              <a:endParaRPr lang="zh-CN" altLang="en-US"/>
            </a:p>
          </p:txBody>
        </p:sp>
        <p:sp>
          <p:nvSpPr>
            <p:cNvPr id="2067" name="Freeform 17"/>
            <p:cNvSpPr/>
            <p:nvPr/>
          </p:nvSpPr>
          <p:spPr>
            <a:xfrm>
              <a:off x="703" y="2230"/>
              <a:ext cx="34" cy="28"/>
            </a:xfrm>
            <a:custGeom>
              <a:avLst/>
              <a:gdLst/>
              <a:ahLst/>
              <a:cxnLst>
                <a:cxn ang="0">
                  <a:pos x="16" y="4"/>
                </a:cxn>
                <a:cxn ang="0">
                  <a:pos x="0" y="22"/>
                </a:cxn>
                <a:cxn ang="0">
                  <a:pos x="22" y="38"/>
                </a:cxn>
                <a:cxn ang="0">
                  <a:pos x="46" y="26"/>
                </a:cxn>
                <a:cxn ang="0">
                  <a:pos x="30" y="0"/>
                </a:cxn>
                <a:cxn ang="0">
                  <a:pos x="16" y="4"/>
                </a:cxn>
              </a:cxnLst>
              <a:pathLst>
                <a:path w="46" h="38">
                  <a:moveTo>
                    <a:pt x="16" y="4"/>
                  </a:moveTo>
                  <a:lnTo>
                    <a:pt x="0" y="22"/>
                  </a:lnTo>
                  <a:lnTo>
                    <a:pt x="22" y="38"/>
                  </a:lnTo>
                  <a:lnTo>
                    <a:pt x="46" y="26"/>
                  </a:lnTo>
                  <a:lnTo>
                    <a:pt x="30" y="0"/>
                  </a:lnTo>
                  <a:lnTo>
                    <a:pt x="16" y="4"/>
                  </a:lnTo>
                  <a:close/>
                </a:path>
              </a:pathLst>
            </a:custGeom>
            <a:solidFill>
              <a:srgbClr val="FEFEFE">
                <a:alpha val="30196"/>
              </a:srgbClr>
            </a:solidFill>
            <a:ln w="12700">
              <a:noFill/>
            </a:ln>
          </p:spPr>
          <p:txBody>
            <a:bodyPr/>
            <a:p>
              <a:endParaRPr lang="zh-CN" altLang="en-US"/>
            </a:p>
          </p:txBody>
        </p:sp>
        <p:sp>
          <p:nvSpPr>
            <p:cNvPr id="2068" name="Freeform 18"/>
            <p:cNvSpPr/>
            <p:nvPr/>
          </p:nvSpPr>
          <p:spPr>
            <a:xfrm>
              <a:off x="1010" y="2353"/>
              <a:ext cx="39" cy="32"/>
            </a:xfrm>
            <a:custGeom>
              <a:avLst/>
              <a:gdLst/>
              <a:ahLst/>
              <a:cxnLst>
                <a:cxn ang="0">
                  <a:pos x="12" y="0"/>
                </a:cxn>
                <a:cxn ang="0">
                  <a:pos x="26" y="44"/>
                </a:cxn>
                <a:cxn ang="0">
                  <a:pos x="42" y="42"/>
                </a:cxn>
                <a:cxn ang="0">
                  <a:pos x="38" y="16"/>
                </a:cxn>
                <a:cxn ang="0">
                  <a:pos x="26" y="2"/>
                </a:cxn>
                <a:cxn ang="0">
                  <a:pos x="12" y="0"/>
                </a:cxn>
              </a:cxnLst>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w="12700">
              <a:noFill/>
            </a:ln>
          </p:spPr>
          <p:txBody>
            <a:bodyPr/>
            <a:p>
              <a:endParaRPr lang="zh-CN" altLang="en-US"/>
            </a:p>
          </p:txBody>
        </p:sp>
        <p:sp>
          <p:nvSpPr>
            <p:cNvPr id="2069" name="Freeform 19"/>
            <p:cNvSpPr/>
            <p:nvPr/>
          </p:nvSpPr>
          <p:spPr>
            <a:xfrm>
              <a:off x="1792" y="2409"/>
              <a:ext cx="98" cy="74"/>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w="12700">
              <a:noFill/>
            </a:ln>
          </p:spPr>
          <p:txBody>
            <a:bodyPr/>
            <a:p>
              <a:endParaRPr lang="zh-CN" altLang="en-US"/>
            </a:p>
          </p:txBody>
        </p:sp>
        <p:sp>
          <p:nvSpPr>
            <p:cNvPr id="2070" name="Freeform 20"/>
            <p:cNvSpPr/>
            <p:nvPr/>
          </p:nvSpPr>
          <p:spPr>
            <a:xfrm>
              <a:off x="1318" y="2793"/>
              <a:ext cx="158" cy="84"/>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w="12700">
              <a:noFill/>
            </a:ln>
          </p:spPr>
          <p:txBody>
            <a:bodyPr/>
            <a:p>
              <a:endParaRPr lang="zh-CN" altLang="en-US"/>
            </a:p>
          </p:txBody>
        </p:sp>
        <p:sp>
          <p:nvSpPr>
            <p:cNvPr id="2071" name="Freeform 21"/>
            <p:cNvSpPr/>
            <p:nvPr/>
          </p:nvSpPr>
          <p:spPr>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w="12700">
              <a:noFill/>
            </a:ln>
          </p:spPr>
          <p:txBody>
            <a:bodyPr/>
            <a:p>
              <a:endParaRPr lang="zh-CN" altLang="en-US"/>
            </a:p>
          </p:txBody>
        </p:sp>
        <p:sp>
          <p:nvSpPr>
            <p:cNvPr id="2072" name="Freeform 22"/>
            <p:cNvSpPr/>
            <p:nvPr/>
          </p:nvSpPr>
          <p:spPr>
            <a:xfrm>
              <a:off x="1553" y="2883"/>
              <a:ext cx="38"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73" name="Freeform 23"/>
            <p:cNvSpPr/>
            <p:nvPr/>
          </p:nvSpPr>
          <p:spPr>
            <a:xfrm>
              <a:off x="1609" y="2886"/>
              <a:ext cx="12" cy="25"/>
            </a:xfrm>
            <a:custGeom>
              <a:avLst/>
              <a:gdLst/>
              <a:ahLst/>
              <a:cxnLst>
                <a:cxn ang="0">
                  <a:pos x="14" y="0"/>
                </a:cxn>
                <a:cxn ang="0">
                  <a:pos x="0" y="14"/>
                </a:cxn>
                <a:cxn ang="0">
                  <a:pos x="16" y="34"/>
                </a:cxn>
                <a:cxn ang="0">
                  <a:pos x="12" y="18"/>
                </a:cxn>
                <a:cxn ang="0">
                  <a:pos x="16" y="6"/>
                </a:cxn>
                <a:cxn ang="0">
                  <a:pos x="14" y="0"/>
                </a:cxn>
              </a:cxnLst>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w="12700">
              <a:noFill/>
            </a:ln>
          </p:spPr>
          <p:txBody>
            <a:bodyPr/>
            <a:p>
              <a:endParaRPr lang="zh-CN" altLang="en-US"/>
            </a:p>
          </p:txBody>
        </p:sp>
        <p:sp>
          <p:nvSpPr>
            <p:cNvPr id="2074" name="Freeform 24"/>
            <p:cNvSpPr/>
            <p:nvPr/>
          </p:nvSpPr>
          <p:spPr>
            <a:xfrm>
              <a:off x="1426" y="2040"/>
              <a:ext cx="180" cy="88"/>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w="12700">
              <a:noFill/>
            </a:ln>
          </p:spPr>
          <p:txBody>
            <a:bodyPr/>
            <a:p>
              <a:endParaRPr lang="zh-CN" altLang="en-US"/>
            </a:p>
          </p:txBody>
        </p:sp>
        <p:sp>
          <p:nvSpPr>
            <p:cNvPr id="2075" name="Freeform 25"/>
            <p:cNvSpPr/>
            <p:nvPr/>
          </p:nvSpPr>
          <p:spPr>
            <a:xfrm>
              <a:off x="1506" y="1999"/>
              <a:ext cx="146" cy="60"/>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w="12700">
              <a:noFill/>
            </a:ln>
          </p:spPr>
          <p:txBody>
            <a:bodyPr/>
            <a:p>
              <a:endParaRPr lang="zh-CN" altLang="en-US"/>
            </a:p>
          </p:txBody>
        </p:sp>
        <p:sp>
          <p:nvSpPr>
            <p:cNvPr id="2076" name="Freeform 26"/>
            <p:cNvSpPr/>
            <p:nvPr/>
          </p:nvSpPr>
          <p:spPr>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w="12700">
              <a:noFill/>
            </a:ln>
          </p:spPr>
          <p:txBody>
            <a:bodyPr/>
            <a:p>
              <a:endParaRPr lang="zh-CN" altLang="en-US"/>
            </a:p>
          </p:txBody>
        </p:sp>
        <p:sp>
          <p:nvSpPr>
            <p:cNvPr id="2077" name="Freeform 27"/>
            <p:cNvSpPr/>
            <p:nvPr/>
          </p:nvSpPr>
          <p:spPr>
            <a:xfrm>
              <a:off x="1709" y="1987"/>
              <a:ext cx="44" cy="37"/>
            </a:xfrm>
            <a:custGeom>
              <a:avLst/>
              <a:gdLst/>
              <a:ahLst/>
              <a:cxnLst>
                <a:cxn ang="0">
                  <a:pos x="26" y="0"/>
                </a:cxn>
                <a:cxn ang="0">
                  <a:pos x="0" y="10"/>
                </a:cxn>
                <a:cxn ang="0">
                  <a:pos x="30" y="40"/>
                </a:cxn>
                <a:cxn ang="0">
                  <a:pos x="48" y="50"/>
                </a:cxn>
                <a:cxn ang="0">
                  <a:pos x="58" y="28"/>
                </a:cxn>
                <a:cxn ang="0">
                  <a:pos x="44" y="8"/>
                </a:cxn>
                <a:cxn ang="0">
                  <a:pos x="26" y="0"/>
                </a:cxn>
              </a:cxnLst>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w="12700">
              <a:noFill/>
            </a:ln>
          </p:spPr>
          <p:txBody>
            <a:bodyPr/>
            <a:p>
              <a:endParaRPr lang="zh-CN" altLang="en-US"/>
            </a:p>
          </p:txBody>
        </p:sp>
        <p:sp>
          <p:nvSpPr>
            <p:cNvPr id="2078" name="Freeform 28"/>
            <p:cNvSpPr/>
            <p:nvPr/>
          </p:nvSpPr>
          <p:spPr>
            <a:xfrm>
              <a:off x="1625" y="2057"/>
              <a:ext cx="65" cy="42"/>
            </a:xfrm>
            <a:custGeom>
              <a:avLst/>
              <a:gdLst/>
              <a:ahLst/>
              <a:cxnLst>
                <a:cxn ang="0">
                  <a:pos x="44" y="7"/>
                </a:cxn>
                <a:cxn ang="0">
                  <a:pos x="24" y="25"/>
                </a:cxn>
                <a:cxn ang="0">
                  <a:pos x="4" y="27"/>
                </a:cxn>
                <a:cxn ang="0">
                  <a:pos x="16" y="57"/>
                </a:cxn>
                <a:cxn ang="0">
                  <a:pos x="74" y="35"/>
                </a:cxn>
                <a:cxn ang="0">
                  <a:pos x="86" y="17"/>
                </a:cxn>
                <a:cxn ang="0">
                  <a:pos x="56" y="7"/>
                </a:cxn>
                <a:cxn ang="0">
                  <a:pos x="44" y="7"/>
                </a:cxn>
              </a:cxnLst>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w="12700">
              <a:noFill/>
            </a:ln>
          </p:spPr>
          <p:txBody>
            <a:bodyPr/>
            <a:p>
              <a:endParaRPr lang="zh-CN" altLang="en-US"/>
            </a:p>
          </p:txBody>
        </p:sp>
        <p:sp>
          <p:nvSpPr>
            <p:cNvPr id="2079" name="Freeform 29"/>
            <p:cNvSpPr/>
            <p:nvPr/>
          </p:nvSpPr>
          <p:spPr>
            <a:xfrm>
              <a:off x="1693" y="2065"/>
              <a:ext cx="54" cy="25"/>
            </a:xfrm>
            <a:custGeom>
              <a:avLst/>
              <a:gdLst/>
              <a:ahLst/>
              <a:cxnLst>
                <a:cxn ang="0">
                  <a:pos x="40" y="0"/>
                </a:cxn>
                <a:cxn ang="0">
                  <a:pos x="10" y="16"/>
                </a:cxn>
                <a:cxn ang="0">
                  <a:pos x="24" y="34"/>
                </a:cxn>
                <a:cxn ang="0">
                  <a:pos x="52" y="28"/>
                </a:cxn>
                <a:cxn ang="0">
                  <a:pos x="64" y="20"/>
                </a:cxn>
                <a:cxn ang="0">
                  <a:pos x="40" y="0"/>
                </a:cxn>
              </a:cxnLst>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w="12700">
              <a:noFill/>
            </a:ln>
          </p:spPr>
          <p:txBody>
            <a:bodyPr/>
            <a:p>
              <a:endParaRPr lang="zh-CN" altLang="en-US"/>
            </a:p>
          </p:txBody>
        </p:sp>
        <p:sp>
          <p:nvSpPr>
            <p:cNvPr id="2080" name="Freeform 30"/>
            <p:cNvSpPr/>
            <p:nvPr/>
          </p:nvSpPr>
          <p:spPr>
            <a:xfrm>
              <a:off x="1664" y="2029"/>
              <a:ext cx="64" cy="34"/>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w="12700">
              <a:noFill/>
            </a:ln>
          </p:spPr>
          <p:txBody>
            <a:bodyPr/>
            <a:p>
              <a:endParaRPr lang="zh-CN" altLang="en-US"/>
            </a:p>
          </p:txBody>
        </p:sp>
        <p:sp>
          <p:nvSpPr>
            <p:cNvPr id="2081" name="Freeform 31"/>
            <p:cNvSpPr/>
            <p:nvPr/>
          </p:nvSpPr>
          <p:spPr>
            <a:xfrm>
              <a:off x="1637" y="1997"/>
              <a:ext cx="44" cy="24"/>
            </a:xfrm>
            <a:custGeom>
              <a:avLst/>
              <a:gdLst/>
              <a:ahLst/>
              <a:cxnLst>
                <a:cxn ang="0">
                  <a:pos x="16" y="4"/>
                </a:cxn>
                <a:cxn ang="0">
                  <a:pos x="0" y="18"/>
                </a:cxn>
                <a:cxn ang="0">
                  <a:pos x="20" y="28"/>
                </a:cxn>
                <a:cxn ang="0">
                  <a:pos x="28" y="20"/>
                </a:cxn>
                <a:cxn ang="0">
                  <a:pos x="52" y="12"/>
                </a:cxn>
                <a:cxn ang="0">
                  <a:pos x="44" y="0"/>
                </a:cxn>
                <a:cxn ang="0">
                  <a:pos x="16" y="4"/>
                </a:cxn>
              </a:cxnLst>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w="12700">
              <a:noFill/>
            </a:ln>
          </p:spPr>
          <p:txBody>
            <a:bodyPr/>
            <a:p>
              <a:endParaRPr lang="zh-CN" altLang="en-US"/>
            </a:p>
          </p:txBody>
        </p:sp>
        <p:sp>
          <p:nvSpPr>
            <p:cNvPr id="2082" name="Freeform 32"/>
            <p:cNvSpPr/>
            <p:nvPr/>
          </p:nvSpPr>
          <p:spPr>
            <a:xfrm>
              <a:off x="1751" y="2000"/>
              <a:ext cx="114" cy="77"/>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w="12700">
              <a:noFill/>
            </a:ln>
          </p:spPr>
          <p:txBody>
            <a:bodyPr/>
            <a:p>
              <a:endParaRPr lang="zh-CN" altLang="en-US"/>
            </a:p>
          </p:txBody>
        </p:sp>
        <p:sp>
          <p:nvSpPr>
            <p:cNvPr id="2083" name="Freeform 33"/>
            <p:cNvSpPr/>
            <p:nvPr/>
          </p:nvSpPr>
          <p:spPr>
            <a:xfrm>
              <a:off x="664" y="2245"/>
              <a:ext cx="25" cy="15"/>
            </a:xfrm>
            <a:custGeom>
              <a:avLst/>
              <a:gdLst/>
              <a:ahLst/>
              <a:cxnLst>
                <a:cxn ang="0">
                  <a:pos x="34" y="0"/>
                </a:cxn>
                <a:cxn ang="0">
                  <a:pos x="24" y="20"/>
                </a:cxn>
                <a:cxn ang="0">
                  <a:pos x="4" y="18"/>
                </a:cxn>
                <a:cxn ang="0">
                  <a:pos x="4" y="6"/>
                </a:cxn>
                <a:cxn ang="0">
                  <a:pos x="34" y="0"/>
                </a:cxn>
              </a:cxnLst>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w="12700">
              <a:noFill/>
            </a:ln>
          </p:spPr>
          <p:txBody>
            <a:bodyPr/>
            <a:p>
              <a:endParaRPr lang="zh-CN" altLang="en-US"/>
            </a:p>
          </p:txBody>
        </p:sp>
        <p:sp>
          <p:nvSpPr>
            <p:cNvPr id="2084" name="Freeform 34"/>
            <p:cNvSpPr/>
            <p:nvPr/>
          </p:nvSpPr>
          <p:spPr>
            <a:xfrm>
              <a:off x="1421" y="2756"/>
              <a:ext cx="16" cy="12"/>
            </a:xfrm>
            <a:custGeom>
              <a:avLst/>
              <a:gdLst/>
              <a:ahLst/>
              <a:cxnLst>
                <a:cxn ang="0">
                  <a:pos x="3" y="0"/>
                </a:cxn>
                <a:cxn ang="0">
                  <a:pos x="13" y="16"/>
                </a:cxn>
                <a:cxn ang="0">
                  <a:pos x="3" y="0"/>
                </a:cxn>
              </a:cxnLst>
              <a:pathLst>
                <a:path w="21" h="16">
                  <a:moveTo>
                    <a:pt x="3" y="0"/>
                  </a:moveTo>
                  <a:cubicBezTo>
                    <a:pt x="0" y="9"/>
                    <a:pt x="6" y="11"/>
                    <a:pt x="13" y="16"/>
                  </a:cubicBezTo>
                  <a:cubicBezTo>
                    <a:pt x="21" y="4"/>
                    <a:pt x="16" y="2"/>
                    <a:pt x="3" y="0"/>
                  </a:cubicBezTo>
                  <a:close/>
                </a:path>
              </a:pathLst>
            </a:custGeom>
            <a:solidFill>
              <a:srgbClr val="FEFEFE">
                <a:alpha val="30196"/>
              </a:srgbClr>
            </a:solidFill>
            <a:ln w="12700">
              <a:noFill/>
            </a:ln>
          </p:spPr>
          <p:txBody>
            <a:bodyPr/>
            <a:p>
              <a:endParaRPr lang="zh-CN" altLang="en-US"/>
            </a:p>
          </p:txBody>
        </p:sp>
        <p:sp>
          <p:nvSpPr>
            <p:cNvPr id="2085" name="Freeform 35"/>
            <p:cNvSpPr/>
            <p:nvPr/>
          </p:nvSpPr>
          <p:spPr>
            <a:xfrm>
              <a:off x="1424" y="2781"/>
              <a:ext cx="16" cy="12"/>
            </a:xfrm>
            <a:custGeom>
              <a:avLst/>
              <a:gdLst/>
              <a:ahLst/>
              <a:cxnLst>
                <a:cxn ang="0">
                  <a:pos x="3" y="0"/>
                </a:cxn>
                <a:cxn ang="0">
                  <a:pos x="13" y="16"/>
                </a:cxn>
                <a:cxn ang="0">
                  <a:pos x="3" y="0"/>
                </a:cxn>
              </a:cxnLst>
              <a:pathLst>
                <a:path w="21" h="16">
                  <a:moveTo>
                    <a:pt x="3" y="0"/>
                  </a:moveTo>
                  <a:cubicBezTo>
                    <a:pt x="0" y="9"/>
                    <a:pt x="6" y="11"/>
                    <a:pt x="13" y="16"/>
                  </a:cubicBezTo>
                  <a:cubicBezTo>
                    <a:pt x="21" y="4"/>
                    <a:pt x="16" y="2"/>
                    <a:pt x="3" y="0"/>
                  </a:cubicBezTo>
                  <a:close/>
                </a:path>
              </a:pathLst>
            </a:custGeom>
            <a:solidFill>
              <a:srgbClr val="FEFEFE">
                <a:alpha val="30196"/>
              </a:srgbClr>
            </a:solidFill>
            <a:ln w="12700">
              <a:noFill/>
            </a:ln>
          </p:spPr>
          <p:txBody>
            <a:bodyPr/>
            <a:p>
              <a:endParaRPr lang="zh-CN" altLang="en-US"/>
            </a:p>
          </p:txBody>
        </p:sp>
        <p:sp>
          <p:nvSpPr>
            <p:cNvPr id="2086" name="Freeform 36"/>
            <p:cNvSpPr/>
            <p:nvPr/>
          </p:nvSpPr>
          <p:spPr>
            <a:xfrm>
              <a:off x="1628" y="2913"/>
              <a:ext cx="15" cy="12"/>
            </a:xfrm>
            <a:custGeom>
              <a:avLst/>
              <a:gdLst/>
              <a:ahLst/>
              <a:cxnLst>
                <a:cxn ang="0">
                  <a:pos x="3" y="0"/>
                </a:cxn>
                <a:cxn ang="0">
                  <a:pos x="13" y="16"/>
                </a:cxn>
                <a:cxn ang="0">
                  <a:pos x="3" y="0"/>
                </a:cxn>
              </a:cxnLst>
              <a:pathLst>
                <a:path w="21" h="16">
                  <a:moveTo>
                    <a:pt x="3" y="0"/>
                  </a:moveTo>
                  <a:cubicBezTo>
                    <a:pt x="0" y="9"/>
                    <a:pt x="6" y="11"/>
                    <a:pt x="13" y="16"/>
                  </a:cubicBezTo>
                  <a:cubicBezTo>
                    <a:pt x="21" y="4"/>
                    <a:pt x="16" y="2"/>
                    <a:pt x="3" y="0"/>
                  </a:cubicBezTo>
                  <a:close/>
                </a:path>
              </a:pathLst>
            </a:custGeom>
            <a:solidFill>
              <a:srgbClr val="FEFEFE">
                <a:alpha val="30196"/>
              </a:srgbClr>
            </a:solidFill>
            <a:ln w="12700">
              <a:noFill/>
            </a:ln>
          </p:spPr>
          <p:txBody>
            <a:bodyPr/>
            <a:p>
              <a:endParaRPr lang="zh-CN" altLang="en-US"/>
            </a:p>
          </p:txBody>
        </p:sp>
        <p:sp>
          <p:nvSpPr>
            <p:cNvPr id="2087" name="Freeform 37"/>
            <p:cNvSpPr/>
            <p:nvPr/>
          </p:nvSpPr>
          <p:spPr>
            <a:xfrm>
              <a:off x="1752" y="2429"/>
              <a:ext cx="38"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88" name="Freeform 38"/>
            <p:cNvSpPr/>
            <p:nvPr/>
          </p:nvSpPr>
          <p:spPr>
            <a:xfrm>
              <a:off x="1652" y="2224"/>
              <a:ext cx="38"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89" name="Freeform 39"/>
            <p:cNvSpPr/>
            <p:nvPr/>
          </p:nvSpPr>
          <p:spPr>
            <a:xfrm>
              <a:off x="1717" y="2045"/>
              <a:ext cx="39"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90" name="Freeform 40"/>
            <p:cNvSpPr/>
            <p:nvPr/>
          </p:nvSpPr>
          <p:spPr>
            <a:xfrm>
              <a:off x="1780" y="2153"/>
              <a:ext cx="38"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91" name="Freeform 41"/>
            <p:cNvSpPr/>
            <p:nvPr/>
          </p:nvSpPr>
          <p:spPr>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w="12700">
              <a:noFill/>
            </a:ln>
          </p:spPr>
          <p:txBody>
            <a:bodyPr/>
            <a:p>
              <a:endParaRPr lang="zh-CN" altLang="en-US"/>
            </a:p>
          </p:txBody>
        </p:sp>
        <p:sp>
          <p:nvSpPr>
            <p:cNvPr id="2092" name="Freeform 42"/>
            <p:cNvSpPr/>
            <p:nvPr/>
          </p:nvSpPr>
          <p:spPr>
            <a:xfrm>
              <a:off x="2009" y="2135"/>
              <a:ext cx="39" cy="24"/>
            </a:xfrm>
            <a:custGeom>
              <a:avLst/>
              <a:gdLst/>
              <a:ahLst/>
              <a:cxnLst>
                <a:cxn ang="0">
                  <a:pos x="34" y="0"/>
                </a:cxn>
                <a:cxn ang="0">
                  <a:pos x="8" y="20"/>
                </a:cxn>
                <a:cxn ang="0">
                  <a:pos x="24" y="32"/>
                </a:cxn>
                <a:cxn ang="0">
                  <a:pos x="42" y="30"/>
                </a:cxn>
                <a:cxn ang="0">
                  <a:pos x="34" y="0"/>
                </a:cxn>
              </a:cxnLst>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w="12700">
              <a:noFill/>
            </a:ln>
          </p:spPr>
          <p:txBody>
            <a:bodyPr/>
            <a:p>
              <a:endParaRPr lang="zh-CN" altLang="en-US"/>
            </a:p>
          </p:txBody>
        </p:sp>
        <p:sp>
          <p:nvSpPr>
            <p:cNvPr id="2093" name="Freeform 43"/>
            <p:cNvSpPr/>
            <p:nvPr/>
          </p:nvSpPr>
          <p:spPr>
            <a:xfrm>
              <a:off x="2292" y="2201"/>
              <a:ext cx="128"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w="12700">
              <a:noFill/>
            </a:ln>
          </p:spPr>
          <p:txBody>
            <a:bodyPr/>
            <a:p>
              <a:endParaRPr lang="zh-CN" altLang="en-US"/>
            </a:p>
          </p:txBody>
        </p:sp>
        <p:sp>
          <p:nvSpPr>
            <p:cNvPr id="2094" name="Freeform 44"/>
            <p:cNvSpPr/>
            <p:nvPr/>
          </p:nvSpPr>
          <p:spPr>
            <a:xfrm>
              <a:off x="2393" y="2038"/>
              <a:ext cx="39" cy="24"/>
            </a:xfrm>
            <a:custGeom>
              <a:avLst/>
              <a:gdLst/>
              <a:ahLst/>
              <a:cxnLst>
                <a:cxn ang="0">
                  <a:pos x="34" y="0"/>
                </a:cxn>
                <a:cxn ang="0">
                  <a:pos x="8" y="20"/>
                </a:cxn>
                <a:cxn ang="0">
                  <a:pos x="24" y="32"/>
                </a:cxn>
                <a:cxn ang="0">
                  <a:pos x="42" y="30"/>
                </a:cxn>
                <a:cxn ang="0">
                  <a:pos x="34" y="0"/>
                </a:cxn>
              </a:cxnLst>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w="12700">
              <a:noFill/>
            </a:ln>
          </p:spPr>
          <p:txBody>
            <a:bodyPr/>
            <a:p>
              <a:endParaRPr lang="zh-CN" altLang="en-US"/>
            </a:p>
          </p:txBody>
        </p:sp>
        <p:sp>
          <p:nvSpPr>
            <p:cNvPr id="2095" name="Freeform 45"/>
            <p:cNvSpPr/>
            <p:nvPr/>
          </p:nvSpPr>
          <p:spPr>
            <a:xfrm>
              <a:off x="2662" y="2006"/>
              <a:ext cx="155" cy="63"/>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w="12700">
              <a:noFill/>
            </a:ln>
          </p:spPr>
          <p:txBody>
            <a:bodyPr/>
            <a:p>
              <a:endParaRPr lang="zh-CN" altLang="en-US"/>
            </a:p>
          </p:txBody>
        </p:sp>
        <p:sp>
          <p:nvSpPr>
            <p:cNvPr id="2096" name="Freeform 46"/>
            <p:cNvSpPr/>
            <p:nvPr/>
          </p:nvSpPr>
          <p:spPr>
            <a:xfrm>
              <a:off x="2759" y="2039"/>
              <a:ext cx="48" cy="21"/>
            </a:xfrm>
            <a:custGeom>
              <a:avLst/>
              <a:gdLst/>
              <a:ahLst/>
              <a:cxnLst>
                <a:cxn ang="0">
                  <a:pos x="36" y="6"/>
                </a:cxn>
                <a:cxn ang="0">
                  <a:pos x="8" y="4"/>
                </a:cxn>
                <a:cxn ang="0">
                  <a:pos x="24" y="28"/>
                </a:cxn>
                <a:cxn ang="0">
                  <a:pos x="54" y="14"/>
                </a:cxn>
                <a:cxn ang="0">
                  <a:pos x="36" y="6"/>
                </a:cxn>
              </a:cxnLst>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w="12700">
              <a:noFill/>
            </a:ln>
          </p:spPr>
          <p:txBody>
            <a:bodyPr/>
            <a:p>
              <a:endParaRPr lang="zh-CN" altLang="en-US"/>
            </a:p>
          </p:txBody>
        </p:sp>
        <p:sp>
          <p:nvSpPr>
            <p:cNvPr id="2097" name="Freeform 47"/>
            <p:cNvSpPr/>
            <p:nvPr/>
          </p:nvSpPr>
          <p:spPr>
            <a:xfrm>
              <a:off x="2467" y="2311"/>
              <a:ext cx="109"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w="12700">
              <a:noFill/>
            </a:ln>
          </p:spPr>
          <p:txBody>
            <a:bodyPr/>
            <a:p>
              <a:endParaRPr lang="zh-CN" altLang="en-US"/>
            </a:p>
          </p:txBody>
        </p:sp>
        <p:sp>
          <p:nvSpPr>
            <p:cNvPr id="2098" name="Freeform 48"/>
            <p:cNvSpPr/>
            <p:nvPr/>
          </p:nvSpPr>
          <p:spPr>
            <a:xfrm>
              <a:off x="2413" y="2359"/>
              <a:ext cx="69" cy="68"/>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w="12700">
              <a:noFill/>
            </a:ln>
          </p:spPr>
          <p:txBody>
            <a:bodyPr/>
            <a:p>
              <a:endParaRPr lang="zh-CN" altLang="en-US"/>
            </a:p>
          </p:txBody>
        </p:sp>
        <p:sp>
          <p:nvSpPr>
            <p:cNvPr id="2099" name="Freeform 49"/>
            <p:cNvSpPr/>
            <p:nvPr/>
          </p:nvSpPr>
          <p:spPr>
            <a:xfrm>
              <a:off x="4099" y="3502"/>
              <a:ext cx="474" cy="495"/>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w="12700">
              <a:noFill/>
            </a:ln>
          </p:spPr>
          <p:txBody>
            <a:bodyPr/>
            <a:p>
              <a:endParaRPr lang="zh-CN" altLang="en-US"/>
            </a:p>
          </p:txBody>
        </p:sp>
        <p:sp>
          <p:nvSpPr>
            <p:cNvPr id="2100" name="Freeform 50"/>
            <p:cNvSpPr/>
            <p:nvPr/>
          </p:nvSpPr>
          <p:spPr>
            <a:xfrm>
              <a:off x="4246" y="3241"/>
              <a:ext cx="319" cy="210"/>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w="12700">
              <a:noFill/>
            </a:ln>
          </p:spPr>
          <p:txBody>
            <a:bodyPr/>
            <a:p>
              <a:endParaRPr lang="zh-CN" altLang="en-US"/>
            </a:p>
          </p:txBody>
        </p:sp>
        <p:sp>
          <p:nvSpPr>
            <p:cNvPr id="2101" name="Freeform 51"/>
            <p:cNvSpPr/>
            <p:nvPr/>
          </p:nvSpPr>
          <p:spPr>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w="12700">
              <a:noFill/>
            </a:ln>
          </p:spPr>
          <p:txBody>
            <a:bodyPr/>
            <a:p>
              <a:endParaRPr lang="zh-CN" altLang="en-US"/>
            </a:p>
          </p:txBody>
        </p:sp>
        <p:sp>
          <p:nvSpPr>
            <p:cNvPr id="2102" name="Freeform 52"/>
            <p:cNvSpPr/>
            <p:nvPr/>
          </p:nvSpPr>
          <p:spPr>
            <a:xfrm>
              <a:off x="4485" y="4013"/>
              <a:ext cx="45" cy="58"/>
            </a:xfrm>
            <a:custGeom>
              <a:avLst/>
              <a:gdLst/>
              <a:ahLst/>
              <a:cxnLst>
                <a:cxn ang="0">
                  <a:pos x="32" y="18"/>
                </a:cxn>
                <a:cxn ang="0">
                  <a:pos x="0" y="18"/>
                </a:cxn>
                <a:cxn ang="0">
                  <a:pos x="20" y="42"/>
                </a:cxn>
                <a:cxn ang="0">
                  <a:pos x="28" y="66"/>
                </a:cxn>
                <a:cxn ang="0">
                  <a:pos x="32" y="78"/>
                </a:cxn>
                <a:cxn ang="0">
                  <a:pos x="60" y="50"/>
                </a:cxn>
                <a:cxn ang="0">
                  <a:pos x="32" y="18"/>
                </a:cxn>
              </a:cxnLst>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w="12700">
              <a:noFill/>
            </a:ln>
          </p:spPr>
          <p:txBody>
            <a:bodyPr/>
            <a:p>
              <a:endParaRPr lang="zh-CN" altLang="en-US"/>
            </a:p>
          </p:txBody>
        </p:sp>
        <p:sp>
          <p:nvSpPr>
            <p:cNvPr id="2103" name="Freeform 53"/>
            <p:cNvSpPr/>
            <p:nvPr/>
          </p:nvSpPr>
          <p:spPr>
            <a:xfrm>
              <a:off x="4621" y="3923"/>
              <a:ext cx="164" cy="85"/>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w="12700">
              <a:noFill/>
            </a:ln>
          </p:spPr>
          <p:txBody>
            <a:bodyPr/>
            <a:p>
              <a:endParaRPr lang="zh-CN" altLang="en-US"/>
            </a:p>
          </p:txBody>
        </p:sp>
        <p:sp>
          <p:nvSpPr>
            <p:cNvPr id="2104" name="Freeform 54"/>
            <p:cNvSpPr/>
            <p:nvPr/>
          </p:nvSpPr>
          <p:spPr>
            <a:xfrm>
              <a:off x="4791" y="3873"/>
              <a:ext cx="104" cy="92"/>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w="12700">
              <a:noFill/>
            </a:ln>
          </p:spPr>
          <p:txBody>
            <a:bodyPr/>
            <a:p>
              <a:endParaRPr lang="zh-CN" altLang="en-US"/>
            </a:p>
          </p:txBody>
        </p:sp>
        <p:sp>
          <p:nvSpPr>
            <p:cNvPr id="2105" name="Freeform 55"/>
            <p:cNvSpPr/>
            <p:nvPr/>
          </p:nvSpPr>
          <p:spPr>
            <a:xfrm>
              <a:off x="4846" y="3832"/>
              <a:ext cx="37" cy="26"/>
            </a:xfrm>
            <a:custGeom>
              <a:avLst/>
              <a:gdLst/>
              <a:ahLst/>
              <a:cxnLst>
                <a:cxn ang="0">
                  <a:pos x="29" y="0"/>
                </a:cxn>
                <a:cxn ang="0">
                  <a:pos x="8" y="11"/>
                </a:cxn>
                <a:cxn ang="0">
                  <a:pos x="24" y="35"/>
                </a:cxn>
                <a:cxn ang="0">
                  <a:pos x="39" y="26"/>
                </a:cxn>
                <a:cxn ang="0">
                  <a:pos x="29" y="0"/>
                </a:cxn>
              </a:cxnLst>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w="12700">
              <a:noFill/>
            </a:ln>
          </p:spPr>
          <p:txBody>
            <a:bodyPr/>
            <a:p>
              <a:endParaRPr lang="zh-CN" altLang="en-US"/>
            </a:p>
          </p:txBody>
        </p:sp>
        <p:sp>
          <p:nvSpPr>
            <p:cNvPr id="2106" name="Freeform 56"/>
            <p:cNvSpPr/>
            <p:nvPr/>
          </p:nvSpPr>
          <p:spPr>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w="12700">
              <a:noFill/>
            </a:ln>
          </p:spPr>
          <p:txBody>
            <a:bodyPr/>
            <a:p>
              <a:endParaRPr lang="zh-CN" altLang="en-US"/>
            </a:p>
          </p:txBody>
        </p:sp>
        <p:sp>
          <p:nvSpPr>
            <p:cNvPr id="2107" name="Freeform 57"/>
            <p:cNvSpPr/>
            <p:nvPr/>
          </p:nvSpPr>
          <p:spPr>
            <a:xfrm>
              <a:off x="3655" y="3034"/>
              <a:ext cx="49" cy="61"/>
            </a:xfrm>
            <a:custGeom>
              <a:avLst/>
              <a:gdLst/>
              <a:ahLst/>
              <a:cxnLst>
                <a:cxn ang="0">
                  <a:pos x="29" y="0"/>
                </a:cxn>
                <a:cxn ang="0">
                  <a:pos x="25" y="60"/>
                </a:cxn>
                <a:cxn ang="0">
                  <a:pos x="29" y="76"/>
                </a:cxn>
                <a:cxn ang="0">
                  <a:pos x="41" y="80"/>
                </a:cxn>
                <a:cxn ang="0">
                  <a:pos x="57" y="76"/>
                </a:cxn>
                <a:cxn ang="0">
                  <a:pos x="29" y="0"/>
                </a:cxn>
              </a:cxnLst>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w="12700">
              <a:noFill/>
            </a:ln>
          </p:spPr>
          <p:txBody>
            <a:bodyPr/>
            <a:p>
              <a:endParaRPr lang="zh-CN" altLang="en-US"/>
            </a:p>
          </p:txBody>
        </p:sp>
        <p:sp>
          <p:nvSpPr>
            <p:cNvPr id="2108" name="Freeform 58"/>
            <p:cNvSpPr/>
            <p:nvPr/>
          </p:nvSpPr>
          <p:spPr>
            <a:xfrm>
              <a:off x="3988" y="3100"/>
              <a:ext cx="111" cy="183"/>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w="12700">
              <a:noFill/>
            </a:ln>
          </p:spPr>
          <p:txBody>
            <a:bodyPr/>
            <a:p>
              <a:endParaRPr lang="zh-CN" altLang="en-US"/>
            </a:p>
          </p:txBody>
        </p:sp>
        <p:sp>
          <p:nvSpPr>
            <p:cNvPr id="2109" name="Freeform 59"/>
            <p:cNvSpPr/>
            <p:nvPr/>
          </p:nvSpPr>
          <p:spPr>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w="12700">
              <a:noFill/>
            </a:ln>
          </p:spPr>
          <p:txBody>
            <a:bodyPr/>
            <a:p>
              <a:endParaRPr lang="zh-CN" altLang="en-US"/>
            </a:p>
          </p:txBody>
        </p:sp>
        <p:sp>
          <p:nvSpPr>
            <p:cNvPr id="2110" name="Freeform 60"/>
            <p:cNvSpPr/>
            <p:nvPr/>
          </p:nvSpPr>
          <p:spPr>
            <a:xfrm>
              <a:off x="3943" y="3153"/>
              <a:ext cx="40" cy="131"/>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w="12700">
              <a:noFill/>
            </a:ln>
          </p:spPr>
          <p:txBody>
            <a:bodyPr/>
            <a:p>
              <a:endParaRPr lang="zh-CN" altLang="en-US"/>
            </a:p>
          </p:txBody>
        </p:sp>
        <p:sp>
          <p:nvSpPr>
            <p:cNvPr id="2111" name="Freeform 61"/>
            <p:cNvSpPr/>
            <p:nvPr/>
          </p:nvSpPr>
          <p:spPr>
            <a:xfrm>
              <a:off x="3988" y="3290"/>
              <a:ext cx="65" cy="54"/>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w="12700">
              <a:noFill/>
            </a:ln>
          </p:spPr>
          <p:txBody>
            <a:bodyPr/>
            <a:p>
              <a:endParaRPr lang="zh-CN" altLang="en-US"/>
            </a:p>
          </p:txBody>
        </p:sp>
        <p:sp>
          <p:nvSpPr>
            <p:cNvPr id="2112" name="Freeform 62"/>
            <p:cNvSpPr/>
            <p:nvPr/>
          </p:nvSpPr>
          <p:spPr>
            <a:xfrm>
              <a:off x="4092" y="3195"/>
              <a:ext cx="83" cy="117"/>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w="12700">
              <a:noFill/>
            </a:ln>
          </p:spPr>
          <p:txBody>
            <a:bodyPr/>
            <a:p>
              <a:endParaRPr lang="zh-CN" altLang="en-US"/>
            </a:p>
          </p:txBody>
        </p:sp>
        <p:sp>
          <p:nvSpPr>
            <p:cNvPr id="2113" name="Freeform 63"/>
            <p:cNvSpPr/>
            <p:nvPr/>
          </p:nvSpPr>
          <p:spPr>
            <a:xfrm>
              <a:off x="4064" y="2777"/>
              <a:ext cx="22" cy="71"/>
            </a:xfrm>
            <a:custGeom>
              <a:avLst/>
              <a:gdLst/>
              <a:ahLst/>
              <a:cxnLst>
                <a:cxn ang="0">
                  <a:pos x="12" y="0"/>
                </a:cxn>
                <a:cxn ang="0">
                  <a:pos x="0" y="16"/>
                </a:cxn>
                <a:cxn ang="0">
                  <a:pos x="6" y="37"/>
                </a:cxn>
                <a:cxn ang="0">
                  <a:pos x="1" y="61"/>
                </a:cxn>
                <a:cxn ang="0">
                  <a:pos x="16" y="94"/>
                </a:cxn>
                <a:cxn ang="0">
                  <a:pos x="30" y="82"/>
                </a:cxn>
                <a:cxn ang="0">
                  <a:pos x="22" y="61"/>
                </a:cxn>
                <a:cxn ang="0">
                  <a:pos x="12" y="0"/>
                </a:cxn>
              </a:cxnLst>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w="12700">
              <a:noFill/>
            </a:ln>
          </p:spPr>
          <p:txBody>
            <a:bodyPr/>
            <a:p>
              <a:endParaRPr lang="zh-CN" altLang="en-US"/>
            </a:p>
          </p:txBody>
        </p:sp>
        <p:sp>
          <p:nvSpPr>
            <p:cNvPr id="2114" name="Freeform 64"/>
            <p:cNvSpPr/>
            <p:nvPr/>
          </p:nvSpPr>
          <p:spPr>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w="12700">
              <a:noFill/>
            </a:ln>
          </p:spPr>
          <p:txBody>
            <a:bodyPr/>
            <a:p>
              <a:endParaRPr lang="zh-CN" altLang="en-US"/>
            </a:p>
          </p:txBody>
        </p:sp>
        <p:sp>
          <p:nvSpPr>
            <p:cNvPr id="2115" name="Freeform 65"/>
            <p:cNvSpPr/>
            <p:nvPr/>
          </p:nvSpPr>
          <p:spPr>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w="12700">
              <a:noFill/>
            </a:ln>
          </p:spPr>
          <p:txBody>
            <a:bodyPr/>
            <a:p>
              <a:endParaRPr lang="zh-CN" altLang="en-US"/>
            </a:p>
          </p:txBody>
        </p:sp>
        <p:sp>
          <p:nvSpPr>
            <p:cNvPr id="2116" name="Freeform 66"/>
            <p:cNvSpPr/>
            <p:nvPr/>
          </p:nvSpPr>
          <p:spPr>
            <a:xfrm>
              <a:off x="4197" y="3193"/>
              <a:ext cx="29" cy="49"/>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w="12700">
              <a:noFill/>
            </a:ln>
          </p:spPr>
          <p:txBody>
            <a:bodyPr/>
            <a:p>
              <a:endParaRPr lang="zh-CN" altLang="en-US"/>
            </a:p>
          </p:txBody>
        </p:sp>
        <p:sp>
          <p:nvSpPr>
            <p:cNvPr id="2117" name="Freeform 67"/>
            <p:cNvSpPr/>
            <p:nvPr/>
          </p:nvSpPr>
          <p:spPr>
            <a:xfrm>
              <a:off x="4181" y="3275"/>
              <a:ext cx="18" cy="17"/>
            </a:xfrm>
            <a:custGeom>
              <a:avLst/>
              <a:gdLst/>
              <a:ahLst/>
              <a:cxnLst>
                <a:cxn ang="0">
                  <a:pos x="0" y="0"/>
                </a:cxn>
                <a:cxn ang="0">
                  <a:pos x="6" y="23"/>
                </a:cxn>
                <a:cxn ang="0">
                  <a:pos x="24" y="11"/>
                </a:cxn>
                <a:cxn ang="0">
                  <a:pos x="0" y="0"/>
                </a:cxn>
              </a:cxnLst>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w="12700">
              <a:noFill/>
            </a:ln>
          </p:spPr>
          <p:txBody>
            <a:bodyPr/>
            <a:p>
              <a:endParaRPr lang="zh-CN" altLang="en-US"/>
            </a:p>
          </p:txBody>
        </p:sp>
        <p:sp>
          <p:nvSpPr>
            <p:cNvPr id="2118" name="Freeform 68"/>
            <p:cNvSpPr/>
            <p:nvPr/>
          </p:nvSpPr>
          <p:spPr>
            <a:xfrm>
              <a:off x="4208" y="3265"/>
              <a:ext cx="45" cy="37"/>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w="12700">
              <a:noFill/>
            </a:ln>
          </p:spPr>
          <p:txBody>
            <a:bodyPr/>
            <a:p>
              <a:endParaRPr lang="zh-CN" altLang="en-US"/>
            </a:p>
          </p:txBody>
        </p:sp>
        <p:sp>
          <p:nvSpPr>
            <p:cNvPr id="2119" name="Freeform 69"/>
            <p:cNvSpPr/>
            <p:nvPr/>
          </p:nvSpPr>
          <p:spPr>
            <a:xfrm>
              <a:off x="4277" y="3335"/>
              <a:ext cx="24" cy="33"/>
            </a:xfrm>
            <a:custGeom>
              <a:avLst/>
              <a:gdLst/>
              <a:ahLst/>
              <a:cxnLst>
                <a:cxn ang="0">
                  <a:pos x="28" y="0"/>
                </a:cxn>
                <a:cxn ang="0">
                  <a:pos x="10" y="11"/>
                </a:cxn>
                <a:cxn ang="0">
                  <a:pos x="12" y="32"/>
                </a:cxn>
                <a:cxn ang="0">
                  <a:pos x="24" y="36"/>
                </a:cxn>
                <a:cxn ang="0">
                  <a:pos x="28" y="0"/>
                </a:cxn>
              </a:cxnLst>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w="12700">
              <a:noFill/>
            </a:ln>
          </p:spPr>
          <p:txBody>
            <a:bodyPr/>
            <a:p>
              <a:endParaRPr lang="zh-CN" altLang="en-US"/>
            </a:p>
          </p:txBody>
        </p:sp>
        <p:sp>
          <p:nvSpPr>
            <p:cNvPr id="2120" name="Freeform 70"/>
            <p:cNvSpPr/>
            <p:nvPr/>
          </p:nvSpPr>
          <p:spPr>
            <a:xfrm>
              <a:off x="4544" y="3293"/>
              <a:ext cx="46" cy="47"/>
            </a:xfrm>
            <a:custGeom>
              <a:avLst/>
              <a:gdLst/>
              <a:ahLst/>
              <a:cxnLst>
                <a:cxn ang="0">
                  <a:pos x="7" y="0"/>
                </a:cxn>
                <a:cxn ang="0">
                  <a:pos x="0" y="14"/>
                </a:cxn>
                <a:cxn ang="0">
                  <a:pos x="24" y="35"/>
                </a:cxn>
                <a:cxn ang="0">
                  <a:pos x="36" y="54"/>
                </a:cxn>
                <a:cxn ang="0">
                  <a:pos x="46" y="63"/>
                </a:cxn>
                <a:cxn ang="0">
                  <a:pos x="61" y="56"/>
                </a:cxn>
                <a:cxn ang="0">
                  <a:pos x="33" y="17"/>
                </a:cxn>
                <a:cxn ang="0">
                  <a:pos x="7" y="0"/>
                </a:cxn>
              </a:cxnLst>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w="12700">
              <a:noFill/>
            </a:ln>
          </p:spPr>
          <p:txBody>
            <a:bodyPr/>
            <a:p>
              <a:endParaRPr lang="zh-CN" altLang="en-US"/>
            </a:p>
          </p:txBody>
        </p:sp>
        <p:sp>
          <p:nvSpPr>
            <p:cNvPr id="2121" name="Freeform 71"/>
            <p:cNvSpPr/>
            <p:nvPr/>
          </p:nvSpPr>
          <p:spPr>
            <a:xfrm>
              <a:off x="4147" y="3352"/>
              <a:ext cx="46" cy="50"/>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w="12700">
              <a:noFill/>
            </a:ln>
          </p:spPr>
          <p:txBody>
            <a:bodyPr/>
            <a:p>
              <a:endParaRPr lang="zh-CN" altLang="en-US"/>
            </a:p>
          </p:txBody>
        </p:sp>
        <p:sp>
          <p:nvSpPr>
            <p:cNvPr id="2122" name="Freeform 72"/>
            <p:cNvSpPr/>
            <p:nvPr/>
          </p:nvSpPr>
          <p:spPr>
            <a:xfrm>
              <a:off x="4098" y="3371"/>
              <a:ext cx="32" cy="27"/>
            </a:xfrm>
            <a:custGeom>
              <a:avLst/>
              <a:gdLst/>
              <a:ahLst/>
              <a:cxnLst>
                <a:cxn ang="0">
                  <a:pos x="21" y="3"/>
                </a:cxn>
                <a:cxn ang="0">
                  <a:pos x="6" y="6"/>
                </a:cxn>
                <a:cxn ang="0">
                  <a:pos x="33" y="36"/>
                </a:cxn>
                <a:cxn ang="0">
                  <a:pos x="42" y="30"/>
                </a:cxn>
                <a:cxn ang="0">
                  <a:pos x="21" y="3"/>
                </a:cxn>
              </a:cxnLst>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w="12700">
              <a:noFill/>
            </a:ln>
          </p:spPr>
          <p:txBody>
            <a:bodyPr/>
            <a:p>
              <a:endParaRPr lang="zh-CN" altLang="en-US"/>
            </a:p>
          </p:txBody>
        </p:sp>
        <p:sp>
          <p:nvSpPr>
            <p:cNvPr id="2123" name="Freeform 73"/>
            <p:cNvSpPr/>
            <p:nvPr/>
          </p:nvSpPr>
          <p:spPr>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w="12700">
              <a:noFill/>
            </a:ln>
          </p:spPr>
          <p:txBody>
            <a:bodyPr/>
            <a:p>
              <a:endParaRPr lang="zh-CN" altLang="en-US"/>
            </a:p>
          </p:txBody>
        </p:sp>
        <p:sp>
          <p:nvSpPr>
            <p:cNvPr id="2124" name="Freeform 74"/>
            <p:cNvSpPr/>
            <p:nvPr/>
          </p:nvSpPr>
          <p:spPr>
            <a:xfrm>
              <a:off x="4111" y="3353"/>
              <a:ext cx="34" cy="24"/>
            </a:xfrm>
            <a:custGeom>
              <a:avLst/>
              <a:gdLst/>
              <a:ahLst/>
              <a:cxnLst>
                <a:cxn ang="0">
                  <a:pos x="21" y="0"/>
                </a:cxn>
                <a:cxn ang="0">
                  <a:pos x="0" y="7"/>
                </a:cxn>
                <a:cxn ang="0">
                  <a:pos x="27" y="31"/>
                </a:cxn>
                <a:cxn ang="0">
                  <a:pos x="45" y="24"/>
                </a:cxn>
                <a:cxn ang="0">
                  <a:pos x="22" y="10"/>
                </a:cxn>
                <a:cxn ang="0">
                  <a:pos x="21" y="0"/>
                </a:cxn>
              </a:cxnLst>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w="12700">
              <a:noFill/>
            </a:ln>
          </p:spPr>
          <p:txBody>
            <a:bodyPr/>
            <a:p>
              <a:endParaRPr lang="zh-CN" altLang="en-US"/>
            </a:p>
          </p:txBody>
        </p:sp>
        <p:sp>
          <p:nvSpPr>
            <p:cNvPr id="2125" name="Freeform 75"/>
            <p:cNvSpPr/>
            <p:nvPr/>
          </p:nvSpPr>
          <p:spPr>
            <a:xfrm>
              <a:off x="4062" y="3021"/>
              <a:ext cx="27" cy="55"/>
            </a:xfrm>
            <a:custGeom>
              <a:avLst/>
              <a:gdLst/>
              <a:ahLst/>
              <a:cxnLst>
                <a:cxn ang="0">
                  <a:pos x="30" y="0"/>
                </a:cxn>
                <a:cxn ang="0">
                  <a:pos x="21" y="15"/>
                </a:cxn>
                <a:cxn ang="0">
                  <a:pos x="9" y="36"/>
                </a:cxn>
                <a:cxn ang="0">
                  <a:pos x="0" y="59"/>
                </a:cxn>
                <a:cxn ang="0">
                  <a:pos x="8" y="74"/>
                </a:cxn>
                <a:cxn ang="0">
                  <a:pos x="20" y="59"/>
                </a:cxn>
                <a:cxn ang="0">
                  <a:pos x="35" y="32"/>
                </a:cxn>
                <a:cxn ang="0">
                  <a:pos x="30" y="0"/>
                </a:cxn>
              </a:cxnLst>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w="12700">
              <a:noFill/>
            </a:ln>
          </p:spPr>
          <p:txBody>
            <a:bodyPr/>
            <a:p>
              <a:endParaRPr lang="zh-CN" altLang="en-US"/>
            </a:p>
          </p:txBody>
        </p:sp>
        <p:sp>
          <p:nvSpPr>
            <p:cNvPr id="2126" name="Freeform 76"/>
            <p:cNvSpPr/>
            <p:nvPr/>
          </p:nvSpPr>
          <p:spPr>
            <a:xfrm>
              <a:off x="4113" y="3012"/>
              <a:ext cx="19" cy="55"/>
            </a:xfrm>
            <a:custGeom>
              <a:avLst/>
              <a:gdLst/>
              <a:ahLst/>
              <a:cxnLst>
                <a:cxn ang="0">
                  <a:pos x="13" y="7"/>
                </a:cxn>
                <a:cxn ang="0">
                  <a:pos x="4" y="8"/>
                </a:cxn>
                <a:cxn ang="0">
                  <a:pos x="0" y="22"/>
                </a:cxn>
                <a:cxn ang="0">
                  <a:pos x="15" y="41"/>
                </a:cxn>
                <a:cxn ang="0">
                  <a:pos x="25" y="56"/>
                </a:cxn>
                <a:cxn ang="0">
                  <a:pos x="16" y="20"/>
                </a:cxn>
                <a:cxn ang="0">
                  <a:pos x="13" y="7"/>
                </a:cxn>
              </a:cxnLst>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w="12700">
              <a:noFill/>
            </a:ln>
          </p:spPr>
          <p:txBody>
            <a:bodyPr/>
            <a:p>
              <a:endParaRPr lang="zh-CN" altLang="en-US"/>
            </a:p>
          </p:txBody>
        </p:sp>
        <p:sp>
          <p:nvSpPr>
            <p:cNvPr id="2127" name="Freeform 77"/>
            <p:cNvSpPr/>
            <p:nvPr/>
          </p:nvSpPr>
          <p:spPr>
            <a:xfrm>
              <a:off x="4135" y="2995"/>
              <a:ext cx="10" cy="25"/>
            </a:xfrm>
            <a:custGeom>
              <a:avLst/>
              <a:gdLst/>
              <a:ahLst/>
              <a:cxnLst>
                <a:cxn ang="0">
                  <a:pos x="11" y="0"/>
                </a:cxn>
                <a:cxn ang="0">
                  <a:pos x="1" y="10"/>
                </a:cxn>
                <a:cxn ang="0">
                  <a:pos x="11" y="25"/>
                </a:cxn>
                <a:cxn ang="0">
                  <a:pos x="11" y="0"/>
                </a:cxn>
              </a:cxnLst>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w="12700">
              <a:noFill/>
            </a:ln>
          </p:spPr>
          <p:txBody>
            <a:bodyPr/>
            <a:p>
              <a:endParaRPr lang="zh-CN" altLang="en-US"/>
            </a:p>
          </p:txBody>
        </p:sp>
        <p:sp>
          <p:nvSpPr>
            <p:cNvPr id="2128" name="Freeform 78"/>
            <p:cNvSpPr/>
            <p:nvPr/>
          </p:nvSpPr>
          <p:spPr>
            <a:xfrm>
              <a:off x="4145" y="3007"/>
              <a:ext cx="21" cy="48"/>
            </a:xfrm>
            <a:custGeom>
              <a:avLst/>
              <a:gdLst/>
              <a:ahLst/>
              <a:cxnLst>
                <a:cxn ang="0">
                  <a:pos x="5" y="0"/>
                </a:cxn>
                <a:cxn ang="0">
                  <a:pos x="11" y="14"/>
                </a:cxn>
                <a:cxn ang="0">
                  <a:pos x="20" y="21"/>
                </a:cxn>
                <a:cxn ang="0">
                  <a:pos x="8" y="39"/>
                </a:cxn>
                <a:cxn ang="0">
                  <a:pos x="0" y="56"/>
                </a:cxn>
                <a:cxn ang="0">
                  <a:pos x="11" y="57"/>
                </a:cxn>
                <a:cxn ang="0">
                  <a:pos x="26" y="26"/>
                </a:cxn>
                <a:cxn ang="0">
                  <a:pos x="5" y="0"/>
                </a:cxn>
              </a:cxnLst>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w="12700">
              <a:noFill/>
            </a:ln>
          </p:spPr>
          <p:txBody>
            <a:bodyPr/>
            <a:p>
              <a:endParaRPr lang="zh-CN" altLang="en-US"/>
            </a:p>
          </p:txBody>
        </p:sp>
        <p:sp>
          <p:nvSpPr>
            <p:cNvPr id="2129" name="Freeform 79"/>
            <p:cNvSpPr/>
            <p:nvPr/>
          </p:nvSpPr>
          <p:spPr>
            <a:xfrm>
              <a:off x="3876" y="3076"/>
              <a:ext cx="12" cy="27"/>
            </a:xfrm>
            <a:custGeom>
              <a:avLst/>
              <a:gdLst/>
              <a:ahLst/>
              <a:cxnLst>
                <a:cxn ang="0">
                  <a:pos x="14" y="3"/>
                </a:cxn>
                <a:cxn ang="0">
                  <a:pos x="0" y="7"/>
                </a:cxn>
                <a:cxn ang="0">
                  <a:pos x="8" y="22"/>
                </a:cxn>
                <a:cxn ang="0">
                  <a:pos x="14" y="3"/>
                </a:cxn>
              </a:cxnLst>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w="12700">
              <a:noFill/>
            </a:ln>
          </p:spPr>
          <p:txBody>
            <a:bodyPr/>
            <a:p>
              <a:endParaRPr lang="zh-CN" altLang="en-US"/>
            </a:p>
          </p:txBody>
        </p:sp>
        <p:sp>
          <p:nvSpPr>
            <p:cNvPr id="2130" name="Freeform 80"/>
            <p:cNvSpPr/>
            <p:nvPr/>
          </p:nvSpPr>
          <p:spPr>
            <a:xfrm>
              <a:off x="3866" y="3053"/>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31" name="Freeform 81"/>
            <p:cNvSpPr/>
            <p:nvPr/>
          </p:nvSpPr>
          <p:spPr>
            <a:xfrm>
              <a:off x="3862" y="3035"/>
              <a:ext cx="12" cy="14"/>
            </a:xfrm>
            <a:custGeom>
              <a:avLst/>
              <a:gdLst/>
              <a:ahLst/>
              <a:cxnLst>
                <a:cxn ang="0">
                  <a:pos x="10" y="5"/>
                </a:cxn>
                <a:cxn ang="0">
                  <a:pos x="0" y="10"/>
                </a:cxn>
                <a:cxn ang="0">
                  <a:pos x="12" y="19"/>
                </a:cxn>
                <a:cxn ang="0">
                  <a:pos x="10" y="5"/>
                </a:cxn>
              </a:cxnLst>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w="12700">
              <a:noFill/>
            </a:ln>
          </p:spPr>
          <p:txBody>
            <a:bodyPr/>
            <a:p>
              <a:endParaRPr lang="zh-CN" altLang="en-US"/>
            </a:p>
          </p:txBody>
        </p:sp>
        <p:sp>
          <p:nvSpPr>
            <p:cNvPr id="2132" name="Freeform 82"/>
            <p:cNvSpPr/>
            <p:nvPr/>
          </p:nvSpPr>
          <p:spPr>
            <a:xfrm>
              <a:off x="3850" y="2995"/>
              <a:ext cx="11" cy="19"/>
            </a:xfrm>
            <a:custGeom>
              <a:avLst/>
              <a:gdLst/>
              <a:ahLst/>
              <a:cxnLst>
                <a:cxn ang="0">
                  <a:pos x="6" y="0"/>
                </a:cxn>
                <a:cxn ang="0">
                  <a:pos x="0" y="13"/>
                </a:cxn>
                <a:cxn ang="0">
                  <a:pos x="12" y="24"/>
                </a:cxn>
                <a:cxn ang="0">
                  <a:pos x="6" y="0"/>
                </a:cxn>
              </a:cxnLst>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w="12700">
              <a:noFill/>
            </a:ln>
          </p:spPr>
          <p:txBody>
            <a:bodyPr/>
            <a:p>
              <a:endParaRPr lang="zh-CN" altLang="en-US"/>
            </a:p>
          </p:txBody>
        </p:sp>
        <p:sp>
          <p:nvSpPr>
            <p:cNvPr id="2133" name="Freeform 83"/>
            <p:cNvSpPr/>
            <p:nvPr/>
          </p:nvSpPr>
          <p:spPr>
            <a:xfrm>
              <a:off x="3852" y="3020"/>
              <a:ext cx="16" cy="13"/>
            </a:xfrm>
            <a:custGeom>
              <a:avLst/>
              <a:gdLst/>
              <a:ahLst/>
              <a:cxnLst>
                <a:cxn ang="0">
                  <a:pos x="13" y="0"/>
                </a:cxn>
                <a:cxn ang="0">
                  <a:pos x="19" y="18"/>
                </a:cxn>
                <a:cxn ang="0">
                  <a:pos x="14" y="6"/>
                </a:cxn>
                <a:cxn ang="0">
                  <a:pos x="13" y="0"/>
                </a:cxn>
              </a:cxnLst>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w="12700">
              <a:noFill/>
            </a:ln>
          </p:spPr>
          <p:txBody>
            <a:bodyPr/>
            <a:p>
              <a:endParaRPr lang="zh-CN" altLang="en-US"/>
            </a:p>
          </p:txBody>
        </p:sp>
        <p:sp>
          <p:nvSpPr>
            <p:cNvPr id="2134" name="Freeform 84"/>
            <p:cNvSpPr/>
            <p:nvPr/>
          </p:nvSpPr>
          <p:spPr>
            <a:xfrm>
              <a:off x="4688" y="3643"/>
              <a:ext cx="45" cy="60"/>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w="12700">
              <a:noFill/>
            </a:ln>
          </p:spPr>
          <p:txBody>
            <a:bodyPr/>
            <a:p>
              <a:endParaRPr lang="zh-CN" altLang="en-US"/>
            </a:p>
          </p:txBody>
        </p:sp>
        <p:sp>
          <p:nvSpPr>
            <p:cNvPr id="2135" name="Freeform 85"/>
            <p:cNvSpPr/>
            <p:nvPr/>
          </p:nvSpPr>
          <p:spPr>
            <a:xfrm>
              <a:off x="4919" y="3594"/>
              <a:ext cx="53" cy="46"/>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w="12700">
              <a:noFill/>
            </a:ln>
          </p:spPr>
          <p:txBody>
            <a:bodyPr/>
            <a:p>
              <a:endParaRPr lang="zh-CN" altLang="en-US"/>
            </a:p>
          </p:txBody>
        </p:sp>
        <p:sp>
          <p:nvSpPr>
            <p:cNvPr id="2136" name="Freeform 86"/>
            <p:cNvSpPr/>
            <p:nvPr/>
          </p:nvSpPr>
          <p:spPr>
            <a:xfrm>
              <a:off x="4759" y="3569"/>
              <a:ext cx="17" cy="23"/>
            </a:xfrm>
            <a:custGeom>
              <a:avLst/>
              <a:gdLst/>
              <a:ahLst/>
              <a:cxnLst>
                <a:cxn ang="0">
                  <a:pos x="9" y="0"/>
                </a:cxn>
                <a:cxn ang="0">
                  <a:pos x="0" y="14"/>
                </a:cxn>
                <a:cxn ang="0">
                  <a:pos x="12" y="30"/>
                </a:cxn>
                <a:cxn ang="0">
                  <a:pos x="9" y="0"/>
                </a:cxn>
              </a:cxnLst>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w="12700">
              <a:noFill/>
            </a:ln>
          </p:spPr>
          <p:txBody>
            <a:bodyPr/>
            <a:p>
              <a:endParaRPr lang="zh-CN" altLang="en-US"/>
            </a:p>
          </p:txBody>
        </p:sp>
        <p:sp>
          <p:nvSpPr>
            <p:cNvPr id="2137" name="Freeform 87"/>
            <p:cNvSpPr/>
            <p:nvPr/>
          </p:nvSpPr>
          <p:spPr>
            <a:xfrm>
              <a:off x="4751" y="3547"/>
              <a:ext cx="20" cy="17"/>
            </a:xfrm>
            <a:custGeom>
              <a:avLst/>
              <a:gdLst/>
              <a:ahLst/>
              <a:cxnLst>
                <a:cxn ang="0">
                  <a:pos x="19" y="0"/>
                </a:cxn>
                <a:cxn ang="0">
                  <a:pos x="0" y="14"/>
                </a:cxn>
                <a:cxn ang="0">
                  <a:pos x="21" y="20"/>
                </a:cxn>
                <a:cxn ang="0">
                  <a:pos x="19" y="0"/>
                </a:cxn>
              </a:cxnLst>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w="12700">
              <a:noFill/>
            </a:ln>
          </p:spPr>
          <p:txBody>
            <a:bodyPr/>
            <a:p>
              <a:endParaRPr lang="zh-CN" altLang="en-US"/>
            </a:p>
          </p:txBody>
        </p:sp>
        <p:sp>
          <p:nvSpPr>
            <p:cNvPr id="2138" name="Freeform 88"/>
            <p:cNvSpPr/>
            <p:nvPr/>
          </p:nvSpPr>
          <p:spPr>
            <a:xfrm>
              <a:off x="4598" y="3353"/>
              <a:ext cx="24" cy="33"/>
            </a:xfrm>
            <a:custGeom>
              <a:avLst/>
              <a:gdLst/>
              <a:ahLst/>
              <a:cxnLst>
                <a:cxn ang="0">
                  <a:pos x="28" y="0"/>
                </a:cxn>
                <a:cxn ang="0">
                  <a:pos x="10" y="11"/>
                </a:cxn>
                <a:cxn ang="0">
                  <a:pos x="12" y="32"/>
                </a:cxn>
                <a:cxn ang="0">
                  <a:pos x="24" y="36"/>
                </a:cxn>
                <a:cxn ang="0">
                  <a:pos x="28" y="0"/>
                </a:cxn>
              </a:cxnLst>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w="12700">
              <a:noFill/>
            </a:ln>
          </p:spPr>
          <p:txBody>
            <a:bodyPr/>
            <a:p>
              <a:endParaRPr lang="zh-CN" altLang="en-US"/>
            </a:p>
          </p:txBody>
        </p:sp>
        <p:sp>
          <p:nvSpPr>
            <p:cNvPr id="2139" name="Freeform 89"/>
            <p:cNvSpPr/>
            <p:nvPr/>
          </p:nvSpPr>
          <p:spPr>
            <a:xfrm>
              <a:off x="4632" y="3396"/>
              <a:ext cx="26" cy="33"/>
            </a:xfrm>
            <a:custGeom>
              <a:avLst/>
              <a:gdLst/>
              <a:ahLst/>
              <a:cxnLst>
                <a:cxn ang="0">
                  <a:pos x="30" y="0"/>
                </a:cxn>
                <a:cxn ang="0">
                  <a:pos x="10" y="9"/>
                </a:cxn>
                <a:cxn ang="0">
                  <a:pos x="14" y="32"/>
                </a:cxn>
                <a:cxn ang="0">
                  <a:pos x="26" y="36"/>
                </a:cxn>
                <a:cxn ang="0">
                  <a:pos x="30" y="0"/>
                </a:cxn>
              </a:cxnLst>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w="12700">
              <a:noFill/>
            </a:ln>
          </p:spPr>
          <p:txBody>
            <a:bodyPr/>
            <a:p>
              <a:endParaRPr lang="zh-CN" altLang="en-US"/>
            </a:p>
          </p:txBody>
        </p:sp>
        <p:sp>
          <p:nvSpPr>
            <p:cNvPr id="2140" name="Freeform 90"/>
            <p:cNvSpPr/>
            <p:nvPr/>
          </p:nvSpPr>
          <p:spPr>
            <a:xfrm>
              <a:off x="4659" y="3459"/>
              <a:ext cx="28" cy="28"/>
            </a:xfrm>
            <a:custGeom>
              <a:avLst/>
              <a:gdLst/>
              <a:ahLst/>
              <a:cxnLst>
                <a:cxn ang="0">
                  <a:pos x="34" y="2"/>
                </a:cxn>
                <a:cxn ang="0">
                  <a:pos x="10" y="2"/>
                </a:cxn>
                <a:cxn ang="0">
                  <a:pos x="14" y="25"/>
                </a:cxn>
                <a:cxn ang="0">
                  <a:pos x="26" y="29"/>
                </a:cxn>
                <a:cxn ang="0">
                  <a:pos x="34" y="2"/>
                </a:cxn>
              </a:cxnLst>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w="12700">
              <a:noFill/>
            </a:ln>
          </p:spPr>
          <p:txBody>
            <a:bodyPr/>
            <a:p>
              <a:endParaRPr lang="zh-CN" altLang="en-US"/>
            </a:p>
          </p:txBody>
        </p:sp>
        <p:sp>
          <p:nvSpPr>
            <p:cNvPr id="2141" name="Freeform 91"/>
            <p:cNvSpPr/>
            <p:nvPr/>
          </p:nvSpPr>
          <p:spPr>
            <a:xfrm>
              <a:off x="4693" y="3449"/>
              <a:ext cx="28" cy="26"/>
            </a:xfrm>
            <a:custGeom>
              <a:avLst/>
              <a:gdLst/>
              <a:ahLst/>
              <a:cxnLst>
                <a:cxn ang="0">
                  <a:pos x="34" y="2"/>
                </a:cxn>
                <a:cxn ang="0">
                  <a:pos x="10" y="2"/>
                </a:cxn>
                <a:cxn ang="0">
                  <a:pos x="16" y="22"/>
                </a:cxn>
                <a:cxn ang="0">
                  <a:pos x="27" y="22"/>
                </a:cxn>
                <a:cxn ang="0">
                  <a:pos x="34" y="2"/>
                </a:cxn>
              </a:cxnLst>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w="12700">
              <a:noFill/>
            </a:ln>
          </p:spPr>
          <p:txBody>
            <a:bodyPr/>
            <a:p>
              <a:endParaRPr lang="zh-CN" altLang="en-US"/>
            </a:p>
          </p:txBody>
        </p:sp>
        <p:sp>
          <p:nvSpPr>
            <p:cNvPr id="2142" name="Freeform 92"/>
            <p:cNvSpPr/>
            <p:nvPr/>
          </p:nvSpPr>
          <p:spPr>
            <a:xfrm>
              <a:off x="4683" y="3413"/>
              <a:ext cx="26" cy="20"/>
            </a:xfrm>
            <a:custGeom>
              <a:avLst/>
              <a:gdLst/>
              <a:ahLst/>
              <a:cxnLst>
                <a:cxn ang="0">
                  <a:pos x="31" y="1"/>
                </a:cxn>
                <a:cxn ang="0">
                  <a:pos x="10" y="2"/>
                </a:cxn>
                <a:cxn ang="0">
                  <a:pos x="13" y="15"/>
                </a:cxn>
                <a:cxn ang="0">
                  <a:pos x="25" y="19"/>
                </a:cxn>
                <a:cxn ang="0">
                  <a:pos x="31" y="1"/>
                </a:cxn>
              </a:cxnLst>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w="12700">
              <a:noFill/>
            </a:ln>
          </p:spPr>
          <p:txBody>
            <a:bodyPr/>
            <a:p>
              <a:endParaRPr lang="zh-CN" altLang="en-US"/>
            </a:p>
          </p:txBody>
        </p:sp>
        <p:sp>
          <p:nvSpPr>
            <p:cNvPr id="2143" name="Freeform 93"/>
            <p:cNvSpPr/>
            <p:nvPr/>
          </p:nvSpPr>
          <p:spPr>
            <a:xfrm>
              <a:off x="4657" y="3388"/>
              <a:ext cx="26" cy="35"/>
            </a:xfrm>
            <a:custGeom>
              <a:avLst/>
              <a:gdLst/>
              <a:ahLst/>
              <a:cxnLst>
                <a:cxn ang="0">
                  <a:pos x="28" y="16"/>
                </a:cxn>
                <a:cxn ang="0">
                  <a:pos x="19" y="2"/>
                </a:cxn>
                <a:cxn ang="0">
                  <a:pos x="10" y="25"/>
                </a:cxn>
                <a:cxn ang="0">
                  <a:pos x="19" y="35"/>
                </a:cxn>
                <a:cxn ang="0">
                  <a:pos x="27" y="29"/>
                </a:cxn>
                <a:cxn ang="0">
                  <a:pos x="28" y="16"/>
                </a:cxn>
              </a:cxnLst>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w="12700">
              <a:noFill/>
            </a:ln>
          </p:spPr>
          <p:txBody>
            <a:bodyPr/>
            <a:p>
              <a:endParaRPr lang="zh-CN" altLang="en-US"/>
            </a:p>
          </p:txBody>
        </p:sp>
        <p:sp>
          <p:nvSpPr>
            <p:cNvPr id="2144" name="Freeform 94"/>
            <p:cNvSpPr/>
            <p:nvPr/>
          </p:nvSpPr>
          <p:spPr>
            <a:xfrm>
              <a:off x="4625" y="3372"/>
              <a:ext cx="24" cy="26"/>
            </a:xfrm>
            <a:custGeom>
              <a:avLst/>
              <a:gdLst/>
              <a:ahLst/>
              <a:cxnLst>
                <a:cxn ang="0">
                  <a:pos x="22" y="10"/>
                </a:cxn>
                <a:cxn ang="0">
                  <a:pos x="10" y="2"/>
                </a:cxn>
                <a:cxn ang="0">
                  <a:pos x="12" y="23"/>
                </a:cxn>
                <a:cxn ang="0">
                  <a:pos x="24" y="27"/>
                </a:cxn>
                <a:cxn ang="0">
                  <a:pos x="22" y="10"/>
                </a:cxn>
              </a:cxnLst>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w="12700">
              <a:noFill/>
            </a:ln>
          </p:spPr>
          <p:txBody>
            <a:bodyPr/>
            <a:p>
              <a:endParaRPr lang="zh-CN" altLang="en-US"/>
            </a:p>
          </p:txBody>
        </p:sp>
        <p:sp>
          <p:nvSpPr>
            <p:cNvPr id="2145" name="Freeform 95"/>
            <p:cNvSpPr/>
            <p:nvPr/>
          </p:nvSpPr>
          <p:spPr>
            <a:xfrm>
              <a:off x="4665" y="3425"/>
              <a:ext cx="24" cy="26"/>
            </a:xfrm>
            <a:custGeom>
              <a:avLst/>
              <a:gdLst/>
              <a:ahLst/>
              <a:cxnLst>
                <a:cxn ang="0">
                  <a:pos x="22" y="10"/>
                </a:cxn>
                <a:cxn ang="0">
                  <a:pos x="10" y="2"/>
                </a:cxn>
                <a:cxn ang="0">
                  <a:pos x="12" y="23"/>
                </a:cxn>
                <a:cxn ang="0">
                  <a:pos x="24" y="27"/>
                </a:cxn>
                <a:cxn ang="0">
                  <a:pos x="22" y="10"/>
                </a:cxn>
              </a:cxnLst>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w="12700">
              <a:noFill/>
            </a:ln>
          </p:spPr>
          <p:txBody>
            <a:bodyPr/>
            <a:p>
              <a:endParaRPr lang="zh-CN" altLang="en-US"/>
            </a:p>
          </p:txBody>
        </p:sp>
        <p:sp>
          <p:nvSpPr>
            <p:cNvPr id="2146" name="Freeform 96"/>
            <p:cNvSpPr/>
            <p:nvPr/>
          </p:nvSpPr>
          <p:spPr>
            <a:xfrm>
              <a:off x="3055" y="2051"/>
              <a:ext cx="141" cy="108"/>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w="12700">
              <a:noFill/>
            </a:ln>
          </p:spPr>
          <p:txBody>
            <a:bodyPr/>
            <a:p>
              <a:endParaRPr lang="zh-CN" altLang="en-US"/>
            </a:p>
          </p:txBody>
        </p:sp>
        <p:sp>
          <p:nvSpPr>
            <p:cNvPr id="2147" name="Freeform 97"/>
            <p:cNvSpPr/>
            <p:nvPr/>
          </p:nvSpPr>
          <p:spPr>
            <a:xfrm>
              <a:off x="3139" y="2155"/>
              <a:ext cx="40" cy="12"/>
            </a:xfrm>
            <a:custGeom>
              <a:avLst/>
              <a:gdLst/>
              <a:ahLst/>
              <a:cxnLst>
                <a:cxn ang="0">
                  <a:pos x="24" y="0"/>
                </a:cxn>
                <a:cxn ang="0">
                  <a:pos x="12" y="2"/>
                </a:cxn>
                <a:cxn ang="0">
                  <a:pos x="32" y="16"/>
                </a:cxn>
                <a:cxn ang="0">
                  <a:pos x="44" y="14"/>
                </a:cxn>
                <a:cxn ang="0">
                  <a:pos x="24" y="0"/>
                </a:cxn>
              </a:cxnLst>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w="12700">
              <a:noFill/>
            </a:ln>
          </p:spPr>
          <p:txBody>
            <a:bodyPr/>
            <a:p>
              <a:endParaRPr lang="zh-CN" altLang="en-US"/>
            </a:p>
          </p:txBody>
        </p:sp>
        <p:sp>
          <p:nvSpPr>
            <p:cNvPr id="2148" name="Freeform 98"/>
            <p:cNvSpPr/>
            <p:nvPr/>
          </p:nvSpPr>
          <p:spPr>
            <a:xfrm>
              <a:off x="3344" y="1999"/>
              <a:ext cx="42" cy="28"/>
            </a:xfrm>
            <a:custGeom>
              <a:avLst/>
              <a:gdLst/>
              <a:ahLst/>
              <a:cxnLst>
                <a:cxn ang="0">
                  <a:pos x="57" y="4"/>
                </a:cxn>
                <a:cxn ang="0">
                  <a:pos x="25" y="24"/>
                </a:cxn>
                <a:cxn ang="0">
                  <a:pos x="11" y="34"/>
                </a:cxn>
                <a:cxn ang="0">
                  <a:pos x="9" y="4"/>
                </a:cxn>
                <a:cxn ang="0">
                  <a:pos x="21" y="0"/>
                </a:cxn>
                <a:cxn ang="0">
                  <a:pos x="57" y="4"/>
                </a:cxn>
              </a:cxnLst>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w="12700">
              <a:noFill/>
            </a:ln>
          </p:spPr>
          <p:txBody>
            <a:bodyPr/>
            <a:p>
              <a:endParaRPr lang="zh-CN" altLang="en-US"/>
            </a:p>
          </p:txBody>
        </p:sp>
        <p:sp>
          <p:nvSpPr>
            <p:cNvPr id="2149" name="Freeform 99"/>
            <p:cNvSpPr/>
            <p:nvPr/>
          </p:nvSpPr>
          <p:spPr>
            <a:xfrm>
              <a:off x="3374" y="2012"/>
              <a:ext cx="50" cy="20"/>
            </a:xfrm>
            <a:custGeom>
              <a:avLst/>
              <a:gdLst/>
              <a:ahLst/>
              <a:cxnLst>
                <a:cxn ang="0">
                  <a:pos x="29" y="0"/>
                </a:cxn>
                <a:cxn ang="0">
                  <a:pos x="11" y="6"/>
                </a:cxn>
                <a:cxn ang="0">
                  <a:pos x="57" y="26"/>
                </a:cxn>
                <a:cxn ang="0">
                  <a:pos x="63" y="24"/>
                </a:cxn>
                <a:cxn ang="0">
                  <a:pos x="29" y="0"/>
                </a:cxn>
              </a:cxnLst>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w="12700">
              <a:noFill/>
            </a:ln>
          </p:spPr>
          <p:txBody>
            <a:bodyPr/>
            <a:p>
              <a:endParaRPr lang="zh-CN" altLang="en-US"/>
            </a:p>
          </p:txBody>
        </p:sp>
        <p:sp>
          <p:nvSpPr>
            <p:cNvPr id="2150" name="Freeform 100"/>
            <p:cNvSpPr/>
            <p:nvPr/>
          </p:nvSpPr>
          <p:spPr>
            <a:xfrm>
              <a:off x="3428" y="2015"/>
              <a:ext cx="50" cy="32"/>
            </a:xfrm>
            <a:custGeom>
              <a:avLst/>
              <a:gdLst/>
              <a:ahLst/>
              <a:cxnLst>
                <a:cxn ang="0">
                  <a:pos x="50" y="9"/>
                </a:cxn>
                <a:cxn ang="0">
                  <a:pos x="26" y="9"/>
                </a:cxn>
                <a:cxn ang="0">
                  <a:pos x="10" y="9"/>
                </a:cxn>
                <a:cxn ang="0">
                  <a:pos x="8" y="35"/>
                </a:cxn>
                <a:cxn ang="0">
                  <a:pos x="32" y="43"/>
                </a:cxn>
                <a:cxn ang="0">
                  <a:pos x="62" y="27"/>
                </a:cxn>
                <a:cxn ang="0">
                  <a:pos x="50" y="9"/>
                </a:cxn>
              </a:cxnLst>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w="12700">
              <a:noFill/>
            </a:ln>
          </p:spPr>
          <p:txBody>
            <a:bodyPr/>
            <a:p>
              <a:endParaRPr lang="zh-CN" altLang="en-US"/>
            </a:p>
          </p:txBody>
        </p:sp>
        <p:sp>
          <p:nvSpPr>
            <p:cNvPr id="2151" name="Freeform 101"/>
            <p:cNvSpPr/>
            <p:nvPr/>
          </p:nvSpPr>
          <p:spPr>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w="12700">
              <a:noFill/>
            </a:ln>
          </p:spPr>
          <p:txBody>
            <a:bodyPr/>
            <a:p>
              <a:endParaRPr lang="zh-CN" altLang="en-US"/>
            </a:p>
          </p:txBody>
        </p:sp>
        <p:sp>
          <p:nvSpPr>
            <p:cNvPr id="2152" name="Freeform 102"/>
            <p:cNvSpPr/>
            <p:nvPr/>
          </p:nvSpPr>
          <p:spPr>
            <a:xfrm>
              <a:off x="3867" y="2041"/>
              <a:ext cx="46" cy="24"/>
            </a:xfrm>
            <a:custGeom>
              <a:avLst/>
              <a:gdLst/>
              <a:ahLst/>
              <a:cxnLst>
                <a:cxn ang="0">
                  <a:pos x="32" y="4"/>
                </a:cxn>
                <a:cxn ang="0">
                  <a:pos x="62" y="10"/>
                </a:cxn>
                <a:cxn ang="0">
                  <a:pos x="30" y="32"/>
                </a:cxn>
                <a:cxn ang="0">
                  <a:pos x="6" y="22"/>
                </a:cxn>
                <a:cxn ang="0">
                  <a:pos x="32" y="4"/>
                </a:cxn>
              </a:cxnLst>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w="12700">
              <a:noFill/>
            </a:ln>
          </p:spPr>
          <p:txBody>
            <a:bodyPr/>
            <a:p>
              <a:endParaRPr lang="zh-CN" altLang="en-US"/>
            </a:p>
          </p:txBody>
        </p:sp>
        <p:sp>
          <p:nvSpPr>
            <p:cNvPr id="2153" name="Freeform 103"/>
            <p:cNvSpPr/>
            <p:nvPr/>
          </p:nvSpPr>
          <p:spPr>
            <a:xfrm>
              <a:off x="3846" y="2070"/>
              <a:ext cx="37" cy="17"/>
            </a:xfrm>
            <a:custGeom>
              <a:avLst/>
              <a:gdLst/>
              <a:ahLst/>
              <a:cxnLst>
                <a:cxn ang="0">
                  <a:pos x="20" y="1"/>
                </a:cxn>
                <a:cxn ang="0">
                  <a:pos x="6" y="5"/>
                </a:cxn>
                <a:cxn ang="0">
                  <a:pos x="38" y="23"/>
                </a:cxn>
                <a:cxn ang="0">
                  <a:pos x="20" y="1"/>
                </a:cxn>
              </a:cxnLst>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w="12700">
              <a:noFill/>
            </a:ln>
          </p:spPr>
          <p:txBody>
            <a:bodyPr/>
            <a:p>
              <a:endParaRPr lang="zh-CN" altLang="en-US"/>
            </a:p>
          </p:txBody>
        </p:sp>
        <p:sp>
          <p:nvSpPr>
            <p:cNvPr id="2154" name="Freeform 104"/>
            <p:cNvSpPr/>
            <p:nvPr/>
          </p:nvSpPr>
          <p:spPr>
            <a:xfrm>
              <a:off x="4098" y="2294"/>
              <a:ext cx="76"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w="12700">
              <a:noFill/>
            </a:ln>
          </p:spPr>
          <p:txBody>
            <a:bodyPr/>
            <a:p>
              <a:endParaRPr lang="zh-CN" altLang="en-US"/>
            </a:p>
          </p:txBody>
        </p:sp>
        <p:sp>
          <p:nvSpPr>
            <p:cNvPr id="2155" name="Freeform 105"/>
            <p:cNvSpPr/>
            <p:nvPr/>
          </p:nvSpPr>
          <p:spPr>
            <a:xfrm>
              <a:off x="4159" y="2412"/>
              <a:ext cx="55" cy="78"/>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w="12700">
              <a:noFill/>
            </a:ln>
          </p:spPr>
          <p:txBody>
            <a:bodyPr/>
            <a:p>
              <a:endParaRPr lang="zh-CN" altLang="en-US"/>
            </a:p>
          </p:txBody>
        </p:sp>
        <p:sp>
          <p:nvSpPr>
            <p:cNvPr id="2156" name="Freeform 106"/>
            <p:cNvSpPr/>
            <p:nvPr/>
          </p:nvSpPr>
          <p:spPr>
            <a:xfrm>
              <a:off x="4123" y="2492"/>
              <a:ext cx="109" cy="189"/>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w="12700">
              <a:noFill/>
            </a:ln>
          </p:spPr>
          <p:txBody>
            <a:bodyPr/>
            <a:p>
              <a:endParaRPr lang="zh-CN" altLang="en-US"/>
            </a:p>
          </p:txBody>
        </p:sp>
        <p:sp>
          <p:nvSpPr>
            <p:cNvPr id="2157" name="Freeform 107"/>
            <p:cNvSpPr/>
            <p:nvPr/>
          </p:nvSpPr>
          <p:spPr>
            <a:xfrm>
              <a:off x="3062" y="1988"/>
              <a:ext cx="52" cy="30"/>
            </a:xfrm>
            <a:custGeom>
              <a:avLst/>
              <a:gdLst/>
              <a:ahLst/>
              <a:cxnLst>
                <a:cxn ang="0">
                  <a:pos x="59" y="0"/>
                </a:cxn>
                <a:cxn ang="0">
                  <a:pos x="65" y="20"/>
                </a:cxn>
                <a:cxn ang="0">
                  <a:pos x="41" y="24"/>
                </a:cxn>
                <a:cxn ang="0">
                  <a:pos x="31" y="40"/>
                </a:cxn>
                <a:cxn ang="0">
                  <a:pos x="7" y="38"/>
                </a:cxn>
                <a:cxn ang="0">
                  <a:pos x="1" y="36"/>
                </a:cxn>
                <a:cxn ang="0">
                  <a:pos x="33" y="20"/>
                </a:cxn>
                <a:cxn ang="0">
                  <a:pos x="59" y="0"/>
                </a:cxn>
              </a:cxnLst>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w="12700">
              <a:noFill/>
            </a:ln>
          </p:spPr>
          <p:txBody>
            <a:bodyPr/>
            <a:p>
              <a:endParaRPr lang="zh-CN" altLang="en-US"/>
            </a:p>
          </p:txBody>
        </p:sp>
        <p:sp>
          <p:nvSpPr>
            <p:cNvPr id="2158" name="Freeform 108"/>
            <p:cNvSpPr/>
            <p:nvPr/>
          </p:nvSpPr>
          <p:spPr>
            <a:xfrm>
              <a:off x="2955" y="1997"/>
              <a:ext cx="19" cy="22"/>
            </a:xfrm>
            <a:custGeom>
              <a:avLst/>
              <a:gdLst/>
              <a:ahLst/>
              <a:cxnLst>
                <a:cxn ang="0">
                  <a:pos x="18" y="0"/>
                </a:cxn>
                <a:cxn ang="0">
                  <a:pos x="0" y="18"/>
                </a:cxn>
                <a:cxn ang="0">
                  <a:pos x="18" y="26"/>
                </a:cxn>
                <a:cxn ang="0">
                  <a:pos x="18" y="0"/>
                </a:cxn>
              </a:cxnLst>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w="12700">
              <a:noFill/>
            </a:ln>
          </p:spPr>
          <p:txBody>
            <a:bodyPr/>
            <a:p>
              <a:endParaRPr lang="zh-CN" altLang="en-US"/>
            </a:p>
          </p:txBody>
        </p:sp>
        <p:sp>
          <p:nvSpPr>
            <p:cNvPr id="2159" name="Freeform 109"/>
            <p:cNvSpPr/>
            <p:nvPr/>
          </p:nvSpPr>
          <p:spPr>
            <a:xfrm>
              <a:off x="2979" y="1996"/>
              <a:ext cx="37" cy="27"/>
            </a:xfrm>
            <a:custGeom>
              <a:avLst/>
              <a:gdLst/>
              <a:ahLst/>
              <a:cxnLst>
                <a:cxn ang="0">
                  <a:pos x="14" y="6"/>
                </a:cxn>
                <a:cxn ang="0">
                  <a:pos x="0" y="18"/>
                </a:cxn>
                <a:cxn ang="0">
                  <a:pos x="6" y="32"/>
                </a:cxn>
                <a:cxn ang="0">
                  <a:pos x="18" y="36"/>
                </a:cxn>
                <a:cxn ang="0">
                  <a:pos x="40" y="26"/>
                </a:cxn>
                <a:cxn ang="0">
                  <a:pos x="14" y="6"/>
                </a:cxn>
              </a:cxnLst>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w="12700">
              <a:noFill/>
            </a:ln>
          </p:spPr>
          <p:txBody>
            <a:bodyPr/>
            <a:p>
              <a:endParaRPr lang="zh-CN" altLang="en-US"/>
            </a:p>
          </p:txBody>
        </p:sp>
        <p:sp>
          <p:nvSpPr>
            <p:cNvPr id="2160" name="Freeform 110"/>
            <p:cNvSpPr/>
            <p:nvPr/>
          </p:nvSpPr>
          <p:spPr>
            <a:xfrm>
              <a:off x="3040" y="1987"/>
              <a:ext cx="20" cy="16"/>
            </a:xfrm>
            <a:custGeom>
              <a:avLst/>
              <a:gdLst/>
              <a:ahLst/>
              <a:cxnLst>
                <a:cxn ang="0">
                  <a:pos x="11" y="0"/>
                </a:cxn>
                <a:cxn ang="0">
                  <a:pos x="3" y="12"/>
                </a:cxn>
                <a:cxn ang="0">
                  <a:pos x="19" y="22"/>
                </a:cxn>
                <a:cxn ang="0">
                  <a:pos x="11" y="0"/>
                </a:cxn>
              </a:cxnLst>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w="12700">
              <a:noFill/>
            </a:ln>
          </p:spPr>
          <p:txBody>
            <a:bodyPr/>
            <a:p>
              <a:endParaRPr lang="zh-CN" altLang="en-US"/>
            </a:p>
          </p:txBody>
        </p:sp>
        <p:sp>
          <p:nvSpPr>
            <p:cNvPr id="2161" name="Freeform 111"/>
            <p:cNvSpPr/>
            <p:nvPr/>
          </p:nvSpPr>
          <p:spPr>
            <a:xfrm>
              <a:off x="3022" y="2005"/>
              <a:ext cx="15" cy="13"/>
            </a:xfrm>
            <a:custGeom>
              <a:avLst/>
              <a:gdLst/>
              <a:ahLst/>
              <a:cxnLst>
                <a:cxn ang="0">
                  <a:pos x="11" y="0"/>
                </a:cxn>
                <a:cxn ang="0">
                  <a:pos x="9" y="18"/>
                </a:cxn>
                <a:cxn ang="0">
                  <a:pos x="11" y="0"/>
                </a:cxn>
              </a:cxnLst>
              <a:pathLst>
                <a:path w="20" h="18">
                  <a:moveTo>
                    <a:pt x="11" y="0"/>
                  </a:moveTo>
                  <a:cubicBezTo>
                    <a:pt x="1" y="14"/>
                    <a:pt x="0" y="9"/>
                    <a:pt x="9" y="18"/>
                  </a:cubicBezTo>
                  <a:cubicBezTo>
                    <a:pt x="20" y="14"/>
                    <a:pt x="16" y="18"/>
                    <a:pt x="11" y="0"/>
                  </a:cubicBezTo>
                  <a:close/>
                </a:path>
              </a:pathLst>
            </a:custGeom>
            <a:solidFill>
              <a:srgbClr val="FEFEFE">
                <a:alpha val="30196"/>
              </a:srgbClr>
            </a:solidFill>
            <a:ln w="12700">
              <a:noFill/>
            </a:ln>
          </p:spPr>
          <p:txBody>
            <a:bodyPr/>
            <a:p>
              <a:endParaRPr lang="zh-CN" altLang="en-US"/>
            </a:p>
          </p:txBody>
        </p:sp>
        <p:sp>
          <p:nvSpPr>
            <p:cNvPr id="2162" name="Freeform 112"/>
            <p:cNvSpPr/>
            <p:nvPr/>
          </p:nvSpPr>
          <p:spPr>
            <a:xfrm>
              <a:off x="4162" y="2021"/>
              <a:ext cx="18" cy="33"/>
            </a:xfrm>
            <a:custGeom>
              <a:avLst/>
              <a:gdLst/>
              <a:ahLst/>
              <a:cxnLst>
                <a:cxn ang="0">
                  <a:pos x="24" y="0"/>
                </a:cxn>
                <a:cxn ang="0">
                  <a:pos x="8" y="16"/>
                </a:cxn>
                <a:cxn ang="0">
                  <a:pos x="0" y="34"/>
                </a:cxn>
                <a:cxn ang="0">
                  <a:pos x="16" y="40"/>
                </a:cxn>
                <a:cxn ang="0">
                  <a:pos x="24" y="0"/>
                </a:cxn>
              </a:cxnLst>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w="12700">
              <a:noFill/>
            </a:ln>
          </p:spPr>
          <p:txBody>
            <a:bodyPr/>
            <a:p>
              <a:endParaRPr lang="zh-CN" altLang="en-US"/>
            </a:p>
          </p:txBody>
        </p:sp>
        <p:sp>
          <p:nvSpPr>
            <p:cNvPr id="2163" name="Freeform 113"/>
            <p:cNvSpPr/>
            <p:nvPr/>
          </p:nvSpPr>
          <p:spPr>
            <a:xfrm>
              <a:off x="3278" y="3473"/>
              <a:ext cx="31" cy="18"/>
            </a:xfrm>
            <a:custGeom>
              <a:avLst/>
              <a:gdLst/>
              <a:ahLst/>
              <a:cxnLst>
                <a:cxn ang="0">
                  <a:pos x="30" y="0"/>
                </a:cxn>
                <a:cxn ang="0">
                  <a:pos x="26" y="24"/>
                </a:cxn>
                <a:cxn ang="0">
                  <a:pos x="30" y="0"/>
                </a:cxn>
              </a:cxnLst>
              <a:pathLst>
                <a:path w="41" h="24">
                  <a:moveTo>
                    <a:pt x="30" y="0"/>
                  </a:moveTo>
                  <a:cubicBezTo>
                    <a:pt x="4" y="4"/>
                    <a:pt x="0" y="17"/>
                    <a:pt x="26" y="24"/>
                  </a:cubicBezTo>
                  <a:cubicBezTo>
                    <a:pt x="41" y="19"/>
                    <a:pt x="38" y="10"/>
                    <a:pt x="30" y="0"/>
                  </a:cubicBezTo>
                  <a:close/>
                </a:path>
              </a:pathLst>
            </a:custGeom>
            <a:solidFill>
              <a:srgbClr val="FEFEFE">
                <a:alpha val="30196"/>
              </a:srgbClr>
            </a:solidFill>
            <a:ln w="12700">
              <a:noFill/>
            </a:ln>
          </p:spPr>
          <p:txBody>
            <a:bodyPr/>
            <a:p>
              <a:endParaRPr lang="zh-CN" altLang="en-US"/>
            </a:p>
          </p:txBody>
        </p:sp>
        <p:sp>
          <p:nvSpPr>
            <p:cNvPr id="2164" name="Freeform 114"/>
            <p:cNvSpPr/>
            <p:nvPr/>
          </p:nvSpPr>
          <p:spPr>
            <a:xfrm>
              <a:off x="3318" y="3466"/>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65" name="Freeform 115"/>
            <p:cNvSpPr/>
            <p:nvPr/>
          </p:nvSpPr>
          <p:spPr>
            <a:xfrm>
              <a:off x="3251" y="3312"/>
              <a:ext cx="9"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66" name="Freeform 116"/>
            <p:cNvSpPr/>
            <p:nvPr/>
          </p:nvSpPr>
          <p:spPr>
            <a:xfrm>
              <a:off x="3311" y="3239"/>
              <a:ext cx="11" cy="19"/>
            </a:xfrm>
            <a:custGeom>
              <a:avLst/>
              <a:gdLst/>
              <a:ahLst/>
              <a:cxnLst>
                <a:cxn ang="0">
                  <a:pos x="6" y="0"/>
                </a:cxn>
                <a:cxn ang="0">
                  <a:pos x="0" y="13"/>
                </a:cxn>
                <a:cxn ang="0">
                  <a:pos x="12" y="24"/>
                </a:cxn>
                <a:cxn ang="0">
                  <a:pos x="6" y="0"/>
                </a:cxn>
              </a:cxnLst>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w="12700">
              <a:noFill/>
            </a:ln>
          </p:spPr>
          <p:txBody>
            <a:bodyPr/>
            <a:p>
              <a:endParaRPr lang="zh-CN" altLang="en-US"/>
            </a:p>
          </p:txBody>
        </p:sp>
        <p:sp>
          <p:nvSpPr>
            <p:cNvPr id="2167" name="Freeform 117"/>
            <p:cNvSpPr/>
            <p:nvPr/>
          </p:nvSpPr>
          <p:spPr>
            <a:xfrm>
              <a:off x="3287" y="3238"/>
              <a:ext cx="11" cy="19"/>
            </a:xfrm>
            <a:custGeom>
              <a:avLst/>
              <a:gdLst/>
              <a:ahLst/>
              <a:cxnLst>
                <a:cxn ang="0">
                  <a:pos x="6" y="0"/>
                </a:cxn>
                <a:cxn ang="0">
                  <a:pos x="0" y="13"/>
                </a:cxn>
                <a:cxn ang="0">
                  <a:pos x="12" y="24"/>
                </a:cxn>
                <a:cxn ang="0">
                  <a:pos x="6" y="0"/>
                </a:cxn>
              </a:cxnLst>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w="12700">
              <a:noFill/>
            </a:ln>
          </p:spPr>
          <p:txBody>
            <a:bodyPr/>
            <a:p>
              <a:endParaRPr lang="zh-CN" altLang="en-US"/>
            </a:p>
          </p:txBody>
        </p:sp>
        <p:sp>
          <p:nvSpPr>
            <p:cNvPr id="2168" name="Freeform 118"/>
            <p:cNvSpPr/>
            <p:nvPr/>
          </p:nvSpPr>
          <p:spPr>
            <a:xfrm>
              <a:off x="3276" y="3260"/>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69" name="Freeform 119"/>
            <p:cNvSpPr/>
            <p:nvPr/>
          </p:nvSpPr>
          <p:spPr>
            <a:xfrm>
              <a:off x="3251" y="3294"/>
              <a:ext cx="9"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70" name="Freeform 120"/>
            <p:cNvSpPr/>
            <p:nvPr/>
          </p:nvSpPr>
          <p:spPr>
            <a:xfrm>
              <a:off x="3270" y="3281"/>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71" name="Freeform 121"/>
            <p:cNvSpPr/>
            <p:nvPr/>
          </p:nvSpPr>
          <p:spPr>
            <a:xfrm>
              <a:off x="2537" y="2293"/>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72" name="Freeform 122"/>
            <p:cNvSpPr/>
            <p:nvPr/>
          </p:nvSpPr>
          <p:spPr>
            <a:xfrm>
              <a:off x="2476" y="2259"/>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73" name="Freeform 123"/>
            <p:cNvSpPr/>
            <p:nvPr/>
          </p:nvSpPr>
          <p:spPr>
            <a:xfrm>
              <a:off x="2238" y="2042"/>
              <a:ext cx="2060" cy="1644"/>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w="12700">
              <a:noFill/>
            </a:ln>
          </p:spPr>
          <p:txBody>
            <a:bodyPr/>
            <a:p>
              <a:endParaRPr lang="zh-CN" altLang="en-US"/>
            </a:p>
          </p:txBody>
        </p:sp>
      </p:grpSp>
      <p:pic>
        <p:nvPicPr>
          <p:cNvPr id="2052" name="Picture 7" descr="artplus_nature_naturalcity42_a"/>
          <p:cNvPicPr>
            <a:picLocks noChangeAspect="1"/>
          </p:cNvPicPr>
          <p:nvPr/>
        </p:nvPicPr>
        <p:blipFill>
          <a:blip r:embed="rId3"/>
          <a:stretch>
            <a:fillRect/>
          </a:stretch>
        </p:blipFill>
        <p:spPr>
          <a:xfrm>
            <a:off x="4870450" y="3167063"/>
            <a:ext cx="4425950" cy="2989262"/>
          </a:xfrm>
          <a:prstGeom prst="rect">
            <a:avLst/>
          </a:prstGeom>
          <a:noFill/>
          <a:ln w="9525">
            <a:noFill/>
          </a:ln>
        </p:spPr>
      </p:pic>
      <p:pic>
        <p:nvPicPr>
          <p:cNvPr id="2053" name="Picture 12" descr="artplus_nature_naturalcity42_i"/>
          <p:cNvPicPr>
            <a:picLocks noChangeAspect="1"/>
          </p:cNvPicPr>
          <p:nvPr/>
        </p:nvPicPr>
        <p:blipFill>
          <a:blip r:embed="rId4"/>
          <a:stretch>
            <a:fillRect/>
          </a:stretch>
        </p:blipFill>
        <p:spPr>
          <a:xfrm>
            <a:off x="6956425" y="3352800"/>
            <a:ext cx="1654175" cy="877888"/>
          </a:xfrm>
          <a:prstGeom prst="rect">
            <a:avLst/>
          </a:prstGeom>
          <a:noFill/>
          <a:ln w="9525">
            <a:noFill/>
          </a:ln>
        </p:spPr>
      </p:pic>
      <p:pic>
        <p:nvPicPr>
          <p:cNvPr id="2054" name="Picture 10" descr="artplus_nature_naturalcity42_c"/>
          <p:cNvPicPr>
            <a:picLocks noChangeAspect="1"/>
          </p:cNvPicPr>
          <p:nvPr/>
        </p:nvPicPr>
        <p:blipFill>
          <a:blip r:embed="rId5"/>
          <a:stretch>
            <a:fillRect/>
          </a:stretch>
        </p:blipFill>
        <p:spPr>
          <a:xfrm>
            <a:off x="7315200" y="3429000"/>
            <a:ext cx="1112838" cy="866775"/>
          </a:xfrm>
          <a:prstGeom prst="rect">
            <a:avLst/>
          </a:prstGeom>
          <a:noFill/>
          <a:ln w="9525">
            <a:noFill/>
          </a:ln>
        </p:spPr>
      </p:pic>
      <p:pic>
        <p:nvPicPr>
          <p:cNvPr id="2055" name="Picture 13" descr="artplus_nature_naturalcity42_f"/>
          <p:cNvPicPr>
            <a:picLocks noChangeAspect="1"/>
          </p:cNvPicPr>
          <p:nvPr/>
        </p:nvPicPr>
        <p:blipFill>
          <a:blip r:embed="rId6"/>
          <a:stretch>
            <a:fillRect/>
          </a:stretch>
        </p:blipFill>
        <p:spPr>
          <a:xfrm>
            <a:off x="4994275" y="4594225"/>
            <a:ext cx="4911725" cy="1882775"/>
          </a:xfrm>
          <a:prstGeom prst="rect">
            <a:avLst/>
          </a:prstGeom>
          <a:noFill/>
          <a:ln w="9525">
            <a:noFill/>
          </a:ln>
        </p:spPr>
      </p:pic>
      <p:pic>
        <p:nvPicPr>
          <p:cNvPr id="2056" name="Picture 9" descr="artplus_nature_naturalcity42_b"/>
          <p:cNvPicPr>
            <a:picLocks noChangeAspect="1"/>
          </p:cNvPicPr>
          <p:nvPr/>
        </p:nvPicPr>
        <p:blipFill>
          <a:blip r:embed="rId7"/>
          <a:stretch>
            <a:fillRect/>
          </a:stretch>
        </p:blipFill>
        <p:spPr>
          <a:xfrm>
            <a:off x="5195888" y="3097213"/>
            <a:ext cx="2971800" cy="571500"/>
          </a:xfrm>
          <a:prstGeom prst="rect">
            <a:avLst/>
          </a:prstGeom>
          <a:noFill/>
          <a:ln w="9525">
            <a:noFill/>
          </a:ln>
        </p:spPr>
      </p:pic>
      <p:pic>
        <p:nvPicPr>
          <p:cNvPr id="2057" name="Picture 8" descr="artplus_nature_naturalcity42_e"/>
          <p:cNvPicPr>
            <a:picLocks noChangeAspect="1"/>
          </p:cNvPicPr>
          <p:nvPr/>
        </p:nvPicPr>
        <p:blipFill>
          <a:blip r:embed="rId8"/>
          <a:stretch>
            <a:fillRect/>
          </a:stretch>
        </p:blipFill>
        <p:spPr>
          <a:xfrm>
            <a:off x="5943600" y="1993900"/>
            <a:ext cx="1546225" cy="1663700"/>
          </a:xfrm>
          <a:prstGeom prst="rect">
            <a:avLst/>
          </a:prstGeom>
          <a:noFill/>
          <a:ln w="9525">
            <a:noFill/>
          </a:ln>
        </p:spPr>
      </p:pic>
      <p:pic>
        <p:nvPicPr>
          <p:cNvPr id="2058" name="Picture 11" descr="artplus_nature_naturalcity42_d"/>
          <p:cNvPicPr>
            <a:picLocks noChangeAspect="1"/>
          </p:cNvPicPr>
          <p:nvPr/>
        </p:nvPicPr>
        <p:blipFill>
          <a:blip r:embed="rId9"/>
          <a:stretch>
            <a:fillRect/>
          </a:stretch>
        </p:blipFill>
        <p:spPr>
          <a:xfrm>
            <a:off x="5626100" y="2862263"/>
            <a:ext cx="623888" cy="579437"/>
          </a:xfrm>
          <a:prstGeom prst="rect">
            <a:avLst/>
          </a:prstGeom>
          <a:noFill/>
          <a:ln w="9525">
            <a:noFill/>
          </a:ln>
        </p:spPr>
      </p:pic>
      <p:pic>
        <p:nvPicPr>
          <p:cNvPr id="2059" name="Picture 128" descr="a1"/>
          <p:cNvPicPr>
            <a:picLocks noChangeAspect="1"/>
          </p:cNvPicPr>
          <p:nvPr userDrawn="1"/>
        </p:nvPicPr>
        <p:blipFill>
          <a:blip r:embed="rId10"/>
          <a:stretch>
            <a:fillRect/>
          </a:stretch>
        </p:blipFill>
        <p:spPr>
          <a:xfrm>
            <a:off x="914400" y="2286000"/>
            <a:ext cx="1803400" cy="2070100"/>
          </a:xfrm>
          <a:prstGeom prst="rect">
            <a:avLst/>
          </a:prstGeom>
          <a:noFill/>
          <a:ln w="9525">
            <a:noFill/>
          </a:ln>
        </p:spPr>
      </p:pic>
      <p:pic>
        <p:nvPicPr>
          <p:cNvPr id="2060" name="Picture 129" descr="b_1"/>
          <p:cNvPicPr>
            <a:picLocks noChangeAspect="1"/>
          </p:cNvPicPr>
          <p:nvPr userDrawn="1"/>
        </p:nvPicPr>
        <p:blipFill>
          <a:blip r:embed="rId11"/>
          <a:stretch>
            <a:fillRect/>
          </a:stretch>
        </p:blipFill>
        <p:spPr>
          <a:xfrm>
            <a:off x="2286000" y="3581400"/>
            <a:ext cx="1079500" cy="469900"/>
          </a:xfrm>
          <a:prstGeom prst="rect">
            <a:avLst/>
          </a:prstGeom>
          <a:noFill/>
          <a:ln w="9525">
            <a:noFill/>
          </a:ln>
        </p:spPr>
      </p:pic>
      <p:sp>
        <p:nvSpPr>
          <p:cNvPr id="4098" name="Rectangle 2"/>
          <p:cNvSpPr>
            <a:spLocks noGrp="1" noChangeArrowheads="1"/>
          </p:cNvSpPr>
          <p:nvPr>
            <p:ph type="ctrTitle"/>
          </p:nvPr>
        </p:nvSpPr>
        <p:spPr>
          <a:xfrm>
            <a:off x="304800" y="4419600"/>
            <a:ext cx="6400800" cy="1143000"/>
          </a:xfrm>
        </p:spPr>
        <p:txBody>
          <a:bodyPr/>
          <a:lstStyle>
            <a:lvl1pPr algn="l">
              <a:defRPr sz="4300">
                <a:solidFill>
                  <a:schemeClr val="bg1"/>
                </a:solidFill>
              </a:defRPr>
            </a:lvl1pPr>
          </a:lstStyle>
          <a:p>
            <a:r>
              <a:rPr lang="en-US" altLang="zh-CN"/>
              <a:t>Click to edit Master title style</a:t>
            </a:r>
            <a:endParaRPr lang="en-US" altLang="zh-CN"/>
          </a:p>
        </p:txBody>
      </p:sp>
      <p:sp>
        <p:nvSpPr>
          <p:cNvPr id="4099" name="Rectangle 3"/>
          <p:cNvSpPr>
            <a:spLocks noGrp="1" noChangeArrowheads="1"/>
          </p:cNvSpPr>
          <p:nvPr>
            <p:ph type="subTitle" idx="1"/>
          </p:nvPr>
        </p:nvSpPr>
        <p:spPr>
          <a:xfrm>
            <a:off x="304800" y="5715000"/>
            <a:ext cx="6400800" cy="381000"/>
          </a:xfrm>
        </p:spPr>
        <p:txBody>
          <a:bodyPr/>
          <a:lstStyle>
            <a:lvl1pPr marL="0" indent="0">
              <a:buFont typeface="Wingdings" panose="05000000000000000000" pitchFamily="2" charset="2"/>
              <a:buNone/>
              <a:defRPr sz="1800" b="1" i="1">
                <a:solidFill>
                  <a:schemeClr val="bg1"/>
                </a:solidFill>
              </a:defRPr>
            </a:lvl1pPr>
          </a:lstStyle>
          <a:p>
            <a:r>
              <a:rPr lang="en-US" altLang="zh-CN"/>
              <a:t>Click to edit Master subtitle style</a:t>
            </a:r>
            <a:endParaRPr lang="en-US" altLang="zh-CN"/>
          </a:p>
        </p:txBody>
      </p:sp>
      <p:sp>
        <p:nvSpPr>
          <p:cNvPr id="137" name="Rectangle 4"/>
          <p:cNvSpPr>
            <a:spLocks noGrp="1" noChangeArrowheads="1"/>
          </p:cNvSpPr>
          <p:nvPr>
            <p:ph type="dt" sz="half" idx="2"/>
          </p:nvPr>
        </p:nvSpPr>
        <p:spPr bwMode="auto">
          <a:xfrm>
            <a:off x="304800" y="6477000"/>
            <a:ext cx="2133600" cy="168275"/>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38" name="Rectangle 5"/>
          <p:cNvSpPr>
            <a:spLocks noGrp="1" noChangeArrowheads="1"/>
          </p:cNvSpPr>
          <p:nvPr>
            <p:ph type="ftr" sz="quarter" idx="3"/>
          </p:nvPr>
        </p:nvSpPr>
        <p:spPr bwMode="auto">
          <a:xfrm>
            <a:off x="6705600" y="6477000"/>
            <a:ext cx="2286000" cy="168275"/>
          </a:xfrm>
          <a:prstGeom prst="rect">
            <a:avLst/>
          </a:prstGeom>
          <a:ln>
            <a:miter lim="800000"/>
          </a:ln>
        </p:spPr>
        <p:txBody>
          <a:bodyPr vert="horz" wrap="square" lIns="91440" tIns="45720" rIns="91440" bIns="45720" numCol="1" anchor="t" anchorCtr="0" compatLnSpc="1"/>
          <a:lstStyle>
            <a:lvl1pPr algn="r">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rPr>
              <a:t>www.themegallery.com</a:t>
            </a: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39" name="Rectangle 6"/>
          <p:cNvSpPr>
            <a:spLocks noGrp="1" noChangeArrowheads="1"/>
          </p:cNvSpPr>
          <p:nvPr>
            <p:ph type="sldNum" sz="quarter" idx="4"/>
          </p:nvPr>
        </p:nvSpPr>
        <p:spPr bwMode="auto">
          <a:xfrm>
            <a:off x="3657600" y="6477000"/>
            <a:ext cx="2133600" cy="168275"/>
          </a:xfrm>
          <a:prstGeom prst="rect">
            <a:avLst/>
          </a:prstGeom>
          <a:ln>
            <a:miter lim="800000"/>
          </a:ln>
        </p:spPr>
        <p:txBody>
          <a:bodyPr vert="horz" wrap="square" lIns="91440" tIns="45720" rIns="91440" bIns="45720" numCol="1" anchor="t" anchorCtr="0" compatLnSpc="1"/>
          <a:p>
            <a:pPr algn="ctr">
              <a:buNone/>
            </a:pPr>
            <a:fld id="{9A0DB2DC-4C9A-4742-B13C-FB6460FD3503}" type="slidenum">
              <a:rPr lang="en-US" altLang="zh-CN" dirty="0"/>
            </a:fld>
            <a:endParaRPr lang="en-US" altLang="zh-CN" dirty="0"/>
          </a:p>
        </p:txBody>
      </p:sp>
    </p:spTree>
  </p:cSld>
  <p:clrMapOvr>
    <a:masterClrMapping/>
  </p:clrMapOvr>
  <p:timing>
    <p:tnLst>
      <p:par>
        <p:cTn id="1" dur="indefinite" restart="never" nodeType="tmRoot"/>
      </p:par>
    </p:tnLst>
  </p:timing>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4100" name="Rectangle 4"/>
          <p:cNvSpPr>
            <a:spLocks noChangeArrowheads="1"/>
          </p:cNvSpPr>
          <p:nvPr userDrawn="1"/>
        </p:nvSpPr>
        <p:spPr bwMode="ltGray">
          <a:xfrm>
            <a:off x="581343" y="942975"/>
            <a:ext cx="396000" cy="3960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endParaRPr lang="zh-CN" altLang="zh-CN" sz="2400">
              <a:ea typeface="宋体" panose="02010600030101010101" pitchFamily="2" charset="-122"/>
            </a:endParaRPr>
          </a:p>
        </p:txBody>
      </p:sp>
      <p:sp>
        <p:nvSpPr>
          <p:cNvPr id="4103" name="Rectangle 7"/>
          <p:cNvSpPr>
            <a:spLocks noChangeArrowheads="1"/>
          </p:cNvSpPr>
          <p:nvPr userDrawn="1"/>
        </p:nvSpPr>
        <p:spPr bwMode="gray">
          <a:xfrm>
            <a:off x="762000" y="803275"/>
            <a:ext cx="31750" cy="684000"/>
          </a:xfrm>
          <a:prstGeom prst="rect">
            <a:avLst/>
          </a:prstGeom>
          <a:solidFill>
            <a:srgbClr val="92D05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endParaRPr lang="zh-CN" altLang="zh-CN" sz="2400">
              <a:ea typeface="宋体" panose="02010600030101010101" pitchFamily="2" charset="-122"/>
            </a:endParaRPr>
          </a:p>
        </p:txBody>
      </p:sp>
      <p:sp>
        <p:nvSpPr>
          <p:cNvPr id="4104" name="Rectangle 8"/>
          <p:cNvSpPr>
            <a:spLocks noChangeArrowheads="1"/>
          </p:cNvSpPr>
          <p:nvPr userDrawn="1"/>
        </p:nvSpPr>
        <p:spPr bwMode="gray">
          <a:xfrm>
            <a:off x="442913" y="1136650"/>
            <a:ext cx="8352000" cy="31750"/>
          </a:xfrm>
          <a:prstGeom prst="rect">
            <a:avLst/>
          </a:prstGeom>
          <a:solidFill>
            <a:srgbClr val="92D05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endParaRPr lang="zh-CN" altLang="zh-CN" sz="2400">
              <a:ea typeface="宋体" panose="02010600030101010101" pitchFamily="2" charset="-122"/>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60960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60960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868363"/>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295400"/>
            <a:ext cx="8229600" cy="50292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Char char="v"/>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0.png"/><Relationship Id="rId14" Type="http://schemas.openxmlformats.org/officeDocument/2006/relationships/image" Target="../media/image9.png"/><Relationship Id="rId13" Type="http://schemas.openxmlformats.org/officeDocument/2006/relationships/image" Target="../media/image1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19" descr="1"/>
          <p:cNvPicPr>
            <a:picLocks noChangeAspect="1"/>
          </p:cNvPicPr>
          <p:nvPr userDrawn="1"/>
        </p:nvPicPr>
        <p:blipFill>
          <a:blip r:embed="rId13"/>
          <a:srcRect b="38461"/>
          <a:stretch>
            <a:fillRect/>
          </a:stretch>
        </p:blipFill>
        <p:spPr>
          <a:xfrm>
            <a:off x="0" y="6324600"/>
            <a:ext cx="9144000" cy="542925"/>
          </a:xfrm>
          <a:prstGeom prst="rect">
            <a:avLst/>
          </a:prstGeom>
          <a:noFill/>
          <a:ln w="9525">
            <a:noFill/>
          </a:ln>
        </p:spPr>
      </p:pic>
      <p:sp>
        <p:nvSpPr>
          <p:cNvPr id="1041" name="Rectangle 17"/>
          <p:cNvSpPr>
            <a:spLocks noChangeArrowheads="1"/>
          </p:cNvSpPr>
          <p:nvPr userDrawn="1"/>
        </p:nvSpPr>
        <p:spPr bwMode="gray">
          <a:xfrm>
            <a:off x="0" y="0"/>
            <a:ext cx="9144000" cy="1219200"/>
          </a:xfrm>
          <a:prstGeom prst="rect">
            <a:avLst/>
          </a:prstGeom>
          <a:gradFill rotWithShape="1">
            <a:gsLst>
              <a:gs pos="0">
                <a:schemeClr val="accent1"/>
              </a:gs>
              <a:gs pos="100000">
                <a:schemeClr val="accent1">
                  <a:gamma/>
                  <a:tint val="0"/>
                  <a:invGamma/>
                </a:schemeClr>
              </a:gs>
            </a:gsLst>
            <a:lin ang="54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8" name="Rectangle 3"/>
          <p:cNvSpPr>
            <a:spLocks noGrp="1"/>
          </p:cNvSpPr>
          <p:nvPr>
            <p:ph type="body" idx="1"/>
          </p:nvPr>
        </p:nvSpPr>
        <p:spPr>
          <a:xfrm>
            <a:off x="457200" y="1295400"/>
            <a:ext cx="8229600" cy="50292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2" name="Rectangle 4"/>
          <p:cNvSpPr>
            <a:spLocks noGrp="1" noChangeArrowheads="1"/>
          </p:cNvSpPr>
          <p:nvPr>
            <p:ph type="dt" sz="half" idx="2"/>
          </p:nvPr>
        </p:nvSpPr>
        <p:spPr bwMode="auto">
          <a:xfrm>
            <a:off x="457200" y="6537325"/>
            <a:ext cx="2133600" cy="244475"/>
          </a:xfrm>
          <a:prstGeom prst="rect">
            <a:avLst/>
          </a:prstGeom>
          <a:noFill/>
          <a:ln w="9525">
            <a:noFill/>
            <a:miter lim="800000"/>
          </a:ln>
          <a:effectLst/>
        </p:spPr>
        <p:txBody>
          <a:bodyPr vert="horz" wrap="square" lIns="91440" tIns="45720" rIns="91440" bIns="45720" numCol="1" anchor="t" anchorCtr="0" compatLnSpc="1"/>
          <a:lstStyle>
            <a:lvl1pPr>
              <a:defRPr sz="1200">
                <a:solidFill>
                  <a:schemeClr val="bg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537325"/>
            <a:ext cx="2895600" cy="244475"/>
          </a:xfrm>
          <a:prstGeom prst="rect">
            <a:avLst/>
          </a:prstGeom>
          <a:noFill/>
          <a:ln w="9525">
            <a:noFill/>
            <a:miter lim="800000"/>
          </a:ln>
          <a:effectLst/>
        </p:spPr>
        <p:txBody>
          <a:bodyPr vert="horz" wrap="square" lIns="91440" tIns="45720" rIns="91440" bIns="45720" numCol="1" anchor="t" anchorCtr="0" compatLnSpc="1"/>
          <a:lstStyle>
            <a:lvl1pPr algn="ctr">
              <a:defRPr sz="1200">
                <a:solidFill>
                  <a:schemeClr val="bg1"/>
                </a:solidFill>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537325"/>
            <a:ext cx="2133600" cy="244475"/>
          </a:xfrm>
          <a:prstGeom prst="rect">
            <a:avLst/>
          </a:prstGeom>
          <a:noFill/>
          <a:ln w="9525">
            <a:noFill/>
            <a:miter lim="800000"/>
          </a:ln>
          <a:effectLst/>
        </p:spPr>
        <p:txBody>
          <a:bodyPr vert="horz" wrap="square" lIns="91440" tIns="45720" rIns="91440" bIns="45720" numCol="1" anchor="t" anchorCtr="0" compatLnSpc="1"/>
          <a:lstStyle>
            <a:lvl1pPr algn="r">
              <a:defRPr sz="1200">
                <a:solidFill>
                  <a:schemeClr val="bg1"/>
                </a:solidFill>
              </a:defRPr>
            </a:lvl1p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
        <p:nvSpPr>
          <p:cNvPr id="1039" name="Rectangle 2"/>
          <p:cNvSpPr>
            <a:spLocks noGrp="1"/>
          </p:cNvSpPr>
          <p:nvPr>
            <p:ph type="title"/>
          </p:nvPr>
        </p:nvSpPr>
        <p:spPr>
          <a:xfrm>
            <a:off x="457200" y="228600"/>
            <a:ext cx="8229600" cy="868363"/>
          </a:xfrm>
          <a:prstGeom prst="rect">
            <a:avLst/>
          </a:prstGeom>
          <a:noFill/>
          <a:ln w="9525">
            <a:noFill/>
          </a:ln>
        </p:spPr>
        <p:txBody>
          <a:bodyPr anchor="ctr" anchorCtr="0"/>
          <a:p>
            <a:pPr lvl="0"/>
            <a:r>
              <a:rPr lang="en-US" altLang="zh-CN" dirty="0"/>
              <a:t>Click to edit Master title style</a:t>
            </a:r>
            <a:endParaRPr lang="en-US" altLang="zh-CN" dirty="0"/>
          </a:p>
        </p:txBody>
      </p:sp>
      <p:pic>
        <p:nvPicPr>
          <p:cNvPr id="1040" name="Picture 20" descr="a1"/>
          <p:cNvPicPr>
            <a:picLocks noChangeAspect="1"/>
          </p:cNvPicPr>
          <p:nvPr userDrawn="1"/>
        </p:nvPicPr>
        <p:blipFill>
          <a:blip r:embed="rId14"/>
          <a:stretch>
            <a:fillRect/>
          </a:stretch>
        </p:blipFill>
        <p:spPr>
          <a:xfrm>
            <a:off x="152400" y="0"/>
            <a:ext cx="942975" cy="1082675"/>
          </a:xfrm>
          <a:prstGeom prst="rect">
            <a:avLst/>
          </a:prstGeom>
          <a:noFill/>
          <a:ln w="9525">
            <a:noFill/>
          </a:ln>
        </p:spPr>
      </p:pic>
      <p:pic>
        <p:nvPicPr>
          <p:cNvPr id="3" name="Picture 21" descr="b_1"/>
          <p:cNvPicPr>
            <a:picLocks noChangeAspect="1"/>
          </p:cNvPicPr>
          <p:nvPr userDrawn="1"/>
        </p:nvPicPr>
        <p:blipFill>
          <a:blip r:embed="rId15"/>
          <a:stretch>
            <a:fillRect/>
          </a:stretch>
        </p:blipFill>
        <p:spPr>
          <a:xfrm>
            <a:off x="7848600" y="152400"/>
            <a:ext cx="1234440" cy="5365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hf sldNum="0" hdr="0" ftr="0" dt="0"/>
  <p:txStyles>
    <p:titleStyle>
      <a:lvl1pPr algn="ctr" rtl="0" eaLnBrk="0" fontAlgn="base" hangingPunct="0">
        <a:spcBef>
          <a:spcPct val="0"/>
        </a:spcBef>
        <a:spcAft>
          <a:spcPct val="0"/>
        </a:spcAft>
        <a:defRPr sz="4200" b="1" i="1">
          <a:solidFill>
            <a:schemeClr val="tx1"/>
          </a:solidFill>
          <a:latin typeface="+mj-lt"/>
          <a:ea typeface="+mj-ea"/>
          <a:cs typeface="+mj-cs"/>
        </a:defRPr>
      </a:lvl1pPr>
      <a:lvl2pPr algn="ctr" rtl="0" eaLnBrk="0" fontAlgn="base" hangingPunct="0">
        <a:spcBef>
          <a:spcPct val="0"/>
        </a:spcBef>
        <a:spcAft>
          <a:spcPct val="0"/>
        </a:spcAft>
        <a:defRPr sz="4200" b="1" i="1">
          <a:solidFill>
            <a:schemeClr val="tx1"/>
          </a:solidFill>
          <a:latin typeface="Arial" panose="020B0604020202020204" pitchFamily="34" charset="0"/>
        </a:defRPr>
      </a:lvl2pPr>
      <a:lvl3pPr algn="ctr" rtl="0" eaLnBrk="0" fontAlgn="base" hangingPunct="0">
        <a:spcBef>
          <a:spcPct val="0"/>
        </a:spcBef>
        <a:spcAft>
          <a:spcPct val="0"/>
        </a:spcAft>
        <a:defRPr sz="4200" b="1" i="1">
          <a:solidFill>
            <a:schemeClr val="tx1"/>
          </a:solidFill>
          <a:latin typeface="Arial" panose="020B0604020202020204" pitchFamily="34" charset="0"/>
        </a:defRPr>
      </a:lvl3pPr>
      <a:lvl4pPr algn="ctr" rtl="0" eaLnBrk="0" fontAlgn="base" hangingPunct="0">
        <a:spcBef>
          <a:spcPct val="0"/>
        </a:spcBef>
        <a:spcAft>
          <a:spcPct val="0"/>
        </a:spcAft>
        <a:defRPr sz="4200" b="1" i="1">
          <a:solidFill>
            <a:schemeClr val="tx1"/>
          </a:solidFill>
          <a:latin typeface="Arial" panose="020B0604020202020204" pitchFamily="34" charset="0"/>
        </a:defRPr>
      </a:lvl4pPr>
      <a:lvl5pPr algn="ctr" rtl="0" eaLnBrk="0" fontAlgn="base" hangingPunct="0">
        <a:spcBef>
          <a:spcPct val="0"/>
        </a:spcBef>
        <a:spcAft>
          <a:spcPct val="0"/>
        </a:spcAft>
        <a:defRPr sz="4200" b="1" i="1">
          <a:solidFill>
            <a:schemeClr val="tx1"/>
          </a:solidFill>
          <a:latin typeface="Arial" panose="020B0604020202020204" pitchFamily="34" charset="0"/>
        </a:defRPr>
      </a:lvl5pPr>
      <a:lvl6pPr marL="457200" algn="ctr" rtl="0" fontAlgn="base">
        <a:spcBef>
          <a:spcPct val="0"/>
        </a:spcBef>
        <a:spcAft>
          <a:spcPct val="0"/>
        </a:spcAft>
        <a:defRPr sz="4200" b="1" i="1">
          <a:solidFill>
            <a:schemeClr val="tx1"/>
          </a:solidFill>
          <a:latin typeface="Arial" panose="020B0604020202020204" pitchFamily="34" charset="0"/>
        </a:defRPr>
      </a:lvl6pPr>
      <a:lvl7pPr marL="914400" algn="ctr" rtl="0" fontAlgn="base">
        <a:spcBef>
          <a:spcPct val="0"/>
        </a:spcBef>
        <a:spcAft>
          <a:spcPct val="0"/>
        </a:spcAft>
        <a:defRPr sz="4200" b="1" i="1">
          <a:solidFill>
            <a:schemeClr val="tx1"/>
          </a:solidFill>
          <a:latin typeface="Arial" panose="020B0604020202020204" pitchFamily="34" charset="0"/>
        </a:defRPr>
      </a:lvl7pPr>
      <a:lvl8pPr marL="1371600" algn="ctr" rtl="0" fontAlgn="base">
        <a:spcBef>
          <a:spcPct val="0"/>
        </a:spcBef>
        <a:spcAft>
          <a:spcPct val="0"/>
        </a:spcAft>
        <a:defRPr sz="4200" b="1" i="1">
          <a:solidFill>
            <a:schemeClr val="tx1"/>
          </a:solidFill>
          <a:latin typeface="Arial" panose="020B0604020202020204" pitchFamily="34" charset="0"/>
        </a:defRPr>
      </a:lvl8pPr>
      <a:lvl9pPr marL="1828800" algn="ctr" rtl="0" fontAlgn="base">
        <a:spcBef>
          <a:spcPct val="0"/>
        </a:spcBef>
        <a:spcAft>
          <a:spcPct val="0"/>
        </a:spcAft>
        <a:defRPr sz="4200" b="1" i="1">
          <a:solidFill>
            <a:schemeClr val="tx1"/>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20.jpeg"/><Relationship Id="rId1"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2.png"/></Relationships>
</file>

<file path=ppt/slides/_rels/slide9.xml.rels><?xml version="1.0" encoding="UTF-8" standalone="yes"?>
<Relationships xmlns="http://schemas.openxmlformats.org/package/2006/relationships"><Relationship Id="rId9" Type="http://schemas.openxmlformats.org/officeDocument/2006/relationships/image" Target="../media/image28.wmf"/><Relationship Id="rId8" Type="http://schemas.openxmlformats.org/officeDocument/2006/relationships/oleObject" Target="../embeddings/oleObject4.bin"/><Relationship Id="rId7" Type="http://schemas.openxmlformats.org/officeDocument/2006/relationships/image" Target="../media/image27.wmf"/><Relationship Id="rId6" Type="http://schemas.openxmlformats.org/officeDocument/2006/relationships/oleObject" Target="../embeddings/oleObject3.bin"/><Relationship Id="rId5" Type="http://schemas.openxmlformats.org/officeDocument/2006/relationships/image" Target="../media/image26.wmf"/><Relationship Id="rId4" Type="http://schemas.openxmlformats.org/officeDocument/2006/relationships/oleObject" Target="../embeddings/oleObject2.bin"/><Relationship Id="rId3" Type="http://schemas.openxmlformats.org/officeDocument/2006/relationships/image" Target="../media/image25.wmf"/><Relationship Id="rId2" Type="http://schemas.openxmlformats.org/officeDocument/2006/relationships/oleObject" Target="../embeddings/oleObject1.bin"/><Relationship Id="rId14" Type="http://schemas.openxmlformats.org/officeDocument/2006/relationships/notesSlide" Target="../notesSlides/notesSlide6.xml"/><Relationship Id="rId13" Type="http://schemas.openxmlformats.org/officeDocument/2006/relationships/vmlDrawing" Target="../drawings/vmlDrawing1.vml"/><Relationship Id="rId12" Type="http://schemas.openxmlformats.org/officeDocument/2006/relationships/slideLayout" Target="../slideLayouts/slideLayout2.xml"/><Relationship Id="rId11" Type="http://schemas.openxmlformats.org/officeDocument/2006/relationships/image" Target="../media/image29.wmf"/><Relationship Id="rId10" Type="http://schemas.openxmlformats.org/officeDocument/2006/relationships/oleObject" Target="../embeddings/oleObject5.bin"/><Relationship Id="rId1" Type="http://schemas.openxmlformats.org/officeDocument/2006/relationships/image" Target="../media/image24.png"/></Relationships>
</file>

<file path=ppt/slides/_rels/slide10.xml.rels><?xml version="1.0" encoding="UTF-8" standalone="yes"?>
<Relationships xmlns="http://schemas.openxmlformats.org/package/2006/relationships"><Relationship Id="rId9" Type="http://schemas.openxmlformats.org/officeDocument/2006/relationships/image" Target="../media/image33.wmf"/><Relationship Id="rId8" Type="http://schemas.openxmlformats.org/officeDocument/2006/relationships/oleObject" Target="../embeddings/oleObject9.bin"/><Relationship Id="rId7" Type="http://schemas.openxmlformats.org/officeDocument/2006/relationships/image" Target="../media/image32.wmf"/><Relationship Id="rId6" Type="http://schemas.openxmlformats.org/officeDocument/2006/relationships/oleObject" Target="../embeddings/oleObject8.bin"/><Relationship Id="rId5" Type="http://schemas.openxmlformats.org/officeDocument/2006/relationships/image" Target="../media/image31.wmf"/><Relationship Id="rId4" Type="http://schemas.openxmlformats.org/officeDocument/2006/relationships/oleObject" Target="../embeddings/oleObject7.bin"/><Relationship Id="rId3" Type="http://schemas.openxmlformats.org/officeDocument/2006/relationships/image" Target="../media/image30.wmf"/><Relationship Id="rId27" Type="http://schemas.openxmlformats.org/officeDocument/2006/relationships/notesSlide" Target="../notesSlides/notesSlide7.xml"/><Relationship Id="rId26" Type="http://schemas.openxmlformats.org/officeDocument/2006/relationships/vmlDrawing" Target="../drawings/vmlDrawing2.vml"/><Relationship Id="rId25" Type="http://schemas.openxmlformats.org/officeDocument/2006/relationships/slideLayout" Target="../slideLayouts/slideLayout2.xml"/><Relationship Id="rId24" Type="http://schemas.openxmlformats.org/officeDocument/2006/relationships/image" Target="../media/image40.wmf"/><Relationship Id="rId23" Type="http://schemas.openxmlformats.org/officeDocument/2006/relationships/oleObject" Target="../embeddings/oleObject17.bin"/><Relationship Id="rId22" Type="http://schemas.openxmlformats.org/officeDocument/2006/relationships/image" Target="../media/image39.wmf"/><Relationship Id="rId21" Type="http://schemas.openxmlformats.org/officeDocument/2006/relationships/oleObject" Target="../embeddings/oleObject16.bin"/><Relationship Id="rId20" Type="http://schemas.openxmlformats.org/officeDocument/2006/relationships/image" Target="../media/image38.wmf"/><Relationship Id="rId2" Type="http://schemas.openxmlformats.org/officeDocument/2006/relationships/oleObject" Target="../embeddings/oleObject6.bin"/><Relationship Id="rId19" Type="http://schemas.openxmlformats.org/officeDocument/2006/relationships/oleObject" Target="../embeddings/oleObject15.bin"/><Relationship Id="rId18" Type="http://schemas.openxmlformats.org/officeDocument/2006/relationships/image" Target="../media/image37.wmf"/><Relationship Id="rId17" Type="http://schemas.openxmlformats.org/officeDocument/2006/relationships/oleObject" Target="../embeddings/oleObject14.bin"/><Relationship Id="rId16" Type="http://schemas.openxmlformats.org/officeDocument/2006/relationships/image" Target="../media/image36.wmf"/><Relationship Id="rId15" Type="http://schemas.openxmlformats.org/officeDocument/2006/relationships/oleObject" Target="../embeddings/oleObject13.bin"/><Relationship Id="rId14" Type="http://schemas.openxmlformats.org/officeDocument/2006/relationships/oleObject" Target="../embeddings/oleObject12.bin"/><Relationship Id="rId13" Type="http://schemas.openxmlformats.org/officeDocument/2006/relationships/image" Target="../media/image35.wmf"/><Relationship Id="rId12" Type="http://schemas.openxmlformats.org/officeDocument/2006/relationships/oleObject" Target="../embeddings/oleObject11.bin"/><Relationship Id="rId11" Type="http://schemas.openxmlformats.org/officeDocument/2006/relationships/image" Target="../media/image34.wmf"/><Relationship Id="rId10" Type="http://schemas.openxmlformats.org/officeDocument/2006/relationships/oleObject" Target="../embeddings/oleObject10.bin"/><Relationship Id="rId1" Type="http://schemas.openxmlformats.org/officeDocument/2006/relationships/image" Target="../media/image24.png"/></Relationships>
</file>

<file path=ppt/slides/_rels/slide11.xml.rels><?xml version="1.0" encoding="UTF-8" standalone="yes"?>
<Relationships xmlns="http://schemas.openxmlformats.org/package/2006/relationships"><Relationship Id="rId9" Type="http://schemas.openxmlformats.org/officeDocument/2006/relationships/image" Target="../media/image45.wmf"/><Relationship Id="rId8" Type="http://schemas.openxmlformats.org/officeDocument/2006/relationships/oleObject" Target="../embeddings/oleObject21.bin"/><Relationship Id="rId7" Type="http://schemas.openxmlformats.org/officeDocument/2006/relationships/image" Target="../media/image44.wmf"/><Relationship Id="rId6" Type="http://schemas.openxmlformats.org/officeDocument/2006/relationships/oleObject" Target="../embeddings/oleObject20.bin"/><Relationship Id="rId5" Type="http://schemas.openxmlformats.org/officeDocument/2006/relationships/image" Target="../media/image43.wmf"/><Relationship Id="rId4" Type="http://schemas.openxmlformats.org/officeDocument/2006/relationships/oleObject" Target="../embeddings/oleObject19.bin"/><Relationship Id="rId3" Type="http://schemas.openxmlformats.org/officeDocument/2006/relationships/image" Target="../media/image42.wmf"/><Relationship Id="rId22" Type="http://schemas.openxmlformats.org/officeDocument/2006/relationships/notesSlide" Target="../notesSlides/notesSlide8.xml"/><Relationship Id="rId21" Type="http://schemas.openxmlformats.org/officeDocument/2006/relationships/vmlDrawing" Target="../drawings/vmlDrawing3.vml"/><Relationship Id="rId20" Type="http://schemas.openxmlformats.org/officeDocument/2006/relationships/slideLayout" Target="../slideLayouts/slideLayout2.xml"/><Relationship Id="rId2" Type="http://schemas.openxmlformats.org/officeDocument/2006/relationships/oleObject" Target="../embeddings/oleObject18.bin"/><Relationship Id="rId19" Type="http://schemas.openxmlformats.org/officeDocument/2006/relationships/image" Target="../media/image50.wmf"/><Relationship Id="rId18" Type="http://schemas.openxmlformats.org/officeDocument/2006/relationships/oleObject" Target="../embeddings/oleObject26.bin"/><Relationship Id="rId17" Type="http://schemas.openxmlformats.org/officeDocument/2006/relationships/image" Target="../media/image49.wmf"/><Relationship Id="rId16" Type="http://schemas.openxmlformats.org/officeDocument/2006/relationships/oleObject" Target="../embeddings/oleObject25.bin"/><Relationship Id="rId15" Type="http://schemas.openxmlformats.org/officeDocument/2006/relationships/image" Target="../media/image48.wmf"/><Relationship Id="rId14" Type="http://schemas.openxmlformats.org/officeDocument/2006/relationships/oleObject" Target="../embeddings/oleObject24.bin"/><Relationship Id="rId13" Type="http://schemas.openxmlformats.org/officeDocument/2006/relationships/image" Target="../media/image47.wmf"/><Relationship Id="rId12" Type="http://schemas.openxmlformats.org/officeDocument/2006/relationships/oleObject" Target="../embeddings/oleObject23.bin"/><Relationship Id="rId11" Type="http://schemas.openxmlformats.org/officeDocument/2006/relationships/image" Target="../media/image46.wmf"/><Relationship Id="rId10" Type="http://schemas.openxmlformats.org/officeDocument/2006/relationships/oleObject" Target="../embeddings/oleObject22.bin"/><Relationship Id="rId1" Type="http://schemas.openxmlformats.org/officeDocument/2006/relationships/image" Target="../media/image41.png"/></Relationships>
</file>

<file path=ppt/slides/_rels/slide12.xml.rels><?xml version="1.0" encoding="UTF-8" standalone="yes"?>
<Relationships xmlns="http://schemas.openxmlformats.org/package/2006/relationships"><Relationship Id="rId9" Type="http://schemas.openxmlformats.org/officeDocument/2006/relationships/image" Target="../media/image54.wmf"/><Relationship Id="rId8" Type="http://schemas.openxmlformats.org/officeDocument/2006/relationships/oleObject" Target="../embeddings/oleObject30.bin"/><Relationship Id="rId7" Type="http://schemas.openxmlformats.org/officeDocument/2006/relationships/image" Target="../media/image53.wmf"/><Relationship Id="rId6" Type="http://schemas.openxmlformats.org/officeDocument/2006/relationships/oleObject" Target="../embeddings/oleObject29.bin"/><Relationship Id="rId5" Type="http://schemas.openxmlformats.org/officeDocument/2006/relationships/image" Target="../media/image52.wmf"/><Relationship Id="rId4" Type="http://schemas.openxmlformats.org/officeDocument/2006/relationships/oleObject" Target="../embeddings/oleObject28.bin"/><Relationship Id="rId3" Type="http://schemas.openxmlformats.org/officeDocument/2006/relationships/image" Target="../media/image51.wmf"/><Relationship Id="rId20" Type="http://schemas.openxmlformats.org/officeDocument/2006/relationships/notesSlide" Target="../notesSlides/notesSlide9.xml"/><Relationship Id="rId2" Type="http://schemas.openxmlformats.org/officeDocument/2006/relationships/oleObject" Target="../embeddings/oleObject27.bin"/><Relationship Id="rId19" Type="http://schemas.openxmlformats.org/officeDocument/2006/relationships/vmlDrawing" Target="../drawings/vmlDrawing4.vml"/><Relationship Id="rId18" Type="http://schemas.openxmlformats.org/officeDocument/2006/relationships/slideLayout" Target="../slideLayouts/slideLayout2.xml"/><Relationship Id="rId17" Type="http://schemas.openxmlformats.org/officeDocument/2006/relationships/image" Target="../media/image58.wmf"/><Relationship Id="rId16" Type="http://schemas.openxmlformats.org/officeDocument/2006/relationships/oleObject" Target="../embeddings/oleObject34.bin"/><Relationship Id="rId15" Type="http://schemas.openxmlformats.org/officeDocument/2006/relationships/image" Target="../media/image57.wmf"/><Relationship Id="rId14" Type="http://schemas.openxmlformats.org/officeDocument/2006/relationships/oleObject" Target="../embeddings/oleObject33.bin"/><Relationship Id="rId13" Type="http://schemas.openxmlformats.org/officeDocument/2006/relationships/image" Target="../media/image56.wmf"/><Relationship Id="rId12" Type="http://schemas.openxmlformats.org/officeDocument/2006/relationships/oleObject" Target="../embeddings/oleObject32.bin"/><Relationship Id="rId11" Type="http://schemas.openxmlformats.org/officeDocument/2006/relationships/image" Target="../media/image55.wmf"/><Relationship Id="rId10" Type="http://schemas.openxmlformats.org/officeDocument/2006/relationships/oleObject" Target="../embeddings/oleObject31.bin"/><Relationship Id="rId1" Type="http://schemas.openxmlformats.org/officeDocument/2006/relationships/image" Target="../media/image4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59.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6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62.png"/><Relationship Id="rId1" Type="http://schemas.openxmlformats.org/officeDocument/2006/relationships/image" Target="../media/image6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20.xml.rels><?xml version="1.0" encoding="UTF-8" standalone="yes"?>
<Relationships xmlns="http://schemas.openxmlformats.org/package/2006/relationships"><Relationship Id="rId9" Type="http://schemas.openxmlformats.org/officeDocument/2006/relationships/image" Target="../media/image67.wmf"/><Relationship Id="rId8" Type="http://schemas.openxmlformats.org/officeDocument/2006/relationships/oleObject" Target="../embeddings/oleObject38.bin"/><Relationship Id="rId7" Type="http://schemas.openxmlformats.org/officeDocument/2006/relationships/image" Target="../media/image66.wmf"/><Relationship Id="rId6" Type="http://schemas.openxmlformats.org/officeDocument/2006/relationships/oleObject" Target="../embeddings/oleObject37.bin"/><Relationship Id="rId5" Type="http://schemas.openxmlformats.org/officeDocument/2006/relationships/image" Target="../media/image65.wmf"/><Relationship Id="rId4" Type="http://schemas.openxmlformats.org/officeDocument/2006/relationships/oleObject" Target="../embeddings/oleObject36.bin"/><Relationship Id="rId3" Type="http://schemas.openxmlformats.org/officeDocument/2006/relationships/image" Target="../media/image64.wmf"/><Relationship Id="rId2" Type="http://schemas.openxmlformats.org/officeDocument/2006/relationships/oleObject" Target="../embeddings/oleObject35.bin"/><Relationship Id="rId15" Type="http://schemas.openxmlformats.org/officeDocument/2006/relationships/notesSlide" Target="../notesSlides/notesSlide16.xml"/><Relationship Id="rId14" Type="http://schemas.openxmlformats.org/officeDocument/2006/relationships/vmlDrawing" Target="../drawings/vmlDrawing5.vml"/><Relationship Id="rId13" Type="http://schemas.openxmlformats.org/officeDocument/2006/relationships/slideLayout" Target="../slideLayouts/slideLayout2.xml"/><Relationship Id="rId12" Type="http://schemas.openxmlformats.org/officeDocument/2006/relationships/image" Target="../media/image68.wmf"/><Relationship Id="rId11" Type="http://schemas.openxmlformats.org/officeDocument/2006/relationships/oleObject" Target="../embeddings/oleObject40.bin"/><Relationship Id="rId10" Type="http://schemas.openxmlformats.org/officeDocument/2006/relationships/oleObject" Target="../embeddings/oleObject39.bin"/><Relationship Id="rId1" Type="http://schemas.openxmlformats.org/officeDocument/2006/relationships/image" Target="../media/image63.png"/></Relationships>
</file>

<file path=ppt/slides/_rels/slide21.xml.rels><?xml version="1.0" encoding="UTF-8" standalone="yes"?>
<Relationships xmlns="http://schemas.openxmlformats.org/package/2006/relationships"><Relationship Id="rId9" Type="http://schemas.openxmlformats.org/officeDocument/2006/relationships/image" Target="../media/image71.wmf"/><Relationship Id="rId8" Type="http://schemas.openxmlformats.org/officeDocument/2006/relationships/oleObject" Target="../embeddings/oleObject44.bin"/><Relationship Id="rId7" Type="http://schemas.openxmlformats.org/officeDocument/2006/relationships/image" Target="../media/image64.wmf"/><Relationship Id="rId6" Type="http://schemas.openxmlformats.org/officeDocument/2006/relationships/oleObject" Target="../embeddings/oleObject43.bin"/><Relationship Id="rId5" Type="http://schemas.openxmlformats.org/officeDocument/2006/relationships/image" Target="../media/image70.wmf"/><Relationship Id="rId4" Type="http://schemas.openxmlformats.org/officeDocument/2006/relationships/oleObject" Target="../embeddings/oleObject42.bin"/><Relationship Id="rId3" Type="http://schemas.openxmlformats.org/officeDocument/2006/relationships/image" Target="../media/image69.wmf"/><Relationship Id="rId2" Type="http://schemas.openxmlformats.org/officeDocument/2006/relationships/oleObject" Target="../embeddings/oleObject41.bin"/><Relationship Id="rId14" Type="http://schemas.openxmlformats.org/officeDocument/2006/relationships/notesSlide" Target="../notesSlides/notesSlide17.xml"/><Relationship Id="rId13" Type="http://schemas.openxmlformats.org/officeDocument/2006/relationships/vmlDrawing" Target="../drawings/vmlDrawing6.vml"/><Relationship Id="rId12" Type="http://schemas.openxmlformats.org/officeDocument/2006/relationships/slideLayout" Target="../slideLayouts/slideLayout2.xml"/><Relationship Id="rId11" Type="http://schemas.openxmlformats.org/officeDocument/2006/relationships/oleObject" Target="../embeddings/oleObject46.bin"/><Relationship Id="rId10" Type="http://schemas.openxmlformats.org/officeDocument/2006/relationships/oleObject" Target="../embeddings/oleObject45.bin"/><Relationship Id="rId1" Type="http://schemas.openxmlformats.org/officeDocument/2006/relationships/image" Target="../media/image63.png"/></Relationships>
</file>

<file path=ppt/slides/_rels/slide22.xml.rels><?xml version="1.0" encoding="UTF-8" standalone="yes"?>
<Relationships xmlns="http://schemas.openxmlformats.org/package/2006/relationships"><Relationship Id="rId7" Type="http://schemas.openxmlformats.org/officeDocument/2006/relationships/notesSlide" Target="../notesSlides/notesSlide18.xml"/><Relationship Id="rId6" Type="http://schemas.openxmlformats.org/officeDocument/2006/relationships/vmlDrawing" Target="../drawings/vmlDrawing7.vml"/><Relationship Id="rId5" Type="http://schemas.openxmlformats.org/officeDocument/2006/relationships/slideLayout" Target="../slideLayouts/slideLayout2.xml"/><Relationship Id="rId4" Type="http://schemas.openxmlformats.org/officeDocument/2006/relationships/oleObject" Target="../embeddings/oleObject49.bin"/><Relationship Id="rId3" Type="http://schemas.openxmlformats.org/officeDocument/2006/relationships/oleObject" Target="../embeddings/oleObject48.bin"/><Relationship Id="rId2" Type="http://schemas.openxmlformats.org/officeDocument/2006/relationships/image" Target="../media/image64.wmf"/><Relationship Id="rId1" Type="http://schemas.openxmlformats.org/officeDocument/2006/relationships/oleObject" Target="../embeddings/oleObject47.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72.png"/></Relationships>
</file>

<file path=ppt/slides/_rels/slide24.xml.rels><?xml version="1.0" encoding="UTF-8" standalone="yes"?>
<Relationships xmlns="http://schemas.openxmlformats.org/package/2006/relationships"><Relationship Id="rId7" Type="http://schemas.openxmlformats.org/officeDocument/2006/relationships/notesSlide" Target="../notesSlides/notesSlide20.xml"/><Relationship Id="rId6" Type="http://schemas.openxmlformats.org/officeDocument/2006/relationships/vmlDrawing" Target="../drawings/vmlDrawing8.vml"/><Relationship Id="rId5" Type="http://schemas.openxmlformats.org/officeDocument/2006/relationships/slideLayout" Target="../slideLayouts/slideLayout2.xml"/><Relationship Id="rId4" Type="http://schemas.openxmlformats.org/officeDocument/2006/relationships/image" Target="../media/image75.png"/><Relationship Id="rId3" Type="http://schemas.openxmlformats.org/officeDocument/2006/relationships/image" Target="../media/image74.wmf"/><Relationship Id="rId2" Type="http://schemas.openxmlformats.org/officeDocument/2006/relationships/oleObject" Target="../embeddings/oleObject50.bin"/><Relationship Id="rId1" Type="http://schemas.openxmlformats.org/officeDocument/2006/relationships/image" Target="../media/image73.png"/></Relationships>
</file>

<file path=ppt/slides/_rels/slide25.xml.rels><?xml version="1.0" encoding="UTF-8" standalone="yes"?>
<Relationships xmlns="http://schemas.openxmlformats.org/package/2006/relationships"><Relationship Id="rId9" Type="http://schemas.openxmlformats.org/officeDocument/2006/relationships/image" Target="../media/image79.png"/><Relationship Id="rId8" Type="http://schemas.openxmlformats.org/officeDocument/2006/relationships/image" Target="../media/image78.png"/><Relationship Id="rId7" Type="http://schemas.openxmlformats.org/officeDocument/2006/relationships/image" Target="../media/image77.png"/><Relationship Id="rId6" Type="http://schemas.openxmlformats.org/officeDocument/2006/relationships/oleObject" Target="../embeddings/oleObject54.bin"/><Relationship Id="rId5" Type="http://schemas.openxmlformats.org/officeDocument/2006/relationships/oleObject" Target="../embeddings/oleObject53.bin"/><Relationship Id="rId4" Type="http://schemas.openxmlformats.org/officeDocument/2006/relationships/image" Target="../media/image64.wmf"/><Relationship Id="rId3" Type="http://schemas.openxmlformats.org/officeDocument/2006/relationships/oleObject" Target="../embeddings/oleObject52.bin"/><Relationship Id="rId2" Type="http://schemas.openxmlformats.org/officeDocument/2006/relationships/image" Target="../media/image76.wmf"/><Relationship Id="rId16" Type="http://schemas.openxmlformats.org/officeDocument/2006/relationships/notesSlide" Target="../notesSlides/notesSlide21.xml"/><Relationship Id="rId15" Type="http://schemas.openxmlformats.org/officeDocument/2006/relationships/vmlDrawing" Target="../drawings/vmlDrawing9.vml"/><Relationship Id="rId14" Type="http://schemas.openxmlformats.org/officeDocument/2006/relationships/slideLayout" Target="../slideLayouts/slideLayout2.xml"/><Relationship Id="rId13" Type="http://schemas.openxmlformats.org/officeDocument/2006/relationships/image" Target="../media/image80.wmf"/><Relationship Id="rId12" Type="http://schemas.openxmlformats.org/officeDocument/2006/relationships/oleObject" Target="../embeddings/oleObject57.bin"/><Relationship Id="rId11" Type="http://schemas.openxmlformats.org/officeDocument/2006/relationships/oleObject" Target="../embeddings/oleObject56.bin"/><Relationship Id="rId10" Type="http://schemas.openxmlformats.org/officeDocument/2006/relationships/oleObject" Target="../embeddings/oleObject55.bin"/><Relationship Id="rId1" Type="http://schemas.openxmlformats.org/officeDocument/2006/relationships/oleObject" Target="../embeddings/oleObject51.bin"/></Relationships>
</file>

<file path=ppt/slides/_rels/slide26.xml.rels><?xml version="1.0" encoding="UTF-8" standalone="yes"?>
<Relationships xmlns="http://schemas.openxmlformats.org/package/2006/relationships"><Relationship Id="rId9" Type="http://schemas.openxmlformats.org/officeDocument/2006/relationships/image" Target="../media/image84.wmf"/><Relationship Id="rId8" Type="http://schemas.openxmlformats.org/officeDocument/2006/relationships/oleObject" Target="../embeddings/oleObject60.bin"/><Relationship Id="rId7" Type="http://schemas.openxmlformats.org/officeDocument/2006/relationships/image" Target="../media/image83.wmf"/><Relationship Id="rId6" Type="http://schemas.openxmlformats.org/officeDocument/2006/relationships/oleObject" Target="../embeddings/oleObject59.bin"/><Relationship Id="rId5" Type="http://schemas.openxmlformats.org/officeDocument/2006/relationships/image" Target="../media/image82.wmf"/><Relationship Id="rId4" Type="http://schemas.openxmlformats.org/officeDocument/2006/relationships/oleObject" Target="../embeddings/oleObject58.bin"/><Relationship Id="rId3" Type="http://schemas.openxmlformats.org/officeDocument/2006/relationships/tags" Target="../tags/tag3.xml"/><Relationship Id="rId2" Type="http://schemas.openxmlformats.org/officeDocument/2006/relationships/image" Target="../media/image81.png"/><Relationship Id="rId12" Type="http://schemas.openxmlformats.org/officeDocument/2006/relationships/notesSlide" Target="../notesSlides/notesSlide22.xml"/><Relationship Id="rId11" Type="http://schemas.openxmlformats.org/officeDocument/2006/relationships/vmlDrawing" Target="../drawings/vmlDrawing10.vml"/><Relationship Id="rId10" Type="http://schemas.openxmlformats.org/officeDocument/2006/relationships/slideLayout" Target="../slideLayouts/slideLayout2.xml"/><Relationship Id="rId1" Type="http://schemas.openxmlformats.org/officeDocument/2006/relationships/tags" Target="../tags/tag2.xml"/></Relationships>
</file>

<file path=ppt/slides/_rels/slide27.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vmlDrawing" Target="../drawings/vmlDrawing11.vml"/><Relationship Id="rId4" Type="http://schemas.openxmlformats.org/officeDocument/2006/relationships/slideLayout" Target="../slideLayouts/slideLayout2.xml"/><Relationship Id="rId3" Type="http://schemas.openxmlformats.org/officeDocument/2006/relationships/image" Target="../media/image86.wmf"/><Relationship Id="rId2" Type="http://schemas.openxmlformats.org/officeDocument/2006/relationships/oleObject" Target="../embeddings/oleObject61.bin"/><Relationship Id="rId1" Type="http://schemas.openxmlformats.org/officeDocument/2006/relationships/image" Target="../media/image85.png"/></Relationships>
</file>

<file path=ppt/slides/_rels/slide28.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vmlDrawing" Target="../drawings/vmlDrawing12.vml"/><Relationship Id="rId4" Type="http://schemas.openxmlformats.org/officeDocument/2006/relationships/slideLayout" Target="../slideLayouts/slideLayout2.xml"/><Relationship Id="rId3" Type="http://schemas.openxmlformats.org/officeDocument/2006/relationships/image" Target="../media/image88.wmf"/><Relationship Id="rId2" Type="http://schemas.openxmlformats.org/officeDocument/2006/relationships/oleObject" Target="../embeddings/oleObject62.bin"/><Relationship Id="rId1" Type="http://schemas.openxmlformats.org/officeDocument/2006/relationships/image" Target="../media/image87.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89.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90.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91.png"/></Relationships>
</file>

<file path=ppt/slides/_rels/slide32.xml.rels><?xml version="1.0" encoding="UTF-8" standalone="yes"?>
<Relationships xmlns="http://schemas.openxmlformats.org/package/2006/relationships"><Relationship Id="rId9" Type="http://schemas.openxmlformats.org/officeDocument/2006/relationships/vmlDrawing" Target="../drawings/vmlDrawing13.vml"/><Relationship Id="rId8" Type="http://schemas.openxmlformats.org/officeDocument/2006/relationships/slideLayout" Target="../slideLayouts/slideLayout2.xml"/><Relationship Id="rId7" Type="http://schemas.openxmlformats.org/officeDocument/2006/relationships/image" Target="../media/image95.wmf"/><Relationship Id="rId6" Type="http://schemas.openxmlformats.org/officeDocument/2006/relationships/oleObject" Target="../embeddings/oleObject65.bin"/><Relationship Id="rId5" Type="http://schemas.openxmlformats.org/officeDocument/2006/relationships/image" Target="../media/image94.wmf"/><Relationship Id="rId4" Type="http://schemas.openxmlformats.org/officeDocument/2006/relationships/oleObject" Target="../embeddings/oleObject64.bin"/><Relationship Id="rId3" Type="http://schemas.openxmlformats.org/officeDocument/2006/relationships/image" Target="../media/image93.wmf"/><Relationship Id="rId2" Type="http://schemas.openxmlformats.org/officeDocument/2006/relationships/oleObject" Target="../embeddings/oleObject63.bin"/><Relationship Id="rId10" Type="http://schemas.openxmlformats.org/officeDocument/2006/relationships/notesSlide" Target="../notesSlides/notesSlide28.xml"/><Relationship Id="rId1" Type="http://schemas.openxmlformats.org/officeDocument/2006/relationships/image" Target="../media/image92.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96.png"/></Relationships>
</file>

<file path=ppt/slides/_rels/slide34.xml.rels><?xml version="1.0" encoding="UTF-8" standalone="yes"?>
<Relationships xmlns="http://schemas.openxmlformats.org/package/2006/relationships"><Relationship Id="rId9" Type="http://schemas.openxmlformats.org/officeDocument/2006/relationships/vmlDrawing" Target="../drawings/vmlDrawing14.vml"/><Relationship Id="rId8" Type="http://schemas.openxmlformats.org/officeDocument/2006/relationships/slideLayout" Target="../slideLayouts/slideLayout2.xml"/><Relationship Id="rId7" Type="http://schemas.openxmlformats.org/officeDocument/2006/relationships/image" Target="../media/image100.wmf"/><Relationship Id="rId6" Type="http://schemas.openxmlformats.org/officeDocument/2006/relationships/oleObject" Target="../embeddings/oleObject68.bin"/><Relationship Id="rId5" Type="http://schemas.openxmlformats.org/officeDocument/2006/relationships/image" Target="../media/image99.wmf"/><Relationship Id="rId4" Type="http://schemas.openxmlformats.org/officeDocument/2006/relationships/oleObject" Target="../embeddings/oleObject67.bin"/><Relationship Id="rId3" Type="http://schemas.openxmlformats.org/officeDocument/2006/relationships/image" Target="../media/image98.wmf"/><Relationship Id="rId2" Type="http://schemas.openxmlformats.org/officeDocument/2006/relationships/oleObject" Target="../embeddings/oleObject66.bin"/><Relationship Id="rId10" Type="http://schemas.openxmlformats.org/officeDocument/2006/relationships/notesSlide" Target="../notesSlides/notesSlide30.xml"/><Relationship Id="rId1" Type="http://schemas.openxmlformats.org/officeDocument/2006/relationships/image" Target="../media/image97.png"/></Relationships>
</file>

<file path=ppt/slides/_rels/slide35.xml.rels><?xml version="1.0" encoding="UTF-8" standalone="yes"?>
<Relationships xmlns="http://schemas.openxmlformats.org/package/2006/relationships"><Relationship Id="rId9" Type="http://schemas.openxmlformats.org/officeDocument/2006/relationships/vmlDrawing" Target="../drawings/vmlDrawing15.vml"/><Relationship Id="rId8" Type="http://schemas.openxmlformats.org/officeDocument/2006/relationships/slideLayout" Target="../slideLayouts/slideLayout2.xml"/><Relationship Id="rId7" Type="http://schemas.openxmlformats.org/officeDocument/2006/relationships/image" Target="../media/image104.wmf"/><Relationship Id="rId6" Type="http://schemas.openxmlformats.org/officeDocument/2006/relationships/oleObject" Target="../embeddings/oleObject71.bin"/><Relationship Id="rId5" Type="http://schemas.openxmlformats.org/officeDocument/2006/relationships/image" Target="../media/image103.wmf"/><Relationship Id="rId4" Type="http://schemas.openxmlformats.org/officeDocument/2006/relationships/oleObject" Target="../embeddings/oleObject70.bin"/><Relationship Id="rId3" Type="http://schemas.openxmlformats.org/officeDocument/2006/relationships/image" Target="../media/image102.wmf"/><Relationship Id="rId2" Type="http://schemas.openxmlformats.org/officeDocument/2006/relationships/oleObject" Target="../embeddings/oleObject69.bin"/><Relationship Id="rId10" Type="http://schemas.openxmlformats.org/officeDocument/2006/relationships/notesSlide" Target="../notesSlides/notesSlide31.xml"/><Relationship Id="rId1" Type="http://schemas.openxmlformats.org/officeDocument/2006/relationships/image" Target="../media/image101.pn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2.xml"/><Relationship Id="rId2" Type="http://schemas.openxmlformats.org/officeDocument/2006/relationships/image" Target="../media/image106.png"/><Relationship Id="rId1" Type="http://schemas.openxmlformats.org/officeDocument/2006/relationships/image" Target="../media/image105.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105.png"/></Relationships>
</file>

<file path=ppt/slides/_rels/slide38.xml.rels><?xml version="1.0" encoding="UTF-8" standalone="yes"?>
<Relationships xmlns="http://schemas.openxmlformats.org/package/2006/relationships"><Relationship Id="rId9" Type="http://schemas.openxmlformats.org/officeDocument/2006/relationships/notesSlide" Target="../notesSlides/notesSlide34.xml"/><Relationship Id="rId8" Type="http://schemas.openxmlformats.org/officeDocument/2006/relationships/vmlDrawing" Target="../drawings/vmlDrawing16.vml"/><Relationship Id="rId7" Type="http://schemas.openxmlformats.org/officeDocument/2006/relationships/slideLayout" Target="../slideLayouts/slideLayout2.xml"/><Relationship Id="rId6" Type="http://schemas.openxmlformats.org/officeDocument/2006/relationships/image" Target="../media/image108.wmf"/><Relationship Id="rId5" Type="http://schemas.openxmlformats.org/officeDocument/2006/relationships/oleObject" Target="../embeddings/oleObject74.bin"/><Relationship Id="rId4" Type="http://schemas.openxmlformats.org/officeDocument/2006/relationships/oleObject" Target="../embeddings/oleObject73.bin"/><Relationship Id="rId3" Type="http://schemas.openxmlformats.org/officeDocument/2006/relationships/image" Target="../media/image107.wmf"/><Relationship Id="rId2" Type="http://schemas.openxmlformats.org/officeDocument/2006/relationships/oleObject" Target="../embeddings/oleObject72.bin"/><Relationship Id="rId1" Type="http://schemas.openxmlformats.org/officeDocument/2006/relationships/image" Target="../media/image105.png"/></Relationships>
</file>

<file path=ppt/slides/_rels/slide3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12.png"/><Relationship Id="rId7" Type="http://schemas.openxmlformats.org/officeDocument/2006/relationships/image" Target="../media/image111.wmf"/><Relationship Id="rId6" Type="http://schemas.openxmlformats.org/officeDocument/2006/relationships/oleObject" Target="../embeddings/oleObject78.bin"/><Relationship Id="rId5" Type="http://schemas.openxmlformats.org/officeDocument/2006/relationships/oleObject" Target="../embeddings/oleObject77.bin"/><Relationship Id="rId4" Type="http://schemas.openxmlformats.org/officeDocument/2006/relationships/image" Target="../media/image110.wmf"/><Relationship Id="rId3" Type="http://schemas.openxmlformats.org/officeDocument/2006/relationships/oleObject" Target="../embeddings/oleObject76.bin"/><Relationship Id="rId2" Type="http://schemas.openxmlformats.org/officeDocument/2006/relationships/image" Target="../media/image109.wmf"/><Relationship Id="rId11" Type="http://schemas.openxmlformats.org/officeDocument/2006/relationships/notesSlide" Target="../notesSlides/notesSlide35.xml"/><Relationship Id="rId10" Type="http://schemas.openxmlformats.org/officeDocument/2006/relationships/vmlDrawing" Target="../drawings/vmlDrawing17.vml"/><Relationship Id="rId1" Type="http://schemas.openxmlformats.org/officeDocument/2006/relationships/oleObject" Target="../embeddings/oleObject75.bin"/></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2.xml"/><Relationship Id="rId2" Type="http://schemas.openxmlformats.org/officeDocument/2006/relationships/image" Target="../media/image114.png"/><Relationship Id="rId1" Type="http://schemas.openxmlformats.org/officeDocument/2006/relationships/image" Target="../media/image113.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image" Target="../media/image115.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115.png"/></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2.xml"/><Relationship Id="rId2" Type="http://schemas.openxmlformats.org/officeDocument/2006/relationships/image" Target="../media/image117.png"/><Relationship Id="rId1" Type="http://schemas.openxmlformats.org/officeDocument/2006/relationships/image" Target="../media/image116.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image" Target="../media/image118.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image" Target="../media/image118.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image" Target="../media/image119.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image" Target="../media/image120.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image" Target="../media/image121.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image" Target="../media/image122.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image" Target="../media/image122.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image" Target="../media/image123.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image" Target="../media/image123.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image" Target="../media/image124.png"/></Relationships>
</file>

<file path=ppt/slides/_rels/slide56.xml.rels><?xml version="1.0" encoding="UTF-8" standalone="yes"?>
<Relationships xmlns="http://schemas.openxmlformats.org/package/2006/relationships"><Relationship Id="rId4" Type="http://schemas.openxmlformats.org/officeDocument/2006/relationships/notesSlide" Target="../notesSlides/notesSlide52.xml"/><Relationship Id="rId3" Type="http://schemas.openxmlformats.org/officeDocument/2006/relationships/slideLayout" Target="../slideLayouts/slideLayout2.xml"/><Relationship Id="rId2" Type="http://schemas.openxmlformats.org/officeDocument/2006/relationships/image" Target="../media/image125.png"/><Relationship Id="rId1" Type="http://schemas.openxmlformats.org/officeDocument/2006/relationships/tags" Target="../tags/tag4.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image" Target="../media/image126.png"/></Relationships>
</file>

<file path=ppt/slides/_rels/slide58.xml.rels><?xml version="1.0" encoding="UTF-8" standalone="yes"?>
<Relationships xmlns="http://schemas.openxmlformats.org/package/2006/relationships"><Relationship Id="rId9" Type="http://schemas.openxmlformats.org/officeDocument/2006/relationships/image" Target="../media/image131.wmf"/><Relationship Id="rId8" Type="http://schemas.openxmlformats.org/officeDocument/2006/relationships/oleObject" Target="../embeddings/oleObject82.bin"/><Relationship Id="rId7" Type="http://schemas.openxmlformats.org/officeDocument/2006/relationships/image" Target="../media/image130.wmf"/><Relationship Id="rId6" Type="http://schemas.openxmlformats.org/officeDocument/2006/relationships/oleObject" Target="../embeddings/oleObject81.bin"/><Relationship Id="rId5" Type="http://schemas.openxmlformats.org/officeDocument/2006/relationships/image" Target="../media/image129.wmf"/><Relationship Id="rId4" Type="http://schemas.openxmlformats.org/officeDocument/2006/relationships/oleObject" Target="../embeddings/oleObject80.bin"/><Relationship Id="rId3" Type="http://schemas.openxmlformats.org/officeDocument/2006/relationships/image" Target="../media/image128.wmf"/><Relationship Id="rId2" Type="http://schemas.openxmlformats.org/officeDocument/2006/relationships/oleObject" Target="../embeddings/oleObject79.bin"/><Relationship Id="rId12" Type="http://schemas.openxmlformats.org/officeDocument/2006/relationships/notesSlide" Target="../notesSlides/notesSlide54.xml"/><Relationship Id="rId11" Type="http://schemas.openxmlformats.org/officeDocument/2006/relationships/vmlDrawing" Target="../drawings/vmlDrawing18.vml"/><Relationship Id="rId10" Type="http://schemas.openxmlformats.org/officeDocument/2006/relationships/slideLayout" Target="../slideLayouts/slideLayout2.xml"/><Relationship Id="rId1" Type="http://schemas.openxmlformats.org/officeDocument/2006/relationships/image" Target="../media/image127.png"/></Relationships>
</file>

<file path=ppt/slides/_rels/slide59.xml.rels><?xml version="1.0" encoding="UTF-8" standalone="yes"?>
<Relationships xmlns="http://schemas.openxmlformats.org/package/2006/relationships"><Relationship Id="rId8" Type="http://schemas.openxmlformats.org/officeDocument/2006/relationships/notesSlide" Target="../notesSlides/notesSlide55.xml"/><Relationship Id="rId7" Type="http://schemas.openxmlformats.org/officeDocument/2006/relationships/vmlDrawing" Target="../drawings/vmlDrawing19.vml"/><Relationship Id="rId6" Type="http://schemas.openxmlformats.org/officeDocument/2006/relationships/slideLayout" Target="../slideLayouts/slideLayout2.xml"/><Relationship Id="rId5" Type="http://schemas.openxmlformats.org/officeDocument/2006/relationships/image" Target="../media/image134.wmf"/><Relationship Id="rId4" Type="http://schemas.openxmlformats.org/officeDocument/2006/relationships/oleObject" Target="../embeddings/oleObject84.bin"/><Relationship Id="rId3" Type="http://schemas.openxmlformats.org/officeDocument/2006/relationships/image" Target="../media/image133.wmf"/><Relationship Id="rId2" Type="http://schemas.openxmlformats.org/officeDocument/2006/relationships/oleObject" Target="../embeddings/oleObject83.bin"/><Relationship Id="rId1" Type="http://schemas.openxmlformats.org/officeDocument/2006/relationships/image" Target="../media/image132.png"/></Relationships>
</file>

<file path=ppt/slides/_rels/slide60.xml.rels><?xml version="1.0" encoding="UTF-8" standalone="yes"?>
<Relationships xmlns="http://schemas.openxmlformats.org/package/2006/relationships"><Relationship Id="rId9" Type="http://schemas.openxmlformats.org/officeDocument/2006/relationships/vmlDrawing" Target="../drawings/vmlDrawing20.vml"/><Relationship Id="rId8" Type="http://schemas.openxmlformats.org/officeDocument/2006/relationships/slideLayout" Target="../slideLayouts/slideLayout2.xml"/><Relationship Id="rId7" Type="http://schemas.openxmlformats.org/officeDocument/2006/relationships/oleObject" Target="../embeddings/oleObject88.bin"/><Relationship Id="rId6" Type="http://schemas.openxmlformats.org/officeDocument/2006/relationships/oleObject" Target="../embeddings/oleObject87.bin"/><Relationship Id="rId5" Type="http://schemas.openxmlformats.org/officeDocument/2006/relationships/image" Target="../media/image134.wmf"/><Relationship Id="rId4" Type="http://schemas.openxmlformats.org/officeDocument/2006/relationships/oleObject" Target="../embeddings/oleObject86.bin"/><Relationship Id="rId3" Type="http://schemas.openxmlformats.org/officeDocument/2006/relationships/image" Target="../media/image133.wmf"/><Relationship Id="rId2" Type="http://schemas.openxmlformats.org/officeDocument/2006/relationships/oleObject" Target="../embeddings/oleObject85.bin"/><Relationship Id="rId10" Type="http://schemas.openxmlformats.org/officeDocument/2006/relationships/notesSlide" Target="../notesSlides/notesSlide56.xml"/><Relationship Id="rId1" Type="http://schemas.openxmlformats.org/officeDocument/2006/relationships/image" Target="../media/image132.png"/></Relationships>
</file>

<file path=ppt/slides/_rels/slide61.xml.rels><?xml version="1.0" encoding="UTF-8" standalone="yes"?>
<Relationships xmlns="http://schemas.openxmlformats.org/package/2006/relationships"><Relationship Id="rId6" Type="http://schemas.openxmlformats.org/officeDocument/2006/relationships/notesSlide" Target="../notesSlides/notesSlide57.xml"/><Relationship Id="rId5" Type="http://schemas.openxmlformats.org/officeDocument/2006/relationships/vmlDrawing" Target="../drawings/vmlDrawing21.vml"/><Relationship Id="rId4" Type="http://schemas.openxmlformats.org/officeDocument/2006/relationships/slideLayout" Target="../slideLayouts/slideLayout2.xml"/><Relationship Id="rId3" Type="http://schemas.openxmlformats.org/officeDocument/2006/relationships/image" Target="../media/image136.wmf"/><Relationship Id="rId2" Type="http://schemas.openxmlformats.org/officeDocument/2006/relationships/oleObject" Target="../embeddings/oleObject89.bin"/><Relationship Id="rId1" Type="http://schemas.openxmlformats.org/officeDocument/2006/relationships/image" Target="../media/image135.png"/></Relationships>
</file>

<file path=ppt/slides/_rels/slide62.xml.rels><?xml version="1.0" encoding="UTF-8" standalone="yes"?>
<Relationships xmlns="http://schemas.openxmlformats.org/package/2006/relationships"><Relationship Id="rId8" Type="http://schemas.openxmlformats.org/officeDocument/2006/relationships/notesSlide" Target="../notesSlides/notesSlide58.xml"/><Relationship Id="rId7" Type="http://schemas.openxmlformats.org/officeDocument/2006/relationships/vmlDrawing" Target="../drawings/vmlDrawing22.vml"/><Relationship Id="rId6" Type="http://schemas.openxmlformats.org/officeDocument/2006/relationships/slideLayout" Target="../slideLayouts/slideLayout2.xml"/><Relationship Id="rId5" Type="http://schemas.openxmlformats.org/officeDocument/2006/relationships/image" Target="../media/image137.png"/><Relationship Id="rId4" Type="http://schemas.openxmlformats.org/officeDocument/2006/relationships/image" Target="../media/image134.wmf"/><Relationship Id="rId3" Type="http://schemas.openxmlformats.org/officeDocument/2006/relationships/oleObject" Target="../embeddings/oleObject91.bin"/><Relationship Id="rId2" Type="http://schemas.openxmlformats.org/officeDocument/2006/relationships/image" Target="../media/image133.wmf"/><Relationship Id="rId1" Type="http://schemas.openxmlformats.org/officeDocument/2006/relationships/oleObject" Target="../embeddings/oleObject90.bin"/></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image" Target="../media/image138.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image" Target="../media/image139.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image" Target="../media/image139.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image" Target="../media/image139.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9" Type="http://schemas.openxmlformats.org/officeDocument/2006/relationships/vmlDrawing" Target="../drawings/vmlDrawing23.vml"/><Relationship Id="rId8" Type="http://schemas.openxmlformats.org/officeDocument/2006/relationships/slideLayout" Target="../slideLayouts/slideLayout2.xml"/><Relationship Id="rId7" Type="http://schemas.openxmlformats.org/officeDocument/2006/relationships/image" Target="../media/image144.wmf"/><Relationship Id="rId6" Type="http://schemas.openxmlformats.org/officeDocument/2006/relationships/oleObject" Target="../embeddings/oleObject93.bin"/><Relationship Id="rId5" Type="http://schemas.openxmlformats.org/officeDocument/2006/relationships/image" Target="../media/image143.wmf"/><Relationship Id="rId4" Type="http://schemas.openxmlformats.org/officeDocument/2006/relationships/oleObject" Target="../embeddings/oleObject92.bin"/><Relationship Id="rId3" Type="http://schemas.openxmlformats.org/officeDocument/2006/relationships/image" Target="../media/image142.png"/><Relationship Id="rId2" Type="http://schemas.openxmlformats.org/officeDocument/2006/relationships/image" Target="../media/image141.png"/><Relationship Id="rId10" Type="http://schemas.openxmlformats.org/officeDocument/2006/relationships/notesSlide" Target="../notesSlides/notesSlide64.xml"/><Relationship Id="rId1" Type="http://schemas.openxmlformats.org/officeDocument/2006/relationships/image" Target="../media/image140.png"/></Relationships>
</file>

<file path=ppt/slides/_rels/slide69.xml.rels><?xml version="1.0" encoding="UTF-8" standalone="yes"?>
<Relationships xmlns="http://schemas.openxmlformats.org/package/2006/relationships"><Relationship Id="rId9" Type="http://schemas.openxmlformats.org/officeDocument/2006/relationships/notesSlide" Target="../notesSlides/notesSlide65.xml"/><Relationship Id="rId8" Type="http://schemas.openxmlformats.org/officeDocument/2006/relationships/vmlDrawing" Target="../drawings/vmlDrawing24.vml"/><Relationship Id="rId7" Type="http://schemas.openxmlformats.org/officeDocument/2006/relationships/slideLayout" Target="../slideLayouts/slideLayout2.xml"/><Relationship Id="rId6" Type="http://schemas.openxmlformats.org/officeDocument/2006/relationships/image" Target="../media/image148.png"/><Relationship Id="rId5" Type="http://schemas.openxmlformats.org/officeDocument/2006/relationships/image" Target="../media/image147.wmf"/><Relationship Id="rId4" Type="http://schemas.openxmlformats.org/officeDocument/2006/relationships/oleObject" Target="../embeddings/oleObject95.bin"/><Relationship Id="rId3" Type="http://schemas.openxmlformats.org/officeDocument/2006/relationships/image" Target="../media/image146.wmf"/><Relationship Id="rId2" Type="http://schemas.openxmlformats.org/officeDocument/2006/relationships/oleObject" Target="../embeddings/oleObject94.bin"/><Relationship Id="rId1" Type="http://schemas.openxmlformats.org/officeDocument/2006/relationships/image" Target="../media/image145.png"/></Relationships>
</file>

<file path=ppt/slides/_rels/slide70.xml.rels><?xml version="1.0" encoding="UTF-8" standalone="yes"?>
<Relationships xmlns="http://schemas.openxmlformats.org/package/2006/relationships"><Relationship Id="rId9" Type="http://schemas.openxmlformats.org/officeDocument/2006/relationships/notesSlide" Target="../notesSlides/notesSlide66.xml"/><Relationship Id="rId8" Type="http://schemas.openxmlformats.org/officeDocument/2006/relationships/vmlDrawing" Target="../drawings/vmlDrawing25.vml"/><Relationship Id="rId7" Type="http://schemas.openxmlformats.org/officeDocument/2006/relationships/slideLayout" Target="../slideLayouts/slideLayout2.xml"/><Relationship Id="rId6" Type="http://schemas.openxmlformats.org/officeDocument/2006/relationships/image" Target="../media/image152.png"/><Relationship Id="rId5" Type="http://schemas.openxmlformats.org/officeDocument/2006/relationships/image" Target="../media/image151.png"/><Relationship Id="rId4" Type="http://schemas.openxmlformats.org/officeDocument/2006/relationships/image" Target="../media/image150.wmf"/><Relationship Id="rId3" Type="http://schemas.openxmlformats.org/officeDocument/2006/relationships/oleObject" Target="../embeddings/oleObject97.bin"/><Relationship Id="rId2" Type="http://schemas.openxmlformats.org/officeDocument/2006/relationships/image" Target="../media/image149.wmf"/><Relationship Id="rId1" Type="http://schemas.openxmlformats.org/officeDocument/2006/relationships/oleObject" Target="../embeddings/oleObject96.bin"/></Relationships>
</file>

<file path=ppt/slides/_rels/slide71.xml.rels><?xml version="1.0" encoding="UTF-8" standalone="yes"?>
<Relationships xmlns="http://schemas.openxmlformats.org/package/2006/relationships"><Relationship Id="rId9" Type="http://schemas.openxmlformats.org/officeDocument/2006/relationships/notesSlide" Target="../notesSlides/notesSlide67.xml"/><Relationship Id="rId8" Type="http://schemas.openxmlformats.org/officeDocument/2006/relationships/vmlDrawing" Target="../drawings/vmlDrawing26.vml"/><Relationship Id="rId7" Type="http://schemas.openxmlformats.org/officeDocument/2006/relationships/slideLayout" Target="../slideLayouts/slideLayout2.xml"/><Relationship Id="rId6" Type="http://schemas.openxmlformats.org/officeDocument/2006/relationships/image" Target="../media/image156.png"/><Relationship Id="rId5" Type="http://schemas.openxmlformats.org/officeDocument/2006/relationships/image" Target="../media/image155.png"/><Relationship Id="rId4" Type="http://schemas.openxmlformats.org/officeDocument/2006/relationships/image" Target="../media/image154.wmf"/><Relationship Id="rId3" Type="http://schemas.openxmlformats.org/officeDocument/2006/relationships/oleObject" Target="../embeddings/oleObject99.bin"/><Relationship Id="rId2" Type="http://schemas.openxmlformats.org/officeDocument/2006/relationships/image" Target="../media/image153.wmf"/><Relationship Id="rId1" Type="http://schemas.openxmlformats.org/officeDocument/2006/relationships/oleObject" Target="../embeddings/oleObject98.bin"/></Relationships>
</file>

<file path=ppt/slides/_rels/slide72.xml.rels><?xml version="1.0" encoding="UTF-8" standalone="yes"?>
<Relationships xmlns="http://schemas.openxmlformats.org/package/2006/relationships"><Relationship Id="rId5" Type="http://schemas.openxmlformats.org/officeDocument/2006/relationships/notesSlide" Target="../notesSlides/notesSlide68.xml"/><Relationship Id="rId4" Type="http://schemas.openxmlformats.org/officeDocument/2006/relationships/slideLayout" Target="../slideLayouts/slideLayout2.xml"/><Relationship Id="rId3" Type="http://schemas.openxmlformats.org/officeDocument/2006/relationships/image" Target="../media/image159.png"/><Relationship Id="rId2" Type="http://schemas.openxmlformats.org/officeDocument/2006/relationships/image" Target="../media/image158.png"/><Relationship Id="rId1" Type="http://schemas.openxmlformats.org/officeDocument/2006/relationships/image" Target="../media/image157.png"/></Relationships>
</file>

<file path=ppt/slides/_rels/slide73.xml.rels><?xml version="1.0" encoding="UTF-8" standalone="yes"?>
<Relationships xmlns="http://schemas.openxmlformats.org/package/2006/relationships"><Relationship Id="rId9" Type="http://schemas.openxmlformats.org/officeDocument/2006/relationships/oleObject" Target="../embeddings/oleObject104.bin"/><Relationship Id="rId8" Type="http://schemas.openxmlformats.org/officeDocument/2006/relationships/image" Target="../media/image163.wmf"/><Relationship Id="rId7" Type="http://schemas.openxmlformats.org/officeDocument/2006/relationships/oleObject" Target="../embeddings/oleObject103.bin"/><Relationship Id="rId6" Type="http://schemas.openxmlformats.org/officeDocument/2006/relationships/image" Target="../media/image162.wmf"/><Relationship Id="rId5" Type="http://schemas.openxmlformats.org/officeDocument/2006/relationships/oleObject" Target="../embeddings/oleObject102.bin"/><Relationship Id="rId4" Type="http://schemas.openxmlformats.org/officeDocument/2006/relationships/image" Target="../media/image161.wmf"/><Relationship Id="rId3" Type="http://schemas.openxmlformats.org/officeDocument/2006/relationships/oleObject" Target="../embeddings/oleObject101.bin"/><Relationship Id="rId2" Type="http://schemas.openxmlformats.org/officeDocument/2006/relationships/image" Target="../media/image160.wmf"/><Relationship Id="rId16" Type="http://schemas.openxmlformats.org/officeDocument/2006/relationships/notesSlide" Target="../notesSlides/notesSlide69.xml"/><Relationship Id="rId15" Type="http://schemas.openxmlformats.org/officeDocument/2006/relationships/vmlDrawing" Target="../drawings/vmlDrawing27.vml"/><Relationship Id="rId14" Type="http://schemas.openxmlformats.org/officeDocument/2006/relationships/slideLayout" Target="../slideLayouts/slideLayout2.xml"/><Relationship Id="rId13" Type="http://schemas.openxmlformats.org/officeDocument/2006/relationships/oleObject" Target="../embeddings/oleObject106.bin"/><Relationship Id="rId12" Type="http://schemas.openxmlformats.org/officeDocument/2006/relationships/oleObject" Target="../embeddings/oleObject105.bin"/><Relationship Id="rId11" Type="http://schemas.openxmlformats.org/officeDocument/2006/relationships/image" Target="../media/image165.png"/><Relationship Id="rId10" Type="http://schemas.openxmlformats.org/officeDocument/2006/relationships/image" Target="../media/image164.wmf"/><Relationship Id="rId1" Type="http://schemas.openxmlformats.org/officeDocument/2006/relationships/oleObject" Target="../embeddings/oleObject100.bin"/></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TextBox 8"/>
          <p:cNvSpPr txBox="1">
            <a:spLocks noChangeArrowheads="1"/>
          </p:cNvSpPr>
          <p:nvPr/>
        </p:nvSpPr>
        <p:spPr bwMode="auto">
          <a:xfrm>
            <a:off x="1066800" y="2362200"/>
            <a:ext cx="6786880" cy="903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lnSpc>
                <a:spcPct val="120000"/>
              </a:lnSpc>
            </a:pPr>
            <a:r>
              <a:rPr lang="zh-CN" altLang="en-US" sz="4400" b="1" dirty="0">
                <a:solidFill>
                  <a:srgbClr val="FF0000"/>
                </a:solidFill>
                <a:latin typeface="微软雅黑" panose="020B0503020204020204" charset="-122"/>
                <a:ea typeface="微软雅黑" panose="020B0503020204020204" charset="-122"/>
              </a:rPr>
              <a:t>《数字电子技术》</a:t>
            </a:r>
            <a:endParaRPr lang="zh-CN" altLang="en-US" sz="4400" b="1" dirty="0">
              <a:solidFill>
                <a:srgbClr val="FF0000"/>
              </a:solidFill>
              <a:latin typeface="微软雅黑" panose="020B0503020204020204" charset="-122"/>
              <a:ea typeface="微软雅黑" panose="020B0503020204020204" charset="-122"/>
            </a:endParaRPr>
          </a:p>
        </p:txBody>
      </p:sp>
      <p:pic>
        <p:nvPicPr>
          <p:cNvPr id="100" name="图片 99"/>
          <p:cNvPicPr/>
          <p:nvPr/>
        </p:nvPicPr>
        <p:blipFill>
          <a:blip r:embed="rId1"/>
          <a:srcRect l="6440" t="10369" r="5160" b="7142"/>
          <a:stretch>
            <a:fillRect/>
          </a:stretch>
        </p:blipFill>
        <p:spPr>
          <a:xfrm>
            <a:off x="0" y="4953000"/>
            <a:ext cx="3024000" cy="2014855"/>
          </a:xfrm>
          <a:prstGeom prst="rect">
            <a:avLst/>
          </a:prstGeom>
          <a:noFill/>
          <a:ln w="9525">
            <a:noFill/>
          </a:ln>
        </p:spPr>
      </p:pic>
      <p:pic>
        <p:nvPicPr>
          <p:cNvPr id="2" name="图片 1"/>
          <p:cNvPicPr/>
          <p:nvPr/>
        </p:nvPicPr>
        <p:blipFill>
          <a:blip r:embed="rId2"/>
          <a:stretch>
            <a:fillRect/>
          </a:stretch>
        </p:blipFill>
        <p:spPr>
          <a:xfrm>
            <a:off x="3013710" y="4953000"/>
            <a:ext cx="3024000" cy="2026920"/>
          </a:xfrm>
          <a:prstGeom prst="rect">
            <a:avLst/>
          </a:prstGeom>
          <a:noFill/>
          <a:ln w="9525">
            <a:noFill/>
          </a:ln>
        </p:spPr>
      </p:pic>
      <p:pic>
        <p:nvPicPr>
          <p:cNvPr id="101" name="图片 100"/>
          <p:cNvPicPr/>
          <p:nvPr/>
        </p:nvPicPr>
        <p:blipFill>
          <a:blip r:embed="rId3"/>
          <a:srcRect l="11780" t="21920" r="10760" b="21160"/>
          <a:stretch>
            <a:fillRect/>
          </a:stretch>
        </p:blipFill>
        <p:spPr>
          <a:xfrm>
            <a:off x="6041390" y="4953000"/>
            <a:ext cx="3096895" cy="204343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00"/>
                                        </p:tgtEl>
                                        <p:attrNameLst>
                                          <p:attrName>style.visibility</p:attrName>
                                        </p:attrNameLst>
                                      </p:cBhvr>
                                      <p:to>
                                        <p:strVal val="visible"/>
                                      </p:to>
                                    </p:set>
                                    <p:animEffect transition="in" filter="wipe(left)">
                                      <p:cBhvr>
                                        <p:cTn id="11" dur="500"/>
                                        <p:tgtEl>
                                          <p:spTgt spid="100"/>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01"/>
                                        </p:tgtEl>
                                        <p:attrNameLst>
                                          <p:attrName>style.visibility</p:attrName>
                                        </p:attrNameLst>
                                      </p:cBhvr>
                                      <p:to>
                                        <p:strVal val="visible"/>
                                      </p:to>
                                    </p:set>
                                    <p:animEffect transition="in" filter="wipe(left)">
                                      <p:cBhvr>
                                        <p:cTn id="19" dur="5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31" name="Rectangle 9"/>
          <p:cNvSpPr>
            <a:spLocks noGrp="1"/>
          </p:cNvSpPr>
          <p:nvPr>
            <p:ph type="title"/>
          </p:nvPr>
        </p:nvSpPr>
        <p:spPr>
          <a:xfrm>
            <a:off x="304800" y="381000"/>
            <a:ext cx="8229600" cy="868363"/>
          </a:xfrm>
        </p:spPr>
        <p:txBody>
          <a:bodyPr vert="horz" wrap="square" lIns="91440" tIns="45720" rIns="91440" bIns="45720" anchor="ctr" anchorCtr="0"/>
          <a:p>
            <a:pPr eaLnBrk="1" hangingPunct="1"/>
            <a:r>
              <a:rPr lang="zh-CN" altLang="en-US" sz="3200" i="0" kern="1200" dirty="0">
                <a:solidFill>
                  <a:srgbClr val="FF0000"/>
                </a:solidFill>
                <a:latin typeface="黑体" panose="02010609060101010101" pitchFamily="49" charset="-122"/>
                <a:ea typeface="黑体" panose="02010609060101010101" pitchFamily="49" charset="-122"/>
                <a:cs typeface="+mn-cs"/>
              </a:rPr>
              <a:t>第</a:t>
            </a:r>
            <a:r>
              <a:rPr lang="en-US" altLang="zh-CN" sz="3200" i="0" kern="1200" dirty="0">
                <a:solidFill>
                  <a:srgbClr val="FF0000"/>
                </a:solidFill>
                <a:latin typeface="黑体" panose="02010609060101010101" pitchFamily="49" charset="-122"/>
                <a:ea typeface="黑体" panose="02010609060101010101" pitchFamily="49" charset="-122"/>
                <a:cs typeface="+mn-cs"/>
              </a:rPr>
              <a:t>3</a:t>
            </a:r>
            <a:r>
              <a:rPr lang="zh-CN" altLang="en-US" sz="3200" i="0" kern="1200" dirty="0">
                <a:solidFill>
                  <a:srgbClr val="FF0000"/>
                </a:solidFill>
                <a:latin typeface="黑体" panose="02010609060101010101" pitchFamily="49" charset="-122"/>
                <a:ea typeface="黑体" panose="02010609060101010101" pitchFamily="49" charset="-122"/>
                <a:cs typeface="+mn-cs"/>
              </a:rPr>
              <a:t>章</a:t>
            </a:r>
            <a:r>
              <a:rPr lang="en-US" altLang="zh-CN" sz="3200" i="0" kern="1200" dirty="0">
                <a:solidFill>
                  <a:srgbClr val="FF0000"/>
                </a:solidFill>
                <a:latin typeface="黑体" panose="02010609060101010101" pitchFamily="49" charset="-122"/>
                <a:ea typeface="黑体" panose="02010609060101010101" pitchFamily="49" charset="-122"/>
                <a:cs typeface="+mn-cs"/>
              </a:rPr>
              <a:t> </a:t>
            </a:r>
            <a:r>
              <a:rPr lang="zh-CN" altLang="en-US" sz="3200" i="0" kern="1200" dirty="0">
                <a:solidFill>
                  <a:srgbClr val="FF0000"/>
                </a:solidFill>
                <a:latin typeface="黑体" panose="02010609060101010101" pitchFamily="49" charset="-122"/>
                <a:ea typeface="黑体" panose="02010609060101010101" pitchFamily="49" charset="-122"/>
                <a:cs typeface="+mn-cs"/>
              </a:rPr>
              <a:t>逻辑门电路</a:t>
            </a:r>
            <a:endParaRPr lang="zh-CN" altLang="en-US" sz="3200" i="0" kern="1200" dirty="0">
              <a:solidFill>
                <a:srgbClr val="FF0000"/>
              </a:solidFill>
              <a:latin typeface="黑体" panose="02010609060101010101" pitchFamily="49" charset="-122"/>
              <a:ea typeface="黑体" panose="02010609060101010101" pitchFamily="49" charset="-122"/>
              <a:cs typeface="+mn-cs"/>
            </a:endParaRPr>
          </a:p>
        </p:txBody>
      </p:sp>
      <p:sp>
        <p:nvSpPr>
          <p:cNvPr id="5156" name="灯片编号占位符 4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r>
              <a:rPr lang="en-US" altLang="zh-CN" sz="1200" dirty="0">
                <a:solidFill>
                  <a:schemeClr val="bg1"/>
                </a:solidFill>
                <a:ea typeface="宋体" panose="02010600030101010101" pitchFamily="2" charset="-122"/>
              </a:rPr>
              <a:t>2</a:t>
            </a:r>
            <a:endParaRPr lang="en-US" altLang="zh-CN" sz="1200" dirty="0">
              <a:solidFill>
                <a:schemeClr val="bg1"/>
              </a:solidFill>
              <a:ea typeface="宋体" panose="02010600030101010101" pitchFamily="2" charset="-122"/>
            </a:endParaRPr>
          </a:p>
        </p:txBody>
      </p:sp>
      <p:sp>
        <p:nvSpPr>
          <p:cNvPr id="5122" name="Line 3"/>
          <p:cNvSpPr/>
          <p:nvPr/>
        </p:nvSpPr>
        <p:spPr>
          <a:xfrm>
            <a:off x="2195830" y="4198620"/>
            <a:ext cx="463550" cy="612775"/>
          </a:xfrm>
          <a:prstGeom prst="line">
            <a:avLst/>
          </a:prstGeom>
          <a:ln w="12700" cap="rnd" cmpd="sng">
            <a:solidFill>
              <a:srgbClr val="003366"/>
            </a:solidFill>
            <a:prstDash val="sysDot"/>
            <a:headEnd type="none" w="med" len="med"/>
            <a:tailEnd type="none" w="med" len="med"/>
          </a:ln>
        </p:spPr>
      </p:sp>
      <p:sp>
        <p:nvSpPr>
          <p:cNvPr id="5124" name="Line 2"/>
          <p:cNvSpPr/>
          <p:nvPr/>
        </p:nvSpPr>
        <p:spPr>
          <a:xfrm flipV="1">
            <a:off x="2286000" y="2286000"/>
            <a:ext cx="387350" cy="609600"/>
          </a:xfrm>
          <a:prstGeom prst="line">
            <a:avLst/>
          </a:prstGeom>
          <a:ln w="12700" cap="rnd" cmpd="sng">
            <a:solidFill>
              <a:srgbClr val="003366"/>
            </a:solidFill>
            <a:prstDash val="sysDot"/>
            <a:headEnd type="none" w="med" len="med"/>
            <a:tailEnd type="none" w="med" len="med"/>
          </a:ln>
        </p:spPr>
      </p:sp>
      <p:sp>
        <p:nvSpPr>
          <p:cNvPr id="5128" name="Line 6"/>
          <p:cNvSpPr/>
          <p:nvPr/>
        </p:nvSpPr>
        <p:spPr>
          <a:xfrm flipV="1">
            <a:off x="2746375" y="3136900"/>
            <a:ext cx="685800" cy="0"/>
          </a:xfrm>
          <a:prstGeom prst="line">
            <a:avLst/>
          </a:prstGeom>
          <a:ln w="12700" cap="rnd" cmpd="sng">
            <a:solidFill>
              <a:srgbClr val="003366"/>
            </a:solidFill>
            <a:prstDash val="sysDot"/>
            <a:headEnd type="none" w="med" len="med"/>
            <a:tailEnd type="none" w="med" len="med"/>
          </a:ln>
        </p:spPr>
      </p:sp>
      <p:sp>
        <p:nvSpPr>
          <p:cNvPr id="5130" name="Line 8"/>
          <p:cNvSpPr/>
          <p:nvPr/>
        </p:nvSpPr>
        <p:spPr>
          <a:xfrm flipV="1">
            <a:off x="2593975" y="3948113"/>
            <a:ext cx="685800" cy="0"/>
          </a:xfrm>
          <a:prstGeom prst="line">
            <a:avLst/>
          </a:prstGeom>
          <a:ln w="12700" cap="rnd" cmpd="sng">
            <a:solidFill>
              <a:srgbClr val="003366"/>
            </a:solidFill>
            <a:prstDash val="sysDot"/>
            <a:headEnd type="none" w="med" len="med"/>
            <a:tailEnd type="none" w="med" len="med"/>
          </a:ln>
        </p:spPr>
      </p:sp>
      <p:grpSp>
        <p:nvGrpSpPr>
          <p:cNvPr id="3" name="Group 10"/>
          <p:cNvGrpSpPr/>
          <p:nvPr/>
        </p:nvGrpSpPr>
        <p:grpSpPr>
          <a:xfrm>
            <a:off x="225425" y="2205038"/>
            <a:ext cx="2673350" cy="2671762"/>
            <a:chOff x="140" y="1419"/>
            <a:chExt cx="1684" cy="1683"/>
          </a:xfrm>
        </p:grpSpPr>
        <p:sp>
          <p:nvSpPr>
            <p:cNvPr id="4" name="Oval 11"/>
            <p:cNvSpPr>
              <a:spLocks noChangeArrowheads="1"/>
            </p:cNvSpPr>
            <p:nvPr/>
          </p:nvSpPr>
          <p:spPr bwMode="gray">
            <a:xfrm>
              <a:off x="140" y="1419"/>
              <a:ext cx="1684" cy="1683"/>
            </a:xfrm>
            <a:prstGeom prst="ellipse">
              <a:avLst/>
            </a:prstGeom>
            <a:gradFill rotWithShape="1">
              <a:gsLst>
                <a:gs pos="0">
                  <a:schemeClr val="folHlink">
                    <a:gamma/>
                    <a:tint val="0"/>
                    <a:invGamma/>
                  </a:schemeClr>
                </a:gs>
                <a:gs pos="50000">
                  <a:schemeClr val="folHlink"/>
                </a:gs>
                <a:gs pos="100000">
                  <a:schemeClr val="folHlink">
                    <a:gamma/>
                    <a:tint val="0"/>
                    <a:invGamma/>
                  </a:scheme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Oval 12"/>
            <p:cNvSpPr>
              <a:spLocks noChangeArrowheads="1"/>
            </p:cNvSpPr>
            <p:nvPr/>
          </p:nvSpPr>
          <p:spPr bwMode="gray">
            <a:xfrm>
              <a:off x="251" y="1528"/>
              <a:ext cx="1461" cy="1463"/>
            </a:xfrm>
            <a:prstGeom prst="ellipse">
              <a:avLst/>
            </a:prstGeom>
            <a:gradFill rotWithShape="1">
              <a:gsLst>
                <a:gs pos="0">
                  <a:schemeClr val="folHlink">
                    <a:gamma/>
                    <a:shade val="54118"/>
                    <a:invGamma/>
                  </a:schemeClr>
                </a:gs>
                <a:gs pos="50000">
                  <a:schemeClr val="folHlink"/>
                </a:gs>
                <a:gs pos="100000">
                  <a:schemeClr val="folHlink">
                    <a:gamma/>
                    <a:shade val="54118"/>
                    <a:invGamma/>
                  </a:scheme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Oval 13"/>
            <p:cNvSpPr>
              <a:spLocks noChangeArrowheads="1"/>
            </p:cNvSpPr>
            <p:nvPr/>
          </p:nvSpPr>
          <p:spPr bwMode="gray">
            <a:xfrm>
              <a:off x="258" y="1536"/>
              <a:ext cx="1461" cy="1462"/>
            </a:xfrm>
            <a:prstGeom prst="ellipse">
              <a:avLst/>
            </a:prstGeom>
            <a:gradFill rotWithShape="1">
              <a:gsLst>
                <a:gs pos="0">
                  <a:schemeClr val="folHlink">
                    <a:gamma/>
                    <a:shade val="63529"/>
                    <a:invGamma/>
                  </a:schemeClr>
                </a:gs>
                <a:gs pos="100000">
                  <a:schemeClr val="folHlink">
                    <a:alpha val="0"/>
                  </a:scheme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Oval 14"/>
            <p:cNvSpPr/>
            <p:nvPr/>
          </p:nvSpPr>
          <p:spPr>
            <a:xfrm>
              <a:off x="323" y="1602"/>
              <a:ext cx="1317" cy="1316"/>
            </a:xfrm>
            <a:prstGeom prst="ellipse">
              <a:avLst/>
            </a:prstGeom>
            <a:solidFill>
              <a:srgbClr val="000000"/>
            </a:solidFill>
            <a:ln w="38100">
              <a:noFill/>
            </a:ln>
          </p:spPr>
          <p:txBody>
            <a:bodyPr anchor="ctr" anchorCtr="0">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8" name="Oval 15"/>
            <p:cNvSpPr/>
            <p:nvPr/>
          </p:nvSpPr>
          <p:spPr>
            <a:xfrm>
              <a:off x="344" y="1623"/>
              <a:ext cx="1276" cy="1277"/>
            </a:xfrm>
            <a:prstGeom prst="ellipse">
              <a:avLst/>
            </a:prstGeom>
            <a:gradFill rotWithShape="1">
              <a:gsLst>
                <a:gs pos="0">
                  <a:srgbClr val="636869"/>
                </a:gs>
                <a:gs pos="100000">
                  <a:srgbClr val="D6E1E2"/>
                </a:gs>
              </a:gsLst>
              <a:lin ang="5400000" scaled="1"/>
              <a:tileRect/>
            </a:gradFill>
            <a:ln w="9525">
              <a:noFill/>
            </a:ln>
          </p:spPr>
          <p:txBody>
            <a:bodyPr vert="eaVert"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9" name="Oval 16"/>
            <p:cNvSpPr/>
            <p:nvPr/>
          </p:nvSpPr>
          <p:spPr>
            <a:xfrm>
              <a:off x="360" y="1630"/>
              <a:ext cx="1246" cy="1246"/>
            </a:xfrm>
            <a:prstGeom prst="ellipse">
              <a:avLst/>
            </a:prstGeom>
            <a:gradFill rotWithShape="1">
              <a:gsLst>
                <a:gs pos="0">
                  <a:srgbClr val="D6E1E2">
                    <a:alpha val="0"/>
                  </a:srgbClr>
                </a:gs>
                <a:gs pos="100000">
                  <a:srgbClr val="F1F5F5"/>
                </a:gs>
              </a:gsLst>
              <a:lin ang="5400000" scaled="1"/>
              <a:tileRect/>
            </a:gradFill>
            <a:ln w="9525">
              <a:noFill/>
            </a:ln>
          </p:spPr>
          <p:txBody>
            <a:bodyPr vert="eaVert"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10" name="Oval 17"/>
            <p:cNvSpPr/>
            <p:nvPr/>
          </p:nvSpPr>
          <p:spPr>
            <a:xfrm>
              <a:off x="374" y="1642"/>
              <a:ext cx="1184" cy="1164"/>
            </a:xfrm>
            <a:prstGeom prst="ellipse">
              <a:avLst/>
            </a:prstGeom>
            <a:gradFill rotWithShape="1">
              <a:gsLst>
                <a:gs pos="0">
                  <a:srgbClr val="AAB2B3"/>
                </a:gs>
                <a:gs pos="100000">
                  <a:srgbClr val="D6E1E2">
                    <a:alpha val="48000"/>
                  </a:srgbClr>
                </a:gs>
              </a:gsLst>
              <a:lin ang="5400000" scaled="1"/>
              <a:tileRect/>
            </a:gradFill>
            <a:ln w="9525">
              <a:noFill/>
            </a:ln>
          </p:spPr>
          <p:txBody>
            <a:bodyPr vert="eaVert"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11" name="Oval 18"/>
            <p:cNvSpPr/>
            <p:nvPr/>
          </p:nvSpPr>
          <p:spPr>
            <a:xfrm>
              <a:off x="443" y="1675"/>
              <a:ext cx="1053" cy="945"/>
            </a:xfrm>
            <a:prstGeom prst="ellipse">
              <a:avLst/>
            </a:prstGeom>
            <a:gradFill rotWithShape="1">
              <a:gsLst>
                <a:gs pos="0">
                  <a:srgbClr val="FFFFFF"/>
                </a:gs>
                <a:gs pos="100000">
                  <a:srgbClr val="D6E1E2">
                    <a:alpha val="37999"/>
                  </a:srgbClr>
                </a:gs>
              </a:gsLst>
              <a:lin ang="5400000" scaled="1"/>
              <a:tileRect/>
            </a:gradFill>
            <a:ln w="9525">
              <a:noFill/>
            </a:ln>
          </p:spPr>
          <p:txBody>
            <a:bodyPr vert="eaVert"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pic>
          <p:nvPicPr>
            <p:cNvPr id="12" name="Picture 19" descr="mark"/>
            <p:cNvPicPr>
              <a:picLocks noChangeAspect="1"/>
            </p:cNvPicPr>
            <p:nvPr/>
          </p:nvPicPr>
          <p:blipFill>
            <a:blip r:embed="rId1"/>
            <a:stretch>
              <a:fillRect/>
            </a:stretch>
          </p:blipFill>
          <p:spPr>
            <a:xfrm>
              <a:off x="452" y="1773"/>
              <a:ext cx="1011" cy="1003"/>
            </a:xfrm>
            <a:prstGeom prst="rect">
              <a:avLst/>
            </a:prstGeom>
            <a:noFill/>
            <a:ln w="9525">
              <a:noFill/>
            </a:ln>
          </p:spPr>
        </p:pic>
      </p:grpSp>
      <p:sp>
        <p:nvSpPr>
          <p:cNvPr id="5135" name="AutoShape 22"/>
          <p:cNvSpPr/>
          <p:nvPr/>
        </p:nvSpPr>
        <p:spPr>
          <a:xfrm>
            <a:off x="3429000" y="2889250"/>
            <a:ext cx="2886075"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5140" name="Oval 27"/>
          <p:cNvSpPr/>
          <p:nvPr/>
        </p:nvSpPr>
        <p:spPr>
          <a:xfrm>
            <a:off x="3273425" y="3028950"/>
            <a:ext cx="228600" cy="228600"/>
          </a:xfrm>
          <a:prstGeom prst="ellipse">
            <a:avLst/>
          </a:prstGeom>
          <a:gradFill rotWithShape="1">
            <a:gsLst>
              <a:gs pos="0">
                <a:srgbClr val="DCDC48"/>
              </a:gs>
              <a:gs pos="100000">
                <a:srgbClr val="93933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buNone/>
            </a:pPr>
            <a:endParaRPr lang="zh-CN" altLang="en-US" sz="2400" b="1" dirty="0">
              <a:latin typeface="Arial" panose="020B0604020202020204" pitchFamily="34" charset="0"/>
            </a:endParaRPr>
          </a:p>
        </p:txBody>
      </p:sp>
      <p:sp>
        <p:nvSpPr>
          <p:cNvPr id="5142" name="AutoShape 29"/>
          <p:cNvSpPr/>
          <p:nvPr/>
        </p:nvSpPr>
        <p:spPr>
          <a:xfrm>
            <a:off x="3429000" y="3733800"/>
            <a:ext cx="3046730"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7196" name="Oval 28"/>
          <p:cNvSpPr>
            <a:spLocks noChangeArrowheads="1"/>
          </p:cNvSpPr>
          <p:nvPr/>
        </p:nvSpPr>
        <p:spPr bwMode="gray">
          <a:xfrm>
            <a:off x="3304540" y="3837940"/>
            <a:ext cx="228600" cy="228600"/>
          </a:xfrm>
          <a:prstGeom prst="ellipse">
            <a:avLst/>
          </a:prstGeom>
          <a:gradFill rotWithShape="1">
            <a:gsLst>
              <a:gs pos="0">
                <a:schemeClr val="accent2"/>
              </a:gs>
              <a:gs pos="100000">
                <a:schemeClr val="accent2">
                  <a:gamma/>
                  <a:shade val="66667"/>
                  <a:invGamma/>
                </a:schemeClr>
              </a:gs>
            </a:gsLst>
            <a:path path="shape">
              <a:fillToRect l="50000" t="50000" r="50000" b="50000"/>
            </a:path>
          </a:gradFill>
          <a:ln w="19050">
            <a:solidFill>
              <a:srgbClr val="FFFFFF"/>
            </a:solidFill>
            <a:round/>
          </a:ln>
          <a:effectLst>
            <a:outerShdw dist="63500" dir="2212194" algn="ctr" rotWithShape="0">
              <a:schemeClr val="bg2">
                <a:alpha val="50000"/>
              </a:scheme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6" name="Line 6"/>
          <p:cNvSpPr/>
          <p:nvPr/>
        </p:nvSpPr>
        <p:spPr>
          <a:xfrm flipV="1">
            <a:off x="2653030" y="2303463"/>
            <a:ext cx="648000" cy="0"/>
          </a:xfrm>
          <a:prstGeom prst="line">
            <a:avLst/>
          </a:prstGeom>
          <a:ln w="12700" cap="rnd" cmpd="sng">
            <a:solidFill>
              <a:srgbClr val="003366"/>
            </a:solidFill>
            <a:prstDash val="sysDot"/>
            <a:headEnd type="none" w="med" len="med"/>
            <a:tailEnd type="none" w="med" len="med"/>
          </a:ln>
        </p:spPr>
      </p:sp>
      <p:sp>
        <p:nvSpPr>
          <p:cNvPr id="17" name="AutoShape 22"/>
          <p:cNvSpPr/>
          <p:nvPr/>
        </p:nvSpPr>
        <p:spPr>
          <a:xfrm>
            <a:off x="3343275" y="2057400"/>
            <a:ext cx="2989580"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19" name="Oval 27"/>
          <p:cNvSpPr/>
          <p:nvPr/>
        </p:nvSpPr>
        <p:spPr>
          <a:xfrm>
            <a:off x="3281045" y="2190750"/>
            <a:ext cx="228600" cy="228600"/>
          </a:xfrm>
          <a:prstGeom prst="ellipse">
            <a:avLst/>
          </a:prstGeom>
          <a:gradFill rotWithShape="1">
            <a:gsLst>
              <a:gs pos="0">
                <a:srgbClr val="DCDC48"/>
              </a:gs>
              <a:gs pos="100000">
                <a:srgbClr val="93933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buNone/>
            </a:pPr>
            <a:endParaRPr lang="zh-CN" altLang="en-US" sz="2400" b="1" dirty="0">
              <a:latin typeface="Arial" panose="020B0604020202020204" pitchFamily="34" charset="0"/>
            </a:endParaRPr>
          </a:p>
        </p:txBody>
      </p:sp>
      <p:sp>
        <p:nvSpPr>
          <p:cNvPr id="5152" name="AutoShape 29"/>
          <p:cNvSpPr/>
          <p:nvPr/>
        </p:nvSpPr>
        <p:spPr>
          <a:xfrm>
            <a:off x="3267075" y="4558030"/>
            <a:ext cx="5608320"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5154" name="Oval 31"/>
          <p:cNvSpPr/>
          <p:nvPr/>
        </p:nvSpPr>
        <p:spPr>
          <a:xfrm>
            <a:off x="3178175" y="4675823"/>
            <a:ext cx="228600" cy="228600"/>
          </a:xfrm>
          <a:prstGeom prst="ellipse">
            <a:avLst/>
          </a:prstGeom>
          <a:gradFill rotWithShape="1">
            <a:gsLst>
              <a:gs pos="0">
                <a:srgbClr val="E96E29"/>
              </a:gs>
              <a:gs pos="100000">
                <a:srgbClr val="9B491B"/>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buNone/>
            </a:pPr>
            <a:endParaRPr lang="zh-CN" altLang="en-US" sz="2400" b="1" dirty="0">
              <a:latin typeface="Arial" panose="020B0604020202020204" pitchFamily="34" charset="0"/>
            </a:endParaRPr>
          </a:p>
        </p:txBody>
      </p:sp>
      <p:sp>
        <p:nvSpPr>
          <p:cNvPr id="5155" name="Line 6"/>
          <p:cNvSpPr/>
          <p:nvPr/>
        </p:nvSpPr>
        <p:spPr>
          <a:xfrm flipV="1">
            <a:off x="2667000" y="4807268"/>
            <a:ext cx="533400" cy="0"/>
          </a:xfrm>
          <a:prstGeom prst="line">
            <a:avLst/>
          </a:prstGeom>
          <a:ln w="12700" cap="rnd" cmpd="sng">
            <a:solidFill>
              <a:srgbClr val="003366"/>
            </a:solidFill>
            <a:prstDash val="sysDot"/>
            <a:headEnd type="none" w="med" len="med"/>
            <a:tailEnd type="none" w="med" len="med"/>
          </a:ln>
        </p:spPr>
      </p:sp>
      <p:sp>
        <p:nvSpPr>
          <p:cNvPr id="14" name="Rectangle 21"/>
          <p:cNvSpPr/>
          <p:nvPr/>
        </p:nvSpPr>
        <p:spPr>
          <a:xfrm>
            <a:off x="3421380" y="2057400"/>
            <a:ext cx="294005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3.1 </a:t>
            </a:r>
            <a:r>
              <a:rPr lang="zh-CN" altLang="en-US" sz="2400" b="1" dirty="0">
                <a:solidFill>
                  <a:srgbClr val="000000"/>
                </a:solidFill>
                <a:latin typeface="黑体" panose="02010609060101010101" pitchFamily="49" charset="-122"/>
                <a:ea typeface="黑体" panose="02010609060101010101" pitchFamily="49" charset="-122"/>
              </a:rPr>
              <a:t>分立元件门电路</a:t>
            </a:r>
            <a:endParaRPr lang="zh-CN" altLang="en-US" sz="2400" b="1" dirty="0">
              <a:solidFill>
                <a:srgbClr val="000000"/>
              </a:solidFill>
              <a:latin typeface="黑体" panose="02010609060101010101" pitchFamily="49" charset="-122"/>
              <a:ea typeface="黑体" panose="02010609060101010101" pitchFamily="49" charset="-122"/>
            </a:endParaRPr>
          </a:p>
        </p:txBody>
      </p:sp>
      <p:sp>
        <p:nvSpPr>
          <p:cNvPr id="5136" name="Rectangle 23"/>
          <p:cNvSpPr/>
          <p:nvPr/>
        </p:nvSpPr>
        <p:spPr>
          <a:xfrm>
            <a:off x="3470910" y="3733800"/>
            <a:ext cx="294259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3.3 CMOS</a:t>
            </a:r>
            <a:r>
              <a:rPr lang="zh-CN" altLang="en-US" sz="2400" b="1" dirty="0">
                <a:solidFill>
                  <a:srgbClr val="000000"/>
                </a:solidFill>
                <a:latin typeface="黑体" panose="02010609060101010101" pitchFamily="49" charset="-122"/>
                <a:ea typeface="黑体" panose="02010609060101010101" pitchFamily="49" charset="-122"/>
              </a:rPr>
              <a:t>逻辑门电路</a:t>
            </a:r>
            <a:endParaRPr lang="zh-CN" altLang="en-US" sz="2400" b="1" dirty="0">
              <a:solidFill>
                <a:srgbClr val="000000"/>
              </a:solidFill>
              <a:latin typeface="黑体" panose="02010609060101010101" pitchFamily="49" charset="-122"/>
              <a:ea typeface="黑体" panose="02010609060101010101" pitchFamily="49" charset="-122"/>
            </a:endParaRPr>
          </a:p>
        </p:txBody>
      </p:sp>
      <p:sp>
        <p:nvSpPr>
          <p:cNvPr id="5138" name="Rectangle 25"/>
          <p:cNvSpPr/>
          <p:nvPr/>
        </p:nvSpPr>
        <p:spPr>
          <a:xfrm>
            <a:off x="3352800" y="4558030"/>
            <a:ext cx="538861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3.4 </a:t>
            </a:r>
            <a:r>
              <a:rPr lang="zh-CN" altLang="en-US" sz="2400" b="1" dirty="0">
                <a:solidFill>
                  <a:srgbClr val="000000"/>
                </a:solidFill>
                <a:latin typeface="黑体" panose="02010609060101010101" pitchFamily="49" charset="-122"/>
                <a:ea typeface="黑体" panose="02010609060101010101" pitchFamily="49" charset="-122"/>
              </a:rPr>
              <a:t>逻辑描述及逻辑门符号的等效变换</a:t>
            </a:r>
            <a:endParaRPr lang="zh-CN" altLang="en-US" sz="2400" b="1" dirty="0">
              <a:solidFill>
                <a:srgbClr val="000000"/>
              </a:solidFill>
              <a:latin typeface="黑体" panose="02010609060101010101" pitchFamily="49" charset="-122"/>
              <a:ea typeface="黑体" panose="02010609060101010101" pitchFamily="49" charset="-122"/>
            </a:endParaRPr>
          </a:p>
        </p:txBody>
      </p:sp>
      <p:sp>
        <p:nvSpPr>
          <p:cNvPr id="18" name="Rectangle 23"/>
          <p:cNvSpPr/>
          <p:nvPr/>
        </p:nvSpPr>
        <p:spPr>
          <a:xfrm>
            <a:off x="3463290" y="2917190"/>
            <a:ext cx="278892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3.2 TTL</a:t>
            </a:r>
            <a:r>
              <a:rPr lang="zh-CN" altLang="en-US" sz="2400" b="1" dirty="0">
                <a:solidFill>
                  <a:srgbClr val="000000"/>
                </a:solidFill>
                <a:latin typeface="黑体" panose="02010609060101010101" pitchFamily="49" charset="-122"/>
                <a:ea typeface="黑体" panose="02010609060101010101" pitchFamily="49" charset="-122"/>
              </a:rPr>
              <a:t>逻辑门电路</a:t>
            </a:r>
            <a:endParaRPr lang="zh-CN" altLang="en-US" sz="2400" b="1" dirty="0">
              <a:solidFill>
                <a:srgbClr val="000000"/>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7" name="Rectangle 3"/>
          <p:cNvSpPr>
            <a:spLocks noGrp="1"/>
          </p:cNvSpPr>
          <p:nvPr>
            <p:ph idx="1"/>
          </p:nvPr>
        </p:nvSpPr>
        <p:spPr>
          <a:xfrm>
            <a:off x="685800" y="1143000"/>
            <a:ext cx="8003540" cy="102933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由二极管、三极管、电阻等分立元件构成的逻辑门电路称为分立元件门电路。</a:t>
            </a:r>
            <a:endParaRPr lang="zh-CN" altLang="en-US"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25146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3.1 </a:t>
            </a:r>
            <a:r>
              <a:rPr lang="zh-CN" altLang="en-US" b="1" dirty="0">
                <a:solidFill>
                  <a:srgbClr val="FF0000"/>
                </a:solidFill>
                <a:latin typeface="黑体" panose="02010609060101010101" pitchFamily="49" charset="-122"/>
                <a:ea typeface="黑体" panose="02010609060101010101" pitchFamily="49" charset="-122"/>
              </a:rPr>
              <a:t>分立元件门电路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 name="Rectangle 3"/>
          <p:cNvSpPr>
            <a:spLocks noGrp="1"/>
          </p:cNvSpPr>
          <p:nvPr/>
        </p:nvSpPr>
        <p:spPr>
          <a:xfrm>
            <a:off x="694690" y="2032000"/>
            <a:ext cx="8003540" cy="141668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若高电平表示逻辑1，而低电平表示逻辑0，这种表示方法称为正逻辑；相反则为负逻辑。在没有特别说明的情况下，本书一律采用正逻辑。</a:t>
            </a:r>
            <a:endParaRPr lang="zh-CN" altLang="en-US" sz="2400" b="1" kern="1200" dirty="0">
              <a:solidFill>
                <a:srgbClr val="000066"/>
              </a:solidFill>
              <a:latin typeface="Arial" panose="020B0604020202020204" pitchFamily="34" charset="0"/>
              <a:ea typeface="楷体_GB2312" pitchFamily="49" charset="-122"/>
            </a:endParaRPr>
          </a:p>
        </p:txBody>
      </p:sp>
      <p:grpSp>
        <p:nvGrpSpPr>
          <p:cNvPr id="8" name="组合 7"/>
          <p:cNvGrpSpPr/>
          <p:nvPr/>
        </p:nvGrpSpPr>
        <p:grpSpPr>
          <a:xfrm>
            <a:off x="533400" y="3352800"/>
            <a:ext cx="2070100" cy="3155950"/>
            <a:chOff x="840" y="5280"/>
            <a:chExt cx="3260" cy="4970"/>
          </a:xfrm>
        </p:grpSpPr>
        <p:sp>
          <p:nvSpPr>
            <p:cNvPr id="3" name="文本框 2"/>
            <p:cNvSpPr txBox="1"/>
            <p:nvPr/>
          </p:nvSpPr>
          <p:spPr>
            <a:xfrm>
              <a:off x="840" y="9720"/>
              <a:ext cx="3182"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图3-1 开关控制电路</a:t>
              </a:r>
              <a:endParaRPr sz="1600">
                <a:latin typeface="Times New Roman" panose="02020603050405020304" charset="0"/>
                <a:ea typeface="宋体" panose="02010600030101010101" pitchFamily="2" charset="-122"/>
              </a:endParaRPr>
            </a:p>
          </p:txBody>
        </p:sp>
        <p:pic>
          <p:nvPicPr>
            <p:cNvPr id="9225" name="图片 2662"/>
            <p:cNvPicPr>
              <a:picLocks noChangeAspect="1"/>
            </p:cNvPicPr>
            <p:nvPr>
              <p:custDataLst>
                <p:tags r:id="rId1"/>
              </p:custDataLst>
            </p:nvPr>
          </p:nvPicPr>
          <p:blipFill>
            <a:blip r:embed="rId2"/>
            <a:stretch>
              <a:fillRect/>
            </a:stretch>
          </p:blipFill>
          <p:spPr>
            <a:xfrm>
              <a:off x="960" y="5280"/>
              <a:ext cx="3140" cy="4244"/>
            </a:xfrm>
            <a:prstGeom prst="rect">
              <a:avLst/>
            </a:prstGeom>
            <a:noFill/>
            <a:ln>
              <a:noFill/>
            </a:ln>
          </p:spPr>
        </p:pic>
      </p:grpSp>
      <p:sp>
        <p:nvSpPr>
          <p:cNvPr id="7" name="Rectangle 3"/>
          <p:cNvSpPr>
            <a:spLocks noGrp="1"/>
          </p:cNvSpPr>
          <p:nvPr/>
        </p:nvSpPr>
        <p:spPr>
          <a:xfrm>
            <a:off x="2743200" y="3352800"/>
            <a:ext cx="5958840" cy="91948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在图3-1中，输出电平与输入电平之间是一种非逻辑关系。</a:t>
            </a:r>
            <a:endParaRPr lang="zh-CN" altLang="en-US" sz="2400" b="1" kern="1200" dirty="0">
              <a:solidFill>
                <a:srgbClr val="000066"/>
              </a:solidFill>
              <a:latin typeface="Arial" panose="020B0604020202020204" pitchFamily="34" charset="0"/>
              <a:ea typeface="楷体_GB2312" pitchFamily="49" charset="-122"/>
            </a:endParaRPr>
          </a:p>
        </p:txBody>
      </p:sp>
      <p:sp>
        <p:nvSpPr>
          <p:cNvPr id="9" name="Rectangle 3"/>
          <p:cNvSpPr>
            <a:spLocks noGrp="1"/>
          </p:cNvSpPr>
          <p:nvPr/>
        </p:nvSpPr>
        <p:spPr>
          <a:xfrm>
            <a:off x="2766060" y="4241800"/>
            <a:ext cx="6016625" cy="237680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在分立元件门电路中，通常用二极管或三极管来代替开关，因为二极管或三极管工作在导通 (对三极管而言是饱和导通) 和截止两种状态相当于开关的闭合和断开。前者称为二极管门电路，后者称为三极管门电路。</a:t>
            </a:r>
            <a:endParaRPr lang="zh-CN" altLang="en-US" sz="2400" b="1" kern="1200" dirty="0">
              <a:solidFill>
                <a:srgbClr val="000066"/>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000" fill="hold">
                                          <p:stCondLst>
                                            <p:cond delay="0"/>
                                          </p:stCondLst>
                                        </p:cTn>
                                        <p:tgtEl>
                                          <p:spTgt spid="6">
                                            <p:txEl>
                                              <p:pRg st="0" end="0"/>
                                            </p:txEl>
                                          </p:spTgt>
                                        </p:tgtEl>
                                        <p:attrNameLst>
                                          <p:attrName>style.visibility</p:attrName>
                                        </p:attrNameLst>
                                      </p:cBhvr>
                                      <p:to>
                                        <p:strVal val="visible"/>
                                      </p:to>
                                    </p:set>
                                    <p:animEffect transition="in" filter="circle(in)">
                                      <p:cBhvr>
                                        <p:cTn id="7" dur="10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000" fill="hold">
                                          <p:stCondLst>
                                            <p:cond delay="0"/>
                                          </p:stCondLst>
                                        </p:cTn>
                                        <p:tgtEl>
                                          <p:spTgt spid="7">
                                            <p:txEl>
                                              <p:pRg st="0" end="0"/>
                                            </p:txEl>
                                          </p:spTgt>
                                        </p:tgtEl>
                                        <p:attrNameLst>
                                          <p:attrName>style.visibility</p:attrName>
                                        </p:attrNameLst>
                                      </p:cBhvr>
                                      <p:to>
                                        <p:strVal val="visible"/>
                                      </p:to>
                                    </p:set>
                                    <p:animEffect transition="in" filter="circle(in)">
                                      <p:cBhvr>
                                        <p:cTn id="12" dur="1000"/>
                                        <p:tgtEl>
                                          <p:spTgt spid="7">
                                            <p:txEl>
                                              <p:pRg st="0" end="0"/>
                                            </p:txEl>
                                          </p:spTgt>
                                        </p:tgtEl>
                                      </p:cBhvr>
                                    </p:animEffect>
                                  </p:childTnLst>
                                </p:cTn>
                              </p:par>
                            </p:childTnLst>
                          </p:cTn>
                        </p:par>
                        <p:par>
                          <p:cTn id="13" fill="hold">
                            <p:stCondLst>
                              <p:cond delay="1000"/>
                            </p:stCondLst>
                            <p:childTnLst>
                              <p:par>
                                <p:cTn id="14" presetID="22" presetClass="entr" presetSubtype="1" fill="hold"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up)">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grpId="0" nodeType="clickEffect">
                                  <p:stCondLst>
                                    <p:cond delay="0"/>
                                  </p:stCondLst>
                                  <p:childTnLst>
                                    <p:set>
                                      <p:cBhvr>
                                        <p:cTn id="20" dur="1000" fill="hold">
                                          <p:stCondLst>
                                            <p:cond delay="0"/>
                                          </p:stCondLst>
                                        </p:cTn>
                                        <p:tgtEl>
                                          <p:spTgt spid="9">
                                            <p:txEl>
                                              <p:pRg st="0" end="0"/>
                                            </p:txEl>
                                          </p:spTgt>
                                        </p:tgtEl>
                                        <p:attrNameLst>
                                          <p:attrName>style.visibility</p:attrName>
                                        </p:attrNameLst>
                                      </p:cBhvr>
                                      <p:to>
                                        <p:strVal val="visible"/>
                                      </p:to>
                                    </p:set>
                                    <p:animEffect transition="in" filter="circle(in)">
                                      <p:cBhvr>
                                        <p:cTn id="21" dur="10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build="p"/>
      <p:bldP spid="9"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p:nvPr>
        </p:nvSpPr>
        <p:spPr>
          <a:xfrm>
            <a:off x="762000" y="1143000"/>
            <a:ext cx="525780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3.1.1 </a:t>
            </a:r>
            <a:r>
              <a:rPr lang="zh-CN" altLang="en-US" sz="2800" i="0" dirty="0">
                <a:solidFill>
                  <a:srgbClr val="0070C0"/>
                </a:solidFill>
                <a:latin typeface="黑体" panose="02010609060101010101" pitchFamily="49" charset="-122"/>
                <a:ea typeface="黑体" panose="02010609060101010101" pitchFamily="49" charset="-122"/>
              </a:rPr>
              <a:t>二极管开关特性及门电路</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685800" y="2057400"/>
            <a:ext cx="8003540" cy="138620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理想的半导体二极管具有单向导电的特点，即给二极管施加正向电压就导通，施加反向电压就截止。因此，理想的二极管可以看作是一个受外部电压控制的电子开关。</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1198880" y="1676400"/>
            <a:ext cx="311277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1. 二极管的开关特性</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3" name="TextBox 6"/>
          <p:cNvSpPr txBox="1"/>
          <p:nvPr/>
        </p:nvSpPr>
        <p:spPr>
          <a:xfrm>
            <a:off x="25146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3.1 </a:t>
            </a:r>
            <a:r>
              <a:rPr lang="zh-CN" altLang="en-US" b="1" dirty="0">
                <a:solidFill>
                  <a:srgbClr val="FF0000"/>
                </a:solidFill>
                <a:latin typeface="黑体" panose="02010609060101010101" pitchFamily="49" charset="-122"/>
                <a:ea typeface="黑体" panose="02010609060101010101" pitchFamily="49" charset="-122"/>
              </a:rPr>
              <a:t>分立元件门电路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4" name="Rectangle 3"/>
          <p:cNvSpPr>
            <a:spLocks noGrp="1"/>
          </p:cNvSpPr>
          <p:nvPr/>
        </p:nvSpPr>
        <p:spPr>
          <a:xfrm>
            <a:off x="609600" y="3505200"/>
            <a:ext cx="5485765" cy="273939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实际的半导体二极管的特性可以近似地用图3-2 所示的伏安特性曲线描述。图中电压和电流之间是非线性关系，二极管导通时需要加一定的正向电压，通常硅管约为</a:t>
            </a:r>
            <a:r>
              <a:rPr lang="en-US" altLang="zh-CN" sz="2400" b="1" kern="1200" dirty="0">
                <a:solidFill>
                  <a:srgbClr val="000066"/>
                </a:solidFill>
                <a:latin typeface="Arial" panose="020B0604020202020204" pitchFamily="34" charset="0"/>
                <a:ea typeface="楷体_GB2312" pitchFamily="49" charset="-122"/>
              </a:rPr>
              <a:t>0.6~</a:t>
            </a:r>
            <a:r>
              <a:rPr lang="zh-CN" altLang="en-US" sz="2400" b="1" kern="1200" dirty="0">
                <a:solidFill>
                  <a:srgbClr val="000066"/>
                </a:solidFill>
                <a:latin typeface="Arial" panose="020B0604020202020204" pitchFamily="34" charset="0"/>
                <a:ea typeface="楷体_GB2312" pitchFamily="49" charset="-122"/>
              </a:rPr>
              <a:t>0.</a:t>
            </a:r>
            <a:r>
              <a:rPr lang="en-US" altLang="zh-CN" sz="2400" b="1" kern="1200" dirty="0">
                <a:solidFill>
                  <a:srgbClr val="000066"/>
                </a:solidFill>
                <a:latin typeface="Arial" panose="020B0604020202020204" pitchFamily="34" charset="0"/>
                <a:ea typeface="楷体_GB2312" pitchFamily="49" charset="-122"/>
              </a:rPr>
              <a:t>8</a:t>
            </a:r>
            <a:r>
              <a:rPr lang="zh-CN" altLang="en-US" sz="2400" b="1" kern="1200" dirty="0">
                <a:solidFill>
                  <a:srgbClr val="000066"/>
                </a:solidFill>
                <a:latin typeface="Arial" panose="020B0604020202020204" pitchFamily="34" charset="0"/>
                <a:ea typeface="楷体_GB2312" pitchFamily="49" charset="-122"/>
              </a:rPr>
              <a:t>V，锗管约为</a:t>
            </a:r>
            <a:r>
              <a:rPr lang="en-US" altLang="zh-CN" sz="2400" b="1" kern="1200" dirty="0">
                <a:solidFill>
                  <a:srgbClr val="000066"/>
                </a:solidFill>
                <a:latin typeface="Arial" panose="020B0604020202020204" pitchFamily="34" charset="0"/>
                <a:ea typeface="楷体_GB2312" pitchFamily="49" charset="-122"/>
              </a:rPr>
              <a:t>0.1~</a:t>
            </a:r>
            <a:r>
              <a:rPr lang="zh-CN" altLang="en-US" sz="2400" b="1" kern="1200" dirty="0">
                <a:solidFill>
                  <a:srgbClr val="000066"/>
                </a:solidFill>
                <a:latin typeface="Arial" panose="020B0604020202020204" pitchFamily="34" charset="0"/>
                <a:ea typeface="楷体_GB2312" pitchFamily="49" charset="-122"/>
              </a:rPr>
              <a:t>0.3V。</a:t>
            </a:r>
            <a:endParaRPr lang="zh-CN" altLang="en-US" sz="2400" b="1" kern="1200" dirty="0">
              <a:solidFill>
                <a:srgbClr val="000066"/>
              </a:solidFill>
              <a:latin typeface="Arial" panose="020B0604020202020204" pitchFamily="34" charset="0"/>
              <a:ea typeface="楷体_GB2312" pitchFamily="49" charset="-122"/>
            </a:endParaRPr>
          </a:p>
        </p:txBody>
      </p:sp>
      <p:grpSp>
        <p:nvGrpSpPr>
          <p:cNvPr id="5" name="组合 4"/>
          <p:cNvGrpSpPr/>
          <p:nvPr/>
        </p:nvGrpSpPr>
        <p:grpSpPr>
          <a:xfrm>
            <a:off x="6248400" y="3581400"/>
            <a:ext cx="2524760" cy="2622550"/>
            <a:chOff x="9840" y="5640"/>
            <a:chExt cx="3976" cy="4130"/>
          </a:xfrm>
        </p:grpSpPr>
        <p:sp>
          <p:nvSpPr>
            <p:cNvPr id="100" name="文本框 99"/>
            <p:cNvSpPr txBox="1"/>
            <p:nvPr/>
          </p:nvSpPr>
          <p:spPr>
            <a:xfrm>
              <a:off x="9840" y="9240"/>
              <a:ext cx="3977"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图3-2 二极管的伏安特性</a:t>
              </a:r>
              <a:endParaRPr sz="1600">
                <a:latin typeface="Times New Roman" panose="02020603050405020304" charset="0"/>
                <a:ea typeface="宋体" panose="02010600030101010101" pitchFamily="2" charset="-122"/>
              </a:endParaRPr>
            </a:p>
          </p:txBody>
        </p:sp>
        <p:pic>
          <p:nvPicPr>
            <p:cNvPr id="9226" name="图片 2663"/>
            <p:cNvPicPr>
              <a:picLocks noChangeAspect="1"/>
            </p:cNvPicPr>
            <p:nvPr/>
          </p:nvPicPr>
          <p:blipFill>
            <a:blip r:embed="rId1"/>
            <a:stretch>
              <a:fillRect/>
            </a:stretch>
          </p:blipFill>
          <p:spPr>
            <a:xfrm>
              <a:off x="10080" y="5640"/>
              <a:ext cx="3672" cy="3424"/>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000" fill="hold">
                                          <p:stCondLst>
                                            <p:cond delay="0"/>
                                          </p:stCondLst>
                                        </p:cTn>
                                        <p:tgtEl>
                                          <p:spTgt spid="4"/>
                                        </p:tgtEl>
                                        <p:attrNameLst>
                                          <p:attrName>style.visibility</p:attrName>
                                        </p:attrNameLst>
                                      </p:cBhvr>
                                      <p:to>
                                        <p:strVal val="visible"/>
                                      </p:to>
                                    </p:set>
                                    <p:animEffect transition="in" filter="circle(in)">
                                      <p:cBhvr>
                                        <p:cTn id="7" dur="1000"/>
                                        <p:tgtEl>
                                          <p:spTgt spid="4"/>
                                        </p:tgtEl>
                                      </p:cBhvr>
                                    </p:animEffect>
                                  </p:childTnLst>
                                </p:cTn>
                              </p:par>
                            </p:childTnLst>
                          </p:cTn>
                        </p:par>
                        <p:par>
                          <p:cTn id="8" fill="hold">
                            <p:stCondLst>
                              <p:cond delay="1000"/>
                            </p:stCondLst>
                            <p:childTnLst>
                              <p:par>
                                <p:cTn id="9" presetID="16" presetClass="entr" presetSubtype="21"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arn(inVertical)">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7" name="Rectangle 3"/>
          <p:cNvSpPr>
            <a:spLocks noGrp="1"/>
          </p:cNvSpPr>
          <p:nvPr>
            <p:ph idx="1"/>
          </p:nvPr>
        </p:nvSpPr>
        <p:spPr>
          <a:xfrm>
            <a:off x="685800" y="1676400"/>
            <a:ext cx="8003540" cy="138620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一个简单的二极管与门电路如图3-3所示。图中，假设V</a:t>
            </a:r>
            <a:r>
              <a:rPr lang="zh-CN" altLang="en-US" sz="2400" b="1" kern="1200" baseline="-25000" dirty="0">
                <a:solidFill>
                  <a:srgbClr val="000066"/>
                </a:solidFill>
                <a:latin typeface="Arial" panose="020B0604020202020204" pitchFamily="34" charset="0"/>
                <a:ea typeface="楷体_GB2312" pitchFamily="49" charset="-122"/>
              </a:rPr>
              <a:t>CC</a:t>
            </a:r>
            <a:r>
              <a:rPr lang="zh-CN" altLang="en-US" sz="2400" b="1" kern="1200" dirty="0">
                <a:solidFill>
                  <a:srgbClr val="000066"/>
                </a:solidFill>
                <a:latin typeface="Arial" panose="020B0604020202020204" pitchFamily="34" charset="0"/>
                <a:ea typeface="楷体_GB2312" pitchFamily="49" charset="-122"/>
              </a:rPr>
              <a:t>为5V，输入电压只有0V和3V两种电压值，二极管正向导通压降为0.7V，则输入、输出电压之间的关系如下：</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1198880" y="1219200"/>
            <a:ext cx="311277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2. 二极管与门</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3" name="TextBox 6"/>
          <p:cNvSpPr txBox="1"/>
          <p:nvPr/>
        </p:nvSpPr>
        <p:spPr>
          <a:xfrm>
            <a:off x="25146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3.1 </a:t>
            </a:r>
            <a:r>
              <a:rPr lang="zh-CN" altLang="en-US" b="1" dirty="0">
                <a:solidFill>
                  <a:srgbClr val="FF0000"/>
                </a:solidFill>
                <a:latin typeface="黑体" panose="02010609060101010101" pitchFamily="49" charset="-122"/>
                <a:ea typeface="黑体" panose="02010609060101010101" pitchFamily="49" charset="-122"/>
              </a:rPr>
              <a:t>分立元件门电路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4" name="Rectangle 3"/>
          <p:cNvSpPr>
            <a:spLocks noGrp="1"/>
          </p:cNvSpPr>
          <p:nvPr/>
        </p:nvSpPr>
        <p:spPr>
          <a:xfrm>
            <a:off x="3124200" y="3011805"/>
            <a:ext cx="5782945" cy="50990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(1) 输入A为0V，B为0V。</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endParaRPr sz="2400" b="1" kern="1200" dirty="0">
              <a:solidFill>
                <a:srgbClr val="000066"/>
              </a:solidFill>
              <a:latin typeface="Arial" panose="020B0604020202020204" pitchFamily="34" charset="0"/>
              <a:ea typeface="楷体_GB2312" pitchFamily="49" charset="-122"/>
            </a:endParaRPr>
          </a:p>
        </p:txBody>
      </p:sp>
      <p:grpSp>
        <p:nvGrpSpPr>
          <p:cNvPr id="16" name="组合 15"/>
          <p:cNvGrpSpPr/>
          <p:nvPr/>
        </p:nvGrpSpPr>
        <p:grpSpPr>
          <a:xfrm>
            <a:off x="838200" y="3200400"/>
            <a:ext cx="2513330" cy="3155950"/>
            <a:chOff x="1320" y="5040"/>
            <a:chExt cx="3958" cy="4970"/>
          </a:xfrm>
        </p:grpSpPr>
        <p:sp>
          <p:nvSpPr>
            <p:cNvPr id="100" name="文本框 99"/>
            <p:cNvSpPr txBox="1"/>
            <p:nvPr/>
          </p:nvSpPr>
          <p:spPr>
            <a:xfrm>
              <a:off x="1320" y="9480"/>
              <a:ext cx="3564"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图3-3 二极管与门电路</a:t>
              </a:r>
              <a:endParaRPr sz="1600">
                <a:latin typeface="Times New Roman" panose="02020603050405020304" charset="0"/>
                <a:ea typeface="宋体" panose="02010600030101010101" pitchFamily="2" charset="-122"/>
              </a:endParaRPr>
            </a:p>
          </p:txBody>
        </p:sp>
        <p:pic>
          <p:nvPicPr>
            <p:cNvPr id="9227" name="图片 2664"/>
            <p:cNvPicPr>
              <a:picLocks noChangeAspect="1"/>
            </p:cNvPicPr>
            <p:nvPr/>
          </p:nvPicPr>
          <p:blipFill>
            <a:blip r:embed="rId1"/>
            <a:stretch>
              <a:fillRect/>
            </a:stretch>
          </p:blipFill>
          <p:spPr>
            <a:xfrm>
              <a:off x="1320" y="5040"/>
              <a:ext cx="3959" cy="4143"/>
            </a:xfrm>
            <a:prstGeom prst="rect">
              <a:avLst/>
            </a:prstGeom>
            <a:noFill/>
            <a:ln>
              <a:noFill/>
            </a:ln>
          </p:spPr>
        </p:pic>
      </p:grpSp>
      <p:sp>
        <p:nvSpPr>
          <p:cNvPr id="8" name="Rectangle 3"/>
          <p:cNvSpPr>
            <a:spLocks noGrp="1"/>
          </p:cNvSpPr>
          <p:nvPr/>
        </p:nvSpPr>
        <p:spPr>
          <a:xfrm>
            <a:off x="3124200" y="3469005"/>
            <a:ext cx="5782945" cy="53403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D</a:t>
            </a:r>
            <a:r>
              <a:rPr sz="2400" b="1" kern="1200" baseline="-25000" dirty="0">
                <a:solidFill>
                  <a:srgbClr val="000066"/>
                </a:solidFill>
                <a:latin typeface="Arial" panose="020B0604020202020204" pitchFamily="34" charset="0"/>
                <a:ea typeface="楷体_GB2312" pitchFamily="49" charset="-122"/>
              </a:rPr>
              <a:t>1</a:t>
            </a:r>
            <a:r>
              <a:rPr sz="2400" b="1" kern="1200" dirty="0">
                <a:solidFill>
                  <a:srgbClr val="000066"/>
                </a:solidFill>
                <a:latin typeface="Arial" panose="020B0604020202020204" pitchFamily="34" charset="0"/>
                <a:ea typeface="楷体_GB2312" pitchFamily="49" charset="-122"/>
              </a:rPr>
              <a:t>和D</a:t>
            </a:r>
            <a:r>
              <a:rPr sz="2400" b="1" kern="1200" baseline="-25000" dirty="0">
                <a:solidFill>
                  <a:srgbClr val="000066"/>
                </a:solidFill>
                <a:latin typeface="Arial" panose="020B0604020202020204" pitchFamily="34" charset="0"/>
                <a:ea typeface="楷体_GB2312" pitchFamily="49" charset="-122"/>
              </a:rPr>
              <a:t>2</a:t>
            </a:r>
            <a:r>
              <a:rPr sz="2400" b="1" kern="1200" dirty="0">
                <a:solidFill>
                  <a:srgbClr val="000066"/>
                </a:solidFill>
                <a:latin typeface="Arial" panose="020B0604020202020204" pitchFamily="34" charset="0"/>
                <a:ea typeface="楷体_GB2312" pitchFamily="49" charset="-122"/>
              </a:rPr>
              <a:t>均导通，Y 的电压为0.7V。</a:t>
            </a:r>
            <a:endParaRPr sz="2400" b="1" kern="1200" dirty="0">
              <a:solidFill>
                <a:srgbClr val="000066"/>
              </a:solidFill>
              <a:latin typeface="Arial" panose="020B0604020202020204" pitchFamily="34" charset="0"/>
              <a:ea typeface="楷体_GB2312" pitchFamily="49" charset="-122"/>
            </a:endParaRPr>
          </a:p>
        </p:txBody>
      </p:sp>
      <p:sp>
        <p:nvSpPr>
          <p:cNvPr id="9" name="Rectangle 3"/>
          <p:cNvSpPr>
            <a:spLocks noGrp="1"/>
          </p:cNvSpPr>
          <p:nvPr/>
        </p:nvSpPr>
        <p:spPr>
          <a:xfrm>
            <a:off x="3124200" y="3926205"/>
            <a:ext cx="5782945" cy="48006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(2) 输入A为0V，B为3V。</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endParaRPr sz="2400" b="1" kern="1200" dirty="0">
              <a:solidFill>
                <a:srgbClr val="000066"/>
              </a:solidFill>
              <a:latin typeface="Arial" panose="020B0604020202020204" pitchFamily="34" charset="0"/>
              <a:ea typeface="楷体_GB2312" pitchFamily="49" charset="-122"/>
            </a:endParaRPr>
          </a:p>
        </p:txBody>
      </p:sp>
      <p:sp>
        <p:nvSpPr>
          <p:cNvPr id="11" name="Rectangle 3"/>
          <p:cNvSpPr>
            <a:spLocks noGrp="1"/>
          </p:cNvSpPr>
          <p:nvPr/>
        </p:nvSpPr>
        <p:spPr>
          <a:xfrm>
            <a:off x="3133725" y="4360545"/>
            <a:ext cx="5782945" cy="59118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D</a:t>
            </a:r>
            <a:r>
              <a:rPr sz="2400" b="1" kern="1200" baseline="-25000" dirty="0">
                <a:solidFill>
                  <a:srgbClr val="000066"/>
                </a:solidFill>
                <a:latin typeface="Arial" panose="020B0604020202020204" pitchFamily="34" charset="0"/>
                <a:ea typeface="楷体_GB2312" pitchFamily="49" charset="-122"/>
              </a:rPr>
              <a:t>1</a:t>
            </a:r>
            <a:r>
              <a:rPr sz="2400" b="1" kern="1200" dirty="0">
                <a:solidFill>
                  <a:srgbClr val="000066"/>
                </a:solidFill>
                <a:latin typeface="Arial" panose="020B0604020202020204" pitchFamily="34" charset="0"/>
                <a:ea typeface="楷体_GB2312" pitchFamily="49" charset="-122"/>
              </a:rPr>
              <a:t>导通，D</a:t>
            </a:r>
            <a:r>
              <a:rPr sz="2400" b="1" kern="1200" baseline="-25000" dirty="0">
                <a:solidFill>
                  <a:srgbClr val="000066"/>
                </a:solidFill>
                <a:latin typeface="Arial" panose="020B0604020202020204" pitchFamily="34" charset="0"/>
                <a:ea typeface="楷体_GB2312" pitchFamily="49" charset="-122"/>
              </a:rPr>
              <a:t>2</a:t>
            </a:r>
            <a:r>
              <a:rPr sz="2400" b="1" kern="1200" dirty="0">
                <a:solidFill>
                  <a:srgbClr val="000066"/>
                </a:solidFill>
                <a:latin typeface="Arial" panose="020B0604020202020204" pitchFamily="34" charset="0"/>
                <a:ea typeface="楷体_GB2312" pitchFamily="49" charset="-122"/>
              </a:rPr>
              <a:t>截止，Y 的电压为0.7V。</a:t>
            </a:r>
            <a:endParaRPr sz="2400" b="1" kern="1200" dirty="0">
              <a:solidFill>
                <a:srgbClr val="000066"/>
              </a:solidFill>
              <a:latin typeface="Arial" panose="020B0604020202020204" pitchFamily="34" charset="0"/>
              <a:ea typeface="楷体_GB2312" pitchFamily="49" charset="-122"/>
            </a:endParaRPr>
          </a:p>
        </p:txBody>
      </p:sp>
      <p:sp>
        <p:nvSpPr>
          <p:cNvPr id="12" name="Rectangle 3"/>
          <p:cNvSpPr>
            <a:spLocks noGrp="1"/>
          </p:cNvSpPr>
          <p:nvPr/>
        </p:nvSpPr>
        <p:spPr>
          <a:xfrm>
            <a:off x="3124200" y="4840605"/>
            <a:ext cx="5782945" cy="55372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(3) 输入A为3V，B为 0V。</a:t>
            </a:r>
            <a:endParaRPr sz="2400" b="1" kern="1200" dirty="0">
              <a:solidFill>
                <a:srgbClr val="000066"/>
              </a:solidFill>
              <a:latin typeface="Arial" panose="020B0604020202020204" pitchFamily="34" charset="0"/>
              <a:ea typeface="楷体_GB2312" pitchFamily="49" charset="-122"/>
            </a:endParaRPr>
          </a:p>
        </p:txBody>
      </p:sp>
      <p:sp>
        <p:nvSpPr>
          <p:cNvPr id="13" name="Rectangle 3"/>
          <p:cNvSpPr>
            <a:spLocks noGrp="1"/>
          </p:cNvSpPr>
          <p:nvPr/>
        </p:nvSpPr>
        <p:spPr>
          <a:xfrm>
            <a:off x="3124200" y="5297805"/>
            <a:ext cx="5782945" cy="54800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D</a:t>
            </a:r>
            <a:r>
              <a:rPr sz="2400" b="1" kern="1200" baseline="-25000" dirty="0">
                <a:solidFill>
                  <a:srgbClr val="000066"/>
                </a:solidFill>
                <a:latin typeface="Arial" panose="020B0604020202020204" pitchFamily="34" charset="0"/>
                <a:ea typeface="楷体_GB2312" pitchFamily="49" charset="-122"/>
              </a:rPr>
              <a:t>1</a:t>
            </a:r>
            <a:r>
              <a:rPr sz="2400" b="1" kern="1200" dirty="0">
                <a:solidFill>
                  <a:srgbClr val="000066"/>
                </a:solidFill>
                <a:latin typeface="Arial" panose="020B0604020202020204" pitchFamily="34" charset="0"/>
                <a:ea typeface="楷体_GB2312" pitchFamily="49" charset="-122"/>
              </a:rPr>
              <a:t>截止，D</a:t>
            </a:r>
            <a:r>
              <a:rPr sz="2400" b="1" kern="1200" baseline="-25000" dirty="0">
                <a:solidFill>
                  <a:srgbClr val="000066"/>
                </a:solidFill>
                <a:latin typeface="Arial" panose="020B0604020202020204" pitchFamily="34" charset="0"/>
                <a:ea typeface="楷体_GB2312" pitchFamily="49" charset="-122"/>
              </a:rPr>
              <a:t>2</a:t>
            </a:r>
            <a:r>
              <a:rPr sz="2400" b="1" kern="1200" dirty="0">
                <a:solidFill>
                  <a:srgbClr val="000066"/>
                </a:solidFill>
                <a:latin typeface="Arial" panose="020B0604020202020204" pitchFamily="34" charset="0"/>
                <a:ea typeface="楷体_GB2312" pitchFamily="49" charset="-122"/>
              </a:rPr>
              <a:t>导通，Y 的电压为0.7V。</a:t>
            </a:r>
            <a:endParaRPr sz="2400" b="1" kern="1200" dirty="0">
              <a:solidFill>
                <a:srgbClr val="000066"/>
              </a:solidFill>
              <a:latin typeface="Arial" panose="020B0604020202020204" pitchFamily="34" charset="0"/>
              <a:ea typeface="楷体_GB2312" pitchFamily="49" charset="-122"/>
            </a:endParaRPr>
          </a:p>
        </p:txBody>
      </p:sp>
      <p:sp>
        <p:nvSpPr>
          <p:cNvPr id="14" name="Rectangle 3"/>
          <p:cNvSpPr>
            <a:spLocks noGrp="1"/>
          </p:cNvSpPr>
          <p:nvPr/>
        </p:nvSpPr>
        <p:spPr>
          <a:xfrm>
            <a:off x="3124200" y="5804535"/>
            <a:ext cx="5782945" cy="53657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(4) 输入A为3V，B为3V。</a:t>
            </a:r>
            <a:endParaRPr sz="2400" b="1" kern="1200" dirty="0">
              <a:solidFill>
                <a:srgbClr val="000066"/>
              </a:solidFill>
              <a:latin typeface="Arial" panose="020B0604020202020204" pitchFamily="34" charset="0"/>
              <a:ea typeface="楷体_GB2312" pitchFamily="49" charset="-122"/>
            </a:endParaRPr>
          </a:p>
        </p:txBody>
      </p:sp>
      <p:sp>
        <p:nvSpPr>
          <p:cNvPr id="15" name="Rectangle 3"/>
          <p:cNvSpPr>
            <a:spLocks noGrp="1"/>
          </p:cNvSpPr>
          <p:nvPr/>
        </p:nvSpPr>
        <p:spPr>
          <a:xfrm>
            <a:off x="3057525" y="6225540"/>
            <a:ext cx="5782945" cy="50990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D</a:t>
            </a:r>
            <a:r>
              <a:rPr sz="2400" b="1" kern="1200" baseline="-25000" dirty="0">
                <a:solidFill>
                  <a:srgbClr val="000066"/>
                </a:solidFill>
                <a:latin typeface="Arial" panose="020B0604020202020204" pitchFamily="34" charset="0"/>
                <a:ea typeface="楷体_GB2312" pitchFamily="49" charset="-122"/>
              </a:rPr>
              <a:t>1</a:t>
            </a:r>
            <a:r>
              <a:rPr sz="2400" b="1" kern="1200" dirty="0">
                <a:solidFill>
                  <a:srgbClr val="000066"/>
                </a:solidFill>
                <a:latin typeface="Arial" panose="020B0604020202020204" pitchFamily="34" charset="0"/>
                <a:ea typeface="楷体_GB2312" pitchFamily="49" charset="-122"/>
              </a:rPr>
              <a:t>和D</a:t>
            </a:r>
            <a:r>
              <a:rPr sz="2400" b="1" kern="1200" baseline="-25000" dirty="0">
                <a:solidFill>
                  <a:srgbClr val="000066"/>
                </a:solidFill>
                <a:latin typeface="Arial" panose="020B0604020202020204" pitchFamily="34" charset="0"/>
                <a:ea typeface="楷体_GB2312" pitchFamily="49" charset="-122"/>
              </a:rPr>
              <a:t>2</a:t>
            </a:r>
            <a:r>
              <a:rPr sz="2400" b="1" kern="1200" dirty="0">
                <a:solidFill>
                  <a:srgbClr val="000066"/>
                </a:solidFill>
                <a:latin typeface="Arial" panose="020B0604020202020204" pitchFamily="34" charset="0"/>
                <a:ea typeface="楷体_GB2312" pitchFamily="49" charset="-122"/>
              </a:rPr>
              <a:t>均导通，Y 的电压为3.7V。</a:t>
            </a:r>
            <a:endParaRPr sz="2400" b="1" kern="1200" dirty="0">
              <a:solidFill>
                <a:srgbClr val="000066"/>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9" presetClass="entr" presetSubtype="0" decel="10000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 calcmode="lin" valueType="num">
                                      <p:cBhvr>
                                        <p:cTn id="15" dur="500" fill="hold"/>
                                        <p:tgtEl>
                                          <p:spTgt spid="8"/>
                                        </p:tgtEl>
                                        <p:attrNameLst>
                                          <p:attrName>style.rotation</p:attrName>
                                        </p:attrNameLst>
                                      </p:cBhvr>
                                      <p:tavLst>
                                        <p:tav tm="0">
                                          <p:val>
                                            <p:fltVal val="360"/>
                                          </p:val>
                                        </p:tav>
                                        <p:tav tm="100000">
                                          <p:val>
                                            <p:fltVal val="0"/>
                                          </p:val>
                                        </p:tav>
                                      </p:tavLst>
                                    </p:anim>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1+#ppt_w/2"/>
                                          </p:val>
                                        </p:tav>
                                        <p:tav tm="100000">
                                          <p:val>
                                            <p:strVal val="#ppt_x"/>
                                          </p:val>
                                        </p:tav>
                                      </p:tavLst>
                                    </p:anim>
                                    <p:anim calcmode="lin" valueType="num">
                                      <p:cBhvr additive="base">
                                        <p:cTn id="22"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linds(horizontal)">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47"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1000"/>
                                        <p:tgtEl>
                                          <p:spTgt spid="12"/>
                                        </p:tgtEl>
                                      </p:cBhvr>
                                    </p:animEffect>
                                    <p:anim calcmode="lin" valueType="num">
                                      <p:cBhvr>
                                        <p:cTn id="33" dur="1000" fill="hold"/>
                                        <p:tgtEl>
                                          <p:spTgt spid="12"/>
                                        </p:tgtEl>
                                        <p:attrNameLst>
                                          <p:attrName>ppt_x</p:attrName>
                                        </p:attrNameLst>
                                      </p:cBhvr>
                                      <p:tavLst>
                                        <p:tav tm="0">
                                          <p:val>
                                            <p:strVal val="#ppt_x"/>
                                          </p:val>
                                        </p:tav>
                                        <p:tav tm="100000">
                                          <p:val>
                                            <p:strVal val="#ppt_x"/>
                                          </p:val>
                                        </p:tav>
                                      </p:tavLst>
                                    </p:anim>
                                    <p:anim calcmode="lin" valueType="num">
                                      <p:cBhvr>
                                        <p:cTn id="3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50" presetClass="entr" presetSubtype="0" decel="10000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p:cTn id="39" dur="1000" fill="hold"/>
                                        <p:tgtEl>
                                          <p:spTgt spid="13"/>
                                        </p:tgtEl>
                                        <p:attrNameLst>
                                          <p:attrName>ppt_w</p:attrName>
                                        </p:attrNameLst>
                                      </p:cBhvr>
                                      <p:tavLst>
                                        <p:tav tm="0">
                                          <p:val>
                                            <p:strVal val="#ppt_w+.3"/>
                                          </p:val>
                                        </p:tav>
                                        <p:tav tm="100000">
                                          <p:val>
                                            <p:strVal val="#ppt_w"/>
                                          </p:val>
                                        </p:tav>
                                      </p:tavLst>
                                    </p:anim>
                                    <p:anim calcmode="lin" valueType="num">
                                      <p:cBhvr>
                                        <p:cTn id="40" dur="1000" fill="hold"/>
                                        <p:tgtEl>
                                          <p:spTgt spid="13"/>
                                        </p:tgtEl>
                                        <p:attrNameLst>
                                          <p:attrName>ppt_h</p:attrName>
                                        </p:attrNameLst>
                                      </p:cBhvr>
                                      <p:tavLst>
                                        <p:tav tm="0">
                                          <p:val>
                                            <p:strVal val="#ppt_h"/>
                                          </p:val>
                                        </p:tav>
                                        <p:tav tm="100000">
                                          <p:val>
                                            <p:strVal val="#ppt_h"/>
                                          </p:val>
                                        </p:tav>
                                      </p:tavLst>
                                    </p:anim>
                                    <p:animEffect transition="in" filter="fade">
                                      <p:cBhvr>
                                        <p:cTn id="41" dur="1000"/>
                                        <p:tgtEl>
                                          <p:spTgt spid="13"/>
                                        </p:tgtEl>
                                      </p:cBhvr>
                                    </p:animEffect>
                                  </p:childTnLst>
                                </p:cTn>
                              </p:par>
                            </p:childTnLst>
                          </p:cTn>
                        </p:par>
                      </p:childTnLst>
                    </p:cTn>
                  </p:par>
                  <p:par>
                    <p:cTn id="42" fill="hold">
                      <p:stCondLst>
                        <p:cond delay="indefinite"/>
                      </p:stCondLst>
                      <p:childTnLst>
                        <p:par>
                          <p:cTn id="43" fill="hold">
                            <p:stCondLst>
                              <p:cond delay="0"/>
                            </p:stCondLst>
                            <p:childTnLst>
                              <p:par>
                                <p:cTn id="44" presetID="45" presetClass="entr" presetSubtype="0" fill="hold" grpId="0" nodeType="clickEffect">
                                  <p:stCondLst>
                                    <p:cond delay="0"/>
                                  </p:stCondLst>
                                  <p:childTnLst>
                                    <p:set>
                                      <p:cBhvr>
                                        <p:cTn id="45" dur="1000" fill="hold">
                                          <p:stCondLst>
                                            <p:cond delay="0"/>
                                          </p:stCondLst>
                                        </p:cTn>
                                        <p:tgtEl>
                                          <p:spTgt spid="14"/>
                                        </p:tgtEl>
                                        <p:attrNameLst>
                                          <p:attrName>style.visibility</p:attrName>
                                        </p:attrNameLst>
                                      </p:cBhvr>
                                      <p:to>
                                        <p:strVal val="visible"/>
                                      </p:to>
                                    </p:set>
                                    <p:animEffect transition="in" filter="fade">
                                      <p:cBhvr>
                                        <p:cTn id="46" dur="1000"/>
                                        <p:tgtEl>
                                          <p:spTgt spid="14"/>
                                        </p:tgtEl>
                                      </p:cBhvr>
                                    </p:animEffect>
                                    <p:anim calcmode="lin" valueType="num">
                                      <p:cBhvr>
                                        <p:cTn id="47" dur="1000" fill="hold"/>
                                        <p:tgtEl>
                                          <p:spTgt spid="14"/>
                                        </p:tgtEl>
                                        <p:attrNameLst>
                                          <p:attrName>ppt_w</p:attrName>
                                        </p:attrNameLst>
                                      </p:cBhvr>
                                      <p:tavLst>
                                        <p:tav tm="0" fmla="#ppt_w*sin(2.5*pi*$)">
                                          <p:val>
                                            <p:fltVal val="0"/>
                                          </p:val>
                                        </p:tav>
                                        <p:tav tm="100000">
                                          <p:val>
                                            <p:fltVal val="1"/>
                                          </p:val>
                                        </p:tav>
                                      </p:tavLst>
                                    </p:anim>
                                    <p:anim calcmode="lin" valueType="num">
                                      <p:cBhvr>
                                        <p:cTn id="48" dur="10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anim calcmode="lin" valueType="num">
                                      <p:cBhvr additive="base">
                                        <p:cTn id="53" dur="500" fill="hold"/>
                                        <p:tgtEl>
                                          <p:spTgt spid="15"/>
                                        </p:tgtEl>
                                        <p:attrNameLst>
                                          <p:attrName>ppt_x</p:attrName>
                                        </p:attrNameLst>
                                      </p:cBhvr>
                                      <p:tavLst>
                                        <p:tav tm="0">
                                          <p:val>
                                            <p:strVal val="#ppt_x"/>
                                          </p:val>
                                        </p:tav>
                                        <p:tav tm="100000">
                                          <p:val>
                                            <p:strVal val="#ppt_x"/>
                                          </p:val>
                                        </p:tav>
                                      </p:tavLst>
                                    </p:anim>
                                    <p:anim calcmode="lin" valueType="num">
                                      <p:cBhvr additive="base">
                                        <p:cTn id="5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9" grpId="0"/>
      <p:bldP spid="11" grpId="0"/>
      <p:bldP spid="12" grpId="0"/>
      <p:bldP spid="13" grpId="0"/>
      <p:bldP spid="14" grpId="0"/>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7" name="Rectangle 3"/>
          <p:cNvSpPr>
            <a:spLocks noGrp="1"/>
          </p:cNvSpPr>
          <p:nvPr>
            <p:ph idx="1"/>
          </p:nvPr>
        </p:nvSpPr>
        <p:spPr>
          <a:xfrm>
            <a:off x="685800" y="1219200"/>
            <a:ext cx="8003540" cy="184023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二极管输入和输出电压之间的关系如表3-1所示。若0~0.8V为低电平，2~5V为高电平，低电平和高电平分别用逻辑0和逻辑1表示，则表3-1对应的真值表为3-2所示。可知，输出和输入之间是一种与逻辑关系。</a:t>
            </a:r>
            <a:endParaRPr lang="zh-CN" altLang="en-US" sz="2400" b="1" kern="1200" dirty="0">
              <a:solidFill>
                <a:srgbClr val="000066"/>
              </a:solidFill>
              <a:latin typeface="Arial" panose="020B0604020202020204" pitchFamily="34" charset="0"/>
              <a:ea typeface="楷体_GB2312" pitchFamily="49" charset="-122"/>
            </a:endParaRPr>
          </a:p>
        </p:txBody>
      </p:sp>
      <p:sp>
        <p:nvSpPr>
          <p:cNvPr id="3" name="TextBox 6"/>
          <p:cNvSpPr txBox="1"/>
          <p:nvPr/>
        </p:nvSpPr>
        <p:spPr>
          <a:xfrm>
            <a:off x="25146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3.1 </a:t>
            </a:r>
            <a:r>
              <a:rPr lang="zh-CN" altLang="en-US" b="1" dirty="0">
                <a:solidFill>
                  <a:srgbClr val="FF0000"/>
                </a:solidFill>
                <a:latin typeface="黑体" panose="02010609060101010101" pitchFamily="49" charset="-122"/>
                <a:ea typeface="黑体" panose="02010609060101010101" pitchFamily="49" charset="-122"/>
              </a:rPr>
              <a:t>分立元件门电路</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6" name="图片 5" descr="8B$K%GAVN`M[%FY60G{[VZE"/>
          <p:cNvPicPr>
            <a:picLocks noChangeAspect="1"/>
          </p:cNvPicPr>
          <p:nvPr/>
        </p:nvPicPr>
        <p:blipFill>
          <a:blip r:embed="rId1"/>
          <a:srcRect r="732" b="2958"/>
          <a:stretch>
            <a:fillRect/>
          </a:stretch>
        </p:blipFill>
        <p:spPr>
          <a:xfrm>
            <a:off x="885190" y="5029200"/>
            <a:ext cx="7662545" cy="1708150"/>
          </a:xfrm>
          <a:prstGeom prst="rect">
            <a:avLst/>
          </a:prstGeom>
        </p:spPr>
      </p:pic>
      <p:pic>
        <p:nvPicPr>
          <p:cNvPr id="2" name="图片 1" descr="15]{GUK]WNOFQ5(Y{K7Q5PG"/>
          <p:cNvPicPr>
            <a:picLocks noChangeAspect="1"/>
          </p:cNvPicPr>
          <p:nvPr/>
        </p:nvPicPr>
        <p:blipFill>
          <a:blip r:embed="rId2"/>
          <a:stretch>
            <a:fillRect/>
          </a:stretch>
        </p:blipFill>
        <p:spPr>
          <a:xfrm>
            <a:off x="976630" y="3048000"/>
            <a:ext cx="7588885" cy="20231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5"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decel="50000" fill="hold">
                                          <p:stCondLst>
                                            <p:cond delay="0"/>
                                          </p:stCondLst>
                                        </p:cTn>
                                        <p:tgtEl>
                                          <p:spTgt spid="6"/>
                                        </p:tgtEl>
                                        <p:attrNameLst>
                                          <p:attrName>style.rotation</p:attrName>
                                        </p:attrNameLst>
                                      </p:cBhvr>
                                      <p:tavLst>
                                        <p:tav tm="0">
                                          <p:val>
                                            <p:fltVal val="-90"/>
                                          </p:val>
                                        </p:tav>
                                        <p:tav tm="100000">
                                          <p:val>
                                            <p:fltVal val="0"/>
                                          </p:val>
                                        </p:tav>
                                      </p:tavLst>
                                    </p:anim>
                                    <p:anim calcmode="lin" valueType="num">
                                      <p:cBhvr>
                                        <p:cTn id="14" dur="500" decel="50000" fill="hold">
                                          <p:stCondLst>
                                            <p:cond delay="0"/>
                                          </p:stCondLst>
                                        </p:cTn>
                                        <p:tgtEl>
                                          <p:spTgt spid="6"/>
                                        </p:tgtEl>
                                        <p:attrNameLst>
                                          <p:attrName>ppt_w</p:attrName>
                                        </p:attrNameLst>
                                      </p:cBhvr>
                                      <p:tavLst>
                                        <p:tav tm="0">
                                          <p:val>
                                            <p:strVal val="#ppt_w"/>
                                          </p:val>
                                        </p:tav>
                                        <p:tav tm="100000">
                                          <p:val>
                                            <p:strVal val="#ppt_w*.05"/>
                                          </p:val>
                                        </p:tav>
                                      </p:tavLst>
                                    </p:anim>
                                    <p:anim calcmode="lin" valueType="num">
                                      <p:cBhvr>
                                        <p:cTn id="15" dur="500" accel="50000" fill="hold">
                                          <p:stCondLst>
                                            <p:cond delay="500"/>
                                          </p:stCondLst>
                                        </p:cTn>
                                        <p:tgtEl>
                                          <p:spTgt spid="6"/>
                                        </p:tgtEl>
                                        <p:attrNameLst>
                                          <p:attrName>ppt_w</p:attrName>
                                        </p:attrNameLst>
                                      </p:cBhvr>
                                      <p:tavLst>
                                        <p:tav tm="0">
                                          <p:val>
                                            <p:strVal val="#ppt_w*.05"/>
                                          </p:val>
                                        </p:tav>
                                        <p:tav tm="100000">
                                          <p:val>
                                            <p:strVal val="#ppt_w"/>
                                          </p:val>
                                        </p:tav>
                                      </p:tavLst>
                                    </p:anim>
                                    <p:anim calcmode="lin" valueType="num">
                                      <p:cBhvr>
                                        <p:cTn id="16" dur="1000" fill="hold"/>
                                        <p:tgtEl>
                                          <p:spTgt spid="6"/>
                                        </p:tgtEl>
                                        <p:attrNameLst>
                                          <p:attrName>ppt_h</p:attrName>
                                        </p:attrNameLst>
                                      </p:cBhvr>
                                      <p:tavLst>
                                        <p:tav tm="0">
                                          <p:val>
                                            <p:strVal val="#ppt_h"/>
                                          </p:val>
                                        </p:tav>
                                        <p:tav tm="100000">
                                          <p:val>
                                            <p:strVal val="#ppt_h"/>
                                          </p:val>
                                        </p:tav>
                                      </p:tavLst>
                                    </p:anim>
                                    <p:anim calcmode="lin" valueType="num">
                                      <p:cBhvr>
                                        <p:cTn id="17" dur="500" decel="50000" fill="hold">
                                          <p:stCondLst>
                                            <p:cond delay="0"/>
                                          </p:stCondLst>
                                        </p:cTn>
                                        <p:tgtEl>
                                          <p:spTgt spid="6"/>
                                        </p:tgtEl>
                                        <p:attrNameLst>
                                          <p:attrName>ppt_x</p:attrName>
                                        </p:attrNameLst>
                                      </p:cBhvr>
                                      <p:tavLst>
                                        <p:tav tm="0">
                                          <p:val>
                                            <p:strVal val="#ppt_x+.4"/>
                                          </p:val>
                                        </p:tav>
                                        <p:tav tm="100000">
                                          <p:val>
                                            <p:strVal val="#ppt_x"/>
                                          </p:val>
                                        </p:tav>
                                      </p:tavLst>
                                    </p:anim>
                                    <p:anim calcmode="lin" valueType="num">
                                      <p:cBhvr>
                                        <p:cTn id="18" dur="500" decel="50000" fill="hold">
                                          <p:stCondLst>
                                            <p:cond delay="0"/>
                                          </p:stCondLst>
                                        </p:cTn>
                                        <p:tgtEl>
                                          <p:spTgt spid="6"/>
                                        </p:tgtEl>
                                        <p:attrNameLst>
                                          <p:attrName>ppt_y</p:attrName>
                                        </p:attrNameLst>
                                      </p:cBhvr>
                                      <p:tavLst>
                                        <p:tav tm="0">
                                          <p:val>
                                            <p:strVal val="#ppt_y-.2"/>
                                          </p:val>
                                        </p:tav>
                                        <p:tav tm="100000">
                                          <p:val>
                                            <p:strVal val="#ppt_y+.1"/>
                                          </p:val>
                                        </p:tav>
                                      </p:tavLst>
                                    </p:anim>
                                    <p:anim calcmode="lin" valueType="num">
                                      <p:cBhvr>
                                        <p:cTn id="19" dur="500" accel="50000" fill="hold">
                                          <p:stCondLst>
                                            <p:cond delay="500"/>
                                          </p:stCondLst>
                                        </p:cTn>
                                        <p:tgtEl>
                                          <p:spTgt spid="6"/>
                                        </p:tgtEl>
                                        <p:attrNameLst>
                                          <p:attrName>ppt_y</p:attrName>
                                        </p:attrNameLst>
                                      </p:cBhvr>
                                      <p:tavLst>
                                        <p:tav tm="0">
                                          <p:val>
                                            <p:strVal val="#ppt_y+.1"/>
                                          </p:val>
                                        </p:tav>
                                        <p:tav tm="100000">
                                          <p:val>
                                            <p:strVal val="#ppt_y"/>
                                          </p:val>
                                        </p:tav>
                                      </p:tavLst>
                                    </p:anim>
                                    <p:animEffect transition="in" filter="fade">
                                      <p:cBhvr>
                                        <p:cTn id="20" dur="1000" decel="50000">
                                          <p:stCondLst>
                                            <p:cond delay="0"/>
                                          </p:stCondLst>
                                        </p:cTn>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7" name="Rectangle 3"/>
          <p:cNvSpPr>
            <a:spLocks noGrp="1"/>
          </p:cNvSpPr>
          <p:nvPr>
            <p:ph idx="1"/>
          </p:nvPr>
        </p:nvSpPr>
        <p:spPr>
          <a:xfrm>
            <a:off x="685800" y="1676400"/>
            <a:ext cx="8003540" cy="94805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一个简单的二极管或门电路如图3-5所示。由图3-5可知，输入电压信号A、B和输出电信号压Y之间的关系如下：</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1198880" y="1219200"/>
            <a:ext cx="311277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3. 二极管</a:t>
            </a:r>
            <a:r>
              <a:rPr lang="zh-CN" altLang="en-US" sz="2400" b="1" kern="1200" dirty="0">
                <a:solidFill>
                  <a:srgbClr val="FE09D6"/>
                </a:solidFill>
                <a:latin typeface="Times New Roman" panose="02020603050405020304" charset="0"/>
                <a:ea typeface="楷体_GB2312" pitchFamily="49" charset="-122"/>
                <a:cs typeface="Times New Roman" panose="02020603050405020304" charset="0"/>
              </a:rPr>
              <a:t>或</a:t>
            </a:r>
            <a:r>
              <a:rPr lang="en-US" sz="2400" b="1" kern="1200" dirty="0">
                <a:solidFill>
                  <a:srgbClr val="FE09D6"/>
                </a:solidFill>
                <a:latin typeface="Times New Roman" panose="02020603050405020304" charset="0"/>
                <a:ea typeface="楷体_GB2312" pitchFamily="49" charset="-122"/>
                <a:cs typeface="Times New Roman" panose="02020603050405020304" charset="0"/>
              </a:rPr>
              <a:t>门</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3" name="TextBox 6"/>
          <p:cNvSpPr txBox="1"/>
          <p:nvPr/>
        </p:nvSpPr>
        <p:spPr>
          <a:xfrm>
            <a:off x="25146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3.1 </a:t>
            </a:r>
            <a:r>
              <a:rPr lang="zh-CN" altLang="en-US" b="1" dirty="0">
                <a:solidFill>
                  <a:srgbClr val="FF0000"/>
                </a:solidFill>
                <a:latin typeface="黑体" panose="02010609060101010101" pitchFamily="49" charset="-122"/>
                <a:ea typeface="黑体" panose="02010609060101010101" pitchFamily="49" charset="-122"/>
              </a:rPr>
              <a:t>分立元件门电路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4" name="Rectangle 3"/>
          <p:cNvSpPr>
            <a:spLocks noGrp="1"/>
          </p:cNvSpPr>
          <p:nvPr/>
        </p:nvSpPr>
        <p:spPr>
          <a:xfrm>
            <a:off x="3124200" y="2630805"/>
            <a:ext cx="5782945" cy="50990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(1) 输入A为0V，B为0V。</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endParaRPr sz="2400" b="1" kern="1200" dirty="0">
              <a:solidFill>
                <a:srgbClr val="000066"/>
              </a:solidFill>
              <a:latin typeface="Arial" panose="020B0604020202020204" pitchFamily="34" charset="0"/>
              <a:ea typeface="楷体_GB2312" pitchFamily="49" charset="-122"/>
            </a:endParaRPr>
          </a:p>
        </p:txBody>
      </p:sp>
      <p:sp>
        <p:nvSpPr>
          <p:cNvPr id="100" name="文本框 99"/>
          <p:cNvSpPr txBox="1"/>
          <p:nvPr/>
        </p:nvSpPr>
        <p:spPr>
          <a:xfrm>
            <a:off x="838200" y="6019800"/>
            <a:ext cx="2263140" cy="337185"/>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图3-5 二极管或门电路</a:t>
            </a:r>
            <a:endParaRPr sz="1600">
              <a:latin typeface="Times New Roman" panose="02020603050405020304" charset="0"/>
              <a:ea typeface="宋体" panose="02010600030101010101" pitchFamily="2" charset="-122"/>
            </a:endParaRPr>
          </a:p>
        </p:txBody>
      </p:sp>
      <p:sp>
        <p:nvSpPr>
          <p:cNvPr id="8" name="Rectangle 3"/>
          <p:cNvSpPr>
            <a:spLocks noGrp="1"/>
          </p:cNvSpPr>
          <p:nvPr/>
        </p:nvSpPr>
        <p:spPr>
          <a:xfrm>
            <a:off x="3124200" y="3124200"/>
            <a:ext cx="5782945" cy="53403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D</a:t>
            </a:r>
            <a:r>
              <a:rPr sz="2400" b="1" kern="1200" baseline="-25000" dirty="0">
                <a:solidFill>
                  <a:srgbClr val="000066"/>
                </a:solidFill>
                <a:latin typeface="Arial" panose="020B0604020202020204" pitchFamily="34" charset="0"/>
                <a:ea typeface="楷体_GB2312" pitchFamily="49" charset="-122"/>
              </a:rPr>
              <a:t>1</a:t>
            </a:r>
            <a:r>
              <a:rPr sz="2400" b="1" kern="1200" dirty="0">
                <a:solidFill>
                  <a:srgbClr val="000066"/>
                </a:solidFill>
                <a:latin typeface="Arial" panose="020B0604020202020204" pitchFamily="34" charset="0"/>
                <a:ea typeface="楷体_GB2312" pitchFamily="49" charset="-122"/>
              </a:rPr>
              <a:t>和D</a:t>
            </a:r>
            <a:r>
              <a:rPr sz="2400" b="1" kern="1200" baseline="-25000" dirty="0">
                <a:solidFill>
                  <a:srgbClr val="000066"/>
                </a:solidFill>
                <a:latin typeface="Arial" panose="020B0604020202020204" pitchFamily="34" charset="0"/>
                <a:ea typeface="楷体_GB2312" pitchFamily="49" charset="-122"/>
              </a:rPr>
              <a:t>2</a:t>
            </a:r>
            <a:r>
              <a:rPr sz="2400" b="1" kern="1200" dirty="0">
                <a:solidFill>
                  <a:srgbClr val="000066"/>
                </a:solidFill>
                <a:latin typeface="Arial" panose="020B0604020202020204" pitchFamily="34" charset="0"/>
                <a:ea typeface="楷体_GB2312" pitchFamily="49" charset="-122"/>
              </a:rPr>
              <a:t>均截止，Y 的电压为0V。</a:t>
            </a:r>
            <a:endParaRPr sz="2400" b="1" kern="1200" dirty="0">
              <a:solidFill>
                <a:srgbClr val="000066"/>
              </a:solidFill>
              <a:latin typeface="Arial" panose="020B0604020202020204" pitchFamily="34" charset="0"/>
              <a:ea typeface="楷体_GB2312" pitchFamily="49" charset="-122"/>
            </a:endParaRPr>
          </a:p>
        </p:txBody>
      </p:sp>
      <p:sp>
        <p:nvSpPr>
          <p:cNvPr id="9" name="Rectangle 3"/>
          <p:cNvSpPr>
            <a:spLocks noGrp="1"/>
          </p:cNvSpPr>
          <p:nvPr/>
        </p:nvSpPr>
        <p:spPr>
          <a:xfrm>
            <a:off x="3124200" y="3621405"/>
            <a:ext cx="5782945" cy="48006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(2) 输入A为0V，B为3V。</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endParaRPr sz="2400" b="1" kern="1200" dirty="0">
              <a:solidFill>
                <a:srgbClr val="000066"/>
              </a:solidFill>
              <a:latin typeface="Arial" panose="020B0604020202020204" pitchFamily="34" charset="0"/>
              <a:ea typeface="楷体_GB2312" pitchFamily="49" charset="-122"/>
            </a:endParaRPr>
          </a:p>
        </p:txBody>
      </p:sp>
      <p:sp>
        <p:nvSpPr>
          <p:cNvPr id="11" name="Rectangle 3"/>
          <p:cNvSpPr>
            <a:spLocks noGrp="1"/>
          </p:cNvSpPr>
          <p:nvPr/>
        </p:nvSpPr>
        <p:spPr>
          <a:xfrm>
            <a:off x="3133725" y="4131945"/>
            <a:ext cx="5782945" cy="59118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D</a:t>
            </a:r>
            <a:r>
              <a:rPr sz="2400" b="1" kern="1200" baseline="-25000" dirty="0">
                <a:solidFill>
                  <a:srgbClr val="000066"/>
                </a:solidFill>
                <a:latin typeface="Arial" panose="020B0604020202020204" pitchFamily="34" charset="0"/>
                <a:ea typeface="楷体_GB2312" pitchFamily="49" charset="-122"/>
              </a:rPr>
              <a:t>1</a:t>
            </a:r>
            <a:r>
              <a:rPr sz="2400" b="1" kern="1200" dirty="0">
                <a:solidFill>
                  <a:srgbClr val="000066"/>
                </a:solidFill>
                <a:latin typeface="Arial" panose="020B0604020202020204" pitchFamily="34" charset="0"/>
                <a:ea typeface="楷体_GB2312" pitchFamily="49" charset="-122"/>
              </a:rPr>
              <a:t>截止，D</a:t>
            </a:r>
            <a:r>
              <a:rPr sz="2400" b="1" kern="1200" baseline="-25000" dirty="0">
                <a:solidFill>
                  <a:srgbClr val="000066"/>
                </a:solidFill>
                <a:latin typeface="Arial" panose="020B0604020202020204" pitchFamily="34" charset="0"/>
                <a:ea typeface="楷体_GB2312" pitchFamily="49" charset="-122"/>
              </a:rPr>
              <a:t>2</a:t>
            </a:r>
            <a:r>
              <a:rPr sz="2400" b="1" kern="1200" dirty="0">
                <a:solidFill>
                  <a:srgbClr val="000066"/>
                </a:solidFill>
                <a:latin typeface="Arial" panose="020B0604020202020204" pitchFamily="34" charset="0"/>
                <a:ea typeface="楷体_GB2312" pitchFamily="49" charset="-122"/>
              </a:rPr>
              <a:t>导通，Y 的电压为2.3V。</a:t>
            </a:r>
            <a:endParaRPr sz="2400" b="1" kern="1200" dirty="0">
              <a:solidFill>
                <a:srgbClr val="000066"/>
              </a:solidFill>
              <a:latin typeface="Arial" panose="020B0604020202020204" pitchFamily="34" charset="0"/>
              <a:ea typeface="楷体_GB2312" pitchFamily="49" charset="-122"/>
            </a:endParaRPr>
          </a:p>
        </p:txBody>
      </p:sp>
      <p:sp>
        <p:nvSpPr>
          <p:cNvPr id="12" name="Rectangle 3"/>
          <p:cNvSpPr>
            <a:spLocks noGrp="1"/>
          </p:cNvSpPr>
          <p:nvPr/>
        </p:nvSpPr>
        <p:spPr>
          <a:xfrm>
            <a:off x="3124200" y="4612005"/>
            <a:ext cx="5782945" cy="55372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(3) 输入A为3V，B为 0V。</a:t>
            </a:r>
            <a:endParaRPr sz="2400" b="1" kern="1200" dirty="0">
              <a:solidFill>
                <a:srgbClr val="000066"/>
              </a:solidFill>
              <a:latin typeface="Arial" panose="020B0604020202020204" pitchFamily="34" charset="0"/>
              <a:ea typeface="楷体_GB2312" pitchFamily="49" charset="-122"/>
            </a:endParaRPr>
          </a:p>
        </p:txBody>
      </p:sp>
      <p:sp>
        <p:nvSpPr>
          <p:cNvPr id="13" name="Rectangle 3"/>
          <p:cNvSpPr>
            <a:spLocks noGrp="1"/>
          </p:cNvSpPr>
          <p:nvPr/>
        </p:nvSpPr>
        <p:spPr>
          <a:xfrm>
            <a:off x="3124200" y="5105400"/>
            <a:ext cx="5782945" cy="54800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D</a:t>
            </a:r>
            <a:r>
              <a:rPr sz="2400" b="1" kern="1200" baseline="-25000" dirty="0">
                <a:solidFill>
                  <a:srgbClr val="000066"/>
                </a:solidFill>
                <a:latin typeface="Arial" panose="020B0604020202020204" pitchFamily="34" charset="0"/>
                <a:ea typeface="楷体_GB2312" pitchFamily="49" charset="-122"/>
              </a:rPr>
              <a:t>1</a:t>
            </a:r>
            <a:r>
              <a:rPr sz="2400" b="1" kern="1200" dirty="0">
                <a:solidFill>
                  <a:srgbClr val="000066"/>
                </a:solidFill>
                <a:latin typeface="Arial" panose="020B0604020202020204" pitchFamily="34" charset="0"/>
                <a:ea typeface="楷体_GB2312" pitchFamily="49" charset="-122"/>
              </a:rPr>
              <a:t>导通，D</a:t>
            </a:r>
            <a:r>
              <a:rPr sz="2400" b="1" kern="1200" baseline="-25000" dirty="0">
                <a:solidFill>
                  <a:srgbClr val="000066"/>
                </a:solidFill>
                <a:latin typeface="Arial" panose="020B0604020202020204" pitchFamily="34" charset="0"/>
                <a:ea typeface="楷体_GB2312" pitchFamily="49" charset="-122"/>
              </a:rPr>
              <a:t>2</a:t>
            </a:r>
            <a:r>
              <a:rPr sz="2400" b="1" kern="1200" dirty="0">
                <a:solidFill>
                  <a:srgbClr val="000066"/>
                </a:solidFill>
                <a:latin typeface="Arial" panose="020B0604020202020204" pitchFamily="34" charset="0"/>
                <a:ea typeface="楷体_GB2312" pitchFamily="49" charset="-122"/>
              </a:rPr>
              <a:t>截止，Y 的电压为2.3V。</a:t>
            </a:r>
            <a:endParaRPr sz="2400" b="1" kern="1200" dirty="0">
              <a:solidFill>
                <a:srgbClr val="000066"/>
              </a:solidFill>
              <a:latin typeface="Arial" panose="020B0604020202020204" pitchFamily="34" charset="0"/>
              <a:ea typeface="楷体_GB2312" pitchFamily="49" charset="-122"/>
            </a:endParaRPr>
          </a:p>
        </p:txBody>
      </p:sp>
      <p:sp>
        <p:nvSpPr>
          <p:cNvPr id="14" name="Rectangle 3"/>
          <p:cNvSpPr>
            <a:spLocks noGrp="1"/>
          </p:cNvSpPr>
          <p:nvPr/>
        </p:nvSpPr>
        <p:spPr>
          <a:xfrm>
            <a:off x="3124200" y="5652135"/>
            <a:ext cx="5782945" cy="53657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(4) 输入A为3V，B为3V。</a:t>
            </a:r>
            <a:endParaRPr sz="2400" b="1" kern="1200" dirty="0">
              <a:solidFill>
                <a:srgbClr val="000066"/>
              </a:solidFill>
              <a:latin typeface="Arial" panose="020B0604020202020204" pitchFamily="34" charset="0"/>
              <a:ea typeface="楷体_GB2312" pitchFamily="49" charset="-122"/>
            </a:endParaRPr>
          </a:p>
        </p:txBody>
      </p:sp>
      <p:sp>
        <p:nvSpPr>
          <p:cNvPr id="15" name="Rectangle 3"/>
          <p:cNvSpPr>
            <a:spLocks noGrp="1"/>
          </p:cNvSpPr>
          <p:nvPr/>
        </p:nvSpPr>
        <p:spPr>
          <a:xfrm>
            <a:off x="3057525" y="6149340"/>
            <a:ext cx="5782945" cy="50990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D</a:t>
            </a:r>
            <a:r>
              <a:rPr sz="2400" b="1" kern="1200" baseline="-25000" dirty="0">
                <a:solidFill>
                  <a:srgbClr val="000066"/>
                </a:solidFill>
                <a:latin typeface="Arial" panose="020B0604020202020204" pitchFamily="34" charset="0"/>
                <a:ea typeface="楷体_GB2312" pitchFamily="49" charset="-122"/>
              </a:rPr>
              <a:t>1</a:t>
            </a:r>
            <a:r>
              <a:rPr sz="2400" b="1" kern="1200" dirty="0">
                <a:solidFill>
                  <a:srgbClr val="000066"/>
                </a:solidFill>
                <a:latin typeface="Arial" panose="020B0604020202020204" pitchFamily="34" charset="0"/>
                <a:ea typeface="楷体_GB2312" pitchFamily="49" charset="-122"/>
              </a:rPr>
              <a:t>和D</a:t>
            </a:r>
            <a:r>
              <a:rPr sz="2400" b="1" kern="1200" baseline="-25000" dirty="0">
                <a:solidFill>
                  <a:srgbClr val="000066"/>
                </a:solidFill>
                <a:latin typeface="Arial" panose="020B0604020202020204" pitchFamily="34" charset="0"/>
                <a:ea typeface="楷体_GB2312" pitchFamily="49" charset="-122"/>
              </a:rPr>
              <a:t>2</a:t>
            </a:r>
            <a:r>
              <a:rPr sz="2400" b="1" kern="1200" dirty="0">
                <a:solidFill>
                  <a:srgbClr val="000066"/>
                </a:solidFill>
                <a:latin typeface="Arial" panose="020B0604020202020204" pitchFamily="34" charset="0"/>
                <a:ea typeface="楷体_GB2312" pitchFamily="49" charset="-122"/>
              </a:rPr>
              <a:t>均导通，Y 的电压为2.3V。</a:t>
            </a:r>
            <a:endParaRPr sz="2400" b="1" kern="1200" dirty="0">
              <a:solidFill>
                <a:srgbClr val="000066"/>
              </a:solidFill>
              <a:latin typeface="Arial" panose="020B0604020202020204" pitchFamily="34" charset="0"/>
              <a:ea typeface="楷体_GB2312" pitchFamily="49" charset="-122"/>
            </a:endParaRPr>
          </a:p>
        </p:txBody>
      </p:sp>
      <p:pic>
        <p:nvPicPr>
          <p:cNvPr id="9229" name="图片 2666"/>
          <p:cNvPicPr>
            <a:picLocks noChangeAspect="1"/>
          </p:cNvPicPr>
          <p:nvPr/>
        </p:nvPicPr>
        <p:blipFill>
          <a:blip r:embed="rId1"/>
          <a:stretch>
            <a:fillRect/>
          </a:stretch>
        </p:blipFill>
        <p:spPr>
          <a:xfrm>
            <a:off x="762000" y="2971800"/>
            <a:ext cx="2598420" cy="25844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0" dur="1000" fill="hold"/>
                                        <p:tgtEl>
                                          <p:spTgt spid="4"/>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50" presetClass="entr" presetSubtype="0" decel="10000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1000" fill="hold"/>
                                        <p:tgtEl>
                                          <p:spTgt spid="8"/>
                                        </p:tgtEl>
                                        <p:attrNameLst>
                                          <p:attrName>ppt_w</p:attrName>
                                        </p:attrNameLst>
                                      </p:cBhvr>
                                      <p:tavLst>
                                        <p:tav tm="0">
                                          <p:val>
                                            <p:strVal val="#ppt_w+.3"/>
                                          </p:val>
                                        </p:tav>
                                        <p:tav tm="100000">
                                          <p:val>
                                            <p:strVal val="#ppt_w"/>
                                          </p:val>
                                        </p:tav>
                                      </p:tavLst>
                                    </p:anim>
                                    <p:anim calcmode="lin" valueType="num">
                                      <p:cBhvr>
                                        <p:cTn id="20" dur="1000" fill="hold"/>
                                        <p:tgtEl>
                                          <p:spTgt spid="8"/>
                                        </p:tgtEl>
                                        <p:attrNameLst>
                                          <p:attrName>ppt_h</p:attrName>
                                        </p:attrNameLst>
                                      </p:cBhvr>
                                      <p:tavLst>
                                        <p:tav tm="0">
                                          <p:val>
                                            <p:strVal val="#ppt_h"/>
                                          </p:val>
                                        </p:tav>
                                        <p:tav tm="100000">
                                          <p:val>
                                            <p:strVal val="#ppt_h"/>
                                          </p:val>
                                        </p:tav>
                                      </p:tavLst>
                                    </p:anim>
                                    <p:animEffect transition="in" filter="fade">
                                      <p:cBhvr>
                                        <p:cTn id="21" dur="10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up)">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1+#ppt_w/2"/>
                                          </p:val>
                                        </p:tav>
                                        <p:tav tm="100000">
                                          <p:val>
                                            <p:strVal val="#ppt_x"/>
                                          </p:val>
                                        </p:tav>
                                      </p:tavLst>
                                    </p:anim>
                                    <p:anim calcmode="lin" valueType="num">
                                      <p:cBhvr additive="base">
                                        <p:cTn id="38"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55"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p:cTn id="43" dur="1000" fill="hold"/>
                                        <p:tgtEl>
                                          <p:spTgt spid="13"/>
                                        </p:tgtEl>
                                        <p:attrNameLst>
                                          <p:attrName>ppt_w</p:attrName>
                                        </p:attrNameLst>
                                      </p:cBhvr>
                                      <p:tavLst>
                                        <p:tav tm="0">
                                          <p:val>
                                            <p:strVal val="#ppt_w*0.70"/>
                                          </p:val>
                                        </p:tav>
                                        <p:tav tm="100000">
                                          <p:val>
                                            <p:strVal val="#ppt_w"/>
                                          </p:val>
                                        </p:tav>
                                      </p:tavLst>
                                    </p:anim>
                                    <p:anim calcmode="lin" valueType="num">
                                      <p:cBhvr>
                                        <p:cTn id="44" dur="1000" fill="hold"/>
                                        <p:tgtEl>
                                          <p:spTgt spid="13"/>
                                        </p:tgtEl>
                                        <p:attrNameLst>
                                          <p:attrName>ppt_h</p:attrName>
                                        </p:attrNameLst>
                                      </p:cBhvr>
                                      <p:tavLst>
                                        <p:tav tm="0">
                                          <p:val>
                                            <p:strVal val="#ppt_h"/>
                                          </p:val>
                                        </p:tav>
                                        <p:tav tm="100000">
                                          <p:val>
                                            <p:strVal val="#ppt_h"/>
                                          </p:val>
                                        </p:tav>
                                      </p:tavLst>
                                    </p:anim>
                                    <p:animEffect transition="in" filter="fade">
                                      <p:cBhvr>
                                        <p:cTn id="45" dur="1000"/>
                                        <p:tgtEl>
                                          <p:spTgt spid="13"/>
                                        </p:tgtEl>
                                      </p:cBhvr>
                                    </p:animEffect>
                                  </p:childTnLst>
                                </p:cTn>
                              </p:par>
                            </p:childTnLst>
                          </p:cTn>
                        </p:par>
                      </p:childTnLst>
                    </p:cTn>
                  </p:par>
                  <p:par>
                    <p:cTn id="46" fill="hold">
                      <p:stCondLst>
                        <p:cond delay="indefinite"/>
                      </p:stCondLst>
                      <p:childTnLst>
                        <p:par>
                          <p:cTn id="47" fill="hold">
                            <p:stCondLst>
                              <p:cond delay="0"/>
                            </p:stCondLst>
                            <p:childTnLst>
                              <p:par>
                                <p:cTn id="48" presetID="34" presetClass="entr" presetSubtype="0" fill="hold" grpId="0" nodeType="clickEffect">
                                  <p:stCondLst>
                                    <p:cond delay="0"/>
                                  </p:stCondLst>
                                  <p:childTnLst>
                                    <p:set>
                                      <p:cBhvr>
                                        <p:cTn id="49" dur="1" fill="hold">
                                          <p:stCondLst>
                                            <p:cond delay="0"/>
                                          </p:stCondLst>
                                        </p:cTn>
                                        <p:tgtEl>
                                          <p:spTgt spid="14"/>
                                        </p:tgtEl>
                                        <p:attrNameLst>
                                          <p:attrName>style.visibility</p:attrName>
                                        </p:attrNameLst>
                                      </p:cBhvr>
                                      <p:to>
                                        <p:strVal val="visible"/>
                                      </p:to>
                                    </p:set>
                                    <p:anim from="(-#ppt_w/2)" to="(#ppt_x)" calcmode="lin" valueType="num">
                                      <p:cBhvr>
                                        <p:cTn id="50" dur="600" fill="hold">
                                          <p:stCondLst>
                                            <p:cond delay="0"/>
                                          </p:stCondLst>
                                        </p:cTn>
                                        <p:tgtEl>
                                          <p:spTgt spid="14"/>
                                        </p:tgtEl>
                                        <p:attrNameLst>
                                          <p:attrName>ppt_x</p:attrName>
                                        </p:attrNameLst>
                                      </p:cBhvr>
                                    </p:anim>
                                    <p:anim from="0" to="-1.0" calcmode="lin" valueType="num">
                                      <p:cBhvr>
                                        <p:cTn id="51" dur="200" decel="50000" autoRev="1" fill="hold">
                                          <p:stCondLst>
                                            <p:cond delay="600"/>
                                          </p:stCondLst>
                                        </p:cTn>
                                        <p:tgtEl>
                                          <p:spTgt spid="14"/>
                                        </p:tgtEl>
                                        <p:attrNameLst>
                                          <p:attrName>xshear</p:attrName>
                                        </p:attrNameLst>
                                      </p:cBhvr>
                                    </p:anim>
                                    <p:animScale>
                                      <p:cBhvr>
                                        <p:cTn id="52" dur="200" decel="100000" autoRev="1" fill="hold">
                                          <p:stCondLst>
                                            <p:cond delay="600"/>
                                          </p:stCondLst>
                                        </p:cTn>
                                        <p:tgtEl>
                                          <p:spTgt spid="14"/>
                                        </p:tgtEl>
                                      </p:cBhvr>
                                      <p:from x="100000" y="100000"/>
                                      <p:to x="80000" y="100000"/>
                                    </p:animScale>
                                    <p:anim by="(#ppt_h/3+#ppt_w*0.1)" calcmode="lin" valueType="num">
                                      <p:cBhvr additive="sum">
                                        <p:cTn id="53" dur="200" decel="100000" autoRev="1" fill="hold">
                                          <p:stCondLst>
                                            <p:cond delay="600"/>
                                          </p:stCondLst>
                                        </p:cTn>
                                        <p:tgtEl>
                                          <p:spTgt spid="14"/>
                                        </p:tgtEl>
                                        <p:attrNameLst>
                                          <p:attrName>ppt_x</p:attrName>
                                        </p:attrNameLst>
                                      </p:cBhvr>
                                    </p:anim>
                                  </p:childTnLst>
                                </p:cTn>
                              </p:par>
                            </p:childTnLst>
                          </p:cTn>
                        </p:par>
                      </p:childTnLst>
                    </p:cTn>
                  </p:par>
                  <p:par>
                    <p:cTn id="54" fill="hold">
                      <p:stCondLst>
                        <p:cond delay="indefinite"/>
                      </p:stCondLst>
                      <p:childTnLst>
                        <p:par>
                          <p:cTn id="55" fill="hold">
                            <p:stCondLst>
                              <p:cond delay="0"/>
                            </p:stCondLst>
                            <p:childTnLst>
                              <p:par>
                                <p:cTn id="56" presetID="24" presetClass="entr" presetSubtype="0" fill="hold" grpId="0" nodeType="clickEffect">
                                  <p:stCondLst>
                                    <p:cond delay="0"/>
                                  </p:stCondLst>
                                  <p:childTnLst>
                                    <p:set>
                                      <p:cBhvr>
                                        <p:cTn id="57" dur="1" fill="hold">
                                          <p:stCondLst>
                                            <p:cond delay="0"/>
                                          </p:stCondLst>
                                        </p:cTn>
                                        <p:tgtEl>
                                          <p:spTgt spid="15"/>
                                        </p:tgtEl>
                                        <p:attrNameLst>
                                          <p:attrName>style.visibility</p:attrName>
                                        </p:attrNameLst>
                                      </p:cBhvr>
                                      <p:to>
                                        <p:strVal val="visible"/>
                                      </p:to>
                                    </p:set>
                                    <p:anim to="" calcmode="lin" valueType="num">
                                      <p:cBhvr>
                                        <p:cTn id="58" dur="1" fill="hold"/>
                                        <p:tgtEl>
                                          <p:spTgt spid="15"/>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9" grpId="0"/>
      <p:bldP spid="11" grpId="0"/>
      <p:bldP spid="12" grpId="0"/>
      <p:bldP spid="13" grpId="0"/>
      <p:bldP spid="14"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URVP8F[8C$RFY1OTW52CZUR"/>
          <p:cNvPicPr>
            <a:picLocks noChangeAspect="1"/>
          </p:cNvPicPr>
          <p:nvPr/>
        </p:nvPicPr>
        <p:blipFill>
          <a:blip r:embed="rId1"/>
          <a:stretch>
            <a:fillRect/>
          </a:stretch>
        </p:blipFill>
        <p:spPr>
          <a:xfrm>
            <a:off x="1000760" y="2309495"/>
            <a:ext cx="7566660" cy="2238375"/>
          </a:xfrm>
          <a:prstGeom prst="rect">
            <a:avLst/>
          </a:prstGeom>
        </p:spPr>
      </p:pic>
      <p:sp>
        <p:nvSpPr>
          <p:cNvPr id="10" name="文本框 9"/>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7" name="Rectangle 3"/>
          <p:cNvSpPr>
            <a:spLocks noGrp="1"/>
          </p:cNvSpPr>
          <p:nvPr>
            <p:ph idx="1"/>
          </p:nvPr>
        </p:nvSpPr>
        <p:spPr>
          <a:xfrm>
            <a:off x="685800" y="1143000"/>
            <a:ext cx="8003540" cy="137477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二极管或门输入和输出电压之间的关系如表3-3所示，其真值表如表3-4所示。可知，输出和输入之间是一种或逻辑关系。</a:t>
            </a:r>
            <a:endParaRPr lang="zh-CN" altLang="en-US" sz="2400" b="1" kern="1200" dirty="0">
              <a:solidFill>
                <a:srgbClr val="000066"/>
              </a:solidFill>
              <a:latin typeface="Arial" panose="020B0604020202020204" pitchFamily="34" charset="0"/>
              <a:ea typeface="楷体_GB2312" pitchFamily="49" charset="-122"/>
            </a:endParaRPr>
          </a:p>
        </p:txBody>
      </p:sp>
      <p:sp>
        <p:nvSpPr>
          <p:cNvPr id="3" name="TextBox 6"/>
          <p:cNvSpPr txBox="1"/>
          <p:nvPr/>
        </p:nvSpPr>
        <p:spPr>
          <a:xfrm>
            <a:off x="25146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3.1 </a:t>
            </a:r>
            <a:r>
              <a:rPr lang="zh-CN" altLang="en-US" b="1" dirty="0">
                <a:solidFill>
                  <a:srgbClr val="FF0000"/>
                </a:solidFill>
                <a:latin typeface="黑体" panose="02010609060101010101" pitchFamily="49" charset="-122"/>
                <a:ea typeface="黑体" panose="02010609060101010101" pitchFamily="49" charset="-122"/>
              </a:rPr>
              <a:t>分立元件门电路</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2" name="图片 1" descr="AVR]8{E}R0X8)B6}0XDJ{)5"/>
          <p:cNvPicPr>
            <a:picLocks noChangeAspect="1"/>
          </p:cNvPicPr>
          <p:nvPr/>
        </p:nvPicPr>
        <p:blipFill>
          <a:blip r:embed="rId2"/>
          <a:stretch>
            <a:fillRect/>
          </a:stretch>
        </p:blipFill>
        <p:spPr>
          <a:xfrm>
            <a:off x="941070" y="4495800"/>
            <a:ext cx="7632065" cy="23145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arn(inVertical)">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6" name="Rectangle 2"/>
          <p:cNvSpPr>
            <a:spLocks noGrp="1"/>
          </p:cNvSpPr>
          <p:nvPr>
            <p:ph type="title"/>
          </p:nvPr>
        </p:nvSpPr>
        <p:spPr>
          <a:xfrm>
            <a:off x="762000" y="1143000"/>
            <a:ext cx="525780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3.1.2 </a:t>
            </a:r>
            <a:r>
              <a:rPr lang="zh-CN" altLang="en-US" sz="2800" i="0" dirty="0">
                <a:solidFill>
                  <a:srgbClr val="0070C0"/>
                </a:solidFill>
                <a:latin typeface="黑体" panose="02010609060101010101" pitchFamily="49" charset="-122"/>
                <a:ea typeface="黑体" panose="02010609060101010101" pitchFamily="49" charset="-122"/>
              </a:rPr>
              <a:t>三极管开关特性及门电路</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609600" y="2057400"/>
            <a:ext cx="8003540" cy="143891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三极管有放大、截止和饱和三种工作状态。数字电路中三极管通常工作在截止和饱和状态。以NPN型三极管开关电路为例，说明它在截止和饱和状态时所具有的特点。</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1122680" y="1676400"/>
            <a:ext cx="311277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1. 三极管开关特性</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3" name="TextBox 6"/>
          <p:cNvSpPr txBox="1"/>
          <p:nvPr/>
        </p:nvSpPr>
        <p:spPr>
          <a:xfrm>
            <a:off x="25146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3.1 </a:t>
            </a:r>
            <a:r>
              <a:rPr lang="zh-CN" altLang="en-US" b="1" dirty="0">
                <a:solidFill>
                  <a:srgbClr val="FF0000"/>
                </a:solidFill>
                <a:latin typeface="黑体" panose="02010609060101010101" pitchFamily="49" charset="-122"/>
                <a:ea typeface="黑体" panose="02010609060101010101" pitchFamily="49" charset="-122"/>
              </a:rPr>
              <a:t>分立元件门电路</a:t>
            </a:r>
            <a:endParaRPr lang="zh-CN" altLang="en-US" b="1" dirty="0">
              <a:solidFill>
                <a:srgbClr val="FF0000"/>
              </a:solidFill>
              <a:latin typeface="黑体" panose="02010609060101010101" pitchFamily="49" charset="-122"/>
              <a:ea typeface="黑体" panose="02010609060101010101" pitchFamily="49" charset="-122"/>
            </a:endParaRPr>
          </a:p>
        </p:txBody>
      </p:sp>
      <p:grpSp>
        <p:nvGrpSpPr>
          <p:cNvPr id="19" name="组合 18"/>
          <p:cNvGrpSpPr/>
          <p:nvPr/>
        </p:nvGrpSpPr>
        <p:grpSpPr>
          <a:xfrm>
            <a:off x="6096000" y="3505200"/>
            <a:ext cx="2741930" cy="3232150"/>
            <a:chOff x="9960" y="5520"/>
            <a:chExt cx="4318" cy="5090"/>
          </a:xfrm>
        </p:grpSpPr>
        <p:sp>
          <p:nvSpPr>
            <p:cNvPr id="100" name="文本框 99"/>
            <p:cNvSpPr txBox="1"/>
            <p:nvPr/>
          </p:nvSpPr>
          <p:spPr>
            <a:xfrm>
              <a:off x="9960" y="10080"/>
              <a:ext cx="4318"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图3-7 NPN型三极管开关电路</a:t>
              </a:r>
              <a:endParaRPr sz="1600">
                <a:latin typeface="Times New Roman" panose="02020603050405020304" charset="0"/>
                <a:ea typeface="宋体" panose="02010600030101010101" pitchFamily="2" charset="-122"/>
              </a:endParaRPr>
            </a:p>
          </p:txBody>
        </p:sp>
        <p:pic>
          <p:nvPicPr>
            <p:cNvPr id="9231" name="图片 2668"/>
            <p:cNvPicPr>
              <a:picLocks noChangeAspect="1"/>
            </p:cNvPicPr>
            <p:nvPr/>
          </p:nvPicPr>
          <p:blipFill>
            <a:blip r:embed="rId1"/>
            <a:stretch>
              <a:fillRect/>
            </a:stretch>
          </p:blipFill>
          <p:spPr>
            <a:xfrm>
              <a:off x="10080" y="5520"/>
              <a:ext cx="4115" cy="4314"/>
            </a:xfrm>
            <a:prstGeom prst="rect">
              <a:avLst/>
            </a:prstGeom>
            <a:noFill/>
            <a:ln>
              <a:noFill/>
            </a:ln>
          </p:spPr>
        </p:pic>
      </p:grpSp>
      <p:sp>
        <p:nvSpPr>
          <p:cNvPr id="17" name="Rectangle 3"/>
          <p:cNvSpPr>
            <a:spLocks noGrp="1"/>
          </p:cNvSpPr>
          <p:nvPr/>
        </p:nvSpPr>
        <p:spPr>
          <a:xfrm>
            <a:off x="609600" y="3352800"/>
            <a:ext cx="3154045"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en-US" sz="2400" b="1" dirty="0">
                <a:solidFill>
                  <a:srgbClr val="070707"/>
                </a:solidFill>
                <a:latin typeface="Times New Roman" panose="02020603050405020304" charset="0"/>
                <a:ea typeface="楷体_GB2312" pitchFamily="49" charset="-122"/>
                <a:cs typeface="Times New Roman" panose="02020603050405020304" charset="0"/>
                <a:sym typeface="+mn-ea"/>
              </a:rPr>
              <a:t>(1) </a:t>
            </a:r>
            <a:r>
              <a:rPr lang="en-US" sz="2400" b="1" dirty="0">
                <a:solidFill>
                  <a:srgbClr val="070707"/>
                </a:solidFill>
                <a:latin typeface="Times New Roman" panose="02020603050405020304" charset="0"/>
                <a:ea typeface="楷体_GB2312" pitchFamily="49" charset="-122"/>
                <a:cs typeface="Times New Roman" panose="02020603050405020304" charset="0"/>
              </a:rPr>
              <a:t>截止状态特点</a:t>
            </a:r>
            <a:r>
              <a:rPr lang="en-US" sz="2400" b="1" dirty="0">
                <a:solidFill>
                  <a:srgbClr val="070707"/>
                </a:solidFill>
                <a:latin typeface="Times New Roman" panose="02020603050405020304" charset="0"/>
                <a:ea typeface="楷体_GB2312" pitchFamily="49" charset="-122"/>
                <a:cs typeface="Times New Roman" panose="02020603050405020304" charset="0"/>
              </a:rPr>
              <a:t>。</a:t>
            </a:r>
            <a:endParaRPr lang="en-US" sz="2400" b="1" dirty="0">
              <a:solidFill>
                <a:srgbClr val="070707"/>
              </a:solidFill>
              <a:latin typeface="Times New Roman" panose="02020603050405020304" charset="0"/>
              <a:ea typeface="楷体_GB2312" pitchFamily="49" charset="-122"/>
              <a:cs typeface="Times New Roman" panose="02020603050405020304" charset="0"/>
            </a:endParaRPr>
          </a:p>
        </p:txBody>
      </p:sp>
      <p:grpSp>
        <p:nvGrpSpPr>
          <p:cNvPr id="7" name="组合 6"/>
          <p:cNvGrpSpPr/>
          <p:nvPr/>
        </p:nvGrpSpPr>
        <p:grpSpPr>
          <a:xfrm>
            <a:off x="609600" y="3810000"/>
            <a:ext cx="5485130" cy="961390"/>
            <a:chOff x="960" y="6000"/>
            <a:chExt cx="8638" cy="1514"/>
          </a:xfrm>
        </p:grpSpPr>
        <p:sp>
          <p:nvSpPr>
            <p:cNvPr id="4" name="Rectangle 3"/>
            <p:cNvSpPr>
              <a:spLocks noGrp="1"/>
            </p:cNvSpPr>
            <p:nvPr/>
          </p:nvSpPr>
          <p:spPr>
            <a:xfrm>
              <a:off x="960" y="6000"/>
              <a:ext cx="8639" cy="1514"/>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PN结偏置情况：发射结反向偏置 (</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)，集电结反向偏置 (</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a:t>
              </a:r>
              <a:endParaRPr lang="zh-CN" altLang="en-US" sz="2400" b="1" kern="1200" dirty="0">
                <a:solidFill>
                  <a:srgbClr val="000066"/>
                </a:solidFill>
                <a:latin typeface="Arial" panose="020B0604020202020204" pitchFamily="34" charset="0"/>
                <a:ea typeface="楷体_GB2312" pitchFamily="49" charset="-122"/>
              </a:endParaRPr>
            </a:p>
          </p:txBody>
        </p:sp>
        <p:graphicFrame>
          <p:nvGraphicFramePr>
            <p:cNvPr id="5" name="对象 4">
              <a:hlinkClick r:id="" action="ppaction://ole?verb="/>
            </p:cNvPr>
            <p:cNvGraphicFramePr>
              <a:graphicFrameLocks noChangeAspect="1"/>
            </p:cNvGraphicFramePr>
            <p:nvPr/>
          </p:nvGraphicFramePr>
          <p:xfrm>
            <a:off x="1320" y="6840"/>
            <a:ext cx="1352" cy="605"/>
          </p:xfrm>
          <a:graphic>
            <a:graphicData uri="http://schemas.openxmlformats.org/presentationml/2006/ole">
              <mc:AlternateContent xmlns:mc="http://schemas.openxmlformats.org/markup-compatibility/2006">
                <mc:Choice xmlns:v="urn:schemas-microsoft-com:vml" Requires="v">
                  <p:oleObj spid="_x0000_s1025" name="" r:id="rId2" imgW="482600" imgH="215900" progId="Equation.KSEE3">
                    <p:embed/>
                  </p:oleObj>
                </mc:Choice>
                <mc:Fallback>
                  <p:oleObj name="" r:id="rId2" imgW="482600" imgH="215900" progId="Equation.KSEE3">
                    <p:embed/>
                    <p:pic>
                      <p:nvPicPr>
                        <p:cNvPr id="0" name="图片 1024"/>
                        <p:cNvPicPr/>
                        <p:nvPr/>
                      </p:nvPicPr>
                      <p:blipFill>
                        <a:blip r:embed="rId3"/>
                        <a:stretch>
                          <a:fillRect/>
                        </a:stretch>
                      </p:blipFill>
                      <p:spPr>
                        <a:xfrm>
                          <a:off x="1320" y="6840"/>
                          <a:ext cx="1352" cy="605"/>
                        </a:xfrm>
                        <a:prstGeom prst="rect">
                          <a:avLst/>
                        </a:prstGeom>
                      </p:spPr>
                    </p:pic>
                  </p:oleObj>
                </mc:Fallback>
              </mc:AlternateContent>
            </a:graphicData>
          </a:graphic>
        </p:graphicFrame>
        <p:graphicFrame>
          <p:nvGraphicFramePr>
            <p:cNvPr id="6" name="对象 5">
              <a:hlinkClick r:id="" action="ppaction://ole?verb="/>
            </p:cNvPr>
            <p:cNvGraphicFramePr>
              <a:graphicFrameLocks noChangeAspect="1"/>
            </p:cNvGraphicFramePr>
            <p:nvPr/>
          </p:nvGraphicFramePr>
          <p:xfrm>
            <a:off x="7080" y="6840"/>
            <a:ext cx="1388" cy="641"/>
          </p:xfrm>
          <a:graphic>
            <a:graphicData uri="http://schemas.openxmlformats.org/presentationml/2006/ole">
              <mc:AlternateContent xmlns:mc="http://schemas.openxmlformats.org/markup-compatibility/2006">
                <mc:Choice xmlns:v="urn:schemas-microsoft-com:vml" Requires="v">
                  <p:oleObj spid="_x0000_s8" name="" r:id="rId4" imgW="495300" imgH="228600" progId="Equation.KSEE3">
                    <p:embed/>
                  </p:oleObj>
                </mc:Choice>
                <mc:Fallback>
                  <p:oleObj name="" r:id="rId4" imgW="495300" imgH="228600" progId="Equation.KSEE3">
                    <p:embed/>
                    <p:pic>
                      <p:nvPicPr>
                        <p:cNvPr id="0" name="图片 1024"/>
                        <p:cNvPicPr/>
                        <p:nvPr/>
                      </p:nvPicPr>
                      <p:blipFill>
                        <a:blip r:embed="rId5"/>
                        <a:stretch>
                          <a:fillRect/>
                        </a:stretch>
                      </p:blipFill>
                      <p:spPr>
                        <a:xfrm>
                          <a:off x="7080" y="6840"/>
                          <a:ext cx="1388" cy="641"/>
                        </a:xfrm>
                        <a:prstGeom prst="rect">
                          <a:avLst/>
                        </a:prstGeom>
                      </p:spPr>
                    </p:pic>
                  </p:oleObj>
                </mc:Fallback>
              </mc:AlternateContent>
            </a:graphicData>
          </a:graphic>
        </p:graphicFrame>
      </p:grpSp>
      <p:grpSp>
        <p:nvGrpSpPr>
          <p:cNvPr id="16" name="组合 15"/>
          <p:cNvGrpSpPr/>
          <p:nvPr/>
        </p:nvGrpSpPr>
        <p:grpSpPr>
          <a:xfrm>
            <a:off x="610870" y="4699000"/>
            <a:ext cx="5485130" cy="961390"/>
            <a:chOff x="962" y="7400"/>
            <a:chExt cx="8638" cy="1514"/>
          </a:xfrm>
        </p:grpSpPr>
        <p:sp>
          <p:nvSpPr>
            <p:cNvPr id="9" name="Rectangle 3"/>
            <p:cNvSpPr>
              <a:spLocks noGrp="1"/>
            </p:cNvSpPr>
            <p:nvPr/>
          </p:nvSpPr>
          <p:spPr>
            <a:xfrm>
              <a:off x="962" y="7400"/>
              <a:ext cx="8639" cy="1514"/>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基极和集电极电流：基极电流</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，集电</a:t>
              </a:r>
              <a:r>
                <a:rPr lang="zh-CN" sz="2400" b="1" kern="1200" dirty="0">
                  <a:solidFill>
                    <a:srgbClr val="000066"/>
                  </a:solidFill>
                  <a:latin typeface="Arial" panose="020B0604020202020204" pitchFamily="34" charset="0"/>
                  <a:ea typeface="楷体_GB2312" pitchFamily="49" charset="-122"/>
                </a:rPr>
                <a:t>极</a:t>
              </a:r>
              <a:r>
                <a:rPr sz="2400" b="1" kern="1200" dirty="0">
                  <a:solidFill>
                    <a:srgbClr val="000066"/>
                  </a:solidFill>
                  <a:latin typeface="Arial" panose="020B0604020202020204" pitchFamily="34" charset="0"/>
                  <a:ea typeface="楷体_GB2312" pitchFamily="49" charset="-122"/>
                </a:rPr>
                <a:t>电流</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a:t>
              </a:r>
              <a:endParaRPr sz="2400" b="1" kern="1200" dirty="0">
                <a:solidFill>
                  <a:srgbClr val="000066"/>
                </a:solidFill>
                <a:latin typeface="Arial" panose="020B0604020202020204" pitchFamily="34" charset="0"/>
                <a:ea typeface="楷体_GB2312" pitchFamily="49" charset="-122"/>
              </a:endParaRPr>
            </a:p>
          </p:txBody>
        </p:sp>
        <p:graphicFrame>
          <p:nvGraphicFramePr>
            <p:cNvPr id="11" name="对象 10">
              <a:hlinkClick r:id="" action="ppaction://ole?verb="/>
            </p:cNvPr>
            <p:cNvGraphicFramePr>
              <a:graphicFrameLocks noChangeAspect="1"/>
            </p:cNvGraphicFramePr>
            <p:nvPr/>
          </p:nvGraphicFramePr>
          <p:xfrm>
            <a:off x="8160" y="7560"/>
            <a:ext cx="1068" cy="605"/>
          </p:xfrm>
          <a:graphic>
            <a:graphicData uri="http://schemas.openxmlformats.org/presentationml/2006/ole">
              <mc:AlternateContent xmlns:mc="http://schemas.openxmlformats.org/markup-compatibility/2006">
                <mc:Choice xmlns:v="urn:schemas-microsoft-com:vml" Requires="v">
                  <p:oleObj spid="_x0000_s12" name="" r:id="rId6" imgW="381000" imgH="215900" progId="Equation.KSEE3">
                    <p:embed/>
                  </p:oleObj>
                </mc:Choice>
                <mc:Fallback>
                  <p:oleObj name="" r:id="rId6" imgW="381000" imgH="215900" progId="Equation.KSEE3">
                    <p:embed/>
                    <p:pic>
                      <p:nvPicPr>
                        <p:cNvPr id="0" name="图片 1024"/>
                        <p:cNvPicPr/>
                        <p:nvPr/>
                      </p:nvPicPr>
                      <p:blipFill>
                        <a:blip r:embed="rId7"/>
                        <a:stretch>
                          <a:fillRect/>
                        </a:stretch>
                      </p:blipFill>
                      <p:spPr>
                        <a:xfrm>
                          <a:off x="8160" y="7560"/>
                          <a:ext cx="1068" cy="605"/>
                        </a:xfrm>
                        <a:prstGeom prst="rect">
                          <a:avLst/>
                        </a:prstGeom>
                      </p:spPr>
                    </p:pic>
                  </p:oleObj>
                </mc:Fallback>
              </mc:AlternateContent>
            </a:graphicData>
          </a:graphic>
        </p:graphicFrame>
        <p:graphicFrame>
          <p:nvGraphicFramePr>
            <p:cNvPr id="13" name="对象 12">
              <a:hlinkClick r:id="" action="ppaction://ole?verb="/>
            </p:cNvPr>
            <p:cNvGraphicFramePr>
              <a:graphicFrameLocks noChangeAspect="1"/>
            </p:cNvGraphicFramePr>
            <p:nvPr/>
          </p:nvGraphicFramePr>
          <p:xfrm>
            <a:off x="4143" y="8244"/>
            <a:ext cx="1068" cy="641"/>
          </p:xfrm>
          <a:graphic>
            <a:graphicData uri="http://schemas.openxmlformats.org/presentationml/2006/ole">
              <mc:AlternateContent xmlns:mc="http://schemas.openxmlformats.org/markup-compatibility/2006">
                <mc:Choice xmlns:v="urn:schemas-microsoft-com:vml" Requires="v">
                  <p:oleObj spid="_x0000_s14" name="" r:id="rId8" imgW="381000" imgH="228600" progId="Equation.KSEE3">
                    <p:embed/>
                  </p:oleObj>
                </mc:Choice>
                <mc:Fallback>
                  <p:oleObj name="" r:id="rId8" imgW="381000" imgH="228600" progId="Equation.KSEE3">
                    <p:embed/>
                    <p:pic>
                      <p:nvPicPr>
                        <p:cNvPr id="0" name="图片 1024"/>
                        <p:cNvPicPr/>
                        <p:nvPr/>
                      </p:nvPicPr>
                      <p:blipFill>
                        <a:blip r:embed="rId9"/>
                        <a:stretch>
                          <a:fillRect/>
                        </a:stretch>
                      </p:blipFill>
                      <p:spPr>
                        <a:xfrm>
                          <a:off x="4143" y="8244"/>
                          <a:ext cx="1068" cy="641"/>
                        </a:xfrm>
                        <a:prstGeom prst="rect">
                          <a:avLst/>
                        </a:prstGeom>
                      </p:spPr>
                    </p:pic>
                  </p:oleObj>
                </mc:Fallback>
              </mc:AlternateContent>
            </a:graphicData>
          </a:graphic>
        </p:graphicFrame>
      </p:grpSp>
      <p:sp>
        <p:nvSpPr>
          <p:cNvPr id="15" name="Rectangle 3"/>
          <p:cNvSpPr>
            <a:spLocks noGrp="1"/>
          </p:cNvSpPr>
          <p:nvPr/>
        </p:nvSpPr>
        <p:spPr>
          <a:xfrm>
            <a:off x="621665" y="5511800"/>
            <a:ext cx="5485765" cy="96139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集电极和发射极之间的等效内阻很大，C、E之间相当于断开的开关。</a:t>
            </a:r>
            <a:endParaRPr sz="2400" b="1" kern="1200" dirty="0">
              <a:solidFill>
                <a:srgbClr val="000066"/>
              </a:solidFill>
              <a:latin typeface="Arial" panose="020B0604020202020204" pitchFamily="34" charset="0"/>
              <a:ea typeface="楷体_GB2312" pitchFamily="49" charset="-122"/>
            </a:endParaRPr>
          </a:p>
        </p:txBody>
      </p:sp>
      <p:grpSp>
        <p:nvGrpSpPr>
          <p:cNvPr id="21" name="组合 20"/>
          <p:cNvGrpSpPr/>
          <p:nvPr/>
        </p:nvGrpSpPr>
        <p:grpSpPr>
          <a:xfrm>
            <a:off x="1053465" y="6324600"/>
            <a:ext cx="5135880" cy="509905"/>
            <a:chOff x="1659" y="9960"/>
            <a:chExt cx="8088" cy="803"/>
          </a:xfrm>
        </p:grpSpPr>
        <p:sp>
          <p:nvSpPr>
            <p:cNvPr id="18" name="Rectangle 3"/>
            <p:cNvSpPr>
              <a:spLocks noGrp="1"/>
            </p:cNvSpPr>
            <p:nvPr/>
          </p:nvSpPr>
          <p:spPr>
            <a:xfrm>
              <a:off x="1659" y="9960"/>
              <a:ext cx="8088" cy="80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在截止状态下，输出电压</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a:t>
              </a:r>
              <a:endParaRPr sz="2400" b="1" kern="1200" dirty="0">
                <a:solidFill>
                  <a:srgbClr val="000066"/>
                </a:solidFill>
                <a:latin typeface="Arial" panose="020B0604020202020204" pitchFamily="34" charset="0"/>
                <a:ea typeface="楷体_GB2312" pitchFamily="49" charset="-122"/>
              </a:endParaRPr>
            </a:p>
          </p:txBody>
        </p:sp>
        <p:graphicFrame>
          <p:nvGraphicFramePr>
            <p:cNvPr id="20" name="对象 19">
              <a:hlinkClick r:id="" action="ppaction://ole?verb="/>
            </p:cNvPr>
            <p:cNvGraphicFramePr>
              <a:graphicFrameLocks noChangeAspect="1"/>
            </p:cNvGraphicFramePr>
            <p:nvPr/>
          </p:nvGraphicFramePr>
          <p:xfrm>
            <a:off x="7200" y="10143"/>
            <a:ext cx="1481" cy="621"/>
          </p:xfrm>
          <a:graphic>
            <a:graphicData uri="http://schemas.openxmlformats.org/presentationml/2006/ole">
              <mc:AlternateContent xmlns:mc="http://schemas.openxmlformats.org/markup-compatibility/2006">
                <mc:Choice xmlns:v="urn:schemas-microsoft-com:vml" Requires="v">
                  <p:oleObj spid="_x0000_s1026" name="" r:id="rId10" imgW="545465" imgH="228600" progId="Equation.KSEE3">
                    <p:embed/>
                  </p:oleObj>
                </mc:Choice>
                <mc:Fallback>
                  <p:oleObj name="" r:id="rId10" imgW="545465" imgH="228600" progId="Equation.KSEE3">
                    <p:embed/>
                    <p:pic>
                      <p:nvPicPr>
                        <p:cNvPr id="0" name="图片 1025"/>
                        <p:cNvPicPr/>
                        <p:nvPr/>
                      </p:nvPicPr>
                      <p:blipFill>
                        <a:blip r:embed="rId11"/>
                        <a:stretch>
                          <a:fillRect/>
                        </a:stretch>
                      </p:blipFill>
                      <p:spPr>
                        <a:xfrm>
                          <a:off x="7200" y="10143"/>
                          <a:ext cx="1481" cy="621"/>
                        </a:xfrm>
                        <a:prstGeom prst="rect">
                          <a:avLst/>
                        </a:prstGeom>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2"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Scale>
                                      <p:cBhvr>
                                        <p:cTn id="13" dur="1000" decel="50000" fill="hold">
                                          <p:stCondLst>
                                            <p:cond delay="0"/>
                                          </p:stCondLst>
                                        </p:cTn>
                                        <p:tgtEl>
                                          <p:spTgt spid="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4" dur="1000" decel="50000" fill="hold">
                                          <p:stCondLst>
                                            <p:cond delay="0"/>
                                          </p:stCondLst>
                                        </p:cTn>
                                        <p:tgtEl>
                                          <p:spTgt spid="7"/>
                                        </p:tgtEl>
                                        <p:attrNameLst>
                                          <p:attrName>ppt_x</p:attrName>
                                          <p:attrName>ppt_y</p:attrName>
                                        </p:attrNameLst>
                                      </p:cBhvr>
                                    </p:animMotion>
                                    <p:animEffect transition="in" filter="fade">
                                      <p:cBhvr>
                                        <p:cTn id="15" dur="10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26" presetClass="entr" presetSubtype="0" fill="hold"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down)">
                                      <p:cBhvr>
                                        <p:cTn id="20" dur="290">
                                          <p:stCondLst>
                                            <p:cond delay="0"/>
                                          </p:stCondLst>
                                        </p:cTn>
                                        <p:tgtEl>
                                          <p:spTgt spid="16"/>
                                        </p:tgtEl>
                                      </p:cBhvr>
                                    </p:animEffect>
                                    <p:anim calcmode="lin" valueType="num">
                                      <p:cBhvr>
                                        <p:cTn id="21" dur="911"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22" dur="332"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23" dur="332" tmFilter="0, 0; 0.125,0.2665; 0.25,0.4; 0.375,0.465; 0.5,0.5;  0.625,0.535; 0.75,0.6; 0.875,0.7335; 1,1">
                                          <p:stCondLst>
                                            <p:cond delay="332"/>
                                          </p:stCondLst>
                                        </p:cTn>
                                        <p:tgtEl>
                                          <p:spTgt spid="16"/>
                                        </p:tgtEl>
                                        <p:attrNameLst>
                                          <p:attrName>ppt_y</p:attrName>
                                        </p:attrNameLst>
                                      </p:cBhvr>
                                      <p:tavLst>
                                        <p:tav tm="0" fmla="#ppt_y-sin(pi*$)/9">
                                          <p:val>
                                            <p:fltVal val="0"/>
                                          </p:val>
                                        </p:tav>
                                        <p:tav tm="100000">
                                          <p:val>
                                            <p:fltVal val="1"/>
                                          </p:val>
                                        </p:tav>
                                      </p:tavLst>
                                    </p:anim>
                                    <p:anim calcmode="lin" valueType="num">
                                      <p:cBhvr>
                                        <p:cTn id="24" dur="166" tmFilter="0, 0; 0.125,0.2665; 0.25,0.4; 0.375,0.465; 0.5,0.5;  0.625,0.535; 0.75,0.6; 0.875,0.7335; 1,1">
                                          <p:stCondLst>
                                            <p:cond delay="662"/>
                                          </p:stCondLst>
                                        </p:cTn>
                                        <p:tgtEl>
                                          <p:spTgt spid="16"/>
                                        </p:tgtEl>
                                        <p:attrNameLst>
                                          <p:attrName>ppt_y</p:attrName>
                                        </p:attrNameLst>
                                      </p:cBhvr>
                                      <p:tavLst>
                                        <p:tav tm="0" fmla="#ppt_y-sin(pi*$)/27">
                                          <p:val>
                                            <p:fltVal val="0"/>
                                          </p:val>
                                        </p:tav>
                                        <p:tav tm="100000">
                                          <p:val>
                                            <p:fltVal val="1"/>
                                          </p:val>
                                        </p:tav>
                                      </p:tavLst>
                                    </p:anim>
                                    <p:anim calcmode="lin" valueType="num">
                                      <p:cBhvr>
                                        <p:cTn id="25" dur="82" tmFilter="0, 0; 0.125,0.2665; 0.25,0.4; 0.375,0.465; 0.5,0.5;  0.625,0.535; 0.75,0.6; 0.875,0.7335; 1,1">
                                          <p:stCondLst>
                                            <p:cond delay="828"/>
                                          </p:stCondLst>
                                        </p:cTn>
                                        <p:tgtEl>
                                          <p:spTgt spid="16"/>
                                        </p:tgtEl>
                                        <p:attrNameLst>
                                          <p:attrName>ppt_y</p:attrName>
                                        </p:attrNameLst>
                                      </p:cBhvr>
                                      <p:tavLst>
                                        <p:tav tm="0" fmla="#ppt_y-sin(pi*$)/81">
                                          <p:val>
                                            <p:fltVal val="0"/>
                                          </p:val>
                                        </p:tav>
                                        <p:tav tm="100000">
                                          <p:val>
                                            <p:fltVal val="1"/>
                                          </p:val>
                                        </p:tav>
                                      </p:tavLst>
                                    </p:anim>
                                    <p:animScale>
                                      <p:cBhvr>
                                        <p:cTn id="26" dur="13">
                                          <p:stCondLst>
                                            <p:cond delay="325"/>
                                          </p:stCondLst>
                                        </p:cTn>
                                        <p:tgtEl>
                                          <p:spTgt spid="16"/>
                                        </p:tgtEl>
                                      </p:cBhvr>
                                      <p:to x="100000" y="60000"/>
                                    </p:animScale>
                                    <p:animScale>
                                      <p:cBhvr>
                                        <p:cTn id="27" dur="83" decel="50000">
                                          <p:stCondLst>
                                            <p:cond delay="338"/>
                                          </p:stCondLst>
                                        </p:cTn>
                                        <p:tgtEl>
                                          <p:spTgt spid="16"/>
                                        </p:tgtEl>
                                      </p:cBhvr>
                                      <p:to x="100000" y="100000"/>
                                    </p:animScale>
                                    <p:animScale>
                                      <p:cBhvr>
                                        <p:cTn id="28" dur="13">
                                          <p:stCondLst>
                                            <p:cond delay="656"/>
                                          </p:stCondLst>
                                        </p:cTn>
                                        <p:tgtEl>
                                          <p:spTgt spid="16"/>
                                        </p:tgtEl>
                                      </p:cBhvr>
                                      <p:to x="100000" y="80000"/>
                                    </p:animScale>
                                    <p:animScale>
                                      <p:cBhvr>
                                        <p:cTn id="29" dur="83" decel="50000">
                                          <p:stCondLst>
                                            <p:cond delay="669"/>
                                          </p:stCondLst>
                                        </p:cTn>
                                        <p:tgtEl>
                                          <p:spTgt spid="16"/>
                                        </p:tgtEl>
                                      </p:cBhvr>
                                      <p:to x="100000" y="100000"/>
                                    </p:animScale>
                                    <p:animScale>
                                      <p:cBhvr>
                                        <p:cTn id="30" dur="13">
                                          <p:stCondLst>
                                            <p:cond delay="821"/>
                                          </p:stCondLst>
                                        </p:cTn>
                                        <p:tgtEl>
                                          <p:spTgt spid="16"/>
                                        </p:tgtEl>
                                      </p:cBhvr>
                                      <p:to x="100000" y="90000"/>
                                    </p:animScale>
                                    <p:animScale>
                                      <p:cBhvr>
                                        <p:cTn id="31" dur="83" decel="50000">
                                          <p:stCondLst>
                                            <p:cond delay="834"/>
                                          </p:stCondLst>
                                        </p:cTn>
                                        <p:tgtEl>
                                          <p:spTgt spid="16"/>
                                        </p:tgtEl>
                                      </p:cBhvr>
                                      <p:to x="100000" y="100000"/>
                                    </p:animScale>
                                    <p:animScale>
                                      <p:cBhvr>
                                        <p:cTn id="32" dur="13">
                                          <p:stCondLst>
                                            <p:cond delay="904"/>
                                          </p:stCondLst>
                                        </p:cTn>
                                        <p:tgtEl>
                                          <p:spTgt spid="16"/>
                                        </p:tgtEl>
                                      </p:cBhvr>
                                      <p:to x="100000" y="95000"/>
                                    </p:animScale>
                                    <p:animScale>
                                      <p:cBhvr>
                                        <p:cTn id="33" dur="83" decel="50000">
                                          <p:stCondLst>
                                            <p:cond delay="917"/>
                                          </p:stCondLst>
                                        </p:cTn>
                                        <p:tgtEl>
                                          <p:spTgt spid="16"/>
                                        </p:tgtEl>
                                      </p:cBhvr>
                                      <p:to x="100000" y="100000"/>
                                    </p:animScale>
                                  </p:childTnLst>
                                </p:cTn>
                              </p:par>
                            </p:childTnLst>
                          </p:cTn>
                        </p:par>
                      </p:childTnLst>
                    </p:cTn>
                  </p:par>
                  <p:par>
                    <p:cTn id="34" fill="hold">
                      <p:stCondLst>
                        <p:cond delay="indefinite"/>
                      </p:stCondLst>
                      <p:childTnLst>
                        <p:par>
                          <p:cTn id="35" fill="hold">
                            <p:stCondLst>
                              <p:cond delay="0"/>
                            </p:stCondLst>
                            <p:childTnLst>
                              <p:par>
                                <p:cTn id="36" presetID="40" presetClass="entr" presetSubtype="0" fill="hold" grpId="0" nodeType="clickEffect">
                                  <p:stCondLst>
                                    <p:cond delay="0"/>
                                  </p:stCondLst>
                                  <p:iterate type="lt">
                                    <p:tmPct val="10000"/>
                                  </p:iterate>
                                  <p:childTnLst>
                                    <p:set>
                                      <p:cBhvr>
                                        <p:cTn id="37" dur="500" fill="hold">
                                          <p:stCondLst>
                                            <p:cond delay="0"/>
                                          </p:stCondLst>
                                        </p:cTn>
                                        <p:tgtEl>
                                          <p:spTgt spid="15"/>
                                        </p:tgtEl>
                                        <p:attrNameLst>
                                          <p:attrName>style.visibility</p:attrName>
                                        </p:attrNameLst>
                                      </p:cBhvr>
                                      <p:to>
                                        <p:strVal val="visible"/>
                                      </p:to>
                                    </p:set>
                                    <p:animEffect transition="in" filter="fade">
                                      <p:cBhvr>
                                        <p:cTn id="38" dur="500"/>
                                        <p:tgtEl>
                                          <p:spTgt spid="15"/>
                                        </p:tgtEl>
                                      </p:cBhvr>
                                    </p:animEffect>
                                    <p:anim calcmode="lin" valueType="num">
                                      <p:cBhvr>
                                        <p:cTn id="39" dur="500" fill="hold"/>
                                        <p:tgtEl>
                                          <p:spTgt spid="15"/>
                                        </p:tgtEl>
                                        <p:attrNameLst>
                                          <p:attrName>ppt_x</p:attrName>
                                        </p:attrNameLst>
                                      </p:cBhvr>
                                      <p:tavLst>
                                        <p:tav tm="0">
                                          <p:val>
                                            <p:strVal val="#ppt_x-.1"/>
                                          </p:val>
                                        </p:tav>
                                        <p:tav tm="100000">
                                          <p:val>
                                            <p:strVal val="#ppt_x"/>
                                          </p:val>
                                        </p:tav>
                                      </p:tavLst>
                                    </p:anim>
                                    <p:anim calcmode="lin" valueType="num">
                                      <p:cBhvr>
                                        <p:cTn id="40"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9" presetClass="entr" presetSubtype="10" fill="hold" nodeType="clickEffect">
                                  <p:stCondLst>
                                    <p:cond delay="0"/>
                                  </p:stCondLst>
                                  <p:childTnLst>
                                    <p:set>
                                      <p:cBhvr>
                                        <p:cTn id="44" dur="1000" fill="hold">
                                          <p:stCondLst>
                                            <p:cond delay="0"/>
                                          </p:stCondLst>
                                        </p:cTn>
                                        <p:tgtEl>
                                          <p:spTgt spid="21"/>
                                        </p:tgtEl>
                                        <p:attrNameLst>
                                          <p:attrName>style.visibility</p:attrName>
                                        </p:attrNameLst>
                                      </p:cBhvr>
                                      <p:to>
                                        <p:strVal val="visible"/>
                                      </p:to>
                                    </p:set>
                                    <p:anim calcmode="lin" valueType="num">
                                      <p:cBhvr>
                                        <p:cTn id="45" dur="1000" fill="hold"/>
                                        <p:tgtEl>
                                          <p:spTgt spid="21"/>
                                        </p:tgtEl>
                                        <p:attrNameLst>
                                          <p:attrName>ppt_w</p:attrName>
                                        </p:attrNameLst>
                                      </p:cBhvr>
                                      <p:tavLst>
                                        <p:tav tm="0" fmla="#ppt_w*sin(2.5*pi*$)">
                                          <p:val>
                                            <p:fltVal val="0"/>
                                          </p:val>
                                        </p:tav>
                                        <p:tav tm="100000">
                                          <p:val>
                                            <p:fltVal val="1"/>
                                          </p:val>
                                        </p:tav>
                                      </p:tavLst>
                                    </p:anim>
                                    <p:anim calcmode="lin" valueType="num">
                                      <p:cBhvr>
                                        <p:cTn id="46" dur="1000" fill="hold"/>
                                        <p:tgtEl>
                                          <p:spTgt spid="2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7" name="Rectangle 3"/>
          <p:cNvSpPr>
            <a:spLocks noGrp="1"/>
          </p:cNvSpPr>
          <p:nvPr>
            <p:ph idx="1"/>
          </p:nvPr>
        </p:nvSpPr>
        <p:spPr>
          <a:xfrm>
            <a:off x="609600" y="1600200"/>
            <a:ext cx="8003540" cy="49911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发射结正向偏置 (</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)，集电结正向偏置(</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3" name="TextBox 6"/>
          <p:cNvSpPr txBox="1"/>
          <p:nvPr/>
        </p:nvSpPr>
        <p:spPr>
          <a:xfrm>
            <a:off x="25146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3.1 </a:t>
            </a:r>
            <a:r>
              <a:rPr lang="zh-CN" altLang="en-US" b="1" dirty="0">
                <a:solidFill>
                  <a:srgbClr val="FF0000"/>
                </a:solidFill>
                <a:latin typeface="黑体" panose="02010609060101010101" pitchFamily="49" charset="-122"/>
                <a:ea typeface="黑体" panose="02010609060101010101" pitchFamily="49" charset="-122"/>
              </a:rPr>
              <a:t>分立元件门电路</a:t>
            </a:r>
            <a:endParaRPr lang="zh-CN" altLang="en-US" b="1" dirty="0">
              <a:solidFill>
                <a:srgbClr val="FF0000"/>
              </a:solidFill>
              <a:latin typeface="黑体" panose="02010609060101010101" pitchFamily="49" charset="-122"/>
              <a:ea typeface="黑体" panose="02010609060101010101" pitchFamily="49" charset="-122"/>
            </a:endParaRPr>
          </a:p>
        </p:txBody>
      </p:sp>
      <p:grpSp>
        <p:nvGrpSpPr>
          <p:cNvPr id="39" name="组合 38"/>
          <p:cNvGrpSpPr/>
          <p:nvPr/>
        </p:nvGrpSpPr>
        <p:grpSpPr>
          <a:xfrm>
            <a:off x="6324600" y="4031615"/>
            <a:ext cx="2741930" cy="2818130"/>
            <a:chOff x="9960" y="6349"/>
            <a:chExt cx="4318" cy="4438"/>
          </a:xfrm>
        </p:grpSpPr>
        <p:sp>
          <p:nvSpPr>
            <p:cNvPr id="100" name="文本框 99"/>
            <p:cNvSpPr txBox="1"/>
            <p:nvPr/>
          </p:nvSpPr>
          <p:spPr>
            <a:xfrm>
              <a:off x="9960" y="10257"/>
              <a:ext cx="4318"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图3-7 NPN型三极管开关电路</a:t>
              </a:r>
              <a:endParaRPr sz="1600">
                <a:latin typeface="Times New Roman" panose="02020603050405020304" charset="0"/>
                <a:ea typeface="宋体" panose="02010600030101010101" pitchFamily="2" charset="-122"/>
              </a:endParaRPr>
            </a:p>
          </p:txBody>
        </p:sp>
        <p:pic>
          <p:nvPicPr>
            <p:cNvPr id="9231" name="图片 2668"/>
            <p:cNvPicPr>
              <a:picLocks noChangeAspect="1"/>
            </p:cNvPicPr>
            <p:nvPr/>
          </p:nvPicPr>
          <p:blipFill>
            <a:blip r:embed="rId1"/>
            <a:stretch>
              <a:fillRect/>
            </a:stretch>
          </p:blipFill>
          <p:spPr>
            <a:xfrm>
              <a:off x="9965" y="6349"/>
              <a:ext cx="3870" cy="3845"/>
            </a:xfrm>
            <a:prstGeom prst="rect">
              <a:avLst/>
            </a:prstGeom>
            <a:noFill/>
            <a:ln>
              <a:noFill/>
            </a:ln>
          </p:spPr>
        </p:pic>
      </p:grpSp>
      <p:sp>
        <p:nvSpPr>
          <p:cNvPr id="17" name="Rectangle 3"/>
          <p:cNvSpPr>
            <a:spLocks noGrp="1"/>
          </p:cNvSpPr>
          <p:nvPr/>
        </p:nvSpPr>
        <p:spPr>
          <a:xfrm>
            <a:off x="609600" y="1143000"/>
            <a:ext cx="3154045"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en-US" sz="2400" b="1" dirty="0">
                <a:solidFill>
                  <a:srgbClr val="070707"/>
                </a:solidFill>
                <a:latin typeface="Times New Roman" panose="02020603050405020304" charset="0"/>
                <a:ea typeface="楷体_GB2312" pitchFamily="49" charset="-122"/>
                <a:cs typeface="Times New Roman" panose="02020603050405020304" charset="0"/>
                <a:sym typeface="+mn-ea"/>
              </a:rPr>
              <a:t>(2) </a:t>
            </a:r>
            <a:r>
              <a:rPr lang="en-US" sz="2400" b="1" dirty="0">
                <a:solidFill>
                  <a:srgbClr val="070707"/>
                </a:solidFill>
                <a:latin typeface="Times New Roman" panose="02020603050405020304" charset="0"/>
                <a:ea typeface="楷体_GB2312" pitchFamily="49" charset="-122"/>
                <a:cs typeface="Times New Roman" panose="02020603050405020304" charset="0"/>
              </a:rPr>
              <a:t>饱和状态特点</a:t>
            </a:r>
            <a:r>
              <a:rPr lang="en-US" sz="2400" b="1" dirty="0">
                <a:solidFill>
                  <a:srgbClr val="070707"/>
                </a:solidFill>
                <a:latin typeface="Times New Roman" panose="02020603050405020304" charset="0"/>
                <a:ea typeface="楷体_GB2312" pitchFamily="49" charset="-122"/>
                <a:cs typeface="Times New Roman" panose="02020603050405020304" charset="0"/>
              </a:rPr>
              <a:t>。</a:t>
            </a:r>
            <a:endParaRPr lang="en-US" sz="2400" b="1" dirty="0">
              <a:solidFill>
                <a:srgbClr val="070707"/>
              </a:solidFill>
              <a:latin typeface="Times New Roman" panose="02020603050405020304" charset="0"/>
              <a:ea typeface="楷体_GB2312" pitchFamily="49" charset="-122"/>
              <a:cs typeface="Times New Roman" panose="02020603050405020304" charset="0"/>
            </a:endParaRPr>
          </a:p>
        </p:txBody>
      </p:sp>
      <p:graphicFrame>
        <p:nvGraphicFramePr>
          <p:cNvPr id="5" name="对象 4">
            <a:hlinkClick r:id="" action="ppaction://ole?verb="/>
          </p:cNvPr>
          <p:cNvGraphicFramePr>
            <a:graphicFrameLocks noChangeAspect="1"/>
          </p:cNvGraphicFramePr>
          <p:nvPr/>
        </p:nvGraphicFramePr>
        <p:xfrm>
          <a:off x="3581400" y="1752600"/>
          <a:ext cx="881380" cy="384175"/>
        </p:xfrm>
        <a:graphic>
          <a:graphicData uri="http://schemas.openxmlformats.org/presentationml/2006/ole">
            <mc:AlternateContent xmlns:mc="http://schemas.openxmlformats.org/markup-compatibility/2006">
              <mc:Choice xmlns:v="urn:schemas-microsoft-com:vml" Requires="v">
                <p:oleObj spid="_x0000_s1025" name="" r:id="rId2" imgW="495300" imgH="215900" progId="Equation.KSEE3">
                  <p:embed/>
                </p:oleObj>
              </mc:Choice>
              <mc:Fallback>
                <p:oleObj name="" r:id="rId2" imgW="495300" imgH="215900" progId="Equation.KSEE3">
                  <p:embed/>
                  <p:pic>
                    <p:nvPicPr>
                      <p:cNvPr id="0" name="图片 1024"/>
                      <p:cNvPicPr/>
                      <p:nvPr/>
                    </p:nvPicPr>
                    <p:blipFill>
                      <a:blip r:embed="rId3"/>
                      <a:stretch>
                        <a:fillRect/>
                      </a:stretch>
                    </p:blipFill>
                    <p:spPr>
                      <a:xfrm>
                        <a:off x="3581400" y="1752600"/>
                        <a:ext cx="881380" cy="384175"/>
                      </a:xfrm>
                      <a:prstGeom prst="rect">
                        <a:avLst/>
                      </a:prstGeom>
                    </p:spPr>
                  </p:pic>
                </p:oleObj>
              </mc:Fallback>
            </mc:AlternateContent>
          </a:graphicData>
        </a:graphic>
      </p:graphicFrame>
      <p:graphicFrame>
        <p:nvGraphicFramePr>
          <p:cNvPr id="6" name="对象 5">
            <a:hlinkClick r:id="" action="ppaction://ole?verb="/>
          </p:cNvPr>
          <p:cNvGraphicFramePr>
            <a:graphicFrameLocks noChangeAspect="1"/>
          </p:cNvGraphicFramePr>
          <p:nvPr/>
        </p:nvGraphicFramePr>
        <p:xfrm>
          <a:off x="7162800" y="1752600"/>
          <a:ext cx="881380" cy="407035"/>
        </p:xfrm>
        <a:graphic>
          <a:graphicData uri="http://schemas.openxmlformats.org/presentationml/2006/ole">
            <mc:AlternateContent xmlns:mc="http://schemas.openxmlformats.org/markup-compatibility/2006">
              <mc:Choice xmlns:v="urn:schemas-microsoft-com:vml" Requires="v">
                <p:oleObj spid="_x0000_s8" name="" r:id="rId4" imgW="495300" imgH="228600" progId="Equation.KSEE3">
                  <p:embed/>
                </p:oleObj>
              </mc:Choice>
              <mc:Fallback>
                <p:oleObj name="" r:id="rId4" imgW="495300" imgH="228600" progId="Equation.KSEE3">
                  <p:embed/>
                  <p:pic>
                    <p:nvPicPr>
                      <p:cNvPr id="0" name="图片 1024"/>
                      <p:cNvPicPr/>
                      <p:nvPr/>
                    </p:nvPicPr>
                    <p:blipFill>
                      <a:blip r:embed="rId5"/>
                      <a:stretch>
                        <a:fillRect/>
                      </a:stretch>
                    </p:blipFill>
                    <p:spPr>
                      <a:xfrm>
                        <a:off x="7162800" y="1752600"/>
                        <a:ext cx="881380" cy="407035"/>
                      </a:xfrm>
                      <a:prstGeom prst="rect">
                        <a:avLst/>
                      </a:prstGeom>
                    </p:spPr>
                  </p:pic>
                </p:oleObj>
              </mc:Fallback>
            </mc:AlternateContent>
          </a:graphicData>
        </a:graphic>
      </p:graphicFrame>
      <p:grpSp>
        <p:nvGrpSpPr>
          <p:cNvPr id="40" name="组合 39"/>
          <p:cNvGrpSpPr/>
          <p:nvPr/>
        </p:nvGrpSpPr>
        <p:grpSpPr>
          <a:xfrm>
            <a:off x="610870" y="4175125"/>
            <a:ext cx="5485130" cy="2277110"/>
            <a:chOff x="962" y="6575"/>
            <a:chExt cx="8638" cy="3586"/>
          </a:xfrm>
        </p:grpSpPr>
        <p:sp>
          <p:nvSpPr>
            <p:cNvPr id="9" name="Rectangle 3"/>
            <p:cNvSpPr>
              <a:spLocks noGrp="1"/>
            </p:cNvSpPr>
            <p:nvPr/>
          </p:nvSpPr>
          <p:spPr>
            <a:xfrm>
              <a:off x="962" y="6575"/>
              <a:ext cx="8639" cy="3587"/>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集电极和发射极之间的等效内阻很小，约为数百欧姆，集电极和发射极之间的压降约为0.2 ~ 0.3V，该电压称为三极管的饱和压降</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，此时C、E之间相当于短路，如同闭合的开关。</a:t>
              </a:r>
              <a:endParaRPr sz="2400" b="1" kern="1200" dirty="0">
                <a:solidFill>
                  <a:srgbClr val="000066"/>
                </a:solidFill>
                <a:latin typeface="Arial" panose="020B0604020202020204" pitchFamily="34" charset="0"/>
                <a:ea typeface="楷体_GB2312" pitchFamily="49" charset="-122"/>
              </a:endParaRPr>
            </a:p>
          </p:txBody>
        </p:sp>
        <p:graphicFrame>
          <p:nvGraphicFramePr>
            <p:cNvPr id="13" name="对象 12">
              <a:hlinkClick r:id="" action="ppaction://ole?verb="/>
            </p:cNvPr>
            <p:cNvGraphicFramePr>
              <a:graphicFrameLocks noChangeAspect="1"/>
            </p:cNvGraphicFramePr>
            <p:nvPr/>
          </p:nvGraphicFramePr>
          <p:xfrm>
            <a:off x="5062" y="8760"/>
            <a:ext cx="784" cy="641"/>
          </p:xfrm>
          <a:graphic>
            <a:graphicData uri="http://schemas.openxmlformats.org/presentationml/2006/ole">
              <mc:AlternateContent xmlns:mc="http://schemas.openxmlformats.org/markup-compatibility/2006">
                <mc:Choice xmlns:v="urn:schemas-microsoft-com:vml" Requires="v">
                  <p:oleObj spid="_x0000_s14" name="" r:id="rId6" imgW="279400" imgH="228600" progId="Equation.KSEE3">
                    <p:embed/>
                  </p:oleObj>
                </mc:Choice>
                <mc:Fallback>
                  <p:oleObj name="" r:id="rId6" imgW="279400" imgH="228600" progId="Equation.KSEE3">
                    <p:embed/>
                    <p:pic>
                      <p:nvPicPr>
                        <p:cNvPr id="0" name="图片 1024"/>
                        <p:cNvPicPr/>
                        <p:nvPr/>
                      </p:nvPicPr>
                      <p:blipFill>
                        <a:blip r:embed="rId7"/>
                        <a:stretch>
                          <a:fillRect/>
                        </a:stretch>
                      </p:blipFill>
                      <p:spPr>
                        <a:xfrm>
                          <a:off x="5062" y="8760"/>
                          <a:ext cx="784" cy="641"/>
                        </a:xfrm>
                        <a:prstGeom prst="rect">
                          <a:avLst/>
                        </a:prstGeom>
                      </p:spPr>
                    </p:pic>
                  </p:oleObj>
                </mc:Fallback>
              </mc:AlternateContent>
            </a:graphicData>
          </a:graphic>
        </p:graphicFrame>
      </p:grpSp>
      <p:grpSp>
        <p:nvGrpSpPr>
          <p:cNvPr id="41" name="组合 40"/>
          <p:cNvGrpSpPr/>
          <p:nvPr/>
        </p:nvGrpSpPr>
        <p:grpSpPr>
          <a:xfrm>
            <a:off x="1053465" y="6324600"/>
            <a:ext cx="5135880" cy="508000"/>
            <a:chOff x="1659" y="9960"/>
            <a:chExt cx="8088" cy="800"/>
          </a:xfrm>
        </p:grpSpPr>
        <p:sp>
          <p:nvSpPr>
            <p:cNvPr id="18" name="Rectangle 3"/>
            <p:cNvSpPr>
              <a:spLocks noGrp="1"/>
            </p:cNvSpPr>
            <p:nvPr/>
          </p:nvSpPr>
          <p:spPr>
            <a:xfrm>
              <a:off x="1659" y="9960"/>
              <a:ext cx="8088" cy="80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在</a:t>
              </a:r>
              <a:r>
                <a:rPr lang="zh-CN" sz="2400" b="1" kern="1200" dirty="0">
                  <a:solidFill>
                    <a:srgbClr val="000066"/>
                  </a:solidFill>
                  <a:latin typeface="Arial" panose="020B0604020202020204" pitchFamily="34" charset="0"/>
                  <a:ea typeface="楷体_GB2312" pitchFamily="49" charset="-122"/>
                </a:rPr>
                <a:t>饱和</a:t>
              </a:r>
              <a:r>
                <a:rPr sz="2400" b="1" kern="1200" dirty="0">
                  <a:solidFill>
                    <a:srgbClr val="000066"/>
                  </a:solidFill>
                  <a:latin typeface="Arial" panose="020B0604020202020204" pitchFamily="34" charset="0"/>
                  <a:ea typeface="楷体_GB2312" pitchFamily="49" charset="-122"/>
                </a:rPr>
                <a:t>状态下，输出电压</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a:t>
              </a:r>
              <a:endParaRPr sz="2400" b="1" kern="1200" dirty="0">
                <a:solidFill>
                  <a:srgbClr val="000066"/>
                </a:solidFill>
                <a:latin typeface="Arial" panose="020B0604020202020204" pitchFamily="34" charset="0"/>
                <a:ea typeface="楷体_GB2312" pitchFamily="49" charset="-122"/>
              </a:endParaRPr>
            </a:p>
          </p:txBody>
        </p:sp>
        <p:graphicFrame>
          <p:nvGraphicFramePr>
            <p:cNvPr id="20" name="对象 19">
              <a:hlinkClick r:id="" action="ppaction://ole?verb="/>
            </p:cNvPr>
            <p:cNvGraphicFramePr>
              <a:graphicFrameLocks noChangeAspect="1"/>
            </p:cNvGraphicFramePr>
            <p:nvPr/>
          </p:nvGraphicFramePr>
          <p:xfrm>
            <a:off x="7147" y="10122"/>
            <a:ext cx="1587" cy="621"/>
          </p:xfrm>
          <a:graphic>
            <a:graphicData uri="http://schemas.openxmlformats.org/presentationml/2006/ole">
              <mc:AlternateContent xmlns:mc="http://schemas.openxmlformats.org/markup-compatibility/2006">
                <mc:Choice xmlns:v="urn:schemas-microsoft-com:vml" Requires="v">
                  <p:oleObj spid="_x0000_s1026" name="" r:id="rId8" imgW="584200" imgH="228600" progId="Equation.KSEE3">
                    <p:embed/>
                  </p:oleObj>
                </mc:Choice>
                <mc:Fallback>
                  <p:oleObj name="" r:id="rId8" imgW="584200" imgH="228600" progId="Equation.KSEE3">
                    <p:embed/>
                    <p:pic>
                      <p:nvPicPr>
                        <p:cNvPr id="0" name="图片 1025"/>
                        <p:cNvPicPr/>
                        <p:nvPr/>
                      </p:nvPicPr>
                      <p:blipFill>
                        <a:blip r:embed="rId9"/>
                        <a:stretch>
                          <a:fillRect/>
                        </a:stretch>
                      </p:blipFill>
                      <p:spPr>
                        <a:xfrm>
                          <a:off x="7147" y="10122"/>
                          <a:ext cx="1587" cy="621"/>
                        </a:xfrm>
                        <a:prstGeom prst="rect">
                          <a:avLst/>
                        </a:prstGeom>
                      </p:spPr>
                    </p:pic>
                  </p:oleObj>
                </mc:Fallback>
              </mc:AlternateContent>
            </a:graphicData>
          </a:graphic>
        </p:graphicFrame>
      </p:grpSp>
      <p:grpSp>
        <p:nvGrpSpPr>
          <p:cNvPr id="38" name="组合 37"/>
          <p:cNvGrpSpPr/>
          <p:nvPr/>
        </p:nvGrpSpPr>
        <p:grpSpPr>
          <a:xfrm>
            <a:off x="609600" y="2057400"/>
            <a:ext cx="7932420" cy="2368550"/>
            <a:chOff x="960" y="3360"/>
            <a:chExt cx="12492" cy="3730"/>
          </a:xfrm>
        </p:grpSpPr>
        <p:sp>
          <p:nvSpPr>
            <p:cNvPr id="4" name="Rectangle 3"/>
            <p:cNvSpPr>
              <a:spLocks noGrp="1"/>
            </p:cNvSpPr>
            <p:nvPr/>
          </p:nvSpPr>
          <p:spPr>
            <a:xfrm>
              <a:off x="960" y="3360"/>
              <a:ext cx="12492" cy="3731"/>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集电极电流</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不随基极电流</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的变化而变化，此时</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越大，饱和程度越深。集电极在饱和状态的电流称为集电极饱和电流</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，由图3-7可知，</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。三极管进入饱和状态时对应的基极电流称为基极临界饱和电流</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，则</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，其中</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为三极管的放大倍数。</a:t>
              </a:r>
              <a:endParaRPr sz="2400" b="1" kern="1200" dirty="0">
                <a:solidFill>
                  <a:srgbClr val="000066"/>
                </a:solidFill>
                <a:latin typeface="Arial" panose="020B0604020202020204" pitchFamily="34" charset="0"/>
                <a:ea typeface="楷体_GB2312" pitchFamily="49" charset="-122"/>
              </a:endParaRPr>
            </a:p>
          </p:txBody>
        </p:sp>
        <p:graphicFrame>
          <p:nvGraphicFramePr>
            <p:cNvPr id="22" name="对象 21">
              <a:hlinkClick r:id="" action="ppaction://ole?verb="/>
            </p:cNvPr>
            <p:cNvGraphicFramePr>
              <a:graphicFrameLocks noChangeAspect="1"/>
            </p:cNvGraphicFramePr>
            <p:nvPr/>
          </p:nvGraphicFramePr>
          <p:xfrm>
            <a:off x="7680" y="3480"/>
            <a:ext cx="392" cy="605"/>
          </p:xfrm>
          <a:graphic>
            <a:graphicData uri="http://schemas.openxmlformats.org/presentationml/2006/ole">
              <mc:AlternateContent xmlns:mc="http://schemas.openxmlformats.org/markup-compatibility/2006">
                <mc:Choice xmlns:v="urn:schemas-microsoft-com:vml" Requires="v">
                  <p:oleObj spid="_x0000_s23" name="" r:id="rId10" imgW="139700" imgH="215900" progId="Equation.KSEE3">
                    <p:embed/>
                  </p:oleObj>
                </mc:Choice>
                <mc:Fallback>
                  <p:oleObj name="" r:id="rId10" imgW="139700" imgH="215900" progId="Equation.KSEE3">
                    <p:embed/>
                    <p:pic>
                      <p:nvPicPr>
                        <p:cNvPr id="0" name="图片 1024"/>
                        <p:cNvPicPr/>
                        <p:nvPr/>
                      </p:nvPicPr>
                      <p:blipFill>
                        <a:blip r:embed="rId11"/>
                        <a:stretch>
                          <a:fillRect/>
                        </a:stretch>
                      </p:blipFill>
                      <p:spPr>
                        <a:xfrm>
                          <a:off x="7680" y="3480"/>
                          <a:ext cx="392" cy="605"/>
                        </a:xfrm>
                        <a:prstGeom prst="rect">
                          <a:avLst/>
                        </a:prstGeom>
                      </p:spPr>
                    </p:pic>
                  </p:oleObj>
                </mc:Fallback>
              </mc:AlternateContent>
            </a:graphicData>
          </a:graphic>
        </p:graphicFrame>
        <p:graphicFrame>
          <p:nvGraphicFramePr>
            <p:cNvPr id="24" name="对象 23">
              <a:hlinkClick r:id="" action="ppaction://ole?verb="/>
            </p:cNvPr>
            <p:cNvGraphicFramePr>
              <a:graphicFrameLocks noChangeAspect="1"/>
            </p:cNvGraphicFramePr>
            <p:nvPr/>
          </p:nvGraphicFramePr>
          <p:xfrm>
            <a:off x="4320" y="3480"/>
            <a:ext cx="392" cy="641"/>
          </p:xfrm>
          <a:graphic>
            <a:graphicData uri="http://schemas.openxmlformats.org/presentationml/2006/ole">
              <mc:AlternateContent xmlns:mc="http://schemas.openxmlformats.org/markup-compatibility/2006">
                <mc:Choice xmlns:v="urn:schemas-microsoft-com:vml" Requires="v">
                  <p:oleObj spid="_x0000_s25" name="" r:id="rId12" imgW="139700" imgH="228600" progId="Equation.KSEE3">
                    <p:embed/>
                  </p:oleObj>
                </mc:Choice>
                <mc:Fallback>
                  <p:oleObj name="" r:id="rId12" imgW="139700" imgH="228600" progId="Equation.KSEE3">
                    <p:embed/>
                    <p:pic>
                      <p:nvPicPr>
                        <p:cNvPr id="0" name="图片 1024"/>
                        <p:cNvPicPr/>
                        <p:nvPr/>
                      </p:nvPicPr>
                      <p:blipFill>
                        <a:blip r:embed="rId13"/>
                        <a:stretch>
                          <a:fillRect/>
                        </a:stretch>
                      </p:blipFill>
                      <p:spPr>
                        <a:xfrm>
                          <a:off x="4320" y="3480"/>
                          <a:ext cx="392" cy="641"/>
                        </a:xfrm>
                        <a:prstGeom prst="rect">
                          <a:avLst/>
                        </a:prstGeom>
                      </p:spPr>
                    </p:pic>
                  </p:oleObj>
                </mc:Fallback>
              </mc:AlternateContent>
            </a:graphicData>
          </a:graphic>
        </p:graphicFrame>
        <p:graphicFrame>
          <p:nvGraphicFramePr>
            <p:cNvPr id="26" name="对象 25">
              <a:hlinkClick r:id="" action="ppaction://ole?verb="/>
            </p:cNvPr>
            <p:cNvGraphicFramePr>
              <a:graphicFrameLocks noChangeAspect="1"/>
            </p:cNvGraphicFramePr>
            <p:nvPr/>
          </p:nvGraphicFramePr>
          <p:xfrm>
            <a:off x="12381" y="3465"/>
            <a:ext cx="392" cy="605"/>
          </p:xfrm>
          <a:graphic>
            <a:graphicData uri="http://schemas.openxmlformats.org/presentationml/2006/ole">
              <mc:AlternateContent xmlns:mc="http://schemas.openxmlformats.org/markup-compatibility/2006">
                <mc:Choice xmlns:v="urn:schemas-microsoft-com:vml" Requires="v">
                  <p:oleObj spid="_x0000_s27" name="" r:id="rId14" imgW="139700" imgH="215900" progId="Equation.KSEE3">
                    <p:embed/>
                  </p:oleObj>
                </mc:Choice>
                <mc:Fallback>
                  <p:oleObj name="" r:id="rId14" imgW="139700" imgH="215900" progId="Equation.KSEE3">
                    <p:embed/>
                    <p:pic>
                      <p:nvPicPr>
                        <p:cNvPr id="0" name="图片 1024"/>
                        <p:cNvPicPr/>
                        <p:nvPr/>
                      </p:nvPicPr>
                      <p:blipFill>
                        <a:blip r:embed="rId11"/>
                        <a:stretch>
                          <a:fillRect/>
                        </a:stretch>
                      </p:blipFill>
                      <p:spPr>
                        <a:xfrm>
                          <a:off x="12381" y="3465"/>
                          <a:ext cx="392" cy="605"/>
                        </a:xfrm>
                        <a:prstGeom prst="rect">
                          <a:avLst/>
                        </a:prstGeom>
                      </p:spPr>
                    </p:pic>
                  </p:oleObj>
                </mc:Fallback>
              </mc:AlternateContent>
            </a:graphicData>
          </a:graphic>
        </p:graphicFrame>
        <p:graphicFrame>
          <p:nvGraphicFramePr>
            <p:cNvPr id="28" name="对象 27">
              <a:hlinkClick r:id="" action="ppaction://ole?verb="/>
            </p:cNvPr>
            <p:cNvGraphicFramePr>
              <a:graphicFrameLocks noChangeAspect="1"/>
            </p:cNvGraphicFramePr>
            <p:nvPr/>
          </p:nvGraphicFramePr>
          <p:xfrm>
            <a:off x="3120" y="4884"/>
            <a:ext cx="606" cy="641"/>
          </p:xfrm>
          <a:graphic>
            <a:graphicData uri="http://schemas.openxmlformats.org/presentationml/2006/ole">
              <mc:AlternateContent xmlns:mc="http://schemas.openxmlformats.org/markup-compatibility/2006">
                <mc:Choice xmlns:v="urn:schemas-microsoft-com:vml" Requires="v">
                  <p:oleObj spid="_x0000_s29" name="" r:id="rId15" imgW="215900" imgH="228600" progId="Equation.KSEE3">
                    <p:embed/>
                  </p:oleObj>
                </mc:Choice>
                <mc:Fallback>
                  <p:oleObj name="" r:id="rId15" imgW="215900" imgH="228600" progId="Equation.KSEE3">
                    <p:embed/>
                    <p:pic>
                      <p:nvPicPr>
                        <p:cNvPr id="0" name="图片 1024"/>
                        <p:cNvPicPr/>
                        <p:nvPr/>
                      </p:nvPicPr>
                      <p:blipFill>
                        <a:blip r:embed="rId16"/>
                        <a:stretch>
                          <a:fillRect/>
                        </a:stretch>
                      </p:blipFill>
                      <p:spPr>
                        <a:xfrm>
                          <a:off x="3120" y="4884"/>
                          <a:ext cx="606" cy="641"/>
                        </a:xfrm>
                        <a:prstGeom prst="rect">
                          <a:avLst/>
                        </a:prstGeom>
                      </p:spPr>
                    </p:pic>
                  </p:oleObj>
                </mc:Fallback>
              </mc:AlternateContent>
            </a:graphicData>
          </a:graphic>
        </p:graphicFrame>
        <p:graphicFrame>
          <p:nvGraphicFramePr>
            <p:cNvPr id="30" name="对象 29">
              <a:hlinkClick r:id="" action="ppaction://ole?verb="/>
            </p:cNvPr>
            <p:cNvGraphicFramePr>
              <a:graphicFrameLocks noChangeAspect="1"/>
            </p:cNvGraphicFramePr>
            <p:nvPr/>
          </p:nvGraphicFramePr>
          <p:xfrm>
            <a:off x="7050" y="4857"/>
            <a:ext cx="2389" cy="641"/>
          </p:xfrm>
          <a:graphic>
            <a:graphicData uri="http://schemas.openxmlformats.org/presentationml/2006/ole">
              <mc:AlternateContent xmlns:mc="http://schemas.openxmlformats.org/markup-compatibility/2006">
                <mc:Choice xmlns:v="urn:schemas-microsoft-com:vml" Requires="v">
                  <p:oleObj spid="_x0000_s31" name="" r:id="rId17" imgW="850900" imgH="228600" progId="Equation.KSEE3">
                    <p:embed/>
                  </p:oleObj>
                </mc:Choice>
                <mc:Fallback>
                  <p:oleObj name="" r:id="rId17" imgW="850900" imgH="228600" progId="Equation.KSEE3">
                    <p:embed/>
                    <p:pic>
                      <p:nvPicPr>
                        <p:cNvPr id="0" name="图片 1024"/>
                        <p:cNvPicPr/>
                        <p:nvPr/>
                      </p:nvPicPr>
                      <p:blipFill>
                        <a:blip r:embed="rId18"/>
                        <a:stretch>
                          <a:fillRect/>
                        </a:stretch>
                      </p:blipFill>
                      <p:spPr>
                        <a:xfrm>
                          <a:off x="7050" y="4857"/>
                          <a:ext cx="2389" cy="641"/>
                        </a:xfrm>
                        <a:prstGeom prst="rect">
                          <a:avLst/>
                        </a:prstGeom>
                      </p:spPr>
                    </p:pic>
                  </p:oleObj>
                </mc:Fallback>
              </mc:AlternateContent>
            </a:graphicData>
          </a:graphic>
        </p:graphicFrame>
        <p:graphicFrame>
          <p:nvGraphicFramePr>
            <p:cNvPr id="32" name="对象 31">
              <a:hlinkClick r:id="" action="ppaction://ole?verb="/>
            </p:cNvPr>
            <p:cNvGraphicFramePr>
              <a:graphicFrameLocks noChangeAspect="1"/>
            </p:cNvGraphicFramePr>
            <p:nvPr/>
          </p:nvGraphicFramePr>
          <p:xfrm>
            <a:off x="10920" y="5520"/>
            <a:ext cx="642" cy="641"/>
          </p:xfrm>
          <a:graphic>
            <a:graphicData uri="http://schemas.openxmlformats.org/presentationml/2006/ole">
              <mc:AlternateContent xmlns:mc="http://schemas.openxmlformats.org/markup-compatibility/2006">
                <mc:Choice xmlns:v="urn:schemas-microsoft-com:vml" Requires="v">
                  <p:oleObj spid="_x0000_s33" name="" r:id="rId19" imgW="228600" imgH="228600" progId="Equation.KSEE3">
                    <p:embed/>
                  </p:oleObj>
                </mc:Choice>
                <mc:Fallback>
                  <p:oleObj name="" r:id="rId19" imgW="228600" imgH="228600" progId="Equation.KSEE3">
                    <p:embed/>
                    <p:pic>
                      <p:nvPicPr>
                        <p:cNvPr id="0" name="图片 1024"/>
                        <p:cNvPicPr/>
                        <p:nvPr/>
                      </p:nvPicPr>
                      <p:blipFill>
                        <a:blip r:embed="rId20"/>
                        <a:stretch>
                          <a:fillRect/>
                        </a:stretch>
                      </p:blipFill>
                      <p:spPr>
                        <a:xfrm>
                          <a:off x="10920" y="5520"/>
                          <a:ext cx="642" cy="641"/>
                        </a:xfrm>
                        <a:prstGeom prst="rect">
                          <a:avLst/>
                        </a:prstGeom>
                      </p:spPr>
                    </p:pic>
                  </p:oleObj>
                </mc:Fallback>
              </mc:AlternateContent>
            </a:graphicData>
          </a:graphic>
        </p:graphicFrame>
        <p:graphicFrame>
          <p:nvGraphicFramePr>
            <p:cNvPr id="34" name="对象 33">
              <a:hlinkClick r:id="" action="ppaction://ole?verb="/>
            </p:cNvPr>
            <p:cNvGraphicFramePr>
              <a:graphicFrameLocks noChangeAspect="1"/>
            </p:cNvGraphicFramePr>
            <p:nvPr/>
          </p:nvGraphicFramePr>
          <p:xfrm>
            <a:off x="1070" y="6240"/>
            <a:ext cx="2889" cy="641"/>
          </p:xfrm>
          <a:graphic>
            <a:graphicData uri="http://schemas.openxmlformats.org/presentationml/2006/ole">
              <mc:AlternateContent xmlns:mc="http://schemas.openxmlformats.org/markup-compatibility/2006">
                <mc:Choice xmlns:v="urn:schemas-microsoft-com:vml" Requires="v">
                  <p:oleObj spid="_x0000_s35" name="" r:id="rId21" imgW="1028700" imgH="228600" progId="Equation.KSEE3">
                    <p:embed/>
                  </p:oleObj>
                </mc:Choice>
                <mc:Fallback>
                  <p:oleObj name="" r:id="rId21" imgW="1028700" imgH="228600" progId="Equation.KSEE3">
                    <p:embed/>
                    <p:pic>
                      <p:nvPicPr>
                        <p:cNvPr id="0" name="图片 1024"/>
                        <p:cNvPicPr/>
                        <p:nvPr/>
                      </p:nvPicPr>
                      <p:blipFill>
                        <a:blip r:embed="rId22"/>
                        <a:stretch>
                          <a:fillRect/>
                        </a:stretch>
                      </p:blipFill>
                      <p:spPr>
                        <a:xfrm>
                          <a:off x="1070" y="6240"/>
                          <a:ext cx="2889" cy="641"/>
                        </a:xfrm>
                        <a:prstGeom prst="rect">
                          <a:avLst/>
                        </a:prstGeom>
                      </p:spPr>
                    </p:pic>
                  </p:oleObj>
                </mc:Fallback>
              </mc:AlternateContent>
            </a:graphicData>
          </a:graphic>
        </p:graphicFrame>
        <p:graphicFrame>
          <p:nvGraphicFramePr>
            <p:cNvPr id="36" name="对象 35">
              <a:hlinkClick r:id="" action="ppaction://ole?verb="/>
            </p:cNvPr>
            <p:cNvGraphicFramePr>
              <a:graphicFrameLocks noChangeAspect="1"/>
            </p:cNvGraphicFramePr>
            <p:nvPr/>
          </p:nvGraphicFramePr>
          <p:xfrm>
            <a:off x="5520" y="6282"/>
            <a:ext cx="428" cy="570"/>
          </p:xfrm>
          <a:graphic>
            <a:graphicData uri="http://schemas.openxmlformats.org/presentationml/2006/ole">
              <mc:AlternateContent xmlns:mc="http://schemas.openxmlformats.org/markup-compatibility/2006">
                <mc:Choice xmlns:v="urn:schemas-microsoft-com:vml" Requires="v">
                  <p:oleObj spid="_x0000_s37" name="" r:id="rId23" imgW="152400" imgH="203200" progId="Equation.KSEE3">
                    <p:embed/>
                  </p:oleObj>
                </mc:Choice>
                <mc:Fallback>
                  <p:oleObj name="" r:id="rId23" imgW="152400" imgH="203200" progId="Equation.KSEE3">
                    <p:embed/>
                    <p:pic>
                      <p:nvPicPr>
                        <p:cNvPr id="0" name="图片 1024"/>
                        <p:cNvPicPr/>
                        <p:nvPr/>
                      </p:nvPicPr>
                      <p:blipFill>
                        <a:blip r:embed="rId24"/>
                        <a:stretch>
                          <a:fillRect/>
                        </a:stretch>
                      </p:blipFill>
                      <p:spPr>
                        <a:xfrm>
                          <a:off x="5520" y="6282"/>
                          <a:ext cx="428" cy="570"/>
                        </a:xfrm>
                        <a:prstGeom prst="rect">
                          <a:avLst/>
                        </a:prstGeom>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9" presetClass="entr" presetSubtype="0" accel="10000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p:cTn id="7" dur="500" fill="hold"/>
                                        <p:tgtEl>
                                          <p:spTgt spid="38"/>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38"/>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38"/>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38"/>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18" presetClass="entr" presetSubtype="12" fill="hold" nodeType="click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strips(downLeft)">
                                      <p:cBhvr>
                                        <p:cTn id="15" dur="500"/>
                                        <p:tgtEl>
                                          <p:spTgt spid="40"/>
                                        </p:tgtEl>
                                      </p:cBhvr>
                                    </p:animEffect>
                                  </p:childTnLst>
                                </p:cTn>
                              </p:par>
                            </p:childTnLst>
                          </p:cTn>
                        </p:par>
                      </p:childTnLst>
                    </p:cTn>
                  </p:par>
                  <p:par>
                    <p:cTn id="16" fill="hold">
                      <p:stCondLst>
                        <p:cond delay="indefinite"/>
                      </p:stCondLst>
                      <p:childTnLst>
                        <p:par>
                          <p:cTn id="17" fill="hold">
                            <p:stCondLst>
                              <p:cond delay="0"/>
                            </p:stCondLst>
                            <p:childTnLst>
                              <p:par>
                                <p:cTn id="18" presetID="30" presetClass="entr" presetSubtype="0" fill="hold" nodeType="clickEffect">
                                  <p:stCondLst>
                                    <p:cond delay="0"/>
                                  </p:stCondLst>
                                  <p:childTnLst>
                                    <p:set>
                                      <p:cBhvr>
                                        <p:cTn id="19" dur="1" fill="hold">
                                          <p:stCondLst>
                                            <p:cond delay="0"/>
                                          </p:stCondLst>
                                        </p:cTn>
                                        <p:tgtEl>
                                          <p:spTgt spid="41"/>
                                        </p:tgtEl>
                                        <p:attrNameLst>
                                          <p:attrName>style.visibility</p:attrName>
                                        </p:attrNameLst>
                                      </p:cBhvr>
                                      <p:to>
                                        <p:strVal val="visible"/>
                                      </p:to>
                                    </p:set>
                                    <p:animEffect transition="in" filter="fade">
                                      <p:cBhvr>
                                        <p:cTn id="20" dur="800" decel="100000"/>
                                        <p:tgtEl>
                                          <p:spTgt spid="41"/>
                                        </p:tgtEl>
                                      </p:cBhvr>
                                    </p:animEffect>
                                    <p:anim calcmode="lin" valueType="num">
                                      <p:cBhvr>
                                        <p:cTn id="21" dur="800" decel="100000" fill="hold"/>
                                        <p:tgtEl>
                                          <p:spTgt spid="41"/>
                                        </p:tgtEl>
                                        <p:attrNameLst>
                                          <p:attrName>style.rotation</p:attrName>
                                        </p:attrNameLst>
                                      </p:cBhvr>
                                      <p:tavLst>
                                        <p:tav tm="0">
                                          <p:val>
                                            <p:fltVal val="-90"/>
                                          </p:val>
                                        </p:tav>
                                        <p:tav tm="100000">
                                          <p:val>
                                            <p:fltVal val="0"/>
                                          </p:val>
                                        </p:tav>
                                      </p:tavLst>
                                    </p:anim>
                                    <p:anim calcmode="lin" valueType="num">
                                      <p:cBhvr>
                                        <p:cTn id="22" dur="800" decel="100000" fill="hold"/>
                                        <p:tgtEl>
                                          <p:spTgt spid="41"/>
                                        </p:tgtEl>
                                        <p:attrNameLst>
                                          <p:attrName>ppt_x</p:attrName>
                                        </p:attrNameLst>
                                      </p:cBhvr>
                                      <p:tavLst>
                                        <p:tav tm="0">
                                          <p:val>
                                            <p:strVal val="#ppt_x+0.4"/>
                                          </p:val>
                                        </p:tav>
                                        <p:tav tm="100000">
                                          <p:val>
                                            <p:strVal val="#ppt_x-0.05"/>
                                          </p:val>
                                        </p:tav>
                                      </p:tavLst>
                                    </p:anim>
                                    <p:anim calcmode="lin" valueType="num">
                                      <p:cBhvr>
                                        <p:cTn id="23" dur="800" decel="100000" fill="hold"/>
                                        <p:tgtEl>
                                          <p:spTgt spid="41"/>
                                        </p:tgtEl>
                                        <p:attrNameLst>
                                          <p:attrName>ppt_y</p:attrName>
                                        </p:attrNameLst>
                                      </p:cBhvr>
                                      <p:tavLst>
                                        <p:tav tm="0">
                                          <p:val>
                                            <p:strVal val="#ppt_y-0.4"/>
                                          </p:val>
                                        </p:tav>
                                        <p:tav tm="100000">
                                          <p:val>
                                            <p:strVal val="#ppt_y+0.1"/>
                                          </p:val>
                                        </p:tav>
                                      </p:tavLst>
                                    </p:anim>
                                    <p:anim calcmode="lin" valueType="num">
                                      <p:cBhvr>
                                        <p:cTn id="24" dur="200" accel="100000" fill="hold">
                                          <p:stCondLst>
                                            <p:cond delay="800"/>
                                          </p:stCondLst>
                                        </p:cTn>
                                        <p:tgtEl>
                                          <p:spTgt spid="41"/>
                                        </p:tgtEl>
                                        <p:attrNameLst>
                                          <p:attrName>ppt_x</p:attrName>
                                        </p:attrNameLst>
                                      </p:cBhvr>
                                      <p:tavLst>
                                        <p:tav tm="0">
                                          <p:val>
                                            <p:strVal val="#ppt_x-0.05"/>
                                          </p:val>
                                        </p:tav>
                                        <p:tav tm="100000">
                                          <p:val>
                                            <p:strVal val="#ppt_x"/>
                                          </p:val>
                                        </p:tav>
                                      </p:tavLst>
                                    </p:anim>
                                    <p:anim calcmode="lin" valueType="num">
                                      <p:cBhvr>
                                        <p:cTn id="25" dur="200" accel="100000" fill="hold">
                                          <p:stCondLst>
                                            <p:cond delay="800"/>
                                          </p:stCondLst>
                                        </p:cTn>
                                        <p:tgtEl>
                                          <p:spTgt spid="4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r>
              <a:rPr lang="en-US" altLang="zh-CN" sz="1200" dirty="0">
                <a:solidFill>
                  <a:schemeClr val="bg1"/>
                </a:solidFill>
                <a:ea typeface="宋体" panose="02010600030101010101" pitchFamily="2" charset="-122"/>
              </a:rPr>
              <a:t>图3-8三极管非门电路</a:t>
            </a: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0" name="文本框 9"/>
          <p:cNvSpPr txBox="1"/>
          <p:nvPr/>
        </p:nvSpPr>
        <p:spPr>
          <a:xfrm>
            <a:off x="-9525"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grpSp>
        <p:nvGrpSpPr>
          <p:cNvPr id="35" name="组合 34"/>
          <p:cNvGrpSpPr/>
          <p:nvPr/>
        </p:nvGrpSpPr>
        <p:grpSpPr>
          <a:xfrm>
            <a:off x="5993130" y="3200400"/>
            <a:ext cx="3122930" cy="3547110"/>
            <a:chOff x="9360" y="5040"/>
            <a:chExt cx="4918" cy="5586"/>
          </a:xfrm>
        </p:grpSpPr>
        <p:pic>
          <p:nvPicPr>
            <p:cNvPr id="9232" name="图片 2669"/>
            <p:cNvPicPr>
              <a:picLocks noChangeAspect="1"/>
            </p:cNvPicPr>
            <p:nvPr/>
          </p:nvPicPr>
          <p:blipFill>
            <a:blip r:embed="rId1"/>
            <a:stretch>
              <a:fillRect/>
            </a:stretch>
          </p:blipFill>
          <p:spPr>
            <a:xfrm>
              <a:off x="9360" y="5040"/>
              <a:ext cx="4734" cy="5133"/>
            </a:xfrm>
            <a:prstGeom prst="rect">
              <a:avLst/>
            </a:prstGeom>
            <a:noFill/>
            <a:ln>
              <a:noFill/>
            </a:ln>
          </p:spPr>
        </p:pic>
        <p:sp>
          <p:nvSpPr>
            <p:cNvPr id="100" name="文本框 99"/>
            <p:cNvSpPr txBox="1"/>
            <p:nvPr/>
          </p:nvSpPr>
          <p:spPr>
            <a:xfrm>
              <a:off x="9960" y="10095"/>
              <a:ext cx="4318" cy="531"/>
            </a:xfrm>
            <a:prstGeom prst="rect">
              <a:avLst/>
            </a:prstGeom>
            <a:noFill/>
            <a:ln w="9525">
              <a:noFill/>
            </a:ln>
          </p:spPr>
          <p:txBody>
            <a:bodyPr wrap="square">
              <a:spAutoFit/>
            </a:bodyPr>
            <a:p>
              <a:r>
                <a:rPr lang="en-US" sz="1600">
                  <a:latin typeface="Times New Roman" panose="02020603050405020304" charset="0"/>
                  <a:ea typeface="宋体" panose="02010600030101010101" pitchFamily="2" charset="-122"/>
                </a:rPr>
                <a:t> </a:t>
              </a:r>
              <a:r>
                <a:rPr sz="1600">
                  <a:latin typeface="Times New Roman" panose="02020603050405020304" charset="0"/>
                  <a:ea typeface="宋体" panose="02010600030101010101" pitchFamily="2" charset="-122"/>
                </a:rPr>
                <a:t>图3-8三极管非门电路</a:t>
              </a:r>
              <a:endParaRPr sz="1600">
                <a:latin typeface="Times New Roman" panose="02020603050405020304" charset="0"/>
                <a:ea typeface="宋体" panose="02010600030101010101" pitchFamily="2" charset="-122"/>
              </a:endParaRPr>
            </a:p>
          </p:txBody>
        </p:sp>
      </p:grpSp>
      <p:sp>
        <p:nvSpPr>
          <p:cNvPr id="6147" name="Rectangle 3"/>
          <p:cNvSpPr>
            <a:spLocks noGrp="1"/>
          </p:cNvSpPr>
          <p:nvPr>
            <p:ph idx="1"/>
          </p:nvPr>
        </p:nvSpPr>
        <p:spPr>
          <a:xfrm>
            <a:off x="609600" y="1600200"/>
            <a:ext cx="8003540" cy="143891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三极管非门电路如图3-8所示。在图3-8中，</a:t>
            </a:r>
            <a:r>
              <a:rPr lang="zh-CN" altLang="en-US" sz="2400" b="1" i="1" kern="1200" dirty="0">
                <a:solidFill>
                  <a:srgbClr val="000066"/>
                </a:solidFill>
                <a:latin typeface="Arial" panose="020B0604020202020204" pitchFamily="34" charset="0"/>
                <a:ea typeface="楷体_GB2312" pitchFamily="49" charset="-122"/>
              </a:rPr>
              <a:t>V</a:t>
            </a:r>
            <a:r>
              <a:rPr lang="zh-CN" altLang="en-US" sz="2400" b="1" kern="1200" baseline="-25000" dirty="0">
                <a:solidFill>
                  <a:srgbClr val="000066"/>
                </a:solidFill>
                <a:latin typeface="Arial" panose="020B0604020202020204" pitchFamily="34" charset="0"/>
                <a:ea typeface="楷体_GB2312" pitchFamily="49" charset="-122"/>
              </a:rPr>
              <a:t>EE</a:t>
            </a:r>
            <a:r>
              <a:rPr lang="zh-CN" altLang="en-US" sz="2400" b="1" kern="1200" dirty="0">
                <a:solidFill>
                  <a:srgbClr val="000066"/>
                </a:solidFill>
                <a:latin typeface="Arial" panose="020B0604020202020204" pitchFamily="34" charset="0"/>
                <a:ea typeface="楷体_GB2312" pitchFamily="49" charset="-122"/>
              </a:rPr>
              <a:t>是一个负电源，能够保证在A点输入低电平时发射结反向偏置，从而让三极管工作在截止状态。</a:t>
            </a:r>
            <a:endParaRPr lang="zh-CN" altLang="en-US" sz="2400" b="1" kern="1200" dirty="0">
              <a:solidFill>
                <a:srgbClr val="000066"/>
              </a:solidFill>
              <a:latin typeface="Arial" panose="020B0604020202020204" pitchFamily="34" charset="0"/>
              <a:ea typeface="楷体_GB2312" pitchFamily="49" charset="-122"/>
            </a:endParaRPr>
          </a:p>
        </p:txBody>
      </p:sp>
      <p:sp>
        <p:nvSpPr>
          <p:cNvPr id="2" name="Rectangle 3"/>
          <p:cNvSpPr>
            <a:spLocks noGrp="1"/>
          </p:cNvSpPr>
          <p:nvPr/>
        </p:nvSpPr>
        <p:spPr>
          <a:xfrm>
            <a:off x="1122680" y="1143000"/>
            <a:ext cx="220789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2. 三极管</a:t>
            </a:r>
            <a:r>
              <a:rPr lang="zh-CN" altLang="en-US" sz="2400" b="1" kern="1200" dirty="0">
                <a:solidFill>
                  <a:srgbClr val="FE09D6"/>
                </a:solidFill>
                <a:latin typeface="Times New Roman" panose="02020603050405020304" charset="0"/>
                <a:ea typeface="楷体_GB2312" pitchFamily="49" charset="-122"/>
                <a:cs typeface="Times New Roman" panose="02020603050405020304" charset="0"/>
              </a:rPr>
              <a:t>非门</a:t>
            </a:r>
            <a:endParaRPr lang="zh-CN" alt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3" name="TextBox 6"/>
          <p:cNvSpPr txBox="1"/>
          <p:nvPr/>
        </p:nvSpPr>
        <p:spPr>
          <a:xfrm>
            <a:off x="25146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3.1 </a:t>
            </a:r>
            <a:r>
              <a:rPr lang="zh-CN" altLang="en-US" b="1" dirty="0">
                <a:solidFill>
                  <a:srgbClr val="FF0000"/>
                </a:solidFill>
                <a:latin typeface="黑体" panose="02010609060101010101" pitchFamily="49" charset="-122"/>
                <a:ea typeface="黑体" panose="02010609060101010101" pitchFamily="49" charset="-122"/>
              </a:rPr>
              <a:t>分立元件门电路</a:t>
            </a:r>
            <a:endParaRPr lang="zh-CN" altLang="en-US" b="1" dirty="0">
              <a:solidFill>
                <a:srgbClr val="FF0000"/>
              </a:solidFill>
              <a:latin typeface="黑体" panose="02010609060101010101" pitchFamily="49" charset="-122"/>
              <a:ea typeface="黑体" panose="02010609060101010101" pitchFamily="49" charset="-122"/>
            </a:endParaRPr>
          </a:p>
        </p:txBody>
      </p:sp>
      <p:grpSp>
        <p:nvGrpSpPr>
          <p:cNvPr id="39" name="组合 38"/>
          <p:cNvGrpSpPr/>
          <p:nvPr/>
        </p:nvGrpSpPr>
        <p:grpSpPr>
          <a:xfrm>
            <a:off x="609600" y="2971800"/>
            <a:ext cx="8021955" cy="1812290"/>
            <a:chOff x="960" y="4320"/>
            <a:chExt cx="12633" cy="2854"/>
          </a:xfrm>
        </p:grpSpPr>
        <p:sp>
          <p:nvSpPr>
            <p:cNvPr id="4" name="Rectangle 3"/>
            <p:cNvSpPr>
              <a:spLocks noGrp="1"/>
            </p:cNvSpPr>
            <p:nvPr/>
          </p:nvSpPr>
          <p:spPr>
            <a:xfrm>
              <a:off x="960" y="4320"/>
              <a:ext cx="12633" cy="2854"/>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设A点的输入电压</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为0V和3V两种情况，</a:t>
              </a:r>
              <a:r>
                <a:rPr lang="en-US" sz="2400" b="1" kern="1200" dirty="0">
                  <a:solidFill>
                    <a:srgbClr val="000066"/>
                  </a:solidFill>
                  <a:latin typeface="Arial" panose="020B0604020202020204" pitchFamily="34" charset="0"/>
                  <a:ea typeface="楷体_GB2312" pitchFamily="49" charset="-122"/>
                </a:rPr>
                <a:t> </a:t>
              </a:r>
              <a:r>
                <a:rPr lang="en-US" sz="2400" b="1" i="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 </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，三极管放大倍数</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a:t>
              </a:r>
              <a:r>
                <a:rPr lang="en-US" sz="2400" b="1" kern="1200" dirty="0">
                  <a:solidFill>
                    <a:srgbClr val="000066"/>
                  </a:solidFill>
                  <a:latin typeface="Arial" panose="020B0604020202020204" pitchFamily="34" charset="0"/>
                  <a:ea typeface="楷体_GB2312" pitchFamily="49" charset="-122"/>
                </a:rPr>
                <a:t>             </a:t>
              </a:r>
              <a:endParaRPr lang="en-US"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a:t>
              </a:r>
              <a:r>
                <a:rPr sz="2400" b="1" kern="1200" dirty="0">
                  <a:solidFill>
                    <a:srgbClr val="000066"/>
                  </a:solidFill>
                  <a:latin typeface="Arial" panose="020B0604020202020204" pitchFamily="34" charset="0"/>
                  <a:ea typeface="楷体_GB2312" pitchFamily="49" charset="-122"/>
                </a:rPr>
                <a:t>饱和压降</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，则输入电压</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和输出电压之间的关系如下。</a:t>
              </a:r>
              <a:endParaRPr sz="2400" b="1" kern="1200" dirty="0">
                <a:solidFill>
                  <a:srgbClr val="000066"/>
                </a:solidFill>
                <a:latin typeface="Arial" panose="020B0604020202020204" pitchFamily="34" charset="0"/>
                <a:ea typeface="楷体_GB2312" pitchFamily="49" charset="-122"/>
              </a:endParaRPr>
            </a:p>
          </p:txBody>
        </p:sp>
        <p:graphicFrame>
          <p:nvGraphicFramePr>
            <p:cNvPr id="5" name="对象 4">
              <a:hlinkClick r:id="" action="ppaction://ole?verb="/>
            </p:cNvPr>
            <p:cNvGraphicFramePr>
              <a:graphicFrameLocks noChangeAspect="1"/>
            </p:cNvGraphicFramePr>
            <p:nvPr/>
          </p:nvGraphicFramePr>
          <p:xfrm>
            <a:off x="8040" y="5160"/>
            <a:ext cx="2918" cy="605"/>
          </p:xfrm>
          <a:graphic>
            <a:graphicData uri="http://schemas.openxmlformats.org/presentationml/2006/ole">
              <mc:AlternateContent xmlns:mc="http://schemas.openxmlformats.org/markup-compatibility/2006">
                <mc:Choice xmlns:v="urn:schemas-microsoft-com:vml" Requires="v">
                  <p:oleObj spid="_x0000_s1025" name="" r:id="rId2" imgW="1041400" imgH="215900" progId="Equation.KSEE3">
                    <p:embed/>
                  </p:oleObj>
                </mc:Choice>
                <mc:Fallback>
                  <p:oleObj name="" r:id="rId2" imgW="1041400" imgH="215900" progId="Equation.KSEE3">
                    <p:embed/>
                    <p:pic>
                      <p:nvPicPr>
                        <p:cNvPr id="0" name="图片 1024"/>
                        <p:cNvPicPr/>
                        <p:nvPr/>
                      </p:nvPicPr>
                      <p:blipFill>
                        <a:blip r:embed="rId3"/>
                        <a:stretch>
                          <a:fillRect/>
                        </a:stretch>
                      </p:blipFill>
                      <p:spPr>
                        <a:xfrm>
                          <a:off x="8040" y="5160"/>
                          <a:ext cx="2918" cy="605"/>
                        </a:xfrm>
                        <a:prstGeom prst="rect">
                          <a:avLst/>
                        </a:prstGeom>
                      </p:spPr>
                    </p:pic>
                  </p:oleObj>
                </mc:Fallback>
              </mc:AlternateContent>
            </a:graphicData>
          </a:graphic>
        </p:graphicFrame>
        <p:graphicFrame>
          <p:nvGraphicFramePr>
            <p:cNvPr id="6" name="对象 5">
              <a:hlinkClick r:id="" action="ppaction://ole?verb="/>
            </p:cNvPr>
            <p:cNvGraphicFramePr>
              <a:graphicFrameLocks noChangeAspect="1"/>
            </p:cNvGraphicFramePr>
            <p:nvPr/>
          </p:nvGraphicFramePr>
          <p:xfrm>
            <a:off x="6678" y="5160"/>
            <a:ext cx="1282" cy="570"/>
          </p:xfrm>
          <a:graphic>
            <a:graphicData uri="http://schemas.openxmlformats.org/presentationml/2006/ole">
              <mc:AlternateContent xmlns:mc="http://schemas.openxmlformats.org/markup-compatibility/2006">
                <mc:Choice xmlns:v="urn:schemas-microsoft-com:vml" Requires="v">
                  <p:oleObj spid="_x0000_s8" name="" r:id="rId4" imgW="457200" imgH="203200" progId="Equation.KSEE3">
                    <p:embed/>
                  </p:oleObj>
                </mc:Choice>
                <mc:Fallback>
                  <p:oleObj name="" r:id="rId4" imgW="457200" imgH="203200" progId="Equation.KSEE3">
                    <p:embed/>
                    <p:pic>
                      <p:nvPicPr>
                        <p:cNvPr id="0" name="图片 1024"/>
                        <p:cNvPicPr/>
                        <p:nvPr/>
                      </p:nvPicPr>
                      <p:blipFill>
                        <a:blip r:embed="rId5"/>
                        <a:stretch>
                          <a:fillRect/>
                        </a:stretch>
                      </p:blipFill>
                      <p:spPr>
                        <a:xfrm>
                          <a:off x="6678" y="5160"/>
                          <a:ext cx="1282" cy="570"/>
                        </a:xfrm>
                        <a:prstGeom prst="rect">
                          <a:avLst/>
                        </a:prstGeom>
                      </p:spPr>
                    </p:pic>
                  </p:oleObj>
                </mc:Fallback>
              </mc:AlternateContent>
            </a:graphicData>
          </a:graphic>
        </p:graphicFrame>
        <p:graphicFrame>
          <p:nvGraphicFramePr>
            <p:cNvPr id="22" name="对象 21">
              <a:hlinkClick r:id="" action="ppaction://ole?verb="/>
            </p:cNvPr>
            <p:cNvGraphicFramePr>
              <a:graphicFrameLocks noChangeAspect="1"/>
            </p:cNvGraphicFramePr>
            <p:nvPr/>
          </p:nvGraphicFramePr>
          <p:xfrm>
            <a:off x="1200" y="5880"/>
            <a:ext cx="1958" cy="641"/>
          </p:xfrm>
          <a:graphic>
            <a:graphicData uri="http://schemas.openxmlformats.org/presentationml/2006/ole">
              <mc:AlternateContent xmlns:mc="http://schemas.openxmlformats.org/markup-compatibility/2006">
                <mc:Choice xmlns:v="urn:schemas-microsoft-com:vml" Requires="v">
                  <p:oleObj spid="_x0000_s23" name="" r:id="rId6" imgW="698500" imgH="228600" progId="Equation.KSEE3">
                    <p:embed/>
                  </p:oleObj>
                </mc:Choice>
                <mc:Fallback>
                  <p:oleObj name="" r:id="rId6" imgW="698500" imgH="228600" progId="Equation.KSEE3">
                    <p:embed/>
                    <p:pic>
                      <p:nvPicPr>
                        <p:cNvPr id="0" name="图片 1024"/>
                        <p:cNvPicPr/>
                        <p:nvPr/>
                      </p:nvPicPr>
                      <p:blipFill>
                        <a:blip r:embed="rId7"/>
                        <a:stretch>
                          <a:fillRect/>
                        </a:stretch>
                      </p:blipFill>
                      <p:spPr>
                        <a:xfrm>
                          <a:off x="1200" y="5880"/>
                          <a:ext cx="1958" cy="641"/>
                        </a:xfrm>
                        <a:prstGeom prst="rect">
                          <a:avLst/>
                        </a:prstGeom>
                      </p:spPr>
                    </p:pic>
                  </p:oleObj>
                </mc:Fallback>
              </mc:AlternateContent>
            </a:graphicData>
          </a:graphic>
        </p:graphicFrame>
        <p:graphicFrame>
          <p:nvGraphicFramePr>
            <p:cNvPr id="24" name="对象 23">
              <a:hlinkClick r:id="" action="ppaction://ole?verb="/>
            </p:cNvPr>
            <p:cNvGraphicFramePr>
              <a:graphicFrameLocks noChangeAspect="1"/>
            </p:cNvGraphicFramePr>
            <p:nvPr/>
          </p:nvGraphicFramePr>
          <p:xfrm>
            <a:off x="5619" y="4440"/>
            <a:ext cx="463" cy="606"/>
          </p:xfrm>
          <a:graphic>
            <a:graphicData uri="http://schemas.openxmlformats.org/presentationml/2006/ole">
              <mc:AlternateContent xmlns:mc="http://schemas.openxmlformats.org/markup-compatibility/2006">
                <mc:Choice xmlns:v="urn:schemas-microsoft-com:vml" Requires="v">
                  <p:oleObj spid="_x0000_s25" name="" r:id="rId8" imgW="165100" imgH="215900" progId="Equation.KSEE3">
                    <p:embed/>
                  </p:oleObj>
                </mc:Choice>
                <mc:Fallback>
                  <p:oleObj name="" r:id="rId8" imgW="165100" imgH="215900" progId="Equation.KSEE3">
                    <p:embed/>
                    <p:pic>
                      <p:nvPicPr>
                        <p:cNvPr id="0" name="图片 1024"/>
                        <p:cNvPicPr/>
                        <p:nvPr/>
                      </p:nvPicPr>
                      <p:blipFill>
                        <a:blip r:embed="rId9"/>
                        <a:stretch>
                          <a:fillRect/>
                        </a:stretch>
                      </p:blipFill>
                      <p:spPr>
                        <a:xfrm>
                          <a:off x="5619" y="4440"/>
                          <a:ext cx="463" cy="606"/>
                        </a:xfrm>
                        <a:prstGeom prst="rect">
                          <a:avLst/>
                        </a:prstGeom>
                      </p:spPr>
                    </p:pic>
                  </p:oleObj>
                </mc:Fallback>
              </mc:AlternateContent>
            </a:graphicData>
          </a:graphic>
        </p:graphicFrame>
        <p:graphicFrame>
          <p:nvGraphicFramePr>
            <p:cNvPr id="26" name="对象 25">
              <a:hlinkClick r:id="" action="ppaction://ole?verb="/>
            </p:cNvPr>
            <p:cNvGraphicFramePr>
              <a:graphicFrameLocks noChangeAspect="1"/>
            </p:cNvGraphicFramePr>
            <p:nvPr/>
          </p:nvGraphicFramePr>
          <p:xfrm>
            <a:off x="10293" y="4419"/>
            <a:ext cx="1887" cy="606"/>
          </p:xfrm>
          <a:graphic>
            <a:graphicData uri="http://schemas.openxmlformats.org/presentationml/2006/ole">
              <mc:AlternateContent xmlns:mc="http://schemas.openxmlformats.org/markup-compatibility/2006">
                <mc:Choice xmlns:v="urn:schemas-microsoft-com:vml" Requires="v">
                  <p:oleObj spid="_x0000_s27" name="" r:id="rId10" imgW="673100" imgH="215900" progId="Equation.KSEE3">
                    <p:embed/>
                  </p:oleObj>
                </mc:Choice>
                <mc:Fallback>
                  <p:oleObj name="" r:id="rId10" imgW="673100" imgH="215900" progId="Equation.KSEE3">
                    <p:embed/>
                    <p:pic>
                      <p:nvPicPr>
                        <p:cNvPr id="0" name="图片 1024"/>
                        <p:cNvPicPr/>
                        <p:nvPr/>
                      </p:nvPicPr>
                      <p:blipFill>
                        <a:blip r:embed="rId11"/>
                        <a:stretch>
                          <a:fillRect/>
                        </a:stretch>
                      </p:blipFill>
                      <p:spPr>
                        <a:xfrm>
                          <a:off x="10293" y="4419"/>
                          <a:ext cx="1887" cy="606"/>
                        </a:xfrm>
                        <a:prstGeom prst="rect">
                          <a:avLst/>
                        </a:prstGeom>
                      </p:spPr>
                    </p:pic>
                  </p:oleObj>
                </mc:Fallback>
              </mc:AlternateContent>
            </a:graphicData>
          </a:graphic>
        </p:graphicFrame>
        <p:graphicFrame>
          <p:nvGraphicFramePr>
            <p:cNvPr id="28" name="对象 27">
              <a:hlinkClick r:id="" action="ppaction://ole?verb="/>
            </p:cNvPr>
            <p:cNvGraphicFramePr>
              <a:graphicFrameLocks noChangeAspect="1"/>
            </p:cNvGraphicFramePr>
            <p:nvPr/>
          </p:nvGraphicFramePr>
          <p:xfrm>
            <a:off x="1200" y="5160"/>
            <a:ext cx="1674" cy="642"/>
          </p:xfrm>
          <a:graphic>
            <a:graphicData uri="http://schemas.openxmlformats.org/presentationml/2006/ole">
              <mc:AlternateContent xmlns:mc="http://schemas.openxmlformats.org/markup-compatibility/2006">
                <mc:Choice xmlns:v="urn:schemas-microsoft-com:vml" Requires="v">
                  <p:oleObj spid="_x0000_s29" name="" r:id="rId12" imgW="596900" imgH="228600" progId="Equation.KSEE3">
                    <p:embed/>
                  </p:oleObj>
                </mc:Choice>
                <mc:Fallback>
                  <p:oleObj name="" r:id="rId12" imgW="596900" imgH="228600" progId="Equation.KSEE3">
                    <p:embed/>
                    <p:pic>
                      <p:nvPicPr>
                        <p:cNvPr id="0" name="图片 1024"/>
                        <p:cNvPicPr/>
                        <p:nvPr/>
                      </p:nvPicPr>
                      <p:blipFill>
                        <a:blip r:embed="rId13"/>
                        <a:stretch>
                          <a:fillRect/>
                        </a:stretch>
                      </p:blipFill>
                      <p:spPr>
                        <a:xfrm>
                          <a:off x="1200" y="5160"/>
                          <a:ext cx="1674" cy="642"/>
                        </a:xfrm>
                        <a:prstGeom prst="rect">
                          <a:avLst/>
                        </a:prstGeom>
                      </p:spPr>
                    </p:pic>
                  </p:oleObj>
                </mc:Fallback>
              </mc:AlternateContent>
            </a:graphicData>
          </a:graphic>
        </p:graphicFrame>
        <p:graphicFrame>
          <p:nvGraphicFramePr>
            <p:cNvPr id="30" name="对象 29">
              <a:hlinkClick r:id="" action="ppaction://ole?verb="/>
            </p:cNvPr>
            <p:cNvGraphicFramePr>
              <a:graphicFrameLocks noChangeAspect="1"/>
            </p:cNvGraphicFramePr>
            <p:nvPr/>
          </p:nvGraphicFramePr>
          <p:xfrm>
            <a:off x="5760" y="5880"/>
            <a:ext cx="2138" cy="642"/>
          </p:xfrm>
          <a:graphic>
            <a:graphicData uri="http://schemas.openxmlformats.org/presentationml/2006/ole">
              <mc:AlternateContent xmlns:mc="http://schemas.openxmlformats.org/markup-compatibility/2006">
                <mc:Choice xmlns:v="urn:schemas-microsoft-com:vml" Requires="v">
                  <p:oleObj spid="_x0000_s31" name="" r:id="rId14" imgW="762000" imgH="228600" progId="Equation.KSEE3">
                    <p:embed/>
                  </p:oleObj>
                </mc:Choice>
                <mc:Fallback>
                  <p:oleObj name="" r:id="rId14" imgW="762000" imgH="228600" progId="Equation.KSEE3">
                    <p:embed/>
                    <p:pic>
                      <p:nvPicPr>
                        <p:cNvPr id="0" name="图片 1024"/>
                        <p:cNvPicPr/>
                        <p:nvPr/>
                      </p:nvPicPr>
                      <p:blipFill>
                        <a:blip r:embed="rId15"/>
                        <a:stretch>
                          <a:fillRect/>
                        </a:stretch>
                      </p:blipFill>
                      <p:spPr>
                        <a:xfrm>
                          <a:off x="5760" y="5880"/>
                          <a:ext cx="2138" cy="642"/>
                        </a:xfrm>
                        <a:prstGeom prst="rect">
                          <a:avLst/>
                        </a:prstGeom>
                      </p:spPr>
                    </p:pic>
                  </p:oleObj>
                </mc:Fallback>
              </mc:AlternateContent>
            </a:graphicData>
          </a:graphic>
        </p:graphicFrame>
      </p:grpSp>
      <p:grpSp>
        <p:nvGrpSpPr>
          <p:cNvPr id="38" name="组合 37"/>
          <p:cNvGrpSpPr/>
          <p:nvPr/>
        </p:nvGrpSpPr>
        <p:grpSpPr>
          <a:xfrm>
            <a:off x="621665" y="4902200"/>
            <a:ext cx="5559425" cy="1358900"/>
            <a:chOff x="979" y="7120"/>
            <a:chExt cx="8755" cy="2140"/>
          </a:xfrm>
        </p:grpSpPr>
        <p:sp>
          <p:nvSpPr>
            <p:cNvPr id="15" name="Rectangle 3"/>
            <p:cNvSpPr>
              <a:spLocks noGrp="1"/>
            </p:cNvSpPr>
            <p:nvPr/>
          </p:nvSpPr>
          <p:spPr>
            <a:xfrm>
              <a:off x="979" y="7120"/>
              <a:ext cx="8378" cy="2061"/>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(1) </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时，三极管基极电压为负，发射结和集电结均反向偏置，三极管截止，故Y</a:t>
              </a:r>
              <a:r>
                <a:rPr lang="zh-CN" sz="2400" b="1" kern="1200" dirty="0">
                  <a:solidFill>
                    <a:srgbClr val="000066"/>
                  </a:solidFill>
                  <a:latin typeface="Arial" panose="020B0604020202020204" pitchFamily="34" charset="0"/>
                  <a:ea typeface="楷体_GB2312" pitchFamily="49" charset="-122"/>
                </a:rPr>
                <a:t>点的输出电压</a:t>
              </a:r>
              <a:endParaRPr sz="2400" b="1" kern="1200" dirty="0">
                <a:solidFill>
                  <a:srgbClr val="000066"/>
                </a:solidFill>
                <a:latin typeface="Arial" panose="020B0604020202020204" pitchFamily="34" charset="0"/>
                <a:ea typeface="楷体_GB2312" pitchFamily="49" charset="-122"/>
              </a:endParaRPr>
            </a:p>
          </p:txBody>
        </p:sp>
        <p:graphicFrame>
          <p:nvGraphicFramePr>
            <p:cNvPr id="20" name="对象 19">
              <a:hlinkClick r:id="" action="ppaction://ole?verb="/>
            </p:cNvPr>
            <p:cNvGraphicFramePr>
              <a:graphicFrameLocks noChangeAspect="1"/>
            </p:cNvGraphicFramePr>
            <p:nvPr/>
          </p:nvGraphicFramePr>
          <p:xfrm>
            <a:off x="7320" y="8640"/>
            <a:ext cx="2414" cy="621"/>
          </p:xfrm>
          <a:graphic>
            <a:graphicData uri="http://schemas.openxmlformats.org/presentationml/2006/ole">
              <mc:AlternateContent xmlns:mc="http://schemas.openxmlformats.org/markup-compatibility/2006">
                <mc:Choice xmlns:v="urn:schemas-microsoft-com:vml" Requires="v">
                  <p:oleObj spid="_x0000_s1026" name="" r:id="rId16" imgW="889000" imgH="228600" progId="Equation.KSEE3">
                    <p:embed/>
                  </p:oleObj>
                </mc:Choice>
                <mc:Fallback>
                  <p:oleObj name="" r:id="rId16" imgW="889000" imgH="228600" progId="Equation.KSEE3">
                    <p:embed/>
                    <p:pic>
                      <p:nvPicPr>
                        <p:cNvPr id="0" name="图片 1025"/>
                        <p:cNvPicPr/>
                        <p:nvPr/>
                      </p:nvPicPr>
                      <p:blipFill>
                        <a:blip r:embed="rId17"/>
                        <a:stretch>
                          <a:fillRect/>
                        </a:stretch>
                      </p:blipFill>
                      <p:spPr>
                        <a:xfrm>
                          <a:off x="7320" y="8640"/>
                          <a:ext cx="2414" cy="621"/>
                        </a:xfrm>
                        <a:prstGeom prst="rect">
                          <a:avLst/>
                        </a:prstGeom>
                      </p:spPr>
                    </p:pic>
                  </p:oleObj>
                </mc:Fallback>
              </mc:AlternateContent>
            </a:graphicData>
          </a:graphic>
        </p:graphicFrame>
        <p:graphicFrame>
          <p:nvGraphicFramePr>
            <p:cNvPr id="36" name="对象 35">
              <a:hlinkClick r:id="" action="ppaction://ole?verb="/>
            </p:cNvPr>
            <p:cNvGraphicFramePr>
              <a:graphicFrameLocks noChangeAspect="1"/>
            </p:cNvGraphicFramePr>
            <p:nvPr/>
          </p:nvGraphicFramePr>
          <p:xfrm>
            <a:off x="2640" y="7278"/>
            <a:ext cx="1461" cy="606"/>
          </p:xfrm>
          <a:graphic>
            <a:graphicData uri="http://schemas.openxmlformats.org/presentationml/2006/ole">
              <mc:AlternateContent xmlns:mc="http://schemas.openxmlformats.org/markup-compatibility/2006">
                <mc:Choice xmlns:v="urn:schemas-microsoft-com:vml" Requires="v">
                  <p:oleObj spid="_x0000_s37" name="" r:id="rId18" imgW="520700" imgH="215900" progId="Equation.KSEE3">
                    <p:embed/>
                  </p:oleObj>
                </mc:Choice>
                <mc:Fallback>
                  <p:oleObj name="" r:id="rId18" imgW="520700" imgH="215900" progId="Equation.KSEE3">
                    <p:embed/>
                    <p:pic>
                      <p:nvPicPr>
                        <p:cNvPr id="0" name="图片 1024"/>
                        <p:cNvPicPr/>
                        <p:nvPr/>
                      </p:nvPicPr>
                      <p:blipFill>
                        <a:blip r:embed="rId19"/>
                        <a:stretch>
                          <a:fillRect/>
                        </a:stretch>
                      </p:blipFill>
                      <p:spPr>
                        <a:xfrm>
                          <a:off x="2640" y="7278"/>
                          <a:ext cx="1461" cy="606"/>
                        </a:xfrm>
                        <a:prstGeom prst="rect">
                          <a:avLst/>
                        </a:prstGeom>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p:cTn id="7" dur="500" fill="hold"/>
                                        <p:tgtEl>
                                          <p:spTgt spid="39"/>
                                        </p:tgtEl>
                                        <p:attrNameLst>
                                          <p:attrName>ppt_w</p:attrName>
                                        </p:attrNameLst>
                                      </p:cBhvr>
                                      <p:tavLst>
                                        <p:tav tm="0">
                                          <p:val>
                                            <p:fltVal val="0"/>
                                          </p:val>
                                        </p:tav>
                                        <p:tav tm="100000">
                                          <p:val>
                                            <p:strVal val="#ppt_w"/>
                                          </p:val>
                                        </p:tav>
                                      </p:tavLst>
                                    </p:anim>
                                    <p:anim calcmode="lin" valueType="num">
                                      <p:cBhvr>
                                        <p:cTn id="8" dur="500" fill="hold"/>
                                        <p:tgtEl>
                                          <p:spTgt spid="39"/>
                                        </p:tgtEl>
                                        <p:attrNameLst>
                                          <p:attrName>ppt_h</p:attrName>
                                        </p:attrNameLst>
                                      </p:cBhvr>
                                      <p:tavLst>
                                        <p:tav tm="0">
                                          <p:val>
                                            <p:fltVal val="0"/>
                                          </p:val>
                                        </p:tav>
                                        <p:tav tm="100000">
                                          <p:val>
                                            <p:strVal val="#ppt_h"/>
                                          </p:val>
                                        </p:tav>
                                      </p:tavLst>
                                    </p:anim>
                                    <p:animEffect transition="in" filter="fade">
                                      <p:cBhvr>
                                        <p:cTn id="9" dur="500"/>
                                        <p:tgtEl>
                                          <p:spTgt spid="39"/>
                                        </p:tgtEl>
                                      </p:cBhvr>
                                    </p:animEffect>
                                  </p:childTnLst>
                                </p:cTn>
                              </p:par>
                            </p:childTnLst>
                          </p:cTn>
                        </p:par>
                      </p:childTnLst>
                    </p:cTn>
                  </p:par>
                  <p:par>
                    <p:cTn id="10" fill="hold">
                      <p:stCondLst>
                        <p:cond delay="indefinite"/>
                      </p:stCondLst>
                      <p:childTnLst>
                        <p:par>
                          <p:cTn id="11" fill="hold">
                            <p:stCondLst>
                              <p:cond delay="0"/>
                            </p:stCondLst>
                            <p:childTnLst>
                              <p:par>
                                <p:cTn id="12" presetID="8" presetClass="entr" presetSubtype="16" fill="hold" nodeType="clickEffect">
                                  <p:stCondLst>
                                    <p:cond delay="0"/>
                                  </p:stCondLst>
                                  <p:childTnLst>
                                    <p:set>
                                      <p:cBhvr>
                                        <p:cTn id="13" dur="1000" fill="hold">
                                          <p:stCondLst>
                                            <p:cond delay="0"/>
                                          </p:stCondLst>
                                        </p:cTn>
                                        <p:tgtEl>
                                          <p:spTgt spid="38"/>
                                        </p:tgtEl>
                                        <p:attrNameLst>
                                          <p:attrName>style.visibility</p:attrName>
                                        </p:attrNameLst>
                                      </p:cBhvr>
                                      <p:to>
                                        <p:strVal val="visible"/>
                                      </p:to>
                                    </p:set>
                                    <p:animEffect transition="in" filter="diamond(in)">
                                      <p:cBhvr>
                                        <p:cTn id="14" dur="10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9525"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grpSp>
        <p:nvGrpSpPr>
          <p:cNvPr id="35" name="组合 34"/>
          <p:cNvGrpSpPr/>
          <p:nvPr/>
        </p:nvGrpSpPr>
        <p:grpSpPr>
          <a:xfrm>
            <a:off x="5840730" y="2209800"/>
            <a:ext cx="3122930" cy="3547110"/>
            <a:chOff x="9360" y="5040"/>
            <a:chExt cx="4918" cy="5586"/>
          </a:xfrm>
        </p:grpSpPr>
        <p:pic>
          <p:nvPicPr>
            <p:cNvPr id="9232" name="图片 2669"/>
            <p:cNvPicPr>
              <a:picLocks noChangeAspect="1"/>
            </p:cNvPicPr>
            <p:nvPr/>
          </p:nvPicPr>
          <p:blipFill>
            <a:blip r:embed="rId1"/>
            <a:stretch>
              <a:fillRect/>
            </a:stretch>
          </p:blipFill>
          <p:spPr>
            <a:xfrm>
              <a:off x="9360" y="5040"/>
              <a:ext cx="4734" cy="5133"/>
            </a:xfrm>
            <a:prstGeom prst="rect">
              <a:avLst/>
            </a:prstGeom>
            <a:noFill/>
            <a:ln>
              <a:noFill/>
            </a:ln>
          </p:spPr>
        </p:pic>
        <p:sp>
          <p:nvSpPr>
            <p:cNvPr id="100" name="文本框 99"/>
            <p:cNvSpPr txBox="1"/>
            <p:nvPr/>
          </p:nvSpPr>
          <p:spPr>
            <a:xfrm>
              <a:off x="9960" y="10095"/>
              <a:ext cx="4318" cy="531"/>
            </a:xfrm>
            <a:prstGeom prst="rect">
              <a:avLst/>
            </a:prstGeom>
            <a:noFill/>
            <a:ln w="9525">
              <a:noFill/>
            </a:ln>
          </p:spPr>
          <p:txBody>
            <a:bodyPr wrap="square">
              <a:spAutoFit/>
            </a:bodyPr>
            <a:p>
              <a:r>
                <a:rPr lang="en-US" sz="1600">
                  <a:latin typeface="Times New Roman" panose="02020603050405020304" charset="0"/>
                  <a:ea typeface="宋体" panose="02010600030101010101" pitchFamily="2" charset="-122"/>
                </a:rPr>
                <a:t>    </a:t>
              </a:r>
              <a:r>
                <a:rPr sz="1600">
                  <a:latin typeface="Times New Roman" panose="02020603050405020304" charset="0"/>
                  <a:ea typeface="宋体" panose="02010600030101010101" pitchFamily="2" charset="-122"/>
                </a:rPr>
                <a:t>图3-8三极管非门电路</a:t>
              </a:r>
              <a:endParaRPr sz="1600">
                <a:latin typeface="Times New Roman" panose="02020603050405020304" charset="0"/>
                <a:ea typeface="宋体" panose="02010600030101010101" pitchFamily="2" charset="-122"/>
              </a:endParaRPr>
            </a:p>
          </p:txBody>
        </p:sp>
      </p:grpSp>
      <p:sp>
        <p:nvSpPr>
          <p:cNvPr id="6147" name="Rectangle 3"/>
          <p:cNvSpPr>
            <a:spLocks noGrp="1"/>
          </p:cNvSpPr>
          <p:nvPr>
            <p:ph idx="1"/>
          </p:nvPr>
        </p:nvSpPr>
        <p:spPr>
          <a:xfrm>
            <a:off x="609600" y="1143000"/>
            <a:ext cx="8003540" cy="50038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(2) </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时，三极管导通，导通后</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，此时，</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3" name="TextBox 6"/>
          <p:cNvSpPr txBox="1"/>
          <p:nvPr/>
        </p:nvSpPr>
        <p:spPr>
          <a:xfrm>
            <a:off x="25146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3.1 </a:t>
            </a:r>
            <a:r>
              <a:rPr lang="zh-CN" altLang="en-US" b="1" dirty="0">
                <a:solidFill>
                  <a:srgbClr val="FF0000"/>
                </a:solidFill>
                <a:latin typeface="黑体" panose="02010609060101010101" pitchFamily="49" charset="-122"/>
                <a:ea typeface="黑体" panose="02010609060101010101" pitchFamily="49" charset="-122"/>
              </a:rPr>
              <a:t>分立元件门电路</a:t>
            </a:r>
            <a:endParaRPr lang="zh-CN" altLang="en-US" b="1" dirty="0">
              <a:solidFill>
                <a:srgbClr val="FF0000"/>
              </a:solidFill>
              <a:latin typeface="黑体" panose="02010609060101010101" pitchFamily="49" charset="-122"/>
              <a:ea typeface="黑体" panose="02010609060101010101" pitchFamily="49" charset="-122"/>
            </a:endParaRPr>
          </a:p>
        </p:txBody>
      </p:sp>
      <p:graphicFrame>
        <p:nvGraphicFramePr>
          <p:cNvPr id="24" name="对象 23">
            <a:hlinkClick r:id="" action="ppaction://ole?verb="/>
          </p:cNvPr>
          <p:cNvGraphicFramePr>
            <a:graphicFrameLocks noChangeAspect="1"/>
          </p:cNvGraphicFramePr>
          <p:nvPr/>
        </p:nvGraphicFramePr>
        <p:xfrm>
          <a:off x="1600200" y="1245870"/>
          <a:ext cx="927735" cy="384810"/>
        </p:xfrm>
        <a:graphic>
          <a:graphicData uri="http://schemas.openxmlformats.org/presentationml/2006/ole">
            <mc:AlternateContent xmlns:mc="http://schemas.openxmlformats.org/markup-compatibility/2006">
              <mc:Choice xmlns:v="urn:schemas-microsoft-com:vml" Requires="v">
                <p:oleObj spid="_x0000_s25" name="" r:id="rId2" imgW="520700" imgH="215900" progId="Equation.KSEE3">
                  <p:embed/>
                </p:oleObj>
              </mc:Choice>
              <mc:Fallback>
                <p:oleObj name="" r:id="rId2" imgW="520700" imgH="215900" progId="Equation.KSEE3">
                  <p:embed/>
                  <p:pic>
                    <p:nvPicPr>
                      <p:cNvPr id="0" name="图片 1024"/>
                      <p:cNvPicPr/>
                      <p:nvPr/>
                    </p:nvPicPr>
                    <p:blipFill>
                      <a:blip r:embed="rId3"/>
                      <a:stretch>
                        <a:fillRect/>
                      </a:stretch>
                    </p:blipFill>
                    <p:spPr>
                      <a:xfrm>
                        <a:off x="1600200" y="1245870"/>
                        <a:ext cx="927735" cy="384810"/>
                      </a:xfrm>
                      <a:prstGeom prst="rect">
                        <a:avLst/>
                      </a:prstGeom>
                    </p:spPr>
                  </p:pic>
                </p:oleObj>
              </mc:Fallback>
            </mc:AlternateContent>
          </a:graphicData>
        </a:graphic>
      </p:graphicFrame>
      <p:graphicFrame>
        <p:nvGraphicFramePr>
          <p:cNvPr id="26" name="对象 25">
            <a:hlinkClick r:id="" action="ppaction://ole?verb="/>
          </p:cNvPr>
          <p:cNvGraphicFramePr>
            <a:graphicFrameLocks noChangeAspect="1"/>
          </p:cNvGraphicFramePr>
          <p:nvPr/>
        </p:nvGraphicFramePr>
        <p:xfrm>
          <a:off x="5880418" y="1245870"/>
          <a:ext cx="1266190" cy="384810"/>
        </p:xfrm>
        <a:graphic>
          <a:graphicData uri="http://schemas.openxmlformats.org/presentationml/2006/ole">
            <mc:AlternateContent xmlns:mc="http://schemas.openxmlformats.org/markup-compatibility/2006">
              <mc:Choice xmlns:v="urn:schemas-microsoft-com:vml" Requires="v">
                <p:oleObj spid="_x0000_s27" name="" r:id="rId4" imgW="711200" imgH="215900" progId="Equation.KSEE3">
                  <p:embed/>
                </p:oleObj>
              </mc:Choice>
              <mc:Fallback>
                <p:oleObj name="" r:id="rId4" imgW="711200" imgH="215900" progId="Equation.KSEE3">
                  <p:embed/>
                  <p:pic>
                    <p:nvPicPr>
                      <p:cNvPr id="0" name="图片 1024"/>
                      <p:cNvPicPr/>
                      <p:nvPr/>
                    </p:nvPicPr>
                    <p:blipFill>
                      <a:blip r:embed="rId5"/>
                      <a:stretch>
                        <a:fillRect/>
                      </a:stretch>
                    </p:blipFill>
                    <p:spPr>
                      <a:xfrm>
                        <a:off x="5880418" y="1245870"/>
                        <a:ext cx="1266190" cy="384810"/>
                      </a:xfrm>
                      <a:prstGeom prst="rect">
                        <a:avLst/>
                      </a:prstGeom>
                    </p:spPr>
                  </p:pic>
                </p:oleObj>
              </mc:Fallback>
            </mc:AlternateContent>
          </a:graphicData>
        </a:graphic>
      </p:graphicFrame>
      <p:sp>
        <p:nvSpPr>
          <p:cNvPr id="15" name="Rectangle 3"/>
          <p:cNvSpPr>
            <a:spLocks noGrp="1"/>
          </p:cNvSpPr>
          <p:nvPr/>
        </p:nvSpPr>
        <p:spPr>
          <a:xfrm>
            <a:off x="609600" y="3505200"/>
            <a:ext cx="3532505" cy="55435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基极临界饱和电流为</a:t>
            </a:r>
            <a:endParaRPr sz="2400" b="1" kern="1200" dirty="0">
              <a:solidFill>
                <a:srgbClr val="000066"/>
              </a:solidFill>
              <a:latin typeface="Arial" panose="020B0604020202020204" pitchFamily="34" charset="0"/>
              <a:ea typeface="楷体_GB2312" pitchFamily="49" charset="-122"/>
            </a:endParaRPr>
          </a:p>
        </p:txBody>
      </p:sp>
      <p:grpSp>
        <p:nvGrpSpPr>
          <p:cNvPr id="32" name="组合 31"/>
          <p:cNvGrpSpPr/>
          <p:nvPr/>
        </p:nvGrpSpPr>
        <p:grpSpPr>
          <a:xfrm>
            <a:off x="2133600" y="1600200"/>
            <a:ext cx="4139565" cy="783590"/>
            <a:chOff x="3360" y="2520"/>
            <a:chExt cx="6519" cy="1234"/>
          </a:xfrm>
        </p:grpSpPr>
        <p:sp>
          <p:nvSpPr>
            <p:cNvPr id="4" name="Rectangle 3"/>
            <p:cNvSpPr>
              <a:spLocks noGrp="1"/>
            </p:cNvSpPr>
            <p:nvPr/>
          </p:nvSpPr>
          <p:spPr>
            <a:xfrm>
              <a:off x="8493" y="2682"/>
              <a:ext cx="1386" cy="853"/>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000" b="1" kern="1200" dirty="0">
                  <a:solidFill>
                    <a:srgbClr val="000066"/>
                  </a:solidFill>
                  <a:latin typeface="Arial" panose="020B0604020202020204" pitchFamily="34" charset="0"/>
                  <a:ea typeface="楷体_GB2312" pitchFamily="49" charset="-122"/>
                </a:rPr>
                <a:t>(mA)</a:t>
              </a:r>
              <a:endParaRPr lang="en-US" sz="2000" b="1" kern="1200" dirty="0">
                <a:solidFill>
                  <a:srgbClr val="000066"/>
                </a:solidFill>
                <a:latin typeface="Arial" panose="020B0604020202020204" pitchFamily="34" charset="0"/>
                <a:ea typeface="楷体_GB2312" pitchFamily="49" charset="-122"/>
              </a:endParaRPr>
            </a:p>
          </p:txBody>
        </p:sp>
        <p:graphicFrame>
          <p:nvGraphicFramePr>
            <p:cNvPr id="2" name="对象 -2147482059"/>
            <p:cNvGraphicFramePr>
              <a:graphicFrameLocks noChangeAspect="1"/>
            </p:cNvGraphicFramePr>
            <p:nvPr/>
          </p:nvGraphicFramePr>
          <p:xfrm>
            <a:off x="3360" y="2520"/>
            <a:ext cx="5304" cy="1234"/>
          </p:xfrm>
          <a:graphic>
            <a:graphicData uri="http://schemas.openxmlformats.org/presentationml/2006/ole">
              <mc:AlternateContent xmlns:mc="http://schemas.openxmlformats.org/markup-compatibility/2006">
                <mc:Choice xmlns:v="urn:schemas-microsoft-com:vml" Requires="v">
                  <p:oleObj spid="_x0000_s3076" name="" r:id="rId6" imgW="1637665" imgH="381000" progId="Equation.DSMT4">
                    <p:embed/>
                  </p:oleObj>
                </mc:Choice>
                <mc:Fallback>
                  <p:oleObj name="" r:id="rId6" imgW="1637665" imgH="381000" progId="Equation.DSMT4">
                    <p:embed/>
                    <p:pic>
                      <p:nvPicPr>
                        <p:cNvPr id="0" name="图片 3075"/>
                        <p:cNvPicPr/>
                        <p:nvPr/>
                      </p:nvPicPr>
                      <p:blipFill>
                        <a:blip r:embed="rId7"/>
                        <a:stretch>
                          <a:fillRect/>
                        </a:stretch>
                      </p:blipFill>
                      <p:spPr>
                        <a:xfrm>
                          <a:off x="3360" y="2520"/>
                          <a:ext cx="5304" cy="1234"/>
                        </a:xfrm>
                        <a:prstGeom prst="rect">
                          <a:avLst/>
                        </a:prstGeom>
                        <a:noFill/>
                        <a:ln w="38100">
                          <a:noFill/>
                          <a:miter/>
                        </a:ln>
                      </p:spPr>
                    </p:pic>
                  </p:oleObj>
                </mc:Fallback>
              </mc:AlternateContent>
            </a:graphicData>
          </a:graphic>
        </p:graphicFrame>
      </p:grpSp>
      <p:grpSp>
        <p:nvGrpSpPr>
          <p:cNvPr id="33" name="组合 32"/>
          <p:cNvGrpSpPr/>
          <p:nvPr/>
        </p:nvGrpSpPr>
        <p:grpSpPr>
          <a:xfrm>
            <a:off x="2133600" y="2362200"/>
            <a:ext cx="4394835" cy="774700"/>
            <a:chOff x="3360" y="3720"/>
            <a:chExt cx="6921" cy="1220"/>
          </a:xfrm>
        </p:grpSpPr>
        <p:graphicFrame>
          <p:nvGraphicFramePr>
            <p:cNvPr id="5" name="对象 -2147482058"/>
            <p:cNvGraphicFramePr>
              <a:graphicFrameLocks noChangeAspect="1"/>
            </p:cNvGraphicFramePr>
            <p:nvPr/>
          </p:nvGraphicFramePr>
          <p:xfrm>
            <a:off x="3360" y="3720"/>
            <a:ext cx="5691" cy="1220"/>
          </p:xfrm>
          <a:graphic>
            <a:graphicData uri="http://schemas.openxmlformats.org/presentationml/2006/ole">
              <mc:AlternateContent xmlns:mc="http://schemas.openxmlformats.org/markup-compatibility/2006">
                <mc:Choice xmlns:v="urn:schemas-microsoft-com:vml" Requires="v">
                  <p:oleObj spid="_x0000_s7" name="" r:id="rId8" imgW="1777365" imgH="381000" progId="Equation.DSMT4">
                    <p:embed/>
                  </p:oleObj>
                </mc:Choice>
                <mc:Fallback>
                  <p:oleObj name="" r:id="rId8" imgW="1777365" imgH="381000" progId="Equation.DSMT4">
                    <p:embed/>
                    <p:pic>
                      <p:nvPicPr>
                        <p:cNvPr id="0" name="图片 6"/>
                        <p:cNvPicPr/>
                        <p:nvPr/>
                      </p:nvPicPr>
                      <p:blipFill>
                        <a:blip r:embed="rId9"/>
                        <a:stretch>
                          <a:fillRect/>
                        </a:stretch>
                      </p:blipFill>
                      <p:spPr>
                        <a:xfrm>
                          <a:off x="3360" y="3720"/>
                          <a:ext cx="5691" cy="1220"/>
                        </a:xfrm>
                        <a:prstGeom prst="rect">
                          <a:avLst/>
                        </a:prstGeom>
                        <a:noFill/>
                        <a:ln w="38100">
                          <a:noFill/>
                          <a:miter/>
                        </a:ln>
                      </p:spPr>
                    </p:pic>
                  </p:oleObj>
                </mc:Fallback>
              </mc:AlternateContent>
            </a:graphicData>
          </a:graphic>
        </p:graphicFrame>
        <p:sp>
          <p:nvSpPr>
            <p:cNvPr id="9" name="Rectangle 3"/>
            <p:cNvSpPr>
              <a:spLocks noGrp="1"/>
            </p:cNvSpPr>
            <p:nvPr/>
          </p:nvSpPr>
          <p:spPr>
            <a:xfrm>
              <a:off x="8895" y="3867"/>
              <a:ext cx="1386" cy="853"/>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000" b="1" kern="1200" dirty="0">
                  <a:solidFill>
                    <a:srgbClr val="000066"/>
                  </a:solidFill>
                  <a:latin typeface="Arial" panose="020B0604020202020204" pitchFamily="34" charset="0"/>
                  <a:ea typeface="楷体_GB2312" pitchFamily="49" charset="-122"/>
                </a:rPr>
                <a:t>(mA)</a:t>
              </a:r>
              <a:endParaRPr lang="en-US" sz="2000" b="1" kern="1200" dirty="0">
                <a:solidFill>
                  <a:srgbClr val="000066"/>
                </a:solidFill>
                <a:latin typeface="Arial" panose="020B0604020202020204" pitchFamily="34" charset="0"/>
                <a:ea typeface="楷体_GB2312" pitchFamily="49" charset="-122"/>
              </a:endParaRPr>
            </a:p>
          </p:txBody>
        </p:sp>
      </p:grpSp>
      <p:grpSp>
        <p:nvGrpSpPr>
          <p:cNvPr id="21" name="组合 20"/>
          <p:cNvGrpSpPr/>
          <p:nvPr/>
        </p:nvGrpSpPr>
        <p:grpSpPr>
          <a:xfrm>
            <a:off x="1590675" y="2994660"/>
            <a:ext cx="4925060" cy="541020"/>
            <a:chOff x="2505" y="4716"/>
            <a:chExt cx="7756" cy="852"/>
          </a:xfrm>
        </p:grpSpPr>
        <p:sp>
          <p:nvSpPr>
            <p:cNvPr id="11" name="Rectangle 3"/>
            <p:cNvSpPr>
              <a:spLocks noGrp="1"/>
            </p:cNvSpPr>
            <p:nvPr/>
          </p:nvSpPr>
          <p:spPr>
            <a:xfrm>
              <a:off x="2505" y="4716"/>
              <a:ext cx="7757" cy="853"/>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zh-CN" altLang="en-US" sz="2400" b="1" kern="1200" dirty="0">
                  <a:solidFill>
                    <a:srgbClr val="000066"/>
                  </a:solidFill>
                  <a:latin typeface="Arial" panose="020B0604020202020204" pitchFamily="34" charset="0"/>
                  <a:ea typeface="楷体_GB2312" pitchFamily="49" charset="-122"/>
                </a:rPr>
                <a:t>故，</a:t>
              </a:r>
              <a:r>
                <a:rPr lang="en-US" altLang="zh-CN" sz="2400" b="1" kern="1200" dirty="0">
                  <a:solidFill>
                    <a:srgbClr val="000066"/>
                  </a:solidFill>
                  <a:latin typeface="Arial" panose="020B0604020202020204" pitchFamily="34" charset="0"/>
                  <a:ea typeface="楷体_GB2312" pitchFamily="49" charset="-122"/>
                </a:rPr>
                <a:t>  </a:t>
              </a:r>
              <a:r>
                <a:rPr lang="en-US" altLang="zh-CN" sz="2000" b="1" kern="1200" dirty="0">
                  <a:solidFill>
                    <a:srgbClr val="000066"/>
                  </a:solidFill>
                  <a:latin typeface="Arial" panose="020B0604020202020204" pitchFamily="34" charset="0"/>
                  <a:ea typeface="楷体_GB2312" pitchFamily="49" charset="-122"/>
                </a:rPr>
                <a:t>                                             </a:t>
              </a:r>
              <a:r>
                <a:rPr lang="en-US" sz="2000" b="1" kern="1200" dirty="0">
                  <a:solidFill>
                    <a:srgbClr val="000066"/>
                  </a:solidFill>
                  <a:latin typeface="Arial" panose="020B0604020202020204" pitchFamily="34" charset="0"/>
                  <a:ea typeface="楷体_GB2312" pitchFamily="49" charset="-122"/>
                </a:rPr>
                <a:t>(mA)</a:t>
              </a:r>
              <a:endParaRPr lang="en-US" sz="2000" b="1" kern="1200" dirty="0">
                <a:solidFill>
                  <a:srgbClr val="000066"/>
                </a:solidFill>
                <a:latin typeface="Arial" panose="020B0604020202020204" pitchFamily="34" charset="0"/>
                <a:ea typeface="楷体_GB2312" pitchFamily="49" charset="-122"/>
              </a:endParaRPr>
            </a:p>
          </p:txBody>
        </p:sp>
        <p:graphicFrame>
          <p:nvGraphicFramePr>
            <p:cNvPr id="6" name="对象 -2147482057"/>
            <p:cNvGraphicFramePr>
              <a:graphicFrameLocks noChangeAspect="1"/>
            </p:cNvGraphicFramePr>
            <p:nvPr/>
          </p:nvGraphicFramePr>
          <p:xfrm>
            <a:off x="3375" y="4899"/>
            <a:ext cx="5481" cy="619"/>
          </p:xfrm>
          <a:graphic>
            <a:graphicData uri="http://schemas.openxmlformats.org/presentationml/2006/ole">
              <mc:AlternateContent xmlns:mc="http://schemas.openxmlformats.org/markup-compatibility/2006">
                <mc:Choice xmlns:v="urn:schemas-microsoft-com:vml" Requires="v">
                  <p:oleObj spid="_x0000_s12" name="" r:id="rId10" imgW="1688465" imgH="190500" progId="Equation.DSMT4">
                    <p:embed/>
                  </p:oleObj>
                </mc:Choice>
                <mc:Fallback>
                  <p:oleObj name="" r:id="rId10" imgW="1688465" imgH="190500" progId="Equation.DSMT4">
                    <p:embed/>
                    <p:pic>
                      <p:nvPicPr>
                        <p:cNvPr id="0" name="图片 11"/>
                        <p:cNvPicPr/>
                        <p:nvPr/>
                      </p:nvPicPr>
                      <p:blipFill>
                        <a:blip r:embed="rId11"/>
                        <a:stretch>
                          <a:fillRect/>
                        </a:stretch>
                      </p:blipFill>
                      <p:spPr>
                        <a:xfrm>
                          <a:off x="3375" y="4899"/>
                          <a:ext cx="5481" cy="619"/>
                        </a:xfrm>
                        <a:prstGeom prst="rect">
                          <a:avLst/>
                        </a:prstGeom>
                        <a:noFill/>
                        <a:ln w="38100">
                          <a:noFill/>
                          <a:miter/>
                        </a:ln>
                      </p:spPr>
                    </p:pic>
                  </p:oleObj>
                </mc:Fallback>
              </mc:AlternateContent>
            </a:graphicData>
          </a:graphic>
        </p:graphicFrame>
      </p:grpSp>
      <p:grpSp>
        <p:nvGrpSpPr>
          <p:cNvPr id="22" name="组合 21"/>
          <p:cNvGrpSpPr/>
          <p:nvPr/>
        </p:nvGrpSpPr>
        <p:grpSpPr>
          <a:xfrm>
            <a:off x="1295400" y="4114800"/>
            <a:ext cx="4636770" cy="683260"/>
            <a:chOff x="2040" y="6480"/>
            <a:chExt cx="7302" cy="1076"/>
          </a:xfrm>
        </p:grpSpPr>
        <p:graphicFrame>
          <p:nvGraphicFramePr>
            <p:cNvPr id="8" name="对象 -2147482056"/>
            <p:cNvGraphicFramePr>
              <a:graphicFrameLocks noChangeAspect="1"/>
            </p:cNvGraphicFramePr>
            <p:nvPr/>
          </p:nvGraphicFramePr>
          <p:xfrm>
            <a:off x="2040" y="6480"/>
            <a:ext cx="5962" cy="1077"/>
          </p:xfrm>
          <a:graphic>
            <a:graphicData uri="http://schemas.openxmlformats.org/presentationml/2006/ole">
              <mc:AlternateContent xmlns:mc="http://schemas.openxmlformats.org/markup-compatibility/2006">
                <mc:Choice xmlns:v="urn:schemas-microsoft-com:vml" Requires="v">
                  <p:oleObj spid="_x0000_s13" name="" r:id="rId12" imgW="2107565" imgH="381000" progId="Equation.DSMT4">
                    <p:embed/>
                  </p:oleObj>
                </mc:Choice>
                <mc:Fallback>
                  <p:oleObj name="" r:id="rId12" imgW="2107565" imgH="381000" progId="Equation.DSMT4">
                    <p:embed/>
                    <p:pic>
                      <p:nvPicPr>
                        <p:cNvPr id="0" name="图片 12"/>
                        <p:cNvPicPr/>
                        <p:nvPr/>
                      </p:nvPicPr>
                      <p:blipFill>
                        <a:blip r:embed="rId13"/>
                        <a:stretch>
                          <a:fillRect/>
                        </a:stretch>
                      </p:blipFill>
                      <p:spPr>
                        <a:xfrm>
                          <a:off x="2040" y="6480"/>
                          <a:ext cx="5962" cy="1077"/>
                        </a:xfrm>
                        <a:prstGeom prst="rect">
                          <a:avLst/>
                        </a:prstGeom>
                        <a:noFill/>
                        <a:ln w="38100">
                          <a:noFill/>
                          <a:miter/>
                        </a:ln>
                      </p:spPr>
                    </p:pic>
                  </p:oleObj>
                </mc:Fallback>
              </mc:AlternateContent>
            </a:graphicData>
          </a:graphic>
        </p:graphicFrame>
        <p:sp>
          <p:nvSpPr>
            <p:cNvPr id="14" name="Rectangle 3"/>
            <p:cNvSpPr>
              <a:spLocks noGrp="1"/>
            </p:cNvSpPr>
            <p:nvPr/>
          </p:nvSpPr>
          <p:spPr>
            <a:xfrm>
              <a:off x="7956" y="6600"/>
              <a:ext cx="1386" cy="853"/>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000" b="1" kern="1200" dirty="0">
                  <a:solidFill>
                    <a:srgbClr val="000066"/>
                  </a:solidFill>
                  <a:latin typeface="Arial" panose="020B0604020202020204" pitchFamily="34" charset="0"/>
                  <a:ea typeface="楷体_GB2312" pitchFamily="49" charset="-122"/>
                </a:rPr>
                <a:t>(mA)</a:t>
              </a:r>
              <a:endParaRPr lang="en-US" sz="2000" b="1" kern="1200" dirty="0">
                <a:solidFill>
                  <a:srgbClr val="000066"/>
                </a:solidFill>
                <a:latin typeface="Arial" panose="020B0604020202020204" pitchFamily="34" charset="0"/>
                <a:ea typeface="楷体_GB2312" pitchFamily="49" charset="-122"/>
              </a:endParaRPr>
            </a:p>
          </p:txBody>
        </p:sp>
      </p:grpSp>
      <p:grpSp>
        <p:nvGrpSpPr>
          <p:cNvPr id="23" name="组合 22"/>
          <p:cNvGrpSpPr/>
          <p:nvPr/>
        </p:nvGrpSpPr>
        <p:grpSpPr>
          <a:xfrm>
            <a:off x="610870" y="4775200"/>
            <a:ext cx="5017770" cy="994410"/>
            <a:chOff x="962" y="7400"/>
            <a:chExt cx="7902" cy="1566"/>
          </a:xfrm>
        </p:grpSpPr>
        <p:sp>
          <p:nvSpPr>
            <p:cNvPr id="16" name="Rectangle 3"/>
            <p:cNvSpPr>
              <a:spLocks noGrp="1"/>
            </p:cNvSpPr>
            <p:nvPr/>
          </p:nvSpPr>
          <p:spPr>
            <a:xfrm>
              <a:off x="962" y="7400"/>
              <a:ext cx="7903" cy="1566"/>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可知</a:t>
              </a:r>
              <a:r>
                <a:rPr sz="2400" b="1" kern="1200" dirty="0">
                  <a:solidFill>
                    <a:srgbClr val="000066"/>
                  </a:solidFill>
                  <a:latin typeface="Arial" panose="020B0604020202020204" pitchFamily="34" charset="0"/>
                  <a:ea typeface="楷体_GB2312" pitchFamily="49" charset="-122"/>
                </a:rPr>
                <a:t>，</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，三极管为深度饱和状态，</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a:t>
              </a:r>
              <a:endParaRPr sz="2400" b="1" kern="1200" dirty="0">
                <a:solidFill>
                  <a:srgbClr val="000066"/>
                </a:solidFill>
                <a:latin typeface="Arial" panose="020B0604020202020204" pitchFamily="34" charset="0"/>
                <a:ea typeface="楷体_GB2312" pitchFamily="49" charset="-122"/>
              </a:endParaRPr>
            </a:p>
          </p:txBody>
        </p:sp>
        <p:graphicFrame>
          <p:nvGraphicFramePr>
            <p:cNvPr id="20" name="对象 19">
              <a:hlinkClick r:id="" action="ppaction://ole?verb="/>
            </p:cNvPr>
            <p:cNvGraphicFramePr>
              <a:graphicFrameLocks noChangeAspect="1"/>
            </p:cNvGraphicFramePr>
            <p:nvPr/>
          </p:nvGraphicFramePr>
          <p:xfrm>
            <a:off x="3183" y="7539"/>
            <a:ext cx="1552" cy="621"/>
          </p:xfrm>
          <a:graphic>
            <a:graphicData uri="http://schemas.openxmlformats.org/presentationml/2006/ole">
              <mc:AlternateContent xmlns:mc="http://schemas.openxmlformats.org/markup-compatibility/2006">
                <mc:Choice xmlns:v="urn:schemas-microsoft-com:vml" Requires="v">
                  <p:oleObj spid="_x0000_s1026" name="" r:id="rId14" imgW="571500" imgH="228600" progId="Equation.KSEE3">
                    <p:embed/>
                  </p:oleObj>
                </mc:Choice>
                <mc:Fallback>
                  <p:oleObj name="" r:id="rId14" imgW="571500" imgH="228600" progId="Equation.KSEE3">
                    <p:embed/>
                    <p:pic>
                      <p:nvPicPr>
                        <p:cNvPr id="0" name="图片 1025"/>
                        <p:cNvPicPr/>
                        <p:nvPr/>
                      </p:nvPicPr>
                      <p:blipFill>
                        <a:blip r:embed="rId15"/>
                        <a:stretch>
                          <a:fillRect/>
                        </a:stretch>
                      </p:blipFill>
                      <p:spPr>
                        <a:xfrm>
                          <a:off x="3183" y="7539"/>
                          <a:ext cx="1552" cy="621"/>
                        </a:xfrm>
                        <a:prstGeom prst="rect">
                          <a:avLst/>
                        </a:prstGeom>
                      </p:spPr>
                    </p:pic>
                  </p:oleObj>
                </mc:Fallback>
              </mc:AlternateContent>
            </a:graphicData>
          </a:graphic>
        </p:graphicFrame>
        <p:graphicFrame>
          <p:nvGraphicFramePr>
            <p:cNvPr id="17" name="对象 16">
              <a:hlinkClick r:id="" action="ppaction://ole?verb="/>
            </p:cNvPr>
            <p:cNvGraphicFramePr>
              <a:graphicFrameLocks noChangeAspect="1"/>
            </p:cNvGraphicFramePr>
            <p:nvPr/>
          </p:nvGraphicFramePr>
          <p:xfrm>
            <a:off x="2781" y="8244"/>
            <a:ext cx="3135" cy="680"/>
          </p:xfrm>
          <a:graphic>
            <a:graphicData uri="http://schemas.openxmlformats.org/presentationml/2006/ole">
              <mc:AlternateContent xmlns:mc="http://schemas.openxmlformats.org/markup-compatibility/2006">
                <mc:Choice xmlns:v="urn:schemas-microsoft-com:vml" Requires="v">
                  <p:oleObj spid="_x0000_s18" name="" r:id="rId16" imgW="1054100" imgH="228600" progId="Equation.KSEE3">
                    <p:embed/>
                  </p:oleObj>
                </mc:Choice>
                <mc:Fallback>
                  <p:oleObj name="" r:id="rId16" imgW="1054100" imgH="228600" progId="Equation.KSEE3">
                    <p:embed/>
                    <p:pic>
                      <p:nvPicPr>
                        <p:cNvPr id="0" name="图片 1025"/>
                        <p:cNvPicPr/>
                        <p:nvPr/>
                      </p:nvPicPr>
                      <p:blipFill>
                        <a:blip r:embed="rId17"/>
                        <a:stretch>
                          <a:fillRect/>
                        </a:stretch>
                      </p:blipFill>
                      <p:spPr>
                        <a:xfrm>
                          <a:off x="2781" y="8244"/>
                          <a:ext cx="3135" cy="680"/>
                        </a:xfrm>
                        <a:prstGeom prst="rect">
                          <a:avLst/>
                        </a:prstGeom>
                      </p:spPr>
                    </p:pic>
                  </p:oleObj>
                </mc:Fallback>
              </mc:AlternateContent>
            </a:graphicData>
          </a:graphic>
        </p:graphicFrame>
      </p:grpSp>
      <p:sp>
        <p:nvSpPr>
          <p:cNvPr id="19" name="Rectangle 3"/>
          <p:cNvSpPr>
            <a:spLocks noGrp="1"/>
          </p:cNvSpPr>
          <p:nvPr/>
        </p:nvSpPr>
        <p:spPr>
          <a:xfrm>
            <a:off x="648335" y="5842000"/>
            <a:ext cx="7603490" cy="65849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因此，输出和输入之间是一种非逻辑关系。</a:t>
            </a:r>
            <a:endParaRPr sz="2400" b="1" kern="1200" dirty="0">
              <a:solidFill>
                <a:srgbClr val="000066"/>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ppt_x"/>
                                          </p:val>
                                        </p:tav>
                                        <p:tav tm="100000">
                                          <p:val>
                                            <p:strVal val="#ppt_x"/>
                                          </p:val>
                                        </p:tav>
                                      </p:tavLst>
                                    </p:anim>
                                    <p:anim calcmode="lin" valueType="num">
                                      <p:cBhvr additive="base">
                                        <p:cTn id="8"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barn(inVertical)">
                                      <p:cBhvr>
                                        <p:cTn id="13" dur="500"/>
                                        <p:tgtEl>
                                          <p:spTgt spid="33"/>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nodeType="clickEffect">
                                  <p:stCondLst>
                                    <p:cond delay="0"/>
                                  </p:stCondLst>
                                  <p:childTnLst>
                                    <p:set>
                                      <p:cBhvr>
                                        <p:cTn id="17" dur="500" fill="hold">
                                          <p:stCondLst>
                                            <p:cond delay="0"/>
                                          </p:stCondLst>
                                        </p:cTn>
                                        <p:tgtEl>
                                          <p:spTgt spid="21"/>
                                        </p:tgtEl>
                                        <p:attrNameLst>
                                          <p:attrName>style.visibility</p:attrName>
                                        </p:attrNameLst>
                                      </p:cBhvr>
                                      <p:to>
                                        <p:strVal val="visible"/>
                                      </p:to>
                                    </p:set>
                                    <p:animEffect transition="in" filter="circle(in)">
                                      <p:cBhvr>
                                        <p:cTn id="18" dur="5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linds(horizontal)">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51" presetClass="entr" presetSubtype="0" fill="hold"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192" decel="100000"/>
                                        <p:tgtEl>
                                          <p:spTgt spid="22"/>
                                        </p:tgtEl>
                                      </p:cBhvr>
                                    </p:animEffect>
                                    <p:animScale>
                                      <p:cBhvr>
                                        <p:cTn id="29" dur="192" decel="100000"/>
                                        <p:tgtEl>
                                          <p:spTgt spid="22"/>
                                        </p:tgtEl>
                                      </p:cBhvr>
                                      <p:from x="10000" y="10000"/>
                                      <p:to x="200000" y="450000"/>
                                    </p:animScale>
                                    <p:animScale>
                                      <p:cBhvr>
                                        <p:cTn id="30" dur="308" accel="100000" fill="hold">
                                          <p:stCondLst>
                                            <p:cond delay="192"/>
                                          </p:stCondLst>
                                        </p:cTn>
                                        <p:tgtEl>
                                          <p:spTgt spid="22"/>
                                        </p:tgtEl>
                                      </p:cBhvr>
                                      <p:from x="200000" y="450000"/>
                                      <p:to x="100000" y="100000"/>
                                    </p:animScale>
                                    <p:set>
                                      <p:cBhvr>
                                        <p:cTn id="31" dur="192" fill="hold"/>
                                        <p:tgtEl>
                                          <p:spTgt spid="22"/>
                                        </p:tgtEl>
                                        <p:attrNameLst>
                                          <p:attrName>ppt_x</p:attrName>
                                        </p:attrNameLst>
                                      </p:cBhvr>
                                      <p:to>
                                        <p:strVal val="(0.5)"/>
                                      </p:to>
                                    </p:set>
                                    <p:anim from="(0.5)" to="(#ppt_x)" calcmode="lin" valueType="num">
                                      <p:cBhvr>
                                        <p:cTn id="32" dur="308" accel="100000" fill="hold">
                                          <p:stCondLst>
                                            <p:cond delay="192"/>
                                          </p:stCondLst>
                                        </p:cTn>
                                        <p:tgtEl>
                                          <p:spTgt spid="22"/>
                                        </p:tgtEl>
                                        <p:attrNameLst>
                                          <p:attrName>ppt_x</p:attrName>
                                        </p:attrNameLst>
                                      </p:cBhvr>
                                    </p:anim>
                                    <p:set>
                                      <p:cBhvr>
                                        <p:cTn id="33" dur="192" fill="hold"/>
                                        <p:tgtEl>
                                          <p:spTgt spid="22"/>
                                        </p:tgtEl>
                                        <p:attrNameLst>
                                          <p:attrName>ppt_y</p:attrName>
                                        </p:attrNameLst>
                                      </p:cBhvr>
                                      <p:to>
                                        <p:strVal val="(#ppt_y+0.4)"/>
                                      </p:to>
                                    </p:set>
                                    <p:anim from="(#ppt_y+0.4)" to="(#ppt_y)" calcmode="lin" valueType="num">
                                      <p:cBhvr>
                                        <p:cTn id="34" dur="308" accel="100000" fill="hold">
                                          <p:stCondLst>
                                            <p:cond delay="192"/>
                                          </p:stCondLst>
                                        </p:cTn>
                                        <p:tgtEl>
                                          <p:spTgt spid="22"/>
                                        </p:tgtEl>
                                        <p:attrNameLst>
                                          <p:attrName>ppt_y</p:attrName>
                                        </p:attrNameLst>
                                      </p:cBhvr>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1000"/>
                                        <p:tgtEl>
                                          <p:spTgt spid="23"/>
                                        </p:tgtEl>
                                      </p:cBhvr>
                                    </p:animEffect>
                                    <p:anim calcmode="lin" valueType="num">
                                      <p:cBhvr>
                                        <p:cTn id="40" dur="1000" fill="hold"/>
                                        <p:tgtEl>
                                          <p:spTgt spid="23"/>
                                        </p:tgtEl>
                                        <p:attrNameLst>
                                          <p:attrName>ppt_x</p:attrName>
                                        </p:attrNameLst>
                                      </p:cBhvr>
                                      <p:tavLst>
                                        <p:tav tm="0">
                                          <p:val>
                                            <p:strVal val="#ppt_x"/>
                                          </p:val>
                                        </p:tav>
                                        <p:tav tm="100000">
                                          <p:val>
                                            <p:strVal val="#ppt_x"/>
                                          </p:val>
                                        </p:tav>
                                      </p:tavLst>
                                    </p:anim>
                                    <p:anim calcmode="lin" valueType="num">
                                      <p:cBhvr>
                                        <p:cTn id="4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9" presetClass="entr" presetSubtype="10" fill="hold" grpId="0" nodeType="clickEffect">
                                  <p:stCondLst>
                                    <p:cond delay="0"/>
                                  </p:stCondLst>
                                  <p:childTnLst>
                                    <p:set>
                                      <p:cBhvr>
                                        <p:cTn id="45" dur="500" fill="hold">
                                          <p:stCondLst>
                                            <p:cond delay="0"/>
                                          </p:stCondLst>
                                        </p:cTn>
                                        <p:tgtEl>
                                          <p:spTgt spid="19"/>
                                        </p:tgtEl>
                                        <p:attrNameLst>
                                          <p:attrName>style.visibility</p:attrName>
                                        </p:attrNameLst>
                                      </p:cBhvr>
                                      <p:to>
                                        <p:strVal val="visible"/>
                                      </p:to>
                                    </p:set>
                                    <p:anim calcmode="lin" valueType="num">
                                      <p:cBhvr>
                                        <p:cTn id="46" dur="500" fill="hold"/>
                                        <p:tgtEl>
                                          <p:spTgt spid="19"/>
                                        </p:tgtEl>
                                        <p:attrNameLst>
                                          <p:attrName>ppt_w</p:attrName>
                                        </p:attrNameLst>
                                      </p:cBhvr>
                                      <p:tavLst>
                                        <p:tav tm="0" fmla="#ppt_w*sin(2.5*pi*$)">
                                          <p:val>
                                            <p:fltVal val="0"/>
                                          </p:val>
                                        </p:tav>
                                        <p:tav tm="100000">
                                          <p:val>
                                            <p:fltVal val="1"/>
                                          </p:val>
                                        </p:tav>
                                      </p:tavLst>
                                    </p:anim>
                                    <p:anim calcmode="lin" valueType="num">
                                      <p:cBhvr>
                                        <p:cTn id="47" dur="500" fill="hold"/>
                                        <p:tgtEl>
                                          <p:spTgt spid="1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6" name="Rectangle 2"/>
          <p:cNvSpPr>
            <a:spLocks noGrp="1"/>
          </p:cNvSpPr>
          <p:nvPr>
            <p:ph type="title"/>
          </p:nvPr>
        </p:nvSpPr>
        <p:spPr>
          <a:xfrm>
            <a:off x="762000" y="1143000"/>
            <a:ext cx="612394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3.1.3 </a:t>
            </a:r>
            <a:r>
              <a:rPr lang="zh-CN" altLang="en-US" sz="2800" i="0" dirty="0">
                <a:solidFill>
                  <a:srgbClr val="0070C0"/>
                </a:solidFill>
                <a:latin typeface="黑体" panose="02010609060101010101" pitchFamily="49" charset="-122"/>
                <a:ea typeface="黑体" panose="02010609060101010101" pitchFamily="49" charset="-122"/>
              </a:rPr>
              <a:t>二极管和三极管的组合门电路</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609600" y="2133600"/>
            <a:ext cx="8003540" cy="460883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与非门电路如图3-10所示，从图3-10可以看出，该电路是由两部分组合而成。第一部分由两个二极管D</a:t>
            </a:r>
            <a:r>
              <a:rPr lang="zh-CN" altLang="en-US" sz="2400" b="1" kern="1200" baseline="-25000" dirty="0">
                <a:solidFill>
                  <a:srgbClr val="000066"/>
                </a:solidFill>
                <a:latin typeface="Arial" panose="020B0604020202020204" pitchFamily="34" charset="0"/>
                <a:ea typeface="楷体_GB2312" pitchFamily="49" charset="-122"/>
              </a:rPr>
              <a:t>1</a:t>
            </a:r>
            <a:r>
              <a:rPr lang="zh-CN" altLang="en-US" sz="2400" b="1" kern="1200" dirty="0">
                <a:solidFill>
                  <a:srgbClr val="000066"/>
                </a:solidFill>
                <a:latin typeface="Arial" panose="020B0604020202020204" pitchFamily="34" charset="0"/>
                <a:ea typeface="楷体_GB2312" pitchFamily="49" charset="-122"/>
              </a:rPr>
              <a:t>和D</a:t>
            </a:r>
            <a:r>
              <a:rPr lang="zh-CN" altLang="en-US" sz="2400" b="1" kern="1200" baseline="-25000" dirty="0">
                <a:solidFill>
                  <a:srgbClr val="000066"/>
                </a:solidFill>
                <a:latin typeface="Arial" panose="020B0604020202020204" pitchFamily="34" charset="0"/>
                <a:ea typeface="楷体_GB2312" pitchFamily="49" charset="-122"/>
              </a:rPr>
              <a:t>2</a:t>
            </a:r>
            <a:r>
              <a:rPr lang="zh-CN" altLang="en-US" sz="2400" b="1" kern="1200" dirty="0">
                <a:solidFill>
                  <a:srgbClr val="000066"/>
                </a:solidFill>
                <a:latin typeface="Arial" panose="020B0604020202020204" pitchFamily="34" charset="0"/>
                <a:ea typeface="楷体_GB2312" pitchFamily="49" charset="-122"/>
              </a:rPr>
              <a:t>、</a:t>
            </a:r>
            <a:endParaRPr lang="zh-CN" altLang="en-US"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zh-CN" altLang="en-US" sz="2400" b="1" kern="1200" dirty="0">
                <a:solidFill>
                  <a:srgbClr val="000066"/>
                </a:solidFill>
                <a:latin typeface="Arial" panose="020B0604020202020204" pitchFamily="34" charset="0"/>
                <a:ea typeface="楷体_GB2312" pitchFamily="49" charset="-122"/>
              </a:rPr>
              <a:t>电阻</a:t>
            </a:r>
            <a:r>
              <a:rPr lang="zh-CN" altLang="en-US" sz="2400" b="1" i="1" kern="1200" dirty="0">
                <a:solidFill>
                  <a:srgbClr val="000066"/>
                </a:solidFill>
                <a:latin typeface="Arial" panose="020B0604020202020204" pitchFamily="34" charset="0"/>
                <a:ea typeface="楷体_GB2312" pitchFamily="49" charset="-122"/>
              </a:rPr>
              <a:t>R</a:t>
            </a:r>
            <a:r>
              <a:rPr lang="zh-CN" altLang="en-US" sz="2400" b="1" kern="1200" dirty="0">
                <a:solidFill>
                  <a:srgbClr val="000066"/>
                </a:solidFill>
                <a:latin typeface="Arial" panose="020B0604020202020204" pitchFamily="34" charset="0"/>
                <a:ea typeface="楷体_GB2312" pitchFamily="49" charset="-122"/>
              </a:rPr>
              <a:t>、电源</a:t>
            </a:r>
            <a:r>
              <a:rPr lang="zh-CN" altLang="en-US" sz="2400" b="1" i="1" kern="1200" dirty="0">
                <a:solidFill>
                  <a:srgbClr val="000066"/>
                </a:solidFill>
                <a:latin typeface="Arial" panose="020B0604020202020204" pitchFamily="34" charset="0"/>
                <a:ea typeface="楷体_GB2312" pitchFamily="49" charset="-122"/>
              </a:rPr>
              <a:t>V</a:t>
            </a:r>
            <a:r>
              <a:rPr lang="zh-CN" altLang="en-US" sz="2400" b="1" kern="1200" baseline="-25000" dirty="0">
                <a:solidFill>
                  <a:srgbClr val="000066"/>
                </a:solidFill>
                <a:latin typeface="Arial" panose="020B0604020202020204" pitchFamily="34" charset="0"/>
                <a:ea typeface="楷体_GB2312" pitchFamily="49" charset="-122"/>
              </a:rPr>
              <a:t>CC</a:t>
            </a:r>
            <a:r>
              <a:rPr lang="zh-CN" altLang="en-US" sz="2400" b="1" kern="1200" dirty="0">
                <a:solidFill>
                  <a:srgbClr val="000066"/>
                </a:solidFill>
                <a:latin typeface="Arial" panose="020B0604020202020204" pitchFamily="34" charset="0"/>
                <a:ea typeface="楷体_GB2312" pitchFamily="49" charset="-122"/>
              </a:rPr>
              <a:t>，用来</a:t>
            </a:r>
            <a:endParaRPr lang="zh-CN" altLang="en-US"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zh-CN" altLang="en-US" sz="2400" b="1" kern="1200" dirty="0">
                <a:solidFill>
                  <a:srgbClr val="000066"/>
                </a:solidFill>
                <a:latin typeface="Arial" panose="020B0604020202020204" pitchFamily="34" charset="0"/>
                <a:ea typeface="楷体_GB2312" pitchFamily="49" charset="-122"/>
              </a:rPr>
              <a:t>实现与逻辑功能。第二部</a:t>
            </a:r>
            <a:endParaRPr lang="zh-CN" altLang="en-US"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zh-CN" altLang="en-US" sz="2400" b="1" kern="1200" dirty="0">
                <a:solidFill>
                  <a:srgbClr val="000066"/>
                </a:solidFill>
                <a:latin typeface="Arial" panose="020B0604020202020204" pitchFamily="34" charset="0"/>
                <a:ea typeface="楷体_GB2312" pitchFamily="49" charset="-122"/>
              </a:rPr>
              <a:t>分由NPN型三极管、负电</a:t>
            </a:r>
            <a:endParaRPr lang="zh-CN" altLang="en-US"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zh-CN" altLang="en-US" sz="2400" b="1" kern="1200" dirty="0">
                <a:solidFill>
                  <a:srgbClr val="000066"/>
                </a:solidFill>
                <a:latin typeface="Arial" panose="020B0604020202020204" pitchFamily="34" charset="0"/>
                <a:ea typeface="楷体_GB2312" pitchFamily="49" charset="-122"/>
              </a:rPr>
              <a:t>源</a:t>
            </a:r>
            <a:r>
              <a:rPr lang="zh-CN" altLang="en-US" sz="2400" b="1" i="1" kern="1200" dirty="0">
                <a:solidFill>
                  <a:srgbClr val="000066"/>
                </a:solidFill>
                <a:latin typeface="Arial" panose="020B0604020202020204" pitchFamily="34" charset="0"/>
                <a:ea typeface="楷体_GB2312" pitchFamily="49" charset="-122"/>
              </a:rPr>
              <a:t>V</a:t>
            </a:r>
            <a:r>
              <a:rPr lang="zh-CN" altLang="en-US" sz="2400" b="1" kern="1200" baseline="-25000" dirty="0">
                <a:solidFill>
                  <a:srgbClr val="000066"/>
                </a:solidFill>
                <a:latin typeface="Arial" panose="020B0604020202020204" pitchFamily="34" charset="0"/>
                <a:ea typeface="楷体_GB2312" pitchFamily="49" charset="-122"/>
              </a:rPr>
              <a:t>EE</a:t>
            </a:r>
            <a:r>
              <a:rPr lang="zh-CN" altLang="en-US" sz="2400" b="1" kern="1200" dirty="0">
                <a:solidFill>
                  <a:srgbClr val="000066"/>
                </a:solidFill>
                <a:latin typeface="Arial" panose="020B0604020202020204" pitchFamily="34" charset="0"/>
                <a:ea typeface="楷体_GB2312" pitchFamily="49" charset="-122"/>
              </a:rPr>
              <a:t>、电源</a:t>
            </a:r>
            <a:r>
              <a:rPr lang="zh-CN" altLang="en-US" sz="2400" b="1" i="1" kern="1200" dirty="0">
                <a:solidFill>
                  <a:srgbClr val="000066"/>
                </a:solidFill>
                <a:latin typeface="Arial" panose="020B0604020202020204" pitchFamily="34" charset="0"/>
                <a:ea typeface="楷体_GB2312" pitchFamily="49" charset="-122"/>
              </a:rPr>
              <a:t>V</a:t>
            </a:r>
            <a:r>
              <a:rPr lang="zh-CN" altLang="en-US" sz="2400" b="1" kern="1200" baseline="-25000" dirty="0">
                <a:solidFill>
                  <a:srgbClr val="000066"/>
                </a:solidFill>
                <a:latin typeface="Arial" panose="020B0604020202020204" pitchFamily="34" charset="0"/>
                <a:ea typeface="楷体_GB2312" pitchFamily="49" charset="-122"/>
              </a:rPr>
              <a:t>CC</a:t>
            </a:r>
            <a:r>
              <a:rPr lang="zh-CN" altLang="en-US" sz="2400" b="1" kern="1200" dirty="0">
                <a:solidFill>
                  <a:srgbClr val="000066"/>
                </a:solidFill>
                <a:latin typeface="Arial" panose="020B0604020202020204" pitchFamily="34" charset="0"/>
                <a:ea typeface="楷体_GB2312" pitchFamily="49" charset="-122"/>
              </a:rPr>
              <a:t>、电阻</a:t>
            </a:r>
            <a:endParaRPr lang="zh-CN" altLang="en-US"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zh-CN" altLang="en-US" sz="2400" b="1" i="1" kern="1200" dirty="0">
                <a:solidFill>
                  <a:srgbClr val="000066"/>
                </a:solidFill>
                <a:latin typeface="Arial" panose="020B0604020202020204" pitchFamily="34" charset="0"/>
                <a:ea typeface="楷体_GB2312" pitchFamily="49" charset="-122"/>
              </a:rPr>
              <a:t>R</a:t>
            </a:r>
            <a:r>
              <a:rPr lang="zh-CN" altLang="en-US" sz="2400" b="1" kern="1200" baseline="-25000" dirty="0">
                <a:solidFill>
                  <a:srgbClr val="000066"/>
                </a:solidFill>
                <a:latin typeface="Arial" panose="020B0604020202020204" pitchFamily="34" charset="0"/>
                <a:ea typeface="楷体_GB2312" pitchFamily="49" charset="-122"/>
              </a:rPr>
              <a:t>B1</a:t>
            </a:r>
            <a:r>
              <a:rPr lang="zh-CN" altLang="en-US" sz="2400" b="1" kern="1200" dirty="0">
                <a:solidFill>
                  <a:srgbClr val="000066"/>
                </a:solidFill>
                <a:latin typeface="Arial" panose="020B0604020202020204" pitchFamily="34" charset="0"/>
                <a:ea typeface="楷体_GB2312" pitchFamily="49" charset="-122"/>
              </a:rPr>
              <a:t>、</a:t>
            </a:r>
            <a:r>
              <a:rPr lang="zh-CN" altLang="en-US" sz="2400" b="1" i="1" kern="1200" dirty="0">
                <a:solidFill>
                  <a:srgbClr val="000066"/>
                </a:solidFill>
                <a:latin typeface="Arial" panose="020B0604020202020204" pitchFamily="34" charset="0"/>
                <a:ea typeface="楷体_GB2312" pitchFamily="49" charset="-122"/>
              </a:rPr>
              <a:t>R</a:t>
            </a:r>
            <a:r>
              <a:rPr lang="zh-CN" altLang="en-US" sz="2400" b="1" kern="1200" baseline="-25000" dirty="0">
                <a:solidFill>
                  <a:srgbClr val="000066"/>
                </a:solidFill>
                <a:latin typeface="Arial" panose="020B0604020202020204" pitchFamily="34" charset="0"/>
                <a:ea typeface="楷体_GB2312" pitchFamily="49" charset="-122"/>
              </a:rPr>
              <a:t>B2</a:t>
            </a:r>
            <a:r>
              <a:rPr lang="zh-CN" altLang="en-US" sz="2400" b="1" kern="1200" dirty="0">
                <a:solidFill>
                  <a:srgbClr val="000066"/>
                </a:solidFill>
                <a:latin typeface="Arial" panose="020B0604020202020204" pitchFamily="34" charset="0"/>
                <a:ea typeface="楷体_GB2312" pitchFamily="49" charset="-122"/>
              </a:rPr>
              <a:t>和</a:t>
            </a:r>
            <a:r>
              <a:rPr lang="zh-CN" altLang="en-US" sz="2400" b="1" i="1" kern="1200" dirty="0">
                <a:solidFill>
                  <a:srgbClr val="000066"/>
                </a:solidFill>
                <a:latin typeface="Arial" panose="020B0604020202020204" pitchFamily="34" charset="0"/>
                <a:ea typeface="楷体_GB2312" pitchFamily="49" charset="-122"/>
              </a:rPr>
              <a:t>R</a:t>
            </a:r>
            <a:r>
              <a:rPr lang="zh-CN" altLang="en-US" sz="2400" b="1" kern="1200" baseline="-25000" dirty="0">
                <a:solidFill>
                  <a:srgbClr val="000066"/>
                </a:solidFill>
                <a:latin typeface="Arial" panose="020B0604020202020204" pitchFamily="34" charset="0"/>
                <a:ea typeface="楷体_GB2312" pitchFamily="49" charset="-122"/>
              </a:rPr>
              <a:t>C</a:t>
            </a:r>
            <a:r>
              <a:rPr lang="zh-CN" altLang="en-US" sz="2400" b="1" kern="1200" dirty="0">
                <a:solidFill>
                  <a:srgbClr val="000066"/>
                </a:solidFill>
                <a:latin typeface="Arial" panose="020B0604020202020204" pitchFamily="34" charset="0"/>
                <a:ea typeface="楷体_GB2312" pitchFamily="49" charset="-122"/>
              </a:rPr>
              <a:t>组成，用</a:t>
            </a:r>
            <a:r>
              <a:rPr lang="zh-CN" altLang="en-US" sz="2400" b="1" kern="1200" dirty="0">
                <a:solidFill>
                  <a:srgbClr val="000066"/>
                </a:solidFill>
                <a:latin typeface="Arial" panose="020B0604020202020204" pitchFamily="34" charset="0"/>
                <a:ea typeface="楷体_GB2312" pitchFamily="49" charset="-122"/>
                <a:sym typeface="+mn-ea"/>
              </a:rPr>
              <a:t>以</a:t>
            </a:r>
            <a:endParaRPr lang="zh-CN" altLang="en-US"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zh-CN" altLang="en-US" sz="2400" b="1" kern="1200" dirty="0">
                <a:solidFill>
                  <a:srgbClr val="000066"/>
                </a:solidFill>
                <a:latin typeface="Arial" panose="020B0604020202020204" pitchFamily="34" charset="0"/>
                <a:ea typeface="楷体_GB2312" pitchFamily="49" charset="-122"/>
              </a:rPr>
              <a:t>实现非逻辑功能。两部</a:t>
            </a:r>
            <a:r>
              <a:rPr lang="zh-CN" altLang="en-US" sz="2400" b="1" kern="1200" dirty="0">
                <a:solidFill>
                  <a:srgbClr val="000066"/>
                </a:solidFill>
                <a:latin typeface="Arial" panose="020B0604020202020204" pitchFamily="34" charset="0"/>
                <a:ea typeface="楷体_GB2312" pitchFamily="49" charset="-122"/>
                <a:sym typeface="+mn-ea"/>
              </a:rPr>
              <a:t>分</a:t>
            </a:r>
            <a:endParaRPr lang="zh-CN" altLang="en-US"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zh-CN" altLang="en-US" sz="2400" b="1" kern="1200" dirty="0">
                <a:solidFill>
                  <a:srgbClr val="000066"/>
                </a:solidFill>
                <a:latin typeface="Arial" panose="020B0604020202020204" pitchFamily="34" charset="0"/>
                <a:ea typeface="楷体_GB2312" pitchFamily="49" charset="-122"/>
              </a:rPr>
              <a:t>电路组合在一起就构成了</a:t>
            </a:r>
            <a:endParaRPr lang="zh-CN" altLang="en-US"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zh-CN" altLang="en-US" sz="2400" b="1" kern="1200" dirty="0">
                <a:solidFill>
                  <a:srgbClr val="000066"/>
                </a:solidFill>
                <a:latin typeface="Arial" panose="020B0604020202020204" pitchFamily="34" charset="0"/>
                <a:ea typeface="楷体_GB2312" pitchFamily="49" charset="-122"/>
              </a:rPr>
              <a:t>一个与非门。</a:t>
            </a:r>
            <a:endParaRPr lang="en-US" altLang="zh-CN"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1122680" y="1676400"/>
            <a:ext cx="311277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1. 与非门电路</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3" name="TextBox 6"/>
          <p:cNvSpPr txBox="1"/>
          <p:nvPr/>
        </p:nvSpPr>
        <p:spPr>
          <a:xfrm>
            <a:off x="25146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3.1 </a:t>
            </a:r>
            <a:r>
              <a:rPr lang="zh-CN" altLang="en-US" b="1" dirty="0">
                <a:solidFill>
                  <a:srgbClr val="FF0000"/>
                </a:solidFill>
                <a:latin typeface="黑体" panose="02010609060101010101" pitchFamily="49" charset="-122"/>
                <a:ea typeface="黑体" panose="02010609060101010101" pitchFamily="49" charset="-122"/>
              </a:rPr>
              <a:t>分立元件门电路</a:t>
            </a:r>
            <a:endParaRPr lang="zh-CN" altLang="en-US" b="1" dirty="0">
              <a:solidFill>
                <a:srgbClr val="FF0000"/>
              </a:solidFill>
              <a:latin typeface="黑体" panose="02010609060101010101" pitchFamily="49" charset="-122"/>
              <a:ea typeface="黑体" panose="02010609060101010101" pitchFamily="49" charset="-122"/>
            </a:endParaRPr>
          </a:p>
        </p:txBody>
      </p:sp>
      <p:grpSp>
        <p:nvGrpSpPr>
          <p:cNvPr id="4" name="组合 3"/>
          <p:cNvGrpSpPr/>
          <p:nvPr/>
        </p:nvGrpSpPr>
        <p:grpSpPr>
          <a:xfrm>
            <a:off x="4567555" y="3124200"/>
            <a:ext cx="4069080" cy="3613150"/>
            <a:chOff x="7193" y="4920"/>
            <a:chExt cx="6408" cy="5690"/>
          </a:xfrm>
        </p:grpSpPr>
        <p:sp>
          <p:nvSpPr>
            <p:cNvPr id="100" name="文本框 99"/>
            <p:cNvSpPr txBox="1"/>
            <p:nvPr/>
          </p:nvSpPr>
          <p:spPr>
            <a:xfrm>
              <a:off x="9000" y="10080"/>
              <a:ext cx="2986"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图3-10与非门电路</a:t>
              </a:r>
              <a:endParaRPr sz="1600">
                <a:latin typeface="Times New Roman" panose="02020603050405020304" charset="0"/>
                <a:ea typeface="宋体" panose="02010600030101010101" pitchFamily="2" charset="-122"/>
              </a:endParaRPr>
            </a:p>
          </p:txBody>
        </p:sp>
        <p:pic>
          <p:nvPicPr>
            <p:cNvPr id="9234" name="图片 2671"/>
            <p:cNvPicPr>
              <a:picLocks noChangeAspect="1"/>
            </p:cNvPicPr>
            <p:nvPr/>
          </p:nvPicPr>
          <p:blipFill>
            <a:blip r:embed="rId1"/>
            <a:stretch>
              <a:fillRect/>
            </a:stretch>
          </p:blipFill>
          <p:spPr>
            <a:xfrm>
              <a:off x="7193" y="4920"/>
              <a:ext cx="6408" cy="4838"/>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500" fill="hold">
                                          <p:stCondLst>
                                            <p:cond delay="0"/>
                                          </p:stCondLst>
                                        </p:cTn>
                                        <p:tgtEl>
                                          <p:spTgt spid="4"/>
                                        </p:tgtEl>
                                        <p:attrNameLst>
                                          <p:attrName>style.visibility</p:attrName>
                                        </p:attrNameLst>
                                      </p:cBhvr>
                                      <p:to>
                                        <p:strVal val="visible"/>
                                      </p:to>
                                    </p:set>
                                    <p:animEffect transition="in" filter="diamond(i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1397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7" name="Rectangle 3"/>
          <p:cNvSpPr>
            <a:spLocks noGrp="1"/>
          </p:cNvSpPr>
          <p:nvPr>
            <p:ph idx="1"/>
          </p:nvPr>
        </p:nvSpPr>
        <p:spPr>
          <a:xfrm>
            <a:off x="609600" y="1752600"/>
            <a:ext cx="8003540" cy="181102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根据与非门电路的构成方式，也可以得到或非门电路，如图3-12所示。或非门电路也是由两部分组成，一部分电路实现或逻辑功能，另一部分电路实现非逻辑功能。</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1122680" y="1219200"/>
            <a:ext cx="311277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2. 或非门电路</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3" name="TextBox 6"/>
          <p:cNvSpPr txBox="1"/>
          <p:nvPr/>
        </p:nvSpPr>
        <p:spPr>
          <a:xfrm>
            <a:off x="25146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3.1 </a:t>
            </a:r>
            <a:r>
              <a:rPr lang="zh-CN" altLang="en-US" b="1" dirty="0">
                <a:solidFill>
                  <a:srgbClr val="FF0000"/>
                </a:solidFill>
                <a:latin typeface="黑体" panose="02010609060101010101" pitchFamily="49" charset="-122"/>
                <a:ea typeface="黑体" panose="02010609060101010101" pitchFamily="49" charset="-122"/>
              </a:rPr>
              <a:t>分立元件门电路</a:t>
            </a:r>
            <a:endParaRPr lang="zh-CN" altLang="en-US" b="1" dirty="0">
              <a:solidFill>
                <a:srgbClr val="FF0000"/>
              </a:solidFill>
              <a:latin typeface="黑体" panose="02010609060101010101" pitchFamily="49" charset="-122"/>
              <a:ea typeface="黑体" panose="02010609060101010101" pitchFamily="49" charset="-122"/>
            </a:endParaRPr>
          </a:p>
        </p:txBody>
      </p:sp>
      <p:grpSp>
        <p:nvGrpSpPr>
          <p:cNvPr id="5" name="组合 4"/>
          <p:cNvGrpSpPr/>
          <p:nvPr/>
        </p:nvGrpSpPr>
        <p:grpSpPr>
          <a:xfrm>
            <a:off x="2514600" y="3200400"/>
            <a:ext cx="3820160" cy="3536950"/>
            <a:chOff x="4680" y="5040"/>
            <a:chExt cx="6016" cy="5570"/>
          </a:xfrm>
        </p:grpSpPr>
        <p:pic>
          <p:nvPicPr>
            <p:cNvPr id="9236" name="图片 2673"/>
            <p:cNvPicPr>
              <a:picLocks noChangeAspect="1"/>
            </p:cNvPicPr>
            <p:nvPr/>
          </p:nvPicPr>
          <p:blipFill>
            <a:blip r:embed="rId1"/>
            <a:stretch>
              <a:fillRect/>
            </a:stretch>
          </p:blipFill>
          <p:spPr>
            <a:xfrm>
              <a:off x="4680" y="5040"/>
              <a:ext cx="6017" cy="4866"/>
            </a:xfrm>
            <a:prstGeom prst="rect">
              <a:avLst/>
            </a:prstGeom>
            <a:noFill/>
            <a:ln>
              <a:noFill/>
            </a:ln>
          </p:spPr>
        </p:pic>
        <p:sp>
          <p:nvSpPr>
            <p:cNvPr id="100" name="文本框 99"/>
            <p:cNvSpPr txBox="1"/>
            <p:nvPr/>
          </p:nvSpPr>
          <p:spPr>
            <a:xfrm>
              <a:off x="6960" y="10080"/>
              <a:ext cx="2986"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图3-12或非门电路</a:t>
              </a:r>
              <a:endParaRPr sz="1600">
                <a:latin typeface="Times New Roman" panose="0202060305040502030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685800" y="1524000"/>
            <a:ext cx="8003540" cy="411924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TTL是Transistor-Transistor Logic的缩写，即晶体管-晶体管逻辑。之所以称为TTL逻辑门，是因为其输入端和输出端都包含了晶体管电路。TTL逻辑门是一种双极型的集成电路，电路中有自由电子和空穴两种载流子参与导电。我国TTL逻辑门分为54和74 两个系列。这两个系列具有相同的电路结构和电气性能参数，不同之处是54系列的工作温度范围更宽和供电电源波动范围更大，常用于军用电子产品中；而74系列则适合于常规条件下工作，常用于民用产品中。54和74 两个系列又有各自的子系列。</a:t>
            </a:r>
            <a:endParaRPr lang="zh-CN" altLang="en-US"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3.2 TTL</a:t>
            </a:r>
            <a:r>
              <a:rPr lang="zh-CN" altLang="en-US" b="1" dirty="0">
                <a:solidFill>
                  <a:srgbClr val="FF0000"/>
                </a:solidFill>
                <a:latin typeface="黑体" panose="02010609060101010101" pitchFamily="49" charset="-122"/>
                <a:ea typeface="黑体" panose="02010609060101010101" pitchFamily="49" charset="-122"/>
              </a:rPr>
              <a:t>逻辑门电路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146" name="Rectangle 2"/>
          <p:cNvSpPr>
            <a:spLocks noGrp="1"/>
          </p:cNvSpPr>
          <p:nvPr>
            <p:ph type="title"/>
          </p:nvPr>
        </p:nvSpPr>
        <p:spPr>
          <a:xfrm>
            <a:off x="914400" y="0"/>
            <a:ext cx="2874645"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3.2.1 </a:t>
            </a:r>
            <a:r>
              <a:rPr lang="zh-CN" altLang="en-US" sz="2800" i="0" dirty="0">
                <a:solidFill>
                  <a:srgbClr val="0070C0"/>
                </a:solidFill>
                <a:latin typeface="黑体" panose="02010609060101010101" pitchFamily="49" charset="-122"/>
                <a:ea typeface="黑体" panose="02010609060101010101" pitchFamily="49" charset="-122"/>
              </a:rPr>
              <a:t>TTL与非门</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354330" y="990600"/>
            <a:ext cx="8411845" cy="106489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图3-14是一个74标准系列TTL与非门电路结构，它由输入级、</a:t>
            </a:r>
            <a:r>
              <a:rPr lang="zh-CN" altLang="en-US" sz="2400" b="1" kern="1200" dirty="0">
                <a:solidFill>
                  <a:srgbClr val="000066"/>
                </a:solidFill>
                <a:latin typeface="Arial" panose="020B0604020202020204" pitchFamily="34" charset="0"/>
                <a:ea typeface="楷体_GB2312" pitchFamily="49" charset="-122"/>
                <a:sym typeface="+mn-ea"/>
              </a:rPr>
              <a:t>倒相级</a:t>
            </a:r>
            <a:r>
              <a:rPr lang="zh-CN" altLang="en-US" sz="2400" b="1" kern="1200" dirty="0">
                <a:solidFill>
                  <a:srgbClr val="000066"/>
                </a:solidFill>
                <a:latin typeface="Arial" panose="020B0604020202020204" pitchFamily="34" charset="0"/>
                <a:ea typeface="楷体_GB2312" pitchFamily="49" charset="-122"/>
              </a:rPr>
              <a:t>和</a:t>
            </a:r>
            <a:r>
              <a:rPr lang="zh-CN" altLang="en-US" sz="2400" b="1" kern="1200" dirty="0">
                <a:solidFill>
                  <a:srgbClr val="000066"/>
                </a:solidFill>
                <a:latin typeface="Arial" panose="020B0604020202020204" pitchFamily="34" charset="0"/>
                <a:ea typeface="楷体_GB2312" pitchFamily="49" charset="-122"/>
                <a:sym typeface="+mn-ea"/>
              </a:rPr>
              <a:t>输出级</a:t>
            </a:r>
            <a:r>
              <a:rPr lang="zh-CN" altLang="en-US" sz="2400" b="1" kern="1200" dirty="0">
                <a:solidFill>
                  <a:srgbClr val="000066"/>
                </a:solidFill>
                <a:latin typeface="Arial" panose="020B0604020202020204" pitchFamily="34" charset="0"/>
                <a:ea typeface="楷体_GB2312" pitchFamily="49" charset="-122"/>
              </a:rPr>
              <a:t>三部分组成。</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908050" y="567690"/>
            <a:ext cx="175006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1. 电路结构</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grpSp>
        <p:nvGrpSpPr>
          <p:cNvPr id="4" name="组合 3"/>
          <p:cNvGrpSpPr/>
          <p:nvPr/>
        </p:nvGrpSpPr>
        <p:grpSpPr>
          <a:xfrm>
            <a:off x="3276600" y="3276600"/>
            <a:ext cx="3741420" cy="3541395"/>
            <a:chOff x="1560" y="4920"/>
            <a:chExt cx="5933" cy="5945"/>
          </a:xfrm>
        </p:grpSpPr>
        <p:sp>
          <p:nvSpPr>
            <p:cNvPr id="100" name="文本框 99"/>
            <p:cNvSpPr txBox="1"/>
            <p:nvPr/>
          </p:nvSpPr>
          <p:spPr>
            <a:xfrm>
              <a:off x="2640" y="10299"/>
              <a:ext cx="3835" cy="566"/>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图3-14 TTL与非门电路</a:t>
              </a:r>
              <a:endParaRPr sz="1600">
                <a:latin typeface="Times New Roman" panose="02020603050405020304" charset="0"/>
                <a:ea typeface="宋体" panose="02010600030101010101" pitchFamily="2" charset="-122"/>
              </a:endParaRPr>
            </a:p>
          </p:txBody>
        </p:sp>
        <p:pic>
          <p:nvPicPr>
            <p:cNvPr id="9238" name="图片 2675"/>
            <p:cNvPicPr>
              <a:picLocks noChangeAspect="1"/>
            </p:cNvPicPr>
            <p:nvPr/>
          </p:nvPicPr>
          <p:blipFill>
            <a:blip r:embed="rId1"/>
            <a:stretch>
              <a:fillRect/>
            </a:stretch>
          </p:blipFill>
          <p:spPr>
            <a:xfrm>
              <a:off x="1560" y="4920"/>
              <a:ext cx="5933" cy="5296"/>
            </a:xfrm>
            <a:prstGeom prst="rect">
              <a:avLst/>
            </a:prstGeom>
            <a:noFill/>
            <a:ln>
              <a:noFill/>
            </a:ln>
          </p:spPr>
        </p:pic>
      </p:grpSp>
      <p:grpSp>
        <p:nvGrpSpPr>
          <p:cNvPr id="7" name="组合 6"/>
          <p:cNvGrpSpPr/>
          <p:nvPr/>
        </p:nvGrpSpPr>
        <p:grpSpPr>
          <a:xfrm>
            <a:off x="287020" y="1849120"/>
            <a:ext cx="8538210" cy="4919980"/>
            <a:chOff x="452" y="2912"/>
            <a:chExt cx="13446" cy="7748"/>
          </a:xfrm>
        </p:grpSpPr>
        <p:sp>
          <p:nvSpPr>
            <p:cNvPr id="3" name="Rectangle 3"/>
            <p:cNvSpPr>
              <a:spLocks noGrp="1"/>
            </p:cNvSpPr>
            <p:nvPr/>
          </p:nvSpPr>
          <p:spPr>
            <a:xfrm>
              <a:off x="452" y="2912"/>
              <a:ext cx="13447" cy="2046"/>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输入级由T</a:t>
              </a:r>
              <a:r>
                <a:rPr lang="zh-CN" altLang="en-US" sz="2400" b="1" kern="1200" baseline="-25000" dirty="0">
                  <a:solidFill>
                    <a:srgbClr val="000066"/>
                  </a:solidFill>
                  <a:latin typeface="Arial" panose="020B0604020202020204" pitchFamily="34" charset="0"/>
                  <a:ea typeface="楷体_GB2312" pitchFamily="49" charset="-122"/>
                </a:rPr>
                <a:t>1</a:t>
              </a:r>
              <a:r>
                <a:rPr lang="zh-CN" altLang="en-US" sz="2400" b="1" kern="1200" dirty="0">
                  <a:solidFill>
                    <a:srgbClr val="000066"/>
                  </a:solidFill>
                  <a:latin typeface="Arial" panose="020B0604020202020204" pitchFamily="34" charset="0"/>
                  <a:ea typeface="楷体_GB2312" pitchFamily="49" charset="-122"/>
                </a:rPr>
                <a:t>、</a:t>
              </a:r>
              <a:r>
                <a:rPr lang="zh-CN" altLang="en-US" sz="2400" b="1" i="1" kern="1200" dirty="0">
                  <a:solidFill>
                    <a:srgbClr val="000066"/>
                  </a:solidFill>
                  <a:latin typeface="Arial" panose="020B0604020202020204" pitchFamily="34" charset="0"/>
                  <a:ea typeface="楷体_GB2312" pitchFamily="49" charset="-122"/>
                </a:rPr>
                <a:t>R</a:t>
              </a:r>
              <a:r>
                <a:rPr lang="zh-CN" altLang="en-US" sz="2400" b="1" kern="1200" baseline="-25000" dirty="0">
                  <a:solidFill>
                    <a:srgbClr val="000066"/>
                  </a:solidFill>
                  <a:latin typeface="Arial" panose="020B0604020202020204" pitchFamily="34" charset="0"/>
                  <a:ea typeface="楷体_GB2312" pitchFamily="49" charset="-122"/>
                </a:rPr>
                <a:t>B1</a:t>
              </a:r>
              <a:r>
                <a:rPr lang="zh-CN" altLang="en-US" sz="2400" b="1" kern="1200" dirty="0">
                  <a:solidFill>
                    <a:srgbClr val="000066"/>
                  </a:solidFill>
                  <a:latin typeface="Arial" panose="020B0604020202020204" pitchFamily="34" charset="0"/>
                  <a:ea typeface="楷体_GB2312" pitchFamily="49" charset="-122"/>
                </a:rPr>
                <a:t>、D</a:t>
              </a:r>
              <a:r>
                <a:rPr lang="zh-CN" altLang="en-US" sz="2400" b="1" kern="1200" baseline="-25000" dirty="0">
                  <a:solidFill>
                    <a:srgbClr val="000066"/>
                  </a:solidFill>
                  <a:latin typeface="Arial" panose="020B0604020202020204" pitchFamily="34" charset="0"/>
                  <a:ea typeface="楷体_GB2312" pitchFamily="49" charset="-122"/>
                </a:rPr>
                <a:t>1</a:t>
              </a:r>
              <a:r>
                <a:rPr lang="zh-CN" altLang="en-US" sz="2400" b="1" kern="1200" dirty="0">
                  <a:solidFill>
                    <a:srgbClr val="000066"/>
                  </a:solidFill>
                  <a:latin typeface="Arial" panose="020B0604020202020204" pitchFamily="34" charset="0"/>
                  <a:ea typeface="楷体_GB2312" pitchFamily="49" charset="-122"/>
                </a:rPr>
                <a:t>和D</a:t>
              </a:r>
              <a:r>
                <a:rPr lang="zh-CN" altLang="en-US" sz="2400" b="1" kern="1200" baseline="-25000" dirty="0">
                  <a:solidFill>
                    <a:srgbClr val="000066"/>
                  </a:solidFill>
                  <a:latin typeface="Arial" panose="020B0604020202020204" pitchFamily="34" charset="0"/>
                  <a:ea typeface="楷体_GB2312" pitchFamily="49" charset="-122"/>
                </a:rPr>
                <a:t>2</a:t>
              </a:r>
              <a:r>
                <a:rPr lang="zh-CN" altLang="en-US" sz="2400" b="1" kern="1200" dirty="0">
                  <a:solidFill>
                    <a:srgbClr val="000066"/>
                  </a:solidFill>
                  <a:latin typeface="Arial" panose="020B0604020202020204" pitchFamily="34" charset="0"/>
                  <a:ea typeface="楷体_GB2312" pitchFamily="49" charset="-122"/>
                </a:rPr>
                <a:t>组成。多发射极三极管T</a:t>
              </a:r>
              <a:r>
                <a:rPr lang="zh-CN" altLang="en-US" sz="2400" b="1" kern="1200" baseline="-25000" dirty="0">
                  <a:solidFill>
                    <a:srgbClr val="000066"/>
                  </a:solidFill>
                  <a:latin typeface="Arial" panose="020B0604020202020204" pitchFamily="34" charset="0"/>
                  <a:ea typeface="楷体_GB2312" pitchFamily="49" charset="-122"/>
                </a:rPr>
                <a:t>1</a:t>
              </a:r>
              <a:r>
                <a:rPr lang="zh-CN" altLang="en-US" sz="2400" b="1" kern="1200" dirty="0">
                  <a:solidFill>
                    <a:srgbClr val="000066"/>
                  </a:solidFill>
                  <a:latin typeface="Arial" panose="020B0604020202020204" pitchFamily="34" charset="0"/>
                  <a:ea typeface="楷体_GB2312" pitchFamily="49" charset="-122"/>
                </a:rPr>
                <a:t>可以视为两个发射极独立，基极与基极、集电极与集电极分别并联在一起的一个三极管，如图3-15所示。D</a:t>
              </a:r>
              <a:r>
                <a:rPr lang="zh-CN" altLang="en-US" sz="2400" b="1" kern="1200" baseline="-25000" dirty="0">
                  <a:solidFill>
                    <a:srgbClr val="000066"/>
                  </a:solidFill>
                  <a:latin typeface="Arial" panose="020B0604020202020204" pitchFamily="34" charset="0"/>
                  <a:ea typeface="楷体_GB2312" pitchFamily="49" charset="-122"/>
                </a:rPr>
                <a:t>1</a:t>
              </a:r>
              <a:r>
                <a:rPr lang="zh-CN" altLang="en-US" sz="2400" b="1" kern="1200" dirty="0">
                  <a:solidFill>
                    <a:srgbClr val="000066"/>
                  </a:solidFill>
                  <a:latin typeface="Arial" panose="020B0604020202020204" pitchFamily="34" charset="0"/>
                  <a:ea typeface="楷体_GB2312" pitchFamily="49" charset="-122"/>
                </a:rPr>
                <a:t>和D</a:t>
              </a:r>
              <a:r>
                <a:rPr lang="zh-CN" altLang="en-US" sz="2400" b="1" kern="1200" baseline="-25000" dirty="0">
                  <a:solidFill>
                    <a:srgbClr val="000066"/>
                  </a:solidFill>
                  <a:latin typeface="Arial" panose="020B0604020202020204" pitchFamily="34" charset="0"/>
                  <a:ea typeface="楷体_GB2312" pitchFamily="49" charset="-122"/>
                </a:rPr>
                <a:t>2</a:t>
              </a:r>
              <a:r>
                <a:rPr lang="zh-CN" altLang="en-US" sz="2400" b="1" kern="1200" dirty="0">
                  <a:solidFill>
                    <a:srgbClr val="000066"/>
                  </a:solidFill>
                  <a:latin typeface="Arial" panose="020B0604020202020204" pitchFamily="34" charset="0"/>
                  <a:ea typeface="楷体_GB2312" pitchFamily="49" charset="-122"/>
                </a:rPr>
                <a:t>是两个钳</a:t>
              </a:r>
              <a:r>
                <a:rPr lang="zh-CN" altLang="en-US" sz="2400" b="1" dirty="0">
                  <a:solidFill>
                    <a:srgbClr val="000066"/>
                  </a:solidFill>
                  <a:latin typeface="Arial" panose="020B0604020202020204" pitchFamily="34" charset="0"/>
                  <a:ea typeface="楷体_GB2312" pitchFamily="49" charset="-122"/>
                  <a:sym typeface="+mn-ea"/>
                </a:rPr>
                <a:t>位二极</a:t>
              </a:r>
              <a:endParaRPr lang="zh-CN" altLang="en-US" sz="2400" b="1" kern="1200" dirty="0">
                <a:solidFill>
                  <a:srgbClr val="000066"/>
                </a:solidFill>
                <a:latin typeface="Arial" panose="020B0604020202020204" pitchFamily="34" charset="0"/>
                <a:ea typeface="楷体_GB2312" pitchFamily="49" charset="-122"/>
                <a:sym typeface="+mn-ea"/>
              </a:endParaRPr>
            </a:p>
          </p:txBody>
        </p:sp>
        <p:sp>
          <p:nvSpPr>
            <p:cNvPr id="5" name="Rectangle 3"/>
            <p:cNvSpPr>
              <a:spLocks noGrp="1"/>
            </p:cNvSpPr>
            <p:nvPr/>
          </p:nvSpPr>
          <p:spPr>
            <a:xfrm>
              <a:off x="480" y="5040"/>
              <a:ext cx="4657" cy="5621"/>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zh-CN" altLang="en-US" sz="2400" b="1" kern="1200" dirty="0">
                  <a:solidFill>
                    <a:srgbClr val="000066"/>
                  </a:solidFill>
                  <a:latin typeface="Arial" panose="020B0604020202020204" pitchFamily="34" charset="0"/>
                  <a:ea typeface="楷体_GB2312" pitchFamily="49" charset="-122"/>
                </a:rPr>
                <a:t>管，导通压降均为0.7V。当某个输入端干扰脉冲的电压小于-0.7V时，对应的二极管导通，使该输入端的电位被钳在-0.7V，抑制了输入端负极性脉冲的干扰。</a:t>
              </a:r>
              <a:endParaRPr lang="zh-CN" altLang="en-US" sz="2400" b="1" kern="1200" dirty="0">
                <a:solidFill>
                  <a:srgbClr val="000066"/>
                </a:solidFill>
                <a:latin typeface="Arial" panose="020B0604020202020204" pitchFamily="34" charset="0"/>
                <a:ea typeface="楷体_GB2312" pitchFamily="49" charset="-122"/>
              </a:endParaRPr>
            </a:p>
          </p:txBody>
        </p:sp>
      </p:grpSp>
      <p:grpSp>
        <p:nvGrpSpPr>
          <p:cNvPr id="8" name="组合 7"/>
          <p:cNvGrpSpPr/>
          <p:nvPr/>
        </p:nvGrpSpPr>
        <p:grpSpPr>
          <a:xfrm>
            <a:off x="6553200" y="3657600"/>
            <a:ext cx="2418080" cy="2241550"/>
            <a:chOff x="10320" y="5760"/>
            <a:chExt cx="3808" cy="3530"/>
          </a:xfrm>
        </p:grpSpPr>
        <p:pic>
          <p:nvPicPr>
            <p:cNvPr id="9239" name="图片 2676"/>
            <p:cNvPicPr>
              <a:picLocks noChangeAspect="1"/>
            </p:cNvPicPr>
            <p:nvPr/>
          </p:nvPicPr>
          <p:blipFill>
            <a:blip r:embed="rId2"/>
            <a:stretch>
              <a:fillRect/>
            </a:stretch>
          </p:blipFill>
          <p:spPr>
            <a:xfrm>
              <a:off x="10560" y="5760"/>
              <a:ext cx="3273" cy="2787"/>
            </a:xfrm>
            <a:prstGeom prst="rect">
              <a:avLst/>
            </a:prstGeom>
            <a:noFill/>
            <a:ln>
              <a:noFill/>
            </a:ln>
          </p:spPr>
        </p:pic>
        <p:sp>
          <p:nvSpPr>
            <p:cNvPr id="6" name="文本框 5"/>
            <p:cNvSpPr txBox="1"/>
            <p:nvPr/>
          </p:nvSpPr>
          <p:spPr>
            <a:xfrm>
              <a:off x="10320" y="8760"/>
              <a:ext cx="3808"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图3-15多发射极三极管T</a:t>
              </a:r>
              <a:r>
                <a:rPr sz="1600" baseline="-25000">
                  <a:latin typeface="Times New Roman" panose="02020603050405020304" charset="0"/>
                  <a:ea typeface="宋体" panose="02010600030101010101" pitchFamily="2" charset="-122"/>
                </a:rPr>
                <a:t>1</a:t>
              </a:r>
              <a:endParaRPr sz="1600" baseline="-25000">
                <a:latin typeface="Times New Roman" panose="0202060305040502030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plus(in)">
                                      <p:cBhvr>
                                        <p:cTn id="7" dur="2000"/>
                                        <p:tgtEl>
                                          <p:spTgt spid="7"/>
                                        </p:tgtEl>
                                      </p:cBhvr>
                                    </p:animEffect>
                                  </p:childTnLst>
                                </p:cTn>
                              </p:par>
                            </p:childTnLst>
                          </p:cTn>
                        </p:par>
                        <p:par>
                          <p:cTn id="8" fill="hold">
                            <p:stCondLst>
                              <p:cond delay="2000"/>
                            </p:stCondLst>
                            <p:childTnLst>
                              <p:par>
                                <p:cTn id="9" presetID="22" presetClass="entr" presetSubtype="1"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grpSp>
        <p:nvGrpSpPr>
          <p:cNvPr id="4" name="组合 3"/>
          <p:cNvGrpSpPr/>
          <p:nvPr/>
        </p:nvGrpSpPr>
        <p:grpSpPr>
          <a:xfrm>
            <a:off x="381000" y="2819400"/>
            <a:ext cx="3741420" cy="3541395"/>
            <a:chOff x="1560" y="4920"/>
            <a:chExt cx="5933" cy="5945"/>
          </a:xfrm>
        </p:grpSpPr>
        <p:sp>
          <p:nvSpPr>
            <p:cNvPr id="100" name="文本框 99"/>
            <p:cNvSpPr txBox="1"/>
            <p:nvPr/>
          </p:nvSpPr>
          <p:spPr>
            <a:xfrm>
              <a:off x="2640" y="10299"/>
              <a:ext cx="3835" cy="566"/>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图3-14 TTL与非门电路</a:t>
              </a:r>
              <a:endParaRPr sz="1600">
                <a:latin typeface="Times New Roman" panose="02020603050405020304" charset="0"/>
                <a:ea typeface="宋体" panose="02010600030101010101" pitchFamily="2" charset="-122"/>
              </a:endParaRPr>
            </a:p>
          </p:txBody>
        </p:sp>
        <p:pic>
          <p:nvPicPr>
            <p:cNvPr id="9238" name="图片 2675"/>
            <p:cNvPicPr>
              <a:picLocks noChangeAspect="1"/>
            </p:cNvPicPr>
            <p:nvPr/>
          </p:nvPicPr>
          <p:blipFill>
            <a:blip r:embed="rId1"/>
            <a:stretch>
              <a:fillRect/>
            </a:stretch>
          </p:blipFill>
          <p:spPr>
            <a:xfrm>
              <a:off x="1560" y="4920"/>
              <a:ext cx="5933" cy="5296"/>
            </a:xfrm>
            <a:prstGeom prst="rect">
              <a:avLst/>
            </a:prstGeom>
            <a:noFill/>
            <a:ln>
              <a:noFill/>
            </a:ln>
          </p:spPr>
        </p:pic>
      </p:grpSp>
      <p:sp>
        <p:nvSpPr>
          <p:cNvPr id="3" name="Rectangle 3"/>
          <p:cNvSpPr>
            <a:spLocks noGrp="1"/>
          </p:cNvSpPr>
          <p:nvPr/>
        </p:nvSpPr>
        <p:spPr>
          <a:xfrm>
            <a:off x="287020" y="1315720"/>
            <a:ext cx="8538845" cy="12992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dirty="0">
                <a:solidFill>
                  <a:srgbClr val="000066"/>
                </a:solidFill>
                <a:latin typeface="Arial" panose="020B0604020202020204" pitchFamily="34" charset="0"/>
                <a:ea typeface="楷体_GB2312" pitchFamily="49" charset="-122"/>
              </a:rPr>
              <a:t>倒相级由T2、</a:t>
            </a:r>
            <a:r>
              <a:rPr lang="zh-CN" altLang="en-US" sz="2400" b="1" i="1" dirty="0">
                <a:solidFill>
                  <a:srgbClr val="000066"/>
                </a:solidFill>
                <a:latin typeface="Arial" panose="020B0604020202020204" pitchFamily="34" charset="0"/>
                <a:ea typeface="楷体_GB2312" pitchFamily="49" charset="-122"/>
              </a:rPr>
              <a:t>R</a:t>
            </a:r>
            <a:r>
              <a:rPr lang="zh-CN" altLang="en-US" sz="2400" b="1" baseline="-25000" dirty="0">
                <a:solidFill>
                  <a:srgbClr val="000066"/>
                </a:solidFill>
                <a:latin typeface="Arial" panose="020B0604020202020204" pitchFamily="34" charset="0"/>
                <a:ea typeface="楷体_GB2312" pitchFamily="49" charset="-122"/>
              </a:rPr>
              <a:t>C2</a:t>
            </a:r>
            <a:r>
              <a:rPr lang="zh-CN" altLang="en-US" sz="2400" b="1" dirty="0">
                <a:solidFill>
                  <a:srgbClr val="000066"/>
                </a:solidFill>
                <a:latin typeface="Arial" panose="020B0604020202020204" pitchFamily="34" charset="0"/>
                <a:ea typeface="楷体_GB2312" pitchFamily="49" charset="-122"/>
              </a:rPr>
              <a:t>和</a:t>
            </a:r>
            <a:r>
              <a:rPr lang="zh-CN" altLang="en-US" sz="2400" b="1" i="1" dirty="0">
                <a:solidFill>
                  <a:srgbClr val="000066"/>
                </a:solidFill>
                <a:latin typeface="Arial" panose="020B0604020202020204" pitchFamily="34" charset="0"/>
                <a:ea typeface="楷体_GB2312" pitchFamily="49" charset="-122"/>
              </a:rPr>
              <a:t>R</a:t>
            </a:r>
            <a:r>
              <a:rPr lang="zh-CN" altLang="en-US" sz="2400" b="1" baseline="-25000" dirty="0">
                <a:solidFill>
                  <a:srgbClr val="000066"/>
                </a:solidFill>
                <a:latin typeface="Arial" panose="020B0604020202020204" pitchFamily="34" charset="0"/>
                <a:ea typeface="楷体_GB2312" pitchFamily="49" charset="-122"/>
              </a:rPr>
              <a:t>E2</a:t>
            </a:r>
            <a:r>
              <a:rPr lang="zh-CN" altLang="en-US" sz="2400" b="1" dirty="0">
                <a:solidFill>
                  <a:srgbClr val="000066"/>
                </a:solidFill>
                <a:latin typeface="Arial" panose="020B0604020202020204" pitchFamily="34" charset="0"/>
                <a:ea typeface="楷体_GB2312" pitchFamily="49" charset="-122"/>
              </a:rPr>
              <a:t>组成，之所以被称为倒相级是因为通过T</a:t>
            </a:r>
            <a:r>
              <a:rPr lang="zh-CN" altLang="en-US" sz="2400" b="1" baseline="-25000" dirty="0">
                <a:solidFill>
                  <a:srgbClr val="000066"/>
                </a:solidFill>
                <a:latin typeface="Arial" panose="020B0604020202020204" pitchFamily="34" charset="0"/>
                <a:ea typeface="楷体_GB2312" pitchFamily="49" charset="-122"/>
              </a:rPr>
              <a:t>2</a:t>
            </a:r>
            <a:r>
              <a:rPr lang="zh-CN" altLang="en-US" sz="2400" b="1" dirty="0">
                <a:solidFill>
                  <a:srgbClr val="000066"/>
                </a:solidFill>
                <a:latin typeface="Arial" panose="020B0604020202020204" pitchFamily="34" charset="0"/>
                <a:ea typeface="楷体_GB2312" pitchFamily="49" charset="-122"/>
              </a:rPr>
              <a:t>的</a:t>
            </a:r>
            <a:r>
              <a:rPr lang="zh-CN" altLang="en-US" sz="2400" b="1" dirty="0">
                <a:solidFill>
                  <a:srgbClr val="000066"/>
                </a:solidFill>
                <a:latin typeface="Arial" panose="020B0604020202020204" pitchFamily="34" charset="0"/>
                <a:ea typeface="楷体_GB2312" pitchFamily="49" charset="-122"/>
                <a:sym typeface="+mn-ea"/>
              </a:rPr>
              <a:t>发射</a:t>
            </a:r>
            <a:r>
              <a:rPr lang="zh-CN" altLang="en-US" sz="2400" b="1" dirty="0">
                <a:solidFill>
                  <a:srgbClr val="000066"/>
                </a:solidFill>
                <a:latin typeface="Arial" panose="020B0604020202020204" pitchFamily="34" charset="0"/>
                <a:ea typeface="楷体_GB2312" pitchFamily="49" charset="-122"/>
              </a:rPr>
              <a:t>极和</a:t>
            </a:r>
            <a:r>
              <a:rPr lang="zh-CN" altLang="en-US" sz="2400" b="1" dirty="0">
                <a:solidFill>
                  <a:srgbClr val="000066"/>
                </a:solidFill>
                <a:latin typeface="Arial" panose="020B0604020202020204" pitchFamily="34" charset="0"/>
                <a:ea typeface="楷体_GB2312" pitchFamily="49" charset="-122"/>
                <a:sym typeface="+mn-ea"/>
              </a:rPr>
              <a:t>集电</a:t>
            </a:r>
            <a:r>
              <a:rPr lang="zh-CN" altLang="en-US" sz="2400" b="1" dirty="0">
                <a:solidFill>
                  <a:srgbClr val="000066"/>
                </a:solidFill>
                <a:latin typeface="Arial" panose="020B0604020202020204" pitchFamily="34" charset="0"/>
                <a:ea typeface="楷体_GB2312" pitchFamily="49" charset="-122"/>
              </a:rPr>
              <a:t>极提供两个相位相反的信号，分别用于驱动输出级T</a:t>
            </a:r>
            <a:r>
              <a:rPr lang="zh-CN" altLang="en-US" sz="2400" b="1" baseline="-25000" dirty="0">
                <a:solidFill>
                  <a:srgbClr val="000066"/>
                </a:solidFill>
                <a:latin typeface="Arial" panose="020B0604020202020204" pitchFamily="34" charset="0"/>
                <a:ea typeface="楷体_GB2312" pitchFamily="49" charset="-122"/>
              </a:rPr>
              <a:t>3</a:t>
            </a:r>
            <a:r>
              <a:rPr lang="zh-CN" altLang="en-US" sz="2400" b="1" dirty="0">
                <a:solidFill>
                  <a:srgbClr val="000066"/>
                </a:solidFill>
                <a:latin typeface="Arial" panose="020B0604020202020204" pitchFamily="34" charset="0"/>
                <a:ea typeface="楷体_GB2312" pitchFamily="49" charset="-122"/>
              </a:rPr>
              <a:t>和T</a:t>
            </a:r>
            <a:r>
              <a:rPr lang="zh-CN" altLang="en-US" sz="2400" b="1" baseline="-25000" dirty="0">
                <a:solidFill>
                  <a:srgbClr val="000066"/>
                </a:solidFill>
                <a:latin typeface="Arial" panose="020B0604020202020204" pitchFamily="34" charset="0"/>
                <a:ea typeface="楷体_GB2312" pitchFamily="49" charset="-122"/>
              </a:rPr>
              <a:t>4</a:t>
            </a:r>
            <a:r>
              <a:rPr lang="zh-CN" altLang="en-US" sz="2400" b="1" dirty="0">
                <a:solidFill>
                  <a:srgbClr val="000066"/>
                </a:solidFill>
                <a:latin typeface="Arial" panose="020B0604020202020204" pitchFamily="34" charset="0"/>
                <a:ea typeface="楷体_GB2312" pitchFamily="49" charset="-122"/>
              </a:rPr>
              <a:t>。</a:t>
            </a:r>
            <a:endParaRPr lang="zh-CN" altLang="en-US" sz="2400" b="1" dirty="0">
              <a:solidFill>
                <a:srgbClr val="000066"/>
              </a:solidFill>
              <a:latin typeface="Arial" panose="020B0604020202020204" pitchFamily="34" charset="0"/>
              <a:ea typeface="楷体_GB2312" pitchFamily="49" charset="-122"/>
            </a:endParaRPr>
          </a:p>
        </p:txBody>
      </p:sp>
      <p:sp>
        <p:nvSpPr>
          <p:cNvPr id="5" name="Rectangle 3"/>
          <p:cNvSpPr>
            <a:spLocks noGrp="1"/>
          </p:cNvSpPr>
          <p:nvPr/>
        </p:nvSpPr>
        <p:spPr>
          <a:xfrm>
            <a:off x="4724400" y="2743200"/>
            <a:ext cx="3744595" cy="356933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zh-CN" altLang="en-US" sz="2400" b="1" kern="1200" dirty="0">
                <a:solidFill>
                  <a:srgbClr val="000066"/>
                </a:solidFill>
                <a:latin typeface="Arial" panose="020B0604020202020204" pitchFamily="34" charset="0"/>
                <a:ea typeface="楷体_GB2312" pitchFamily="49" charset="-122"/>
              </a:rPr>
              <a:t>输出级由T</a:t>
            </a:r>
            <a:r>
              <a:rPr lang="zh-CN" altLang="en-US" sz="2400" b="1" kern="1200" baseline="-25000" dirty="0">
                <a:solidFill>
                  <a:srgbClr val="000066"/>
                </a:solidFill>
                <a:latin typeface="Arial" panose="020B0604020202020204" pitchFamily="34" charset="0"/>
                <a:ea typeface="楷体_GB2312" pitchFamily="49" charset="-122"/>
              </a:rPr>
              <a:t>3</a:t>
            </a:r>
            <a:r>
              <a:rPr lang="zh-CN" altLang="en-US" sz="2400" b="1" kern="1200" dirty="0">
                <a:solidFill>
                  <a:srgbClr val="000066"/>
                </a:solidFill>
                <a:latin typeface="Arial" panose="020B0604020202020204" pitchFamily="34" charset="0"/>
                <a:ea typeface="楷体_GB2312" pitchFamily="49" charset="-122"/>
              </a:rPr>
              <a:t>、T</a:t>
            </a:r>
            <a:r>
              <a:rPr lang="zh-CN" altLang="en-US" sz="2400" b="1" kern="1200" baseline="-25000" dirty="0">
                <a:solidFill>
                  <a:srgbClr val="000066"/>
                </a:solidFill>
                <a:latin typeface="Arial" panose="020B0604020202020204" pitchFamily="34" charset="0"/>
                <a:ea typeface="楷体_GB2312" pitchFamily="49" charset="-122"/>
              </a:rPr>
              <a:t>4</a:t>
            </a:r>
            <a:r>
              <a:rPr lang="zh-CN" altLang="en-US" sz="2400" b="1" kern="1200" dirty="0">
                <a:solidFill>
                  <a:srgbClr val="000066"/>
                </a:solidFill>
                <a:latin typeface="Arial" panose="020B0604020202020204" pitchFamily="34" charset="0"/>
                <a:ea typeface="楷体_GB2312" pitchFamily="49" charset="-122"/>
              </a:rPr>
              <a:t>、</a:t>
            </a:r>
            <a:r>
              <a:rPr lang="zh-CN" altLang="en-US" sz="2400" b="1" i="1" kern="1200" dirty="0">
                <a:solidFill>
                  <a:srgbClr val="000066"/>
                </a:solidFill>
                <a:latin typeface="Arial" panose="020B0604020202020204" pitchFamily="34" charset="0"/>
                <a:ea typeface="楷体_GB2312" pitchFamily="49" charset="-122"/>
              </a:rPr>
              <a:t>R</a:t>
            </a:r>
            <a:r>
              <a:rPr lang="zh-CN" altLang="en-US" sz="2400" b="1" kern="1200" baseline="-25000" dirty="0">
                <a:solidFill>
                  <a:srgbClr val="000066"/>
                </a:solidFill>
                <a:latin typeface="Arial" panose="020B0604020202020204" pitchFamily="34" charset="0"/>
                <a:ea typeface="楷体_GB2312" pitchFamily="49" charset="-122"/>
              </a:rPr>
              <a:t>C4</a:t>
            </a:r>
            <a:r>
              <a:rPr lang="zh-CN" altLang="en-US" sz="2400" b="1" kern="1200" dirty="0">
                <a:solidFill>
                  <a:srgbClr val="000066"/>
                </a:solidFill>
                <a:latin typeface="Arial" panose="020B0604020202020204" pitchFamily="34" charset="0"/>
                <a:ea typeface="楷体_GB2312" pitchFamily="49" charset="-122"/>
              </a:rPr>
              <a:t> 和D</a:t>
            </a:r>
            <a:r>
              <a:rPr lang="zh-CN" altLang="en-US" sz="2400" b="1" kern="1200" baseline="-25000" dirty="0">
                <a:solidFill>
                  <a:srgbClr val="000066"/>
                </a:solidFill>
                <a:latin typeface="Arial" panose="020B0604020202020204" pitchFamily="34" charset="0"/>
                <a:ea typeface="楷体_GB2312" pitchFamily="49" charset="-122"/>
              </a:rPr>
              <a:t>3</a:t>
            </a:r>
            <a:r>
              <a:rPr lang="zh-CN" altLang="en-US" sz="2400" b="1" kern="1200" dirty="0">
                <a:solidFill>
                  <a:srgbClr val="000066"/>
                </a:solidFill>
                <a:latin typeface="Arial" panose="020B0604020202020204" pitchFamily="34" charset="0"/>
                <a:ea typeface="楷体_GB2312" pitchFamily="49" charset="-122"/>
              </a:rPr>
              <a:t>组成。与非门工作在稳态时，T</a:t>
            </a:r>
            <a:r>
              <a:rPr lang="zh-CN" altLang="en-US" sz="2400" b="1" kern="1200" baseline="-25000" dirty="0">
                <a:solidFill>
                  <a:srgbClr val="000066"/>
                </a:solidFill>
                <a:latin typeface="Arial" panose="020B0604020202020204" pitchFamily="34" charset="0"/>
                <a:ea typeface="楷体_GB2312" pitchFamily="49" charset="-122"/>
              </a:rPr>
              <a:t>3</a:t>
            </a:r>
            <a:r>
              <a:rPr lang="zh-CN" altLang="en-US" sz="2400" b="1" kern="1200" dirty="0">
                <a:solidFill>
                  <a:srgbClr val="000066"/>
                </a:solidFill>
                <a:latin typeface="Arial" panose="020B0604020202020204" pitchFamily="34" charset="0"/>
                <a:ea typeface="楷体_GB2312" pitchFamily="49" charset="-122"/>
              </a:rPr>
              <a:t>和T</a:t>
            </a:r>
            <a:r>
              <a:rPr lang="zh-CN" altLang="en-US" sz="2400" b="1" kern="1200" baseline="-25000" dirty="0">
                <a:solidFill>
                  <a:srgbClr val="000066"/>
                </a:solidFill>
                <a:latin typeface="Arial" panose="020B0604020202020204" pitchFamily="34" charset="0"/>
                <a:ea typeface="楷体_GB2312" pitchFamily="49" charset="-122"/>
              </a:rPr>
              <a:t>4</a:t>
            </a:r>
            <a:r>
              <a:rPr lang="zh-CN" altLang="en-US" sz="2400" b="1" kern="1200" dirty="0">
                <a:solidFill>
                  <a:srgbClr val="000066"/>
                </a:solidFill>
                <a:latin typeface="Arial" panose="020B0604020202020204" pitchFamily="34" charset="0"/>
                <a:ea typeface="楷体_GB2312" pitchFamily="49" charset="-122"/>
              </a:rPr>
              <a:t>总是一个截止另一个导通，这种情况能降低输出级的静态功耗，提高与非门的负载驱动能力。这种电路也称为推拉式或图腾柱输出电路。</a:t>
            </a:r>
            <a:endParaRPr lang="zh-CN" altLang="en-US"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3.2 TTL</a:t>
            </a:r>
            <a:r>
              <a:rPr lang="zh-CN" altLang="en-US" b="1" dirty="0">
                <a:solidFill>
                  <a:srgbClr val="FF0000"/>
                </a:solidFill>
                <a:latin typeface="黑体" panose="02010609060101010101" pitchFamily="49" charset="-122"/>
                <a:ea typeface="黑体" panose="02010609060101010101" pitchFamily="49" charset="-122"/>
              </a:rPr>
              <a:t>逻辑门电路</a:t>
            </a:r>
            <a:endParaRPr lang="zh-CN" altLang="en-US"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strVal val="#ppt_w*0.05"/>
                                          </p:val>
                                        </p:tav>
                                        <p:tav tm="100000">
                                          <p:val>
                                            <p:strVal val="#ppt_w"/>
                                          </p:val>
                                        </p:tav>
                                      </p:tavLst>
                                    </p:anim>
                                    <p:anim calcmode="lin" valueType="num">
                                      <p:cBhvr>
                                        <p:cTn id="8" dur="500" fill="hold"/>
                                        <p:tgtEl>
                                          <p:spTgt spid="5"/>
                                        </p:tgtEl>
                                        <p:attrNameLst>
                                          <p:attrName>ppt_h</p:attrName>
                                        </p:attrNameLst>
                                      </p:cBhvr>
                                      <p:tavLst>
                                        <p:tav tm="0">
                                          <p:val>
                                            <p:strVal val="#ppt_h"/>
                                          </p:val>
                                        </p:tav>
                                        <p:tav tm="100000">
                                          <p:val>
                                            <p:strVal val="#ppt_h"/>
                                          </p:val>
                                        </p:tav>
                                      </p:tavLst>
                                    </p:anim>
                                    <p:anim calcmode="lin" valueType="num">
                                      <p:cBhvr>
                                        <p:cTn id="9" dur="500" fill="hold"/>
                                        <p:tgtEl>
                                          <p:spTgt spid="5"/>
                                        </p:tgtEl>
                                        <p:attrNameLst>
                                          <p:attrName>ppt_x</p:attrName>
                                        </p:attrNameLst>
                                      </p:cBhvr>
                                      <p:tavLst>
                                        <p:tav tm="0">
                                          <p:val>
                                            <p:strVal val="#ppt_x-.2"/>
                                          </p:val>
                                        </p:tav>
                                        <p:tav tm="100000">
                                          <p:val>
                                            <p:strVal val="#ppt_x"/>
                                          </p:val>
                                        </p:tav>
                                      </p:tavLst>
                                    </p:anim>
                                    <p:anim calcmode="lin" valueType="num">
                                      <p:cBhvr>
                                        <p:cTn id="10" dur="500" fill="hold"/>
                                        <p:tgtEl>
                                          <p:spTgt spid="5"/>
                                        </p:tgtEl>
                                        <p:attrNameLst>
                                          <p:attrName>ppt_y</p:attrName>
                                        </p:attrNameLst>
                                      </p:cBhvr>
                                      <p:tavLst>
                                        <p:tav tm="0">
                                          <p:val>
                                            <p:strVal val="#ppt_y"/>
                                          </p:val>
                                        </p:tav>
                                        <p:tav tm="100000">
                                          <p:val>
                                            <p:strVal val="#ppt_y"/>
                                          </p:val>
                                        </p:tav>
                                      </p:tavLst>
                                    </p:anim>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文本框 10"/>
          <p:cNvSpPr txBox="1"/>
          <p:nvPr/>
        </p:nvSpPr>
        <p:spPr>
          <a:xfrm>
            <a:off x="-1397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908050" y="1177290"/>
            <a:ext cx="175006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2. 工作原理</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grpSp>
        <p:nvGrpSpPr>
          <p:cNvPr id="4" name="组合 3"/>
          <p:cNvGrpSpPr/>
          <p:nvPr/>
        </p:nvGrpSpPr>
        <p:grpSpPr>
          <a:xfrm>
            <a:off x="228600" y="3048000"/>
            <a:ext cx="3741420" cy="3541395"/>
            <a:chOff x="1560" y="4920"/>
            <a:chExt cx="5933" cy="5945"/>
          </a:xfrm>
        </p:grpSpPr>
        <p:sp>
          <p:nvSpPr>
            <p:cNvPr id="100" name="文本框 99"/>
            <p:cNvSpPr txBox="1"/>
            <p:nvPr/>
          </p:nvSpPr>
          <p:spPr>
            <a:xfrm>
              <a:off x="2640" y="10299"/>
              <a:ext cx="3835" cy="566"/>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图3-14 TTL与非门电路</a:t>
              </a:r>
              <a:endParaRPr sz="1600">
                <a:latin typeface="Times New Roman" panose="02020603050405020304" charset="0"/>
                <a:ea typeface="宋体" panose="02010600030101010101" pitchFamily="2" charset="-122"/>
              </a:endParaRPr>
            </a:p>
          </p:txBody>
        </p:sp>
        <p:pic>
          <p:nvPicPr>
            <p:cNvPr id="9238" name="图片 2675"/>
            <p:cNvPicPr>
              <a:picLocks noChangeAspect="1"/>
            </p:cNvPicPr>
            <p:nvPr/>
          </p:nvPicPr>
          <p:blipFill>
            <a:blip r:embed="rId1"/>
            <a:stretch>
              <a:fillRect/>
            </a:stretch>
          </p:blipFill>
          <p:spPr>
            <a:xfrm>
              <a:off x="1560" y="4920"/>
              <a:ext cx="5933" cy="5296"/>
            </a:xfrm>
            <a:prstGeom prst="rect">
              <a:avLst/>
            </a:prstGeom>
            <a:noFill/>
            <a:ln>
              <a:noFill/>
            </a:ln>
          </p:spPr>
        </p:pic>
      </p:grpSp>
      <p:sp>
        <p:nvSpPr>
          <p:cNvPr id="3" name="Rectangle 3"/>
          <p:cNvSpPr>
            <a:spLocks noGrp="1"/>
          </p:cNvSpPr>
          <p:nvPr/>
        </p:nvSpPr>
        <p:spPr>
          <a:xfrm>
            <a:off x="304800" y="1600200"/>
            <a:ext cx="8538845" cy="12992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dirty="0">
                <a:solidFill>
                  <a:srgbClr val="000066"/>
                </a:solidFill>
                <a:latin typeface="Arial" panose="020B0604020202020204" pitchFamily="34" charset="0"/>
                <a:ea typeface="楷体_GB2312" pitchFamily="49" charset="-122"/>
              </a:rPr>
              <a:t>设输入信号A、B的高电平为</a:t>
            </a:r>
            <a:r>
              <a:rPr lang="zh-CN" altLang="en-US" sz="2400" b="1" i="1" dirty="0">
                <a:solidFill>
                  <a:srgbClr val="000066"/>
                </a:solidFill>
                <a:latin typeface="Arial" panose="020B0604020202020204" pitchFamily="34" charset="0"/>
                <a:ea typeface="楷体_GB2312" pitchFamily="49" charset="-122"/>
              </a:rPr>
              <a:t>V</a:t>
            </a:r>
            <a:r>
              <a:rPr lang="zh-CN" altLang="en-US" sz="2400" b="1" baseline="-25000" dirty="0">
                <a:solidFill>
                  <a:srgbClr val="000066"/>
                </a:solidFill>
                <a:latin typeface="Arial" panose="020B0604020202020204" pitchFamily="34" charset="0"/>
                <a:ea typeface="楷体_GB2312" pitchFamily="49" charset="-122"/>
              </a:rPr>
              <a:t>IH</a:t>
            </a:r>
            <a:r>
              <a:rPr lang="zh-CN" altLang="en-US" sz="2400" b="1" dirty="0">
                <a:solidFill>
                  <a:srgbClr val="000066"/>
                </a:solidFill>
                <a:latin typeface="Arial" panose="020B0604020202020204" pitchFamily="34" charset="0"/>
                <a:ea typeface="楷体_GB2312" pitchFamily="49" charset="-122"/>
              </a:rPr>
              <a:t> = 3.0V，低电平为</a:t>
            </a:r>
            <a:r>
              <a:rPr lang="zh-CN" altLang="en-US" sz="2400" b="1" i="1" dirty="0">
                <a:solidFill>
                  <a:srgbClr val="000066"/>
                </a:solidFill>
                <a:latin typeface="Arial" panose="020B0604020202020204" pitchFamily="34" charset="0"/>
                <a:ea typeface="楷体_GB2312" pitchFamily="49" charset="-122"/>
              </a:rPr>
              <a:t>V</a:t>
            </a:r>
            <a:r>
              <a:rPr lang="zh-CN" altLang="en-US" sz="2400" b="1" baseline="-25000" dirty="0">
                <a:solidFill>
                  <a:srgbClr val="000066"/>
                </a:solidFill>
                <a:latin typeface="Arial" panose="020B0604020202020204" pitchFamily="34" charset="0"/>
                <a:ea typeface="楷体_GB2312" pitchFamily="49" charset="-122"/>
              </a:rPr>
              <a:t>IL</a:t>
            </a:r>
            <a:r>
              <a:rPr lang="zh-CN" altLang="en-US" sz="2400" b="1" dirty="0">
                <a:solidFill>
                  <a:srgbClr val="000066"/>
                </a:solidFill>
                <a:latin typeface="Arial" panose="020B0604020202020204" pitchFamily="34" charset="0"/>
                <a:ea typeface="楷体_GB2312" pitchFamily="49" charset="-122"/>
              </a:rPr>
              <a:t> = 0.2V，二极管D3的导通压降</a:t>
            </a:r>
            <a:r>
              <a:rPr lang="zh-CN" altLang="en-US" sz="2400" b="1" i="1" dirty="0">
                <a:solidFill>
                  <a:srgbClr val="000066"/>
                </a:solidFill>
                <a:latin typeface="Arial" panose="020B0604020202020204" pitchFamily="34" charset="0"/>
                <a:ea typeface="楷体_GB2312" pitchFamily="49" charset="-122"/>
              </a:rPr>
              <a:t>V</a:t>
            </a:r>
            <a:r>
              <a:rPr lang="zh-CN" altLang="en-US" sz="2400" b="1" baseline="-25000" dirty="0">
                <a:solidFill>
                  <a:srgbClr val="000066"/>
                </a:solidFill>
                <a:latin typeface="Arial" panose="020B0604020202020204" pitchFamily="34" charset="0"/>
                <a:ea typeface="楷体_GB2312" pitchFamily="49" charset="-122"/>
              </a:rPr>
              <a:t>D3</a:t>
            </a:r>
            <a:r>
              <a:rPr lang="zh-CN" altLang="en-US" sz="2400" b="1" dirty="0">
                <a:solidFill>
                  <a:srgbClr val="000066"/>
                </a:solidFill>
                <a:latin typeface="Arial" panose="020B0604020202020204" pitchFamily="34" charset="0"/>
                <a:ea typeface="楷体_GB2312" pitchFamily="49" charset="-122"/>
              </a:rPr>
              <a:t>为0.7V，三极管的饱和压降</a:t>
            </a:r>
            <a:r>
              <a:rPr lang="zh-CN" altLang="en-US" sz="2400" b="1" i="1" dirty="0">
                <a:solidFill>
                  <a:srgbClr val="000066"/>
                </a:solidFill>
                <a:latin typeface="Arial" panose="020B0604020202020204" pitchFamily="34" charset="0"/>
                <a:ea typeface="楷体_GB2312" pitchFamily="49" charset="-122"/>
              </a:rPr>
              <a:t>V</a:t>
            </a:r>
            <a:r>
              <a:rPr lang="zh-CN" altLang="en-US" sz="2400" b="1" baseline="-25000" dirty="0">
                <a:solidFill>
                  <a:srgbClr val="000066"/>
                </a:solidFill>
                <a:latin typeface="Arial" panose="020B0604020202020204" pitchFamily="34" charset="0"/>
                <a:ea typeface="楷体_GB2312" pitchFamily="49" charset="-122"/>
              </a:rPr>
              <a:t>CES </a:t>
            </a:r>
            <a:r>
              <a:rPr lang="zh-CN" altLang="en-US" sz="2400" b="1" dirty="0">
                <a:solidFill>
                  <a:srgbClr val="000066"/>
                </a:solidFill>
                <a:latin typeface="Arial" panose="020B0604020202020204" pitchFamily="34" charset="0"/>
                <a:ea typeface="楷体_GB2312" pitchFamily="49" charset="-122"/>
              </a:rPr>
              <a:t>= 0.2V。</a:t>
            </a:r>
            <a:endParaRPr lang="zh-CN" altLang="en-US" sz="2400" b="1" dirty="0">
              <a:solidFill>
                <a:srgbClr val="000066"/>
              </a:solidFill>
              <a:latin typeface="Arial" panose="020B0604020202020204" pitchFamily="34" charset="0"/>
              <a:ea typeface="楷体_GB2312" pitchFamily="49" charset="-122"/>
            </a:endParaRPr>
          </a:p>
        </p:txBody>
      </p:sp>
      <p:sp>
        <p:nvSpPr>
          <p:cNvPr id="5" name="Rectangle 3"/>
          <p:cNvSpPr>
            <a:spLocks noGrp="1"/>
          </p:cNvSpPr>
          <p:nvPr/>
        </p:nvSpPr>
        <p:spPr>
          <a:xfrm>
            <a:off x="3764280" y="3048000"/>
            <a:ext cx="5041900" cy="227012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当A、B某个输入信号为低电平时，其发射结会导通，则T</a:t>
            </a:r>
            <a:r>
              <a:rPr lang="zh-CN" altLang="en-US" sz="2400" b="1" kern="1200" baseline="-25000" dirty="0">
                <a:solidFill>
                  <a:srgbClr val="000066"/>
                </a:solidFill>
                <a:latin typeface="Arial" panose="020B0604020202020204" pitchFamily="34" charset="0"/>
                <a:ea typeface="楷体_GB2312" pitchFamily="49" charset="-122"/>
              </a:rPr>
              <a:t>1</a:t>
            </a:r>
            <a:r>
              <a:rPr lang="zh-CN" altLang="en-US" sz="2400" b="1" kern="1200" dirty="0">
                <a:solidFill>
                  <a:srgbClr val="000066"/>
                </a:solidFill>
                <a:latin typeface="Arial" panose="020B0604020202020204" pitchFamily="34" charset="0"/>
                <a:ea typeface="楷体_GB2312" pitchFamily="49" charset="-122"/>
              </a:rPr>
              <a:t>基极的电位被钳在</a:t>
            </a:r>
            <a:r>
              <a:rPr lang="zh-CN" altLang="en-US" sz="2400" b="1" i="1" kern="1200" dirty="0">
                <a:solidFill>
                  <a:srgbClr val="000066"/>
                </a:solidFill>
                <a:latin typeface="Arial" panose="020B0604020202020204" pitchFamily="34" charset="0"/>
                <a:ea typeface="楷体_GB2312" pitchFamily="49" charset="-122"/>
              </a:rPr>
              <a:t>V</a:t>
            </a:r>
            <a:r>
              <a:rPr lang="zh-CN" altLang="en-US" sz="2400" b="1" kern="1200" baseline="-25000" dirty="0">
                <a:solidFill>
                  <a:srgbClr val="000066"/>
                </a:solidFill>
                <a:latin typeface="Arial" panose="020B0604020202020204" pitchFamily="34" charset="0"/>
                <a:ea typeface="楷体_GB2312" pitchFamily="49" charset="-122"/>
              </a:rPr>
              <a:t>IL</a:t>
            </a:r>
            <a:r>
              <a:rPr lang="zh-CN" altLang="en-US" sz="2400" b="1" kern="1200" dirty="0">
                <a:solidFill>
                  <a:srgbClr val="000066"/>
                </a:solidFill>
                <a:latin typeface="Arial" panose="020B0604020202020204" pitchFamily="34" charset="0"/>
                <a:ea typeface="楷体_GB2312" pitchFamily="49" charset="-122"/>
              </a:rPr>
              <a:t> + </a:t>
            </a:r>
            <a:r>
              <a:rPr lang="zh-CN" altLang="en-US" sz="2400" b="1" i="1" kern="1200" dirty="0">
                <a:solidFill>
                  <a:srgbClr val="000066"/>
                </a:solidFill>
                <a:latin typeface="Arial" panose="020B0604020202020204" pitchFamily="34" charset="0"/>
                <a:ea typeface="楷体_GB2312" pitchFamily="49" charset="-122"/>
              </a:rPr>
              <a:t>V</a:t>
            </a:r>
            <a:r>
              <a:rPr lang="zh-CN" altLang="en-US" sz="2400" b="1" kern="1200" baseline="-25000" dirty="0">
                <a:solidFill>
                  <a:srgbClr val="000066"/>
                </a:solidFill>
                <a:latin typeface="Arial" panose="020B0604020202020204" pitchFamily="34" charset="0"/>
                <a:ea typeface="楷体_GB2312" pitchFamily="49" charset="-122"/>
              </a:rPr>
              <a:t>BE1</a:t>
            </a:r>
            <a:r>
              <a:rPr lang="zh-CN" altLang="en-US" sz="2400" b="1" kern="1200" dirty="0">
                <a:solidFill>
                  <a:srgbClr val="000066"/>
                </a:solidFill>
                <a:latin typeface="Arial" panose="020B0604020202020204" pitchFamily="34" charset="0"/>
                <a:ea typeface="楷体_GB2312" pitchFamily="49" charset="-122"/>
              </a:rPr>
              <a:t> = 0.2 V+ 0.7V = 0.9V。这一电位使T</a:t>
            </a:r>
            <a:r>
              <a:rPr lang="zh-CN" altLang="en-US" sz="2400" b="1" kern="1200" baseline="-25000" dirty="0">
                <a:solidFill>
                  <a:srgbClr val="000066"/>
                </a:solidFill>
                <a:latin typeface="Arial" panose="020B0604020202020204" pitchFamily="34" charset="0"/>
                <a:ea typeface="楷体_GB2312" pitchFamily="49" charset="-122"/>
              </a:rPr>
              <a:t>2</a:t>
            </a:r>
            <a:r>
              <a:rPr lang="zh-CN" altLang="en-US" sz="2400" b="1" kern="1200" dirty="0">
                <a:solidFill>
                  <a:srgbClr val="000066"/>
                </a:solidFill>
                <a:latin typeface="Arial" panose="020B0604020202020204" pitchFamily="34" charset="0"/>
                <a:ea typeface="楷体_GB2312" pitchFamily="49" charset="-122"/>
              </a:rPr>
              <a:t>和T</a:t>
            </a:r>
            <a:r>
              <a:rPr lang="zh-CN" altLang="en-US" sz="2400" b="1" kern="1200" baseline="-25000" dirty="0">
                <a:solidFill>
                  <a:srgbClr val="000066"/>
                </a:solidFill>
                <a:latin typeface="Arial" panose="020B0604020202020204" pitchFamily="34" charset="0"/>
                <a:ea typeface="楷体_GB2312" pitchFamily="49" charset="-122"/>
              </a:rPr>
              <a:t>3</a:t>
            </a:r>
            <a:r>
              <a:rPr lang="zh-CN" altLang="en-US" sz="2400" b="1" kern="1200" dirty="0">
                <a:solidFill>
                  <a:srgbClr val="000066"/>
                </a:solidFill>
                <a:latin typeface="Arial" panose="020B0604020202020204" pitchFamily="34" charset="0"/>
                <a:ea typeface="楷体_GB2312" pitchFamily="49" charset="-122"/>
              </a:rPr>
              <a:t>截止，T</a:t>
            </a:r>
            <a:r>
              <a:rPr lang="zh-CN" altLang="en-US" sz="2400" b="1" kern="1200" baseline="-25000" dirty="0">
                <a:solidFill>
                  <a:srgbClr val="000066"/>
                </a:solidFill>
                <a:latin typeface="Arial" panose="020B0604020202020204" pitchFamily="34" charset="0"/>
                <a:ea typeface="楷体_GB2312" pitchFamily="49" charset="-122"/>
              </a:rPr>
              <a:t>4</a:t>
            </a:r>
            <a:r>
              <a:rPr lang="zh-CN" altLang="en-US" sz="2400" b="1" kern="1200" dirty="0">
                <a:solidFill>
                  <a:srgbClr val="000066"/>
                </a:solidFill>
                <a:latin typeface="Arial" panose="020B0604020202020204" pitchFamily="34" charset="0"/>
                <a:ea typeface="楷体_GB2312" pitchFamily="49" charset="-122"/>
              </a:rPr>
              <a:t>导通。此时，Y的电压值为</a:t>
            </a:r>
            <a:endParaRPr lang="zh-CN" altLang="en-US"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3.2 TTL</a:t>
            </a:r>
            <a:r>
              <a:rPr lang="zh-CN" altLang="en-US" b="1" dirty="0">
                <a:solidFill>
                  <a:srgbClr val="FF0000"/>
                </a:solidFill>
                <a:latin typeface="黑体" panose="02010609060101010101" pitchFamily="49" charset="-122"/>
                <a:ea typeface="黑体" panose="02010609060101010101" pitchFamily="49" charset="-122"/>
              </a:rPr>
              <a:t>逻辑门电路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7" name="Rectangle 3"/>
          <p:cNvSpPr>
            <a:spLocks noGrp="1"/>
          </p:cNvSpPr>
          <p:nvPr/>
        </p:nvSpPr>
        <p:spPr>
          <a:xfrm>
            <a:off x="3733800" y="2590800"/>
            <a:ext cx="4072890"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en-US" sz="2400" b="1" dirty="0">
                <a:solidFill>
                  <a:srgbClr val="070707"/>
                </a:solidFill>
                <a:latin typeface="Times New Roman" panose="02020603050405020304" charset="0"/>
                <a:ea typeface="楷体_GB2312" pitchFamily="49" charset="-122"/>
                <a:cs typeface="Times New Roman" panose="02020603050405020304" charset="0"/>
                <a:sym typeface="+mn-ea"/>
              </a:rPr>
              <a:t>(1) </a:t>
            </a:r>
            <a:r>
              <a:rPr lang="en-US" sz="2400" b="1" dirty="0">
                <a:solidFill>
                  <a:srgbClr val="070707"/>
                </a:solidFill>
                <a:latin typeface="Times New Roman" panose="02020603050405020304" charset="0"/>
                <a:ea typeface="楷体_GB2312" pitchFamily="49" charset="-122"/>
                <a:cs typeface="Times New Roman" panose="02020603050405020304" charset="0"/>
              </a:rPr>
              <a:t>输入信号有低电平</a:t>
            </a:r>
            <a:r>
              <a:rPr lang="en-US" sz="2400" b="1" dirty="0">
                <a:solidFill>
                  <a:srgbClr val="070707"/>
                </a:solidFill>
                <a:latin typeface="Times New Roman" panose="02020603050405020304" charset="0"/>
                <a:ea typeface="楷体_GB2312" pitchFamily="49" charset="-122"/>
                <a:cs typeface="Times New Roman" panose="02020603050405020304" charset="0"/>
              </a:rPr>
              <a:t>。</a:t>
            </a:r>
            <a:endParaRPr lang="en-US" sz="2400" b="1" dirty="0">
              <a:solidFill>
                <a:srgbClr val="070707"/>
              </a:solidFill>
              <a:latin typeface="Times New Roman" panose="02020603050405020304" charset="0"/>
              <a:ea typeface="楷体_GB2312" pitchFamily="49" charset="-122"/>
              <a:cs typeface="Times New Roman" panose="02020603050405020304" charset="0"/>
            </a:endParaRPr>
          </a:p>
        </p:txBody>
      </p:sp>
      <p:sp>
        <p:nvSpPr>
          <p:cNvPr id="9" name="文本框 8"/>
          <p:cNvSpPr txBox="1"/>
          <p:nvPr/>
        </p:nvSpPr>
        <p:spPr>
          <a:xfrm>
            <a:off x="3490595" y="5313680"/>
            <a:ext cx="5603875" cy="460375"/>
          </a:xfrm>
          <a:prstGeom prst="rect">
            <a:avLst/>
          </a:prstGeom>
          <a:noFill/>
          <a:ln w="9525">
            <a:noFill/>
          </a:ln>
        </p:spPr>
        <p:txBody>
          <a:bodyPr wrap="square">
            <a:spAutoFit/>
          </a:bodyPr>
          <a:p>
            <a:r>
              <a:rPr lang="en-US" sz="2400" i="1">
                <a:latin typeface="Times New Roman" panose="02020603050405020304" charset="0"/>
                <a:ea typeface="宋体" panose="02010600030101010101" pitchFamily="2" charset="-122"/>
              </a:rPr>
              <a:t>υ</a:t>
            </a:r>
            <a:r>
              <a:rPr lang="en-US" sz="2400" baseline="-25000">
                <a:latin typeface="Times New Roman" panose="02020603050405020304" charset="0"/>
                <a:ea typeface="宋体" panose="02010600030101010101" pitchFamily="2" charset="-122"/>
              </a:rPr>
              <a:t>O</a:t>
            </a:r>
            <a:r>
              <a:rPr lang="en-US" sz="2400">
                <a:latin typeface="Times New Roman" panose="02020603050405020304" charset="0"/>
                <a:ea typeface="宋体" panose="02010600030101010101" pitchFamily="2" charset="-122"/>
              </a:rPr>
              <a:t>= </a:t>
            </a:r>
            <a:r>
              <a:rPr lang="en-US" sz="2400" i="1">
                <a:latin typeface="Times New Roman" panose="02020603050405020304" charset="0"/>
                <a:ea typeface="宋体" panose="02010600030101010101" pitchFamily="2" charset="-122"/>
              </a:rPr>
              <a:t>V</a:t>
            </a:r>
            <a:r>
              <a:rPr lang="en-US" sz="2400" baseline="-25000">
                <a:latin typeface="Times New Roman" panose="02020603050405020304" charset="0"/>
                <a:ea typeface="宋体" panose="02010600030101010101" pitchFamily="2" charset="-122"/>
              </a:rPr>
              <a:t>CC</a:t>
            </a:r>
            <a:r>
              <a:rPr lang="en-US" sz="2400">
                <a:latin typeface="Times New Roman" panose="02020603050405020304" charset="0"/>
                <a:ea typeface="宋体" panose="02010600030101010101" pitchFamily="2" charset="-122"/>
              </a:rPr>
              <a:t>- V</a:t>
            </a:r>
            <a:r>
              <a:rPr lang="en-US" sz="2400" baseline="-25000">
                <a:latin typeface="Times New Roman" panose="02020603050405020304" charset="0"/>
                <a:ea typeface="宋体" panose="02010600030101010101" pitchFamily="2" charset="-122"/>
              </a:rPr>
              <a:t>BE4</a:t>
            </a:r>
            <a:r>
              <a:rPr lang="en-US" sz="2400">
                <a:latin typeface="Times New Roman" panose="02020603050405020304" charset="0"/>
                <a:ea typeface="宋体" panose="02010600030101010101" pitchFamily="2" charset="-122"/>
              </a:rPr>
              <a:t>- V</a:t>
            </a:r>
            <a:r>
              <a:rPr lang="en-US" sz="2400" baseline="-25000">
                <a:latin typeface="Times New Roman" panose="02020603050405020304" charset="0"/>
                <a:ea typeface="宋体" panose="02010600030101010101" pitchFamily="2" charset="-122"/>
              </a:rPr>
              <a:t>D3</a:t>
            </a:r>
            <a:r>
              <a:rPr lang="en-US" sz="2400">
                <a:latin typeface="Times New Roman" panose="02020603050405020304" charset="0"/>
                <a:ea typeface="宋体" panose="02010600030101010101" pitchFamily="2" charset="-122"/>
              </a:rPr>
              <a:t>= 5V- 0.7V-0.7V = 3.6V</a:t>
            </a:r>
            <a:endParaRPr lang="zh-CN" altLang="en-US" sz="2400"/>
          </a:p>
        </p:txBody>
      </p:sp>
      <p:sp>
        <p:nvSpPr>
          <p:cNvPr id="10" name="Rectangle 3"/>
          <p:cNvSpPr>
            <a:spLocks noGrp="1"/>
          </p:cNvSpPr>
          <p:nvPr/>
        </p:nvSpPr>
        <p:spPr>
          <a:xfrm>
            <a:off x="3733800" y="5756910"/>
            <a:ext cx="5041900" cy="97409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当输入信号有低电平时，输出信号为高电平。</a:t>
            </a:r>
            <a:endParaRPr lang="zh-CN" altLang="en-US" sz="2400" b="1" kern="1200" dirty="0">
              <a:solidFill>
                <a:srgbClr val="000066"/>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7"/>
                                        </p:tgtEl>
                                        <p:attrNameLst>
                                          <p:attrName>ppt_y</p:attrName>
                                        </p:attrNameLst>
                                      </p:cBhvr>
                                      <p:tavLst>
                                        <p:tav tm="0">
                                          <p:val>
                                            <p:strVal val="#ppt_y"/>
                                          </p:val>
                                        </p:tav>
                                        <p:tav tm="100000">
                                          <p:val>
                                            <p:strVal val="#ppt_y"/>
                                          </p:val>
                                        </p:tav>
                                      </p:tavLst>
                                    </p:anim>
                                    <p:anim calcmode="lin" valueType="num">
                                      <p:cBhvr>
                                        <p:cTn id="9" dur="500" fill="hold"/>
                                        <p:tgtEl>
                                          <p:spTgt spid="17"/>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7"/>
                                        </p:tgtEl>
                                      </p:cBhvr>
                                    </p:animEffect>
                                  </p:childTnLst>
                                </p:cTn>
                              </p:par>
                            </p:childTnLst>
                          </p:cTn>
                        </p:par>
                      </p:childTnLst>
                    </p:cTn>
                  </p:par>
                  <p:par>
                    <p:cTn id="12" fill="hold">
                      <p:stCondLst>
                        <p:cond delay="indefinite"/>
                      </p:stCondLst>
                      <p:childTnLst>
                        <p:par>
                          <p:cTn id="13" fill="hold">
                            <p:stCondLst>
                              <p:cond delay="0"/>
                            </p:stCondLst>
                            <p:childTnLst>
                              <p:par>
                                <p:cTn id="14" presetID="6" presetClass="entr" presetSubtype="16" fill="hold" grpId="0" nodeType="clickEffect">
                                  <p:stCondLst>
                                    <p:cond delay="0"/>
                                  </p:stCondLst>
                                  <p:childTnLst>
                                    <p:set>
                                      <p:cBhvr>
                                        <p:cTn id="15" dur="500" fill="hold">
                                          <p:stCondLst>
                                            <p:cond delay="0"/>
                                          </p:stCondLst>
                                        </p:cTn>
                                        <p:tgtEl>
                                          <p:spTgt spid="5"/>
                                        </p:tgtEl>
                                        <p:attrNameLst>
                                          <p:attrName>style.visibility</p:attrName>
                                        </p:attrNameLst>
                                      </p:cBhvr>
                                      <p:to>
                                        <p:strVal val="visible"/>
                                      </p:to>
                                    </p:set>
                                    <p:animEffect transition="in" filter="circle(in)">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12"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0-#ppt_w/2"/>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dissolve">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5" grpId="0"/>
      <p:bldP spid="9" grpId="0"/>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1" name="文本框 10"/>
          <p:cNvSpPr txBox="1"/>
          <p:nvPr/>
        </p:nvSpPr>
        <p:spPr>
          <a:xfrm>
            <a:off x="-1397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grpSp>
        <p:nvGrpSpPr>
          <p:cNvPr id="4" name="组合 3"/>
          <p:cNvGrpSpPr/>
          <p:nvPr/>
        </p:nvGrpSpPr>
        <p:grpSpPr>
          <a:xfrm>
            <a:off x="228600" y="3352800"/>
            <a:ext cx="3741420" cy="3541395"/>
            <a:chOff x="1560" y="4920"/>
            <a:chExt cx="5933" cy="5945"/>
          </a:xfrm>
        </p:grpSpPr>
        <p:sp>
          <p:nvSpPr>
            <p:cNvPr id="100" name="文本框 99"/>
            <p:cNvSpPr txBox="1"/>
            <p:nvPr/>
          </p:nvSpPr>
          <p:spPr>
            <a:xfrm>
              <a:off x="2640" y="10299"/>
              <a:ext cx="3835" cy="566"/>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图3-14 TTL与非门电路</a:t>
              </a:r>
              <a:endParaRPr sz="1600">
                <a:latin typeface="Times New Roman" panose="02020603050405020304" charset="0"/>
                <a:ea typeface="宋体" panose="02010600030101010101" pitchFamily="2" charset="-122"/>
              </a:endParaRPr>
            </a:p>
          </p:txBody>
        </p:sp>
        <p:pic>
          <p:nvPicPr>
            <p:cNvPr id="9238" name="图片 2675"/>
            <p:cNvPicPr>
              <a:picLocks noChangeAspect="1"/>
            </p:cNvPicPr>
            <p:nvPr/>
          </p:nvPicPr>
          <p:blipFill>
            <a:blip r:embed="rId1"/>
            <a:stretch>
              <a:fillRect/>
            </a:stretch>
          </p:blipFill>
          <p:spPr>
            <a:xfrm>
              <a:off x="1560" y="4920"/>
              <a:ext cx="5933" cy="5296"/>
            </a:xfrm>
            <a:prstGeom prst="rect">
              <a:avLst/>
            </a:prstGeom>
            <a:noFill/>
            <a:ln>
              <a:noFill/>
            </a:ln>
          </p:spPr>
        </p:pic>
      </p:grpSp>
      <p:sp>
        <p:nvSpPr>
          <p:cNvPr id="3" name="Rectangle 3"/>
          <p:cNvSpPr>
            <a:spLocks noGrp="1"/>
          </p:cNvSpPr>
          <p:nvPr/>
        </p:nvSpPr>
        <p:spPr>
          <a:xfrm>
            <a:off x="304800" y="415290"/>
            <a:ext cx="8538845" cy="12992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dirty="0">
                <a:solidFill>
                  <a:srgbClr val="000066"/>
                </a:solidFill>
                <a:latin typeface="Arial" panose="020B0604020202020204" pitchFamily="34" charset="0"/>
                <a:ea typeface="楷体_GB2312" pitchFamily="49" charset="-122"/>
              </a:rPr>
              <a:t>输入信号A、B均为高电平时，T</a:t>
            </a:r>
            <a:r>
              <a:rPr lang="zh-CN" altLang="en-US" sz="2400" b="1" baseline="-25000" dirty="0">
                <a:solidFill>
                  <a:srgbClr val="000066"/>
                </a:solidFill>
                <a:latin typeface="Arial" panose="020B0604020202020204" pitchFamily="34" charset="0"/>
                <a:ea typeface="楷体_GB2312" pitchFamily="49" charset="-122"/>
              </a:rPr>
              <a:t>1</a:t>
            </a:r>
            <a:r>
              <a:rPr lang="zh-CN" altLang="en-US" sz="2400" b="1" dirty="0">
                <a:solidFill>
                  <a:srgbClr val="000066"/>
                </a:solidFill>
                <a:latin typeface="Arial" panose="020B0604020202020204" pitchFamily="34" charset="0"/>
                <a:ea typeface="楷体_GB2312" pitchFamily="49" charset="-122"/>
              </a:rPr>
              <a:t>基极的电位为：</a:t>
            </a:r>
            <a:r>
              <a:rPr lang="zh-CN" altLang="en-US" sz="2400" b="1" i="1" dirty="0">
                <a:solidFill>
                  <a:srgbClr val="000066"/>
                </a:solidFill>
                <a:latin typeface="Arial" panose="020B0604020202020204" pitchFamily="34" charset="0"/>
                <a:ea typeface="楷体_GB2312" pitchFamily="49" charset="-122"/>
              </a:rPr>
              <a:t>V</a:t>
            </a:r>
            <a:r>
              <a:rPr lang="zh-CN" altLang="en-US" sz="2400" b="1" baseline="-25000" dirty="0">
                <a:solidFill>
                  <a:srgbClr val="000066"/>
                </a:solidFill>
                <a:latin typeface="Arial" panose="020B0604020202020204" pitchFamily="34" charset="0"/>
                <a:ea typeface="楷体_GB2312" pitchFamily="49" charset="-122"/>
              </a:rPr>
              <a:t>IH</a:t>
            </a:r>
            <a:r>
              <a:rPr lang="zh-CN" altLang="en-US" sz="2400" b="1" dirty="0">
                <a:solidFill>
                  <a:srgbClr val="000066"/>
                </a:solidFill>
                <a:latin typeface="Arial" panose="020B0604020202020204" pitchFamily="34" charset="0"/>
                <a:ea typeface="楷体_GB2312" pitchFamily="49" charset="-122"/>
              </a:rPr>
              <a:t> + </a:t>
            </a:r>
            <a:r>
              <a:rPr lang="zh-CN" altLang="en-US" sz="2400" b="1" i="1" dirty="0">
                <a:solidFill>
                  <a:srgbClr val="000066"/>
                </a:solidFill>
                <a:latin typeface="Arial" panose="020B0604020202020204" pitchFamily="34" charset="0"/>
                <a:ea typeface="楷体_GB2312" pitchFamily="49" charset="-122"/>
              </a:rPr>
              <a:t>V</a:t>
            </a:r>
            <a:r>
              <a:rPr lang="zh-CN" altLang="en-US" sz="2400" b="1" baseline="-25000" dirty="0">
                <a:solidFill>
                  <a:srgbClr val="000066"/>
                </a:solidFill>
                <a:latin typeface="Arial" panose="020B0604020202020204" pitchFamily="34" charset="0"/>
                <a:ea typeface="楷体_GB2312" pitchFamily="49" charset="-122"/>
              </a:rPr>
              <a:t>BE1</a:t>
            </a:r>
            <a:r>
              <a:rPr lang="zh-CN" altLang="en-US" sz="2400" b="1" dirty="0">
                <a:solidFill>
                  <a:srgbClr val="000066"/>
                </a:solidFill>
                <a:latin typeface="Arial" panose="020B0604020202020204" pitchFamily="34" charset="0"/>
                <a:ea typeface="楷体_GB2312" pitchFamily="49" charset="-122"/>
              </a:rPr>
              <a:t> = 3.0 V+ 0.7V = 3.7V。因此，T</a:t>
            </a:r>
            <a:r>
              <a:rPr lang="zh-CN" altLang="en-US" sz="2400" b="1" baseline="-25000" dirty="0">
                <a:solidFill>
                  <a:srgbClr val="000066"/>
                </a:solidFill>
                <a:latin typeface="Arial" panose="020B0604020202020204" pitchFamily="34" charset="0"/>
                <a:ea typeface="楷体_GB2312" pitchFamily="49" charset="-122"/>
              </a:rPr>
              <a:t>2</a:t>
            </a:r>
            <a:r>
              <a:rPr lang="zh-CN" altLang="en-US" sz="2400" b="1" dirty="0">
                <a:solidFill>
                  <a:srgbClr val="000066"/>
                </a:solidFill>
                <a:latin typeface="Arial" panose="020B0604020202020204" pitchFamily="34" charset="0"/>
                <a:ea typeface="楷体_GB2312" pitchFamily="49" charset="-122"/>
              </a:rPr>
              <a:t>和T</a:t>
            </a:r>
            <a:r>
              <a:rPr lang="zh-CN" altLang="en-US" sz="2400" b="1" baseline="-25000" dirty="0">
                <a:solidFill>
                  <a:srgbClr val="000066"/>
                </a:solidFill>
                <a:latin typeface="Arial" panose="020B0604020202020204" pitchFamily="34" charset="0"/>
                <a:ea typeface="楷体_GB2312" pitchFamily="49" charset="-122"/>
              </a:rPr>
              <a:t>3</a:t>
            </a:r>
            <a:r>
              <a:rPr lang="zh-CN" altLang="en-US" sz="2400" b="1" dirty="0">
                <a:solidFill>
                  <a:srgbClr val="000066"/>
                </a:solidFill>
                <a:latin typeface="Arial" panose="020B0604020202020204" pitchFamily="34" charset="0"/>
                <a:ea typeface="楷体_GB2312" pitchFamily="49" charset="-122"/>
              </a:rPr>
              <a:t>的发射结均可导通。在T</a:t>
            </a:r>
            <a:r>
              <a:rPr lang="zh-CN" altLang="en-US" sz="2400" b="1" baseline="-25000" dirty="0">
                <a:solidFill>
                  <a:srgbClr val="000066"/>
                </a:solidFill>
                <a:latin typeface="Arial" panose="020B0604020202020204" pitchFamily="34" charset="0"/>
                <a:ea typeface="楷体_GB2312" pitchFamily="49" charset="-122"/>
              </a:rPr>
              <a:t>2</a:t>
            </a:r>
            <a:r>
              <a:rPr lang="zh-CN" altLang="en-US" sz="2400" b="1" dirty="0">
                <a:solidFill>
                  <a:srgbClr val="000066"/>
                </a:solidFill>
                <a:latin typeface="Arial" panose="020B0604020202020204" pitchFamily="34" charset="0"/>
                <a:ea typeface="楷体_GB2312" pitchFamily="49" charset="-122"/>
              </a:rPr>
              <a:t>和T</a:t>
            </a:r>
            <a:r>
              <a:rPr lang="zh-CN" altLang="en-US" sz="2400" b="1" baseline="-25000" dirty="0">
                <a:solidFill>
                  <a:srgbClr val="000066"/>
                </a:solidFill>
                <a:latin typeface="Arial" panose="020B0604020202020204" pitchFamily="34" charset="0"/>
                <a:ea typeface="楷体_GB2312" pitchFamily="49" charset="-122"/>
              </a:rPr>
              <a:t>3</a:t>
            </a:r>
            <a:r>
              <a:rPr lang="zh-CN" altLang="en-US" sz="2400" b="1" dirty="0">
                <a:solidFill>
                  <a:srgbClr val="000066"/>
                </a:solidFill>
                <a:latin typeface="Arial" panose="020B0604020202020204" pitchFamily="34" charset="0"/>
                <a:ea typeface="楷体_GB2312" pitchFamily="49" charset="-122"/>
              </a:rPr>
              <a:t>导通后，T</a:t>
            </a:r>
            <a:r>
              <a:rPr lang="zh-CN" altLang="en-US" sz="2400" b="1" baseline="-25000" dirty="0">
                <a:solidFill>
                  <a:srgbClr val="000066"/>
                </a:solidFill>
                <a:latin typeface="Arial" panose="020B0604020202020204" pitchFamily="34" charset="0"/>
                <a:ea typeface="楷体_GB2312" pitchFamily="49" charset="-122"/>
              </a:rPr>
              <a:t>1</a:t>
            </a:r>
            <a:r>
              <a:rPr lang="zh-CN" altLang="en-US" sz="2400" b="1" dirty="0">
                <a:solidFill>
                  <a:srgbClr val="000066"/>
                </a:solidFill>
                <a:latin typeface="Arial" panose="020B0604020202020204" pitchFamily="34" charset="0"/>
                <a:ea typeface="楷体_GB2312" pitchFamily="49" charset="-122"/>
              </a:rPr>
              <a:t>基极的电位不再是3.7V，而是被钳在：</a:t>
            </a:r>
            <a:endParaRPr lang="zh-CN" altLang="en-US" sz="2400" b="1" dirty="0">
              <a:solidFill>
                <a:srgbClr val="000066"/>
              </a:solidFill>
              <a:latin typeface="Arial" panose="020B0604020202020204" pitchFamily="34" charset="0"/>
              <a:ea typeface="楷体_GB2312" pitchFamily="49" charset="-122"/>
            </a:endParaRPr>
          </a:p>
        </p:txBody>
      </p:sp>
      <p:sp>
        <p:nvSpPr>
          <p:cNvPr id="5" name="Rectangle 3"/>
          <p:cNvSpPr>
            <a:spLocks noGrp="1"/>
          </p:cNvSpPr>
          <p:nvPr/>
        </p:nvSpPr>
        <p:spPr>
          <a:xfrm>
            <a:off x="381000" y="2057400"/>
            <a:ext cx="8368665" cy="13601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zh-CN" altLang="en-US" sz="2400" b="1" kern="1200" dirty="0">
                <a:solidFill>
                  <a:srgbClr val="000066"/>
                </a:solidFill>
                <a:latin typeface="Arial" panose="020B0604020202020204" pitchFamily="34" charset="0"/>
                <a:ea typeface="楷体_GB2312" pitchFamily="49" charset="-122"/>
              </a:rPr>
              <a:t>此时，T</a:t>
            </a:r>
            <a:r>
              <a:rPr lang="zh-CN" altLang="en-US" sz="2400" b="1" kern="1200" baseline="-25000" dirty="0">
                <a:solidFill>
                  <a:srgbClr val="000066"/>
                </a:solidFill>
                <a:latin typeface="Arial" panose="020B0604020202020204" pitchFamily="34" charset="0"/>
                <a:ea typeface="楷体_GB2312" pitchFamily="49" charset="-122"/>
              </a:rPr>
              <a:t>2</a:t>
            </a:r>
            <a:r>
              <a:rPr lang="zh-CN" altLang="en-US" sz="2400" b="1" kern="1200" dirty="0">
                <a:solidFill>
                  <a:srgbClr val="000066"/>
                </a:solidFill>
                <a:latin typeface="Arial" panose="020B0604020202020204" pitchFamily="34" charset="0"/>
                <a:ea typeface="楷体_GB2312" pitchFamily="49" charset="-122"/>
              </a:rPr>
              <a:t>的基极电流是T</a:t>
            </a:r>
            <a:r>
              <a:rPr lang="zh-CN" altLang="en-US" sz="2400" b="1" kern="1200" baseline="-25000" dirty="0">
                <a:solidFill>
                  <a:srgbClr val="000066"/>
                </a:solidFill>
                <a:latin typeface="Arial" panose="020B0604020202020204" pitchFamily="34" charset="0"/>
                <a:ea typeface="楷体_GB2312" pitchFamily="49" charset="-122"/>
              </a:rPr>
              <a:t>1</a:t>
            </a:r>
            <a:r>
              <a:rPr lang="zh-CN" altLang="en-US" sz="2400" b="1" kern="1200" dirty="0">
                <a:solidFill>
                  <a:srgbClr val="000066"/>
                </a:solidFill>
                <a:latin typeface="Arial" panose="020B0604020202020204" pitchFamily="34" charset="0"/>
                <a:ea typeface="楷体_GB2312" pitchFamily="49" charset="-122"/>
              </a:rPr>
              <a:t>的集电极电流，即T</a:t>
            </a:r>
            <a:r>
              <a:rPr lang="zh-CN" altLang="en-US" sz="2400" b="1" kern="1200" baseline="-25000" dirty="0">
                <a:solidFill>
                  <a:srgbClr val="000066"/>
                </a:solidFill>
                <a:latin typeface="Arial" panose="020B0604020202020204" pitchFamily="34" charset="0"/>
                <a:ea typeface="楷体_GB2312" pitchFamily="49" charset="-122"/>
              </a:rPr>
              <a:t>2</a:t>
            </a:r>
            <a:r>
              <a:rPr lang="zh-CN" altLang="en-US" sz="2400" b="1" kern="1200" dirty="0">
                <a:solidFill>
                  <a:srgbClr val="000066"/>
                </a:solidFill>
                <a:latin typeface="Arial" panose="020B0604020202020204" pitchFamily="34" charset="0"/>
                <a:ea typeface="楷体_GB2312" pitchFamily="49" charset="-122"/>
              </a:rPr>
              <a:t>的基极电流很大，故T</a:t>
            </a:r>
            <a:r>
              <a:rPr lang="zh-CN" altLang="en-US" sz="2400" b="1" kern="1200" baseline="-25000" dirty="0">
                <a:solidFill>
                  <a:srgbClr val="000066"/>
                </a:solidFill>
                <a:latin typeface="Arial" panose="020B0604020202020204" pitchFamily="34" charset="0"/>
                <a:ea typeface="楷体_GB2312" pitchFamily="49" charset="-122"/>
              </a:rPr>
              <a:t>2</a:t>
            </a:r>
            <a:r>
              <a:rPr lang="zh-CN" altLang="en-US" sz="2400" b="1" kern="1200" dirty="0">
                <a:solidFill>
                  <a:srgbClr val="000066"/>
                </a:solidFill>
                <a:latin typeface="Arial" panose="020B0604020202020204" pitchFamily="34" charset="0"/>
                <a:ea typeface="楷体_GB2312" pitchFamily="49" charset="-122"/>
              </a:rPr>
              <a:t>工作在深度饱和状态。T</a:t>
            </a:r>
            <a:r>
              <a:rPr lang="zh-CN" altLang="en-US" sz="2400" b="1" kern="1200" baseline="-25000" dirty="0">
                <a:solidFill>
                  <a:srgbClr val="000066"/>
                </a:solidFill>
                <a:latin typeface="Arial" panose="020B0604020202020204" pitchFamily="34" charset="0"/>
                <a:ea typeface="楷体_GB2312" pitchFamily="49" charset="-122"/>
              </a:rPr>
              <a:t>2</a:t>
            </a:r>
            <a:r>
              <a:rPr lang="zh-CN" altLang="en-US" sz="2400" b="1" kern="1200" dirty="0">
                <a:solidFill>
                  <a:srgbClr val="000066"/>
                </a:solidFill>
                <a:latin typeface="Arial" panose="020B0604020202020204" pitchFamily="34" charset="0"/>
                <a:ea typeface="楷体_GB2312" pitchFamily="49" charset="-122"/>
              </a:rPr>
              <a:t>的集电极电位为：</a:t>
            </a:r>
            <a:r>
              <a:rPr lang="zh-CN" altLang="en-US" sz="2400" b="1" i="1" kern="1200" dirty="0">
                <a:solidFill>
                  <a:srgbClr val="000066"/>
                </a:solidFill>
                <a:latin typeface="Arial" panose="020B0604020202020204" pitchFamily="34" charset="0"/>
                <a:ea typeface="楷体_GB2312" pitchFamily="49" charset="-122"/>
              </a:rPr>
              <a:t>V</a:t>
            </a:r>
            <a:r>
              <a:rPr lang="zh-CN" altLang="en-US" sz="2400" b="1" kern="1200" baseline="-25000" dirty="0">
                <a:solidFill>
                  <a:srgbClr val="000066"/>
                </a:solidFill>
                <a:latin typeface="Arial" panose="020B0604020202020204" pitchFamily="34" charset="0"/>
                <a:ea typeface="楷体_GB2312" pitchFamily="49" charset="-122"/>
              </a:rPr>
              <a:t>CES2</a:t>
            </a:r>
            <a:r>
              <a:rPr lang="zh-CN" altLang="en-US" sz="2400" b="1" kern="1200" dirty="0">
                <a:solidFill>
                  <a:srgbClr val="000066"/>
                </a:solidFill>
                <a:latin typeface="Arial" panose="020B0604020202020204" pitchFamily="34" charset="0"/>
                <a:ea typeface="楷体_GB2312" pitchFamily="49" charset="-122"/>
              </a:rPr>
              <a:t> + </a:t>
            </a:r>
            <a:r>
              <a:rPr lang="zh-CN" altLang="en-US" sz="2400" b="1" i="1" kern="1200" dirty="0">
                <a:solidFill>
                  <a:srgbClr val="000066"/>
                </a:solidFill>
                <a:latin typeface="Arial" panose="020B0604020202020204" pitchFamily="34" charset="0"/>
                <a:ea typeface="楷体_GB2312" pitchFamily="49" charset="-122"/>
              </a:rPr>
              <a:t>V</a:t>
            </a:r>
            <a:r>
              <a:rPr lang="zh-CN" altLang="en-US" sz="2400" b="1" kern="1200" baseline="-25000" dirty="0">
                <a:solidFill>
                  <a:srgbClr val="000066"/>
                </a:solidFill>
                <a:latin typeface="Arial" panose="020B0604020202020204" pitchFamily="34" charset="0"/>
                <a:ea typeface="楷体_GB2312" pitchFamily="49" charset="-122"/>
              </a:rPr>
              <a:t>BE3</a:t>
            </a:r>
            <a:r>
              <a:rPr lang="zh-CN" altLang="en-US" sz="2400" b="1" kern="1200" dirty="0">
                <a:solidFill>
                  <a:srgbClr val="000066"/>
                </a:solidFill>
                <a:latin typeface="Arial" panose="020B0604020202020204" pitchFamily="34" charset="0"/>
                <a:ea typeface="楷体_GB2312" pitchFamily="49" charset="-122"/>
              </a:rPr>
              <a:t> = 0.2V +0.7V = 0.9V，导致T</a:t>
            </a:r>
            <a:r>
              <a:rPr lang="zh-CN" altLang="en-US" sz="2400" b="1" kern="1200" baseline="-25000" dirty="0">
                <a:solidFill>
                  <a:srgbClr val="000066"/>
                </a:solidFill>
                <a:latin typeface="Arial" panose="020B0604020202020204" pitchFamily="34" charset="0"/>
                <a:ea typeface="楷体_GB2312" pitchFamily="49" charset="-122"/>
              </a:rPr>
              <a:t>4</a:t>
            </a:r>
            <a:r>
              <a:rPr lang="zh-CN" altLang="en-US" sz="2400" b="1" kern="1200" dirty="0">
                <a:solidFill>
                  <a:srgbClr val="000066"/>
                </a:solidFill>
                <a:latin typeface="Arial" panose="020B0604020202020204" pitchFamily="34" charset="0"/>
                <a:ea typeface="楷体_GB2312" pitchFamily="49" charset="-122"/>
              </a:rPr>
              <a:t>截止。</a:t>
            </a:r>
            <a:r>
              <a:rPr lang="zh-CN" altLang="en-US" sz="2400" b="1" dirty="0">
                <a:solidFill>
                  <a:srgbClr val="000066"/>
                </a:solidFill>
                <a:latin typeface="Arial" panose="020B0604020202020204" pitchFamily="34" charset="0"/>
                <a:ea typeface="楷体_GB2312" pitchFamily="49" charset="-122"/>
                <a:sym typeface="+mn-ea"/>
              </a:rPr>
              <a:t>由于流过电阻</a:t>
            </a:r>
            <a:r>
              <a:rPr lang="zh-CN" altLang="en-US" sz="2400" b="1" i="1" dirty="0">
                <a:solidFill>
                  <a:srgbClr val="000066"/>
                </a:solidFill>
                <a:latin typeface="Arial" panose="020B0604020202020204" pitchFamily="34" charset="0"/>
                <a:ea typeface="楷体_GB2312" pitchFamily="49" charset="-122"/>
                <a:sym typeface="+mn-ea"/>
              </a:rPr>
              <a:t>R</a:t>
            </a:r>
            <a:r>
              <a:rPr lang="zh-CN" altLang="en-US" sz="2400" b="1" baseline="-25000" dirty="0">
                <a:solidFill>
                  <a:srgbClr val="000066"/>
                </a:solidFill>
                <a:latin typeface="Arial" panose="020B0604020202020204" pitchFamily="34" charset="0"/>
                <a:ea typeface="楷体_GB2312" pitchFamily="49" charset="-122"/>
                <a:sym typeface="+mn-ea"/>
              </a:rPr>
              <a:t>E2</a:t>
            </a:r>
            <a:r>
              <a:rPr lang="zh-CN" altLang="en-US" sz="2400" b="1" dirty="0">
                <a:solidFill>
                  <a:srgbClr val="000066"/>
                </a:solidFill>
                <a:latin typeface="Arial" panose="020B0604020202020204" pitchFamily="34" charset="0"/>
                <a:ea typeface="楷体_GB2312" pitchFamily="49" charset="-122"/>
                <a:sym typeface="+mn-ea"/>
              </a:rPr>
              <a:t>的</a:t>
            </a:r>
            <a:endParaRPr lang="zh-CN" altLang="en-US" sz="2400" b="1" kern="1200" dirty="0">
              <a:solidFill>
                <a:srgbClr val="000066"/>
              </a:solidFill>
              <a:latin typeface="Arial" panose="020B0604020202020204" pitchFamily="34" charset="0"/>
              <a:ea typeface="楷体_GB2312" pitchFamily="49" charset="-122"/>
            </a:endParaRPr>
          </a:p>
        </p:txBody>
      </p:sp>
      <p:sp>
        <p:nvSpPr>
          <p:cNvPr id="17" name="Rectangle 3"/>
          <p:cNvSpPr>
            <a:spLocks noGrp="1"/>
          </p:cNvSpPr>
          <p:nvPr/>
        </p:nvSpPr>
        <p:spPr>
          <a:xfrm>
            <a:off x="415290" y="0"/>
            <a:ext cx="4337050"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en-US" sz="2400" b="1" dirty="0">
                <a:solidFill>
                  <a:srgbClr val="070707"/>
                </a:solidFill>
                <a:latin typeface="Times New Roman" panose="02020603050405020304" charset="0"/>
                <a:ea typeface="楷体_GB2312" pitchFamily="49" charset="-122"/>
                <a:cs typeface="Times New Roman" panose="02020603050405020304" charset="0"/>
                <a:sym typeface="+mn-ea"/>
              </a:rPr>
              <a:t>(2) </a:t>
            </a:r>
            <a:r>
              <a:rPr lang="en-US" sz="2400" b="1" dirty="0">
                <a:solidFill>
                  <a:srgbClr val="070707"/>
                </a:solidFill>
                <a:latin typeface="Times New Roman" panose="02020603050405020304" charset="0"/>
                <a:ea typeface="楷体_GB2312" pitchFamily="49" charset="-122"/>
                <a:cs typeface="Times New Roman" panose="02020603050405020304" charset="0"/>
              </a:rPr>
              <a:t>输入信号</a:t>
            </a:r>
            <a:r>
              <a:rPr lang="zh-CN" altLang="en-US" sz="2400" b="1" dirty="0">
                <a:solidFill>
                  <a:srgbClr val="070707"/>
                </a:solidFill>
                <a:latin typeface="Times New Roman" panose="02020603050405020304" charset="0"/>
                <a:ea typeface="楷体_GB2312" pitchFamily="49" charset="-122"/>
                <a:cs typeface="Times New Roman" panose="02020603050405020304" charset="0"/>
              </a:rPr>
              <a:t>都是</a:t>
            </a:r>
            <a:r>
              <a:rPr lang="en-US" sz="2400" b="1" dirty="0">
                <a:solidFill>
                  <a:srgbClr val="070707"/>
                </a:solidFill>
                <a:latin typeface="Times New Roman" panose="02020603050405020304" charset="0"/>
                <a:ea typeface="楷体_GB2312" pitchFamily="49" charset="-122"/>
                <a:cs typeface="Times New Roman" panose="02020603050405020304" charset="0"/>
              </a:rPr>
              <a:t>高电平</a:t>
            </a:r>
            <a:r>
              <a:rPr lang="en-US" sz="2400" b="1" dirty="0">
                <a:solidFill>
                  <a:srgbClr val="070707"/>
                </a:solidFill>
                <a:latin typeface="Times New Roman" panose="02020603050405020304" charset="0"/>
                <a:ea typeface="楷体_GB2312" pitchFamily="49" charset="-122"/>
                <a:cs typeface="Times New Roman" panose="02020603050405020304" charset="0"/>
              </a:rPr>
              <a:t>。</a:t>
            </a:r>
            <a:endParaRPr lang="en-US" sz="2400" b="1" dirty="0">
              <a:solidFill>
                <a:srgbClr val="070707"/>
              </a:solidFill>
              <a:latin typeface="Times New Roman" panose="02020603050405020304" charset="0"/>
              <a:ea typeface="楷体_GB2312" pitchFamily="49" charset="-122"/>
              <a:cs typeface="Times New Roman" panose="02020603050405020304" charset="0"/>
            </a:endParaRPr>
          </a:p>
        </p:txBody>
      </p:sp>
      <p:sp>
        <p:nvSpPr>
          <p:cNvPr id="10" name="Rectangle 3"/>
          <p:cNvSpPr>
            <a:spLocks noGrp="1"/>
          </p:cNvSpPr>
          <p:nvPr/>
        </p:nvSpPr>
        <p:spPr>
          <a:xfrm>
            <a:off x="3733800" y="4994910"/>
            <a:ext cx="5041900" cy="97409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当输入信号全为高电平时，输出信号才为低电平。</a:t>
            </a:r>
            <a:endParaRPr lang="zh-CN" altLang="en-US" sz="2400" b="1" kern="1200" dirty="0">
              <a:solidFill>
                <a:srgbClr val="000066"/>
              </a:solidFill>
              <a:latin typeface="Arial" panose="020B0604020202020204" pitchFamily="34" charset="0"/>
              <a:ea typeface="楷体_GB2312" pitchFamily="49" charset="-122"/>
            </a:endParaRPr>
          </a:p>
        </p:txBody>
      </p:sp>
      <p:sp>
        <p:nvSpPr>
          <p:cNvPr id="6" name="文本框 5"/>
          <p:cNvSpPr txBox="1"/>
          <p:nvPr/>
        </p:nvSpPr>
        <p:spPr>
          <a:xfrm>
            <a:off x="1371600" y="1731010"/>
            <a:ext cx="6630035" cy="460375"/>
          </a:xfrm>
          <a:prstGeom prst="rect">
            <a:avLst/>
          </a:prstGeom>
          <a:noFill/>
          <a:ln w="9525">
            <a:noFill/>
          </a:ln>
        </p:spPr>
        <p:txBody>
          <a:bodyPr wrap="square">
            <a:spAutoFit/>
          </a:bodyPr>
          <a:p>
            <a:r>
              <a:rPr lang="en-US" sz="2400" i="1">
                <a:latin typeface="Times New Roman" panose="02020603050405020304" charset="0"/>
                <a:ea typeface="宋体" panose="02010600030101010101" pitchFamily="2" charset="-122"/>
              </a:rPr>
              <a:t>V</a:t>
            </a:r>
            <a:r>
              <a:rPr lang="en-US" sz="2400" baseline="-25000">
                <a:latin typeface="宋体" panose="02010600030101010101" pitchFamily="2" charset="-122"/>
                <a:ea typeface="宋体" panose="02010600030101010101" pitchFamily="2" charset="-122"/>
              </a:rPr>
              <a:t> </a:t>
            </a:r>
            <a:r>
              <a:rPr lang="en-US" sz="2400" baseline="-25000">
                <a:latin typeface="Times New Roman" panose="02020603050405020304" charset="0"/>
                <a:ea typeface="宋体" panose="02010600030101010101" pitchFamily="2" charset="-122"/>
              </a:rPr>
              <a:t>BC1</a:t>
            </a:r>
            <a:r>
              <a:rPr lang="en-US" sz="2400">
                <a:latin typeface="宋体" panose="02010600030101010101" pitchFamily="2" charset="-122"/>
                <a:ea typeface="宋体" panose="02010600030101010101" pitchFamily="2" charset="-122"/>
              </a:rPr>
              <a:t> </a:t>
            </a:r>
            <a:r>
              <a:rPr lang="en-US" sz="2400">
                <a:latin typeface="Times New Roman" panose="02020603050405020304" charset="0"/>
                <a:ea typeface="宋体" panose="02010600030101010101" pitchFamily="2" charset="-122"/>
              </a:rPr>
              <a:t>+ V</a:t>
            </a:r>
            <a:r>
              <a:rPr lang="en-US" sz="2400" baseline="-25000">
                <a:latin typeface="Times New Roman" panose="02020603050405020304" charset="0"/>
                <a:ea typeface="宋体" panose="02010600030101010101" pitchFamily="2" charset="-122"/>
              </a:rPr>
              <a:t>BE2</a:t>
            </a:r>
            <a:r>
              <a:rPr lang="en-US" sz="2400">
                <a:latin typeface="宋体" panose="02010600030101010101" pitchFamily="2" charset="-122"/>
                <a:ea typeface="宋体" panose="02010600030101010101" pitchFamily="2" charset="-122"/>
              </a:rPr>
              <a:t> </a:t>
            </a:r>
            <a:r>
              <a:rPr lang="en-US" sz="2400">
                <a:latin typeface="Times New Roman" panose="02020603050405020304" charset="0"/>
                <a:ea typeface="宋体" panose="02010600030101010101" pitchFamily="2" charset="-122"/>
              </a:rPr>
              <a:t>+ V</a:t>
            </a:r>
            <a:r>
              <a:rPr lang="en-US" sz="2400" baseline="-25000">
                <a:latin typeface="Times New Roman" panose="02020603050405020304" charset="0"/>
                <a:ea typeface="宋体" panose="02010600030101010101" pitchFamily="2" charset="-122"/>
              </a:rPr>
              <a:t>BE3</a:t>
            </a:r>
            <a:r>
              <a:rPr lang="en-US" sz="2400">
                <a:latin typeface="宋体" panose="02010600030101010101" pitchFamily="2" charset="-122"/>
                <a:ea typeface="宋体" panose="02010600030101010101" pitchFamily="2" charset="-122"/>
              </a:rPr>
              <a:t> </a:t>
            </a:r>
            <a:r>
              <a:rPr lang="en-US" sz="2400">
                <a:latin typeface="Times New Roman" panose="02020603050405020304" charset="0"/>
                <a:ea typeface="宋体" panose="02010600030101010101" pitchFamily="2" charset="-122"/>
              </a:rPr>
              <a:t>= 0.7V + 0.7V + 0.7V = 2.1V</a:t>
            </a:r>
            <a:endParaRPr lang="zh-CN" altLang="en-US" sz="2400"/>
          </a:p>
        </p:txBody>
      </p:sp>
      <p:sp>
        <p:nvSpPr>
          <p:cNvPr id="7" name="Rectangle 3"/>
          <p:cNvSpPr>
            <a:spLocks noGrp="1"/>
          </p:cNvSpPr>
          <p:nvPr/>
        </p:nvSpPr>
        <p:spPr>
          <a:xfrm>
            <a:off x="4038600" y="3352800"/>
            <a:ext cx="4700270" cy="139001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zh-CN" altLang="en-US" sz="2400" b="1" dirty="0">
                <a:solidFill>
                  <a:srgbClr val="000066"/>
                </a:solidFill>
                <a:latin typeface="Arial" panose="020B0604020202020204" pitchFamily="34" charset="0"/>
                <a:ea typeface="楷体_GB2312" pitchFamily="49" charset="-122"/>
                <a:sym typeface="+mn-ea"/>
              </a:rPr>
              <a:t>电流较小，</a:t>
            </a:r>
            <a:r>
              <a:rPr lang="zh-CN" altLang="en-US" sz="2400" b="1" kern="1200" dirty="0">
                <a:solidFill>
                  <a:srgbClr val="000066"/>
                </a:solidFill>
                <a:latin typeface="Arial" panose="020B0604020202020204" pitchFamily="34" charset="0"/>
                <a:ea typeface="楷体_GB2312" pitchFamily="49" charset="-122"/>
              </a:rPr>
              <a:t>所以T</a:t>
            </a:r>
            <a:r>
              <a:rPr lang="zh-CN" altLang="en-US" sz="2400" b="1" kern="1200" baseline="-25000" dirty="0">
                <a:solidFill>
                  <a:srgbClr val="000066"/>
                </a:solidFill>
                <a:latin typeface="Arial" panose="020B0604020202020204" pitchFamily="34" charset="0"/>
                <a:ea typeface="楷体_GB2312" pitchFamily="49" charset="-122"/>
              </a:rPr>
              <a:t>3</a:t>
            </a:r>
            <a:r>
              <a:rPr lang="zh-CN" altLang="en-US" sz="2400" b="1" kern="1200" dirty="0">
                <a:solidFill>
                  <a:srgbClr val="000066"/>
                </a:solidFill>
                <a:latin typeface="Arial" panose="020B0604020202020204" pitchFamily="34" charset="0"/>
                <a:ea typeface="楷体_GB2312" pitchFamily="49" charset="-122"/>
              </a:rPr>
              <a:t>的基极电流很大，因而T</a:t>
            </a:r>
            <a:r>
              <a:rPr lang="zh-CN" altLang="en-US" sz="2400" b="1" kern="1200" baseline="-25000" dirty="0">
                <a:solidFill>
                  <a:srgbClr val="000066"/>
                </a:solidFill>
                <a:latin typeface="Arial" panose="020B0604020202020204" pitchFamily="34" charset="0"/>
                <a:ea typeface="楷体_GB2312" pitchFamily="49" charset="-122"/>
              </a:rPr>
              <a:t>3</a:t>
            </a:r>
            <a:r>
              <a:rPr lang="zh-CN" altLang="en-US" sz="2400" b="1" kern="1200" dirty="0">
                <a:solidFill>
                  <a:srgbClr val="000066"/>
                </a:solidFill>
                <a:latin typeface="Arial" panose="020B0604020202020204" pitchFamily="34" charset="0"/>
                <a:ea typeface="楷体_GB2312" pitchFamily="49" charset="-122"/>
              </a:rPr>
              <a:t>工作在深度饱和状态。这样，输出信号</a:t>
            </a:r>
            <a:r>
              <a:rPr lang="zh-CN" altLang="en-US" sz="2400" b="1" i="1" kern="1200" dirty="0">
                <a:solidFill>
                  <a:srgbClr val="000066"/>
                </a:solidFill>
                <a:latin typeface="Arial" panose="020B0604020202020204" pitchFamily="34" charset="0"/>
                <a:ea typeface="楷体_GB2312" pitchFamily="49" charset="-122"/>
              </a:rPr>
              <a:t>Y</a:t>
            </a:r>
            <a:r>
              <a:rPr lang="zh-CN" altLang="en-US" sz="2400" b="1" kern="1200" dirty="0">
                <a:solidFill>
                  <a:srgbClr val="000066"/>
                </a:solidFill>
                <a:latin typeface="Arial" panose="020B0604020202020204" pitchFamily="34" charset="0"/>
                <a:ea typeface="楷体_GB2312" pitchFamily="49" charset="-122"/>
              </a:rPr>
              <a:t>的电压值</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O</a:t>
            </a:r>
            <a:r>
              <a:rPr lang="zh-CN" altLang="en-US" sz="2400" b="1" kern="1200" dirty="0">
                <a:solidFill>
                  <a:srgbClr val="000066"/>
                </a:solidFill>
                <a:latin typeface="Arial" panose="020B0604020202020204" pitchFamily="34" charset="0"/>
                <a:ea typeface="楷体_GB2312" pitchFamily="49" charset="-122"/>
              </a:rPr>
              <a:t>为</a:t>
            </a:r>
            <a:endParaRPr lang="zh-CN" altLang="en-US" sz="2400" b="1" kern="1200" dirty="0">
              <a:solidFill>
                <a:srgbClr val="000066"/>
              </a:solidFill>
              <a:latin typeface="Arial" panose="020B0604020202020204" pitchFamily="34" charset="0"/>
              <a:ea typeface="楷体_GB2312" pitchFamily="49" charset="-122"/>
            </a:endParaRPr>
          </a:p>
        </p:txBody>
      </p:sp>
      <p:sp>
        <p:nvSpPr>
          <p:cNvPr id="8" name="文本框 7"/>
          <p:cNvSpPr txBox="1"/>
          <p:nvPr/>
        </p:nvSpPr>
        <p:spPr>
          <a:xfrm>
            <a:off x="5029200" y="4644390"/>
            <a:ext cx="2861945" cy="460375"/>
          </a:xfrm>
          <a:prstGeom prst="rect">
            <a:avLst/>
          </a:prstGeom>
          <a:noFill/>
          <a:ln w="9525">
            <a:noFill/>
          </a:ln>
        </p:spPr>
        <p:txBody>
          <a:bodyPr wrap="square">
            <a:spAutoFit/>
          </a:bodyPr>
          <a:p>
            <a:r>
              <a:rPr lang="en-US" sz="2400" i="1">
                <a:latin typeface="Times New Roman" panose="02020603050405020304" charset="0"/>
                <a:ea typeface="宋体" panose="02010600030101010101" pitchFamily="2" charset="-122"/>
              </a:rPr>
              <a:t>υ</a:t>
            </a:r>
            <a:r>
              <a:rPr lang="en-US" sz="2400" baseline="-25000">
                <a:latin typeface="Times New Roman" panose="02020603050405020304" charset="0"/>
                <a:ea typeface="宋体" panose="02010600030101010101" pitchFamily="2" charset="-122"/>
              </a:rPr>
              <a:t>O</a:t>
            </a:r>
            <a:r>
              <a:rPr lang="en-US" sz="2400" i="1">
                <a:latin typeface="宋体" panose="02010600030101010101" pitchFamily="2" charset="-122"/>
                <a:ea typeface="宋体" panose="02010600030101010101" pitchFamily="2" charset="-122"/>
              </a:rPr>
              <a:t> </a:t>
            </a:r>
            <a:r>
              <a:rPr lang="en-US" sz="2400">
                <a:latin typeface="Times New Roman" panose="02020603050405020304" charset="0"/>
                <a:ea typeface="宋体" panose="02010600030101010101" pitchFamily="2" charset="-122"/>
              </a:rPr>
              <a:t>= V</a:t>
            </a:r>
            <a:r>
              <a:rPr lang="en-US" sz="2400" baseline="-25000">
                <a:latin typeface="Times New Roman" panose="02020603050405020304" charset="0"/>
                <a:ea typeface="宋体" panose="02010600030101010101" pitchFamily="2" charset="-122"/>
              </a:rPr>
              <a:t>CES3</a:t>
            </a:r>
            <a:r>
              <a:rPr lang="en-US" sz="2400">
                <a:latin typeface="宋体" panose="02010600030101010101" pitchFamily="2" charset="-122"/>
                <a:ea typeface="宋体" panose="02010600030101010101" pitchFamily="2" charset="-122"/>
              </a:rPr>
              <a:t> </a:t>
            </a:r>
            <a:r>
              <a:rPr lang="en-US" sz="2400">
                <a:latin typeface="Times New Roman" panose="02020603050405020304" charset="0"/>
                <a:ea typeface="宋体" panose="02010600030101010101" pitchFamily="2" charset="-122"/>
              </a:rPr>
              <a:t>= 0.2V</a:t>
            </a:r>
            <a:endParaRPr lang="zh-CN" altLang="en-US" sz="2400"/>
          </a:p>
        </p:txBody>
      </p:sp>
      <p:sp>
        <p:nvSpPr>
          <p:cNvPr id="12" name="Rectangle 3"/>
          <p:cNvSpPr>
            <a:spLocks noGrp="1"/>
          </p:cNvSpPr>
          <p:nvPr/>
        </p:nvSpPr>
        <p:spPr>
          <a:xfrm>
            <a:off x="3733800" y="5867400"/>
            <a:ext cx="5041900" cy="97409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综上可知，该电路实现的是与非逻辑功能。</a:t>
            </a:r>
            <a:endParaRPr lang="en-US" altLang="zh-CN" sz="2400" b="1" kern="1200" dirty="0">
              <a:solidFill>
                <a:srgbClr val="000066"/>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000" fill="hold">
                                          <p:stCondLst>
                                            <p:cond delay="0"/>
                                          </p:stCondLst>
                                        </p:cTn>
                                        <p:tgtEl>
                                          <p:spTgt spid="7"/>
                                        </p:tgtEl>
                                        <p:attrNameLst>
                                          <p:attrName>style.visibility</p:attrName>
                                        </p:attrNameLst>
                                      </p:cBhvr>
                                      <p:to>
                                        <p:strVal val="visible"/>
                                      </p:to>
                                    </p:set>
                                    <p:animEffect transition="in" filter="wheel(1)">
                                      <p:cBhvr>
                                        <p:cTn id="12" dur="1000"/>
                                        <p:tgtEl>
                                          <p:spTgt spid="7"/>
                                        </p:tgtEl>
                                      </p:cBhvr>
                                    </p:animEffect>
                                  </p:childTnLst>
                                </p:cTn>
                              </p:par>
                              <p:par>
                                <p:cTn id="13" presetID="21" presetClass="entr" presetSubtype="1" fill="hold" grpId="0" nodeType="withEffect">
                                  <p:stCondLst>
                                    <p:cond delay="0"/>
                                  </p:stCondLst>
                                  <p:childTnLst>
                                    <p:set>
                                      <p:cBhvr>
                                        <p:cTn id="14" dur="1000" fill="hold">
                                          <p:stCondLst>
                                            <p:cond delay="0"/>
                                          </p:stCondLst>
                                        </p:cTn>
                                        <p:tgtEl>
                                          <p:spTgt spid="5"/>
                                        </p:tgtEl>
                                        <p:attrNameLst>
                                          <p:attrName>style.visibility</p:attrName>
                                        </p:attrNameLst>
                                      </p:cBhvr>
                                      <p:to>
                                        <p:strVal val="visible"/>
                                      </p:to>
                                    </p:set>
                                    <p:animEffect transition="in" filter="wheel(1)">
                                      <p:cBhvr>
                                        <p:cTn id="15" dur="10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ppt_x</p:attrName>
                                        </p:attrNameLst>
                                      </p:cBhvr>
                                      <p:tavLst>
                                        <p:tav tm="0">
                                          <p:val>
                                            <p:strVal val="#ppt_x"/>
                                          </p:val>
                                        </p:tav>
                                        <p:tav tm="100000">
                                          <p:val>
                                            <p:strVal val="#ppt_x"/>
                                          </p:val>
                                        </p:tav>
                                      </p:tavLst>
                                    </p:anim>
                                    <p:anim calcmode="lin" valueType="num">
                                      <p:cBhvr additive="base">
                                        <p:cTn id="2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500"/>
                                        <p:tgtEl>
                                          <p:spTgt spid="10"/>
                                        </p:tgtEl>
                                        <p:attrNameLst>
                                          <p:attrName>ppt_y</p:attrName>
                                        </p:attrNameLst>
                                      </p:cBhvr>
                                      <p:tavLst>
                                        <p:tav tm="0">
                                          <p:val>
                                            <p:strVal val="#ppt_y+#ppt_h*1.125000"/>
                                          </p:val>
                                        </p:tav>
                                        <p:tav tm="100000">
                                          <p:val>
                                            <p:strVal val="#ppt_y"/>
                                          </p:val>
                                        </p:tav>
                                      </p:tavLst>
                                    </p:anim>
                                    <p:animEffect transition="in" filter="wipe(up)">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3" presetClass="entr" presetSubtype="16"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p:cTn id="32" dur="500" fill="hold"/>
                                        <p:tgtEl>
                                          <p:spTgt spid="12"/>
                                        </p:tgtEl>
                                        <p:attrNameLst>
                                          <p:attrName>ppt_w</p:attrName>
                                        </p:attrNameLst>
                                      </p:cBhvr>
                                      <p:tavLst>
                                        <p:tav tm="0">
                                          <p:val>
                                            <p:fltVal val="0"/>
                                          </p:val>
                                        </p:tav>
                                        <p:tav tm="100000">
                                          <p:val>
                                            <p:strVal val="#ppt_w"/>
                                          </p:val>
                                        </p:tav>
                                      </p:tavLst>
                                    </p:anim>
                                    <p:anim calcmode="lin" valueType="num">
                                      <p:cBhvr>
                                        <p:cTn id="33" dur="500" fill="hold"/>
                                        <p:tgtEl>
                                          <p:spTgt spid="1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5" grpId="0"/>
      <p:bldP spid="8" grpId="0"/>
      <p:bldP spid="10" grpId="0"/>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文本框 10"/>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908050" y="1177290"/>
            <a:ext cx="240157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3. 电压传输特性</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pic>
        <p:nvPicPr>
          <p:cNvPr id="9240" name="图片 2677"/>
          <p:cNvPicPr>
            <a:picLocks noChangeAspect="1"/>
          </p:cNvPicPr>
          <p:nvPr/>
        </p:nvPicPr>
        <p:blipFill>
          <a:blip r:embed="rId1"/>
          <a:stretch>
            <a:fillRect/>
          </a:stretch>
        </p:blipFill>
        <p:spPr>
          <a:xfrm>
            <a:off x="685800" y="3886200"/>
            <a:ext cx="2857500" cy="2656205"/>
          </a:xfrm>
          <a:prstGeom prst="rect">
            <a:avLst/>
          </a:prstGeom>
          <a:noFill/>
          <a:ln>
            <a:noFill/>
          </a:ln>
        </p:spPr>
      </p:pic>
      <p:sp>
        <p:nvSpPr>
          <p:cNvPr id="100" name="文本框 99"/>
          <p:cNvSpPr txBox="1"/>
          <p:nvPr/>
        </p:nvSpPr>
        <p:spPr>
          <a:xfrm>
            <a:off x="152400" y="6477000"/>
            <a:ext cx="3717290" cy="337185"/>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图3-1</a:t>
            </a:r>
            <a:r>
              <a:rPr lang="en-US" sz="1600">
                <a:latin typeface="Times New Roman" panose="02020603050405020304" charset="0"/>
                <a:ea typeface="宋体" panose="02010600030101010101" pitchFamily="2" charset="-122"/>
              </a:rPr>
              <a:t>6</a:t>
            </a:r>
            <a:r>
              <a:rPr sz="1600">
                <a:latin typeface="Times New Roman" panose="02020603050405020304" charset="0"/>
                <a:ea typeface="宋体" panose="02010600030101010101" pitchFamily="2" charset="-122"/>
              </a:rPr>
              <a:t> TTL与非门</a:t>
            </a:r>
            <a:r>
              <a:rPr lang="zh-CN" sz="1600">
                <a:latin typeface="Times New Roman" panose="02020603050405020304" charset="0"/>
                <a:ea typeface="宋体" panose="02010600030101010101" pitchFamily="2" charset="-122"/>
              </a:rPr>
              <a:t>电压传输特性曲线</a:t>
            </a:r>
            <a:endParaRPr lang="zh-CN" sz="1600">
              <a:latin typeface="Times New Roman" panose="02020603050405020304" charset="0"/>
              <a:ea typeface="宋体" panose="02010600030101010101" pitchFamily="2" charset="-122"/>
            </a:endParaRPr>
          </a:p>
        </p:txBody>
      </p:sp>
      <p:sp>
        <p:nvSpPr>
          <p:cNvPr id="3" name="Rectangle 3"/>
          <p:cNvSpPr>
            <a:spLocks noGrp="1"/>
          </p:cNvSpPr>
          <p:nvPr/>
        </p:nvSpPr>
        <p:spPr>
          <a:xfrm>
            <a:off x="304800" y="1524000"/>
            <a:ext cx="8538845" cy="12992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dirty="0">
                <a:solidFill>
                  <a:srgbClr val="000066"/>
                </a:solidFill>
                <a:latin typeface="Arial" panose="020B0604020202020204" pitchFamily="34" charset="0"/>
                <a:ea typeface="楷体_GB2312" pitchFamily="49" charset="-122"/>
              </a:rPr>
              <a:t>门电路的输出电压随输入电压变化的特性称为电压传输特性。TTL与非门的电压传输特性如图3-16所示，它可以分为AB、BC、CD、DE共4段。</a:t>
            </a:r>
            <a:endParaRPr lang="zh-CN" altLang="en-US" sz="2400" b="1"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3.2 TTL</a:t>
            </a:r>
            <a:r>
              <a:rPr lang="zh-CN" altLang="en-US" b="1" dirty="0">
                <a:solidFill>
                  <a:srgbClr val="FF0000"/>
                </a:solidFill>
                <a:latin typeface="黑体" panose="02010609060101010101" pitchFamily="49" charset="-122"/>
                <a:ea typeface="黑体" panose="02010609060101010101" pitchFamily="49" charset="-122"/>
              </a:rPr>
              <a:t>逻辑门电路</a:t>
            </a:r>
            <a:endParaRPr lang="zh-CN" altLang="en-US" b="1" dirty="0">
              <a:solidFill>
                <a:srgbClr val="FF0000"/>
              </a:solidFill>
              <a:latin typeface="黑体" panose="02010609060101010101" pitchFamily="49" charset="-122"/>
              <a:ea typeface="黑体" panose="02010609060101010101" pitchFamily="49" charset="-122"/>
            </a:endParaRPr>
          </a:p>
        </p:txBody>
      </p:sp>
      <p:grpSp>
        <p:nvGrpSpPr>
          <p:cNvPr id="4" name="组合 3"/>
          <p:cNvGrpSpPr/>
          <p:nvPr/>
        </p:nvGrpSpPr>
        <p:grpSpPr>
          <a:xfrm>
            <a:off x="487680" y="2895600"/>
            <a:ext cx="8337550" cy="1414780"/>
            <a:chOff x="768" y="4560"/>
            <a:chExt cx="13130" cy="2228"/>
          </a:xfrm>
        </p:grpSpPr>
        <p:grpSp>
          <p:nvGrpSpPr>
            <p:cNvPr id="22" name="组合 21"/>
            <p:cNvGrpSpPr/>
            <p:nvPr/>
          </p:nvGrpSpPr>
          <p:grpSpPr>
            <a:xfrm>
              <a:off x="768" y="4560"/>
              <a:ext cx="13130" cy="2228"/>
              <a:chOff x="768" y="4440"/>
              <a:chExt cx="13130" cy="2228"/>
            </a:xfrm>
          </p:grpSpPr>
          <p:sp>
            <p:nvSpPr>
              <p:cNvPr id="5" name="Rectangle 3"/>
              <p:cNvSpPr>
                <a:spLocks noGrp="1"/>
              </p:cNvSpPr>
              <p:nvPr/>
            </p:nvSpPr>
            <p:spPr>
              <a:xfrm>
                <a:off x="768" y="4440"/>
                <a:ext cx="13130" cy="2228"/>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在AB段，当输入电压</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为低电平且</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时，T</a:t>
                </a:r>
                <a:r>
                  <a:rPr lang="zh-CN" altLang="en-US" sz="2400" b="1" kern="1200" baseline="-25000" dirty="0">
                    <a:solidFill>
                      <a:srgbClr val="000066"/>
                    </a:solidFill>
                    <a:latin typeface="Arial" panose="020B0604020202020204" pitchFamily="34" charset="0"/>
                    <a:ea typeface="楷体_GB2312" pitchFamily="49" charset="-122"/>
                  </a:rPr>
                  <a:t>1</a:t>
                </a:r>
                <a:r>
                  <a:rPr lang="zh-CN" altLang="en-US" sz="2400" b="1" kern="1200" dirty="0">
                    <a:solidFill>
                      <a:srgbClr val="000066"/>
                    </a:solidFill>
                    <a:latin typeface="Arial" panose="020B0604020202020204" pitchFamily="34" charset="0"/>
                    <a:ea typeface="楷体_GB2312" pitchFamily="49" charset="-122"/>
                  </a:rPr>
                  <a:t>基极的电位被钳在</a:t>
                </a:r>
                <a:r>
                  <a:rPr lang="zh-CN" altLang="en-US" sz="2400" b="1" i="1" kern="1200" dirty="0">
                    <a:solidFill>
                      <a:srgbClr val="000066"/>
                    </a:solidFill>
                    <a:latin typeface="Arial" panose="020B0604020202020204" pitchFamily="34" charset="0"/>
                    <a:ea typeface="楷体_GB2312" pitchFamily="49" charset="-122"/>
                  </a:rPr>
                  <a:t>V</a:t>
                </a:r>
                <a:r>
                  <a:rPr lang="zh-CN" altLang="en-US" sz="2400" b="1" kern="1200" baseline="-25000" dirty="0">
                    <a:solidFill>
                      <a:srgbClr val="000066"/>
                    </a:solidFill>
                    <a:latin typeface="Arial" panose="020B0604020202020204" pitchFamily="34" charset="0"/>
                    <a:ea typeface="楷体_GB2312" pitchFamily="49" charset="-122"/>
                  </a:rPr>
                  <a:t>IL</a:t>
                </a:r>
                <a:r>
                  <a:rPr lang="zh-CN" altLang="en-US" sz="2400" b="1" kern="1200" dirty="0">
                    <a:solidFill>
                      <a:srgbClr val="000066"/>
                    </a:solidFill>
                    <a:latin typeface="Arial" panose="020B0604020202020204" pitchFamily="34" charset="0"/>
                    <a:ea typeface="楷体_GB2312" pitchFamily="49" charset="-122"/>
                  </a:rPr>
                  <a:t> + </a:t>
                </a:r>
                <a:r>
                  <a:rPr lang="zh-CN" altLang="en-US" sz="2400" b="1" i="1" kern="1200" dirty="0">
                    <a:solidFill>
                      <a:srgbClr val="000066"/>
                    </a:solidFill>
                    <a:latin typeface="Arial" panose="020B0604020202020204" pitchFamily="34" charset="0"/>
                    <a:ea typeface="楷体_GB2312" pitchFamily="49" charset="-122"/>
                  </a:rPr>
                  <a:t>V</a:t>
                </a:r>
                <a:r>
                  <a:rPr lang="zh-CN" altLang="en-US" sz="2400" b="1" kern="1200" baseline="-25000" dirty="0">
                    <a:solidFill>
                      <a:srgbClr val="000066"/>
                    </a:solidFill>
                    <a:latin typeface="Arial" panose="020B0604020202020204" pitchFamily="34" charset="0"/>
                    <a:ea typeface="楷体_GB2312" pitchFamily="49" charset="-122"/>
                  </a:rPr>
                  <a:t>BE1</a:t>
                </a:r>
                <a:r>
                  <a:rPr lang="zh-CN" altLang="en-US" sz="2400" b="1" kern="1200" dirty="0">
                    <a:solidFill>
                      <a:srgbClr val="000066"/>
                    </a:solidFill>
                    <a:latin typeface="Arial" panose="020B0604020202020204" pitchFamily="34" charset="0"/>
                    <a:ea typeface="楷体_GB2312" pitchFamily="49" charset="-122"/>
                  </a:rPr>
                  <a:t> &lt; 0.7 V+ 0.7V = 1.4V，T</a:t>
                </a:r>
                <a:r>
                  <a:rPr lang="zh-CN" altLang="en-US" sz="2400" b="1" kern="1200" baseline="-25000" dirty="0">
                    <a:solidFill>
                      <a:srgbClr val="000066"/>
                    </a:solidFill>
                    <a:latin typeface="Arial" panose="020B0604020202020204" pitchFamily="34" charset="0"/>
                    <a:ea typeface="楷体_GB2312" pitchFamily="49" charset="-122"/>
                  </a:rPr>
                  <a:t>2</a:t>
                </a:r>
                <a:r>
                  <a:rPr lang="zh-CN" altLang="en-US" sz="2400" b="1" kern="1200" dirty="0">
                    <a:solidFill>
                      <a:srgbClr val="000066"/>
                    </a:solidFill>
                    <a:latin typeface="Arial" panose="020B0604020202020204" pitchFamily="34" charset="0"/>
                    <a:ea typeface="楷体_GB2312" pitchFamily="49" charset="-122"/>
                  </a:rPr>
                  <a:t>和T</a:t>
                </a:r>
                <a:r>
                  <a:rPr lang="zh-CN" altLang="en-US" sz="2400" b="1" kern="1200" baseline="-25000" dirty="0">
                    <a:solidFill>
                      <a:srgbClr val="000066"/>
                    </a:solidFill>
                    <a:latin typeface="Arial" panose="020B0604020202020204" pitchFamily="34" charset="0"/>
                    <a:ea typeface="楷体_GB2312" pitchFamily="49" charset="-122"/>
                  </a:rPr>
                  <a:t>3</a:t>
                </a:r>
                <a:r>
                  <a:rPr lang="zh-CN" altLang="en-US" sz="2400" b="1" kern="1200" dirty="0">
                    <a:solidFill>
                      <a:srgbClr val="000066"/>
                    </a:solidFill>
                    <a:latin typeface="Arial" panose="020B0604020202020204" pitchFamily="34" charset="0"/>
                    <a:ea typeface="楷体_GB2312" pitchFamily="49" charset="-122"/>
                  </a:rPr>
                  <a:t>均截止，</a:t>
                </a:r>
                <a:r>
                  <a:rPr lang="en-US" altLang="zh-CN" sz="2400" b="1" kern="1200" dirty="0">
                    <a:solidFill>
                      <a:srgbClr val="000066"/>
                    </a:solidFill>
                    <a:latin typeface="Arial" panose="020B0604020202020204" pitchFamily="34" charset="0"/>
                    <a:ea typeface="楷体_GB2312" pitchFamily="49" charset="-122"/>
                  </a:rPr>
                  <a:t> </a:t>
                </a:r>
                <a:endParaRPr lang="en-US" altLang="zh-CN"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T</a:t>
                </a:r>
                <a:r>
                  <a:rPr lang="zh-CN" altLang="en-US" sz="2400" b="1" kern="1200" baseline="-25000" dirty="0">
                    <a:solidFill>
                      <a:srgbClr val="000066"/>
                    </a:solidFill>
                    <a:latin typeface="Arial" panose="020B0604020202020204" pitchFamily="34" charset="0"/>
                    <a:ea typeface="楷体_GB2312" pitchFamily="49" charset="-122"/>
                  </a:rPr>
                  <a:t>4</a:t>
                </a:r>
                <a:r>
                  <a:rPr lang="zh-CN" altLang="en-US" sz="2400" b="1" kern="1200" dirty="0">
                    <a:solidFill>
                      <a:srgbClr val="000066"/>
                    </a:solidFill>
                    <a:latin typeface="Arial" panose="020B0604020202020204" pitchFamily="34" charset="0"/>
                    <a:ea typeface="楷体_GB2312" pitchFamily="49" charset="-122"/>
                  </a:rPr>
                  <a:t>导通，输出电压</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为3.</a:t>
                </a:r>
                <a:r>
                  <a:rPr lang="en-US" altLang="zh-CN" sz="2400" b="1" kern="1200" dirty="0">
                    <a:solidFill>
                      <a:srgbClr val="000066"/>
                    </a:solidFill>
                    <a:latin typeface="Arial" panose="020B0604020202020204" pitchFamily="34" charset="0"/>
                    <a:ea typeface="楷体_GB2312" pitchFamily="49" charset="-122"/>
                  </a:rPr>
                  <a:t>6</a:t>
                </a:r>
                <a:r>
                  <a:rPr lang="zh-CN" altLang="en-US" sz="2400" b="1" kern="1200" dirty="0">
                    <a:solidFill>
                      <a:srgbClr val="000066"/>
                    </a:solidFill>
                    <a:latin typeface="Arial" panose="020B0604020202020204" pitchFamily="34" charset="0"/>
                    <a:ea typeface="楷体_GB2312" pitchFamily="49" charset="-122"/>
                  </a:rPr>
                  <a:t>V的高电平。</a:t>
                </a:r>
                <a:endParaRPr lang="zh-CN" altLang="en-US" sz="2400" b="1" kern="1200" dirty="0">
                  <a:solidFill>
                    <a:srgbClr val="000066"/>
                  </a:solidFill>
                  <a:latin typeface="Arial" panose="020B0604020202020204" pitchFamily="34" charset="0"/>
                  <a:ea typeface="楷体_GB2312" pitchFamily="49" charset="-122"/>
                </a:endParaRPr>
              </a:p>
            </p:txBody>
          </p:sp>
          <p:graphicFrame>
            <p:nvGraphicFramePr>
              <p:cNvPr id="36" name="对象 35">
                <a:hlinkClick r:id="" action="ppaction://ole?verb="/>
              </p:cNvPr>
              <p:cNvGraphicFramePr>
                <a:graphicFrameLocks noChangeAspect="1"/>
              </p:cNvGraphicFramePr>
              <p:nvPr/>
            </p:nvGraphicFramePr>
            <p:xfrm>
              <a:off x="6120" y="4560"/>
              <a:ext cx="464" cy="606"/>
            </p:xfrm>
            <a:graphic>
              <a:graphicData uri="http://schemas.openxmlformats.org/presentationml/2006/ole">
                <mc:AlternateContent xmlns:mc="http://schemas.openxmlformats.org/markup-compatibility/2006">
                  <mc:Choice xmlns:v="urn:schemas-microsoft-com:vml" Requires="v">
                    <p:oleObj spid="_x0000_s37" name="" r:id="rId2" imgW="165100" imgH="215900" progId="Equation.KSEE3">
                      <p:embed/>
                    </p:oleObj>
                  </mc:Choice>
                  <mc:Fallback>
                    <p:oleObj name="" r:id="rId2" imgW="165100" imgH="215900" progId="Equation.KSEE3">
                      <p:embed/>
                      <p:pic>
                        <p:nvPicPr>
                          <p:cNvPr id="0" name="图片 1024"/>
                          <p:cNvPicPr/>
                          <p:nvPr/>
                        </p:nvPicPr>
                        <p:blipFill>
                          <a:blip r:embed="rId3"/>
                          <a:stretch>
                            <a:fillRect/>
                          </a:stretch>
                        </p:blipFill>
                        <p:spPr>
                          <a:xfrm>
                            <a:off x="6120" y="4560"/>
                            <a:ext cx="464" cy="606"/>
                          </a:xfrm>
                          <a:prstGeom prst="rect">
                            <a:avLst/>
                          </a:prstGeom>
                        </p:spPr>
                      </p:pic>
                    </p:oleObj>
                  </mc:Fallback>
                </mc:AlternateContent>
              </a:graphicData>
            </a:graphic>
          </p:graphicFrame>
          <p:graphicFrame>
            <p:nvGraphicFramePr>
              <p:cNvPr id="6" name="对象 5">
                <a:hlinkClick r:id="" action="ppaction://ole?verb="/>
              </p:cNvPr>
              <p:cNvGraphicFramePr>
                <a:graphicFrameLocks noChangeAspect="1"/>
              </p:cNvGraphicFramePr>
              <p:nvPr/>
            </p:nvGraphicFramePr>
            <p:xfrm>
              <a:off x="9000" y="4560"/>
              <a:ext cx="1920" cy="654"/>
            </p:xfrm>
            <a:graphic>
              <a:graphicData uri="http://schemas.openxmlformats.org/presentationml/2006/ole">
                <mc:AlternateContent xmlns:mc="http://schemas.openxmlformats.org/markup-compatibility/2006">
                  <mc:Choice xmlns:v="urn:schemas-microsoft-com:vml" Requires="v">
                    <p:oleObj spid="_x0000_s7" name="" r:id="rId4" imgW="634365" imgH="215900" progId="Equation.KSEE3">
                      <p:embed/>
                    </p:oleObj>
                  </mc:Choice>
                  <mc:Fallback>
                    <p:oleObj name="" r:id="rId4" imgW="634365" imgH="215900" progId="Equation.KSEE3">
                      <p:embed/>
                      <p:pic>
                        <p:nvPicPr>
                          <p:cNvPr id="0" name="图片 1024"/>
                          <p:cNvPicPr/>
                          <p:nvPr/>
                        </p:nvPicPr>
                        <p:blipFill>
                          <a:blip r:embed="rId5"/>
                          <a:stretch>
                            <a:fillRect/>
                          </a:stretch>
                        </p:blipFill>
                        <p:spPr>
                          <a:xfrm>
                            <a:off x="9000" y="4560"/>
                            <a:ext cx="1920" cy="654"/>
                          </a:xfrm>
                          <a:prstGeom prst="rect">
                            <a:avLst/>
                          </a:prstGeom>
                        </p:spPr>
                      </p:pic>
                    </p:oleObj>
                  </mc:Fallback>
                </mc:AlternateContent>
              </a:graphicData>
            </a:graphic>
          </p:graphicFrame>
        </p:grpSp>
        <p:graphicFrame>
          <p:nvGraphicFramePr>
            <p:cNvPr id="8" name="对象 7">
              <a:hlinkClick r:id="" action="ppaction://ole?verb="/>
            </p:cNvPr>
            <p:cNvGraphicFramePr>
              <a:graphicFrameLocks noChangeAspect="1"/>
            </p:cNvGraphicFramePr>
            <p:nvPr/>
          </p:nvGraphicFramePr>
          <p:xfrm>
            <a:off x="9443" y="6056"/>
            <a:ext cx="572" cy="642"/>
          </p:xfrm>
          <a:graphic>
            <a:graphicData uri="http://schemas.openxmlformats.org/presentationml/2006/ole">
              <mc:AlternateContent xmlns:mc="http://schemas.openxmlformats.org/markup-compatibility/2006">
                <mc:Choice xmlns:v="urn:schemas-microsoft-com:vml" Requires="v">
                  <p:oleObj spid="_x0000_s12" name="" r:id="rId6" imgW="203200" imgH="228600" progId="Equation.KSEE3">
                    <p:embed/>
                  </p:oleObj>
                </mc:Choice>
                <mc:Fallback>
                  <p:oleObj name="" r:id="rId6" imgW="203200" imgH="228600" progId="Equation.KSEE3">
                    <p:embed/>
                    <p:pic>
                      <p:nvPicPr>
                        <p:cNvPr id="0" name="图片 1024"/>
                        <p:cNvPicPr/>
                        <p:nvPr/>
                      </p:nvPicPr>
                      <p:blipFill>
                        <a:blip r:embed="rId7"/>
                        <a:stretch>
                          <a:fillRect/>
                        </a:stretch>
                      </p:blipFill>
                      <p:spPr>
                        <a:xfrm>
                          <a:off x="9443" y="6056"/>
                          <a:ext cx="572" cy="642"/>
                        </a:xfrm>
                        <a:prstGeom prst="rect">
                          <a:avLst/>
                        </a:prstGeom>
                      </p:spPr>
                    </p:pic>
                  </p:oleObj>
                </mc:Fallback>
              </mc:AlternateContent>
            </a:graphicData>
          </a:graphic>
        </p:graphicFrame>
      </p:grpSp>
      <p:grpSp>
        <p:nvGrpSpPr>
          <p:cNvPr id="23" name="组合 22"/>
          <p:cNvGrpSpPr/>
          <p:nvPr/>
        </p:nvGrpSpPr>
        <p:grpSpPr>
          <a:xfrm>
            <a:off x="3629660" y="4343400"/>
            <a:ext cx="5179695" cy="2314575"/>
            <a:chOff x="5596" y="6600"/>
            <a:chExt cx="8157" cy="3645"/>
          </a:xfrm>
        </p:grpSpPr>
        <p:sp>
          <p:nvSpPr>
            <p:cNvPr id="10" name="Rectangle 3"/>
            <p:cNvSpPr>
              <a:spLocks noGrp="1"/>
            </p:cNvSpPr>
            <p:nvPr/>
          </p:nvSpPr>
          <p:spPr>
            <a:xfrm>
              <a:off x="5596" y="6600"/>
              <a:ext cx="8157" cy="364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在BC段，</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，T</a:t>
              </a:r>
              <a:r>
                <a:rPr lang="zh-CN" altLang="en-US" sz="2400" b="1" kern="1200" baseline="-25000" dirty="0">
                  <a:solidFill>
                    <a:srgbClr val="000066"/>
                  </a:solidFill>
                  <a:latin typeface="Arial" panose="020B0604020202020204" pitchFamily="34" charset="0"/>
                  <a:ea typeface="楷体_GB2312" pitchFamily="49" charset="-122"/>
                </a:rPr>
                <a:t>2</a:t>
              </a:r>
              <a:r>
                <a:rPr lang="zh-CN" altLang="en-US" sz="2400" b="1" kern="1200" dirty="0">
                  <a:solidFill>
                    <a:srgbClr val="000066"/>
                  </a:solidFill>
                  <a:latin typeface="Arial" panose="020B0604020202020204" pitchFamily="34" charset="0"/>
                  <a:ea typeface="楷体_GB2312" pitchFamily="49" charset="-122"/>
                </a:rPr>
                <a:t>导通，T</a:t>
              </a:r>
              <a:r>
                <a:rPr lang="zh-CN" altLang="en-US" sz="2400" b="1" kern="1200" baseline="-25000" dirty="0">
                  <a:solidFill>
                    <a:srgbClr val="000066"/>
                  </a:solidFill>
                  <a:latin typeface="Arial" panose="020B0604020202020204" pitchFamily="34" charset="0"/>
                  <a:ea typeface="楷体_GB2312" pitchFamily="49" charset="-122"/>
                </a:rPr>
                <a:t>3</a:t>
              </a:r>
              <a:r>
                <a:rPr lang="zh-CN" altLang="en-US" sz="2400" b="1" kern="1200" dirty="0">
                  <a:solidFill>
                    <a:srgbClr val="000066"/>
                  </a:solidFill>
                  <a:latin typeface="Arial" panose="020B0604020202020204" pitchFamily="34" charset="0"/>
                  <a:ea typeface="楷体_GB2312" pitchFamily="49" charset="-122"/>
                </a:rPr>
                <a:t>截止。T</a:t>
              </a:r>
              <a:r>
                <a:rPr lang="zh-CN" altLang="en-US" sz="2400" b="1" kern="1200" baseline="-25000" dirty="0">
                  <a:solidFill>
                    <a:srgbClr val="000066"/>
                  </a:solidFill>
                  <a:latin typeface="Arial" panose="020B0604020202020204" pitchFamily="34" charset="0"/>
                  <a:ea typeface="楷体_GB2312" pitchFamily="49" charset="-122"/>
                </a:rPr>
                <a:t>2</a:t>
              </a:r>
              <a:r>
                <a:rPr lang="zh-CN" altLang="en-US" sz="2400" b="1" kern="1200" dirty="0">
                  <a:solidFill>
                    <a:srgbClr val="000066"/>
                  </a:solidFill>
                  <a:latin typeface="Arial" panose="020B0604020202020204" pitchFamily="34" charset="0"/>
                  <a:ea typeface="楷体_GB2312" pitchFamily="49" charset="-122"/>
                </a:rPr>
                <a:t>工作在放大状态，T</a:t>
              </a:r>
              <a:r>
                <a:rPr lang="zh-CN" altLang="en-US" sz="2400" b="1" kern="1200" baseline="-25000" dirty="0">
                  <a:solidFill>
                    <a:srgbClr val="000066"/>
                  </a:solidFill>
                  <a:latin typeface="Arial" panose="020B0604020202020204" pitchFamily="34" charset="0"/>
                  <a:ea typeface="楷体_GB2312" pitchFamily="49" charset="-122"/>
                </a:rPr>
                <a:t>2</a:t>
              </a:r>
              <a:r>
                <a:rPr lang="zh-CN" altLang="en-US" sz="2400" b="1" kern="1200" dirty="0">
                  <a:solidFill>
                    <a:srgbClr val="000066"/>
                  </a:solidFill>
                  <a:latin typeface="Arial" panose="020B0604020202020204" pitchFamily="34" charset="0"/>
                  <a:ea typeface="楷体_GB2312" pitchFamily="49" charset="-122"/>
                </a:rPr>
                <a:t>集电极的电位随着</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的增加而降低，输出电压</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也随着降低，因而该段称为线性区。</a:t>
              </a:r>
              <a:endParaRPr lang="zh-CN" altLang="en-US" sz="2400" b="1" kern="1200" dirty="0">
                <a:solidFill>
                  <a:srgbClr val="000066"/>
                </a:solidFill>
                <a:latin typeface="Arial" panose="020B0604020202020204" pitchFamily="34" charset="0"/>
                <a:ea typeface="楷体_GB2312" pitchFamily="49" charset="-122"/>
              </a:endParaRPr>
            </a:p>
          </p:txBody>
        </p:sp>
        <p:graphicFrame>
          <p:nvGraphicFramePr>
            <p:cNvPr id="15" name="对象 14">
              <a:hlinkClick r:id="" action="ppaction://ole?verb="/>
            </p:cNvPr>
            <p:cNvGraphicFramePr>
              <a:graphicFrameLocks noChangeAspect="1"/>
            </p:cNvGraphicFramePr>
            <p:nvPr/>
          </p:nvGraphicFramePr>
          <p:xfrm>
            <a:off x="8476" y="6720"/>
            <a:ext cx="3268" cy="654"/>
          </p:xfrm>
          <a:graphic>
            <a:graphicData uri="http://schemas.openxmlformats.org/presentationml/2006/ole">
              <mc:AlternateContent xmlns:mc="http://schemas.openxmlformats.org/markup-compatibility/2006">
                <mc:Choice xmlns:v="urn:schemas-microsoft-com:vml" Requires="v">
                  <p:oleObj spid="_x0000_s16" name="" r:id="rId8" imgW="1079500" imgH="215900" progId="Equation.KSEE3">
                    <p:embed/>
                  </p:oleObj>
                </mc:Choice>
                <mc:Fallback>
                  <p:oleObj name="" r:id="rId8" imgW="1079500" imgH="215900" progId="Equation.KSEE3">
                    <p:embed/>
                    <p:pic>
                      <p:nvPicPr>
                        <p:cNvPr id="0" name="图片 1024"/>
                        <p:cNvPicPr/>
                        <p:nvPr/>
                      </p:nvPicPr>
                      <p:blipFill>
                        <a:blip r:embed="rId9"/>
                        <a:stretch>
                          <a:fillRect/>
                        </a:stretch>
                      </p:blipFill>
                      <p:spPr>
                        <a:xfrm>
                          <a:off x="8476" y="6720"/>
                          <a:ext cx="3268" cy="654"/>
                        </a:xfrm>
                        <a:prstGeom prst="rect">
                          <a:avLst/>
                        </a:prstGeom>
                      </p:spPr>
                    </p:pic>
                  </p:oleObj>
                </mc:Fallback>
              </mc:AlternateContent>
            </a:graphicData>
          </a:graphic>
        </p:graphicFrame>
        <p:graphicFrame>
          <p:nvGraphicFramePr>
            <p:cNvPr id="18" name="对象 17">
              <a:hlinkClick r:id="" action="ppaction://ole?verb="/>
            </p:cNvPr>
            <p:cNvGraphicFramePr>
              <a:graphicFrameLocks noChangeAspect="1"/>
            </p:cNvGraphicFramePr>
            <p:nvPr/>
          </p:nvGraphicFramePr>
          <p:xfrm>
            <a:off x="8640" y="8160"/>
            <a:ext cx="464" cy="606"/>
          </p:xfrm>
          <a:graphic>
            <a:graphicData uri="http://schemas.openxmlformats.org/presentationml/2006/ole">
              <mc:AlternateContent xmlns:mc="http://schemas.openxmlformats.org/markup-compatibility/2006">
                <mc:Choice xmlns:v="urn:schemas-microsoft-com:vml" Requires="v">
                  <p:oleObj spid="_x0000_s19" name="" r:id="rId10" imgW="165100" imgH="215900" progId="Equation.KSEE3">
                    <p:embed/>
                  </p:oleObj>
                </mc:Choice>
                <mc:Fallback>
                  <p:oleObj name="" r:id="rId10" imgW="165100" imgH="215900" progId="Equation.KSEE3">
                    <p:embed/>
                    <p:pic>
                      <p:nvPicPr>
                        <p:cNvPr id="0" name="图片 1024"/>
                        <p:cNvPicPr/>
                        <p:nvPr/>
                      </p:nvPicPr>
                      <p:blipFill>
                        <a:blip r:embed="rId3"/>
                        <a:stretch>
                          <a:fillRect/>
                        </a:stretch>
                      </p:blipFill>
                      <p:spPr>
                        <a:xfrm>
                          <a:off x="8640" y="8160"/>
                          <a:ext cx="464" cy="606"/>
                        </a:xfrm>
                        <a:prstGeom prst="rect">
                          <a:avLst/>
                        </a:prstGeom>
                      </p:spPr>
                    </p:pic>
                  </p:oleObj>
                </mc:Fallback>
              </mc:AlternateContent>
            </a:graphicData>
          </a:graphic>
        </p:graphicFrame>
        <p:graphicFrame>
          <p:nvGraphicFramePr>
            <p:cNvPr id="20" name="对象 19">
              <a:hlinkClick r:id="" action="ppaction://ole?verb="/>
            </p:cNvPr>
            <p:cNvGraphicFramePr>
              <a:graphicFrameLocks noChangeAspect="1"/>
            </p:cNvGraphicFramePr>
            <p:nvPr/>
          </p:nvGraphicFramePr>
          <p:xfrm>
            <a:off x="6786" y="8742"/>
            <a:ext cx="572" cy="642"/>
          </p:xfrm>
          <a:graphic>
            <a:graphicData uri="http://schemas.openxmlformats.org/presentationml/2006/ole">
              <mc:AlternateContent xmlns:mc="http://schemas.openxmlformats.org/markup-compatibility/2006">
                <mc:Choice xmlns:v="urn:schemas-microsoft-com:vml" Requires="v">
                  <p:oleObj spid="_x0000_s21" name="" r:id="rId11" imgW="203200" imgH="228600" progId="Equation.KSEE3">
                    <p:embed/>
                  </p:oleObj>
                </mc:Choice>
                <mc:Fallback>
                  <p:oleObj name="" r:id="rId11" imgW="203200" imgH="228600" progId="Equation.KSEE3">
                    <p:embed/>
                    <p:pic>
                      <p:nvPicPr>
                        <p:cNvPr id="0" name="图片 1024"/>
                        <p:cNvPicPr/>
                        <p:nvPr/>
                      </p:nvPicPr>
                      <p:blipFill>
                        <a:blip r:embed="rId12"/>
                        <a:stretch>
                          <a:fillRect/>
                        </a:stretch>
                      </p:blipFill>
                      <p:spPr>
                        <a:xfrm>
                          <a:off x="6786" y="8742"/>
                          <a:ext cx="572" cy="642"/>
                        </a:xfrm>
                        <a:prstGeom prst="rect">
                          <a:avLst/>
                        </a:prstGeom>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500" fill="hold">
                                          <p:stCondLst>
                                            <p:cond delay="0"/>
                                          </p:stCondLst>
                                        </p:cTn>
                                        <p:tgtEl>
                                          <p:spTgt spid="4"/>
                                        </p:tgtEl>
                                        <p:attrNameLst>
                                          <p:attrName>style.visibility</p:attrName>
                                        </p:attrNameLst>
                                      </p:cBhvr>
                                      <p:to>
                                        <p:strVal val="visible"/>
                                      </p:to>
                                    </p:set>
                                    <p:animEffect transition="in" filter="circle(i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58" presetClass="entr" presetSubtype="0" accel="10000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 calcmode="lin" valueType="num">
                                      <p:cBhvr>
                                        <p:cTn id="12" dur="500" fill="hold"/>
                                        <p:tgtEl>
                                          <p:spTgt spid="23"/>
                                        </p:tgtEl>
                                        <p:attrNameLst>
                                          <p:attrName>ppt_w</p:attrName>
                                        </p:attrNameLst>
                                      </p:cBhvr>
                                      <p:tavLst>
                                        <p:tav tm="0">
                                          <p:val>
                                            <p:strVal val="#ppt_w*2.5"/>
                                          </p:val>
                                        </p:tav>
                                        <p:tav tm="100000">
                                          <p:val>
                                            <p:strVal val="#ppt_w"/>
                                          </p:val>
                                        </p:tav>
                                      </p:tavLst>
                                    </p:anim>
                                    <p:anim calcmode="lin" valueType="num">
                                      <p:cBhvr>
                                        <p:cTn id="13" dur="500" fill="hold"/>
                                        <p:tgtEl>
                                          <p:spTgt spid="23"/>
                                        </p:tgtEl>
                                        <p:attrNameLst>
                                          <p:attrName>ppt_h</p:attrName>
                                        </p:attrNameLst>
                                      </p:cBhvr>
                                      <p:tavLst>
                                        <p:tav tm="0">
                                          <p:val>
                                            <p:strVal val="#ppt_h*0.01"/>
                                          </p:val>
                                        </p:tav>
                                        <p:tav tm="100000">
                                          <p:val>
                                            <p:strVal val="#ppt_h"/>
                                          </p:val>
                                        </p:tav>
                                      </p:tavLst>
                                    </p:anim>
                                    <p:anim calcmode="lin" valueType="num">
                                      <p:cBhvr>
                                        <p:cTn id="14" dur="500" fill="hold"/>
                                        <p:tgtEl>
                                          <p:spTgt spid="23"/>
                                        </p:tgtEl>
                                        <p:attrNameLst>
                                          <p:attrName>ppt_x</p:attrName>
                                        </p:attrNameLst>
                                      </p:cBhvr>
                                      <p:tavLst>
                                        <p:tav tm="0">
                                          <p:val>
                                            <p:strVal val="#ppt_x"/>
                                          </p:val>
                                        </p:tav>
                                        <p:tav tm="100000">
                                          <p:val>
                                            <p:strVal val="#ppt_x"/>
                                          </p:val>
                                        </p:tav>
                                      </p:tavLst>
                                    </p:anim>
                                    <p:anim calcmode="lin" valueType="num">
                                      <p:cBhvr>
                                        <p:cTn id="15" dur="500" fill="hold"/>
                                        <p:tgtEl>
                                          <p:spTgt spid="23"/>
                                        </p:tgtEl>
                                        <p:attrNameLst>
                                          <p:attrName>ppt_y</p:attrName>
                                        </p:attrNameLst>
                                      </p:cBhvr>
                                      <p:tavLst>
                                        <p:tav tm="0">
                                          <p:val>
                                            <p:strVal val="#ppt_h+1"/>
                                          </p:val>
                                        </p:tav>
                                        <p:tav tm="100000">
                                          <p:val>
                                            <p:strVal val="#ppt_y"/>
                                          </p:val>
                                        </p:tav>
                                      </p:tavLst>
                                    </p:anim>
                                    <p:animEffect transition="in" filter="fade">
                                      <p:cBhvr>
                                        <p:cTn id="1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文本框 10"/>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3.2 TTL</a:t>
            </a:r>
            <a:r>
              <a:rPr lang="zh-CN" altLang="en-US" b="1" dirty="0">
                <a:solidFill>
                  <a:srgbClr val="FF0000"/>
                </a:solidFill>
                <a:latin typeface="黑体" panose="02010609060101010101" pitchFamily="49" charset="-122"/>
                <a:ea typeface="黑体" panose="02010609060101010101" pitchFamily="49" charset="-122"/>
              </a:rPr>
              <a:t>逻辑门电路</a:t>
            </a:r>
            <a:endParaRPr lang="zh-CN" altLang="en-US" b="1" dirty="0">
              <a:solidFill>
                <a:srgbClr val="FF0000"/>
              </a:solidFill>
              <a:latin typeface="黑体" panose="02010609060101010101" pitchFamily="49" charset="-122"/>
              <a:ea typeface="黑体" panose="02010609060101010101" pitchFamily="49" charset="-122"/>
            </a:endParaRPr>
          </a:p>
        </p:txBody>
      </p:sp>
      <p:grpSp>
        <p:nvGrpSpPr>
          <p:cNvPr id="27" name="组合 26"/>
          <p:cNvGrpSpPr/>
          <p:nvPr/>
        </p:nvGrpSpPr>
        <p:grpSpPr>
          <a:xfrm>
            <a:off x="5657850" y="3505200"/>
            <a:ext cx="3219450" cy="3162300"/>
            <a:chOff x="8910" y="5520"/>
            <a:chExt cx="5070" cy="4980"/>
          </a:xfrm>
        </p:grpSpPr>
        <p:sp>
          <p:nvSpPr>
            <p:cNvPr id="100" name="文本框 99"/>
            <p:cNvSpPr txBox="1"/>
            <p:nvPr/>
          </p:nvSpPr>
          <p:spPr>
            <a:xfrm>
              <a:off x="9600" y="9970"/>
              <a:ext cx="3808"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图3-14 TTL与非门电路</a:t>
              </a:r>
              <a:endParaRPr sz="1600">
                <a:latin typeface="Times New Roman" panose="02020603050405020304" charset="0"/>
                <a:ea typeface="宋体" panose="02010600030101010101" pitchFamily="2" charset="-122"/>
              </a:endParaRPr>
            </a:p>
          </p:txBody>
        </p:sp>
        <p:pic>
          <p:nvPicPr>
            <p:cNvPr id="9240" name="图片 2677"/>
            <p:cNvPicPr>
              <a:picLocks noChangeAspect="1"/>
            </p:cNvPicPr>
            <p:nvPr/>
          </p:nvPicPr>
          <p:blipFill>
            <a:blip r:embed="rId1"/>
            <a:stretch>
              <a:fillRect/>
            </a:stretch>
          </p:blipFill>
          <p:spPr>
            <a:xfrm>
              <a:off x="8910" y="5520"/>
              <a:ext cx="5070" cy="4440"/>
            </a:xfrm>
            <a:prstGeom prst="rect">
              <a:avLst/>
            </a:prstGeom>
            <a:noFill/>
            <a:ln>
              <a:noFill/>
            </a:ln>
          </p:spPr>
        </p:pic>
      </p:grpSp>
      <p:grpSp>
        <p:nvGrpSpPr>
          <p:cNvPr id="26" name="组合 25"/>
          <p:cNvGrpSpPr/>
          <p:nvPr/>
        </p:nvGrpSpPr>
        <p:grpSpPr>
          <a:xfrm>
            <a:off x="533400" y="4267200"/>
            <a:ext cx="4629150" cy="1478280"/>
            <a:chOff x="840" y="6720"/>
            <a:chExt cx="7290" cy="2328"/>
          </a:xfrm>
        </p:grpSpPr>
        <p:sp>
          <p:nvSpPr>
            <p:cNvPr id="10" name="Rectangle 3"/>
            <p:cNvSpPr>
              <a:spLocks noGrp="1"/>
            </p:cNvSpPr>
            <p:nvPr/>
          </p:nvSpPr>
          <p:spPr>
            <a:xfrm>
              <a:off x="840" y="6720"/>
              <a:ext cx="7291" cy="2329"/>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在DE段，即使输入电压</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继续增加，输出电压</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不再改变，该段称为饱和区。</a:t>
              </a:r>
              <a:endParaRPr sz="2400" b="1" kern="1200" dirty="0">
                <a:solidFill>
                  <a:srgbClr val="000066"/>
                </a:solidFill>
                <a:latin typeface="Arial" panose="020B0604020202020204" pitchFamily="34" charset="0"/>
                <a:ea typeface="楷体_GB2312" pitchFamily="49" charset="-122"/>
              </a:endParaRPr>
            </a:p>
          </p:txBody>
        </p:sp>
        <p:graphicFrame>
          <p:nvGraphicFramePr>
            <p:cNvPr id="15" name="对象 14">
              <a:hlinkClick r:id="" action="ppaction://ole?verb="/>
            </p:cNvPr>
            <p:cNvGraphicFramePr>
              <a:graphicFrameLocks noChangeAspect="1"/>
            </p:cNvGraphicFramePr>
            <p:nvPr/>
          </p:nvGraphicFramePr>
          <p:xfrm>
            <a:off x="6960" y="6764"/>
            <a:ext cx="500" cy="654"/>
          </p:xfrm>
          <a:graphic>
            <a:graphicData uri="http://schemas.openxmlformats.org/presentationml/2006/ole">
              <mc:AlternateContent xmlns:mc="http://schemas.openxmlformats.org/markup-compatibility/2006">
                <mc:Choice xmlns:v="urn:schemas-microsoft-com:vml" Requires="v">
                  <p:oleObj spid="_x0000_s16" name="" r:id="rId2" imgW="165100" imgH="215900" progId="Equation.KSEE3">
                    <p:embed/>
                  </p:oleObj>
                </mc:Choice>
                <mc:Fallback>
                  <p:oleObj name="" r:id="rId2" imgW="165100" imgH="215900" progId="Equation.KSEE3">
                    <p:embed/>
                    <p:pic>
                      <p:nvPicPr>
                        <p:cNvPr id="0" name="图片 1024"/>
                        <p:cNvPicPr/>
                        <p:nvPr/>
                      </p:nvPicPr>
                      <p:blipFill>
                        <a:blip r:embed="rId3"/>
                        <a:stretch>
                          <a:fillRect/>
                        </a:stretch>
                      </p:blipFill>
                      <p:spPr>
                        <a:xfrm>
                          <a:off x="6960" y="6764"/>
                          <a:ext cx="500" cy="654"/>
                        </a:xfrm>
                        <a:prstGeom prst="rect">
                          <a:avLst/>
                        </a:prstGeom>
                      </p:spPr>
                    </p:pic>
                  </p:oleObj>
                </mc:Fallback>
              </mc:AlternateContent>
            </a:graphicData>
          </a:graphic>
        </p:graphicFrame>
        <p:graphicFrame>
          <p:nvGraphicFramePr>
            <p:cNvPr id="8" name="对象 7">
              <a:hlinkClick r:id="" action="ppaction://ole?verb="/>
            </p:cNvPr>
            <p:cNvGraphicFramePr>
              <a:graphicFrameLocks noChangeAspect="1"/>
            </p:cNvGraphicFramePr>
            <p:nvPr/>
          </p:nvGraphicFramePr>
          <p:xfrm>
            <a:off x="4920" y="7506"/>
            <a:ext cx="498" cy="642"/>
          </p:xfrm>
          <a:graphic>
            <a:graphicData uri="http://schemas.openxmlformats.org/presentationml/2006/ole">
              <mc:AlternateContent xmlns:mc="http://schemas.openxmlformats.org/markup-compatibility/2006">
                <mc:Choice xmlns:v="urn:schemas-microsoft-com:vml" Requires="v">
                  <p:oleObj spid="_x0000_s12" name="" r:id="rId4" imgW="177165" imgH="228600" progId="Equation.KSEE3">
                    <p:embed/>
                  </p:oleObj>
                </mc:Choice>
                <mc:Fallback>
                  <p:oleObj name="" r:id="rId4" imgW="177165" imgH="228600" progId="Equation.KSEE3">
                    <p:embed/>
                    <p:pic>
                      <p:nvPicPr>
                        <p:cNvPr id="0" name="图片 1024"/>
                        <p:cNvPicPr/>
                        <p:nvPr/>
                      </p:nvPicPr>
                      <p:blipFill>
                        <a:blip r:embed="rId5"/>
                        <a:stretch>
                          <a:fillRect/>
                        </a:stretch>
                      </p:blipFill>
                      <p:spPr>
                        <a:xfrm>
                          <a:off x="4920" y="7506"/>
                          <a:ext cx="498" cy="642"/>
                        </a:xfrm>
                        <a:prstGeom prst="rect">
                          <a:avLst/>
                        </a:prstGeom>
                      </p:spPr>
                    </p:pic>
                  </p:oleObj>
                </mc:Fallback>
              </mc:AlternateContent>
            </a:graphicData>
          </a:graphic>
        </p:graphicFrame>
      </p:grpSp>
      <p:grpSp>
        <p:nvGrpSpPr>
          <p:cNvPr id="24" name="组合 23"/>
          <p:cNvGrpSpPr/>
          <p:nvPr/>
        </p:nvGrpSpPr>
        <p:grpSpPr>
          <a:xfrm>
            <a:off x="457200" y="1295400"/>
            <a:ext cx="8223250" cy="2656840"/>
            <a:chOff x="720" y="2040"/>
            <a:chExt cx="12950" cy="4184"/>
          </a:xfrm>
        </p:grpSpPr>
        <p:sp>
          <p:nvSpPr>
            <p:cNvPr id="3" name="Rectangle 3"/>
            <p:cNvSpPr>
              <a:spLocks noGrp="1"/>
            </p:cNvSpPr>
            <p:nvPr/>
          </p:nvSpPr>
          <p:spPr>
            <a:xfrm>
              <a:off x="720" y="2040"/>
              <a:ext cx="12951" cy="418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hangingPunct="1">
                <a:lnSpc>
                  <a:spcPct val="11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dirty="0">
                  <a:solidFill>
                    <a:srgbClr val="000066"/>
                  </a:solidFill>
                  <a:latin typeface="Arial" panose="020B0604020202020204" pitchFamily="34" charset="0"/>
                  <a:ea typeface="楷体_GB2312" pitchFamily="49" charset="-122"/>
                </a:rPr>
                <a:t>在CD段，输入电压</a:t>
              </a:r>
              <a:r>
                <a:rPr lang="en-US" altLang="zh-CN" sz="2400" b="1" dirty="0">
                  <a:solidFill>
                    <a:srgbClr val="000066"/>
                  </a:solidFill>
                  <a:latin typeface="Arial" panose="020B0604020202020204" pitchFamily="34" charset="0"/>
                  <a:ea typeface="楷体_GB2312" pitchFamily="49" charset="-122"/>
                </a:rPr>
                <a:t>    </a:t>
              </a:r>
              <a:r>
                <a:rPr lang="zh-CN" altLang="en-US" sz="2400" b="1" dirty="0">
                  <a:solidFill>
                    <a:srgbClr val="000066"/>
                  </a:solidFill>
                  <a:latin typeface="Arial" panose="020B0604020202020204" pitchFamily="34" charset="0"/>
                  <a:ea typeface="楷体_GB2312" pitchFamily="49" charset="-122"/>
                </a:rPr>
                <a:t>达到1.4V时，T</a:t>
              </a:r>
              <a:r>
                <a:rPr lang="zh-CN" altLang="en-US" sz="2400" b="1" baseline="-25000" dirty="0">
                  <a:solidFill>
                    <a:srgbClr val="000066"/>
                  </a:solidFill>
                  <a:latin typeface="Arial" panose="020B0604020202020204" pitchFamily="34" charset="0"/>
                  <a:ea typeface="楷体_GB2312" pitchFamily="49" charset="-122"/>
                </a:rPr>
                <a:t>3</a:t>
              </a:r>
              <a:r>
                <a:rPr lang="zh-CN" altLang="en-US" sz="2400" b="1" dirty="0">
                  <a:solidFill>
                    <a:srgbClr val="000066"/>
                  </a:solidFill>
                  <a:latin typeface="Arial" panose="020B0604020202020204" pitchFamily="34" charset="0"/>
                  <a:ea typeface="楷体_GB2312" pitchFamily="49" charset="-122"/>
                </a:rPr>
                <a:t>由截止变为导通，输出电压</a:t>
              </a:r>
              <a:r>
                <a:rPr lang="en-US" altLang="zh-CN" sz="2400" b="1" dirty="0">
                  <a:solidFill>
                    <a:srgbClr val="000066"/>
                  </a:solidFill>
                  <a:latin typeface="Arial" panose="020B0604020202020204" pitchFamily="34" charset="0"/>
                  <a:ea typeface="楷体_GB2312" pitchFamily="49" charset="-122"/>
                </a:rPr>
                <a:t>     </a:t>
              </a:r>
              <a:r>
                <a:rPr lang="zh-CN" altLang="en-US" sz="2400" b="1" dirty="0">
                  <a:solidFill>
                    <a:srgbClr val="000066"/>
                  </a:solidFill>
                  <a:latin typeface="Arial" panose="020B0604020202020204" pitchFamily="34" charset="0"/>
                  <a:ea typeface="楷体_GB2312" pitchFamily="49" charset="-122"/>
                </a:rPr>
                <a:t>也随着急剧降低，该段称为转折区，对应的输入电压值称为阈值电压或门槛电压，用</a:t>
              </a:r>
              <a:r>
                <a:rPr lang="zh-CN" altLang="en-US" sz="2400" b="1" i="1" dirty="0">
                  <a:solidFill>
                    <a:srgbClr val="000066"/>
                  </a:solidFill>
                  <a:latin typeface="Arial" panose="020B0604020202020204" pitchFamily="34" charset="0"/>
                  <a:ea typeface="楷体_GB2312" pitchFamily="49" charset="-122"/>
                </a:rPr>
                <a:t>V</a:t>
              </a:r>
              <a:r>
                <a:rPr lang="zh-CN" altLang="en-US" sz="2400" b="1" baseline="-25000" dirty="0">
                  <a:solidFill>
                    <a:srgbClr val="000066"/>
                  </a:solidFill>
                  <a:latin typeface="Arial" panose="020B0604020202020204" pitchFamily="34" charset="0"/>
                  <a:ea typeface="楷体_GB2312" pitchFamily="49" charset="-122"/>
                </a:rPr>
                <a:t>TH</a:t>
              </a:r>
              <a:r>
                <a:rPr lang="zh-CN" altLang="en-US" sz="2400" b="1" dirty="0">
                  <a:solidFill>
                    <a:srgbClr val="000066"/>
                  </a:solidFill>
                  <a:latin typeface="Arial" panose="020B0604020202020204" pitchFamily="34" charset="0"/>
                  <a:ea typeface="楷体_GB2312" pitchFamily="49" charset="-122"/>
                </a:rPr>
                <a:t>表示。在近似分析时，可以认为与非门的输入电压</a:t>
              </a:r>
              <a:r>
                <a:rPr lang="en-US" altLang="zh-CN" sz="2400" b="1" dirty="0">
                  <a:solidFill>
                    <a:srgbClr val="000066"/>
                  </a:solidFill>
                  <a:latin typeface="Arial" panose="020B0604020202020204" pitchFamily="34" charset="0"/>
                  <a:ea typeface="楷体_GB2312" pitchFamily="49" charset="-122"/>
                </a:rPr>
                <a:t>    </a:t>
              </a:r>
              <a:r>
                <a:rPr lang="zh-CN" altLang="en-US" sz="2400" b="1" dirty="0">
                  <a:solidFill>
                    <a:srgbClr val="000066"/>
                  </a:solidFill>
                  <a:latin typeface="Arial" panose="020B0604020202020204" pitchFamily="34" charset="0"/>
                  <a:ea typeface="楷体_GB2312" pitchFamily="49" charset="-122"/>
                </a:rPr>
                <a:t>从低电平增加到</a:t>
              </a:r>
              <a:r>
                <a:rPr lang="zh-CN" altLang="en-US" sz="2400" b="1" i="1" dirty="0">
                  <a:solidFill>
                    <a:srgbClr val="000066"/>
                  </a:solidFill>
                  <a:latin typeface="Arial" panose="020B0604020202020204" pitchFamily="34" charset="0"/>
                  <a:ea typeface="楷体_GB2312" pitchFamily="49" charset="-122"/>
                </a:rPr>
                <a:t>V</a:t>
              </a:r>
              <a:r>
                <a:rPr lang="zh-CN" altLang="en-US" sz="2400" b="1" baseline="-25000" dirty="0">
                  <a:solidFill>
                    <a:srgbClr val="000066"/>
                  </a:solidFill>
                  <a:latin typeface="Arial" panose="020B0604020202020204" pitchFamily="34" charset="0"/>
                  <a:ea typeface="楷体_GB2312" pitchFamily="49" charset="-122"/>
                </a:rPr>
                <a:t>TH</a:t>
              </a:r>
              <a:r>
                <a:rPr lang="zh-CN" altLang="en-US" sz="2400" b="1" dirty="0">
                  <a:solidFill>
                    <a:srgbClr val="000066"/>
                  </a:solidFill>
                  <a:latin typeface="Arial" panose="020B0604020202020204" pitchFamily="34" charset="0"/>
                  <a:ea typeface="楷体_GB2312" pitchFamily="49" charset="-122"/>
                </a:rPr>
                <a:t>时，输出由高电平变为低电平，或者输入电压</a:t>
              </a:r>
              <a:r>
                <a:rPr lang="en-US" altLang="zh-CN" sz="2400" b="1" dirty="0">
                  <a:solidFill>
                    <a:srgbClr val="000066"/>
                  </a:solidFill>
                  <a:latin typeface="Arial" panose="020B0604020202020204" pitchFamily="34" charset="0"/>
                  <a:ea typeface="楷体_GB2312" pitchFamily="49" charset="-122"/>
                </a:rPr>
                <a:t>    </a:t>
              </a:r>
              <a:r>
                <a:rPr lang="zh-CN" altLang="en-US" sz="2400" b="1" dirty="0">
                  <a:solidFill>
                    <a:srgbClr val="000066"/>
                  </a:solidFill>
                  <a:latin typeface="Arial" panose="020B0604020202020204" pitchFamily="34" charset="0"/>
                  <a:ea typeface="楷体_GB2312" pitchFamily="49" charset="-122"/>
                </a:rPr>
                <a:t>从高电平下降到</a:t>
              </a:r>
              <a:r>
                <a:rPr lang="zh-CN" altLang="en-US" sz="2400" b="1" i="1" dirty="0">
                  <a:solidFill>
                    <a:srgbClr val="000066"/>
                  </a:solidFill>
                  <a:latin typeface="Arial" panose="020B0604020202020204" pitchFamily="34" charset="0"/>
                  <a:ea typeface="楷体_GB2312" pitchFamily="49" charset="-122"/>
                </a:rPr>
                <a:t>V</a:t>
              </a:r>
              <a:r>
                <a:rPr lang="zh-CN" altLang="en-US" sz="2400" b="1" baseline="-25000" dirty="0">
                  <a:solidFill>
                    <a:srgbClr val="000066"/>
                  </a:solidFill>
                  <a:latin typeface="Arial" panose="020B0604020202020204" pitchFamily="34" charset="0"/>
                  <a:ea typeface="楷体_GB2312" pitchFamily="49" charset="-122"/>
                </a:rPr>
                <a:t>TH</a:t>
              </a:r>
              <a:r>
                <a:rPr lang="zh-CN" altLang="en-US" sz="2400" b="1" dirty="0">
                  <a:solidFill>
                    <a:srgbClr val="000066"/>
                  </a:solidFill>
                  <a:latin typeface="Arial" panose="020B0604020202020204" pitchFamily="34" charset="0"/>
                  <a:ea typeface="楷体_GB2312" pitchFamily="49" charset="-122"/>
                </a:rPr>
                <a:t>时，输出由低电平变为高电平。</a:t>
              </a:r>
              <a:endParaRPr lang="zh-CN" altLang="en-US" sz="2400" b="1" dirty="0">
                <a:solidFill>
                  <a:srgbClr val="000066"/>
                </a:solidFill>
                <a:latin typeface="Arial" panose="020B0604020202020204" pitchFamily="34" charset="0"/>
                <a:ea typeface="楷体_GB2312" pitchFamily="49" charset="-122"/>
              </a:endParaRPr>
            </a:p>
          </p:txBody>
        </p:sp>
        <p:graphicFrame>
          <p:nvGraphicFramePr>
            <p:cNvPr id="18" name="对象 17">
              <a:hlinkClick r:id="" action="ppaction://ole?verb="/>
            </p:cNvPr>
            <p:cNvGraphicFramePr>
              <a:graphicFrameLocks noChangeAspect="1"/>
            </p:cNvGraphicFramePr>
            <p:nvPr/>
          </p:nvGraphicFramePr>
          <p:xfrm>
            <a:off x="5880" y="2160"/>
            <a:ext cx="464" cy="606"/>
          </p:xfrm>
          <a:graphic>
            <a:graphicData uri="http://schemas.openxmlformats.org/presentationml/2006/ole">
              <mc:AlternateContent xmlns:mc="http://schemas.openxmlformats.org/markup-compatibility/2006">
                <mc:Choice xmlns:v="urn:schemas-microsoft-com:vml" Requires="v">
                  <p:oleObj spid="_x0000_s19" name="" r:id="rId6" imgW="165100" imgH="215900" progId="Equation.KSEE3">
                    <p:embed/>
                  </p:oleObj>
                </mc:Choice>
                <mc:Fallback>
                  <p:oleObj name="" r:id="rId6" imgW="165100" imgH="215900" progId="Equation.KSEE3">
                    <p:embed/>
                    <p:pic>
                      <p:nvPicPr>
                        <p:cNvPr id="0" name="图片 1024"/>
                        <p:cNvPicPr/>
                        <p:nvPr/>
                      </p:nvPicPr>
                      <p:blipFill>
                        <a:blip r:embed="rId7"/>
                        <a:stretch>
                          <a:fillRect/>
                        </a:stretch>
                      </p:blipFill>
                      <p:spPr>
                        <a:xfrm>
                          <a:off x="5880" y="2160"/>
                          <a:ext cx="464" cy="606"/>
                        </a:xfrm>
                        <a:prstGeom prst="rect">
                          <a:avLst/>
                        </a:prstGeom>
                      </p:spPr>
                    </p:pic>
                  </p:oleObj>
                </mc:Fallback>
              </mc:AlternateContent>
            </a:graphicData>
          </a:graphic>
        </p:graphicFrame>
        <p:graphicFrame>
          <p:nvGraphicFramePr>
            <p:cNvPr id="20" name="对象 19">
              <a:hlinkClick r:id="" action="ppaction://ole?verb="/>
            </p:cNvPr>
            <p:cNvGraphicFramePr>
              <a:graphicFrameLocks noChangeAspect="1"/>
            </p:cNvGraphicFramePr>
            <p:nvPr/>
          </p:nvGraphicFramePr>
          <p:xfrm>
            <a:off x="2870" y="2760"/>
            <a:ext cx="498" cy="642"/>
          </p:xfrm>
          <a:graphic>
            <a:graphicData uri="http://schemas.openxmlformats.org/presentationml/2006/ole">
              <mc:AlternateContent xmlns:mc="http://schemas.openxmlformats.org/markup-compatibility/2006">
                <mc:Choice xmlns:v="urn:schemas-microsoft-com:vml" Requires="v">
                  <p:oleObj spid="_x0000_s21" name="" r:id="rId8" imgW="177165" imgH="228600" progId="Equation.KSEE3">
                    <p:embed/>
                  </p:oleObj>
                </mc:Choice>
                <mc:Fallback>
                  <p:oleObj name="" r:id="rId8" imgW="177165" imgH="228600" progId="Equation.KSEE3">
                    <p:embed/>
                    <p:pic>
                      <p:nvPicPr>
                        <p:cNvPr id="0" name="图片 1024"/>
                        <p:cNvPicPr/>
                        <p:nvPr/>
                      </p:nvPicPr>
                      <p:blipFill>
                        <a:blip r:embed="rId9"/>
                        <a:stretch>
                          <a:fillRect/>
                        </a:stretch>
                      </p:blipFill>
                      <p:spPr>
                        <a:xfrm>
                          <a:off x="2870" y="2760"/>
                          <a:ext cx="498" cy="642"/>
                        </a:xfrm>
                        <a:prstGeom prst="rect">
                          <a:avLst/>
                        </a:prstGeom>
                      </p:spPr>
                    </p:pic>
                  </p:oleObj>
                </mc:Fallback>
              </mc:AlternateContent>
            </a:graphicData>
          </a:graphic>
        </p:graphicFrame>
        <p:graphicFrame>
          <p:nvGraphicFramePr>
            <p:cNvPr id="4" name="对象 3">
              <a:hlinkClick r:id="" action="ppaction://ole?verb="/>
            </p:cNvPr>
            <p:cNvGraphicFramePr>
              <a:graphicFrameLocks noChangeAspect="1"/>
            </p:cNvGraphicFramePr>
            <p:nvPr/>
          </p:nvGraphicFramePr>
          <p:xfrm>
            <a:off x="8062" y="4178"/>
            <a:ext cx="464" cy="606"/>
          </p:xfrm>
          <a:graphic>
            <a:graphicData uri="http://schemas.openxmlformats.org/presentationml/2006/ole">
              <mc:AlternateContent xmlns:mc="http://schemas.openxmlformats.org/markup-compatibility/2006">
                <mc:Choice xmlns:v="urn:schemas-microsoft-com:vml" Requires="v">
                  <p:oleObj spid="_x0000_s9" name="" r:id="rId10" imgW="165100" imgH="215900" progId="Equation.KSEE3">
                    <p:embed/>
                  </p:oleObj>
                </mc:Choice>
                <mc:Fallback>
                  <p:oleObj name="" r:id="rId10" imgW="165100" imgH="215900" progId="Equation.KSEE3">
                    <p:embed/>
                    <p:pic>
                      <p:nvPicPr>
                        <p:cNvPr id="0" name="图片 1024"/>
                        <p:cNvPicPr/>
                        <p:nvPr/>
                      </p:nvPicPr>
                      <p:blipFill>
                        <a:blip r:embed="rId7"/>
                        <a:stretch>
                          <a:fillRect/>
                        </a:stretch>
                      </p:blipFill>
                      <p:spPr>
                        <a:xfrm>
                          <a:off x="8062" y="4178"/>
                          <a:ext cx="464" cy="606"/>
                        </a:xfrm>
                        <a:prstGeom prst="rect">
                          <a:avLst/>
                        </a:prstGeom>
                      </p:spPr>
                    </p:pic>
                  </p:oleObj>
                </mc:Fallback>
              </mc:AlternateContent>
            </a:graphicData>
          </a:graphic>
        </p:graphicFrame>
        <p:graphicFrame>
          <p:nvGraphicFramePr>
            <p:cNvPr id="13" name="对象 12">
              <a:hlinkClick r:id="" action="ppaction://ole?verb="/>
            </p:cNvPr>
            <p:cNvGraphicFramePr>
              <a:graphicFrameLocks noChangeAspect="1"/>
            </p:cNvGraphicFramePr>
            <p:nvPr/>
          </p:nvGraphicFramePr>
          <p:xfrm>
            <a:off x="9600" y="4800"/>
            <a:ext cx="464" cy="606"/>
          </p:xfrm>
          <a:graphic>
            <a:graphicData uri="http://schemas.openxmlformats.org/presentationml/2006/ole">
              <mc:AlternateContent xmlns:mc="http://schemas.openxmlformats.org/markup-compatibility/2006">
                <mc:Choice xmlns:v="urn:schemas-microsoft-com:vml" Requires="v">
                  <p:oleObj spid="_x0000_s17" name="" r:id="rId11" imgW="165100" imgH="215900" progId="Equation.KSEE3">
                    <p:embed/>
                  </p:oleObj>
                </mc:Choice>
                <mc:Fallback>
                  <p:oleObj name="" r:id="rId11" imgW="165100" imgH="215900" progId="Equation.KSEE3">
                    <p:embed/>
                    <p:pic>
                      <p:nvPicPr>
                        <p:cNvPr id="0" name="图片 1024"/>
                        <p:cNvPicPr/>
                        <p:nvPr/>
                      </p:nvPicPr>
                      <p:blipFill>
                        <a:blip r:embed="rId7"/>
                        <a:stretch>
                          <a:fillRect/>
                        </a:stretch>
                      </p:blipFill>
                      <p:spPr>
                        <a:xfrm>
                          <a:off x="9600" y="4800"/>
                          <a:ext cx="464" cy="606"/>
                        </a:xfrm>
                        <a:prstGeom prst="rect">
                          <a:avLst/>
                        </a:prstGeom>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文本框 10"/>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1226820" y="1101090"/>
            <a:ext cx="318897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4. 输入端噪声容限</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3" name="Rectangle 3"/>
          <p:cNvSpPr>
            <a:spLocks noGrp="1"/>
          </p:cNvSpPr>
          <p:nvPr/>
        </p:nvSpPr>
        <p:spPr>
          <a:xfrm>
            <a:off x="618490" y="1524000"/>
            <a:ext cx="7903210" cy="273558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dirty="0">
                <a:solidFill>
                  <a:srgbClr val="000066"/>
                </a:solidFill>
                <a:latin typeface="Arial" panose="020B0604020202020204" pitchFamily="34" charset="0"/>
                <a:ea typeface="楷体_GB2312" pitchFamily="49" charset="-122"/>
              </a:rPr>
              <a:t>从TTL与非门的电压传输特性可以看出，输入电压</a:t>
            </a:r>
            <a:endParaRPr lang="zh-CN" altLang="en-US" sz="2400" b="1"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zh-CN" altLang="en-US" sz="2400" b="1" dirty="0">
                <a:solidFill>
                  <a:srgbClr val="000066"/>
                </a:solidFill>
                <a:latin typeface="Arial" panose="020B0604020202020204" pitchFamily="34" charset="0"/>
                <a:ea typeface="楷体_GB2312" pitchFamily="49" charset="-122"/>
              </a:rPr>
              <a:t>在一定的低电平范围内波动时都能输出高电平，反之亦然。若有噪声电压叠加到输入电压</a:t>
            </a:r>
            <a:r>
              <a:rPr lang="en-US" altLang="zh-CN" sz="2400" b="1" dirty="0">
                <a:solidFill>
                  <a:srgbClr val="000066"/>
                </a:solidFill>
                <a:latin typeface="Arial" panose="020B0604020202020204" pitchFamily="34" charset="0"/>
                <a:ea typeface="楷体_GB2312" pitchFamily="49" charset="-122"/>
              </a:rPr>
              <a:t>   </a:t>
            </a:r>
            <a:r>
              <a:rPr lang="zh-CN" altLang="en-US" sz="2400" b="1" dirty="0">
                <a:solidFill>
                  <a:srgbClr val="000066"/>
                </a:solidFill>
                <a:latin typeface="Arial" panose="020B0604020202020204" pitchFamily="34" charset="0"/>
                <a:ea typeface="楷体_GB2312" pitchFamily="49" charset="-122"/>
              </a:rPr>
              <a:t>上时，输出逻辑状态仍保持之前的状态不变，则输入电压</a:t>
            </a:r>
            <a:r>
              <a:rPr lang="en-US" altLang="zh-CN" sz="2400" b="1" dirty="0">
                <a:solidFill>
                  <a:srgbClr val="000066"/>
                </a:solidFill>
                <a:latin typeface="Arial" panose="020B0604020202020204" pitchFamily="34" charset="0"/>
                <a:ea typeface="楷体_GB2312" pitchFamily="49" charset="-122"/>
              </a:rPr>
              <a:t>   </a:t>
            </a:r>
            <a:r>
              <a:rPr lang="zh-CN" altLang="en-US" sz="2400" b="1" dirty="0">
                <a:solidFill>
                  <a:srgbClr val="000066"/>
                </a:solidFill>
                <a:latin typeface="Arial" panose="020B0604020202020204" pitchFamily="34" charset="0"/>
                <a:ea typeface="楷体_GB2312" pitchFamily="49" charset="-122"/>
              </a:rPr>
              <a:t>所能叠加的最大噪声电压幅度称为输入端噪声容限。噪声容限反映了门电路的抗干扰能力，噪声容限越大，其抗干扰能力也越强。</a:t>
            </a:r>
            <a:endParaRPr lang="zh-CN" altLang="en-US" sz="2400" b="1"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3.2 TTL</a:t>
            </a:r>
            <a:r>
              <a:rPr lang="zh-CN" altLang="en-US" b="1" dirty="0">
                <a:solidFill>
                  <a:srgbClr val="FF0000"/>
                </a:solidFill>
                <a:latin typeface="黑体" panose="02010609060101010101" pitchFamily="49" charset="-122"/>
                <a:ea typeface="黑体" panose="02010609060101010101" pitchFamily="49" charset="-122"/>
              </a:rPr>
              <a:t>逻辑门电路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0" name="Rectangle 3"/>
          <p:cNvSpPr>
            <a:spLocks noGrp="1"/>
          </p:cNvSpPr>
          <p:nvPr/>
        </p:nvSpPr>
        <p:spPr>
          <a:xfrm>
            <a:off x="701040" y="4114800"/>
            <a:ext cx="7983855" cy="268732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实际电路中，通常有多个门电路连接在一起。这样，前一级门的输出就成了后一级门的输入。因此，噪声容限就是前一级门电路输出电平值为最坏的情况下，为保证后一级门电路正常工作所允许的最大噪声幅度。噪声容限</a:t>
            </a:r>
            <a:r>
              <a:rPr lang="zh-CN" sz="2400" b="1" kern="1200" dirty="0">
                <a:solidFill>
                  <a:srgbClr val="000066"/>
                </a:solidFill>
                <a:latin typeface="Arial" panose="020B0604020202020204" pitchFamily="34" charset="0"/>
                <a:ea typeface="楷体_GB2312" pitchFamily="49" charset="-122"/>
              </a:rPr>
              <a:t>有</a:t>
            </a:r>
            <a:r>
              <a:rPr sz="2400" b="1" kern="1200" dirty="0">
                <a:solidFill>
                  <a:srgbClr val="000066"/>
                </a:solidFill>
                <a:latin typeface="Arial" panose="020B0604020202020204" pitchFamily="34" charset="0"/>
                <a:ea typeface="楷体_GB2312" pitchFamily="49" charset="-122"/>
              </a:rPr>
              <a:t>输入高电平噪声容限和输入低电平噪声容限，如图3-17所示。</a:t>
            </a:r>
            <a:endParaRPr sz="2400" b="1" kern="1200" dirty="0">
              <a:solidFill>
                <a:srgbClr val="000066"/>
              </a:solidFill>
              <a:latin typeface="Arial" panose="020B0604020202020204" pitchFamily="34" charset="0"/>
              <a:ea typeface="楷体_GB2312" pitchFamily="49" charset="-122"/>
            </a:endParaRPr>
          </a:p>
        </p:txBody>
      </p:sp>
      <p:graphicFrame>
        <p:nvGraphicFramePr>
          <p:cNvPr id="18" name="对象 17">
            <a:hlinkClick r:id="" action="ppaction://ole?verb="/>
          </p:cNvPr>
          <p:cNvGraphicFramePr>
            <a:graphicFrameLocks noChangeAspect="1"/>
          </p:cNvGraphicFramePr>
          <p:nvPr/>
        </p:nvGraphicFramePr>
        <p:xfrm>
          <a:off x="7994650" y="1662430"/>
          <a:ext cx="294640" cy="384810"/>
        </p:xfrm>
        <a:graphic>
          <a:graphicData uri="http://schemas.openxmlformats.org/presentationml/2006/ole">
            <mc:AlternateContent xmlns:mc="http://schemas.openxmlformats.org/markup-compatibility/2006">
              <mc:Choice xmlns:v="urn:schemas-microsoft-com:vml" Requires="v">
                <p:oleObj spid="_x0000_s19" name="" r:id="rId1" imgW="165100" imgH="215900" progId="Equation.KSEE3">
                  <p:embed/>
                </p:oleObj>
              </mc:Choice>
              <mc:Fallback>
                <p:oleObj name="" r:id="rId1" imgW="165100" imgH="215900" progId="Equation.KSEE3">
                  <p:embed/>
                  <p:pic>
                    <p:nvPicPr>
                      <p:cNvPr id="0" name="图片 1024"/>
                      <p:cNvPicPr/>
                      <p:nvPr/>
                    </p:nvPicPr>
                    <p:blipFill>
                      <a:blip r:embed="rId2"/>
                      <a:stretch>
                        <a:fillRect/>
                      </a:stretch>
                    </p:blipFill>
                    <p:spPr>
                      <a:xfrm>
                        <a:off x="7994650" y="1662430"/>
                        <a:ext cx="294640" cy="384810"/>
                      </a:xfrm>
                      <a:prstGeom prst="rect">
                        <a:avLst/>
                      </a:prstGeom>
                    </p:spPr>
                  </p:pic>
                </p:oleObj>
              </mc:Fallback>
            </mc:AlternateContent>
          </a:graphicData>
        </a:graphic>
      </p:graphicFrame>
      <p:graphicFrame>
        <p:nvGraphicFramePr>
          <p:cNvPr id="4" name="对象 3">
            <a:hlinkClick r:id="" action="ppaction://ole?verb="/>
          </p:cNvPr>
          <p:cNvGraphicFramePr>
            <a:graphicFrameLocks noChangeAspect="1"/>
          </p:cNvGraphicFramePr>
          <p:nvPr/>
        </p:nvGraphicFramePr>
        <p:xfrm>
          <a:off x="5029200" y="2999740"/>
          <a:ext cx="294640" cy="384810"/>
        </p:xfrm>
        <a:graphic>
          <a:graphicData uri="http://schemas.openxmlformats.org/presentationml/2006/ole">
            <mc:AlternateContent xmlns:mc="http://schemas.openxmlformats.org/markup-compatibility/2006">
              <mc:Choice xmlns:v="urn:schemas-microsoft-com:vml" Requires="v">
                <p:oleObj spid="_x0000_s9" name="" r:id="rId3" imgW="165100" imgH="215900" progId="Equation.KSEE3">
                  <p:embed/>
                </p:oleObj>
              </mc:Choice>
              <mc:Fallback>
                <p:oleObj name="" r:id="rId3" imgW="165100" imgH="215900" progId="Equation.KSEE3">
                  <p:embed/>
                  <p:pic>
                    <p:nvPicPr>
                      <p:cNvPr id="0" name="图片 1024"/>
                      <p:cNvPicPr/>
                      <p:nvPr/>
                    </p:nvPicPr>
                    <p:blipFill>
                      <a:blip r:embed="rId2"/>
                      <a:stretch>
                        <a:fillRect/>
                      </a:stretch>
                    </p:blipFill>
                    <p:spPr>
                      <a:xfrm>
                        <a:off x="5029200" y="2999740"/>
                        <a:ext cx="294640" cy="384810"/>
                      </a:xfrm>
                      <a:prstGeom prst="rect">
                        <a:avLst/>
                      </a:prstGeom>
                    </p:spPr>
                  </p:pic>
                </p:oleObj>
              </mc:Fallback>
            </mc:AlternateContent>
          </a:graphicData>
        </a:graphic>
      </p:graphicFrame>
      <p:graphicFrame>
        <p:nvGraphicFramePr>
          <p:cNvPr id="13" name="对象 12">
            <a:hlinkClick r:id="" action="ppaction://ole?verb="/>
          </p:cNvPr>
          <p:cNvGraphicFramePr>
            <a:graphicFrameLocks noChangeAspect="1"/>
          </p:cNvGraphicFramePr>
          <p:nvPr/>
        </p:nvGraphicFramePr>
        <p:xfrm>
          <a:off x="4738370" y="2542540"/>
          <a:ext cx="294640" cy="384810"/>
        </p:xfrm>
        <a:graphic>
          <a:graphicData uri="http://schemas.openxmlformats.org/presentationml/2006/ole">
            <mc:AlternateContent xmlns:mc="http://schemas.openxmlformats.org/markup-compatibility/2006">
              <mc:Choice xmlns:v="urn:schemas-microsoft-com:vml" Requires="v">
                <p:oleObj spid="_x0000_s17" name="" r:id="rId4" imgW="165100" imgH="215900" progId="Equation.KSEE3">
                  <p:embed/>
                </p:oleObj>
              </mc:Choice>
              <mc:Fallback>
                <p:oleObj name="" r:id="rId4" imgW="165100" imgH="215900" progId="Equation.KSEE3">
                  <p:embed/>
                  <p:pic>
                    <p:nvPicPr>
                      <p:cNvPr id="0" name="图片 1024"/>
                      <p:cNvPicPr/>
                      <p:nvPr/>
                    </p:nvPicPr>
                    <p:blipFill>
                      <a:blip r:embed="rId2"/>
                      <a:stretch>
                        <a:fillRect/>
                      </a:stretch>
                    </p:blipFill>
                    <p:spPr>
                      <a:xfrm>
                        <a:off x="4738370" y="2542540"/>
                        <a:ext cx="294640" cy="38481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文本框 13"/>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3" name="Rectangle 3"/>
          <p:cNvSpPr>
            <a:spLocks noGrp="1"/>
          </p:cNvSpPr>
          <p:nvPr/>
        </p:nvSpPr>
        <p:spPr>
          <a:xfrm>
            <a:off x="5181600" y="1219200"/>
            <a:ext cx="3385820" cy="64706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dirty="0">
                <a:solidFill>
                  <a:srgbClr val="000066"/>
                </a:solidFill>
                <a:latin typeface="Arial" panose="020B0604020202020204" pitchFamily="34" charset="0"/>
                <a:ea typeface="楷体_GB2312" pitchFamily="49" charset="-122"/>
              </a:rPr>
              <a:t>输入高电平噪声容限为</a:t>
            </a:r>
            <a:endParaRPr lang="zh-CN" altLang="en-US" sz="2400" b="1"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3.2 TTL</a:t>
            </a:r>
            <a:r>
              <a:rPr lang="zh-CN" altLang="en-US" b="1" dirty="0">
                <a:solidFill>
                  <a:srgbClr val="FF0000"/>
                </a:solidFill>
                <a:latin typeface="黑体" panose="02010609060101010101" pitchFamily="49" charset="-122"/>
                <a:ea typeface="黑体" panose="02010609060101010101" pitchFamily="49" charset="-122"/>
              </a:rPr>
              <a:t>逻辑门电路</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9241" name="图片 2678"/>
          <p:cNvPicPr>
            <a:picLocks noChangeAspect="1"/>
          </p:cNvPicPr>
          <p:nvPr/>
        </p:nvPicPr>
        <p:blipFill>
          <a:blip r:embed="rId1"/>
          <a:stretch>
            <a:fillRect/>
          </a:stretch>
        </p:blipFill>
        <p:spPr>
          <a:xfrm>
            <a:off x="609600" y="1524000"/>
            <a:ext cx="4498340" cy="4271645"/>
          </a:xfrm>
          <a:prstGeom prst="rect">
            <a:avLst/>
          </a:prstGeom>
          <a:noFill/>
          <a:ln>
            <a:noFill/>
          </a:ln>
        </p:spPr>
      </p:pic>
      <p:sp>
        <p:nvSpPr>
          <p:cNvPr id="100" name="文本框 99"/>
          <p:cNvSpPr txBox="1"/>
          <p:nvPr/>
        </p:nvSpPr>
        <p:spPr>
          <a:xfrm>
            <a:off x="1447800" y="6019800"/>
            <a:ext cx="2896235" cy="337185"/>
          </a:xfrm>
          <a:prstGeom prst="rect">
            <a:avLst/>
          </a:prstGeom>
          <a:noFill/>
          <a:ln w="9525">
            <a:noFill/>
          </a:ln>
        </p:spPr>
        <p:txBody>
          <a:bodyPr wrap="square">
            <a:spAutoFit/>
          </a:bodyPr>
          <a:p>
            <a:r>
              <a:rPr lang="zh-CN" sz="1600">
                <a:latin typeface="Times New Roman" panose="02020603050405020304" charset="0"/>
                <a:ea typeface="宋体" panose="02010600030101010101" pitchFamily="2" charset="-122"/>
              </a:rPr>
              <a:t>图</a:t>
            </a:r>
            <a:r>
              <a:rPr lang="en-US" sz="1600">
                <a:latin typeface="Times New Roman" panose="02020603050405020304" charset="0"/>
                <a:ea typeface="宋体" panose="02010600030101010101" pitchFamily="2" charset="-122"/>
              </a:rPr>
              <a:t>3-17 </a:t>
            </a:r>
            <a:r>
              <a:rPr lang="zh-CN" sz="1600">
                <a:latin typeface="Times New Roman" panose="02020603050405020304" charset="0"/>
                <a:ea typeface="宋体" panose="02010600030101010101" pitchFamily="2" charset="-122"/>
              </a:rPr>
              <a:t>输入端噪声容限示意图</a:t>
            </a:r>
            <a:endParaRPr lang="zh-CN" altLang="en-US" sz="1600"/>
          </a:p>
        </p:txBody>
      </p:sp>
      <p:sp>
        <p:nvSpPr>
          <p:cNvPr id="5" name="文本框 4"/>
          <p:cNvSpPr txBox="1"/>
          <p:nvPr/>
        </p:nvSpPr>
        <p:spPr>
          <a:xfrm>
            <a:off x="5562600" y="1718310"/>
            <a:ext cx="3310255" cy="460375"/>
          </a:xfrm>
          <a:prstGeom prst="rect">
            <a:avLst/>
          </a:prstGeom>
          <a:noFill/>
          <a:ln w="9525">
            <a:noFill/>
          </a:ln>
        </p:spPr>
        <p:txBody>
          <a:bodyPr wrap="square">
            <a:spAutoFit/>
          </a:bodyPr>
          <a:p>
            <a:r>
              <a:rPr lang="en-US" sz="2400" i="1">
                <a:latin typeface="Times New Roman" panose="02020603050405020304" charset="0"/>
                <a:ea typeface="宋体" panose="02010600030101010101" pitchFamily="2" charset="-122"/>
              </a:rPr>
              <a:t>V</a:t>
            </a:r>
            <a:r>
              <a:rPr lang="en-US" sz="2400" baseline="-25000">
                <a:latin typeface="Times New Roman" panose="02020603050405020304" charset="0"/>
                <a:ea typeface="宋体" panose="02010600030101010101" pitchFamily="2" charset="-122"/>
              </a:rPr>
              <a:t>NH</a:t>
            </a:r>
            <a:r>
              <a:rPr lang="en-US" sz="2400">
                <a:latin typeface="宋体" panose="02010600030101010101" pitchFamily="2" charset="-122"/>
                <a:ea typeface="宋体" panose="02010600030101010101" pitchFamily="2" charset="-122"/>
              </a:rPr>
              <a:t> </a:t>
            </a:r>
            <a:r>
              <a:rPr lang="en-US" sz="2400">
                <a:latin typeface="Times New Roman" panose="02020603050405020304" charset="0"/>
                <a:ea typeface="宋体" panose="02010600030101010101" pitchFamily="2" charset="-122"/>
              </a:rPr>
              <a:t>= </a:t>
            </a:r>
            <a:r>
              <a:rPr lang="en-US" sz="2400" i="1">
                <a:latin typeface="Times New Roman" panose="02020603050405020304" charset="0"/>
                <a:ea typeface="宋体" panose="02010600030101010101" pitchFamily="2" charset="-122"/>
              </a:rPr>
              <a:t>V</a:t>
            </a:r>
            <a:r>
              <a:rPr lang="en-US" sz="2400" baseline="-25000">
                <a:latin typeface="Times New Roman" panose="02020603050405020304" charset="0"/>
                <a:ea typeface="宋体" panose="02010600030101010101" pitchFamily="2" charset="-122"/>
              </a:rPr>
              <a:t>OH(min)</a:t>
            </a:r>
            <a:r>
              <a:rPr lang="en-US" sz="2400">
                <a:latin typeface="宋体" panose="02010600030101010101" pitchFamily="2" charset="-122"/>
                <a:ea typeface="宋体" panose="02010600030101010101" pitchFamily="2" charset="-122"/>
              </a:rPr>
              <a:t> </a:t>
            </a:r>
            <a:r>
              <a:rPr lang="en-US" sz="2400">
                <a:latin typeface="Times New Roman" panose="02020603050405020304" charset="0"/>
                <a:ea typeface="宋体" panose="02010600030101010101" pitchFamily="2" charset="-122"/>
              </a:rPr>
              <a:t>- </a:t>
            </a:r>
            <a:r>
              <a:rPr lang="en-US" sz="2400" i="1">
                <a:latin typeface="Times New Roman" panose="02020603050405020304" charset="0"/>
                <a:ea typeface="宋体" panose="02010600030101010101" pitchFamily="2" charset="-122"/>
              </a:rPr>
              <a:t>V</a:t>
            </a:r>
            <a:r>
              <a:rPr lang="en-US" sz="2400" baseline="-25000">
                <a:latin typeface="Times New Roman" panose="02020603050405020304" charset="0"/>
                <a:ea typeface="宋体" panose="02010600030101010101" pitchFamily="2" charset="-122"/>
              </a:rPr>
              <a:t>IH(min)</a:t>
            </a:r>
            <a:endParaRPr lang="zh-CN" altLang="en-US" sz="2400"/>
          </a:p>
        </p:txBody>
      </p:sp>
      <p:sp>
        <p:nvSpPr>
          <p:cNvPr id="6" name="Rectangle 3"/>
          <p:cNvSpPr>
            <a:spLocks noGrp="1"/>
          </p:cNvSpPr>
          <p:nvPr/>
        </p:nvSpPr>
        <p:spPr>
          <a:xfrm>
            <a:off x="5257800" y="2133600"/>
            <a:ext cx="3385820" cy="199326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zh-CN" altLang="en-US" sz="2400" b="1" kern="1200" dirty="0">
                <a:solidFill>
                  <a:srgbClr val="000066"/>
                </a:solidFill>
                <a:latin typeface="Arial" panose="020B0604020202020204" pitchFamily="34" charset="0"/>
                <a:ea typeface="楷体_GB2312" pitchFamily="49" charset="-122"/>
              </a:rPr>
              <a:t>其中，</a:t>
            </a:r>
            <a:r>
              <a:rPr lang="zh-CN" altLang="en-US" sz="2400" b="1" i="1" dirty="0">
                <a:solidFill>
                  <a:srgbClr val="000066"/>
                </a:solidFill>
                <a:latin typeface="Arial" panose="020B0604020202020204" pitchFamily="34" charset="0"/>
                <a:ea typeface="楷体_GB2312" pitchFamily="49" charset="-122"/>
                <a:sym typeface="+mn-ea"/>
              </a:rPr>
              <a:t>V</a:t>
            </a:r>
            <a:r>
              <a:rPr lang="zh-CN" altLang="en-US" sz="2400" b="1" baseline="-25000" dirty="0">
                <a:solidFill>
                  <a:srgbClr val="000066"/>
                </a:solidFill>
                <a:latin typeface="Arial" panose="020B0604020202020204" pitchFamily="34" charset="0"/>
                <a:ea typeface="楷体_GB2312" pitchFamily="49" charset="-122"/>
                <a:sym typeface="+mn-ea"/>
              </a:rPr>
              <a:t>OH(min)</a:t>
            </a:r>
            <a:r>
              <a:rPr lang="zh-CN" altLang="en-US" sz="2400" b="1" dirty="0">
                <a:solidFill>
                  <a:srgbClr val="000066"/>
                </a:solidFill>
                <a:latin typeface="Arial" panose="020B0604020202020204" pitchFamily="34" charset="0"/>
                <a:ea typeface="楷体_GB2312" pitchFamily="49" charset="-122"/>
                <a:sym typeface="+mn-ea"/>
              </a:rPr>
              <a:t>为</a:t>
            </a:r>
            <a:r>
              <a:rPr lang="zh-CN" altLang="en-US" sz="2400" b="1" kern="1200" dirty="0">
                <a:solidFill>
                  <a:srgbClr val="000066"/>
                </a:solidFill>
                <a:latin typeface="Arial" panose="020B0604020202020204" pitchFamily="34" charset="0"/>
                <a:ea typeface="楷体_GB2312" pitchFamily="49" charset="-122"/>
              </a:rPr>
              <a:t>输出高电平电压下限值；</a:t>
            </a:r>
            <a:r>
              <a:rPr lang="zh-CN" altLang="en-US" sz="2400" b="1" i="1" dirty="0">
                <a:solidFill>
                  <a:srgbClr val="000066"/>
                </a:solidFill>
                <a:latin typeface="Arial" panose="020B0604020202020204" pitchFamily="34" charset="0"/>
                <a:ea typeface="楷体_GB2312" pitchFamily="49" charset="-122"/>
                <a:sym typeface="+mn-ea"/>
              </a:rPr>
              <a:t>V</a:t>
            </a:r>
            <a:r>
              <a:rPr lang="zh-CN" altLang="en-US" sz="2400" b="1" baseline="-25000" dirty="0">
                <a:solidFill>
                  <a:srgbClr val="000066"/>
                </a:solidFill>
                <a:latin typeface="Arial" panose="020B0604020202020204" pitchFamily="34" charset="0"/>
                <a:ea typeface="楷体_GB2312" pitchFamily="49" charset="-122"/>
                <a:sym typeface="+mn-ea"/>
              </a:rPr>
              <a:t>IH(min)</a:t>
            </a:r>
            <a:r>
              <a:rPr lang="zh-CN" altLang="en-US" sz="2400" b="1" dirty="0">
                <a:solidFill>
                  <a:srgbClr val="000066"/>
                </a:solidFill>
                <a:latin typeface="Arial" panose="020B0604020202020204" pitchFamily="34" charset="0"/>
                <a:ea typeface="楷体_GB2312" pitchFamily="49" charset="-122"/>
                <a:sym typeface="+mn-ea"/>
              </a:rPr>
              <a:t>为</a:t>
            </a:r>
            <a:r>
              <a:rPr lang="zh-CN" altLang="en-US" sz="2400" b="1" kern="1200" dirty="0">
                <a:solidFill>
                  <a:srgbClr val="000066"/>
                </a:solidFill>
                <a:latin typeface="Arial" panose="020B0604020202020204" pitchFamily="34" charset="0"/>
                <a:ea typeface="楷体_GB2312" pitchFamily="49" charset="-122"/>
              </a:rPr>
              <a:t>输入高电平电压下限值。</a:t>
            </a:r>
            <a:endParaRPr lang="zh-CN" altLang="en-US" sz="2400" b="1" kern="1200" dirty="0">
              <a:solidFill>
                <a:srgbClr val="000066"/>
              </a:solidFill>
              <a:latin typeface="Arial" panose="020B0604020202020204" pitchFamily="34" charset="0"/>
              <a:ea typeface="楷体_GB2312" pitchFamily="49" charset="-122"/>
            </a:endParaRPr>
          </a:p>
        </p:txBody>
      </p:sp>
      <p:sp>
        <p:nvSpPr>
          <p:cNvPr id="7" name="Rectangle 3"/>
          <p:cNvSpPr>
            <a:spLocks noGrp="1"/>
          </p:cNvSpPr>
          <p:nvPr/>
        </p:nvSpPr>
        <p:spPr>
          <a:xfrm>
            <a:off x="5181600" y="4114800"/>
            <a:ext cx="3385820" cy="64706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dirty="0">
                <a:solidFill>
                  <a:srgbClr val="000066"/>
                </a:solidFill>
                <a:latin typeface="Arial" panose="020B0604020202020204" pitchFamily="34" charset="0"/>
                <a:ea typeface="楷体_GB2312" pitchFamily="49" charset="-122"/>
              </a:rPr>
              <a:t>输入低电平噪声容限为</a:t>
            </a:r>
            <a:endParaRPr lang="zh-CN" altLang="en-US" sz="2400" b="1" dirty="0">
              <a:solidFill>
                <a:srgbClr val="000066"/>
              </a:solidFill>
              <a:latin typeface="Arial" panose="020B0604020202020204" pitchFamily="34" charset="0"/>
              <a:ea typeface="楷体_GB2312" pitchFamily="49" charset="-122"/>
            </a:endParaRPr>
          </a:p>
        </p:txBody>
      </p:sp>
      <p:sp>
        <p:nvSpPr>
          <p:cNvPr id="8" name="文本框 7"/>
          <p:cNvSpPr txBox="1"/>
          <p:nvPr/>
        </p:nvSpPr>
        <p:spPr>
          <a:xfrm>
            <a:off x="5562600" y="4572000"/>
            <a:ext cx="3204210" cy="460375"/>
          </a:xfrm>
          <a:prstGeom prst="rect">
            <a:avLst/>
          </a:prstGeom>
          <a:noFill/>
          <a:ln w="9525">
            <a:noFill/>
          </a:ln>
        </p:spPr>
        <p:txBody>
          <a:bodyPr wrap="square">
            <a:spAutoFit/>
          </a:bodyPr>
          <a:p>
            <a:r>
              <a:rPr lang="en-US" sz="2400" i="1">
                <a:ea typeface="宋体" panose="02010600030101010101" pitchFamily="2" charset="-122"/>
              </a:rPr>
              <a:t>V</a:t>
            </a:r>
            <a:r>
              <a:rPr lang="en-US" sz="2400" baseline="-25000">
                <a:ea typeface="宋体" panose="02010600030101010101" pitchFamily="2" charset="-122"/>
              </a:rPr>
              <a:t>NL</a:t>
            </a:r>
            <a:r>
              <a:rPr lang="en-US" sz="2400">
                <a:ea typeface="宋体" panose="02010600030101010101" pitchFamily="2" charset="-122"/>
              </a:rPr>
              <a:t>= </a:t>
            </a:r>
            <a:r>
              <a:rPr lang="en-US" sz="2400" i="1">
                <a:ea typeface="宋体" panose="02010600030101010101" pitchFamily="2" charset="-122"/>
              </a:rPr>
              <a:t>V</a:t>
            </a:r>
            <a:r>
              <a:rPr lang="en-US" sz="2400" baseline="-25000">
                <a:ea typeface="宋体" panose="02010600030101010101" pitchFamily="2" charset="-122"/>
              </a:rPr>
              <a:t>IL(max)</a:t>
            </a:r>
            <a:r>
              <a:rPr lang="en-US" sz="2400">
                <a:ea typeface="宋体" panose="02010600030101010101" pitchFamily="2" charset="-122"/>
              </a:rPr>
              <a:t> - </a:t>
            </a:r>
            <a:r>
              <a:rPr lang="en-US" sz="2400" i="1">
                <a:ea typeface="宋体" panose="02010600030101010101" pitchFamily="2" charset="-122"/>
              </a:rPr>
              <a:t>V</a:t>
            </a:r>
            <a:r>
              <a:rPr lang="en-US" sz="2400" baseline="-25000">
                <a:ea typeface="宋体" panose="02010600030101010101" pitchFamily="2" charset="-122"/>
              </a:rPr>
              <a:t>OL(max)</a:t>
            </a:r>
            <a:endParaRPr lang="en-US" sz="2400" baseline="-25000">
              <a:ea typeface="宋体" panose="02010600030101010101" pitchFamily="2" charset="-122"/>
            </a:endParaRPr>
          </a:p>
        </p:txBody>
      </p:sp>
      <p:sp>
        <p:nvSpPr>
          <p:cNvPr id="12" name="Rectangle 3"/>
          <p:cNvSpPr>
            <a:spLocks noGrp="1"/>
          </p:cNvSpPr>
          <p:nvPr/>
        </p:nvSpPr>
        <p:spPr>
          <a:xfrm>
            <a:off x="5257800" y="4953000"/>
            <a:ext cx="3385820" cy="199326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zh-CN" altLang="en-US" sz="2400" b="1" kern="1200" dirty="0">
                <a:solidFill>
                  <a:srgbClr val="000066"/>
                </a:solidFill>
                <a:latin typeface="Arial" panose="020B0604020202020204" pitchFamily="34" charset="0"/>
                <a:ea typeface="楷体_GB2312" pitchFamily="49" charset="-122"/>
              </a:rPr>
              <a:t>式中，</a:t>
            </a:r>
            <a:r>
              <a:rPr lang="zh-CN" altLang="en-US" sz="2400" b="1" i="1" dirty="0">
                <a:solidFill>
                  <a:srgbClr val="000066"/>
                </a:solidFill>
                <a:latin typeface="Arial" panose="020B0604020202020204" pitchFamily="34" charset="0"/>
                <a:ea typeface="楷体_GB2312" pitchFamily="49" charset="-122"/>
                <a:sym typeface="+mn-ea"/>
              </a:rPr>
              <a:t>V</a:t>
            </a:r>
            <a:r>
              <a:rPr lang="zh-CN" altLang="en-US" sz="2400" b="1" baseline="-25000" dirty="0">
                <a:solidFill>
                  <a:srgbClr val="000066"/>
                </a:solidFill>
                <a:latin typeface="Arial" panose="020B0604020202020204" pitchFamily="34" charset="0"/>
                <a:ea typeface="楷体_GB2312" pitchFamily="49" charset="-122"/>
                <a:sym typeface="+mn-ea"/>
              </a:rPr>
              <a:t>IL(max)</a:t>
            </a:r>
            <a:r>
              <a:rPr lang="zh-CN" altLang="en-US" sz="2400" b="1" dirty="0">
                <a:solidFill>
                  <a:srgbClr val="000066"/>
                </a:solidFill>
                <a:latin typeface="Arial" panose="020B0604020202020204" pitchFamily="34" charset="0"/>
                <a:ea typeface="楷体_GB2312" pitchFamily="49" charset="-122"/>
                <a:sym typeface="+mn-ea"/>
              </a:rPr>
              <a:t>为</a:t>
            </a:r>
            <a:r>
              <a:rPr lang="zh-CN" altLang="en-US" sz="2400" b="1" dirty="0">
                <a:solidFill>
                  <a:srgbClr val="000066"/>
                </a:solidFill>
                <a:latin typeface="Arial" panose="020B0604020202020204" pitchFamily="34" charset="0"/>
                <a:ea typeface="楷体_GB2312" pitchFamily="49" charset="-122"/>
              </a:rPr>
              <a:t>输入低电平电压上限值</a:t>
            </a:r>
            <a:r>
              <a:rPr lang="zh-CN" altLang="en-US" sz="2400" b="1" kern="1200" dirty="0">
                <a:solidFill>
                  <a:srgbClr val="000066"/>
                </a:solidFill>
                <a:latin typeface="Arial" panose="020B0604020202020204" pitchFamily="34" charset="0"/>
                <a:ea typeface="楷体_GB2312" pitchFamily="49" charset="-122"/>
              </a:rPr>
              <a:t>；</a:t>
            </a:r>
            <a:r>
              <a:rPr lang="zh-CN" altLang="en-US" sz="2400" b="1" i="1" dirty="0">
                <a:solidFill>
                  <a:srgbClr val="000066"/>
                </a:solidFill>
                <a:latin typeface="Arial" panose="020B0604020202020204" pitchFamily="34" charset="0"/>
                <a:ea typeface="楷体_GB2312" pitchFamily="49" charset="-122"/>
                <a:sym typeface="+mn-ea"/>
              </a:rPr>
              <a:t>V</a:t>
            </a:r>
            <a:r>
              <a:rPr lang="zh-CN" altLang="en-US" sz="2400" b="1" baseline="-25000" dirty="0">
                <a:solidFill>
                  <a:srgbClr val="000066"/>
                </a:solidFill>
                <a:latin typeface="Arial" panose="020B0604020202020204" pitchFamily="34" charset="0"/>
                <a:ea typeface="楷体_GB2312" pitchFamily="49" charset="-122"/>
                <a:sym typeface="+mn-ea"/>
              </a:rPr>
              <a:t>OL(max)</a:t>
            </a:r>
            <a:r>
              <a:rPr lang="zh-CN" altLang="en-US" sz="2400" b="1" dirty="0">
                <a:solidFill>
                  <a:srgbClr val="000066"/>
                </a:solidFill>
                <a:latin typeface="Arial" panose="020B0604020202020204" pitchFamily="34" charset="0"/>
                <a:ea typeface="楷体_GB2312" pitchFamily="49" charset="-122"/>
                <a:sym typeface="+mn-ea"/>
              </a:rPr>
              <a:t>为</a:t>
            </a:r>
            <a:r>
              <a:rPr lang="zh-CN" altLang="en-US" sz="2400" b="1" dirty="0">
                <a:solidFill>
                  <a:srgbClr val="000066"/>
                </a:solidFill>
                <a:latin typeface="Arial" panose="020B0604020202020204" pitchFamily="34" charset="0"/>
                <a:ea typeface="楷体_GB2312" pitchFamily="49" charset="-122"/>
              </a:rPr>
              <a:t>输出低电平电压上限值</a:t>
            </a:r>
            <a:r>
              <a:rPr lang="zh-CN" altLang="en-US" sz="2400" b="1" kern="1200" dirty="0">
                <a:solidFill>
                  <a:srgbClr val="000066"/>
                </a:solidFill>
                <a:latin typeface="Arial" panose="020B0604020202020204" pitchFamily="34" charset="0"/>
                <a:ea typeface="楷体_GB2312" pitchFamily="49" charset="-122"/>
              </a:rPr>
              <a:t>。</a:t>
            </a:r>
            <a:endParaRPr lang="zh-CN" altLang="en-US" sz="2400" b="1" kern="1200" dirty="0">
              <a:solidFill>
                <a:srgbClr val="000066"/>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 calcmode="lin" valueType="num">
                                      <p:cBhvr>
                                        <p:cTn id="9" dur="500" fill="hold"/>
                                        <p:tgtEl>
                                          <p:spTgt spid="5"/>
                                        </p:tgtEl>
                                        <p:attrNameLst>
                                          <p:attrName>style.rotation</p:attrName>
                                        </p:attrNameLst>
                                      </p:cBhvr>
                                      <p:tavLst>
                                        <p:tav tm="0">
                                          <p:val>
                                            <p:fltVal val="360"/>
                                          </p:val>
                                        </p:tav>
                                        <p:tav tm="100000">
                                          <p:val>
                                            <p:fltVal val="0"/>
                                          </p:val>
                                        </p:tav>
                                      </p:tavLst>
                                    </p:anim>
                                    <p:animEffect transition="in" filter="fade">
                                      <p:cBhvr>
                                        <p:cTn id="10" dur="500"/>
                                        <p:tgtEl>
                                          <p:spTgt spid="5"/>
                                        </p:tgtEl>
                                      </p:cBhvr>
                                    </p:animEffec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grpId="0" nodeType="clickEffect">
                                  <p:stCondLst>
                                    <p:cond delay="0"/>
                                  </p:stCondLst>
                                  <p:childTnLst>
                                    <p:set>
                                      <p:cBhvr>
                                        <p:cTn id="23" dur="500" fill="hold">
                                          <p:stCondLst>
                                            <p:cond delay="0"/>
                                          </p:stCondLst>
                                        </p:cTn>
                                        <p:tgtEl>
                                          <p:spTgt spid="8"/>
                                        </p:tgtEl>
                                        <p:attrNameLst>
                                          <p:attrName>style.visibility</p:attrName>
                                        </p:attrNameLst>
                                      </p:cBhvr>
                                      <p:to>
                                        <p:strVal val="visible"/>
                                      </p:to>
                                    </p:set>
                                    <p:animEffect transition="in" filter="box(in)">
                                      <p:cBhvr>
                                        <p:cTn id="24" dur="500"/>
                                        <p:tgtEl>
                                          <p:spTgt spid="8"/>
                                        </p:tgtEl>
                                      </p:cBhvr>
                                    </p:animEffect>
                                  </p:childTnLst>
                                </p:cTn>
                              </p:par>
                            </p:childTnLst>
                          </p:cTn>
                        </p:par>
                        <p:par>
                          <p:cTn id="25" fill="hold">
                            <p:stCondLst>
                              <p:cond delay="500"/>
                            </p:stCondLst>
                            <p:childTnLst>
                              <p:par>
                                <p:cTn id="26" presetID="1"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1281430" y="62230"/>
            <a:ext cx="534098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5. 输入特性和输入端电阻性负载特性</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3" name="Rectangle 3"/>
          <p:cNvSpPr>
            <a:spLocks noGrp="1"/>
          </p:cNvSpPr>
          <p:nvPr/>
        </p:nvSpPr>
        <p:spPr>
          <a:xfrm>
            <a:off x="618490" y="838200"/>
            <a:ext cx="8076565" cy="139890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dirty="0">
                <a:solidFill>
                  <a:srgbClr val="000066"/>
                </a:solidFill>
                <a:latin typeface="Arial" panose="020B0604020202020204" pitchFamily="34" charset="0"/>
                <a:ea typeface="楷体_GB2312" pitchFamily="49" charset="-122"/>
              </a:rPr>
              <a:t>电路的输入电压和输入电流之间的伏安特性也称为输入特性。</a:t>
            </a:r>
            <a:r>
              <a:rPr sz="2400" b="1" dirty="0">
                <a:solidFill>
                  <a:srgbClr val="000066"/>
                </a:solidFill>
                <a:latin typeface="Arial" panose="020B0604020202020204" pitchFamily="34" charset="0"/>
                <a:ea typeface="楷体_GB2312" pitchFamily="49" charset="-122"/>
                <a:sym typeface="+mn-ea"/>
              </a:rPr>
              <a:t>在图3-14所示的TTL与非门电路中，只考虑输入电压和输入电流</a:t>
            </a:r>
            <a:r>
              <a:rPr lang="zh-CN" sz="2400" b="1" dirty="0">
                <a:solidFill>
                  <a:srgbClr val="000066"/>
                </a:solidFill>
                <a:latin typeface="Arial" panose="020B0604020202020204" pitchFamily="34" charset="0"/>
                <a:ea typeface="楷体_GB2312" pitchFamily="49" charset="-122"/>
                <a:sym typeface="+mn-ea"/>
              </a:rPr>
              <a:t>时</a:t>
            </a:r>
            <a:r>
              <a:rPr sz="2400" b="1" dirty="0">
                <a:solidFill>
                  <a:srgbClr val="000066"/>
                </a:solidFill>
                <a:latin typeface="Arial" panose="020B0604020202020204" pitchFamily="34" charset="0"/>
                <a:ea typeface="楷体_GB2312" pitchFamily="49" charset="-122"/>
                <a:sym typeface="+mn-ea"/>
              </a:rPr>
              <a:t>，则输入端等效电路</a:t>
            </a:r>
            <a:r>
              <a:rPr lang="zh-CN" sz="2400" b="1" dirty="0">
                <a:solidFill>
                  <a:srgbClr val="000066"/>
                </a:solidFill>
                <a:latin typeface="Arial" panose="020B0604020202020204" pitchFamily="34" charset="0"/>
                <a:ea typeface="楷体_GB2312" pitchFamily="49" charset="-122"/>
                <a:sym typeface="+mn-ea"/>
              </a:rPr>
              <a:t>为</a:t>
            </a:r>
            <a:r>
              <a:rPr sz="2400" b="1" dirty="0">
                <a:solidFill>
                  <a:srgbClr val="000066"/>
                </a:solidFill>
                <a:latin typeface="Arial" panose="020B0604020202020204" pitchFamily="34" charset="0"/>
                <a:ea typeface="楷体_GB2312" pitchFamily="49" charset="-122"/>
                <a:sym typeface="+mn-ea"/>
              </a:rPr>
              <a:t>图3-18所示。</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endParaRPr lang="zh-CN" altLang="en-US" sz="2400" b="1" kern="1200" dirty="0">
              <a:solidFill>
                <a:srgbClr val="000066"/>
              </a:solidFill>
              <a:latin typeface="Arial" panose="020B0604020202020204" pitchFamily="34" charset="0"/>
              <a:ea typeface="楷体_GB2312" pitchFamily="49" charset="-122"/>
            </a:endParaRPr>
          </a:p>
        </p:txBody>
      </p:sp>
      <p:sp>
        <p:nvSpPr>
          <p:cNvPr id="5" name="Rectangle 3"/>
          <p:cNvSpPr>
            <a:spLocks noGrp="1"/>
          </p:cNvSpPr>
          <p:nvPr/>
        </p:nvSpPr>
        <p:spPr>
          <a:xfrm>
            <a:off x="712470" y="457200"/>
            <a:ext cx="4337050"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en-US" sz="2400" b="1" dirty="0">
                <a:solidFill>
                  <a:srgbClr val="070707"/>
                </a:solidFill>
                <a:latin typeface="Times New Roman" panose="02020603050405020304" charset="0"/>
                <a:ea typeface="楷体_GB2312" pitchFamily="49" charset="-122"/>
                <a:cs typeface="Times New Roman" panose="02020603050405020304" charset="0"/>
                <a:sym typeface="+mn-ea"/>
              </a:rPr>
              <a:t>(1) </a:t>
            </a:r>
            <a:r>
              <a:rPr sz="2400" b="1" dirty="0">
                <a:solidFill>
                  <a:srgbClr val="070707"/>
                </a:solidFill>
                <a:latin typeface="Times New Roman" panose="02020603050405020304" charset="0"/>
                <a:ea typeface="楷体_GB2312" pitchFamily="49" charset="-122"/>
                <a:cs typeface="Times New Roman" panose="02020603050405020304" charset="0"/>
              </a:rPr>
              <a:t>输入特性</a:t>
            </a:r>
            <a:r>
              <a:rPr lang="en-US" sz="2400" b="1" dirty="0">
                <a:solidFill>
                  <a:srgbClr val="070707"/>
                </a:solidFill>
                <a:latin typeface="Times New Roman" panose="02020603050405020304" charset="0"/>
                <a:ea typeface="楷体_GB2312" pitchFamily="49" charset="-122"/>
                <a:cs typeface="Times New Roman" panose="02020603050405020304" charset="0"/>
              </a:rPr>
              <a:t>。</a:t>
            </a:r>
            <a:endParaRPr lang="en-US" sz="2400" b="1" dirty="0">
              <a:solidFill>
                <a:srgbClr val="070707"/>
              </a:solidFill>
              <a:latin typeface="Times New Roman" panose="02020603050405020304" charset="0"/>
              <a:ea typeface="楷体_GB2312" pitchFamily="49" charset="-122"/>
              <a:cs typeface="Times New Roman" panose="02020603050405020304" charset="0"/>
            </a:endParaRPr>
          </a:p>
        </p:txBody>
      </p:sp>
      <p:sp>
        <p:nvSpPr>
          <p:cNvPr id="6" name="Rectangle 3"/>
          <p:cNvSpPr>
            <a:spLocks noGrp="1"/>
          </p:cNvSpPr>
          <p:nvPr/>
        </p:nvSpPr>
        <p:spPr>
          <a:xfrm>
            <a:off x="685800" y="2133600"/>
            <a:ext cx="8018780" cy="101155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当输入为低电平，即</a:t>
            </a:r>
            <a:r>
              <a:rPr lang="en-US" sz="2400" i="1">
                <a:latin typeface="Times New Roman" panose="02020603050405020304" charset="0"/>
                <a:ea typeface="宋体" panose="02010600030101010101" pitchFamily="2" charset="-122"/>
              </a:rPr>
              <a:t>υ</a:t>
            </a:r>
            <a:r>
              <a:rPr lang="en-US" sz="2400" baseline="-25000">
                <a:latin typeface="Times New Roman" panose="02020603050405020304" charset="0"/>
                <a:ea typeface="宋体" panose="02010600030101010101" pitchFamily="2" charset="-122"/>
              </a:rPr>
              <a:t>I</a:t>
            </a:r>
            <a:r>
              <a:rPr lang="en-US" sz="2400" i="1">
                <a:latin typeface="Times New Roman" panose="02020603050405020304" charset="0"/>
                <a:ea typeface="宋体" panose="02010600030101010101" pitchFamily="2" charset="-122"/>
              </a:rPr>
              <a:t> </a:t>
            </a:r>
            <a:r>
              <a:rPr lang="en-US" sz="2400">
                <a:latin typeface="Times New Roman" panose="02020603050405020304" charset="0"/>
                <a:ea typeface="宋体" panose="02010600030101010101" pitchFamily="2" charset="-122"/>
              </a:rPr>
              <a:t>=</a:t>
            </a:r>
            <a:r>
              <a:rPr lang="en-US" sz="2400" i="1">
                <a:latin typeface="Times New Roman" panose="02020603050405020304" charset="0"/>
                <a:ea typeface="宋体" panose="02010600030101010101" pitchFamily="2" charset="-122"/>
              </a:rPr>
              <a:t> V</a:t>
            </a:r>
            <a:r>
              <a:rPr lang="en-US" sz="2400" baseline="-25000">
                <a:latin typeface="Times New Roman" panose="02020603050405020304" charset="0"/>
                <a:ea typeface="宋体" panose="02010600030101010101" pitchFamily="2" charset="-122"/>
              </a:rPr>
              <a:t>IL</a:t>
            </a:r>
            <a:r>
              <a:rPr lang="en-US" sz="2400" i="1">
                <a:latin typeface="Times New Roman" panose="02020603050405020304" charset="0"/>
                <a:ea typeface="宋体" panose="02010600030101010101" pitchFamily="2" charset="-122"/>
              </a:rPr>
              <a:t> </a:t>
            </a:r>
            <a:r>
              <a:rPr lang="en-US" sz="2400">
                <a:latin typeface="Times New Roman" panose="02020603050405020304" charset="0"/>
                <a:ea typeface="宋体" panose="02010600030101010101" pitchFamily="2" charset="-122"/>
              </a:rPr>
              <a:t>= 0.2V</a:t>
            </a:r>
            <a:r>
              <a:rPr sz="2400" b="1" dirty="0">
                <a:solidFill>
                  <a:srgbClr val="000066"/>
                </a:solidFill>
                <a:latin typeface="Arial" panose="020B0604020202020204" pitchFamily="34" charset="0"/>
                <a:ea typeface="楷体_GB2312" pitchFamily="49" charset="-122"/>
              </a:rPr>
              <a:t>时，对应的输入低电平电流为</a:t>
            </a:r>
            <a:endParaRPr sz="2400" b="1"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endParaRPr lang="zh-CN" altLang="en-US" sz="2400" b="1" kern="1200" dirty="0">
              <a:solidFill>
                <a:srgbClr val="000066"/>
              </a:solidFill>
              <a:latin typeface="Arial" panose="020B0604020202020204" pitchFamily="34" charset="0"/>
              <a:ea typeface="楷体_GB2312" pitchFamily="49" charset="-122"/>
            </a:endParaRPr>
          </a:p>
        </p:txBody>
      </p:sp>
      <p:grpSp>
        <p:nvGrpSpPr>
          <p:cNvPr id="7" name="组合 6"/>
          <p:cNvGrpSpPr/>
          <p:nvPr/>
        </p:nvGrpSpPr>
        <p:grpSpPr>
          <a:xfrm>
            <a:off x="0" y="3429000"/>
            <a:ext cx="3384550" cy="3155950"/>
            <a:chOff x="600" y="5520"/>
            <a:chExt cx="5330" cy="4970"/>
          </a:xfrm>
        </p:grpSpPr>
        <p:pic>
          <p:nvPicPr>
            <p:cNvPr id="9242" name="图片 2679"/>
            <p:cNvPicPr>
              <a:picLocks noChangeAspect="1"/>
            </p:cNvPicPr>
            <p:nvPr/>
          </p:nvPicPr>
          <p:blipFill>
            <a:blip r:embed="rId1"/>
            <a:stretch>
              <a:fillRect/>
            </a:stretch>
          </p:blipFill>
          <p:spPr>
            <a:xfrm>
              <a:off x="1080" y="5520"/>
              <a:ext cx="4669" cy="4409"/>
            </a:xfrm>
            <a:prstGeom prst="rect">
              <a:avLst/>
            </a:prstGeom>
            <a:noFill/>
            <a:ln>
              <a:noFill/>
            </a:ln>
          </p:spPr>
        </p:pic>
        <p:sp>
          <p:nvSpPr>
            <p:cNvPr id="100" name="文本框 99"/>
            <p:cNvSpPr txBox="1"/>
            <p:nvPr/>
          </p:nvSpPr>
          <p:spPr>
            <a:xfrm>
              <a:off x="600" y="9960"/>
              <a:ext cx="5330" cy="531"/>
            </a:xfrm>
            <a:prstGeom prst="rect">
              <a:avLst/>
            </a:prstGeom>
            <a:noFill/>
            <a:ln w="9525">
              <a:noFill/>
            </a:ln>
          </p:spPr>
          <p:txBody>
            <a:bodyPr wrap="square">
              <a:spAutoFit/>
            </a:bodyPr>
            <a:p>
              <a:r>
                <a:rPr lang="zh-CN" sz="1600">
                  <a:latin typeface="Times New Roman" panose="02020603050405020304" charset="0"/>
                  <a:ea typeface="宋体" panose="02010600030101010101" pitchFamily="2" charset="-122"/>
                </a:rPr>
                <a:t>图</a:t>
              </a:r>
              <a:r>
                <a:rPr lang="en-US" sz="1600">
                  <a:latin typeface="Times New Roman" panose="02020603050405020304" charset="0"/>
                  <a:ea typeface="宋体" panose="02010600030101010101" pitchFamily="2" charset="-122"/>
                </a:rPr>
                <a:t>3-18TTL</a:t>
              </a:r>
              <a:r>
                <a:rPr lang="zh-CN" sz="1600">
                  <a:latin typeface="Times New Roman" panose="02020603050405020304" charset="0"/>
                  <a:ea typeface="宋体" panose="02010600030101010101" pitchFamily="2" charset="-122"/>
                </a:rPr>
                <a:t>与非门输入端等效电路</a:t>
              </a:r>
              <a:endParaRPr lang="zh-CN" altLang="en-US" sz="1600"/>
            </a:p>
          </p:txBody>
        </p:sp>
      </p:grpSp>
      <p:grpSp>
        <p:nvGrpSpPr>
          <p:cNvPr id="9" name="组合 8"/>
          <p:cNvGrpSpPr/>
          <p:nvPr/>
        </p:nvGrpSpPr>
        <p:grpSpPr>
          <a:xfrm>
            <a:off x="2819400" y="2590800"/>
            <a:ext cx="4010660" cy="822960"/>
            <a:chOff x="4440" y="4080"/>
            <a:chExt cx="6316" cy="1296"/>
          </a:xfrm>
        </p:grpSpPr>
        <p:graphicFrame>
          <p:nvGraphicFramePr>
            <p:cNvPr id="4" name="对象 -2147482051"/>
            <p:cNvGraphicFramePr>
              <a:graphicFrameLocks noChangeAspect="1"/>
            </p:cNvGraphicFramePr>
            <p:nvPr/>
          </p:nvGraphicFramePr>
          <p:xfrm>
            <a:off x="4440" y="4080"/>
            <a:ext cx="4278" cy="1296"/>
          </p:xfrm>
          <a:graphic>
            <a:graphicData uri="http://schemas.openxmlformats.org/presentationml/2006/ole">
              <mc:AlternateContent xmlns:mc="http://schemas.openxmlformats.org/markup-compatibility/2006">
                <mc:Choice xmlns:v="urn:schemas-microsoft-com:vml" Requires="v">
                  <p:oleObj spid="_x0000_s3076" name="" r:id="rId2" imgW="1256665" imgH="381000" progId="Equation.DSMT4">
                    <p:embed/>
                  </p:oleObj>
                </mc:Choice>
                <mc:Fallback>
                  <p:oleObj name="" r:id="rId2" imgW="1256665" imgH="381000" progId="Equation.DSMT4">
                    <p:embed/>
                    <p:pic>
                      <p:nvPicPr>
                        <p:cNvPr id="0" name="图片 3075"/>
                        <p:cNvPicPr/>
                        <p:nvPr/>
                      </p:nvPicPr>
                      <p:blipFill>
                        <a:blip r:embed="rId3"/>
                        <a:stretch>
                          <a:fillRect/>
                        </a:stretch>
                      </p:blipFill>
                      <p:spPr>
                        <a:xfrm>
                          <a:off x="4440" y="4080"/>
                          <a:ext cx="4278" cy="1296"/>
                        </a:xfrm>
                        <a:prstGeom prst="rect">
                          <a:avLst/>
                        </a:prstGeom>
                        <a:noFill/>
                        <a:ln w="38100">
                          <a:noFill/>
                          <a:miter/>
                        </a:ln>
                      </p:spPr>
                    </p:pic>
                  </p:oleObj>
                </mc:Fallback>
              </mc:AlternateContent>
            </a:graphicData>
          </a:graphic>
        </p:graphicFrame>
        <p:sp>
          <p:nvSpPr>
            <p:cNvPr id="8" name="文本框 7"/>
            <p:cNvSpPr txBox="1"/>
            <p:nvPr/>
          </p:nvSpPr>
          <p:spPr>
            <a:xfrm>
              <a:off x="8564" y="4320"/>
              <a:ext cx="2192" cy="725"/>
            </a:xfrm>
            <a:prstGeom prst="rect">
              <a:avLst/>
            </a:prstGeom>
            <a:noFill/>
            <a:ln w="9525">
              <a:noFill/>
            </a:ln>
          </p:spPr>
          <p:txBody>
            <a:bodyPr wrap="square">
              <a:spAutoFit/>
            </a:bodyPr>
            <a:p>
              <a:r>
                <a:rPr lang="en-US" sz="2400">
                  <a:latin typeface="Symbol" panose="05050102010706020507" charset="0"/>
                  <a:ea typeface="宋体" panose="02010600030101010101" pitchFamily="2" charset="-122"/>
                </a:rPr>
                <a:t>»</a:t>
              </a:r>
              <a:r>
                <a:rPr lang="en-US" sz="2400">
                  <a:latin typeface="宋体" panose="02010600030101010101" pitchFamily="2" charset="-122"/>
                  <a:ea typeface="宋体" panose="02010600030101010101" pitchFamily="2" charset="-122"/>
                </a:rPr>
                <a:t> </a:t>
              </a:r>
              <a:r>
                <a:rPr lang="en-US" sz="2400">
                  <a:latin typeface="Times New Roman" panose="02020603050405020304" charset="0"/>
                  <a:ea typeface="宋体" panose="02010600030101010101" pitchFamily="2" charset="-122"/>
                </a:rPr>
                <a:t>-1mA</a:t>
              </a:r>
              <a:endParaRPr lang="zh-CN" altLang="en-US" sz="2400"/>
            </a:p>
          </p:txBody>
        </p:sp>
      </p:grpSp>
      <p:grpSp>
        <p:nvGrpSpPr>
          <p:cNvPr id="10" name="组合 9"/>
          <p:cNvGrpSpPr/>
          <p:nvPr/>
        </p:nvGrpSpPr>
        <p:grpSpPr>
          <a:xfrm>
            <a:off x="3124200" y="3505200"/>
            <a:ext cx="3441700" cy="3079750"/>
            <a:chOff x="4920" y="5520"/>
            <a:chExt cx="5420" cy="4850"/>
          </a:xfrm>
        </p:grpSpPr>
        <p:pic>
          <p:nvPicPr>
            <p:cNvPr id="9243" name="图片 2680"/>
            <p:cNvPicPr>
              <a:picLocks noChangeAspect="1"/>
            </p:cNvPicPr>
            <p:nvPr/>
          </p:nvPicPr>
          <p:blipFill>
            <a:blip r:embed="rId4"/>
            <a:stretch>
              <a:fillRect/>
            </a:stretch>
          </p:blipFill>
          <p:spPr>
            <a:xfrm>
              <a:off x="4920" y="5520"/>
              <a:ext cx="5421" cy="3948"/>
            </a:xfrm>
            <a:prstGeom prst="rect">
              <a:avLst/>
            </a:prstGeom>
            <a:noFill/>
            <a:ln>
              <a:noFill/>
            </a:ln>
          </p:spPr>
        </p:pic>
        <p:sp>
          <p:nvSpPr>
            <p:cNvPr id="14" name="文本框 13"/>
            <p:cNvSpPr txBox="1"/>
            <p:nvPr/>
          </p:nvSpPr>
          <p:spPr>
            <a:xfrm>
              <a:off x="5280" y="9840"/>
              <a:ext cx="4510" cy="531"/>
            </a:xfrm>
            <a:prstGeom prst="rect">
              <a:avLst/>
            </a:prstGeom>
            <a:noFill/>
            <a:ln w="9525">
              <a:noFill/>
            </a:ln>
          </p:spPr>
          <p:txBody>
            <a:bodyPr wrap="square">
              <a:spAutoFit/>
            </a:bodyPr>
            <a:p>
              <a:r>
                <a:rPr lang="zh-CN" sz="1600">
                  <a:latin typeface="Times New Roman" panose="02020603050405020304" charset="0"/>
                  <a:ea typeface="宋体" panose="02010600030101010101" pitchFamily="2" charset="-122"/>
                </a:rPr>
                <a:t>图</a:t>
              </a:r>
              <a:r>
                <a:rPr lang="en-US" sz="1600">
                  <a:latin typeface="Times New Roman" panose="02020603050405020304" charset="0"/>
                  <a:ea typeface="宋体" panose="02010600030101010101" pitchFamily="2" charset="-122"/>
                </a:rPr>
                <a:t>3-19 TTL</a:t>
              </a:r>
              <a:r>
                <a:rPr lang="zh-CN" sz="1600">
                  <a:latin typeface="Times New Roman" panose="02020603050405020304" charset="0"/>
                  <a:ea typeface="宋体" panose="02010600030101010101" pitchFamily="2" charset="-122"/>
                </a:rPr>
                <a:t>与非门的输入特性</a:t>
              </a:r>
              <a:endParaRPr lang="zh-CN" altLang="en-US" sz="1600"/>
            </a:p>
          </p:txBody>
        </p:sp>
      </p:grpSp>
      <p:sp>
        <p:nvSpPr>
          <p:cNvPr id="12" name="Rectangle 3"/>
          <p:cNvSpPr>
            <a:spLocks noGrp="1"/>
          </p:cNvSpPr>
          <p:nvPr/>
        </p:nvSpPr>
        <p:spPr>
          <a:xfrm>
            <a:off x="6553200" y="2971800"/>
            <a:ext cx="2123440" cy="365125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当输入为高电平，由于T</a:t>
            </a:r>
            <a:r>
              <a:rPr sz="2400" b="1" baseline="-25000" dirty="0">
                <a:solidFill>
                  <a:srgbClr val="000066"/>
                </a:solidFill>
                <a:latin typeface="Arial" panose="020B0604020202020204" pitchFamily="34" charset="0"/>
                <a:ea typeface="楷体_GB2312" pitchFamily="49" charset="-122"/>
              </a:rPr>
              <a:t>1</a:t>
            </a:r>
            <a:r>
              <a:rPr sz="2400" b="1" dirty="0">
                <a:solidFill>
                  <a:srgbClr val="000066"/>
                </a:solidFill>
                <a:latin typeface="Arial" panose="020B0604020202020204" pitchFamily="34" charset="0"/>
                <a:ea typeface="楷体_GB2312" pitchFamily="49" charset="-122"/>
              </a:rPr>
              <a:t>基极的电位被钳在2.1V，T</a:t>
            </a:r>
            <a:r>
              <a:rPr sz="2400" b="1" baseline="-25000" dirty="0">
                <a:solidFill>
                  <a:srgbClr val="000066"/>
                </a:solidFill>
                <a:latin typeface="Arial" panose="020B0604020202020204" pitchFamily="34" charset="0"/>
                <a:ea typeface="楷体_GB2312" pitchFamily="49" charset="-122"/>
              </a:rPr>
              <a:t>1</a:t>
            </a:r>
            <a:r>
              <a:rPr sz="2400" b="1" dirty="0">
                <a:solidFill>
                  <a:srgbClr val="000066"/>
                </a:solidFill>
                <a:latin typeface="Arial" panose="020B0604020202020204" pitchFamily="34" charset="0"/>
                <a:ea typeface="楷体_GB2312" pitchFamily="49" charset="-122"/>
              </a:rPr>
              <a:t>工作在倒置状态</a:t>
            </a:r>
            <a:r>
              <a:rPr lang="zh-CN" sz="2400" b="1" dirty="0">
                <a:solidFill>
                  <a:srgbClr val="000066"/>
                </a:solidFill>
                <a:latin typeface="Arial" panose="020B0604020202020204" pitchFamily="34" charset="0"/>
                <a:ea typeface="楷体_GB2312" pitchFamily="49" charset="-122"/>
              </a:rPr>
              <a:t>。</a:t>
            </a:r>
            <a:r>
              <a:rPr sz="2400" b="1" dirty="0">
                <a:solidFill>
                  <a:srgbClr val="000066"/>
                </a:solidFill>
                <a:latin typeface="Arial" panose="020B0604020202020204" pitchFamily="34" charset="0"/>
                <a:ea typeface="楷体_GB2312" pitchFamily="49" charset="-122"/>
              </a:rPr>
              <a:t>TTL与非门输入特性如图3-19所示。</a:t>
            </a:r>
            <a:endParaRPr sz="2400" b="1" dirty="0">
              <a:solidFill>
                <a:srgbClr val="000066"/>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amond(in)">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5"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p:cTn id="18" dur="500" decel="50000" fill="hold">
                                          <p:stCondLst>
                                            <p:cond delay="0"/>
                                          </p:stCondLst>
                                        </p:cTn>
                                        <p:tgtEl>
                                          <p:spTgt spid="12"/>
                                        </p:tgtEl>
                                        <p:attrNameLst>
                                          <p:attrName>style.rotation</p:attrName>
                                        </p:attrNameLst>
                                      </p:cBhvr>
                                      <p:tavLst>
                                        <p:tav tm="0">
                                          <p:val>
                                            <p:fltVal val="-90"/>
                                          </p:val>
                                        </p:tav>
                                        <p:tav tm="100000">
                                          <p:val>
                                            <p:fltVal val="0"/>
                                          </p:val>
                                        </p:tav>
                                      </p:tavLst>
                                    </p:anim>
                                    <p:anim calcmode="lin" valueType="num">
                                      <p:cBhvr>
                                        <p:cTn id="19" dur="500" decel="50000" fill="hold">
                                          <p:stCondLst>
                                            <p:cond delay="0"/>
                                          </p:stCondLst>
                                        </p:cTn>
                                        <p:tgtEl>
                                          <p:spTgt spid="12"/>
                                        </p:tgtEl>
                                        <p:attrNameLst>
                                          <p:attrName>ppt_w</p:attrName>
                                        </p:attrNameLst>
                                      </p:cBhvr>
                                      <p:tavLst>
                                        <p:tav tm="0">
                                          <p:val>
                                            <p:strVal val="#ppt_w"/>
                                          </p:val>
                                        </p:tav>
                                        <p:tav tm="100000">
                                          <p:val>
                                            <p:strVal val="#ppt_w*.05"/>
                                          </p:val>
                                        </p:tav>
                                      </p:tavLst>
                                    </p:anim>
                                    <p:anim calcmode="lin" valueType="num">
                                      <p:cBhvr>
                                        <p:cTn id="20" dur="500" accel="50000" fill="hold">
                                          <p:stCondLst>
                                            <p:cond delay="500"/>
                                          </p:stCondLst>
                                        </p:cTn>
                                        <p:tgtEl>
                                          <p:spTgt spid="12"/>
                                        </p:tgtEl>
                                        <p:attrNameLst>
                                          <p:attrName>ppt_w</p:attrName>
                                        </p:attrNameLst>
                                      </p:cBhvr>
                                      <p:tavLst>
                                        <p:tav tm="0">
                                          <p:val>
                                            <p:strVal val="#ppt_w*.05"/>
                                          </p:val>
                                        </p:tav>
                                        <p:tav tm="100000">
                                          <p:val>
                                            <p:strVal val="#ppt_w"/>
                                          </p:val>
                                        </p:tav>
                                      </p:tavLst>
                                    </p:anim>
                                    <p:anim calcmode="lin" valueType="num">
                                      <p:cBhvr>
                                        <p:cTn id="21" dur="1000" fill="hold"/>
                                        <p:tgtEl>
                                          <p:spTgt spid="12"/>
                                        </p:tgtEl>
                                        <p:attrNameLst>
                                          <p:attrName>ppt_h</p:attrName>
                                        </p:attrNameLst>
                                      </p:cBhvr>
                                      <p:tavLst>
                                        <p:tav tm="0">
                                          <p:val>
                                            <p:strVal val="#ppt_h"/>
                                          </p:val>
                                        </p:tav>
                                        <p:tav tm="100000">
                                          <p:val>
                                            <p:strVal val="#ppt_h"/>
                                          </p:val>
                                        </p:tav>
                                      </p:tavLst>
                                    </p:anim>
                                    <p:anim calcmode="lin" valueType="num">
                                      <p:cBhvr>
                                        <p:cTn id="22" dur="500" decel="50000" fill="hold">
                                          <p:stCondLst>
                                            <p:cond delay="0"/>
                                          </p:stCondLst>
                                        </p:cTn>
                                        <p:tgtEl>
                                          <p:spTgt spid="12"/>
                                        </p:tgtEl>
                                        <p:attrNameLst>
                                          <p:attrName>ppt_x</p:attrName>
                                        </p:attrNameLst>
                                      </p:cBhvr>
                                      <p:tavLst>
                                        <p:tav tm="0">
                                          <p:val>
                                            <p:strVal val="#ppt_x+.4"/>
                                          </p:val>
                                        </p:tav>
                                        <p:tav tm="100000">
                                          <p:val>
                                            <p:strVal val="#ppt_x"/>
                                          </p:val>
                                        </p:tav>
                                      </p:tavLst>
                                    </p:anim>
                                    <p:anim calcmode="lin" valueType="num">
                                      <p:cBhvr>
                                        <p:cTn id="23" dur="500" decel="50000" fill="hold">
                                          <p:stCondLst>
                                            <p:cond delay="0"/>
                                          </p:stCondLst>
                                        </p:cTn>
                                        <p:tgtEl>
                                          <p:spTgt spid="12"/>
                                        </p:tgtEl>
                                        <p:attrNameLst>
                                          <p:attrName>ppt_y</p:attrName>
                                        </p:attrNameLst>
                                      </p:cBhvr>
                                      <p:tavLst>
                                        <p:tav tm="0">
                                          <p:val>
                                            <p:strVal val="#ppt_y-.2"/>
                                          </p:val>
                                        </p:tav>
                                        <p:tav tm="100000">
                                          <p:val>
                                            <p:strVal val="#ppt_y+.1"/>
                                          </p:val>
                                        </p:tav>
                                      </p:tavLst>
                                    </p:anim>
                                    <p:anim calcmode="lin" valueType="num">
                                      <p:cBhvr>
                                        <p:cTn id="24" dur="500" accel="50000" fill="hold">
                                          <p:stCondLst>
                                            <p:cond delay="500"/>
                                          </p:stCondLst>
                                        </p:cTn>
                                        <p:tgtEl>
                                          <p:spTgt spid="12"/>
                                        </p:tgtEl>
                                        <p:attrNameLst>
                                          <p:attrName>ppt_y</p:attrName>
                                        </p:attrNameLst>
                                      </p:cBhvr>
                                      <p:tavLst>
                                        <p:tav tm="0">
                                          <p:val>
                                            <p:strVal val="#ppt_y+.1"/>
                                          </p:val>
                                        </p:tav>
                                        <p:tav tm="100000">
                                          <p:val>
                                            <p:strVal val="#ppt_y"/>
                                          </p:val>
                                        </p:tav>
                                      </p:tavLst>
                                    </p:anim>
                                    <p:animEffect transition="in" filter="fade">
                                      <p:cBhvr>
                                        <p:cTn id="25" dur="1000" decel="50000">
                                          <p:stCondLst>
                                            <p:cond delay="0"/>
                                          </p:stCondLst>
                                        </p:cTn>
                                        <p:tgtEl>
                                          <p:spTgt spid="12"/>
                                        </p:tgtEl>
                                      </p:cBhvr>
                                    </p:animEffect>
                                  </p:childTnLst>
                                </p:cTn>
                              </p:par>
                            </p:childTnLst>
                          </p:cTn>
                        </p:par>
                        <p:par>
                          <p:cTn id="26" fill="hold">
                            <p:stCondLst>
                              <p:cond delay="1000"/>
                            </p:stCondLst>
                            <p:childTnLst>
                              <p:par>
                                <p:cTn id="27" presetID="1" presetClass="entr" presetSubtype="0" fill="hold" nodeType="after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grpSp>
        <p:nvGrpSpPr>
          <p:cNvPr id="24" name="组合 23"/>
          <p:cNvGrpSpPr/>
          <p:nvPr/>
        </p:nvGrpSpPr>
        <p:grpSpPr>
          <a:xfrm>
            <a:off x="6934200" y="1752600"/>
            <a:ext cx="1720850" cy="674370"/>
            <a:chOff x="10920" y="2760"/>
            <a:chExt cx="2710" cy="1062"/>
          </a:xfrm>
        </p:grpSpPr>
        <p:graphicFrame>
          <p:nvGraphicFramePr>
            <p:cNvPr id="2" name="对象 -2147482048"/>
            <p:cNvGraphicFramePr>
              <a:graphicFrameLocks noChangeAspect="1"/>
            </p:cNvGraphicFramePr>
            <p:nvPr/>
          </p:nvGraphicFramePr>
          <p:xfrm>
            <a:off x="11400" y="2760"/>
            <a:ext cx="2230" cy="1062"/>
          </p:xfrm>
          <a:graphic>
            <a:graphicData uri="http://schemas.openxmlformats.org/presentationml/2006/ole">
              <mc:AlternateContent xmlns:mc="http://schemas.openxmlformats.org/markup-compatibility/2006">
                <mc:Choice xmlns:v="urn:schemas-microsoft-com:vml" Requires="v">
                  <p:oleObj spid="_x0000_s16" name="" r:id="rId1" imgW="799465" imgH="381000" progId="Equation.DSMT4">
                    <p:embed/>
                  </p:oleObj>
                </mc:Choice>
                <mc:Fallback>
                  <p:oleObj name="" r:id="rId1" imgW="799465" imgH="381000" progId="Equation.DSMT4">
                    <p:embed/>
                    <p:pic>
                      <p:nvPicPr>
                        <p:cNvPr id="0" name="图片 15"/>
                        <p:cNvPicPr/>
                        <p:nvPr/>
                      </p:nvPicPr>
                      <p:blipFill>
                        <a:blip r:embed="rId2"/>
                        <a:stretch>
                          <a:fillRect/>
                        </a:stretch>
                      </p:blipFill>
                      <p:spPr>
                        <a:xfrm>
                          <a:off x="11400" y="2760"/>
                          <a:ext cx="2230" cy="1062"/>
                        </a:xfrm>
                        <a:prstGeom prst="rect">
                          <a:avLst/>
                        </a:prstGeom>
                        <a:noFill/>
                        <a:ln w="38100">
                          <a:noFill/>
                          <a:miter/>
                        </a:ln>
                      </p:spPr>
                    </p:pic>
                  </p:oleObj>
                </mc:Fallback>
              </mc:AlternateContent>
            </a:graphicData>
          </a:graphic>
        </p:graphicFrame>
        <p:graphicFrame>
          <p:nvGraphicFramePr>
            <p:cNvPr id="18" name="对象 17">
              <a:hlinkClick r:id="" action="ppaction://ole?verb="/>
            </p:cNvPr>
            <p:cNvGraphicFramePr>
              <a:graphicFrameLocks noChangeAspect="1"/>
            </p:cNvGraphicFramePr>
            <p:nvPr/>
          </p:nvGraphicFramePr>
          <p:xfrm>
            <a:off x="10920" y="2880"/>
            <a:ext cx="464" cy="606"/>
          </p:xfrm>
          <a:graphic>
            <a:graphicData uri="http://schemas.openxmlformats.org/presentationml/2006/ole">
              <mc:AlternateContent xmlns:mc="http://schemas.openxmlformats.org/markup-compatibility/2006">
                <mc:Choice xmlns:v="urn:schemas-microsoft-com:vml" Requires="v">
                  <p:oleObj spid="_x0000_s19" name="" r:id="rId3" imgW="165100" imgH="215900" progId="Equation.KSEE3">
                    <p:embed/>
                  </p:oleObj>
                </mc:Choice>
                <mc:Fallback>
                  <p:oleObj name="" r:id="rId3" imgW="165100" imgH="215900" progId="Equation.KSEE3">
                    <p:embed/>
                    <p:pic>
                      <p:nvPicPr>
                        <p:cNvPr id="0" name="图片 1024"/>
                        <p:cNvPicPr/>
                        <p:nvPr/>
                      </p:nvPicPr>
                      <p:blipFill>
                        <a:blip r:embed="rId4"/>
                        <a:stretch>
                          <a:fillRect/>
                        </a:stretch>
                      </p:blipFill>
                      <p:spPr>
                        <a:xfrm>
                          <a:off x="10920" y="2880"/>
                          <a:ext cx="464" cy="606"/>
                        </a:xfrm>
                        <a:prstGeom prst="rect">
                          <a:avLst/>
                        </a:prstGeom>
                      </p:spPr>
                    </p:pic>
                  </p:oleObj>
                </mc:Fallback>
              </mc:AlternateContent>
            </a:graphicData>
          </a:graphic>
        </p:graphicFrame>
      </p:gr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3" name="Rectangle 3"/>
          <p:cNvSpPr>
            <a:spLocks noGrp="1"/>
          </p:cNvSpPr>
          <p:nvPr/>
        </p:nvSpPr>
        <p:spPr>
          <a:xfrm>
            <a:off x="618490" y="457200"/>
            <a:ext cx="8076565" cy="139890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与非门工作时，有时在输入端与地之间接入电阻</a:t>
            </a:r>
            <a:r>
              <a:rPr sz="2400" b="1" i="1" dirty="0">
                <a:solidFill>
                  <a:srgbClr val="000066"/>
                </a:solidFill>
                <a:latin typeface="Arial" panose="020B0604020202020204" pitchFamily="34" charset="0"/>
                <a:ea typeface="楷体_GB2312" pitchFamily="49" charset="-122"/>
              </a:rPr>
              <a:t>R</a:t>
            </a:r>
            <a:r>
              <a:rPr sz="2400" b="1" baseline="-25000" dirty="0">
                <a:solidFill>
                  <a:srgbClr val="000066"/>
                </a:solidFill>
                <a:latin typeface="Arial" panose="020B0604020202020204" pitchFamily="34" charset="0"/>
                <a:ea typeface="楷体_GB2312" pitchFamily="49" charset="-122"/>
              </a:rPr>
              <a:t>I</a:t>
            </a:r>
            <a:r>
              <a:rPr sz="2400" b="1" dirty="0">
                <a:solidFill>
                  <a:srgbClr val="000066"/>
                </a:solidFill>
                <a:latin typeface="Arial" panose="020B0604020202020204" pitchFamily="34" charset="0"/>
                <a:ea typeface="楷体_GB2312" pitchFamily="49" charset="-122"/>
              </a:rPr>
              <a:t>，等效电路如图3-20所示。电流流经电阻</a:t>
            </a:r>
            <a:r>
              <a:rPr sz="2400" b="1" i="1" dirty="0">
                <a:solidFill>
                  <a:srgbClr val="000066"/>
                </a:solidFill>
                <a:latin typeface="Arial" panose="020B0604020202020204" pitchFamily="34" charset="0"/>
                <a:ea typeface="楷体_GB2312" pitchFamily="49" charset="-122"/>
              </a:rPr>
              <a:t>R</a:t>
            </a:r>
            <a:r>
              <a:rPr sz="2400" b="1" baseline="-25000" dirty="0">
                <a:solidFill>
                  <a:srgbClr val="000066"/>
                </a:solidFill>
                <a:latin typeface="Arial" panose="020B0604020202020204" pitchFamily="34" charset="0"/>
                <a:ea typeface="楷体_GB2312" pitchFamily="49" charset="-122"/>
              </a:rPr>
              <a:t>I</a:t>
            </a:r>
            <a:r>
              <a:rPr sz="2400" b="1" dirty="0">
                <a:solidFill>
                  <a:srgbClr val="000066"/>
                </a:solidFill>
                <a:latin typeface="Arial" panose="020B0604020202020204" pitchFamily="34" charset="0"/>
                <a:ea typeface="楷体_GB2312" pitchFamily="49" charset="-122"/>
              </a:rPr>
              <a:t> 产生的压降导致输入端电压</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升高</a:t>
            </a:r>
            <a:r>
              <a:rPr lang="zh-CN" sz="2400" b="1" dirty="0">
                <a:solidFill>
                  <a:srgbClr val="000066"/>
                </a:solidFill>
                <a:latin typeface="Arial" panose="020B0604020202020204" pitchFamily="34" charset="0"/>
                <a:ea typeface="楷体_GB2312" pitchFamily="49" charset="-122"/>
              </a:rPr>
              <a:t>。</a:t>
            </a:r>
            <a:r>
              <a:rPr sz="2400" b="1" dirty="0">
                <a:solidFill>
                  <a:srgbClr val="000066"/>
                </a:solidFill>
                <a:latin typeface="Arial" panose="020B0604020202020204" pitchFamily="34" charset="0"/>
                <a:ea typeface="楷体_GB2312" pitchFamily="49" charset="-122"/>
              </a:rPr>
              <a:t>输入端电阻性负载特性如图3-21所示。图中，输入电压</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与外接电阻</a:t>
            </a:r>
            <a:r>
              <a:rPr sz="2400" b="1" i="1" dirty="0">
                <a:solidFill>
                  <a:srgbClr val="000066"/>
                </a:solidFill>
                <a:latin typeface="Arial" panose="020B0604020202020204" pitchFamily="34" charset="0"/>
                <a:ea typeface="楷体_GB2312" pitchFamily="49" charset="-122"/>
              </a:rPr>
              <a:t>R</a:t>
            </a:r>
            <a:r>
              <a:rPr sz="2400" b="1" baseline="-25000" dirty="0">
                <a:solidFill>
                  <a:srgbClr val="000066"/>
                </a:solidFill>
                <a:latin typeface="Arial" panose="020B0604020202020204" pitchFamily="34" charset="0"/>
                <a:ea typeface="楷体_GB2312" pitchFamily="49" charset="-122"/>
              </a:rPr>
              <a:t>I</a:t>
            </a:r>
            <a:r>
              <a:rPr sz="2400" b="1" dirty="0">
                <a:solidFill>
                  <a:srgbClr val="000066"/>
                </a:solidFill>
                <a:latin typeface="Arial" panose="020B0604020202020204" pitchFamily="34" charset="0"/>
                <a:ea typeface="楷体_GB2312" pitchFamily="49" charset="-122"/>
              </a:rPr>
              <a:t> 的对应关系为</a:t>
            </a:r>
            <a:endParaRPr sz="2400" b="1"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endParaRPr lang="zh-CN" altLang="en-US" sz="2400" b="1" kern="1200" dirty="0">
              <a:solidFill>
                <a:srgbClr val="000066"/>
              </a:solidFill>
              <a:latin typeface="Arial" panose="020B0604020202020204" pitchFamily="34" charset="0"/>
              <a:ea typeface="楷体_GB2312" pitchFamily="49" charset="-122"/>
            </a:endParaRPr>
          </a:p>
        </p:txBody>
      </p:sp>
      <p:sp>
        <p:nvSpPr>
          <p:cNvPr id="5" name="Rectangle 3"/>
          <p:cNvSpPr>
            <a:spLocks noGrp="1"/>
          </p:cNvSpPr>
          <p:nvPr/>
        </p:nvSpPr>
        <p:spPr>
          <a:xfrm>
            <a:off x="712470" y="0"/>
            <a:ext cx="4337050"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en-US" sz="2400" b="1" dirty="0">
                <a:solidFill>
                  <a:srgbClr val="070707"/>
                </a:solidFill>
                <a:latin typeface="Times New Roman" panose="02020603050405020304" charset="0"/>
                <a:ea typeface="楷体_GB2312" pitchFamily="49" charset="-122"/>
                <a:cs typeface="Times New Roman" panose="02020603050405020304" charset="0"/>
                <a:sym typeface="+mn-ea"/>
              </a:rPr>
              <a:t>(2) </a:t>
            </a:r>
            <a:r>
              <a:rPr sz="2400" b="1" dirty="0">
                <a:solidFill>
                  <a:srgbClr val="070707"/>
                </a:solidFill>
                <a:latin typeface="Times New Roman" panose="02020603050405020304" charset="0"/>
                <a:ea typeface="楷体_GB2312" pitchFamily="49" charset="-122"/>
                <a:cs typeface="Times New Roman" panose="02020603050405020304" charset="0"/>
              </a:rPr>
              <a:t>输入端电阻性负载特性</a:t>
            </a:r>
            <a:r>
              <a:rPr lang="en-US" sz="2400" b="1" dirty="0">
                <a:solidFill>
                  <a:srgbClr val="070707"/>
                </a:solidFill>
                <a:latin typeface="Times New Roman" panose="02020603050405020304" charset="0"/>
                <a:ea typeface="楷体_GB2312" pitchFamily="49" charset="-122"/>
                <a:cs typeface="Times New Roman" panose="02020603050405020304" charset="0"/>
              </a:rPr>
              <a:t>。</a:t>
            </a:r>
            <a:endParaRPr lang="en-US" sz="2400" b="1" dirty="0">
              <a:solidFill>
                <a:srgbClr val="070707"/>
              </a:solidFill>
              <a:latin typeface="Times New Roman" panose="02020603050405020304" charset="0"/>
              <a:ea typeface="楷体_GB2312" pitchFamily="49" charset="-122"/>
              <a:cs typeface="Times New Roman" panose="02020603050405020304" charset="0"/>
            </a:endParaRPr>
          </a:p>
        </p:txBody>
      </p:sp>
      <p:graphicFrame>
        <p:nvGraphicFramePr>
          <p:cNvPr id="13" name="对象 12">
            <a:hlinkClick r:id="" action="ppaction://ole?verb="/>
          </p:cNvPr>
          <p:cNvGraphicFramePr>
            <a:graphicFrameLocks noChangeAspect="1"/>
          </p:cNvGraphicFramePr>
          <p:nvPr/>
        </p:nvGraphicFramePr>
        <p:xfrm>
          <a:off x="2286000" y="1447800"/>
          <a:ext cx="294640" cy="384810"/>
        </p:xfrm>
        <a:graphic>
          <a:graphicData uri="http://schemas.openxmlformats.org/presentationml/2006/ole">
            <mc:AlternateContent xmlns:mc="http://schemas.openxmlformats.org/markup-compatibility/2006">
              <mc:Choice xmlns:v="urn:schemas-microsoft-com:vml" Requires="v">
                <p:oleObj spid="_x0000_s17" name="" r:id="rId5" imgW="165100" imgH="215900" progId="Equation.KSEE3">
                  <p:embed/>
                </p:oleObj>
              </mc:Choice>
              <mc:Fallback>
                <p:oleObj name="" r:id="rId5" imgW="165100" imgH="215900" progId="Equation.KSEE3">
                  <p:embed/>
                  <p:pic>
                    <p:nvPicPr>
                      <p:cNvPr id="0" name="图片 1024"/>
                      <p:cNvPicPr/>
                      <p:nvPr/>
                    </p:nvPicPr>
                    <p:blipFill>
                      <a:blip r:embed="rId4"/>
                      <a:stretch>
                        <a:fillRect/>
                      </a:stretch>
                    </p:blipFill>
                    <p:spPr>
                      <a:xfrm>
                        <a:off x="2286000" y="1447800"/>
                        <a:ext cx="294640" cy="384810"/>
                      </a:xfrm>
                      <a:prstGeom prst="rect">
                        <a:avLst/>
                      </a:prstGeom>
                    </p:spPr>
                  </p:pic>
                </p:oleObj>
              </mc:Fallback>
            </mc:AlternateContent>
          </a:graphicData>
        </a:graphic>
      </p:graphicFrame>
      <p:graphicFrame>
        <p:nvGraphicFramePr>
          <p:cNvPr id="11" name="对象 10">
            <a:hlinkClick r:id="" action="ppaction://ole?verb="/>
          </p:cNvPr>
          <p:cNvGraphicFramePr>
            <a:graphicFrameLocks noChangeAspect="1"/>
          </p:cNvGraphicFramePr>
          <p:nvPr/>
        </p:nvGraphicFramePr>
        <p:xfrm>
          <a:off x="2895600" y="1828800"/>
          <a:ext cx="294640" cy="384810"/>
        </p:xfrm>
        <a:graphic>
          <a:graphicData uri="http://schemas.openxmlformats.org/presentationml/2006/ole">
            <mc:AlternateContent xmlns:mc="http://schemas.openxmlformats.org/markup-compatibility/2006">
              <mc:Choice xmlns:v="urn:schemas-microsoft-com:vml" Requires="v">
                <p:oleObj spid="_x0000_s15" name="" r:id="rId6" imgW="165100" imgH="215900" progId="Equation.KSEE3">
                  <p:embed/>
                </p:oleObj>
              </mc:Choice>
              <mc:Fallback>
                <p:oleObj name="" r:id="rId6" imgW="165100" imgH="215900" progId="Equation.KSEE3">
                  <p:embed/>
                  <p:pic>
                    <p:nvPicPr>
                      <p:cNvPr id="0" name="图片 1024"/>
                      <p:cNvPicPr/>
                      <p:nvPr/>
                    </p:nvPicPr>
                    <p:blipFill>
                      <a:blip r:embed="rId4"/>
                      <a:stretch>
                        <a:fillRect/>
                      </a:stretch>
                    </p:blipFill>
                    <p:spPr>
                      <a:xfrm>
                        <a:off x="2895600" y="1828800"/>
                        <a:ext cx="294640" cy="384810"/>
                      </a:xfrm>
                      <a:prstGeom prst="rect">
                        <a:avLst/>
                      </a:prstGeom>
                    </p:spPr>
                  </p:pic>
                </p:oleObj>
              </mc:Fallback>
            </mc:AlternateContent>
          </a:graphicData>
        </a:graphic>
      </p:graphicFrame>
      <p:grpSp>
        <p:nvGrpSpPr>
          <p:cNvPr id="10" name="组合 9"/>
          <p:cNvGrpSpPr/>
          <p:nvPr/>
        </p:nvGrpSpPr>
        <p:grpSpPr>
          <a:xfrm>
            <a:off x="0" y="4191000"/>
            <a:ext cx="3384550" cy="2622550"/>
            <a:chOff x="0" y="6240"/>
            <a:chExt cx="5330" cy="4130"/>
          </a:xfrm>
        </p:grpSpPr>
        <p:sp>
          <p:nvSpPr>
            <p:cNvPr id="100" name="文本框 99"/>
            <p:cNvSpPr txBox="1"/>
            <p:nvPr/>
          </p:nvSpPr>
          <p:spPr>
            <a:xfrm>
              <a:off x="0" y="9840"/>
              <a:ext cx="5330"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图3-20 输入端接电阻的等效电路</a:t>
              </a:r>
              <a:endParaRPr sz="1600">
                <a:latin typeface="Times New Roman" panose="02020603050405020304" charset="0"/>
                <a:ea typeface="宋体" panose="02010600030101010101" pitchFamily="2" charset="-122"/>
              </a:endParaRPr>
            </a:p>
          </p:txBody>
        </p:sp>
        <p:pic>
          <p:nvPicPr>
            <p:cNvPr id="9244" name="图片 2681"/>
            <p:cNvPicPr>
              <a:picLocks noChangeAspect="1"/>
            </p:cNvPicPr>
            <p:nvPr/>
          </p:nvPicPr>
          <p:blipFill>
            <a:blip r:embed="rId7"/>
            <a:stretch>
              <a:fillRect/>
            </a:stretch>
          </p:blipFill>
          <p:spPr>
            <a:xfrm>
              <a:off x="360" y="6240"/>
              <a:ext cx="4411" cy="3655"/>
            </a:xfrm>
            <a:prstGeom prst="rect">
              <a:avLst/>
            </a:prstGeom>
            <a:noFill/>
            <a:ln>
              <a:noFill/>
            </a:ln>
          </p:spPr>
        </p:pic>
      </p:grpSp>
      <p:grpSp>
        <p:nvGrpSpPr>
          <p:cNvPr id="22" name="组合 21"/>
          <p:cNvGrpSpPr/>
          <p:nvPr/>
        </p:nvGrpSpPr>
        <p:grpSpPr>
          <a:xfrm>
            <a:off x="2842260" y="4063365"/>
            <a:ext cx="3145790" cy="2771140"/>
            <a:chOff x="4476" y="6127"/>
            <a:chExt cx="4954" cy="4364"/>
          </a:xfrm>
        </p:grpSpPr>
        <p:sp>
          <p:nvSpPr>
            <p:cNvPr id="14" name="文本框 13"/>
            <p:cNvSpPr txBox="1"/>
            <p:nvPr/>
          </p:nvSpPr>
          <p:spPr>
            <a:xfrm>
              <a:off x="4920" y="9960"/>
              <a:ext cx="4510"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图3-21 输入端电阻性负载特性</a:t>
              </a:r>
              <a:endParaRPr sz="1600">
                <a:latin typeface="Times New Roman" panose="02020603050405020304" charset="0"/>
                <a:ea typeface="宋体" panose="02010600030101010101" pitchFamily="2" charset="-122"/>
              </a:endParaRPr>
            </a:p>
          </p:txBody>
        </p:sp>
        <p:grpSp>
          <p:nvGrpSpPr>
            <p:cNvPr id="21" name="组合 20"/>
            <p:cNvGrpSpPr/>
            <p:nvPr/>
          </p:nvGrpSpPr>
          <p:grpSpPr>
            <a:xfrm>
              <a:off x="4476" y="6127"/>
              <a:ext cx="4848" cy="3876"/>
              <a:chOff x="4594" y="5773"/>
              <a:chExt cx="4730" cy="3016"/>
            </a:xfrm>
          </p:grpSpPr>
          <p:pic>
            <p:nvPicPr>
              <p:cNvPr id="9245" name="图片 2682"/>
              <p:cNvPicPr>
                <a:picLocks noChangeAspect="1"/>
              </p:cNvPicPr>
              <p:nvPr/>
            </p:nvPicPr>
            <p:blipFill>
              <a:blip r:embed="rId8"/>
              <a:srcRect l="4002"/>
              <a:stretch>
                <a:fillRect/>
              </a:stretch>
            </p:blipFill>
            <p:spPr>
              <a:xfrm>
                <a:off x="4742" y="5773"/>
                <a:ext cx="4582" cy="3016"/>
              </a:xfrm>
              <a:prstGeom prst="rect">
                <a:avLst/>
              </a:prstGeom>
              <a:noFill/>
              <a:ln>
                <a:noFill/>
              </a:ln>
            </p:spPr>
          </p:pic>
          <p:pic>
            <p:nvPicPr>
              <p:cNvPr id="20" name="图片 19" descr="}$BK5~LQR[I31}M}B2W{94J"/>
              <p:cNvPicPr>
                <a:picLocks noChangeAspect="1"/>
              </p:cNvPicPr>
              <p:nvPr/>
            </p:nvPicPr>
            <p:blipFill>
              <a:blip r:embed="rId9"/>
              <a:srcRect r="22830" b="5138"/>
              <a:stretch>
                <a:fillRect/>
              </a:stretch>
            </p:blipFill>
            <p:spPr>
              <a:xfrm>
                <a:off x="4594" y="6284"/>
                <a:ext cx="480" cy="240"/>
              </a:xfrm>
              <a:prstGeom prst="rect">
                <a:avLst/>
              </a:prstGeom>
            </p:spPr>
          </p:pic>
        </p:grpSp>
      </p:grpSp>
      <p:grpSp>
        <p:nvGrpSpPr>
          <p:cNvPr id="26" name="组合 25"/>
          <p:cNvGrpSpPr/>
          <p:nvPr/>
        </p:nvGrpSpPr>
        <p:grpSpPr>
          <a:xfrm>
            <a:off x="533400" y="2223770"/>
            <a:ext cx="8168640" cy="1759585"/>
            <a:chOff x="840" y="3502"/>
            <a:chExt cx="12864" cy="2771"/>
          </a:xfrm>
        </p:grpSpPr>
        <p:grpSp>
          <p:nvGrpSpPr>
            <p:cNvPr id="25" name="组合 24"/>
            <p:cNvGrpSpPr/>
            <p:nvPr/>
          </p:nvGrpSpPr>
          <p:grpSpPr>
            <a:xfrm>
              <a:off x="840" y="3502"/>
              <a:ext cx="12864" cy="2771"/>
              <a:chOff x="840" y="3502"/>
              <a:chExt cx="12864" cy="2771"/>
            </a:xfrm>
          </p:grpSpPr>
          <p:sp>
            <p:nvSpPr>
              <p:cNvPr id="4" name="Rectangle 3"/>
              <p:cNvSpPr>
                <a:spLocks noGrp="1"/>
              </p:cNvSpPr>
              <p:nvPr/>
            </p:nvSpPr>
            <p:spPr>
              <a:xfrm>
                <a:off x="840" y="3502"/>
                <a:ext cx="12864" cy="2771"/>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dirty="0">
                    <a:solidFill>
                      <a:srgbClr val="000066"/>
                    </a:solidFill>
                    <a:latin typeface="Arial" panose="020B0604020202020204" pitchFamily="34" charset="0"/>
                    <a:ea typeface="楷体_GB2312" pitchFamily="49" charset="-122"/>
                  </a:rPr>
                  <a:t>       </a:t>
                </a:r>
                <a:r>
                  <a:rPr lang="zh-CN" altLang="en-US" sz="2400" b="1" dirty="0">
                    <a:solidFill>
                      <a:srgbClr val="000066"/>
                    </a:solidFill>
                    <a:latin typeface="Arial" panose="020B0604020202020204" pitchFamily="34" charset="0"/>
                    <a:ea typeface="楷体_GB2312" pitchFamily="49" charset="-122"/>
                  </a:rPr>
                  <a:t>上</a:t>
                </a:r>
                <a:r>
                  <a:rPr sz="2400" b="1" dirty="0">
                    <a:solidFill>
                      <a:srgbClr val="000066"/>
                    </a:solidFill>
                    <a:latin typeface="Arial" panose="020B0604020202020204" pitchFamily="34" charset="0"/>
                    <a:ea typeface="楷体_GB2312" pitchFamily="49" charset="-122"/>
                  </a:rPr>
                  <a:t>式表明，随着</a:t>
                </a:r>
                <a:r>
                  <a:rPr sz="2400" b="1" i="1" dirty="0">
                    <a:solidFill>
                      <a:srgbClr val="000066"/>
                    </a:solidFill>
                    <a:latin typeface="Arial" panose="020B0604020202020204" pitchFamily="34" charset="0"/>
                    <a:ea typeface="楷体_GB2312" pitchFamily="49" charset="-122"/>
                  </a:rPr>
                  <a:t>R</a:t>
                </a:r>
                <a:r>
                  <a:rPr sz="2400" b="1" baseline="-25000" dirty="0">
                    <a:solidFill>
                      <a:srgbClr val="000066"/>
                    </a:solidFill>
                    <a:latin typeface="Arial" panose="020B0604020202020204" pitchFamily="34" charset="0"/>
                    <a:ea typeface="楷体_GB2312" pitchFamily="49" charset="-122"/>
                  </a:rPr>
                  <a:t>I</a:t>
                </a:r>
                <a:r>
                  <a:rPr sz="2400" b="1" dirty="0">
                    <a:solidFill>
                      <a:srgbClr val="000066"/>
                    </a:solidFill>
                    <a:latin typeface="Arial" panose="020B0604020202020204" pitchFamily="34" charset="0"/>
                    <a:ea typeface="楷体_GB2312" pitchFamily="49" charset="-122"/>
                  </a:rPr>
                  <a:t> 的增大，</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会一直增加。但</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 增加到1.4V时不再变化，因为T</a:t>
                </a:r>
                <a:r>
                  <a:rPr sz="2400" b="1" baseline="-25000" dirty="0">
                    <a:solidFill>
                      <a:srgbClr val="000066"/>
                    </a:solidFill>
                    <a:latin typeface="Arial" panose="020B0604020202020204" pitchFamily="34" charset="0"/>
                    <a:ea typeface="楷体_GB2312" pitchFamily="49" charset="-122"/>
                  </a:rPr>
                  <a:t>2</a:t>
                </a:r>
                <a:r>
                  <a:rPr sz="2400" b="1" dirty="0">
                    <a:solidFill>
                      <a:srgbClr val="000066"/>
                    </a:solidFill>
                    <a:latin typeface="Arial" panose="020B0604020202020204" pitchFamily="34" charset="0"/>
                    <a:ea typeface="楷体_GB2312" pitchFamily="49" charset="-122"/>
                  </a:rPr>
                  <a:t>和T</a:t>
                </a:r>
                <a:r>
                  <a:rPr sz="2400" b="1" baseline="-25000" dirty="0">
                    <a:solidFill>
                      <a:srgbClr val="000066"/>
                    </a:solidFill>
                    <a:latin typeface="Arial" panose="020B0604020202020204" pitchFamily="34" charset="0"/>
                    <a:ea typeface="楷体_GB2312" pitchFamily="49" charset="-122"/>
                  </a:rPr>
                  <a:t>3</a:t>
                </a:r>
                <a:r>
                  <a:rPr sz="2400" b="1" dirty="0">
                    <a:solidFill>
                      <a:srgbClr val="000066"/>
                    </a:solidFill>
                    <a:latin typeface="Arial" panose="020B0604020202020204" pitchFamily="34" charset="0"/>
                    <a:ea typeface="楷体_GB2312" pitchFamily="49" charset="-122"/>
                  </a:rPr>
                  <a:t>导通</a:t>
                </a:r>
                <a:r>
                  <a:rPr lang="zh-CN" sz="2400" b="1" dirty="0">
                    <a:solidFill>
                      <a:srgbClr val="000066"/>
                    </a:solidFill>
                    <a:latin typeface="Arial" panose="020B0604020202020204" pitchFamily="34" charset="0"/>
                    <a:ea typeface="楷体_GB2312" pitchFamily="49" charset="-122"/>
                  </a:rPr>
                  <a:t>使</a:t>
                </a:r>
                <a:r>
                  <a:rPr sz="2400" b="1" dirty="0">
                    <a:solidFill>
                      <a:srgbClr val="000066"/>
                    </a:solidFill>
                    <a:latin typeface="Arial" panose="020B0604020202020204" pitchFamily="34" charset="0"/>
                    <a:ea typeface="楷体_GB2312" pitchFamily="49" charset="-122"/>
                  </a:rPr>
                  <a:t>T</a:t>
                </a:r>
                <a:r>
                  <a:rPr sz="2400" b="1" baseline="-25000" dirty="0">
                    <a:solidFill>
                      <a:srgbClr val="000066"/>
                    </a:solidFill>
                    <a:latin typeface="Arial" panose="020B0604020202020204" pitchFamily="34" charset="0"/>
                    <a:ea typeface="楷体_GB2312" pitchFamily="49" charset="-122"/>
                  </a:rPr>
                  <a:t>1</a:t>
                </a:r>
                <a:r>
                  <a:rPr sz="2400" b="1" dirty="0">
                    <a:solidFill>
                      <a:srgbClr val="000066"/>
                    </a:solidFill>
                    <a:latin typeface="Arial" panose="020B0604020202020204" pitchFamily="34" charset="0"/>
                    <a:ea typeface="楷体_GB2312" pitchFamily="49" charset="-122"/>
                  </a:rPr>
                  <a:t>基极的电位钳在2.1V，此时输出由高电平变为低电平。对于74标准系列门电路，有</a:t>
                </a:r>
                <a:r>
                  <a:rPr sz="2400" b="1" i="1" dirty="0">
                    <a:solidFill>
                      <a:srgbClr val="000066"/>
                    </a:solidFill>
                    <a:latin typeface="Arial" panose="020B0604020202020204" pitchFamily="34" charset="0"/>
                    <a:ea typeface="楷体_GB2312" pitchFamily="49" charset="-122"/>
                  </a:rPr>
                  <a:t>V</a:t>
                </a:r>
                <a:r>
                  <a:rPr sz="2400" b="1" baseline="-25000" dirty="0">
                    <a:solidFill>
                      <a:srgbClr val="000066"/>
                    </a:solidFill>
                    <a:latin typeface="Arial" panose="020B0604020202020204" pitchFamily="34" charset="0"/>
                    <a:ea typeface="楷体_GB2312" pitchFamily="49" charset="-122"/>
                  </a:rPr>
                  <a:t>IL(max) </a:t>
                </a:r>
                <a:r>
                  <a:rPr sz="2400" b="1" dirty="0">
                    <a:solidFill>
                      <a:srgbClr val="000066"/>
                    </a:solidFill>
                    <a:latin typeface="Arial" panose="020B0604020202020204" pitchFamily="34" charset="0"/>
                    <a:ea typeface="楷体_GB2312" pitchFamily="49" charset="-122"/>
                  </a:rPr>
                  <a:t>= 0.8V，R</a:t>
                </a:r>
                <a:r>
                  <a:rPr sz="2400" b="1" baseline="-25000" dirty="0">
                    <a:solidFill>
                      <a:srgbClr val="000066"/>
                    </a:solidFill>
                    <a:latin typeface="Arial" panose="020B0604020202020204" pitchFamily="34" charset="0"/>
                    <a:ea typeface="楷体_GB2312" pitchFamily="49" charset="-122"/>
                  </a:rPr>
                  <a:t>I</a:t>
                </a:r>
                <a:r>
                  <a:rPr sz="2400" b="1" dirty="0">
                    <a:solidFill>
                      <a:srgbClr val="000066"/>
                    </a:solidFill>
                    <a:latin typeface="Arial" panose="020B0604020202020204" pitchFamily="34" charset="0"/>
                    <a:ea typeface="楷体_GB2312" pitchFamily="49" charset="-122"/>
                  </a:rPr>
                  <a:t> 超过以下值时就认为是高电平</a:t>
                </a:r>
                <a:r>
                  <a:rPr lang="zh-CN" sz="2400" b="1" dirty="0">
                    <a:solidFill>
                      <a:srgbClr val="000066"/>
                    </a:solidFill>
                    <a:latin typeface="Arial" panose="020B0604020202020204" pitchFamily="34" charset="0"/>
                    <a:ea typeface="楷体_GB2312" pitchFamily="49" charset="-122"/>
                  </a:rPr>
                  <a:t>：</a:t>
                </a:r>
                <a:endParaRPr lang="zh-CN" sz="2400" b="1" dirty="0">
                  <a:solidFill>
                    <a:srgbClr val="000066"/>
                  </a:solidFill>
                  <a:latin typeface="Arial" panose="020B0604020202020204" pitchFamily="34" charset="0"/>
                  <a:ea typeface="楷体_GB2312" pitchFamily="49" charset="-122"/>
                </a:endParaRPr>
              </a:p>
            </p:txBody>
          </p:sp>
          <p:graphicFrame>
            <p:nvGraphicFramePr>
              <p:cNvPr id="6" name="对象 5">
                <a:hlinkClick r:id="" action="ppaction://ole?verb="/>
              </p:cNvPr>
              <p:cNvGraphicFramePr>
                <a:graphicFrameLocks noChangeAspect="1"/>
              </p:cNvGraphicFramePr>
              <p:nvPr/>
            </p:nvGraphicFramePr>
            <p:xfrm>
              <a:off x="7690" y="3600"/>
              <a:ext cx="464" cy="606"/>
            </p:xfrm>
            <a:graphic>
              <a:graphicData uri="http://schemas.openxmlformats.org/presentationml/2006/ole">
                <mc:AlternateContent xmlns:mc="http://schemas.openxmlformats.org/markup-compatibility/2006">
                  <mc:Choice xmlns:v="urn:schemas-microsoft-com:vml" Requires="v">
                    <p:oleObj spid="_x0000_s7" name="" r:id="rId10" imgW="165100" imgH="215900" progId="Equation.KSEE3">
                      <p:embed/>
                    </p:oleObj>
                  </mc:Choice>
                  <mc:Fallback>
                    <p:oleObj name="" r:id="rId10" imgW="165100" imgH="215900" progId="Equation.KSEE3">
                      <p:embed/>
                      <p:pic>
                        <p:nvPicPr>
                          <p:cNvPr id="0" name="图片 1024"/>
                          <p:cNvPicPr/>
                          <p:nvPr/>
                        </p:nvPicPr>
                        <p:blipFill>
                          <a:blip r:embed="rId4"/>
                          <a:stretch>
                            <a:fillRect/>
                          </a:stretch>
                        </p:blipFill>
                        <p:spPr>
                          <a:xfrm>
                            <a:off x="7690" y="3600"/>
                            <a:ext cx="464" cy="606"/>
                          </a:xfrm>
                          <a:prstGeom prst="rect">
                            <a:avLst/>
                          </a:prstGeom>
                        </p:spPr>
                      </p:pic>
                    </p:oleObj>
                  </mc:Fallback>
                </mc:AlternateContent>
              </a:graphicData>
            </a:graphic>
          </p:graphicFrame>
        </p:grpSp>
        <p:graphicFrame>
          <p:nvGraphicFramePr>
            <p:cNvPr id="8" name="对象 7">
              <a:hlinkClick r:id="" action="ppaction://ole?verb="/>
            </p:cNvPr>
            <p:cNvGraphicFramePr>
              <a:graphicFrameLocks noChangeAspect="1"/>
            </p:cNvGraphicFramePr>
            <p:nvPr/>
          </p:nvGraphicFramePr>
          <p:xfrm>
            <a:off x="11596" y="3600"/>
            <a:ext cx="464" cy="606"/>
          </p:xfrm>
          <a:graphic>
            <a:graphicData uri="http://schemas.openxmlformats.org/presentationml/2006/ole">
              <mc:AlternateContent xmlns:mc="http://schemas.openxmlformats.org/markup-compatibility/2006">
                <mc:Choice xmlns:v="urn:schemas-microsoft-com:vml" Requires="v">
                  <p:oleObj spid="_x0000_s9" name="" r:id="rId11" imgW="165100" imgH="215900" progId="Equation.KSEE3">
                    <p:embed/>
                  </p:oleObj>
                </mc:Choice>
                <mc:Fallback>
                  <p:oleObj name="" r:id="rId11" imgW="165100" imgH="215900" progId="Equation.KSEE3">
                    <p:embed/>
                    <p:pic>
                      <p:nvPicPr>
                        <p:cNvPr id="0" name="图片 1024"/>
                        <p:cNvPicPr/>
                        <p:nvPr/>
                      </p:nvPicPr>
                      <p:blipFill>
                        <a:blip r:embed="rId4"/>
                        <a:stretch>
                          <a:fillRect/>
                        </a:stretch>
                      </p:blipFill>
                      <p:spPr>
                        <a:xfrm>
                          <a:off x="11596" y="3600"/>
                          <a:ext cx="464" cy="606"/>
                        </a:xfrm>
                        <a:prstGeom prst="rect">
                          <a:avLst/>
                        </a:prstGeom>
                      </p:spPr>
                    </p:pic>
                  </p:oleObj>
                </mc:Fallback>
              </mc:AlternateContent>
            </a:graphicData>
          </a:graphic>
        </p:graphicFrame>
      </p:grpSp>
      <p:grpSp>
        <p:nvGrpSpPr>
          <p:cNvPr id="27" name="组合 26"/>
          <p:cNvGrpSpPr/>
          <p:nvPr/>
        </p:nvGrpSpPr>
        <p:grpSpPr>
          <a:xfrm>
            <a:off x="3733800" y="4191000"/>
            <a:ext cx="5306060" cy="755650"/>
            <a:chOff x="5880" y="6600"/>
            <a:chExt cx="8356" cy="1190"/>
          </a:xfrm>
        </p:grpSpPr>
        <p:sp>
          <p:nvSpPr>
            <p:cNvPr id="12" name="Rectangle 3"/>
            <p:cNvSpPr>
              <a:spLocks noGrp="1"/>
            </p:cNvSpPr>
            <p:nvPr/>
          </p:nvSpPr>
          <p:spPr>
            <a:xfrm>
              <a:off x="12360" y="6808"/>
              <a:ext cx="1876" cy="839"/>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sz="2000" b="1" dirty="0">
                  <a:solidFill>
                    <a:srgbClr val="000066"/>
                  </a:solidFill>
                  <a:latin typeface="Arial" panose="020B0604020202020204" pitchFamily="34" charset="0"/>
                  <a:ea typeface="楷体_GB2312" pitchFamily="49" charset="-122"/>
                </a:rPr>
                <a:t>0.91k</a:t>
              </a:r>
              <a:r>
                <a:rPr sz="2000" b="1" dirty="0">
                  <a:solidFill>
                    <a:srgbClr val="000066"/>
                  </a:solidFill>
                  <a:latin typeface="Arial" panose="020B0604020202020204" pitchFamily="34" charset="0"/>
                  <a:ea typeface="楷体_GB2312" pitchFamily="49" charset="-122"/>
                  <a:sym typeface="Symbol" panose="05050102010706020507" charset="0"/>
                </a:rPr>
                <a:t></a:t>
              </a:r>
              <a:endParaRPr sz="2000" b="1" dirty="0">
                <a:solidFill>
                  <a:srgbClr val="000066"/>
                </a:solidFill>
                <a:latin typeface="Arial" panose="020B0604020202020204" pitchFamily="34" charset="0"/>
                <a:ea typeface="楷体_GB2312" pitchFamily="49" charset="-122"/>
                <a:sym typeface="Symbol" panose="05050102010706020507" charset="0"/>
              </a:endParaRPr>
            </a:p>
          </p:txBody>
        </p:sp>
        <p:graphicFrame>
          <p:nvGraphicFramePr>
            <p:cNvPr id="23" name="对象 -2147482047"/>
            <p:cNvGraphicFramePr>
              <a:graphicFrameLocks noChangeAspect="1"/>
            </p:cNvGraphicFramePr>
            <p:nvPr/>
          </p:nvGraphicFramePr>
          <p:xfrm>
            <a:off x="5880" y="6600"/>
            <a:ext cx="6552" cy="1190"/>
          </p:xfrm>
          <a:graphic>
            <a:graphicData uri="http://schemas.openxmlformats.org/presentationml/2006/ole">
              <mc:AlternateContent xmlns:mc="http://schemas.openxmlformats.org/markup-compatibility/2006">
                <mc:Choice xmlns:v="urn:schemas-microsoft-com:vml" Requires="v">
                  <p:oleObj spid="_x0000_s3076" name="" r:id="rId12" imgW="2233295" imgH="405765" progId="Equation.DSMT4">
                    <p:embed/>
                  </p:oleObj>
                </mc:Choice>
                <mc:Fallback>
                  <p:oleObj name="" r:id="rId12" imgW="2233295" imgH="405765" progId="Equation.DSMT4">
                    <p:embed/>
                    <p:pic>
                      <p:nvPicPr>
                        <p:cNvPr id="0" name="图片 3075"/>
                        <p:cNvPicPr/>
                        <p:nvPr/>
                      </p:nvPicPr>
                      <p:blipFill>
                        <a:blip r:embed="rId13"/>
                        <a:stretch>
                          <a:fillRect/>
                        </a:stretch>
                      </p:blipFill>
                      <p:spPr>
                        <a:xfrm>
                          <a:off x="5880" y="6600"/>
                          <a:ext cx="6552" cy="1190"/>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385" decel="100000"/>
                                        <p:tgtEl>
                                          <p:spTgt spid="22"/>
                                        </p:tgtEl>
                                      </p:cBhvr>
                                    </p:animEffect>
                                    <p:animScale>
                                      <p:cBhvr>
                                        <p:cTn id="8" dur="385" decel="100000"/>
                                        <p:tgtEl>
                                          <p:spTgt spid="22"/>
                                        </p:tgtEl>
                                      </p:cBhvr>
                                      <p:from x="10000" y="10000"/>
                                      <p:to x="200000" y="450000"/>
                                    </p:animScale>
                                    <p:animScale>
                                      <p:cBhvr>
                                        <p:cTn id="9" dur="615" accel="100000" fill="hold">
                                          <p:stCondLst>
                                            <p:cond delay="385"/>
                                          </p:stCondLst>
                                        </p:cTn>
                                        <p:tgtEl>
                                          <p:spTgt spid="22"/>
                                        </p:tgtEl>
                                      </p:cBhvr>
                                      <p:from x="200000" y="450000"/>
                                      <p:to x="100000" y="100000"/>
                                    </p:animScale>
                                    <p:set>
                                      <p:cBhvr>
                                        <p:cTn id="10" dur="385" fill="hold"/>
                                        <p:tgtEl>
                                          <p:spTgt spid="22"/>
                                        </p:tgtEl>
                                        <p:attrNameLst>
                                          <p:attrName>ppt_x</p:attrName>
                                        </p:attrNameLst>
                                      </p:cBhvr>
                                      <p:to>
                                        <p:strVal val="(0.5)"/>
                                      </p:to>
                                    </p:set>
                                    <p:anim from="(0.5)" to="(#ppt_x)" calcmode="lin" valueType="num">
                                      <p:cBhvr>
                                        <p:cTn id="11" dur="615" accel="100000" fill="hold">
                                          <p:stCondLst>
                                            <p:cond delay="385"/>
                                          </p:stCondLst>
                                        </p:cTn>
                                        <p:tgtEl>
                                          <p:spTgt spid="22"/>
                                        </p:tgtEl>
                                        <p:attrNameLst>
                                          <p:attrName>ppt_x</p:attrName>
                                        </p:attrNameLst>
                                      </p:cBhvr>
                                    </p:anim>
                                    <p:set>
                                      <p:cBhvr>
                                        <p:cTn id="12" dur="385" fill="hold"/>
                                        <p:tgtEl>
                                          <p:spTgt spid="22"/>
                                        </p:tgtEl>
                                        <p:attrNameLst>
                                          <p:attrName>ppt_y</p:attrName>
                                        </p:attrNameLst>
                                      </p:cBhvr>
                                      <p:to>
                                        <p:strVal val="(#ppt_y+0.4)"/>
                                      </p:to>
                                    </p:set>
                                    <p:anim from="(#ppt_y+0.4)" to="(#ppt_y)" calcmode="lin" valueType="num">
                                      <p:cBhvr>
                                        <p:cTn id="13" dur="615" accel="100000" fill="hold">
                                          <p:stCondLst>
                                            <p:cond delay="385"/>
                                          </p:stCondLst>
                                        </p:cTn>
                                        <p:tgtEl>
                                          <p:spTgt spid="22"/>
                                        </p:tgtEl>
                                        <p:attrNameLst>
                                          <p:attrName>ppt_y</p:attrName>
                                        </p:attrNameLst>
                                      </p:cBhvr>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4"/>
                                        </p:tgtEl>
                                        <p:attrNameLst>
                                          <p:attrName>style.visibility</p:attrName>
                                        </p:attrNameLst>
                                      </p:cBhvr>
                                      <p:to>
                                        <p:strVal val="visible"/>
                                      </p:to>
                                    </p:set>
                                    <p:anim calcmode="lin" valueType="num">
                                      <p:cBhvr additive="base">
                                        <p:cTn id="18" dur="500" fill="hold"/>
                                        <p:tgtEl>
                                          <p:spTgt spid="24"/>
                                        </p:tgtEl>
                                        <p:attrNameLst>
                                          <p:attrName>ppt_x</p:attrName>
                                        </p:attrNameLst>
                                      </p:cBhvr>
                                      <p:tavLst>
                                        <p:tav tm="0">
                                          <p:val>
                                            <p:strVal val="#ppt_x"/>
                                          </p:val>
                                        </p:tav>
                                        <p:tav tm="100000">
                                          <p:val>
                                            <p:strVal val="#ppt_x"/>
                                          </p:val>
                                        </p:tav>
                                      </p:tavLst>
                                    </p:anim>
                                    <p:anim calcmode="lin" valueType="num">
                                      <p:cBhvr additive="base">
                                        <p:cTn id="19"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wipe(left)">
                                      <p:cBhvr>
                                        <p:cTn id="24" dur="500"/>
                                        <p:tgtEl>
                                          <p:spTgt spid="26"/>
                                        </p:tgtEl>
                                      </p:cBhvr>
                                    </p:animEffect>
                                  </p:childTnLst>
                                </p:cTn>
                              </p:par>
                            </p:childTnLst>
                          </p:cTn>
                        </p:par>
                      </p:childTnLst>
                    </p:cTn>
                  </p:par>
                  <p:par>
                    <p:cTn id="25" fill="hold">
                      <p:stCondLst>
                        <p:cond delay="indefinite"/>
                      </p:stCondLst>
                      <p:childTnLst>
                        <p:par>
                          <p:cTn id="26" fill="hold">
                            <p:stCondLst>
                              <p:cond delay="0"/>
                            </p:stCondLst>
                            <p:childTnLst>
                              <p:par>
                                <p:cTn id="27" presetID="47" presetClass="entr" presetSubtype="0" fill="hold" nodeType="click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1000"/>
                                        <p:tgtEl>
                                          <p:spTgt spid="27"/>
                                        </p:tgtEl>
                                      </p:cBhvr>
                                    </p:animEffect>
                                    <p:anim calcmode="lin" valueType="num">
                                      <p:cBhvr>
                                        <p:cTn id="30" dur="1000" fill="hold"/>
                                        <p:tgtEl>
                                          <p:spTgt spid="27"/>
                                        </p:tgtEl>
                                        <p:attrNameLst>
                                          <p:attrName>ppt_x</p:attrName>
                                        </p:attrNameLst>
                                      </p:cBhvr>
                                      <p:tavLst>
                                        <p:tav tm="0">
                                          <p:val>
                                            <p:strVal val="#ppt_x"/>
                                          </p:val>
                                        </p:tav>
                                        <p:tav tm="100000">
                                          <p:val>
                                            <p:strVal val="#ppt_x"/>
                                          </p:val>
                                        </p:tav>
                                      </p:tavLst>
                                    </p:anim>
                                    <p:anim calcmode="lin" valueType="num">
                                      <p:cBhvr>
                                        <p:cTn id="31"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3.2 TTL</a:t>
            </a:r>
            <a:r>
              <a:rPr lang="zh-CN" altLang="en-US" b="1" dirty="0">
                <a:solidFill>
                  <a:srgbClr val="FF0000"/>
                </a:solidFill>
                <a:latin typeface="黑体" panose="02010609060101010101" pitchFamily="49" charset="-122"/>
                <a:ea typeface="黑体" panose="02010609060101010101" pitchFamily="49" charset="-122"/>
              </a:rPr>
              <a:t>逻辑门电路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2" name="Rectangle 3"/>
          <p:cNvSpPr>
            <a:spLocks noGrp="1"/>
          </p:cNvSpPr>
          <p:nvPr/>
        </p:nvSpPr>
        <p:spPr>
          <a:xfrm>
            <a:off x="533400" y="1143000"/>
            <a:ext cx="8223885" cy="97409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hangingPunct="1">
              <a:lnSpc>
                <a:spcPct val="11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【例3-1】分析下列74标准系列逻辑门电路在输入端接入不同负载的情况下，分别写出各逻辑门的输出表达式。</a:t>
            </a:r>
            <a:endParaRPr sz="2400" b="1" dirty="0">
              <a:solidFill>
                <a:srgbClr val="000066"/>
              </a:solidFill>
              <a:latin typeface="Arial" panose="020B0604020202020204" pitchFamily="34" charset="0"/>
              <a:ea typeface="楷体_GB2312" pitchFamily="49" charset="-122"/>
            </a:endParaRPr>
          </a:p>
        </p:txBody>
      </p:sp>
      <p:grpSp>
        <p:nvGrpSpPr>
          <p:cNvPr id="9" name="组合 8"/>
          <p:cNvGrpSpPr/>
          <p:nvPr/>
        </p:nvGrpSpPr>
        <p:grpSpPr>
          <a:xfrm>
            <a:off x="990600" y="2133600"/>
            <a:ext cx="6844030" cy="1346200"/>
            <a:chOff x="1560" y="3360"/>
            <a:chExt cx="10778" cy="2120"/>
          </a:xfrm>
        </p:grpSpPr>
        <p:pic>
          <p:nvPicPr>
            <p:cNvPr id="9246" name="图片 2683"/>
            <p:cNvPicPr/>
            <p:nvPr>
              <p:custDataLst>
                <p:tags r:id="rId1"/>
              </p:custDataLst>
            </p:nvPr>
          </p:nvPicPr>
          <p:blipFill>
            <a:blip r:embed="rId2"/>
            <a:srcRect b="15385"/>
            <a:stretch>
              <a:fillRect/>
            </a:stretch>
          </p:blipFill>
          <p:spPr>
            <a:xfrm>
              <a:off x="1680" y="3360"/>
              <a:ext cx="10658" cy="1928"/>
            </a:xfrm>
            <a:prstGeom prst="rect">
              <a:avLst/>
            </a:prstGeom>
            <a:noFill/>
            <a:ln>
              <a:noFill/>
            </a:ln>
          </p:spPr>
        </p:pic>
        <p:pic>
          <p:nvPicPr>
            <p:cNvPr id="4" name="图片 2683"/>
            <p:cNvPicPr>
              <a:picLocks noChangeAspect="1"/>
            </p:cNvPicPr>
            <p:nvPr>
              <p:custDataLst>
                <p:tags r:id="rId3"/>
              </p:custDataLst>
            </p:nvPr>
          </p:nvPicPr>
          <p:blipFill>
            <a:blip r:embed="rId2"/>
            <a:srcRect t="87004"/>
            <a:stretch>
              <a:fillRect/>
            </a:stretch>
          </p:blipFill>
          <p:spPr>
            <a:xfrm>
              <a:off x="1560" y="5160"/>
              <a:ext cx="10748" cy="321"/>
            </a:xfrm>
            <a:prstGeom prst="rect">
              <a:avLst/>
            </a:prstGeom>
            <a:noFill/>
            <a:ln>
              <a:noFill/>
            </a:ln>
          </p:spPr>
        </p:pic>
      </p:grpSp>
      <p:sp>
        <p:nvSpPr>
          <p:cNvPr id="10" name="Rectangle 3"/>
          <p:cNvSpPr>
            <a:spLocks noGrp="1"/>
          </p:cNvSpPr>
          <p:nvPr/>
        </p:nvSpPr>
        <p:spPr>
          <a:xfrm>
            <a:off x="528320" y="3479800"/>
            <a:ext cx="8223885" cy="97409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hangingPunct="1">
              <a:lnSpc>
                <a:spcPct val="11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解</a:t>
            </a:r>
            <a:r>
              <a:rPr lang="zh-CN" sz="2400" b="1" dirty="0">
                <a:solidFill>
                  <a:srgbClr val="000066"/>
                </a:solidFill>
                <a:latin typeface="Arial" panose="020B0604020202020204" pitchFamily="34" charset="0"/>
                <a:ea typeface="楷体_GB2312" pitchFamily="49" charset="-122"/>
              </a:rPr>
              <a:t>：</a:t>
            </a:r>
            <a:r>
              <a:rPr sz="2400" b="1" dirty="0">
                <a:solidFill>
                  <a:srgbClr val="000066"/>
                </a:solidFill>
                <a:latin typeface="Arial" panose="020B0604020202020204" pitchFamily="34" charset="0"/>
                <a:ea typeface="楷体_GB2312" pitchFamily="49" charset="-122"/>
              </a:rPr>
              <a:t>(a) 图中，一个输入端接信号A</a:t>
            </a:r>
            <a:r>
              <a:rPr lang="zh-CN" sz="2400" b="1" dirty="0">
                <a:solidFill>
                  <a:srgbClr val="000066"/>
                </a:solidFill>
                <a:latin typeface="Arial" panose="020B0604020202020204" pitchFamily="34" charset="0"/>
                <a:ea typeface="楷体_GB2312" pitchFamily="49" charset="-122"/>
              </a:rPr>
              <a:t>；</a:t>
            </a:r>
            <a:r>
              <a:rPr sz="2400" b="1" dirty="0">
                <a:solidFill>
                  <a:srgbClr val="000066"/>
                </a:solidFill>
                <a:latin typeface="Arial" panose="020B0604020202020204" pitchFamily="34" charset="0"/>
                <a:ea typeface="楷体_GB2312" pitchFamily="49" charset="-122"/>
              </a:rPr>
              <a:t>另一个输入端接阻值较小</a:t>
            </a:r>
            <a:r>
              <a:rPr lang="zh-CN" sz="2400" b="1" dirty="0">
                <a:solidFill>
                  <a:srgbClr val="000066"/>
                </a:solidFill>
                <a:latin typeface="Arial" panose="020B0604020202020204" pitchFamily="34" charset="0"/>
                <a:ea typeface="楷体_GB2312" pitchFamily="49" charset="-122"/>
              </a:rPr>
              <a:t>的</a:t>
            </a:r>
            <a:r>
              <a:rPr sz="2400" b="1" dirty="0">
                <a:solidFill>
                  <a:srgbClr val="000066"/>
                </a:solidFill>
                <a:latin typeface="Arial" panose="020B0604020202020204" pitchFamily="34" charset="0"/>
                <a:ea typeface="楷体_GB2312" pitchFamily="49" charset="-122"/>
                <a:sym typeface="+mn-ea"/>
              </a:rPr>
              <a:t>电阻</a:t>
            </a:r>
            <a:r>
              <a:rPr sz="2400" b="1" dirty="0">
                <a:solidFill>
                  <a:srgbClr val="000066"/>
                </a:solidFill>
                <a:latin typeface="Arial" panose="020B0604020202020204" pitchFamily="34" charset="0"/>
                <a:ea typeface="楷体_GB2312" pitchFamily="49" charset="-122"/>
              </a:rPr>
              <a:t>，相当于接入低电平，因此</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a:t>
            </a:r>
            <a:endParaRPr sz="2400" b="1" dirty="0">
              <a:solidFill>
                <a:srgbClr val="000066"/>
              </a:solidFill>
              <a:latin typeface="Arial" panose="020B0604020202020204" pitchFamily="34" charset="0"/>
              <a:ea typeface="楷体_GB2312" pitchFamily="49" charset="-122"/>
            </a:endParaRPr>
          </a:p>
        </p:txBody>
      </p:sp>
      <p:sp>
        <p:nvSpPr>
          <p:cNvPr id="11" name="Rectangle 3"/>
          <p:cNvSpPr>
            <a:spLocks noGrp="1"/>
          </p:cNvSpPr>
          <p:nvPr/>
        </p:nvSpPr>
        <p:spPr>
          <a:xfrm>
            <a:off x="457200" y="4343400"/>
            <a:ext cx="8223885" cy="97409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hangingPunct="1">
              <a:lnSpc>
                <a:spcPct val="11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(b) 图中，一个输入端接信号A</a:t>
            </a:r>
            <a:r>
              <a:rPr lang="zh-CN" sz="2400" b="1" dirty="0">
                <a:solidFill>
                  <a:srgbClr val="000066"/>
                </a:solidFill>
                <a:latin typeface="Arial" panose="020B0604020202020204" pitchFamily="34" charset="0"/>
                <a:ea typeface="楷体_GB2312" pitchFamily="49" charset="-122"/>
              </a:rPr>
              <a:t>；</a:t>
            </a:r>
            <a:r>
              <a:rPr sz="2400" b="1" dirty="0">
                <a:solidFill>
                  <a:srgbClr val="000066"/>
                </a:solidFill>
                <a:latin typeface="Arial" panose="020B0604020202020204" pitchFamily="34" charset="0"/>
                <a:ea typeface="楷体_GB2312" pitchFamily="49" charset="-122"/>
              </a:rPr>
              <a:t>另一个输入端阻值</a:t>
            </a:r>
            <a:r>
              <a:rPr lang="zh-CN" sz="2400" b="1" dirty="0">
                <a:solidFill>
                  <a:srgbClr val="000066"/>
                </a:solidFill>
                <a:latin typeface="Arial" panose="020B0604020202020204" pitchFamily="34" charset="0"/>
                <a:ea typeface="楷体_GB2312" pitchFamily="49" charset="-122"/>
              </a:rPr>
              <a:t>远大于</a:t>
            </a:r>
            <a:r>
              <a:rPr sz="2400" b="1" dirty="0">
                <a:solidFill>
                  <a:srgbClr val="000066"/>
                </a:solidFill>
                <a:latin typeface="Arial" panose="020B0604020202020204" pitchFamily="34" charset="0"/>
                <a:ea typeface="楷体_GB2312" pitchFamily="49" charset="-122"/>
              </a:rPr>
              <a:t>0.91k</a:t>
            </a:r>
            <a:r>
              <a:rPr sz="2400" b="1" dirty="0">
                <a:solidFill>
                  <a:srgbClr val="000066"/>
                </a:solidFill>
                <a:latin typeface="Arial" panose="020B0604020202020204" pitchFamily="34" charset="0"/>
                <a:ea typeface="楷体_GB2312" pitchFamily="49" charset="-122"/>
                <a:sym typeface="Symbol" panose="05050102010706020507" charset="0"/>
              </a:rPr>
              <a:t></a:t>
            </a:r>
            <a:r>
              <a:rPr lang="zh-CN" sz="2400" b="1" dirty="0">
                <a:solidFill>
                  <a:srgbClr val="000066"/>
                </a:solidFill>
                <a:latin typeface="Arial" panose="020B0604020202020204" pitchFamily="34" charset="0"/>
                <a:ea typeface="楷体_GB2312" pitchFamily="49" charset="-122"/>
                <a:sym typeface="Symbol" panose="05050102010706020507" charset="0"/>
              </a:rPr>
              <a:t>的</a:t>
            </a:r>
            <a:r>
              <a:rPr sz="2400" b="1" dirty="0">
                <a:solidFill>
                  <a:srgbClr val="000066"/>
                </a:solidFill>
                <a:latin typeface="Arial" panose="020B0604020202020204" pitchFamily="34" charset="0"/>
                <a:ea typeface="楷体_GB2312" pitchFamily="49" charset="-122"/>
                <a:sym typeface="+mn-ea"/>
              </a:rPr>
              <a:t>电阻</a:t>
            </a:r>
            <a:r>
              <a:rPr sz="2400" b="1" dirty="0">
                <a:solidFill>
                  <a:srgbClr val="000066"/>
                </a:solidFill>
                <a:latin typeface="Arial" panose="020B0604020202020204" pitchFamily="34" charset="0"/>
                <a:ea typeface="楷体_GB2312" pitchFamily="49" charset="-122"/>
              </a:rPr>
              <a:t>，相当于接入高电平，因此</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a:t>
            </a:r>
            <a:endParaRPr sz="2400" b="1" dirty="0">
              <a:solidFill>
                <a:srgbClr val="000066"/>
              </a:solidFill>
              <a:latin typeface="Arial" panose="020B0604020202020204" pitchFamily="34" charset="0"/>
              <a:ea typeface="楷体_GB2312" pitchFamily="49" charset="-122"/>
            </a:endParaRPr>
          </a:p>
        </p:txBody>
      </p:sp>
      <p:graphicFrame>
        <p:nvGraphicFramePr>
          <p:cNvPr id="3" name="对象 -2147482043"/>
          <p:cNvGraphicFramePr>
            <a:graphicFrameLocks noChangeAspect="1"/>
          </p:cNvGraphicFramePr>
          <p:nvPr/>
        </p:nvGraphicFramePr>
        <p:xfrm>
          <a:off x="6137910" y="3920490"/>
          <a:ext cx="1437640" cy="469900"/>
        </p:xfrm>
        <a:graphic>
          <a:graphicData uri="http://schemas.openxmlformats.org/presentationml/2006/ole">
            <mc:AlternateContent xmlns:mc="http://schemas.openxmlformats.org/markup-compatibility/2006">
              <mc:Choice xmlns:v="urn:schemas-microsoft-com:vml" Requires="v">
                <p:oleObj spid="_x0000_s3076" name="" r:id="rId4" imgW="659765" imgH="215900" progId="Equation.DSMT4">
                  <p:embed/>
                </p:oleObj>
              </mc:Choice>
              <mc:Fallback>
                <p:oleObj name="" r:id="rId4" imgW="659765" imgH="215900" progId="Equation.DSMT4">
                  <p:embed/>
                  <p:pic>
                    <p:nvPicPr>
                      <p:cNvPr id="0" name="图片 3075"/>
                      <p:cNvPicPr/>
                      <p:nvPr/>
                    </p:nvPicPr>
                    <p:blipFill>
                      <a:blip r:embed="rId5"/>
                      <a:stretch>
                        <a:fillRect/>
                      </a:stretch>
                    </p:blipFill>
                    <p:spPr>
                      <a:xfrm>
                        <a:off x="6137910" y="3920490"/>
                        <a:ext cx="1437640" cy="469900"/>
                      </a:xfrm>
                      <a:prstGeom prst="rect">
                        <a:avLst/>
                      </a:prstGeom>
                      <a:noFill/>
                      <a:ln w="38100">
                        <a:noFill/>
                        <a:miter/>
                      </a:ln>
                    </p:spPr>
                  </p:pic>
                </p:oleObj>
              </mc:Fallback>
            </mc:AlternateContent>
          </a:graphicData>
        </a:graphic>
      </p:graphicFrame>
      <p:graphicFrame>
        <p:nvGraphicFramePr>
          <p:cNvPr id="5" name="对象 -2147482046"/>
          <p:cNvGraphicFramePr>
            <a:graphicFrameLocks noChangeAspect="1"/>
          </p:cNvGraphicFramePr>
          <p:nvPr/>
        </p:nvGraphicFramePr>
        <p:xfrm>
          <a:off x="6477000" y="4842510"/>
          <a:ext cx="1472565" cy="439420"/>
        </p:xfrm>
        <a:graphic>
          <a:graphicData uri="http://schemas.openxmlformats.org/presentationml/2006/ole">
            <mc:AlternateContent xmlns:mc="http://schemas.openxmlformats.org/markup-compatibility/2006">
              <mc:Choice xmlns:v="urn:schemas-microsoft-com:vml" Requires="v">
                <p:oleObj spid="_x0000_s13" name="" r:id="rId6" imgW="723265" imgH="215900" progId="Equation.DSMT4">
                  <p:embed/>
                </p:oleObj>
              </mc:Choice>
              <mc:Fallback>
                <p:oleObj name="" r:id="rId6" imgW="723265" imgH="215900" progId="Equation.DSMT4">
                  <p:embed/>
                  <p:pic>
                    <p:nvPicPr>
                      <p:cNvPr id="0" name="图片 12"/>
                      <p:cNvPicPr/>
                      <p:nvPr/>
                    </p:nvPicPr>
                    <p:blipFill>
                      <a:blip r:embed="rId7"/>
                      <a:stretch>
                        <a:fillRect/>
                      </a:stretch>
                    </p:blipFill>
                    <p:spPr>
                      <a:xfrm>
                        <a:off x="6477000" y="4842510"/>
                        <a:ext cx="1472565" cy="439420"/>
                      </a:xfrm>
                      <a:prstGeom prst="rect">
                        <a:avLst/>
                      </a:prstGeom>
                      <a:noFill/>
                      <a:ln w="38100">
                        <a:noFill/>
                        <a:miter/>
                      </a:ln>
                    </p:spPr>
                  </p:pic>
                </p:oleObj>
              </mc:Fallback>
            </mc:AlternateContent>
          </a:graphicData>
        </a:graphic>
      </p:graphicFrame>
      <p:sp>
        <p:nvSpPr>
          <p:cNvPr id="15" name="Rectangle 3"/>
          <p:cNvSpPr>
            <a:spLocks noGrp="1"/>
          </p:cNvSpPr>
          <p:nvPr/>
        </p:nvSpPr>
        <p:spPr>
          <a:xfrm>
            <a:off x="466090" y="5232400"/>
            <a:ext cx="8223885" cy="97409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hangingPunct="1">
              <a:lnSpc>
                <a:spcPct val="11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图(c)中，一个输入端接信号A</a:t>
            </a:r>
            <a:r>
              <a:rPr lang="en-US" sz="2400" b="1" dirty="0">
                <a:solidFill>
                  <a:srgbClr val="000066"/>
                </a:solidFill>
                <a:latin typeface="Arial" panose="020B0604020202020204" pitchFamily="34" charset="0"/>
                <a:ea typeface="楷体_GB2312" pitchFamily="49" charset="-122"/>
              </a:rPr>
              <a:t>;</a:t>
            </a:r>
            <a:r>
              <a:rPr sz="2400" b="1" dirty="0">
                <a:solidFill>
                  <a:srgbClr val="000066"/>
                </a:solidFill>
                <a:latin typeface="Arial" panose="020B0604020202020204" pitchFamily="34" charset="0"/>
                <a:ea typeface="楷体_GB2312" pitchFamily="49" charset="-122"/>
              </a:rPr>
              <a:t>另一个输入端悬空，悬空输入端的电阻无穷大，相当于接高电平，因此</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a:t>
            </a:r>
            <a:endParaRPr sz="2400" b="1" dirty="0">
              <a:solidFill>
                <a:srgbClr val="000066"/>
              </a:solidFill>
              <a:latin typeface="Arial" panose="020B0604020202020204" pitchFamily="34" charset="0"/>
              <a:ea typeface="楷体_GB2312" pitchFamily="49" charset="-122"/>
            </a:endParaRPr>
          </a:p>
        </p:txBody>
      </p:sp>
      <p:graphicFrame>
        <p:nvGraphicFramePr>
          <p:cNvPr id="6" name="对象 -2147482045"/>
          <p:cNvGraphicFramePr>
            <a:graphicFrameLocks noChangeAspect="1"/>
          </p:cNvGraphicFramePr>
          <p:nvPr/>
        </p:nvGraphicFramePr>
        <p:xfrm>
          <a:off x="6753860" y="5673090"/>
          <a:ext cx="1429385" cy="450215"/>
        </p:xfrm>
        <a:graphic>
          <a:graphicData uri="http://schemas.openxmlformats.org/presentationml/2006/ole">
            <mc:AlternateContent xmlns:mc="http://schemas.openxmlformats.org/markup-compatibility/2006">
              <mc:Choice xmlns:v="urn:schemas-microsoft-com:vml" Requires="v">
                <p:oleObj spid="_x0000_s16" name="" r:id="rId8" imgW="685165" imgH="215900" progId="Equation.DSMT4">
                  <p:embed/>
                </p:oleObj>
              </mc:Choice>
              <mc:Fallback>
                <p:oleObj name="" r:id="rId8" imgW="685165" imgH="215900" progId="Equation.DSMT4">
                  <p:embed/>
                  <p:pic>
                    <p:nvPicPr>
                      <p:cNvPr id="0" name="图片 15"/>
                      <p:cNvPicPr/>
                      <p:nvPr/>
                    </p:nvPicPr>
                    <p:blipFill>
                      <a:blip r:embed="rId9"/>
                      <a:stretch>
                        <a:fillRect/>
                      </a:stretch>
                    </p:blipFill>
                    <p:spPr>
                      <a:xfrm>
                        <a:off x="6753860" y="5673090"/>
                        <a:ext cx="1429385" cy="45021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down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5"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p:cTn id="18" dur="500" decel="50000" fill="hold">
                                          <p:stCondLst>
                                            <p:cond delay="0"/>
                                          </p:stCondLst>
                                        </p:cTn>
                                        <p:tgtEl>
                                          <p:spTgt spid="11"/>
                                        </p:tgtEl>
                                        <p:attrNameLst>
                                          <p:attrName>style.rotation</p:attrName>
                                        </p:attrNameLst>
                                      </p:cBhvr>
                                      <p:tavLst>
                                        <p:tav tm="0">
                                          <p:val>
                                            <p:fltVal val="-90"/>
                                          </p:val>
                                        </p:tav>
                                        <p:tav tm="100000">
                                          <p:val>
                                            <p:fltVal val="0"/>
                                          </p:val>
                                        </p:tav>
                                      </p:tavLst>
                                    </p:anim>
                                    <p:anim calcmode="lin" valueType="num">
                                      <p:cBhvr>
                                        <p:cTn id="19" dur="500" decel="50000" fill="hold">
                                          <p:stCondLst>
                                            <p:cond delay="0"/>
                                          </p:stCondLst>
                                        </p:cTn>
                                        <p:tgtEl>
                                          <p:spTgt spid="11"/>
                                        </p:tgtEl>
                                        <p:attrNameLst>
                                          <p:attrName>ppt_w</p:attrName>
                                        </p:attrNameLst>
                                      </p:cBhvr>
                                      <p:tavLst>
                                        <p:tav tm="0">
                                          <p:val>
                                            <p:strVal val="#ppt_w"/>
                                          </p:val>
                                        </p:tav>
                                        <p:tav tm="100000">
                                          <p:val>
                                            <p:strVal val="#ppt_w*.05"/>
                                          </p:val>
                                        </p:tav>
                                      </p:tavLst>
                                    </p:anim>
                                    <p:anim calcmode="lin" valueType="num">
                                      <p:cBhvr>
                                        <p:cTn id="20" dur="500" accel="50000" fill="hold">
                                          <p:stCondLst>
                                            <p:cond delay="500"/>
                                          </p:stCondLst>
                                        </p:cTn>
                                        <p:tgtEl>
                                          <p:spTgt spid="11"/>
                                        </p:tgtEl>
                                        <p:attrNameLst>
                                          <p:attrName>ppt_w</p:attrName>
                                        </p:attrNameLst>
                                      </p:cBhvr>
                                      <p:tavLst>
                                        <p:tav tm="0">
                                          <p:val>
                                            <p:strVal val="#ppt_w*.05"/>
                                          </p:val>
                                        </p:tav>
                                        <p:tav tm="100000">
                                          <p:val>
                                            <p:strVal val="#ppt_w"/>
                                          </p:val>
                                        </p:tav>
                                      </p:tavLst>
                                    </p:anim>
                                    <p:anim calcmode="lin" valueType="num">
                                      <p:cBhvr>
                                        <p:cTn id="21" dur="1000" fill="hold"/>
                                        <p:tgtEl>
                                          <p:spTgt spid="11"/>
                                        </p:tgtEl>
                                        <p:attrNameLst>
                                          <p:attrName>ppt_h</p:attrName>
                                        </p:attrNameLst>
                                      </p:cBhvr>
                                      <p:tavLst>
                                        <p:tav tm="0">
                                          <p:val>
                                            <p:strVal val="#ppt_h"/>
                                          </p:val>
                                        </p:tav>
                                        <p:tav tm="100000">
                                          <p:val>
                                            <p:strVal val="#ppt_h"/>
                                          </p:val>
                                        </p:tav>
                                      </p:tavLst>
                                    </p:anim>
                                    <p:anim calcmode="lin" valueType="num">
                                      <p:cBhvr>
                                        <p:cTn id="22" dur="500" decel="50000" fill="hold">
                                          <p:stCondLst>
                                            <p:cond delay="0"/>
                                          </p:stCondLst>
                                        </p:cTn>
                                        <p:tgtEl>
                                          <p:spTgt spid="11"/>
                                        </p:tgtEl>
                                        <p:attrNameLst>
                                          <p:attrName>ppt_x</p:attrName>
                                        </p:attrNameLst>
                                      </p:cBhvr>
                                      <p:tavLst>
                                        <p:tav tm="0">
                                          <p:val>
                                            <p:strVal val="#ppt_x+.4"/>
                                          </p:val>
                                        </p:tav>
                                        <p:tav tm="100000">
                                          <p:val>
                                            <p:strVal val="#ppt_x"/>
                                          </p:val>
                                        </p:tav>
                                      </p:tavLst>
                                    </p:anim>
                                    <p:anim calcmode="lin" valueType="num">
                                      <p:cBhvr>
                                        <p:cTn id="23" dur="500" decel="50000" fill="hold">
                                          <p:stCondLst>
                                            <p:cond delay="0"/>
                                          </p:stCondLst>
                                        </p:cTn>
                                        <p:tgtEl>
                                          <p:spTgt spid="11"/>
                                        </p:tgtEl>
                                        <p:attrNameLst>
                                          <p:attrName>ppt_y</p:attrName>
                                        </p:attrNameLst>
                                      </p:cBhvr>
                                      <p:tavLst>
                                        <p:tav tm="0">
                                          <p:val>
                                            <p:strVal val="#ppt_y-.2"/>
                                          </p:val>
                                        </p:tav>
                                        <p:tav tm="100000">
                                          <p:val>
                                            <p:strVal val="#ppt_y+.1"/>
                                          </p:val>
                                        </p:tav>
                                      </p:tavLst>
                                    </p:anim>
                                    <p:anim calcmode="lin" valueType="num">
                                      <p:cBhvr>
                                        <p:cTn id="24" dur="500" accel="50000" fill="hold">
                                          <p:stCondLst>
                                            <p:cond delay="500"/>
                                          </p:stCondLst>
                                        </p:cTn>
                                        <p:tgtEl>
                                          <p:spTgt spid="11"/>
                                        </p:tgtEl>
                                        <p:attrNameLst>
                                          <p:attrName>ppt_y</p:attrName>
                                        </p:attrNameLst>
                                      </p:cBhvr>
                                      <p:tavLst>
                                        <p:tav tm="0">
                                          <p:val>
                                            <p:strVal val="#ppt_y+.1"/>
                                          </p:val>
                                        </p:tav>
                                        <p:tav tm="100000">
                                          <p:val>
                                            <p:strVal val="#ppt_y"/>
                                          </p:val>
                                        </p:tav>
                                      </p:tavLst>
                                    </p:anim>
                                    <p:animEffect transition="in" filter="fade">
                                      <p:cBhvr>
                                        <p:cTn id="25" dur="1000" decel="50000">
                                          <p:stCondLst>
                                            <p:cond delay="0"/>
                                          </p:stCondLst>
                                        </p:cTn>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3"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additive="base">
                                        <p:cTn id="30" dur="500" fill="hold"/>
                                        <p:tgtEl>
                                          <p:spTgt spid="5"/>
                                        </p:tgtEl>
                                        <p:attrNameLst>
                                          <p:attrName>ppt_x</p:attrName>
                                        </p:attrNameLst>
                                      </p:cBhvr>
                                      <p:tavLst>
                                        <p:tav tm="0">
                                          <p:val>
                                            <p:strVal val="1+#ppt_w/2"/>
                                          </p:val>
                                        </p:tav>
                                        <p:tav tm="100000">
                                          <p:val>
                                            <p:strVal val="#ppt_x"/>
                                          </p:val>
                                        </p:tav>
                                      </p:tavLst>
                                    </p:anim>
                                    <p:anim calcmode="lin" valueType="num">
                                      <p:cBhvr additive="base">
                                        <p:cTn id="31"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50" presetClass="entr" presetSubtype="0" decel="100000" fill="hold" grpId="0" nodeType="clickEffect">
                                  <p:stCondLst>
                                    <p:cond delay="0"/>
                                  </p:stCondLst>
                                  <p:childTnLst>
                                    <p:set>
                                      <p:cBhvr>
                                        <p:cTn id="35" dur="1" fill="hold">
                                          <p:stCondLst>
                                            <p:cond delay="0"/>
                                          </p:stCondLst>
                                        </p:cTn>
                                        <p:tgtEl>
                                          <p:spTgt spid="15"/>
                                        </p:tgtEl>
                                        <p:attrNameLst>
                                          <p:attrName>style.visibility</p:attrName>
                                        </p:attrNameLst>
                                      </p:cBhvr>
                                      <p:to>
                                        <p:strVal val="visible"/>
                                      </p:to>
                                    </p:set>
                                    <p:anim calcmode="lin" valueType="num">
                                      <p:cBhvr>
                                        <p:cTn id="36" dur="1000" fill="hold"/>
                                        <p:tgtEl>
                                          <p:spTgt spid="15"/>
                                        </p:tgtEl>
                                        <p:attrNameLst>
                                          <p:attrName>ppt_w</p:attrName>
                                        </p:attrNameLst>
                                      </p:cBhvr>
                                      <p:tavLst>
                                        <p:tav tm="0">
                                          <p:val>
                                            <p:strVal val="#ppt_w+.3"/>
                                          </p:val>
                                        </p:tav>
                                        <p:tav tm="100000">
                                          <p:val>
                                            <p:strVal val="#ppt_w"/>
                                          </p:val>
                                        </p:tav>
                                      </p:tavLst>
                                    </p:anim>
                                    <p:anim calcmode="lin" valueType="num">
                                      <p:cBhvr>
                                        <p:cTn id="37" dur="1000" fill="hold"/>
                                        <p:tgtEl>
                                          <p:spTgt spid="15"/>
                                        </p:tgtEl>
                                        <p:attrNameLst>
                                          <p:attrName>ppt_h</p:attrName>
                                        </p:attrNameLst>
                                      </p:cBhvr>
                                      <p:tavLst>
                                        <p:tav tm="0">
                                          <p:val>
                                            <p:strVal val="#ppt_h"/>
                                          </p:val>
                                        </p:tav>
                                        <p:tav tm="100000">
                                          <p:val>
                                            <p:strVal val="#ppt_h"/>
                                          </p:val>
                                        </p:tav>
                                      </p:tavLst>
                                    </p:anim>
                                    <p:animEffect transition="in" filter="fade">
                                      <p:cBhvr>
                                        <p:cTn id="38" dur="1000"/>
                                        <p:tgtEl>
                                          <p:spTgt spid="15"/>
                                        </p:tgtEl>
                                      </p:cBhvr>
                                    </p:animEffect>
                                  </p:childTnLst>
                                </p:cTn>
                              </p:par>
                            </p:childTnLst>
                          </p:cTn>
                        </p:par>
                      </p:childTnLst>
                    </p:cTn>
                  </p:par>
                  <p:par>
                    <p:cTn id="39" fill="hold">
                      <p:stCondLst>
                        <p:cond delay="indefinite"/>
                      </p:stCondLst>
                      <p:childTnLst>
                        <p:par>
                          <p:cTn id="40" fill="hold">
                            <p:stCondLst>
                              <p:cond delay="0"/>
                            </p:stCondLst>
                            <p:childTnLst>
                              <p:par>
                                <p:cTn id="41" presetID="34" presetClass="entr" presetSubtype="0" fill="hold" nodeType="clickEffect">
                                  <p:stCondLst>
                                    <p:cond delay="0"/>
                                  </p:stCondLst>
                                  <p:childTnLst>
                                    <p:set>
                                      <p:cBhvr>
                                        <p:cTn id="42" dur="1" fill="hold">
                                          <p:stCondLst>
                                            <p:cond delay="0"/>
                                          </p:stCondLst>
                                        </p:cTn>
                                        <p:tgtEl>
                                          <p:spTgt spid="6"/>
                                        </p:tgtEl>
                                        <p:attrNameLst>
                                          <p:attrName>style.visibility</p:attrName>
                                        </p:attrNameLst>
                                      </p:cBhvr>
                                      <p:to>
                                        <p:strVal val="visible"/>
                                      </p:to>
                                    </p:set>
                                    <p:anim from="(-#ppt_w/2)" to="(#ppt_x)" calcmode="lin" valueType="num">
                                      <p:cBhvr>
                                        <p:cTn id="43" dur="600" fill="hold">
                                          <p:stCondLst>
                                            <p:cond delay="0"/>
                                          </p:stCondLst>
                                        </p:cTn>
                                        <p:tgtEl>
                                          <p:spTgt spid="6"/>
                                        </p:tgtEl>
                                        <p:attrNameLst>
                                          <p:attrName>ppt_x</p:attrName>
                                        </p:attrNameLst>
                                      </p:cBhvr>
                                    </p:anim>
                                    <p:anim from="0" to="-1.0" calcmode="lin" valueType="num">
                                      <p:cBhvr>
                                        <p:cTn id="44" dur="200" decel="50000" autoRev="1" fill="hold">
                                          <p:stCondLst>
                                            <p:cond delay="600"/>
                                          </p:stCondLst>
                                        </p:cTn>
                                        <p:tgtEl>
                                          <p:spTgt spid="6"/>
                                        </p:tgtEl>
                                        <p:attrNameLst>
                                          <p:attrName>xshear</p:attrName>
                                        </p:attrNameLst>
                                      </p:cBhvr>
                                    </p:anim>
                                    <p:animScale>
                                      <p:cBhvr>
                                        <p:cTn id="45" dur="200" decel="100000" autoRev="1" fill="hold">
                                          <p:stCondLst>
                                            <p:cond delay="600"/>
                                          </p:stCondLst>
                                        </p:cTn>
                                        <p:tgtEl>
                                          <p:spTgt spid="6"/>
                                        </p:tgtEl>
                                      </p:cBhvr>
                                      <p:from x="100000" y="100000"/>
                                      <p:to x="80000" y="100000"/>
                                    </p:animScale>
                                    <p:anim by="(#ppt_h/3+#ppt_w*0.1)" calcmode="lin" valueType="num">
                                      <p:cBhvr additive="sum">
                                        <p:cTn id="46" dur="200" decel="100000" autoRev="1" fill="hold">
                                          <p:stCondLst>
                                            <p:cond delay="600"/>
                                          </p:stCondLst>
                                        </p:cTn>
                                        <p:tgtEl>
                                          <p:spTgt spid="6"/>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文本框 10"/>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1226820" y="1101090"/>
            <a:ext cx="351980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6. 输出端接同类门负载</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3" name="Rectangle 3"/>
          <p:cNvSpPr>
            <a:spLocks noGrp="1"/>
          </p:cNvSpPr>
          <p:nvPr/>
        </p:nvSpPr>
        <p:spPr>
          <a:xfrm>
            <a:off x="618490" y="1524000"/>
            <a:ext cx="7903210" cy="135890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hangingPunct="1">
              <a:lnSpc>
                <a:spcPct val="11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dirty="0">
                <a:solidFill>
                  <a:srgbClr val="000066"/>
                </a:solidFill>
                <a:latin typeface="Arial" panose="020B0604020202020204" pitchFamily="34" charset="0"/>
                <a:ea typeface="楷体_GB2312" pitchFamily="49" charset="-122"/>
              </a:rPr>
              <a:t>逻辑电路中，前级门电路常称为驱动门，后级门电路常称为负载门。一个门电路所有输入端的数量称为扇入系数，它能带同类负载门电路的最大数量称为扇出系数。</a:t>
            </a:r>
            <a:endParaRPr lang="zh-CN" altLang="en-US" sz="2400" b="1"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3.2 TTL</a:t>
            </a:r>
            <a:r>
              <a:rPr lang="zh-CN" altLang="en-US" b="1" dirty="0">
                <a:solidFill>
                  <a:srgbClr val="FF0000"/>
                </a:solidFill>
                <a:latin typeface="黑体" panose="02010609060101010101" pitchFamily="49" charset="-122"/>
                <a:ea typeface="黑体" panose="02010609060101010101" pitchFamily="49" charset="-122"/>
              </a:rPr>
              <a:t>逻辑门电路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5" name="Rectangle 3"/>
          <p:cNvSpPr>
            <a:spLocks noGrp="1"/>
          </p:cNvSpPr>
          <p:nvPr/>
        </p:nvSpPr>
        <p:spPr>
          <a:xfrm>
            <a:off x="685800" y="2743200"/>
            <a:ext cx="4337050"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en-US" sz="2400" b="1" dirty="0">
                <a:solidFill>
                  <a:srgbClr val="070707"/>
                </a:solidFill>
                <a:latin typeface="Times New Roman" panose="02020603050405020304" charset="0"/>
                <a:ea typeface="楷体_GB2312" pitchFamily="49" charset="-122"/>
                <a:cs typeface="Times New Roman" panose="02020603050405020304" charset="0"/>
                <a:sym typeface="+mn-ea"/>
              </a:rPr>
              <a:t>(1) </a:t>
            </a:r>
            <a:r>
              <a:rPr sz="2400" b="1" dirty="0">
                <a:solidFill>
                  <a:srgbClr val="070707"/>
                </a:solidFill>
                <a:latin typeface="Times New Roman" panose="02020603050405020304" charset="0"/>
                <a:ea typeface="楷体_GB2312" pitchFamily="49" charset="-122"/>
                <a:cs typeface="Times New Roman" panose="02020603050405020304" charset="0"/>
              </a:rPr>
              <a:t>高电平输出负载情况</a:t>
            </a:r>
            <a:r>
              <a:rPr lang="en-US" sz="2400" b="1" dirty="0">
                <a:solidFill>
                  <a:srgbClr val="070707"/>
                </a:solidFill>
                <a:latin typeface="Times New Roman" panose="02020603050405020304" charset="0"/>
                <a:ea typeface="楷体_GB2312" pitchFamily="49" charset="-122"/>
                <a:cs typeface="Times New Roman" panose="02020603050405020304" charset="0"/>
              </a:rPr>
              <a:t>。</a:t>
            </a:r>
            <a:endParaRPr lang="en-US" sz="2400" b="1" dirty="0">
              <a:solidFill>
                <a:srgbClr val="070707"/>
              </a:solidFill>
              <a:latin typeface="Times New Roman" panose="02020603050405020304" charset="0"/>
              <a:ea typeface="楷体_GB2312" pitchFamily="49" charset="-122"/>
              <a:cs typeface="Times New Roman" panose="02020603050405020304" charset="0"/>
            </a:endParaRPr>
          </a:p>
        </p:txBody>
      </p:sp>
      <p:grpSp>
        <p:nvGrpSpPr>
          <p:cNvPr id="6" name="组合 5"/>
          <p:cNvGrpSpPr/>
          <p:nvPr/>
        </p:nvGrpSpPr>
        <p:grpSpPr>
          <a:xfrm>
            <a:off x="207010" y="3352800"/>
            <a:ext cx="2620010" cy="3481070"/>
            <a:chOff x="326" y="5280"/>
            <a:chExt cx="4126" cy="5482"/>
          </a:xfrm>
        </p:grpSpPr>
        <p:pic>
          <p:nvPicPr>
            <p:cNvPr id="9247" name="图片 2684"/>
            <p:cNvPicPr>
              <a:picLocks noChangeAspect="1"/>
            </p:cNvPicPr>
            <p:nvPr/>
          </p:nvPicPr>
          <p:blipFill>
            <a:blip r:embed="rId1"/>
            <a:stretch>
              <a:fillRect/>
            </a:stretch>
          </p:blipFill>
          <p:spPr>
            <a:xfrm>
              <a:off x="600" y="5280"/>
              <a:ext cx="3853" cy="4965"/>
            </a:xfrm>
            <a:prstGeom prst="rect">
              <a:avLst/>
            </a:prstGeom>
            <a:noFill/>
            <a:ln>
              <a:noFill/>
            </a:ln>
          </p:spPr>
        </p:pic>
        <p:sp>
          <p:nvSpPr>
            <p:cNvPr id="100" name="文本框 99"/>
            <p:cNvSpPr txBox="1"/>
            <p:nvPr/>
          </p:nvSpPr>
          <p:spPr>
            <a:xfrm>
              <a:off x="326" y="10280"/>
              <a:ext cx="3571" cy="483"/>
            </a:xfrm>
            <a:prstGeom prst="rect">
              <a:avLst/>
            </a:prstGeom>
            <a:noFill/>
            <a:ln w="9525">
              <a:noFill/>
            </a:ln>
          </p:spPr>
          <p:txBody>
            <a:bodyPr wrap="square">
              <a:spAutoFit/>
            </a:bodyPr>
            <a:p>
              <a:r>
                <a:rPr lang="zh-CN" sz="1400">
                  <a:latin typeface="Times New Roman" panose="02020603050405020304" charset="0"/>
                  <a:ea typeface="宋体" panose="02010600030101010101" pitchFamily="2" charset="-122"/>
                </a:rPr>
                <a:t>图</a:t>
              </a:r>
              <a:r>
                <a:rPr lang="en-US" sz="1400">
                  <a:latin typeface="Times New Roman" panose="02020603050405020304" charset="0"/>
                  <a:ea typeface="宋体" panose="02010600030101010101" pitchFamily="2" charset="-122"/>
                </a:rPr>
                <a:t>3-23 </a:t>
              </a:r>
              <a:r>
                <a:rPr lang="zh-CN" sz="1400">
                  <a:latin typeface="Times New Roman" panose="02020603050405020304" charset="0"/>
                  <a:ea typeface="宋体" panose="02010600030101010101" pitchFamily="2" charset="-122"/>
                </a:rPr>
                <a:t>高电平输出带负载</a:t>
              </a:r>
              <a:endParaRPr lang="zh-CN" altLang="en-US" sz="1400"/>
            </a:p>
          </p:txBody>
        </p:sp>
      </p:grpSp>
      <p:sp>
        <p:nvSpPr>
          <p:cNvPr id="10" name="Rectangle 3"/>
          <p:cNvSpPr>
            <a:spLocks noGrp="1"/>
          </p:cNvSpPr>
          <p:nvPr/>
        </p:nvSpPr>
        <p:spPr>
          <a:xfrm>
            <a:off x="2438400" y="3200400"/>
            <a:ext cx="6477000" cy="275272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hangingPunct="1">
              <a:lnSpc>
                <a:spcPct val="11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图3-23为与非门高电平输出时带一个与非门负载的等效电路。驱动门输出高电平时，电流从驱动门向外流向负载门的输入端，这种负载常称为拉电流负载。在</a:t>
            </a:r>
            <a:r>
              <a:rPr lang="zh-CN" sz="2400" b="1" kern="1200" dirty="0">
                <a:solidFill>
                  <a:srgbClr val="000066"/>
                </a:solidFill>
                <a:latin typeface="Arial" panose="020B0604020202020204" pitchFamily="34" charset="0"/>
                <a:ea typeface="楷体_GB2312" pitchFamily="49" charset="-122"/>
              </a:rPr>
              <a:t>这种</a:t>
            </a:r>
            <a:r>
              <a:rPr sz="2400" b="1" kern="1200" dirty="0">
                <a:solidFill>
                  <a:srgbClr val="000066"/>
                </a:solidFill>
                <a:latin typeface="Arial" panose="020B0604020202020204" pitchFamily="34" charset="0"/>
                <a:ea typeface="楷体_GB2312" pitchFamily="49" charset="-122"/>
              </a:rPr>
              <a:t>情况下，驱动门向负载门提供输出高电平电流</a:t>
            </a:r>
            <a:r>
              <a:rPr sz="2400" b="1" i="1" kern="1200" dirty="0">
                <a:solidFill>
                  <a:srgbClr val="000066"/>
                </a:solidFill>
                <a:latin typeface="Arial" panose="020B0604020202020204" pitchFamily="34" charset="0"/>
                <a:ea typeface="楷体_GB2312" pitchFamily="49" charset="-122"/>
              </a:rPr>
              <a:t>I</a:t>
            </a:r>
            <a:r>
              <a:rPr sz="2400" b="1" kern="1200" baseline="-25000" dirty="0">
                <a:solidFill>
                  <a:srgbClr val="000066"/>
                </a:solidFill>
                <a:latin typeface="Arial" panose="020B0604020202020204" pitchFamily="34" charset="0"/>
                <a:ea typeface="楷体_GB2312" pitchFamily="49" charset="-122"/>
              </a:rPr>
              <a:t>OH</a:t>
            </a:r>
            <a:r>
              <a:rPr sz="2400" b="1" kern="1200" dirty="0">
                <a:solidFill>
                  <a:srgbClr val="000066"/>
                </a:solidFill>
                <a:latin typeface="Arial" panose="020B0604020202020204" pitchFamily="34" charset="0"/>
                <a:ea typeface="楷体_GB2312" pitchFamily="49" charset="-122"/>
              </a:rPr>
              <a:t>，负载门的输入电流为</a:t>
            </a:r>
            <a:r>
              <a:rPr sz="2400" b="1" i="1" kern="1200" dirty="0">
                <a:solidFill>
                  <a:srgbClr val="000066"/>
                </a:solidFill>
                <a:latin typeface="Arial" panose="020B0604020202020204" pitchFamily="34" charset="0"/>
                <a:ea typeface="楷体_GB2312" pitchFamily="49" charset="-122"/>
              </a:rPr>
              <a:t>I</a:t>
            </a:r>
            <a:r>
              <a:rPr sz="2400" b="1" kern="1200" baseline="-25000" dirty="0">
                <a:solidFill>
                  <a:srgbClr val="000066"/>
                </a:solidFill>
                <a:latin typeface="Arial" panose="020B0604020202020204" pitchFamily="34" charset="0"/>
                <a:ea typeface="楷体_GB2312" pitchFamily="49" charset="-122"/>
              </a:rPr>
              <a:t>IH</a:t>
            </a:r>
            <a:r>
              <a:rPr lang="zh-CN" sz="2400" b="1" kern="1200" dirty="0">
                <a:solidFill>
                  <a:srgbClr val="000066"/>
                </a:solidFill>
                <a:latin typeface="Arial" panose="020B0604020202020204" pitchFamily="34" charset="0"/>
                <a:ea typeface="楷体_GB2312" pitchFamily="49" charset="-122"/>
              </a:rPr>
              <a:t>，驱动门的</a:t>
            </a:r>
            <a:r>
              <a:rPr sz="2400" b="1" kern="1200" dirty="0">
                <a:solidFill>
                  <a:srgbClr val="000066"/>
                </a:solidFill>
                <a:latin typeface="Arial" panose="020B0604020202020204" pitchFamily="34" charset="0"/>
                <a:ea typeface="楷体_GB2312" pitchFamily="49" charset="-122"/>
              </a:rPr>
              <a:t>扇出系数</a:t>
            </a:r>
            <a:r>
              <a:rPr sz="2400" b="1" i="1" kern="1200" dirty="0">
                <a:solidFill>
                  <a:srgbClr val="000066"/>
                </a:solidFill>
                <a:latin typeface="Arial" panose="020B0604020202020204" pitchFamily="34" charset="0"/>
                <a:ea typeface="楷体_GB2312" pitchFamily="49" charset="-122"/>
              </a:rPr>
              <a:t>N</a:t>
            </a:r>
            <a:r>
              <a:rPr sz="2400" b="1" kern="1200" baseline="-25000" dirty="0">
                <a:solidFill>
                  <a:srgbClr val="000066"/>
                </a:solidFill>
                <a:latin typeface="Arial" panose="020B0604020202020204" pitchFamily="34" charset="0"/>
                <a:ea typeface="楷体_GB2312" pitchFamily="49" charset="-122"/>
              </a:rPr>
              <a:t>OH</a:t>
            </a:r>
            <a:r>
              <a:rPr sz="2400" b="1" kern="1200" dirty="0">
                <a:solidFill>
                  <a:srgbClr val="000066"/>
                </a:solidFill>
                <a:latin typeface="Arial" panose="020B0604020202020204" pitchFamily="34" charset="0"/>
                <a:ea typeface="楷体_GB2312" pitchFamily="49" charset="-122"/>
              </a:rPr>
              <a:t>为</a:t>
            </a:r>
            <a:endParaRPr sz="2400" b="1" kern="1200" dirty="0">
              <a:solidFill>
                <a:srgbClr val="000066"/>
              </a:solidFill>
              <a:latin typeface="Arial" panose="020B0604020202020204" pitchFamily="34" charset="0"/>
              <a:ea typeface="楷体_GB2312" pitchFamily="49" charset="-122"/>
            </a:endParaRPr>
          </a:p>
        </p:txBody>
      </p:sp>
      <p:graphicFrame>
        <p:nvGraphicFramePr>
          <p:cNvPr id="4" name="对象 -2147482042"/>
          <p:cNvGraphicFramePr>
            <a:graphicFrameLocks noChangeAspect="1"/>
          </p:cNvGraphicFramePr>
          <p:nvPr/>
        </p:nvGraphicFramePr>
        <p:xfrm>
          <a:off x="2590800" y="5943600"/>
          <a:ext cx="1678305" cy="853440"/>
        </p:xfrm>
        <a:graphic>
          <a:graphicData uri="http://schemas.openxmlformats.org/presentationml/2006/ole">
            <mc:AlternateContent xmlns:mc="http://schemas.openxmlformats.org/markup-compatibility/2006">
              <mc:Choice xmlns:v="urn:schemas-microsoft-com:vml" Requires="v">
                <p:oleObj spid="_x0000_s3076" name="" r:id="rId2" imgW="774065" imgH="393700" progId="Equation.DSMT4">
                  <p:embed/>
                </p:oleObj>
              </mc:Choice>
              <mc:Fallback>
                <p:oleObj name="" r:id="rId2" imgW="774065" imgH="393700" progId="Equation.DSMT4">
                  <p:embed/>
                  <p:pic>
                    <p:nvPicPr>
                      <p:cNvPr id="0" name="图片 3075"/>
                      <p:cNvPicPr/>
                      <p:nvPr/>
                    </p:nvPicPr>
                    <p:blipFill>
                      <a:blip r:embed="rId3"/>
                      <a:stretch>
                        <a:fillRect/>
                      </a:stretch>
                    </p:blipFill>
                    <p:spPr>
                      <a:xfrm>
                        <a:off x="2590800" y="5943600"/>
                        <a:ext cx="1678305" cy="853440"/>
                      </a:xfrm>
                      <a:prstGeom prst="rect">
                        <a:avLst/>
                      </a:prstGeom>
                      <a:noFill/>
                      <a:ln w="38100">
                        <a:noFill/>
                        <a:miter/>
                      </a:ln>
                    </p:spPr>
                  </p:pic>
                </p:oleObj>
              </mc:Fallback>
            </mc:AlternateContent>
          </a:graphicData>
        </a:graphic>
      </p:graphicFrame>
      <p:sp>
        <p:nvSpPr>
          <p:cNvPr id="7" name="文本框 6"/>
          <p:cNvSpPr txBox="1"/>
          <p:nvPr/>
        </p:nvSpPr>
        <p:spPr>
          <a:xfrm>
            <a:off x="4286250" y="5673090"/>
            <a:ext cx="4594225" cy="1198880"/>
          </a:xfrm>
          <a:prstGeom prst="rect">
            <a:avLst/>
          </a:prstGeom>
          <a:noFill/>
          <a:ln w="9525">
            <a:noFill/>
          </a:ln>
        </p:spPr>
        <p:txBody>
          <a:bodyPr wrap="square">
            <a:spAutoFit/>
          </a:bodyPr>
          <a:p>
            <a:r>
              <a:rPr lang="zh-CN" sz="2400" b="1" dirty="0">
                <a:solidFill>
                  <a:srgbClr val="000066"/>
                </a:solidFill>
                <a:ea typeface="楷体_GB2312" pitchFamily="49" charset="-122"/>
              </a:rPr>
              <a:t>式中，</a:t>
            </a:r>
            <a:r>
              <a:rPr lang="zh-CN" sz="2400" b="1" i="1" dirty="0">
                <a:solidFill>
                  <a:srgbClr val="000066"/>
                </a:solidFill>
                <a:ea typeface="楷体_GB2312" pitchFamily="49" charset="-122"/>
              </a:rPr>
              <a:t>I</a:t>
            </a:r>
            <a:r>
              <a:rPr lang="zh-CN" sz="2400" b="1" baseline="-25000" dirty="0">
                <a:solidFill>
                  <a:srgbClr val="000066"/>
                </a:solidFill>
                <a:ea typeface="楷体_GB2312" pitchFamily="49" charset="-122"/>
              </a:rPr>
              <a:t>OH(max)</a:t>
            </a:r>
            <a:r>
              <a:rPr lang="zh-CN" sz="2400" b="1" dirty="0">
                <a:solidFill>
                  <a:srgbClr val="000066"/>
                </a:solidFill>
                <a:ea typeface="楷体_GB2312" pitchFamily="49" charset="-122"/>
              </a:rPr>
              <a:t>为驱动门所能提供的输出高电平电流的上限值，</a:t>
            </a:r>
            <a:r>
              <a:rPr lang="zh-CN" sz="2400" b="1" i="1" dirty="0">
                <a:solidFill>
                  <a:srgbClr val="000066"/>
                </a:solidFill>
                <a:ea typeface="楷体_GB2312" pitchFamily="49" charset="-122"/>
              </a:rPr>
              <a:t>I</a:t>
            </a:r>
            <a:r>
              <a:rPr lang="zh-CN" sz="2400" b="1" baseline="-25000" dirty="0">
                <a:solidFill>
                  <a:srgbClr val="000066"/>
                </a:solidFill>
                <a:ea typeface="楷体_GB2312" pitchFamily="49" charset="-122"/>
              </a:rPr>
              <a:t>IH</a:t>
            </a:r>
            <a:r>
              <a:rPr lang="zh-CN" sz="2400" b="1" dirty="0">
                <a:solidFill>
                  <a:srgbClr val="000066"/>
                </a:solidFill>
                <a:ea typeface="楷体_GB2312" pitchFamily="49" charset="-122"/>
              </a:rPr>
              <a:t>为每个负载门的输入高电平电流。</a:t>
            </a:r>
            <a:endParaRPr lang="zh-CN" sz="2400" b="1" dirty="0">
              <a:solidFill>
                <a:srgbClr val="000066"/>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0" presetClass="entr" presetSubtype="0" decel="10000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p:cTn id="13" dur="1000" fill="hold"/>
                                        <p:tgtEl>
                                          <p:spTgt spid="10"/>
                                        </p:tgtEl>
                                        <p:attrNameLst>
                                          <p:attrName>ppt_w</p:attrName>
                                        </p:attrNameLst>
                                      </p:cBhvr>
                                      <p:tavLst>
                                        <p:tav tm="0">
                                          <p:val>
                                            <p:strVal val="#ppt_w+.3"/>
                                          </p:val>
                                        </p:tav>
                                        <p:tav tm="100000">
                                          <p:val>
                                            <p:strVal val="#ppt_w"/>
                                          </p:val>
                                        </p:tav>
                                      </p:tavLst>
                                    </p:anim>
                                    <p:anim calcmode="lin" valueType="num">
                                      <p:cBhvr>
                                        <p:cTn id="14" dur="1000" fill="hold"/>
                                        <p:tgtEl>
                                          <p:spTgt spid="10"/>
                                        </p:tgtEl>
                                        <p:attrNameLst>
                                          <p:attrName>ppt_h</p:attrName>
                                        </p:attrNameLst>
                                      </p:cBhvr>
                                      <p:tavLst>
                                        <p:tav tm="0">
                                          <p:val>
                                            <p:strVal val="#ppt_h"/>
                                          </p:val>
                                        </p:tav>
                                        <p:tav tm="100000">
                                          <p:val>
                                            <p:strVal val="#ppt_h"/>
                                          </p:val>
                                        </p:tav>
                                      </p:tavLst>
                                    </p:anim>
                                    <p:animEffect transition="in" filter="fade">
                                      <p:cBhvr>
                                        <p:cTn id="15" dur="1000"/>
                                        <p:tgtEl>
                                          <p:spTgt spid="10"/>
                                        </p:tgtEl>
                                      </p:cBhvr>
                                    </p:animEffect>
                                  </p:childTnLst>
                                </p:cTn>
                              </p:par>
                            </p:childTnLst>
                          </p:cTn>
                        </p:par>
                        <p:par>
                          <p:cTn id="16" fill="hold">
                            <p:stCondLst>
                              <p:cond delay="1000"/>
                            </p:stCondLst>
                            <p:childTnLst>
                              <p:par>
                                <p:cTn id="17" presetID="1" presetClass="entr" presetSubtype="0"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4"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 from="(-#ppt_w/2)" to="(#ppt_x)" calcmode="lin" valueType="num">
                                      <p:cBhvr>
                                        <p:cTn id="23" dur="600" fill="hold">
                                          <p:stCondLst>
                                            <p:cond delay="0"/>
                                          </p:stCondLst>
                                        </p:cTn>
                                        <p:tgtEl>
                                          <p:spTgt spid="4"/>
                                        </p:tgtEl>
                                        <p:attrNameLst>
                                          <p:attrName>ppt_x</p:attrName>
                                        </p:attrNameLst>
                                      </p:cBhvr>
                                    </p:anim>
                                    <p:anim from="0" to="-1.0" calcmode="lin" valueType="num">
                                      <p:cBhvr>
                                        <p:cTn id="24" dur="200" decel="50000" autoRev="1" fill="hold">
                                          <p:stCondLst>
                                            <p:cond delay="600"/>
                                          </p:stCondLst>
                                        </p:cTn>
                                        <p:tgtEl>
                                          <p:spTgt spid="4"/>
                                        </p:tgtEl>
                                        <p:attrNameLst>
                                          <p:attrName>xshear</p:attrName>
                                        </p:attrNameLst>
                                      </p:cBhvr>
                                    </p:anim>
                                    <p:animScale>
                                      <p:cBhvr>
                                        <p:cTn id="25" dur="200" decel="100000" autoRev="1" fill="hold">
                                          <p:stCondLst>
                                            <p:cond delay="600"/>
                                          </p:stCondLst>
                                        </p:cTn>
                                        <p:tgtEl>
                                          <p:spTgt spid="4"/>
                                        </p:tgtEl>
                                      </p:cBhvr>
                                      <p:from x="100000" y="100000"/>
                                      <p:to x="80000" y="100000"/>
                                    </p:animScale>
                                    <p:anim by="(#ppt_h/3+#ppt_w*0.1)" calcmode="lin" valueType="num">
                                      <p:cBhvr additive="sum">
                                        <p:cTn id="26" dur="200" decel="100000" autoRev="1" fill="hold">
                                          <p:stCondLst>
                                            <p:cond delay="600"/>
                                          </p:stCondLst>
                                        </p:cTn>
                                        <p:tgtEl>
                                          <p:spTgt spid="4"/>
                                        </p:tgtEl>
                                        <p:attrNameLst>
                                          <p:attrName>ppt_x</p:attrName>
                                        </p:attrNameLst>
                                      </p:cBhvr>
                                    </p:anim>
                                  </p:childTnLst>
                                </p:cTn>
                              </p:par>
                            </p:childTnLst>
                          </p:cTn>
                        </p:par>
                        <p:par>
                          <p:cTn id="27" fill="hold">
                            <p:stCondLst>
                              <p:cond delay="1000"/>
                            </p:stCondLst>
                            <p:childTnLst>
                              <p:par>
                                <p:cTn id="28" presetID="18" presetClass="entr" presetSubtype="12" fill="hold" grpId="0" nodeType="after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strips(downLeft)">
                                      <p:cBhvr>
                                        <p:cTn id="3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文本框 10"/>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grpSp>
        <p:nvGrpSpPr>
          <p:cNvPr id="12" name="组合 11"/>
          <p:cNvGrpSpPr/>
          <p:nvPr/>
        </p:nvGrpSpPr>
        <p:grpSpPr>
          <a:xfrm>
            <a:off x="1197610" y="3581400"/>
            <a:ext cx="2937510" cy="3282950"/>
            <a:chOff x="1166" y="5640"/>
            <a:chExt cx="4626" cy="5170"/>
          </a:xfrm>
        </p:grpSpPr>
        <p:sp>
          <p:nvSpPr>
            <p:cNvPr id="100" name="文本框 99"/>
            <p:cNvSpPr txBox="1"/>
            <p:nvPr/>
          </p:nvSpPr>
          <p:spPr>
            <a:xfrm>
              <a:off x="1166" y="10280"/>
              <a:ext cx="4169" cy="531"/>
            </a:xfrm>
            <a:prstGeom prst="rect">
              <a:avLst/>
            </a:prstGeom>
            <a:noFill/>
            <a:ln w="9525">
              <a:noFill/>
            </a:ln>
          </p:spPr>
          <p:txBody>
            <a:bodyPr wrap="square">
              <a:spAutoFit/>
            </a:bodyPr>
            <a:p>
              <a:r>
                <a:rPr lang="zh-CN" sz="1600">
                  <a:latin typeface="Times New Roman" panose="02020603050405020304" charset="0"/>
                  <a:ea typeface="宋体" panose="02010600030101010101" pitchFamily="2" charset="-122"/>
                </a:rPr>
                <a:t>图</a:t>
              </a:r>
              <a:r>
                <a:rPr sz="1600">
                  <a:latin typeface="Times New Roman" panose="02020603050405020304" charset="0"/>
                  <a:ea typeface="宋体" panose="02010600030101010101" pitchFamily="2" charset="-122"/>
                </a:rPr>
                <a:t>3-24 低电平输出带负载</a:t>
              </a:r>
              <a:endParaRPr sz="1600">
                <a:latin typeface="Times New Roman" panose="02020603050405020304" charset="0"/>
                <a:ea typeface="宋体" panose="02010600030101010101" pitchFamily="2" charset="-122"/>
              </a:endParaRPr>
            </a:p>
          </p:txBody>
        </p:sp>
        <p:pic>
          <p:nvPicPr>
            <p:cNvPr id="9248" name="图片 2685"/>
            <p:cNvPicPr>
              <a:picLocks noChangeAspect="1"/>
            </p:cNvPicPr>
            <p:nvPr/>
          </p:nvPicPr>
          <p:blipFill>
            <a:blip r:embed="rId1"/>
            <a:stretch>
              <a:fillRect/>
            </a:stretch>
          </p:blipFill>
          <p:spPr>
            <a:xfrm>
              <a:off x="1200" y="5640"/>
              <a:ext cx="4593" cy="4620"/>
            </a:xfrm>
            <a:prstGeom prst="rect">
              <a:avLst/>
            </a:prstGeom>
            <a:noFill/>
            <a:ln>
              <a:noFill/>
            </a:ln>
          </p:spPr>
        </p:pic>
      </p:gr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2590800" y="4572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3.2 TTL</a:t>
            </a:r>
            <a:r>
              <a:rPr lang="zh-CN" altLang="en-US" b="1" dirty="0">
                <a:solidFill>
                  <a:srgbClr val="FF0000"/>
                </a:solidFill>
                <a:latin typeface="黑体" panose="02010609060101010101" pitchFamily="49" charset="-122"/>
                <a:ea typeface="黑体" panose="02010609060101010101" pitchFamily="49" charset="-122"/>
              </a:rPr>
              <a:t>逻辑门电路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5" name="Rectangle 3"/>
          <p:cNvSpPr>
            <a:spLocks noGrp="1"/>
          </p:cNvSpPr>
          <p:nvPr/>
        </p:nvSpPr>
        <p:spPr>
          <a:xfrm>
            <a:off x="685800" y="1087120"/>
            <a:ext cx="4337050"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en-US" sz="2400" b="1" dirty="0">
                <a:solidFill>
                  <a:srgbClr val="070707"/>
                </a:solidFill>
                <a:latin typeface="Times New Roman" panose="02020603050405020304" charset="0"/>
                <a:ea typeface="楷体_GB2312" pitchFamily="49" charset="-122"/>
                <a:cs typeface="Times New Roman" panose="02020603050405020304" charset="0"/>
                <a:sym typeface="+mn-ea"/>
              </a:rPr>
              <a:t>(2) </a:t>
            </a:r>
            <a:r>
              <a:rPr sz="2400" b="1" dirty="0">
                <a:solidFill>
                  <a:srgbClr val="070707"/>
                </a:solidFill>
                <a:latin typeface="Times New Roman" panose="02020603050405020304" charset="0"/>
                <a:ea typeface="楷体_GB2312" pitchFamily="49" charset="-122"/>
                <a:cs typeface="Times New Roman" panose="02020603050405020304" charset="0"/>
              </a:rPr>
              <a:t>低电平输出负载情况</a:t>
            </a:r>
            <a:r>
              <a:rPr lang="en-US" sz="2400" b="1" dirty="0">
                <a:solidFill>
                  <a:srgbClr val="070707"/>
                </a:solidFill>
                <a:latin typeface="Times New Roman" panose="02020603050405020304" charset="0"/>
                <a:ea typeface="楷体_GB2312" pitchFamily="49" charset="-122"/>
                <a:cs typeface="Times New Roman" panose="02020603050405020304" charset="0"/>
              </a:rPr>
              <a:t>。</a:t>
            </a:r>
            <a:endParaRPr lang="en-US" sz="2400" b="1" dirty="0">
              <a:solidFill>
                <a:srgbClr val="070707"/>
              </a:solidFill>
              <a:latin typeface="Times New Roman" panose="02020603050405020304" charset="0"/>
              <a:ea typeface="楷体_GB2312" pitchFamily="49" charset="-122"/>
              <a:cs typeface="Times New Roman" panose="02020603050405020304" charset="0"/>
            </a:endParaRPr>
          </a:p>
        </p:txBody>
      </p:sp>
      <p:sp>
        <p:nvSpPr>
          <p:cNvPr id="7" name="文本框 6"/>
          <p:cNvSpPr txBox="1"/>
          <p:nvPr/>
        </p:nvSpPr>
        <p:spPr>
          <a:xfrm>
            <a:off x="3733800" y="4648200"/>
            <a:ext cx="4817745" cy="1420495"/>
          </a:xfrm>
          <a:prstGeom prst="rect">
            <a:avLst/>
          </a:prstGeom>
          <a:noFill/>
          <a:ln w="9525">
            <a:noFill/>
          </a:ln>
        </p:spPr>
        <p:txBody>
          <a:bodyPr wrap="square">
            <a:spAutoFit/>
          </a:bodyPr>
          <a:p>
            <a:pPr>
              <a:lnSpc>
                <a:spcPct val="120000"/>
              </a:lnSpc>
            </a:pPr>
            <a:r>
              <a:rPr lang="zh-CN" sz="2400" b="1" dirty="0">
                <a:solidFill>
                  <a:srgbClr val="000066"/>
                </a:solidFill>
                <a:ea typeface="楷体_GB2312" pitchFamily="49" charset="-122"/>
              </a:rPr>
              <a:t>式中，</a:t>
            </a:r>
            <a:r>
              <a:rPr lang="zh-CN" sz="2400" b="1" i="1" dirty="0">
                <a:solidFill>
                  <a:srgbClr val="000066"/>
                </a:solidFill>
                <a:ea typeface="楷体_GB2312" pitchFamily="49" charset="-122"/>
              </a:rPr>
              <a:t>I</a:t>
            </a:r>
            <a:r>
              <a:rPr lang="zh-CN" sz="2400" b="1" baseline="-25000" dirty="0">
                <a:solidFill>
                  <a:srgbClr val="000066"/>
                </a:solidFill>
                <a:ea typeface="楷体_GB2312" pitchFamily="49" charset="-122"/>
              </a:rPr>
              <a:t>OL(max) </a:t>
            </a:r>
            <a:r>
              <a:rPr lang="zh-CN" sz="2400" b="1" dirty="0">
                <a:solidFill>
                  <a:srgbClr val="000066"/>
                </a:solidFill>
                <a:ea typeface="楷体_GB2312" pitchFamily="49" charset="-122"/>
              </a:rPr>
              <a:t>为驱动门输出低电平电流的上限值，</a:t>
            </a:r>
            <a:r>
              <a:rPr lang="zh-CN" sz="2400" b="1" i="1" dirty="0">
                <a:solidFill>
                  <a:srgbClr val="000066"/>
                </a:solidFill>
                <a:ea typeface="楷体_GB2312" pitchFamily="49" charset="-122"/>
              </a:rPr>
              <a:t>I</a:t>
            </a:r>
            <a:r>
              <a:rPr lang="zh-CN" sz="2400" b="1" baseline="-25000" dirty="0">
                <a:solidFill>
                  <a:srgbClr val="000066"/>
                </a:solidFill>
                <a:ea typeface="楷体_GB2312" pitchFamily="49" charset="-122"/>
              </a:rPr>
              <a:t>IL</a:t>
            </a:r>
            <a:r>
              <a:rPr lang="zh-CN" sz="2400" b="1" dirty="0">
                <a:solidFill>
                  <a:srgbClr val="000066"/>
                </a:solidFill>
                <a:ea typeface="楷体_GB2312" pitchFamily="49" charset="-122"/>
              </a:rPr>
              <a:t>为每个负载门的输入低电平电流。</a:t>
            </a:r>
            <a:endParaRPr lang="zh-CN" sz="2400" b="1" dirty="0">
              <a:solidFill>
                <a:srgbClr val="000066"/>
              </a:solidFill>
              <a:ea typeface="楷体_GB2312" pitchFamily="49" charset="-122"/>
            </a:endParaRPr>
          </a:p>
        </p:txBody>
      </p:sp>
      <p:sp>
        <p:nvSpPr>
          <p:cNvPr id="8" name="Rectangle 3"/>
          <p:cNvSpPr>
            <a:spLocks noGrp="1"/>
          </p:cNvSpPr>
          <p:nvPr/>
        </p:nvSpPr>
        <p:spPr>
          <a:xfrm>
            <a:off x="618490" y="1524000"/>
            <a:ext cx="7903210" cy="208534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hangingPunct="1">
              <a:lnSpc>
                <a:spcPct val="11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dirty="0">
                <a:solidFill>
                  <a:srgbClr val="000066"/>
                </a:solidFill>
                <a:latin typeface="Arial" panose="020B0604020202020204" pitchFamily="34" charset="0"/>
                <a:ea typeface="楷体_GB2312" pitchFamily="49" charset="-122"/>
              </a:rPr>
              <a:t>图3-24为与非门低电平输出时带一个与非门负载的等效电路。驱动门输出低电平时，对应的T</a:t>
            </a:r>
            <a:r>
              <a:rPr lang="zh-CN" altLang="en-US" sz="2400" b="1" baseline="-25000" dirty="0">
                <a:solidFill>
                  <a:srgbClr val="000066"/>
                </a:solidFill>
                <a:latin typeface="Arial" panose="020B0604020202020204" pitchFamily="34" charset="0"/>
                <a:ea typeface="楷体_GB2312" pitchFamily="49" charset="-122"/>
              </a:rPr>
              <a:t>4</a:t>
            </a:r>
            <a:r>
              <a:rPr lang="zh-CN" altLang="en-US" sz="2400" b="1" dirty="0">
                <a:solidFill>
                  <a:srgbClr val="000066"/>
                </a:solidFill>
                <a:latin typeface="Arial" panose="020B0604020202020204" pitchFamily="34" charset="0"/>
                <a:ea typeface="楷体_GB2312" pitchFamily="49" charset="-122"/>
              </a:rPr>
              <a:t>和D</a:t>
            </a:r>
            <a:r>
              <a:rPr lang="zh-CN" altLang="en-US" sz="2400" b="1" baseline="-25000" dirty="0">
                <a:solidFill>
                  <a:srgbClr val="000066"/>
                </a:solidFill>
                <a:latin typeface="Arial" panose="020B0604020202020204" pitchFamily="34" charset="0"/>
                <a:ea typeface="楷体_GB2312" pitchFamily="49" charset="-122"/>
              </a:rPr>
              <a:t>3</a:t>
            </a:r>
            <a:r>
              <a:rPr lang="zh-CN" altLang="en-US" sz="2400" b="1" dirty="0">
                <a:solidFill>
                  <a:srgbClr val="000066"/>
                </a:solidFill>
                <a:latin typeface="Arial" panose="020B0604020202020204" pitchFamily="34" charset="0"/>
                <a:ea typeface="楷体_GB2312" pitchFamily="49" charset="-122"/>
              </a:rPr>
              <a:t>截止，T</a:t>
            </a:r>
            <a:r>
              <a:rPr lang="zh-CN" altLang="en-US" sz="2400" b="1" baseline="-25000" dirty="0">
                <a:solidFill>
                  <a:srgbClr val="000066"/>
                </a:solidFill>
                <a:latin typeface="Arial" panose="020B0604020202020204" pitchFamily="34" charset="0"/>
                <a:ea typeface="楷体_GB2312" pitchFamily="49" charset="-122"/>
              </a:rPr>
              <a:t>3</a:t>
            </a:r>
            <a:r>
              <a:rPr lang="zh-CN" altLang="en-US" sz="2400" b="1" dirty="0">
                <a:solidFill>
                  <a:srgbClr val="000066"/>
                </a:solidFill>
                <a:latin typeface="Arial" panose="020B0604020202020204" pitchFamily="34" charset="0"/>
                <a:ea typeface="楷体_GB2312" pitchFamily="49" charset="-122"/>
              </a:rPr>
              <a:t>饱和导通，电流从负载门流向驱动门，这种负载常称为灌电流负载。此时，流向驱动门的电流之和不能超过驱动门输出低电平电流的上限值，故驱动门的扇出系数</a:t>
            </a:r>
            <a:r>
              <a:rPr lang="zh-CN" altLang="en-US" sz="2400" b="1" i="1" dirty="0">
                <a:solidFill>
                  <a:srgbClr val="000066"/>
                </a:solidFill>
                <a:latin typeface="Arial" panose="020B0604020202020204" pitchFamily="34" charset="0"/>
                <a:ea typeface="楷体_GB2312" pitchFamily="49" charset="-122"/>
              </a:rPr>
              <a:t>N</a:t>
            </a:r>
            <a:r>
              <a:rPr lang="zh-CN" altLang="en-US" sz="2400" b="1" baseline="-25000" dirty="0">
                <a:solidFill>
                  <a:srgbClr val="000066"/>
                </a:solidFill>
                <a:latin typeface="Arial" panose="020B0604020202020204" pitchFamily="34" charset="0"/>
                <a:ea typeface="楷体_GB2312" pitchFamily="49" charset="-122"/>
              </a:rPr>
              <a:t>OL</a:t>
            </a:r>
            <a:r>
              <a:rPr lang="zh-CN" altLang="en-US" sz="2400" b="1" dirty="0">
                <a:solidFill>
                  <a:srgbClr val="000066"/>
                </a:solidFill>
                <a:latin typeface="Arial" panose="020B0604020202020204" pitchFamily="34" charset="0"/>
                <a:ea typeface="楷体_GB2312" pitchFamily="49" charset="-122"/>
              </a:rPr>
              <a:t>为</a:t>
            </a:r>
            <a:endParaRPr lang="zh-CN" altLang="en-US" sz="2400" b="1" dirty="0">
              <a:solidFill>
                <a:srgbClr val="000066"/>
              </a:solidFill>
              <a:latin typeface="Arial" panose="020B0604020202020204" pitchFamily="34" charset="0"/>
              <a:ea typeface="楷体_GB2312" pitchFamily="49" charset="-122"/>
            </a:endParaRPr>
          </a:p>
        </p:txBody>
      </p:sp>
      <p:graphicFrame>
        <p:nvGraphicFramePr>
          <p:cNvPr id="2" name="对象 -2147482041"/>
          <p:cNvGraphicFramePr>
            <a:graphicFrameLocks noChangeAspect="1"/>
          </p:cNvGraphicFramePr>
          <p:nvPr/>
        </p:nvGraphicFramePr>
        <p:xfrm>
          <a:off x="4572000" y="3733800"/>
          <a:ext cx="1517015" cy="796925"/>
        </p:xfrm>
        <a:graphic>
          <a:graphicData uri="http://schemas.openxmlformats.org/presentationml/2006/ole">
            <mc:AlternateContent xmlns:mc="http://schemas.openxmlformats.org/markup-compatibility/2006">
              <mc:Choice xmlns:v="urn:schemas-microsoft-com:vml" Requires="v">
                <p:oleObj spid="_x0000_s9" name="" r:id="rId2" imgW="748665" imgH="393700" progId="Equation.DSMT4">
                  <p:embed/>
                </p:oleObj>
              </mc:Choice>
              <mc:Fallback>
                <p:oleObj name="" r:id="rId2" imgW="748665" imgH="393700" progId="Equation.DSMT4">
                  <p:embed/>
                  <p:pic>
                    <p:nvPicPr>
                      <p:cNvPr id="0" name="图片 8"/>
                      <p:cNvPicPr/>
                      <p:nvPr/>
                    </p:nvPicPr>
                    <p:blipFill>
                      <a:blip r:embed="rId3"/>
                      <a:stretch>
                        <a:fillRect/>
                      </a:stretch>
                    </p:blipFill>
                    <p:spPr>
                      <a:xfrm>
                        <a:off x="4572000" y="3733800"/>
                        <a:ext cx="1517015" cy="7969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ppt_x</p:attrName>
                                        </p:attrNameLst>
                                      </p:cBhvr>
                                      <p:tavLst>
                                        <p:tav tm="0">
                                          <p:val>
                                            <p:strVal val="#ppt_x-.2"/>
                                          </p:val>
                                        </p:tav>
                                        <p:tav tm="100000">
                                          <p:val>
                                            <p:strVal val="#ppt_x"/>
                                          </p:val>
                                        </p:tav>
                                      </p:tavLst>
                                    </p:anim>
                                    <p:anim calcmode="lin" valueType="num">
                                      <p:cBhvr>
                                        <p:cTn id="8"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grpId="0" nodeType="clickEffect">
                                  <p:stCondLst>
                                    <p:cond delay="0"/>
                                  </p:stCondLst>
                                  <p:childTnLst>
                                    <p:set>
                                      <p:cBhvr>
                                        <p:cTn id="13" dur="1000" fill="hold">
                                          <p:stCondLst>
                                            <p:cond delay="0"/>
                                          </p:stCondLst>
                                        </p:cTn>
                                        <p:tgtEl>
                                          <p:spTgt spid="7"/>
                                        </p:tgtEl>
                                        <p:attrNameLst>
                                          <p:attrName>style.visibility</p:attrName>
                                        </p:attrNameLst>
                                      </p:cBhvr>
                                      <p:to>
                                        <p:strVal val="visible"/>
                                      </p:to>
                                    </p:set>
                                    <p:animEffect transition="in" filter="wheel(1)">
                                      <p:cBhvr>
                                        <p:cTn id="14"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6" name="Rectangle 2"/>
          <p:cNvSpPr>
            <a:spLocks noGrp="1"/>
          </p:cNvSpPr>
          <p:nvPr>
            <p:ph type="title"/>
          </p:nvPr>
        </p:nvSpPr>
        <p:spPr>
          <a:xfrm>
            <a:off x="567690" y="1316990"/>
            <a:ext cx="3352165"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3.2.2 </a:t>
            </a:r>
            <a:r>
              <a:rPr lang="zh-CN" altLang="en-US" sz="2800" i="0" dirty="0">
                <a:solidFill>
                  <a:srgbClr val="0070C0"/>
                </a:solidFill>
                <a:latin typeface="黑体" panose="02010609060101010101" pitchFamily="49" charset="-122"/>
                <a:ea typeface="黑体" panose="02010609060101010101" pitchFamily="49" charset="-122"/>
              </a:rPr>
              <a:t>TTL或非门</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493395" y="1905000"/>
            <a:ext cx="8195945" cy="4979035"/>
          </a:xfrm>
        </p:spPr>
        <p:txBody>
          <a:bodyPr vert="horz" wrap="square" lIns="91440" tIns="45720" rIns="91440" bIns="45720" anchor="t" anchorCtr="0"/>
          <a:p>
            <a:pPr marL="0" indent="0" algn="just" eaLnBrk="1" latinLnBrk="0" hangingPunct="1">
              <a:lnSpc>
                <a:spcPct val="11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74标准系列或非门电路如图3-25所示。图中，T</a:t>
            </a:r>
            <a:r>
              <a:rPr lang="zh-CN" altLang="en-US" sz="2400" b="1" kern="1200" baseline="-25000" dirty="0">
                <a:solidFill>
                  <a:srgbClr val="000066"/>
                </a:solidFill>
                <a:latin typeface="Arial" panose="020B0604020202020204" pitchFamily="34" charset="0"/>
                <a:ea typeface="楷体_GB2312" pitchFamily="49" charset="-122"/>
              </a:rPr>
              <a:t>1</a:t>
            </a:r>
            <a:r>
              <a:rPr lang="zh-CN" altLang="en-US" sz="2400" b="1" kern="1200" dirty="0">
                <a:solidFill>
                  <a:srgbClr val="000066"/>
                </a:solidFill>
                <a:latin typeface="Arial" panose="020B0604020202020204" pitchFamily="34" charset="0"/>
                <a:ea typeface="楷体_GB2312" pitchFamily="49" charset="-122"/>
              </a:rPr>
              <a:t>、T</a:t>
            </a:r>
            <a:r>
              <a:rPr lang="zh-CN" altLang="en-US" sz="2400" b="1" kern="1200" baseline="-25000" dirty="0">
                <a:solidFill>
                  <a:srgbClr val="000066"/>
                </a:solidFill>
                <a:latin typeface="Arial" panose="020B0604020202020204" pitchFamily="34" charset="0"/>
                <a:ea typeface="楷体_GB2312" pitchFamily="49" charset="-122"/>
              </a:rPr>
              <a:t>2</a:t>
            </a:r>
            <a:r>
              <a:rPr lang="zh-CN" altLang="en-US" sz="2400" b="1" kern="1200" dirty="0">
                <a:solidFill>
                  <a:srgbClr val="000066"/>
                </a:solidFill>
                <a:latin typeface="Arial" panose="020B0604020202020204" pitchFamily="34" charset="0"/>
                <a:ea typeface="楷体_GB2312" pitchFamily="49" charset="-122"/>
              </a:rPr>
              <a:t>、</a:t>
            </a:r>
            <a:r>
              <a:rPr lang="zh-CN" altLang="en-US" sz="2400" b="1" i="1" kern="1200" dirty="0">
                <a:solidFill>
                  <a:srgbClr val="000066"/>
                </a:solidFill>
                <a:latin typeface="Arial" panose="020B0604020202020204" pitchFamily="34" charset="0"/>
                <a:ea typeface="楷体_GB2312" pitchFamily="49" charset="-122"/>
              </a:rPr>
              <a:t>R</a:t>
            </a:r>
            <a:r>
              <a:rPr lang="zh-CN" altLang="en-US" sz="2400" b="1" kern="1200" baseline="-25000" dirty="0">
                <a:solidFill>
                  <a:srgbClr val="000066"/>
                </a:solidFill>
                <a:latin typeface="Arial" panose="020B0604020202020204" pitchFamily="34" charset="0"/>
                <a:ea typeface="楷体_GB2312" pitchFamily="49" charset="-122"/>
              </a:rPr>
              <a:t>1</a:t>
            </a:r>
            <a:r>
              <a:rPr lang="zh-CN" altLang="en-US" sz="2400" b="1" kern="1200" dirty="0">
                <a:solidFill>
                  <a:srgbClr val="000066"/>
                </a:solidFill>
                <a:latin typeface="Arial" panose="020B0604020202020204" pitchFamily="34" charset="0"/>
                <a:ea typeface="楷体_GB2312" pitchFamily="49" charset="-122"/>
              </a:rPr>
              <a:t>分别与T</a:t>
            </a:r>
            <a:r>
              <a:rPr lang="zh-CN" altLang="en-US" sz="2400" b="1" kern="1200" baseline="-25000" dirty="0">
                <a:solidFill>
                  <a:srgbClr val="000066"/>
                </a:solidFill>
                <a:latin typeface="Arial" panose="020B0604020202020204" pitchFamily="34" charset="0"/>
                <a:ea typeface="楷体_GB2312" pitchFamily="49" charset="-122"/>
              </a:rPr>
              <a:t>1</a:t>
            </a:r>
            <a:r>
              <a:rPr lang="zh-CN" altLang="en-US" sz="2400" b="1" kern="1200" baseline="30000" dirty="0">
                <a:solidFill>
                  <a:srgbClr val="000066"/>
                </a:solidFill>
                <a:latin typeface="Times New Roman" panose="02020603050405020304" charset="0"/>
                <a:ea typeface="楷体_GB2312" pitchFamily="49" charset="-122"/>
                <a:cs typeface="Times New Roman" panose="02020603050405020304" charset="0"/>
                <a:sym typeface="+mn-ea"/>
              </a:rPr>
              <a:t>'</a:t>
            </a:r>
            <a:r>
              <a:rPr lang="zh-CN" altLang="en-US" sz="2400" b="1" kern="1200" dirty="0">
                <a:solidFill>
                  <a:srgbClr val="000066"/>
                </a:solidFill>
                <a:latin typeface="Arial" panose="020B0604020202020204" pitchFamily="34" charset="0"/>
                <a:ea typeface="楷体_GB2312" pitchFamily="49" charset="-122"/>
              </a:rPr>
              <a:t>、T</a:t>
            </a:r>
            <a:r>
              <a:rPr lang="zh-CN" altLang="en-US" sz="2400" b="1" kern="1200" baseline="-25000" dirty="0">
                <a:solidFill>
                  <a:srgbClr val="000066"/>
                </a:solidFill>
                <a:latin typeface="Arial" panose="020B0604020202020204" pitchFamily="34" charset="0"/>
                <a:ea typeface="楷体_GB2312" pitchFamily="49" charset="-122"/>
              </a:rPr>
              <a:t>2</a:t>
            </a:r>
            <a:r>
              <a:rPr lang="zh-CN" altLang="en-US" sz="2400" b="1" kern="1200" baseline="30000" dirty="0">
                <a:solidFill>
                  <a:srgbClr val="000066"/>
                </a:solidFill>
                <a:latin typeface="Times New Roman" panose="02020603050405020304" charset="0"/>
                <a:ea typeface="楷体_GB2312" pitchFamily="49" charset="-122"/>
                <a:cs typeface="Times New Roman" panose="02020603050405020304" charset="0"/>
                <a:sym typeface="+mn-ea"/>
              </a:rPr>
              <a:t>'</a:t>
            </a:r>
            <a:r>
              <a:rPr lang="zh-CN" altLang="en-US" sz="2400" b="1" kern="1200" dirty="0">
                <a:solidFill>
                  <a:srgbClr val="000066"/>
                </a:solidFill>
                <a:latin typeface="Arial" panose="020B0604020202020204" pitchFamily="34" charset="0"/>
                <a:ea typeface="楷体_GB2312" pitchFamily="49" charset="-122"/>
              </a:rPr>
              <a:t>、</a:t>
            </a:r>
            <a:r>
              <a:rPr lang="zh-CN" altLang="en-US" sz="2400" b="1" i="1" kern="1200" dirty="0">
                <a:solidFill>
                  <a:srgbClr val="000066"/>
                </a:solidFill>
                <a:latin typeface="Arial" panose="020B0604020202020204" pitchFamily="34" charset="0"/>
                <a:ea typeface="楷体_GB2312" pitchFamily="49" charset="-122"/>
              </a:rPr>
              <a:t>R</a:t>
            </a:r>
            <a:r>
              <a:rPr lang="zh-CN" altLang="en-US" sz="2400" b="1" kern="1200" baseline="-25000" dirty="0">
                <a:solidFill>
                  <a:srgbClr val="000066"/>
                </a:solidFill>
                <a:latin typeface="Arial" panose="020B0604020202020204" pitchFamily="34" charset="0"/>
                <a:ea typeface="楷体_GB2312" pitchFamily="49" charset="-122"/>
              </a:rPr>
              <a:t>1</a:t>
            </a:r>
            <a:r>
              <a:rPr lang="zh-CN" altLang="en-US" sz="2400" b="1" kern="1200" baseline="30000" dirty="0">
                <a:solidFill>
                  <a:srgbClr val="000066"/>
                </a:solidFill>
                <a:latin typeface="Times New Roman" panose="02020603050405020304" charset="0"/>
                <a:ea typeface="楷体_GB2312" pitchFamily="49" charset="-122"/>
                <a:cs typeface="Times New Roman" panose="02020603050405020304" charset="0"/>
                <a:sym typeface="+mn-ea"/>
              </a:rPr>
              <a:t>'</a:t>
            </a:r>
            <a:r>
              <a:rPr lang="zh-CN" altLang="en-US" sz="2400" b="1" kern="1200" dirty="0">
                <a:solidFill>
                  <a:srgbClr val="000066"/>
                </a:solidFill>
                <a:latin typeface="Arial" panose="020B0604020202020204" pitchFamily="34" charset="0"/>
                <a:ea typeface="楷体_GB2312" pitchFamily="49" charset="-122"/>
              </a:rPr>
              <a:t> 参数相同。当A为高电平时，T</a:t>
            </a:r>
            <a:r>
              <a:rPr lang="zh-CN" altLang="en-US" sz="2400" b="1" kern="1200" baseline="-25000" dirty="0">
                <a:solidFill>
                  <a:srgbClr val="000066"/>
                </a:solidFill>
                <a:latin typeface="Arial" panose="020B0604020202020204" pitchFamily="34" charset="0"/>
                <a:ea typeface="楷体_GB2312" pitchFamily="49" charset="-122"/>
              </a:rPr>
              <a:t>1</a:t>
            </a:r>
            <a:r>
              <a:rPr lang="zh-CN" altLang="en-US" sz="2400" b="1" kern="1200" dirty="0">
                <a:solidFill>
                  <a:srgbClr val="000066"/>
                </a:solidFill>
                <a:latin typeface="Arial" panose="020B0604020202020204" pitchFamily="34" charset="0"/>
                <a:ea typeface="楷体_GB2312" pitchFamily="49" charset="-122"/>
              </a:rPr>
              <a:t>、T</a:t>
            </a:r>
            <a:r>
              <a:rPr lang="zh-CN" altLang="en-US" sz="2400" b="1" kern="1200" baseline="-25000" dirty="0">
                <a:solidFill>
                  <a:srgbClr val="000066"/>
                </a:solidFill>
                <a:latin typeface="Arial" panose="020B0604020202020204" pitchFamily="34" charset="0"/>
                <a:ea typeface="楷体_GB2312" pitchFamily="49" charset="-122"/>
              </a:rPr>
              <a:t>2</a:t>
            </a:r>
            <a:r>
              <a:rPr lang="zh-CN" altLang="en-US" sz="2400" b="1" kern="1200" dirty="0">
                <a:solidFill>
                  <a:srgbClr val="000066"/>
                </a:solidFill>
                <a:latin typeface="Arial" panose="020B0604020202020204" pitchFamily="34" charset="0"/>
                <a:ea typeface="楷体_GB2312" pitchFamily="49" charset="-122"/>
              </a:rPr>
              <a:t>和T</a:t>
            </a:r>
            <a:r>
              <a:rPr lang="zh-CN" altLang="en-US" sz="2400" b="1" kern="1200" baseline="-25000" dirty="0">
                <a:solidFill>
                  <a:srgbClr val="000066"/>
                </a:solidFill>
                <a:latin typeface="Arial" panose="020B0604020202020204" pitchFamily="34" charset="0"/>
                <a:ea typeface="楷体_GB2312" pitchFamily="49" charset="-122"/>
              </a:rPr>
              <a:t>3</a:t>
            </a:r>
            <a:r>
              <a:rPr lang="zh-CN" altLang="en-US" sz="2400" b="1" kern="1200" dirty="0">
                <a:solidFill>
                  <a:srgbClr val="000066"/>
                </a:solidFill>
                <a:latin typeface="Arial" panose="020B0604020202020204" pitchFamily="34" charset="0"/>
                <a:ea typeface="楷体_GB2312" pitchFamily="49" charset="-122"/>
              </a:rPr>
              <a:t>均导通，T</a:t>
            </a:r>
            <a:r>
              <a:rPr lang="zh-CN" altLang="en-US" sz="2400" b="1" kern="1200" baseline="-25000" dirty="0">
                <a:solidFill>
                  <a:srgbClr val="000066"/>
                </a:solidFill>
                <a:latin typeface="Arial" panose="020B0604020202020204" pitchFamily="34" charset="0"/>
                <a:ea typeface="楷体_GB2312" pitchFamily="49" charset="-122"/>
              </a:rPr>
              <a:t>4</a:t>
            </a:r>
            <a:r>
              <a:rPr lang="zh-CN" altLang="en-US" sz="2400" b="1" kern="1200" dirty="0">
                <a:solidFill>
                  <a:srgbClr val="000066"/>
                </a:solidFill>
                <a:latin typeface="Arial" panose="020B0604020202020204" pitchFamily="34" charset="0"/>
                <a:ea typeface="楷体_GB2312" pitchFamily="49" charset="-122"/>
              </a:rPr>
              <a:t>截止，输出Y为低电平；同样，当B为高电平时，T</a:t>
            </a:r>
            <a:r>
              <a:rPr lang="zh-CN" altLang="en-US" sz="2400" b="1" kern="1200" baseline="-25000" dirty="0">
                <a:solidFill>
                  <a:srgbClr val="000066"/>
                </a:solidFill>
                <a:latin typeface="Arial" panose="020B0604020202020204" pitchFamily="34" charset="0"/>
                <a:ea typeface="楷体_GB2312" pitchFamily="49" charset="-122"/>
              </a:rPr>
              <a:t>1</a:t>
            </a:r>
            <a:r>
              <a:rPr lang="zh-CN" altLang="en-US" sz="2400" b="1" kern="1200" baseline="30000" dirty="0">
                <a:solidFill>
                  <a:srgbClr val="000066"/>
                </a:solidFill>
                <a:latin typeface="Times New Roman" panose="02020603050405020304" charset="0"/>
                <a:ea typeface="楷体_GB2312" pitchFamily="49" charset="-122"/>
                <a:cs typeface="Times New Roman" panose="02020603050405020304" charset="0"/>
                <a:sym typeface="+mn-ea"/>
              </a:rPr>
              <a:t>'</a:t>
            </a:r>
            <a:r>
              <a:rPr lang="zh-CN" altLang="en-US" sz="2400" b="1" kern="1200" dirty="0">
                <a:solidFill>
                  <a:srgbClr val="000066"/>
                </a:solidFill>
                <a:latin typeface="Arial" panose="020B0604020202020204" pitchFamily="34" charset="0"/>
                <a:ea typeface="楷体_GB2312" pitchFamily="49" charset="-122"/>
              </a:rPr>
              <a:t>、T</a:t>
            </a:r>
            <a:r>
              <a:rPr lang="zh-CN" altLang="en-US" sz="2400" b="1" kern="1200" baseline="-25000" dirty="0">
                <a:solidFill>
                  <a:srgbClr val="000066"/>
                </a:solidFill>
                <a:latin typeface="Arial" panose="020B0604020202020204" pitchFamily="34" charset="0"/>
                <a:ea typeface="楷体_GB2312" pitchFamily="49" charset="-122"/>
              </a:rPr>
              <a:t>2</a:t>
            </a:r>
            <a:r>
              <a:rPr lang="zh-CN" altLang="en-US" sz="2400" b="1" kern="1200" baseline="30000" dirty="0">
                <a:solidFill>
                  <a:srgbClr val="000066"/>
                </a:solidFill>
                <a:latin typeface="Times New Roman" panose="02020603050405020304" charset="0"/>
                <a:ea typeface="楷体_GB2312" pitchFamily="49" charset="-122"/>
                <a:cs typeface="Times New Roman" panose="02020603050405020304" charset="0"/>
                <a:sym typeface="+mn-ea"/>
              </a:rPr>
              <a:t>'</a:t>
            </a:r>
            <a:r>
              <a:rPr lang="zh-CN" altLang="en-US" sz="2400" b="1" kern="1200" dirty="0">
                <a:solidFill>
                  <a:srgbClr val="000066"/>
                </a:solidFill>
                <a:latin typeface="Arial" panose="020B0604020202020204" pitchFamily="34" charset="0"/>
                <a:ea typeface="楷体_GB2312" pitchFamily="49" charset="-122"/>
              </a:rPr>
              <a:t> 和T</a:t>
            </a:r>
            <a:r>
              <a:rPr lang="zh-CN" altLang="en-US" sz="2400" b="1" kern="1200" baseline="-25000" dirty="0">
                <a:solidFill>
                  <a:srgbClr val="000066"/>
                </a:solidFill>
                <a:latin typeface="Arial" panose="020B0604020202020204" pitchFamily="34" charset="0"/>
                <a:ea typeface="楷体_GB2312" pitchFamily="49" charset="-122"/>
              </a:rPr>
              <a:t>3</a:t>
            </a:r>
            <a:r>
              <a:rPr lang="zh-CN" altLang="en-US" sz="2400" b="1" kern="1200" dirty="0">
                <a:solidFill>
                  <a:srgbClr val="000066"/>
                </a:solidFill>
                <a:latin typeface="Arial" panose="020B0604020202020204" pitchFamily="34" charset="0"/>
                <a:ea typeface="楷体_GB2312" pitchFamily="49" charset="-122"/>
              </a:rPr>
              <a:t>均</a:t>
            </a:r>
            <a:r>
              <a:rPr lang="zh-CN" altLang="en-US" sz="2400" b="1" kern="1200" dirty="0">
                <a:solidFill>
                  <a:srgbClr val="000066"/>
                </a:solidFill>
                <a:latin typeface="Arial" panose="020B0604020202020204" pitchFamily="34" charset="0"/>
                <a:ea typeface="楷体_GB2312" pitchFamily="49" charset="-122"/>
                <a:sym typeface="+mn-ea"/>
              </a:rPr>
              <a:t>导</a:t>
            </a:r>
            <a:endParaRPr lang="zh-CN" altLang="en-US"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10000"/>
              </a:lnSpc>
              <a:spcBef>
                <a:spcPts val="0"/>
              </a:spcBef>
              <a:buNone/>
            </a:pPr>
            <a:r>
              <a:rPr lang="zh-CN" altLang="en-US" sz="2400" b="1" kern="1200" dirty="0">
                <a:solidFill>
                  <a:srgbClr val="000066"/>
                </a:solidFill>
                <a:latin typeface="Arial" panose="020B0604020202020204" pitchFamily="34" charset="0"/>
                <a:ea typeface="楷体_GB2312" pitchFamily="49" charset="-122"/>
              </a:rPr>
              <a:t>通，T</a:t>
            </a:r>
            <a:r>
              <a:rPr lang="zh-CN" altLang="en-US" sz="2400" b="1" kern="1200" baseline="-25000" dirty="0">
                <a:solidFill>
                  <a:srgbClr val="000066"/>
                </a:solidFill>
                <a:latin typeface="Arial" panose="020B0604020202020204" pitchFamily="34" charset="0"/>
                <a:ea typeface="楷体_GB2312" pitchFamily="49" charset="-122"/>
              </a:rPr>
              <a:t>4</a:t>
            </a:r>
            <a:r>
              <a:rPr lang="zh-CN" altLang="en-US" sz="2400" b="1" kern="1200" dirty="0">
                <a:solidFill>
                  <a:srgbClr val="000066"/>
                </a:solidFill>
                <a:latin typeface="Arial" panose="020B0604020202020204" pitchFamily="34" charset="0"/>
                <a:ea typeface="楷体_GB2312" pitchFamily="49" charset="-122"/>
              </a:rPr>
              <a:t>截止，输出Y为</a:t>
            </a:r>
            <a:r>
              <a:rPr lang="zh-CN" altLang="en-US" sz="2400" b="1" kern="1200" dirty="0">
                <a:solidFill>
                  <a:srgbClr val="000066"/>
                </a:solidFill>
                <a:latin typeface="Arial" panose="020B0604020202020204" pitchFamily="34" charset="0"/>
                <a:ea typeface="楷体_GB2312" pitchFamily="49" charset="-122"/>
                <a:sym typeface="+mn-ea"/>
              </a:rPr>
              <a:t>低</a:t>
            </a:r>
            <a:endParaRPr lang="zh-CN" altLang="en-US"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10000"/>
              </a:lnSpc>
              <a:spcBef>
                <a:spcPts val="0"/>
              </a:spcBef>
              <a:buNone/>
            </a:pPr>
            <a:r>
              <a:rPr lang="zh-CN" altLang="en-US" sz="2400" b="1" kern="1200" dirty="0">
                <a:solidFill>
                  <a:srgbClr val="000066"/>
                </a:solidFill>
                <a:latin typeface="Arial" panose="020B0604020202020204" pitchFamily="34" charset="0"/>
                <a:ea typeface="楷体_GB2312" pitchFamily="49" charset="-122"/>
              </a:rPr>
              <a:t>电平；当A、B同时为</a:t>
            </a:r>
            <a:r>
              <a:rPr lang="zh-CN" altLang="en-US" sz="2400" b="1" kern="1200" dirty="0">
                <a:solidFill>
                  <a:srgbClr val="000066"/>
                </a:solidFill>
                <a:latin typeface="Arial" panose="020B0604020202020204" pitchFamily="34" charset="0"/>
                <a:ea typeface="楷体_GB2312" pitchFamily="49" charset="-122"/>
                <a:sym typeface="+mn-ea"/>
              </a:rPr>
              <a:t>低</a:t>
            </a:r>
            <a:endParaRPr lang="zh-CN" altLang="en-US"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10000"/>
              </a:lnSpc>
              <a:spcBef>
                <a:spcPts val="0"/>
              </a:spcBef>
              <a:buNone/>
            </a:pPr>
            <a:r>
              <a:rPr lang="zh-CN" altLang="en-US" sz="2400" b="1" kern="1200" dirty="0">
                <a:solidFill>
                  <a:srgbClr val="000066"/>
                </a:solidFill>
                <a:latin typeface="Arial" panose="020B0604020202020204" pitchFamily="34" charset="0"/>
                <a:ea typeface="楷体_GB2312" pitchFamily="49" charset="-122"/>
              </a:rPr>
              <a:t>电平时，T</a:t>
            </a:r>
            <a:r>
              <a:rPr lang="zh-CN" altLang="en-US" sz="2400" b="1" kern="1200" baseline="-25000" dirty="0">
                <a:solidFill>
                  <a:srgbClr val="000066"/>
                </a:solidFill>
                <a:latin typeface="Arial" panose="020B0604020202020204" pitchFamily="34" charset="0"/>
                <a:ea typeface="楷体_GB2312" pitchFamily="49" charset="-122"/>
              </a:rPr>
              <a:t>1</a:t>
            </a:r>
            <a:r>
              <a:rPr lang="zh-CN" altLang="en-US" sz="2400" b="1" kern="1200" dirty="0">
                <a:solidFill>
                  <a:srgbClr val="000066"/>
                </a:solidFill>
                <a:latin typeface="Arial" panose="020B0604020202020204" pitchFamily="34" charset="0"/>
                <a:ea typeface="楷体_GB2312" pitchFamily="49" charset="-122"/>
              </a:rPr>
              <a:t>和T</a:t>
            </a:r>
            <a:r>
              <a:rPr lang="zh-CN" altLang="en-US" sz="2400" b="1" kern="1200" baseline="-25000" dirty="0">
                <a:solidFill>
                  <a:srgbClr val="000066"/>
                </a:solidFill>
                <a:latin typeface="Arial" panose="020B0604020202020204" pitchFamily="34" charset="0"/>
                <a:ea typeface="楷体_GB2312" pitchFamily="49" charset="-122"/>
              </a:rPr>
              <a:t>1</a:t>
            </a:r>
            <a:r>
              <a:rPr lang="zh-CN" altLang="en-US" sz="2400" b="1" kern="1200" baseline="30000" dirty="0">
                <a:solidFill>
                  <a:srgbClr val="000066"/>
                </a:solidFill>
                <a:latin typeface="Times New Roman" panose="02020603050405020304" charset="0"/>
                <a:ea typeface="楷体_GB2312" pitchFamily="49" charset="-122"/>
                <a:cs typeface="Times New Roman" panose="02020603050405020304" charset="0"/>
                <a:sym typeface="+mn-ea"/>
              </a:rPr>
              <a:t>'</a:t>
            </a:r>
            <a:r>
              <a:rPr lang="zh-CN" altLang="en-US" sz="2400" b="1" kern="1200" dirty="0">
                <a:solidFill>
                  <a:srgbClr val="000066"/>
                </a:solidFill>
                <a:latin typeface="Arial" panose="020B0604020202020204" pitchFamily="34" charset="0"/>
                <a:ea typeface="楷体_GB2312" pitchFamily="49" charset="-122"/>
              </a:rPr>
              <a:t>均导</a:t>
            </a:r>
            <a:r>
              <a:rPr lang="zh-CN" altLang="en-US" sz="2400" b="1" kern="1200" dirty="0">
                <a:solidFill>
                  <a:srgbClr val="000066"/>
                </a:solidFill>
                <a:latin typeface="Arial" panose="020B0604020202020204" pitchFamily="34" charset="0"/>
                <a:ea typeface="楷体_GB2312" pitchFamily="49" charset="-122"/>
                <a:sym typeface="+mn-ea"/>
              </a:rPr>
              <a:t>通，</a:t>
            </a:r>
            <a:endParaRPr lang="zh-CN" altLang="en-US"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10000"/>
              </a:lnSpc>
              <a:spcBef>
                <a:spcPts val="0"/>
              </a:spcBef>
              <a:buNone/>
            </a:pPr>
            <a:r>
              <a:rPr lang="zh-CN" altLang="en-US" sz="2400" b="1" kern="1200" dirty="0">
                <a:solidFill>
                  <a:srgbClr val="000066"/>
                </a:solidFill>
                <a:latin typeface="Arial" panose="020B0604020202020204" pitchFamily="34" charset="0"/>
                <a:ea typeface="楷体_GB2312" pitchFamily="49" charset="-122"/>
              </a:rPr>
              <a:t>但T</a:t>
            </a:r>
            <a:r>
              <a:rPr lang="zh-CN" altLang="en-US" sz="2400" b="1" kern="1200" baseline="-25000" dirty="0">
                <a:solidFill>
                  <a:srgbClr val="000066"/>
                </a:solidFill>
                <a:latin typeface="Arial" panose="020B0604020202020204" pitchFamily="34" charset="0"/>
                <a:ea typeface="楷体_GB2312" pitchFamily="49" charset="-122"/>
              </a:rPr>
              <a:t>2</a:t>
            </a:r>
            <a:r>
              <a:rPr lang="zh-CN" altLang="en-US" sz="2400" b="1" kern="1200" dirty="0">
                <a:solidFill>
                  <a:srgbClr val="000066"/>
                </a:solidFill>
                <a:latin typeface="Arial" panose="020B0604020202020204" pitchFamily="34" charset="0"/>
                <a:ea typeface="楷体_GB2312" pitchFamily="49" charset="-122"/>
              </a:rPr>
              <a:t>和T</a:t>
            </a:r>
            <a:r>
              <a:rPr lang="zh-CN" altLang="en-US" sz="2400" b="1" kern="1200" baseline="-25000" dirty="0">
                <a:solidFill>
                  <a:srgbClr val="000066"/>
                </a:solidFill>
                <a:latin typeface="Arial" panose="020B0604020202020204" pitchFamily="34" charset="0"/>
                <a:ea typeface="楷体_GB2312" pitchFamily="49" charset="-122"/>
              </a:rPr>
              <a:t>2</a:t>
            </a:r>
            <a:r>
              <a:rPr lang="zh-CN" altLang="en-US" sz="2400" b="1" kern="1200" baseline="30000" dirty="0">
                <a:solidFill>
                  <a:srgbClr val="000066"/>
                </a:solidFill>
                <a:latin typeface="Times New Roman" panose="02020603050405020304" charset="0"/>
                <a:ea typeface="楷体_GB2312" pitchFamily="49" charset="-122"/>
                <a:cs typeface="Times New Roman" panose="02020603050405020304" charset="0"/>
                <a:sym typeface="+mn-ea"/>
              </a:rPr>
              <a:t>'</a:t>
            </a:r>
            <a:r>
              <a:rPr lang="zh-CN" altLang="en-US" sz="2400" b="1" kern="1200" dirty="0">
                <a:solidFill>
                  <a:srgbClr val="000066"/>
                </a:solidFill>
                <a:latin typeface="Arial" panose="020B0604020202020204" pitchFamily="34" charset="0"/>
                <a:ea typeface="楷体_GB2312" pitchFamily="49" charset="-122"/>
              </a:rPr>
              <a:t> 均截止，</a:t>
            </a:r>
            <a:r>
              <a:rPr lang="zh-CN" altLang="en-US" sz="2400" b="1" kern="1200" dirty="0">
                <a:solidFill>
                  <a:srgbClr val="000066"/>
                </a:solidFill>
                <a:latin typeface="Arial" panose="020B0604020202020204" pitchFamily="34" charset="0"/>
                <a:ea typeface="楷体_GB2312" pitchFamily="49" charset="-122"/>
                <a:sym typeface="+mn-ea"/>
              </a:rPr>
              <a:t>致使</a:t>
            </a:r>
            <a:endParaRPr lang="zh-CN" altLang="en-US"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10000"/>
              </a:lnSpc>
              <a:spcBef>
                <a:spcPts val="0"/>
              </a:spcBef>
              <a:buNone/>
            </a:pPr>
            <a:r>
              <a:rPr lang="zh-CN" altLang="en-US" sz="2400" b="1" kern="1200" dirty="0">
                <a:solidFill>
                  <a:srgbClr val="000066"/>
                </a:solidFill>
                <a:latin typeface="Arial" panose="020B0604020202020204" pitchFamily="34" charset="0"/>
                <a:ea typeface="楷体_GB2312" pitchFamily="49" charset="-122"/>
              </a:rPr>
              <a:t>T</a:t>
            </a:r>
            <a:r>
              <a:rPr lang="zh-CN" altLang="en-US" sz="2400" b="1" kern="1200" baseline="-25000" dirty="0">
                <a:solidFill>
                  <a:srgbClr val="000066"/>
                </a:solidFill>
                <a:latin typeface="Arial" panose="020B0604020202020204" pitchFamily="34" charset="0"/>
                <a:ea typeface="楷体_GB2312" pitchFamily="49" charset="-122"/>
              </a:rPr>
              <a:t>3</a:t>
            </a:r>
            <a:r>
              <a:rPr lang="zh-CN" altLang="en-US" sz="2400" b="1" kern="1200" dirty="0">
                <a:solidFill>
                  <a:srgbClr val="000066"/>
                </a:solidFill>
                <a:latin typeface="Arial" panose="020B0604020202020204" pitchFamily="34" charset="0"/>
                <a:ea typeface="楷体_GB2312" pitchFamily="49" charset="-122"/>
              </a:rPr>
              <a:t>截止，T</a:t>
            </a:r>
            <a:r>
              <a:rPr lang="zh-CN" altLang="en-US" sz="2400" b="1" kern="1200" baseline="-25000" dirty="0">
                <a:solidFill>
                  <a:srgbClr val="000066"/>
                </a:solidFill>
                <a:latin typeface="Arial" panose="020B0604020202020204" pitchFamily="34" charset="0"/>
                <a:ea typeface="楷体_GB2312" pitchFamily="49" charset="-122"/>
              </a:rPr>
              <a:t>4</a:t>
            </a:r>
            <a:r>
              <a:rPr lang="zh-CN" altLang="en-US" sz="2400" b="1" kern="1200" dirty="0">
                <a:solidFill>
                  <a:srgbClr val="000066"/>
                </a:solidFill>
                <a:latin typeface="Arial" panose="020B0604020202020204" pitchFamily="34" charset="0"/>
                <a:ea typeface="楷体_GB2312" pitchFamily="49" charset="-122"/>
              </a:rPr>
              <a:t>导通，</a:t>
            </a:r>
            <a:r>
              <a:rPr lang="zh-CN" altLang="en-US" sz="2400" b="1" kern="1200" dirty="0">
                <a:solidFill>
                  <a:srgbClr val="000066"/>
                </a:solidFill>
                <a:latin typeface="Arial" panose="020B0604020202020204" pitchFamily="34" charset="0"/>
                <a:ea typeface="楷体_GB2312" pitchFamily="49" charset="-122"/>
                <a:sym typeface="+mn-ea"/>
              </a:rPr>
              <a:t>输出Y</a:t>
            </a:r>
            <a:endParaRPr lang="zh-CN" altLang="en-US"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10000"/>
              </a:lnSpc>
              <a:spcBef>
                <a:spcPts val="0"/>
              </a:spcBef>
              <a:buNone/>
            </a:pPr>
            <a:r>
              <a:rPr lang="zh-CN" altLang="en-US" sz="2400" b="1" kern="1200" dirty="0">
                <a:solidFill>
                  <a:srgbClr val="000066"/>
                </a:solidFill>
                <a:latin typeface="Arial" panose="020B0604020202020204" pitchFamily="34" charset="0"/>
                <a:ea typeface="楷体_GB2312" pitchFamily="49" charset="-122"/>
              </a:rPr>
              <a:t>为高电平。综上，</a:t>
            </a:r>
            <a:r>
              <a:rPr lang="zh-CN" altLang="en-US" sz="2400" b="1" kern="1200" dirty="0">
                <a:solidFill>
                  <a:srgbClr val="000066"/>
                </a:solidFill>
                <a:latin typeface="Arial" panose="020B0604020202020204" pitchFamily="34" charset="0"/>
                <a:ea typeface="楷体_GB2312" pitchFamily="49" charset="-122"/>
                <a:sym typeface="+mn-ea"/>
              </a:rPr>
              <a:t>输出Y</a:t>
            </a:r>
            <a:endParaRPr lang="zh-CN" altLang="en-US"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10000"/>
              </a:lnSpc>
              <a:spcBef>
                <a:spcPts val="0"/>
              </a:spcBef>
              <a:buNone/>
            </a:pPr>
            <a:r>
              <a:rPr lang="zh-CN" altLang="en-US" sz="2400" b="1" kern="1200" dirty="0">
                <a:solidFill>
                  <a:srgbClr val="000066"/>
                </a:solidFill>
                <a:latin typeface="Arial" panose="020B0604020202020204" pitchFamily="34" charset="0"/>
                <a:ea typeface="楷体_GB2312" pitchFamily="49" charset="-122"/>
              </a:rPr>
              <a:t>与输入A、B之间</a:t>
            </a:r>
            <a:r>
              <a:rPr lang="zh-CN" altLang="en-US" sz="2400" b="1" kern="1200" dirty="0">
                <a:solidFill>
                  <a:srgbClr val="000066"/>
                </a:solidFill>
                <a:latin typeface="Arial" panose="020B0604020202020204" pitchFamily="34" charset="0"/>
                <a:ea typeface="楷体_GB2312" pitchFamily="49" charset="-122"/>
                <a:sym typeface="+mn-ea"/>
              </a:rPr>
              <a:t>为或非</a:t>
            </a:r>
            <a:endParaRPr lang="zh-CN" altLang="en-US"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10000"/>
              </a:lnSpc>
              <a:spcBef>
                <a:spcPts val="0"/>
              </a:spcBef>
              <a:buNone/>
            </a:pPr>
            <a:r>
              <a:rPr lang="zh-CN" altLang="en-US" sz="2400" b="1" kern="1200" dirty="0">
                <a:solidFill>
                  <a:srgbClr val="000066"/>
                </a:solidFill>
                <a:latin typeface="Arial" panose="020B0604020202020204" pitchFamily="34" charset="0"/>
                <a:ea typeface="楷体_GB2312" pitchFamily="49" charset="-122"/>
              </a:rPr>
              <a:t>逻辑关系。</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3.2 TTL</a:t>
            </a:r>
            <a:r>
              <a:rPr lang="zh-CN" altLang="en-US" b="1" dirty="0">
                <a:solidFill>
                  <a:srgbClr val="FF0000"/>
                </a:solidFill>
                <a:latin typeface="黑体" panose="02010609060101010101" pitchFamily="49" charset="-122"/>
                <a:ea typeface="黑体" panose="02010609060101010101" pitchFamily="49" charset="-122"/>
              </a:rPr>
              <a:t>逻辑门电路</a:t>
            </a:r>
            <a:endParaRPr lang="zh-CN" altLang="en-US" b="1" dirty="0">
              <a:solidFill>
                <a:srgbClr val="FF0000"/>
              </a:solidFill>
              <a:latin typeface="黑体" panose="02010609060101010101" pitchFamily="49" charset="-122"/>
              <a:ea typeface="黑体" panose="02010609060101010101" pitchFamily="49" charset="-122"/>
            </a:endParaRPr>
          </a:p>
        </p:txBody>
      </p:sp>
      <p:grpSp>
        <p:nvGrpSpPr>
          <p:cNvPr id="4" name="组合 3"/>
          <p:cNvGrpSpPr/>
          <p:nvPr/>
        </p:nvGrpSpPr>
        <p:grpSpPr>
          <a:xfrm>
            <a:off x="4114800" y="3276600"/>
            <a:ext cx="4646930" cy="3536950"/>
            <a:chOff x="6480" y="5160"/>
            <a:chExt cx="7318" cy="5570"/>
          </a:xfrm>
        </p:grpSpPr>
        <p:pic>
          <p:nvPicPr>
            <p:cNvPr id="9249" name="图片 2686"/>
            <p:cNvPicPr>
              <a:picLocks noChangeAspect="1"/>
            </p:cNvPicPr>
            <p:nvPr/>
          </p:nvPicPr>
          <p:blipFill>
            <a:blip r:embed="rId1"/>
            <a:stretch>
              <a:fillRect/>
            </a:stretch>
          </p:blipFill>
          <p:spPr>
            <a:xfrm>
              <a:off x="6480" y="5160"/>
              <a:ext cx="7319" cy="5438"/>
            </a:xfrm>
            <a:prstGeom prst="rect">
              <a:avLst/>
            </a:prstGeom>
            <a:noFill/>
            <a:ln>
              <a:noFill/>
            </a:ln>
          </p:spPr>
        </p:pic>
        <p:sp>
          <p:nvSpPr>
            <p:cNvPr id="100" name="文本框 99"/>
            <p:cNvSpPr txBox="1"/>
            <p:nvPr/>
          </p:nvSpPr>
          <p:spPr>
            <a:xfrm>
              <a:off x="8640" y="10200"/>
              <a:ext cx="3680"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图3-25 TTL或非门电路</a:t>
              </a:r>
              <a:endParaRPr sz="1600">
                <a:latin typeface="Times New Roman" panose="0202060305040502030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afterEffect">
                                  <p:stCondLst>
                                    <p:cond delay="0"/>
                                  </p:stCondLst>
                                  <p:childTnLst>
                                    <p:set>
                                      <p:cBhvr>
                                        <p:cTn id="6" dur="1000"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ppt_w</p:attrName>
                                        </p:attrNameLst>
                                      </p:cBhvr>
                                      <p:tavLst>
                                        <p:tav tm="0" fmla="#ppt_w*sin(2.5*pi*$)">
                                          <p:val>
                                            <p:fltVal val="0"/>
                                          </p:val>
                                        </p:tav>
                                        <p:tav tm="100000">
                                          <p:val>
                                            <p:fltVal val="1"/>
                                          </p:val>
                                        </p:tav>
                                      </p:tavLst>
                                    </p:anim>
                                    <p:anim calcmode="lin" valueType="num">
                                      <p:cBhvr>
                                        <p:cTn id="9" dur="10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6" name="Rectangle 2"/>
          <p:cNvSpPr>
            <a:spLocks noGrp="1"/>
          </p:cNvSpPr>
          <p:nvPr>
            <p:ph type="title"/>
          </p:nvPr>
        </p:nvSpPr>
        <p:spPr>
          <a:xfrm>
            <a:off x="567690" y="1198880"/>
            <a:ext cx="4286885"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3.2.3 </a:t>
            </a:r>
            <a:r>
              <a:rPr lang="zh-CN" altLang="en-US" sz="2800" i="0" dirty="0">
                <a:solidFill>
                  <a:srgbClr val="0070C0"/>
                </a:solidFill>
                <a:latin typeface="黑体" panose="02010609060101010101" pitchFamily="49" charset="-122"/>
                <a:ea typeface="黑体" panose="02010609060101010101" pitchFamily="49" charset="-122"/>
              </a:rPr>
              <a:t>集电极开路与非门</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493395" y="1752600"/>
            <a:ext cx="5307965" cy="4188460"/>
          </a:xfrm>
        </p:spPr>
        <p:txBody>
          <a:bodyPr vert="horz" wrap="square" lIns="91440" tIns="45720" rIns="91440" bIns="45720" anchor="t" anchorCtr="0"/>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ea typeface="楷体_GB2312" pitchFamily="49" charset="-122"/>
              </a:rPr>
              <a:t>有时，将门电路的输出端并联以实现某种逻辑运算也能达到简化电路设计的目的。然而，具有推拉式输出级的电路中，不能直接将两个门电路的输出端并联在一起。如图3-26所示，当逻辑门G</a:t>
            </a:r>
            <a:r>
              <a:rPr lang="zh-CN" altLang="en-US" sz="2400" b="1" kern="1200" baseline="-25000" dirty="0">
                <a:solidFill>
                  <a:srgbClr val="000066"/>
                </a:solidFill>
                <a:ea typeface="楷体_GB2312" pitchFamily="49" charset="-122"/>
              </a:rPr>
              <a:t>1</a:t>
            </a:r>
            <a:r>
              <a:rPr lang="zh-CN" altLang="en-US" sz="2400" b="1" kern="1200" dirty="0">
                <a:solidFill>
                  <a:srgbClr val="000066"/>
                </a:solidFill>
                <a:ea typeface="楷体_GB2312" pitchFamily="49" charset="-122"/>
              </a:rPr>
              <a:t>的输出Y</a:t>
            </a:r>
            <a:r>
              <a:rPr lang="zh-CN" altLang="en-US" sz="2400" b="1" kern="1200" baseline="-25000" dirty="0">
                <a:solidFill>
                  <a:srgbClr val="000066"/>
                </a:solidFill>
                <a:ea typeface="楷体_GB2312" pitchFamily="49" charset="-122"/>
              </a:rPr>
              <a:t>1</a:t>
            </a:r>
            <a:r>
              <a:rPr lang="zh-CN" altLang="en-US" sz="2400" b="1" kern="1200" dirty="0">
                <a:solidFill>
                  <a:srgbClr val="000066"/>
                </a:solidFill>
                <a:ea typeface="楷体_GB2312" pitchFamily="49" charset="-122"/>
              </a:rPr>
              <a:t>为高电平，G</a:t>
            </a:r>
            <a:r>
              <a:rPr lang="zh-CN" altLang="en-US" sz="2400" b="1" kern="1200" baseline="-25000" dirty="0">
                <a:solidFill>
                  <a:srgbClr val="000066"/>
                </a:solidFill>
                <a:ea typeface="楷体_GB2312" pitchFamily="49" charset="-122"/>
              </a:rPr>
              <a:t>2</a:t>
            </a:r>
            <a:r>
              <a:rPr lang="zh-CN" altLang="en-US" sz="2400" b="1" kern="1200" dirty="0">
                <a:solidFill>
                  <a:srgbClr val="000066"/>
                </a:solidFill>
                <a:ea typeface="楷体_GB2312" pitchFamily="49" charset="-122"/>
              </a:rPr>
              <a:t>的输出Y</a:t>
            </a:r>
            <a:r>
              <a:rPr lang="zh-CN" altLang="en-US" sz="2400" b="1" kern="1200" baseline="-25000" dirty="0">
                <a:solidFill>
                  <a:srgbClr val="000066"/>
                </a:solidFill>
                <a:ea typeface="楷体_GB2312" pitchFamily="49" charset="-122"/>
              </a:rPr>
              <a:t>2</a:t>
            </a:r>
            <a:r>
              <a:rPr lang="zh-CN" altLang="en-US" sz="2400" b="1" kern="1200" dirty="0">
                <a:solidFill>
                  <a:srgbClr val="000066"/>
                </a:solidFill>
                <a:ea typeface="楷体_GB2312" pitchFamily="49" charset="-122"/>
              </a:rPr>
              <a:t>为低电平，二者输出端并联会导致很大的电流同时流经G</a:t>
            </a:r>
            <a:r>
              <a:rPr lang="zh-CN" altLang="en-US" sz="2400" b="1" kern="1200" baseline="-25000" dirty="0">
                <a:solidFill>
                  <a:srgbClr val="000066"/>
                </a:solidFill>
                <a:ea typeface="楷体_GB2312" pitchFamily="49" charset="-122"/>
              </a:rPr>
              <a:t>1</a:t>
            </a:r>
            <a:r>
              <a:rPr lang="zh-CN" altLang="en-US" sz="2400" b="1" kern="1200" dirty="0">
                <a:solidFill>
                  <a:srgbClr val="000066"/>
                </a:solidFill>
                <a:ea typeface="楷体_GB2312" pitchFamily="49" charset="-122"/>
              </a:rPr>
              <a:t>、G</a:t>
            </a:r>
            <a:r>
              <a:rPr lang="zh-CN" altLang="en-US" sz="2400" b="1" kern="1200" baseline="-25000" dirty="0">
                <a:solidFill>
                  <a:srgbClr val="000066"/>
                </a:solidFill>
                <a:ea typeface="楷体_GB2312" pitchFamily="49" charset="-122"/>
              </a:rPr>
              <a:t>2</a:t>
            </a:r>
            <a:r>
              <a:rPr lang="zh-CN" altLang="en-US" sz="2400" b="1" kern="1200" dirty="0">
                <a:solidFill>
                  <a:srgbClr val="000066"/>
                </a:solidFill>
                <a:ea typeface="楷体_GB2312" pitchFamily="49" charset="-122"/>
              </a:rPr>
              <a:t>的输出级，这个电流可能远远超过正常的工作电流，从而造成门电路的损坏。</a:t>
            </a:r>
            <a:endParaRPr lang="zh-CN" altLang="en-US" sz="2400" b="1" kern="1200" dirty="0">
              <a:solidFill>
                <a:srgbClr val="000066"/>
              </a:solidFill>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3.2 TTL</a:t>
            </a:r>
            <a:r>
              <a:rPr lang="zh-CN" altLang="en-US" b="1" dirty="0">
                <a:solidFill>
                  <a:srgbClr val="FF0000"/>
                </a:solidFill>
                <a:latin typeface="黑体" panose="02010609060101010101" pitchFamily="49" charset="-122"/>
                <a:ea typeface="黑体" panose="02010609060101010101" pitchFamily="49" charset="-122"/>
              </a:rPr>
              <a:t>逻辑门电路</a:t>
            </a:r>
            <a:endParaRPr lang="zh-CN" altLang="en-US" b="1" dirty="0">
              <a:solidFill>
                <a:srgbClr val="FF0000"/>
              </a:solidFill>
              <a:latin typeface="黑体" panose="02010609060101010101" pitchFamily="49" charset="-122"/>
              <a:ea typeface="黑体" panose="02010609060101010101" pitchFamily="49" charset="-122"/>
            </a:endParaRPr>
          </a:p>
        </p:txBody>
      </p:sp>
      <p:grpSp>
        <p:nvGrpSpPr>
          <p:cNvPr id="3" name="组合 2"/>
          <p:cNvGrpSpPr/>
          <p:nvPr/>
        </p:nvGrpSpPr>
        <p:grpSpPr>
          <a:xfrm>
            <a:off x="5985510" y="1600200"/>
            <a:ext cx="2900680" cy="5165090"/>
            <a:chOff x="9426" y="2520"/>
            <a:chExt cx="4568" cy="8134"/>
          </a:xfrm>
        </p:grpSpPr>
        <p:sp>
          <p:nvSpPr>
            <p:cNvPr id="100" name="文本框 99"/>
            <p:cNvSpPr txBox="1"/>
            <p:nvPr/>
          </p:nvSpPr>
          <p:spPr>
            <a:xfrm>
              <a:off x="9828" y="10124"/>
              <a:ext cx="4073"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图3-26 推拉式输出级并联</a:t>
              </a:r>
              <a:endParaRPr sz="1600">
                <a:latin typeface="Times New Roman" panose="02020603050405020304" charset="0"/>
                <a:ea typeface="宋体" panose="02010600030101010101" pitchFamily="2" charset="-122"/>
              </a:endParaRPr>
            </a:p>
          </p:txBody>
        </p:sp>
        <p:pic>
          <p:nvPicPr>
            <p:cNvPr id="9250" name="图片 2687"/>
            <p:cNvPicPr>
              <a:picLocks noChangeAspect="1"/>
            </p:cNvPicPr>
            <p:nvPr/>
          </p:nvPicPr>
          <p:blipFill>
            <a:blip r:embed="rId1"/>
            <a:stretch>
              <a:fillRect/>
            </a:stretch>
          </p:blipFill>
          <p:spPr>
            <a:xfrm>
              <a:off x="9426" y="2520"/>
              <a:ext cx="4568" cy="7414"/>
            </a:xfrm>
            <a:prstGeom prst="rect">
              <a:avLst/>
            </a:prstGeom>
            <a:noFill/>
            <a:ln>
              <a:noFill/>
            </a:ln>
          </p:spPr>
        </p:pic>
      </p:grpSp>
      <p:sp>
        <p:nvSpPr>
          <p:cNvPr id="2" name="Rectangle 3"/>
          <p:cNvSpPr>
            <a:spLocks noGrp="1"/>
          </p:cNvSpPr>
          <p:nvPr/>
        </p:nvSpPr>
        <p:spPr>
          <a:xfrm>
            <a:off x="499110" y="5562600"/>
            <a:ext cx="5307965" cy="125412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ea typeface="楷体_GB2312" pitchFamily="49" charset="-122"/>
              </a:rPr>
              <a:t>为了解决这个问题，把输出级改为三极管集电极开路 (Open Collector，</a:t>
            </a:r>
            <a:r>
              <a:rPr lang="en-US" altLang="zh-CN" sz="2400" b="1" kern="1200" dirty="0">
                <a:solidFill>
                  <a:srgbClr val="000066"/>
                </a:solidFill>
                <a:ea typeface="楷体_GB2312" pitchFamily="49" charset="-122"/>
              </a:rPr>
              <a:t>OC</a:t>
            </a:r>
            <a:r>
              <a:rPr lang="zh-CN" altLang="en-US" sz="2400" b="1" kern="1200" dirty="0">
                <a:solidFill>
                  <a:srgbClr val="000066"/>
                </a:solidFill>
                <a:ea typeface="楷体_GB2312" pitchFamily="49" charset="-122"/>
              </a:rPr>
              <a:t>) 的结构。</a:t>
            </a:r>
            <a:endParaRPr lang="zh-CN" altLang="en-US" sz="2400" b="1" kern="1200" dirty="0">
              <a:solidFill>
                <a:srgbClr val="000066"/>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500" fill="hold">
                                          <p:stCondLst>
                                            <p:cond delay="0"/>
                                          </p:stCondLst>
                                        </p:cTn>
                                        <p:tgtEl>
                                          <p:spTgt spid="2"/>
                                        </p:tgtEl>
                                        <p:attrNameLst>
                                          <p:attrName>style.visibility</p:attrName>
                                        </p:attrNameLst>
                                      </p:cBhvr>
                                      <p:to>
                                        <p:strVal val="visible"/>
                                      </p:to>
                                    </p:set>
                                    <p:animEffect transition="in" filter="diamond(i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251" name="图片 2688"/>
          <p:cNvPicPr>
            <a:picLocks noChangeAspect="1"/>
          </p:cNvPicPr>
          <p:nvPr/>
        </p:nvPicPr>
        <p:blipFill>
          <a:blip r:embed="rId1"/>
          <a:stretch>
            <a:fillRect/>
          </a:stretch>
        </p:blipFill>
        <p:spPr>
          <a:xfrm>
            <a:off x="2209800" y="1905000"/>
            <a:ext cx="5464810" cy="3166110"/>
          </a:xfrm>
          <a:prstGeom prst="rect">
            <a:avLst/>
          </a:prstGeom>
          <a:noFill/>
          <a:ln>
            <a:noFill/>
          </a:ln>
        </p:spPr>
      </p:pic>
      <p:sp>
        <p:nvSpPr>
          <p:cNvPr id="10" name="文本框 9"/>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7" name="Rectangle 3"/>
          <p:cNvSpPr>
            <a:spLocks noGrp="1"/>
          </p:cNvSpPr>
          <p:nvPr>
            <p:ph idx="1"/>
          </p:nvPr>
        </p:nvSpPr>
        <p:spPr>
          <a:xfrm>
            <a:off x="493395" y="1219200"/>
            <a:ext cx="8027035" cy="853440"/>
          </a:xfrm>
        </p:spPr>
        <p:txBody>
          <a:bodyPr vert="horz" wrap="square" lIns="91440" tIns="45720" rIns="91440" bIns="45720" anchor="t" anchorCtr="0"/>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ea typeface="楷体_GB2312" pitchFamily="49" charset="-122"/>
              </a:rPr>
              <a:t>集电极开路的与非门 (简称为OC门) 电路结构和逻辑符号如图3-27所示。</a:t>
            </a:r>
            <a:endParaRPr lang="zh-CN" altLang="en-US" sz="2400" b="1" kern="1200" dirty="0">
              <a:solidFill>
                <a:srgbClr val="000066"/>
              </a:solidFill>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3.2 TTL</a:t>
            </a:r>
            <a:r>
              <a:rPr lang="zh-CN" altLang="en-US" b="1" dirty="0">
                <a:solidFill>
                  <a:srgbClr val="FF0000"/>
                </a:solidFill>
                <a:latin typeface="黑体" panose="02010609060101010101" pitchFamily="49" charset="-122"/>
                <a:ea typeface="黑体" panose="02010609060101010101" pitchFamily="49" charset="-122"/>
              </a:rPr>
              <a:t>逻辑门电路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00" name="文本框 99"/>
          <p:cNvSpPr txBox="1"/>
          <p:nvPr/>
        </p:nvSpPr>
        <p:spPr>
          <a:xfrm>
            <a:off x="3733800" y="5105400"/>
            <a:ext cx="3190240" cy="337185"/>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图3-27 集电极开路与非门 (OC门)</a:t>
            </a:r>
            <a:endParaRPr sz="1600">
              <a:latin typeface="Times New Roman" panose="02020603050405020304" charset="0"/>
              <a:ea typeface="宋体" panose="02010600030101010101" pitchFamily="2" charset="-122"/>
            </a:endParaRPr>
          </a:p>
        </p:txBody>
      </p:sp>
      <p:sp>
        <p:nvSpPr>
          <p:cNvPr id="2" name="Rectangle 3"/>
          <p:cNvSpPr>
            <a:spLocks noGrp="1"/>
          </p:cNvSpPr>
          <p:nvPr/>
        </p:nvSpPr>
        <p:spPr>
          <a:xfrm>
            <a:off x="457200" y="5486400"/>
            <a:ext cx="8418195" cy="92583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ea typeface="楷体_GB2312" pitchFamily="49" charset="-122"/>
              </a:rPr>
              <a:t>OC门工作时，需要外接电阻和电源。图3-28是两个OC门输出端并联的情况，</a:t>
            </a:r>
            <a:r>
              <a:rPr lang="zh-CN" altLang="en-US" sz="2400" b="1" i="1" kern="1200" dirty="0">
                <a:solidFill>
                  <a:srgbClr val="000066"/>
                </a:solidFill>
                <a:ea typeface="楷体_GB2312" pitchFamily="49" charset="-122"/>
              </a:rPr>
              <a:t>V</a:t>
            </a:r>
            <a:r>
              <a:rPr lang="en-US" altLang="zh-CN" sz="2400" b="1" i="1" kern="1200" dirty="0">
                <a:solidFill>
                  <a:srgbClr val="000066"/>
                </a:solidFill>
                <a:ea typeface="楷体_GB2312" pitchFamily="49" charset="-122"/>
              </a:rPr>
              <a:t> </a:t>
            </a:r>
            <a:r>
              <a:rPr lang="zh-CN" altLang="en-US" sz="2400" b="1" baseline="30000" dirty="0">
                <a:solidFill>
                  <a:srgbClr val="000066"/>
                </a:solidFill>
                <a:uFillTx/>
                <a:latin typeface="Times New Roman" panose="02020603050405020304" charset="0"/>
                <a:ea typeface="楷体_GB2312" pitchFamily="49" charset="-122"/>
                <a:cs typeface="Times New Roman" panose="02020603050405020304" charset="0"/>
                <a:sym typeface="+mn-ea"/>
              </a:rPr>
              <a:t>'</a:t>
            </a:r>
            <a:r>
              <a:rPr lang="zh-CN" altLang="en-US" sz="2400" b="1" kern="1200" baseline="-25000" dirty="0">
                <a:solidFill>
                  <a:srgbClr val="000066"/>
                </a:solidFill>
                <a:ea typeface="楷体_GB2312" pitchFamily="49" charset="-122"/>
              </a:rPr>
              <a:t>CC</a:t>
            </a:r>
            <a:r>
              <a:rPr lang="zh-CN" altLang="en-US" sz="2400" b="1" kern="1200" dirty="0">
                <a:solidFill>
                  <a:srgbClr val="000066"/>
                </a:solidFill>
                <a:ea typeface="楷体_GB2312" pitchFamily="49" charset="-122"/>
              </a:rPr>
              <a:t> 和</a:t>
            </a:r>
            <a:r>
              <a:rPr lang="zh-CN" altLang="en-US" sz="2400" b="1" i="1" kern="1200" dirty="0">
                <a:solidFill>
                  <a:srgbClr val="000066"/>
                </a:solidFill>
                <a:ea typeface="楷体_GB2312" pitchFamily="49" charset="-122"/>
              </a:rPr>
              <a:t>R</a:t>
            </a:r>
            <a:r>
              <a:rPr lang="zh-CN" altLang="en-US" sz="2400" b="1" kern="1200" baseline="-25000" dirty="0">
                <a:solidFill>
                  <a:srgbClr val="000066"/>
                </a:solidFill>
                <a:ea typeface="楷体_GB2312" pitchFamily="49" charset="-122"/>
              </a:rPr>
              <a:t>L</a:t>
            </a:r>
            <a:r>
              <a:rPr lang="zh-CN" altLang="en-US" sz="2400" b="1" kern="1200" dirty="0">
                <a:solidFill>
                  <a:srgbClr val="000066"/>
                </a:solidFill>
                <a:ea typeface="楷体_GB2312" pitchFamily="49" charset="-122"/>
              </a:rPr>
              <a:t>分别是外接电源和负载电阻。</a:t>
            </a:r>
            <a:endParaRPr lang="zh-CN" altLang="en-US" sz="2400" b="1" kern="1200" dirty="0">
              <a:solidFill>
                <a:srgbClr val="000066"/>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7" name="Rectangle 3"/>
          <p:cNvSpPr>
            <a:spLocks noGrp="1"/>
          </p:cNvSpPr>
          <p:nvPr>
            <p:ph idx="1"/>
          </p:nvPr>
        </p:nvSpPr>
        <p:spPr>
          <a:xfrm>
            <a:off x="493395" y="1219200"/>
            <a:ext cx="5114290" cy="3855085"/>
          </a:xfrm>
        </p:spPr>
        <p:txBody>
          <a:bodyPr vert="horz" wrap="square" lIns="91440" tIns="45720" rIns="91440" bIns="45720" anchor="t" anchorCtr="0"/>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ea typeface="楷体_GB2312" pitchFamily="49" charset="-122"/>
              </a:rPr>
              <a:t>当输入信号A、B有低电平时，T</a:t>
            </a:r>
            <a:r>
              <a:rPr lang="zh-CN" altLang="en-US" sz="2400" b="1" kern="1200" baseline="-25000" dirty="0">
                <a:solidFill>
                  <a:srgbClr val="000066"/>
                </a:solidFill>
                <a:ea typeface="楷体_GB2312" pitchFamily="49" charset="-122"/>
              </a:rPr>
              <a:t>2</a:t>
            </a:r>
            <a:r>
              <a:rPr lang="zh-CN" altLang="en-US" sz="2400" b="1" kern="1200" dirty="0">
                <a:solidFill>
                  <a:srgbClr val="000066"/>
                </a:solidFill>
                <a:ea typeface="楷体_GB2312" pitchFamily="49" charset="-122"/>
              </a:rPr>
              <a:t>和T</a:t>
            </a:r>
            <a:r>
              <a:rPr lang="zh-CN" altLang="en-US" sz="2400" b="1" kern="1200" baseline="-25000" dirty="0">
                <a:solidFill>
                  <a:srgbClr val="000066"/>
                </a:solidFill>
                <a:ea typeface="楷体_GB2312" pitchFamily="49" charset="-122"/>
              </a:rPr>
              <a:t>3</a:t>
            </a:r>
            <a:r>
              <a:rPr lang="zh-CN" altLang="en-US" sz="2400" b="1" kern="1200" dirty="0">
                <a:solidFill>
                  <a:srgbClr val="000066"/>
                </a:solidFill>
                <a:ea typeface="楷体_GB2312" pitchFamily="49" charset="-122"/>
              </a:rPr>
              <a:t>截止，输出Y</a:t>
            </a:r>
            <a:r>
              <a:rPr lang="zh-CN" altLang="en-US" sz="2400" b="1" kern="1200" baseline="-25000" dirty="0">
                <a:solidFill>
                  <a:srgbClr val="000066"/>
                </a:solidFill>
                <a:ea typeface="楷体_GB2312" pitchFamily="49" charset="-122"/>
              </a:rPr>
              <a:t>1</a:t>
            </a:r>
            <a:r>
              <a:rPr lang="zh-CN" altLang="en-US" sz="2400" b="1" kern="1200" dirty="0">
                <a:solidFill>
                  <a:srgbClr val="000066"/>
                </a:solidFill>
                <a:ea typeface="楷体_GB2312" pitchFamily="49" charset="-122"/>
              </a:rPr>
              <a:t>为高电平；只有A、B同时为高电平时，T</a:t>
            </a:r>
            <a:r>
              <a:rPr lang="zh-CN" altLang="en-US" sz="2400" b="1" kern="1200" baseline="-25000" dirty="0">
                <a:solidFill>
                  <a:srgbClr val="000066"/>
                </a:solidFill>
                <a:ea typeface="楷体_GB2312" pitchFamily="49" charset="-122"/>
              </a:rPr>
              <a:t>2</a:t>
            </a:r>
            <a:r>
              <a:rPr lang="zh-CN" altLang="en-US" sz="2400" b="1" kern="1200" dirty="0">
                <a:solidFill>
                  <a:srgbClr val="000066"/>
                </a:solidFill>
                <a:ea typeface="楷体_GB2312" pitchFamily="49" charset="-122"/>
              </a:rPr>
              <a:t>和T</a:t>
            </a:r>
            <a:r>
              <a:rPr lang="zh-CN" altLang="en-US" sz="2400" b="1" kern="1200" baseline="-25000" dirty="0">
                <a:solidFill>
                  <a:srgbClr val="000066"/>
                </a:solidFill>
                <a:ea typeface="楷体_GB2312" pitchFamily="49" charset="-122"/>
              </a:rPr>
              <a:t>3</a:t>
            </a:r>
            <a:r>
              <a:rPr lang="zh-CN" altLang="en-US" sz="2400" b="1" kern="1200" dirty="0">
                <a:solidFill>
                  <a:srgbClr val="000066"/>
                </a:solidFill>
                <a:ea typeface="楷体_GB2312" pitchFamily="49" charset="-122"/>
              </a:rPr>
              <a:t>导通，输出Y</a:t>
            </a:r>
            <a:r>
              <a:rPr lang="zh-CN" altLang="en-US" sz="2400" b="1" kern="1200" baseline="-25000" dirty="0">
                <a:solidFill>
                  <a:srgbClr val="000066"/>
                </a:solidFill>
                <a:ea typeface="楷体_GB2312" pitchFamily="49" charset="-122"/>
              </a:rPr>
              <a:t>1</a:t>
            </a:r>
            <a:r>
              <a:rPr lang="zh-CN" altLang="en-US" sz="2400" b="1" kern="1200" dirty="0">
                <a:solidFill>
                  <a:srgbClr val="000066"/>
                </a:solidFill>
                <a:ea typeface="楷体_GB2312" pitchFamily="49" charset="-122"/>
              </a:rPr>
              <a:t>为低电平。因此，Y</a:t>
            </a:r>
            <a:r>
              <a:rPr lang="zh-CN" altLang="en-US" sz="2400" b="1" kern="1200" baseline="-25000" dirty="0">
                <a:solidFill>
                  <a:srgbClr val="000066"/>
                </a:solidFill>
                <a:ea typeface="楷体_GB2312" pitchFamily="49" charset="-122"/>
              </a:rPr>
              <a:t>1</a:t>
            </a:r>
            <a:r>
              <a:rPr lang="zh-CN" altLang="en-US" sz="2400" b="1" kern="1200" dirty="0">
                <a:solidFill>
                  <a:srgbClr val="000066"/>
                </a:solidFill>
                <a:ea typeface="楷体_GB2312" pitchFamily="49" charset="-122"/>
              </a:rPr>
              <a:t>与A、B为与非逻辑关系，即</a:t>
            </a:r>
            <a:r>
              <a:rPr lang="en-US" altLang="zh-CN" sz="2400" b="1" kern="1200" dirty="0">
                <a:solidFill>
                  <a:srgbClr val="000066"/>
                </a:solidFill>
                <a:ea typeface="楷体_GB2312" pitchFamily="49" charset="-122"/>
              </a:rPr>
              <a:t>           </a:t>
            </a:r>
            <a:r>
              <a:rPr lang="zh-CN" altLang="en-US" sz="2400" b="1" kern="1200" dirty="0">
                <a:solidFill>
                  <a:srgbClr val="000066"/>
                </a:solidFill>
                <a:ea typeface="楷体_GB2312" pitchFamily="49" charset="-122"/>
              </a:rPr>
              <a:t>。同理，Y</a:t>
            </a:r>
            <a:r>
              <a:rPr lang="zh-CN" altLang="en-US" sz="2400" b="1" kern="1200" baseline="-25000" dirty="0">
                <a:solidFill>
                  <a:srgbClr val="000066"/>
                </a:solidFill>
                <a:ea typeface="楷体_GB2312" pitchFamily="49" charset="-122"/>
              </a:rPr>
              <a:t>2</a:t>
            </a:r>
            <a:r>
              <a:rPr lang="zh-CN" altLang="en-US" sz="2400" b="1" kern="1200" dirty="0">
                <a:solidFill>
                  <a:srgbClr val="000066"/>
                </a:solidFill>
                <a:ea typeface="楷体_GB2312" pitchFamily="49" charset="-122"/>
              </a:rPr>
              <a:t>与C、D也为与非逻辑关系，即</a:t>
            </a:r>
            <a:endParaRPr lang="zh-CN" altLang="en-US"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zh-CN" altLang="en-US" sz="2400" b="1" kern="1200" dirty="0">
                <a:solidFill>
                  <a:srgbClr val="000066"/>
                </a:solidFill>
                <a:ea typeface="楷体_GB2312" pitchFamily="49" charset="-122"/>
              </a:rPr>
              <a:t>。Y</a:t>
            </a:r>
            <a:r>
              <a:rPr lang="zh-CN" altLang="en-US" sz="2400" b="1" kern="1200" baseline="-25000" dirty="0">
                <a:solidFill>
                  <a:srgbClr val="000066"/>
                </a:solidFill>
                <a:ea typeface="楷体_GB2312" pitchFamily="49" charset="-122"/>
              </a:rPr>
              <a:t>1</a:t>
            </a:r>
            <a:r>
              <a:rPr lang="zh-CN" altLang="en-US" sz="2400" b="1" kern="1200" dirty="0">
                <a:solidFill>
                  <a:srgbClr val="000066"/>
                </a:solidFill>
                <a:ea typeface="楷体_GB2312" pitchFamily="49" charset="-122"/>
              </a:rPr>
              <a:t>、Y</a:t>
            </a:r>
            <a:r>
              <a:rPr lang="zh-CN" altLang="en-US" sz="2400" b="1" kern="1200" baseline="-25000" dirty="0">
                <a:solidFill>
                  <a:srgbClr val="000066"/>
                </a:solidFill>
                <a:ea typeface="楷体_GB2312" pitchFamily="49" charset="-122"/>
              </a:rPr>
              <a:t>2</a:t>
            </a:r>
            <a:r>
              <a:rPr lang="zh-CN" altLang="en-US" sz="2400" b="1" kern="1200" dirty="0">
                <a:solidFill>
                  <a:srgbClr val="000066"/>
                </a:solidFill>
                <a:ea typeface="楷体_GB2312" pitchFamily="49" charset="-122"/>
              </a:rPr>
              <a:t>若</a:t>
            </a:r>
            <a:r>
              <a:rPr lang="zh-CN" altLang="en-US" sz="2400" b="1" kern="1200" dirty="0">
                <a:solidFill>
                  <a:srgbClr val="000066"/>
                </a:solidFill>
                <a:ea typeface="楷体_GB2312" pitchFamily="49" charset="-122"/>
                <a:sym typeface="+mn-ea"/>
              </a:rPr>
              <a:t>有</a:t>
            </a:r>
            <a:r>
              <a:rPr lang="zh-CN" altLang="en-US" sz="2400" b="1" kern="1200" dirty="0">
                <a:solidFill>
                  <a:srgbClr val="000066"/>
                </a:solidFill>
                <a:ea typeface="楷体_GB2312" pitchFamily="49" charset="-122"/>
              </a:rPr>
              <a:t>一个为低电平，则Y为低电平；只有Y</a:t>
            </a:r>
            <a:r>
              <a:rPr lang="zh-CN" altLang="en-US" sz="2400" b="1" kern="1200" baseline="-25000" dirty="0">
                <a:solidFill>
                  <a:srgbClr val="000066"/>
                </a:solidFill>
                <a:ea typeface="楷体_GB2312" pitchFamily="49" charset="-122"/>
              </a:rPr>
              <a:t>1</a:t>
            </a:r>
            <a:r>
              <a:rPr lang="zh-CN" altLang="en-US" sz="2400" b="1" kern="1200" dirty="0">
                <a:solidFill>
                  <a:srgbClr val="000066"/>
                </a:solidFill>
                <a:ea typeface="楷体_GB2312" pitchFamily="49" charset="-122"/>
              </a:rPr>
              <a:t>、Y</a:t>
            </a:r>
            <a:r>
              <a:rPr lang="zh-CN" altLang="en-US" sz="2400" b="1" kern="1200" baseline="-25000" dirty="0">
                <a:solidFill>
                  <a:srgbClr val="000066"/>
                </a:solidFill>
                <a:ea typeface="楷体_GB2312" pitchFamily="49" charset="-122"/>
              </a:rPr>
              <a:t>2</a:t>
            </a:r>
            <a:r>
              <a:rPr lang="zh-CN" altLang="en-US" sz="2400" b="1" kern="1200" dirty="0">
                <a:solidFill>
                  <a:srgbClr val="000066"/>
                </a:solidFill>
                <a:ea typeface="楷体_GB2312" pitchFamily="49" charset="-122"/>
              </a:rPr>
              <a:t>同时为高电平时，Y才为高电平。所以，Y与Y</a:t>
            </a:r>
            <a:r>
              <a:rPr lang="zh-CN" altLang="en-US" sz="2400" b="1" kern="1200" baseline="-25000" dirty="0">
                <a:solidFill>
                  <a:srgbClr val="000066"/>
                </a:solidFill>
                <a:ea typeface="楷体_GB2312" pitchFamily="49" charset="-122"/>
              </a:rPr>
              <a:t>1</a:t>
            </a:r>
            <a:r>
              <a:rPr lang="zh-CN" altLang="en-US" sz="2400" b="1" kern="1200" dirty="0">
                <a:solidFill>
                  <a:srgbClr val="000066"/>
                </a:solidFill>
                <a:ea typeface="楷体_GB2312" pitchFamily="49" charset="-122"/>
              </a:rPr>
              <a:t>、Y</a:t>
            </a:r>
            <a:r>
              <a:rPr lang="zh-CN" altLang="en-US" sz="2400" b="1" kern="1200" baseline="-25000" dirty="0">
                <a:solidFill>
                  <a:srgbClr val="000066"/>
                </a:solidFill>
                <a:ea typeface="楷体_GB2312" pitchFamily="49" charset="-122"/>
              </a:rPr>
              <a:t>2</a:t>
            </a:r>
            <a:r>
              <a:rPr lang="zh-CN" altLang="en-US" sz="2400" b="1" kern="1200" dirty="0">
                <a:solidFill>
                  <a:srgbClr val="000066"/>
                </a:solidFill>
                <a:ea typeface="楷体_GB2312" pitchFamily="49" charset="-122"/>
              </a:rPr>
              <a:t>之间为与逻辑关系，即：</a:t>
            </a:r>
            <a:endParaRPr lang="zh-CN" altLang="en-US" sz="2400" b="1" kern="1200" dirty="0">
              <a:solidFill>
                <a:srgbClr val="000066"/>
              </a:solidFill>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3.2 TTL</a:t>
            </a:r>
            <a:r>
              <a:rPr lang="zh-CN" altLang="en-US" b="1" dirty="0">
                <a:solidFill>
                  <a:srgbClr val="FF0000"/>
                </a:solidFill>
                <a:latin typeface="黑体" panose="02010609060101010101" pitchFamily="49" charset="-122"/>
                <a:ea typeface="黑体" panose="02010609060101010101" pitchFamily="49" charset="-122"/>
              </a:rPr>
              <a:t>逻辑门电路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00" name="文本框 99"/>
          <p:cNvSpPr txBox="1"/>
          <p:nvPr/>
        </p:nvSpPr>
        <p:spPr>
          <a:xfrm>
            <a:off x="5943600" y="6248400"/>
            <a:ext cx="2795905" cy="337185"/>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图3-28 两个OC门输出端并联</a:t>
            </a:r>
            <a:endParaRPr sz="1600">
              <a:latin typeface="Times New Roman" panose="02020603050405020304" charset="0"/>
              <a:ea typeface="宋体" panose="02010600030101010101" pitchFamily="2" charset="-122"/>
            </a:endParaRPr>
          </a:p>
        </p:txBody>
      </p:sp>
      <p:pic>
        <p:nvPicPr>
          <p:cNvPr id="9252" name="图片 2689"/>
          <p:cNvPicPr>
            <a:picLocks noChangeAspect="1"/>
          </p:cNvPicPr>
          <p:nvPr/>
        </p:nvPicPr>
        <p:blipFill>
          <a:blip r:embed="rId1"/>
          <a:stretch>
            <a:fillRect/>
          </a:stretch>
        </p:blipFill>
        <p:spPr>
          <a:xfrm>
            <a:off x="5715000" y="1447800"/>
            <a:ext cx="3282950" cy="4697095"/>
          </a:xfrm>
          <a:prstGeom prst="rect">
            <a:avLst/>
          </a:prstGeom>
          <a:noFill/>
          <a:ln>
            <a:noFill/>
          </a:ln>
        </p:spPr>
      </p:pic>
      <p:graphicFrame>
        <p:nvGraphicFramePr>
          <p:cNvPr id="2" name="对象 -2147482622"/>
          <p:cNvGraphicFramePr>
            <a:graphicFrameLocks noChangeAspect="1"/>
          </p:cNvGraphicFramePr>
          <p:nvPr/>
        </p:nvGraphicFramePr>
        <p:xfrm>
          <a:off x="1752600" y="5152390"/>
          <a:ext cx="2312670" cy="467995"/>
        </p:xfrm>
        <a:graphic>
          <a:graphicData uri="http://schemas.openxmlformats.org/presentationml/2006/ole">
            <mc:AlternateContent xmlns:mc="http://schemas.openxmlformats.org/markup-compatibility/2006">
              <mc:Choice xmlns:v="urn:schemas-microsoft-com:vml" Requires="v">
                <p:oleObj spid="_x0000_s3076" name="" r:id="rId2" imgW="1065530" imgH="215900" progId="Equation.DSMT4">
                  <p:embed/>
                </p:oleObj>
              </mc:Choice>
              <mc:Fallback>
                <p:oleObj name="" r:id="rId2" imgW="1065530" imgH="215900" progId="Equation.DSMT4">
                  <p:embed/>
                  <p:pic>
                    <p:nvPicPr>
                      <p:cNvPr id="0" name="图片 3075"/>
                      <p:cNvPicPr/>
                      <p:nvPr/>
                    </p:nvPicPr>
                    <p:blipFill>
                      <a:blip r:embed="rId3"/>
                      <a:stretch>
                        <a:fillRect/>
                      </a:stretch>
                    </p:blipFill>
                    <p:spPr>
                      <a:xfrm>
                        <a:off x="1752600" y="5152390"/>
                        <a:ext cx="2312670" cy="467995"/>
                      </a:xfrm>
                      <a:prstGeom prst="rect">
                        <a:avLst/>
                      </a:prstGeom>
                      <a:noFill/>
                      <a:ln w="38100">
                        <a:noFill/>
                        <a:miter/>
                      </a:ln>
                    </p:spPr>
                  </p:pic>
                </p:oleObj>
              </mc:Fallback>
            </mc:AlternateContent>
          </a:graphicData>
        </a:graphic>
      </p:graphicFrame>
      <p:graphicFrame>
        <p:nvGraphicFramePr>
          <p:cNvPr id="3" name="对象 615"/>
          <p:cNvGraphicFramePr>
            <a:graphicFrameLocks noChangeAspect="1"/>
          </p:cNvGraphicFramePr>
          <p:nvPr/>
        </p:nvGraphicFramePr>
        <p:xfrm>
          <a:off x="3048000" y="2743200"/>
          <a:ext cx="981710" cy="477520"/>
        </p:xfrm>
        <a:graphic>
          <a:graphicData uri="http://schemas.openxmlformats.org/presentationml/2006/ole">
            <mc:AlternateContent xmlns:mc="http://schemas.openxmlformats.org/markup-compatibility/2006">
              <mc:Choice xmlns:v="urn:schemas-microsoft-com:vml" Requires="v">
                <p:oleObj spid="_x0000_s4" name="" r:id="rId4" imgW="443865" imgH="215900" progId="Equation.DSMT4">
                  <p:embed/>
                </p:oleObj>
              </mc:Choice>
              <mc:Fallback>
                <p:oleObj name="" r:id="rId4" imgW="443865" imgH="215900" progId="Equation.DSMT4">
                  <p:embed/>
                  <p:pic>
                    <p:nvPicPr>
                      <p:cNvPr id="0" name="图片 2"/>
                      <p:cNvPicPr/>
                      <p:nvPr/>
                    </p:nvPicPr>
                    <p:blipFill>
                      <a:blip r:embed="rId5"/>
                      <a:stretch>
                        <a:fillRect/>
                      </a:stretch>
                    </p:blipFill>
                    <p:spPr>
                      <a:xfrm>
                        <a:off x="3048000" y="2743200"/>
                        <a:ext cx="981710" cy="477520"/>
                      </a:xfrm>
                      <a:prstGeom prst="rect">
                        <a:avLst/>
                      </a:prstGeom>
                      <a:noFill/>
                      <a:ln w="38100">
                        <a:noFill/>
                        <a:miter/>
                      </a:ln>
                    </p:spPr>
                  </p:pic>
                </p:oleObj>
              </mc:Fallback>
            </mc:AlternateContent>
          </a:graphicData>
        </a:graphic>
      </p:graphicFrame>
      <p:graphicFrame>
        <p:nvGraphicFramePr>
          <p:cNvPr id="5" name="对象 616"/>
          <p:cNvGraphicFramePr>
            <a:graphicFrameLocks noChangeAspect="1"/>
          </p:cNvGraphicFramePr>
          <p:nvPr/>
        </p:nvGraphicFramePr>
        <p:xfrm>
          <a:off x="4704080" y="3166110"/>
          <a:ext cx="928370" cy="426720"/>
        </p:xfrm>
        <a:graphic>
          <a:graphicData uri="http://schemas.openxmlformats.org/presentationml/2006/ole">
            <mc:AlternateContent xmlns:mc="http://schemas.openxmlformats.org/markup-compatibility/2006">
              <mc:Choice xmlns:v="urn:schemas-microsoft-com:vml" Requires="v">
                <p:oleObj spid="_x0000_s6" name="" r:id="rId6" imgW="469265" imgH="215900" progId="Equation.DSMT4">
                  <p:embed/>
                </p:oleObj>
              </mc:Choice>
              <mc:Fallback>
                <p:oleObj name="" r:id="rId6" imgW="469265" imgH="215900" progId="Equation.DSMT4">
                  <p:embed/>
                  <p:pic>
                    <p:nvPicPr>
                      <p:cNvPr id="0" name="图片 3"/>
                      <p:cNvPicPr/>
                      <p:nvPr/>
                    </p:nvPicPr>
                    <p:blipFill>
                      <a:blip r:embed="rId7"/>
                      <a:stretch>
                        <a:fillRect/>
                      </a:stretch>
                    </p:blipFill>
                    <p:spPr>
                      <a:xfrm>
                        <a:off x="4704080" y="3166110"/>
                        <a:ext cx="928370" cy="426720"/>
                      </a:xfrm>
                      <a:prstGeom prst="rect">
                        <a:avLst/>
                      </a:prstGeom>
                      <a:noFill/>
                      <a:ln w="38100">
                        <a:noFill/>
                        <a:miter/>
                      </a:ln>
                    </p:spPr>
                  </p:pic>
                </p:oleObj>
              </mc:Fallback>
            </mc:AlternateContent>
          </a:graphicData>
        </a:graphic>
      </p:graphicFrame>
      <p:sp>
        <p:nvSpPr>
          <p:cNvPr id="7" name="Rectangle 3"/>
          <p:cNvSpPr>
            <a:spLocks noGrp="1"/>
          </p:cNvSpPr>
          <p:nvPr/>
        </p:nvSpPr>
        <p:spPr>
          <a:xfrm>
            <a:off x="457200" y="5562600"/>
            <a:ext cx="5325745" cy="125984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ea typeface="楷体_GB2312" pitchFamily="49" charset="-122"/>
              </a:rPr>
              <a:t>上式Y</a:t>
            </a:r>
            <a:r>
              <a:rPr lang="zh-CN" altLang="en-US" sz="2400" b="1" kern="1200" baseline="-25000" dirty="0">
                <a:solidFill>
                  <a:srgbClr val="000066"/>
                </a:solidFill>
                <a:ea typeface="楷体_GB2312" pitchFamily="49" charset="-122"/>
              </a:rPr>
              <a:t>1</a:t>
            </a:r>
            <a:r>
              <a:rPr lang="zh-CN" altLang="en-US" sz="2400" b="1" kern="1200" dirty="0">
                <a:solidFill>
                  <a:srgbClr val="000066"/>
                </a:solidFill>
                <a:ea typeface="楷体_GB2312" pitchFamily="49" charset="-122"/>
              </a:rPr>
              <a:t>和Y</a:t>
            </a:r>
            <a:r>
              <a:rPr lang="zh-CN" altLang="en-US" sz="2400" b="1" kern="1200" baseline="-25000" dirty="0">
                <a:solidFill>
                  <a:srgbClr val="000066"/>
                </a:solidFill>
                <a:ea typeface="楷体_GB2312" pitchFamily="49" charset="-122"/>
              </a:rPr>
              <a:t>2</a:t>
            </a:r>
            <a:r>
              <a:rPr lang="zh-CN" altLang="en-US" sz="2400" b="1" kern="1200" dirty="0">
                <a:solidFill>
                  <a:srgbClr val="000066"/>
                </a:solidFill>
                <a:ea typeface="楷体_GB2312" pitchFamily="49" charset="-122"/>
              </a:rPr>
              <a:t>之间的与逻辑关系不是通过与门实现的，而是输出端直接并联实现的，这种与逻辑关系称为线与。</a:t>
            </a:r>
            <a:endParaRPr lang="zh-CN" altLang="en-US" sz="2400" b="1" kern="1200" dirty="0">
              <a:solidFill>
                <a:srgbClr val="000066"/>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Scale>
                                      <p:cBhvr>
                                        <p:cTn id="7"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2"/>
                                        </p:tgtEl>
                                        <p:attrNameLst>
                                          <p:attrName>ppt_x</p:attrName>
                                          <p:attrName>ppt_y</p:attrName>
                                        </p:attrNameLst>
                                      </p:cBhvr>
                                    </p:animMotion>
                                    <p:animEffect transition="in" filter="fade">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blinds(horizontal)">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7" name="Rectangle 3"/>
          <p:cNvSpPr>
            <a:spLocks noGrp="1"/>
          </p:cNvSpPr>
          <p:nvPr>
            <p:ph idx="1"/>
          </p:nvPr>
        </p:nvSpPr>
        <p:spPr>
          <a:xfrm>
            <a:off x="493395" y="1219200"/>
            <a:ext cx="8228330" cy="923925"/>
          </a:xfrm>
        </p:spPr>
        <p:txBody>
          <a:bodyPr vert="horz" wrap="square" lIns="91440" tIns="45720" rIns="91440" bIns="45720" anchor="t" anchorCtr="0"/>
          <a:p>
            <a:pPr marL="0" indent="0" algn="just" eaLnBrk="1" latinLnBrk="0" hangingPunct="1">
              <a:lnSpc>
                <a:spcPct val="11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ea typeface="楷体_GB2312" pitchFamily="49" charset="-122"/>
              </a:rPr>
              <a:t>实际上，OC门进行线与时外接的负载电阻</a:t>
            </a:r>
            <a:r>
              <a:rPr sz="2400" b="1" i="1" kern="1200" dirty="0">
                <a:solidFill>
                  <a:srgbClr val="000066"/>
                </a:solidFill>
                <a:ea typeface="楷体_GB2312" pitchFamily="49" charset="-122"/>
              </a:rPr>
              <a:t>R</a:t>
            </a:r>
            <a:r>
              <a:rPr sz="2400" b="1" kern="1200" baseline="-25000" dirty="0">
                <a:solidFill>
                  <a:srgbClr val="000066"/>
                </a:solidFill>
                <a:ea typeface="楷体_GB2312" pitchFamily="49" charset="-122"/>
              </a:rPr>
              <a:t>L</a:t>
            </a:r>
            <a:r>
              <a:rPr sz="2400" b="1" kern="1200" dirty="0">
                <a:solidFill>
                  <a:srgbClr val="000066"/>
                </a:solidFill>
                <a:ea typeface="楷体_GB2312" pitchFamily="49" charset="-122"/>
              </a:rPr>
              <a:t>不能太大，也不能太小。下面探讨负载电阻</a:t>
            </a:r>
            <a:r>
              <a:rPr sz="2400" b="1" i="1" kern="1200" dirty="0">
                <a:solidFill>
                  <a:srgbClr val="000066"/>
                </a:solidFill>
                <a:ea typeface="楷体_GB2312" pitchFamily="49" charset="-122"/>
              </a:rPr>
              <a:t>R</a:t>
            </a:r>
            <a:r>
              <a:rPr sz="2400" b="1" kern="1200" baseline="-25000" dirty="0">
                <a:solidFill>
                  <a:srgbClr val="000066"/>
                </a:solidFill>
                <a:ea typeface="楷体_GB2312" pitchFamily="49" charset="-122"/>
              </a:rPr>
              <a:t>L</a:t>
            </a:r>
            <a:r>
              <a:rPr sz="2400" b="1" kern="1200" dirty="0">
                <a:solidFill>
                  <a:srgbClr val="000066"/>
                </a:solidFill>
                <a:ea typeface="楷体_GB2312" pitchFamily="49" charset="-122"/>
              </a:rPr>
              <a:t>应该如何选择的问题。</a:t>
            </a:r>
            <a:endParaRPr sz="2400" b="1" kern="1200" dirty="0">
              <a:solidFill>
                <a:srgbClr val="000066"/>
              </a:solidFill>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3.2 TTL</a:t>
            </a:r>
            <a:r>
              <a:rPr lang="zh-CN" altLang="en-US" b="1" dirty="0">
                <a:solidFill>
                  <a:srgbClr val="FF0000"/>
                </a:solidFill>
                <a:latin typeface="黑体" panose="02010609060101010101" pitchFamily="49" charset="-122"/>
                <a:ea typeface="黑体" panose="02010609060101010101" pitchFamily="49" charset="-122"/>
              </a:rPr>
              <a:t>逻辑门电路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7" name="Rectangle 3"/>
          <p:cNvSpPr>
            <a:spLocks noGrp="1"/>
          </p:cNvSpPr>
          <p:nvPr/>
        </p:nvSpPr>
        <p:spPr>
          <a:xfrm>
            <a:off x="457200" y="2057400"/>
            <a:ext cx="8153400" cy="121348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ea typeface="楷体_GB2312" pitchFamily="49" charset="-122"/>
              </a:rPr>
              <a:t>【例3-2】如图3-29所示，驱动门由n个线与在一起的OC门构成，负载门由n</a:t>
            </a:r>
            <a:r>
              <a:rPr lang="zh-CN" altLang="en-US" sz="2400" b="1" kern="1200" dirty="0">
                <a:solidFill>
                  <a:srgbClr val="000066"/>
                </a:solidFill>
                <a:latin typeface="Times New Roman" panose="02020603050405020304" charset="0"/>
                <a:ea typeface="楷体_GB2312" pitchFamily="49" charset="-122"/>
                <a:cs typeface="Times New Roman" panose="02020603050405020304" charset="0"/>
              </a:rPr>
              <a:t>'</a:t>
            </a:r>
            <a:r>
              <a:rPr lang="zh-CN" altLang="en-US" sz="2400" b="1" kern="1200" dirty="0">
                <a:solidFill>
                  <a:srgbClr val="000066"/>
                </a:solidFill>
                <a:ea typeface="楷体_GB2312" pitchFamily="49" charset="-122"/>
              </a:rPr>
              <a:t>个TTL与非门构成，且所有与非门共有m个输入端，如何确定负载电阻</a:t>
            </a:r>
            <a:r>
              <a:rPr lang="zh-CN" altLang="en-US" sz="2400" b="1" i="1" kern="1200" dirty="0">
                <a:solidFill>
                  <a:srgbClr val="000066"/>
                </a:solidFill>
                <a:ea typeface="楷体_GB2312" pitchFamily="49" charset="-122"/>
              </a:rPr>
              <a:t>R</a:t>
            </a:r>
            <a:r>
              <a:rPr lang="zh-CN" altLang="en-US" sz="2400" b="1" kern="1200" baseline="-25000" dirty="0">
                <a:solidFill>
                  <a:srgbClr val="000066"/>
                </a:solidFill>
                <a:ea typeface="楷体_GB2312" pitchFamily="49" charset="-122"/>
              </a:rPr>
              <a:t>L</a:t>
            </a:r>
            <a:r>
              <a:rPr lang="zh-CN" altLang="en-US" sz="2400" b="1" kern="1200" dirty="0">
                <a:solidFill>
                  <a:srgbClr val="000066"/>
                </a:solidFill>
                <a:ea typeface="楷体_GB2312" pitchFamily="49" charset="-122"/>
              </a:rPr>
              <a:t>的取值范围？</a:t>
            </a:r>
            <a:endParaRPr lang="zh-CN" altLang="en-US" sz="2400" b="1" kern="1200" dirty="0">
              <a:solidFill>
                <a:srgbClr val="000066"/>
              </a:solidFill>
              <a:ea typeface="楷体_GB2312" pitchFamily="49" charset="-122"/>
            </a:endParaRPr>
          </a:p>
        </p:txBody>
      </p:sp>
      <p:grpSp>
        <p:nvGrpSpPr>
          <p:cNvPr id="2" name="组合 1"/>
          <p:cNvGrpSpPr/>
          <p:nvPr/>
        </p:nvGrpSpPr>
        <p:grpSpPr>
          <a:xfrm>
            <a:off x="4867275" y="3276600"/>
            <a:ext cx="3863340" cy="3536950"/>
            <a:chOff x="7665" y="5160"/>
            <a:chExt cx="6084" cy="5570"/>
          </a:xfrm>
        </p:grpSpPr>
        <p:pic>
          <p:nvPicPr>
            <p:cNvPr id="9253" name="图片 2690"/>
            <p:cNvPicPr>
              <a:picLocks noChangeAspect="1"/>
            </p:cNvPicPr>
            <p:nvPr/>
          </p:nvPicPr>
          <p:blipFill>
            <a:blip r:embed="rId1"/>
            <a:stretch>
              <a:fillRect/>
            </a:stretch>
          </p:blipFill>
          <p:spPr>
            <a:xfrm>
              <a:off x="7665" y="5160"/>
              <a:ext cx="6085" cy="5230"/>
            </a:xfrm>
            <a:prstGeom prst="rect">
              <a:avLst/>
            </a:prstGeom>
            <a:noFill/>
            <a:ln>
              <a:noFill/>
            </a:ln>
          </p:spPr>
        </p:pic>
        <p:sp>
          <p:nvSpPr>
            <p:cNvPr id="100" name="文本框 99"/>
            <p:cNvSpPr txBox="1"/>
            <p:nvPr/>
          </p:nvSpPr>
          <p:spPr>
            <a:xfrm>
              <a:off x="8280" y="10200"/>
              <a:ext cx="2937"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图3-29 例3-2电路</a:t>
              </a:r>
              <a:endParaRPr sz="1600">
                <a:latin typeface="Times New Roman" panose="02020603050405020304" charset="0"/>
                <a:ea typeface="宋体" panose="02010600030101010101" pitchFamily="2" charset="-122"/>
              </a:endParaRPr>
            </a:p>
          </p:txBody>
        </p:sp>
      </p:grpSp>
      <p:sp>
        <p:nvSpPr>
          <p:cNvPr id="8" name="Rectangle 3"/>
          <p:cNvSpPr>
            <a:spLocks noGrp="1"/>
          </p:cNvSpPr>
          <p:nvPr/>
        </p:nvSpPr>
        <p:spPr>
          <a:xfrm>
            <a:off x="457200" y="3505200"/>
            <a:ext cx="4027170" cy="315976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ea typeface="楷体_GB2312" pitchFamily="49" charset="-122"/>
              </a:rPr>
              <a:t>解：分两种极端的情况进行分析。一是所有的OC门均截止，输出</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O</a:t>
            </a:r>
            <a:r>
              <a:rPr lang="zh-CN" altLang="en-US" sz="2400" b="1" kern="1200" dirty="0">
                <a:solidFill>
                  <a:srgbClr val="000066"/>
                </a:solidFill>
                <a:ea typeface="楷体_GB2312" pitchFamily="49" charset="-122"/>
              </a:rPr>
              <a:t>为高电平</a:t>
            </a:r>
            <a:r>
              <a:rPr lang="zh-CN" altLang="en-US" sz="2400" b="1" i="1" kern="1200" dirty="0">
                <a:solidFill>
                  <a:srgbClr val="000066"/>
                </a:solidFill>
                <a:ea typeface="楷体_GB2312" pitchFamily="49" charset="-122"/>
              </a:rPr>
              <a:t>V</a:t>
            </a:r>
            <a:r>
              <a:rPr lang="zh-CN" altLang="en-US" sz="2400" b="1" kern="1200" baseline="-25000" dirty="0">
                <a:solidFill>
                  <a:srgbClr val="000066"/>
                </a:solidFill>
                <a:ea typeface="楷体_GB2312" pitchFamily="49" charset="-122"/>
              </a:rPr>
              <a:t>OH</a:t>
            </a:r>
            <a:r>
              <a:rPr lang="zh-CN" altLang="en-US" sz="2400" b="1" kern="1200" dirty="0">
                <a:solidFill>
                  <a:srgbClr val="000066"/>
                </a:solidFill>
                <a:ea typeface="楷体_GB2312" pitchFamily="49" charset="-122"/>
              </a:rPr>
              <a:t>，如图3-30所示；二是只有一个OC门导通，输出</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O</a:t>
            </a:r>
            <a:r>
              <a:rPr lang="zh-CN" altLang="en-US" sz="2400" b="1" kern="1200" dirty="0">
                <a:solidFill>
                  <a:srgbClr val="000066"/>
                </a:solidFill>
                <a:ea typeface="楷体_GB2312" pitchFamily="49" charset="-122"/>
              </a:rPr>
              <a:t>为低电平V</a:t>
            </a:r>
            <a:r>
              <a:rPr lang="zh-CN" altLang="en-US" sz="2400" b="1" kern="1200" baseline="-25000" dirty="0">
                <a:solidFill>
                  <a:srgbClr val="000066"/>
                </a:solidFill>
                <a:ea typeface="楷体_GB2312" pitchFamily="49" charset="-122"/>
              </a:rPr>
              <a:t>OL</a:t>
            </a:r>
            <a:r>
              <a:rPr lang="zh-CN" altLang="en-US" sz="2400" b="1" kern="1200" dirty="0">
                <a:solidFill>
                  <a:srgbClr val="000066"/>
                </a:solidFill>
                <a:ea typeface="楷体_GB2312" pitchFamily="49" charset="-122"/>
              </a:rPr>
              <a:t>，所有的负载电流全部流入这个OC门，如图3-31所示。</a:t>
            </a:r>
            <a:endParaRPr lang="zh-CN" altLang="en-US" sz="2400" b="1" kern="1200" dirty="0">
              <a:solidFill>
                <a:srgbClr val="000066"/>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9" presetClass="entr" presetSubtype="0" decel="10000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 calcmode="lin" valueType="num">
                                      <p:cBhvr>
                                        <p:cTn id="19" dur="500" fill="hold"/>
                                        <p:tgtEl>
                                          <p:spTgt spid="8"/>
                                        </p:tgtEl>
                                        <p:attrNameLst>
                                          <p:attrName>style.rotation</p:attrName>
                                        </p:attrNameLst>
                                      </p:cBhvr>
                                      <p:tavLst>
                                        <p:tav tm="0">
                                          <p:val>
                                            <p:fltVal val="360"/>
                                          </p:val>
                                        </p:tav>
                                        <p:tav tm="100000">
                                          <p:val>
                                            <p:fltVal val="0"/>
                                          </p:val>
                                        </p:tav>
                                      </p:tavLst>
                                    </p:anim>
                                    <p:animEffect transition="in" filter="fade">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7" name="Rectangle 3"/>
          <p:cNvSpPr>
            <a:spLocks noGrp="1"/>
          </p:cNvSpPr>
          <p:nvPr>
            <p:ph idx="1"/>
          </p:nvPr>
        </p:nvSpPr>
        <p:spPr>
          <a:xfrm>
            <a:off x="493395" y="1219200"/>
            <a:ext cx="8228330" cy="923925"/>
          </a:xfrm>
        </p:spPr>
        <p:txBody>
          <a:bodyPr vert="horz" wrap="square" lIns="91440" tIns="45720" rIns="91440" bIns="45720" anchor="t" anchorCtr="0"/>
          <a:p>
            <a:pPr marL="0" indent="0" algn="just" eaLnBrk="1" latinLnBrk="0" hangingPunct="1">
              <a:lnSpc>
                <a:spcPct val="11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ea typeface="楷体_GB2312" pitchFamily="49" charset="-122"/>
              </a:rPr>
              <a:t>在图3-30中，流经电阻</a:t>
            </a:r>
            <a:r>
              <a:rPr sz="2400" b="1" i="1" kern="1200" dirty="0">
                <a:solidFill>
                  <a:srgbClr val="000066"/>
                </a:solidFill>
                <a:ea typeface="楷体_GB2312" pitchFamily="49" charset="-122"/>
              </a:rPr>
              <a:t>R</a:t>
            </a:r>
            <a:r>
              <a:rPr sz="2400" b="1" kern="1200" baseline="-25000" dirty="0">
                <a:solidFill>
                  <a:srgbClr val="000066"/>
                </a:solidFill>
                <a:ea typeface="楷体_GB2312" pitchFamily="49" charset="-122"/>
              </a:rPr>
              <a:t>L</a:t>
            </a:r>
            <a:r>
              <a:rPr sz="2400" b="1" kern="1200" dirty="0">
                <a:solidFill>
                  <a:srgbClr val="000066"/>
                </a:solidFill>
                <a:ea typeface="楷体_GB2312" pitchFamily="49" charset="-122"/>
              </a:rPr>
              <a:t>的电流</a:t>
            </a:r>
            <a:r>
              <a:rPr sz="2400" b="1" i="1" kern="1200" dirty="0">
                <a:solidFill>
                  <a:srgbClr val="000066"/>
                </a:solidFill>
                <a:ea typeface="楷体_GB2312" pitchFamily="49" charset="-122"/>
              </a:rPr>
              <a:t>I</a:t>
            </a:r>
            <a:r>
              <a:rPr sz="2400" b="1" kern="1200" baseline="-25000" dirty="0">
                <a:solidFill>
                  <a:srgbClr val="000066"/>
                </a:solidFill>
                <a:ea typeface="楷体_GB2312" pitchFamily="49" charset="-122"/>
              </a:rPr>
              <a:t>L</a:t>
            </a:r>
            <a:r>
              <a:rPr sz="2400" b="1" kern="1200" dirty="0">
                <a:solidFill>
                  <a:srgbClr val="000066"/>
                </a:solidFill>
                <a:ea typeface="楷体_GB2312" pitchFamily="49" charset="-122"/>
              </a:rPr>
              <a:t>为</a:t>
            </a:r>
            <a:endParaRPr sz="2400" b="1" kern="1200" dirty="0">
              <a:solidFill>
                <a:srgbClr val="000066"/>
              </a:solidFill>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3.2 TTL</a:t>
            </a:r>
            <a:r>
              <a:rPr lang="zh-CN" altLang="en-US" b="1" dirty="0">
                <a:solidFill>
                  <a:srgbClr val="FF0000"/>
                </a:solidFill>
                <a:latin typeface="黑体" panose="02010609060101010101" pitchFamily="49" charset="-122"/>
                <a:ea typeface="黑体" panose="02010609060101010101" pitchFamily="49" charset="-122"/>
              </a:rPr>
              <a:t>逻辑门电路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7" name="Rectangle 3"/>
          <p:cNvSpPr>
            <a:spLocks noGrp="1"/>
          </p:cNvSpPr>
          <p:nvPr/>
        </p:nvSpPr>
        <p:spPr>
          <a:xfrm>
            <a:off x="457200" y="2362200"/>
            <a:ext cx="8153400" cy="91948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hangingPunct="1">
              <a:lnSpc>
                <a:spcPct val="110000"/>
              </a:lnSpc>
              <a:spcBef>
                <a:spcPts val="0"/>
              </a:spcBef>
              <a:buNone/>
            </a:pPr>
            <a:r>
              <a:rPr lang="zh-CN" altLang="en-US" sz="2400" b="1" kern="1200" dirty="0">
                <a:solidFill>
                  <a:srgbClr val="000066"/>
                </a:solidFill>
                <a:ea typeface="楷体_GB2312" pitchFamily="49" charset="-122"/>
              </a:rPr>
              <a:t>式中，</a:t>
            </a:r>
            <a:r>
              <a:rPr lang="en-US" altLang="zh-CN" sz="2400" b="1" i="1" kern="1200" dirty="0">
                <a:solidFill>
                  <a:srgbClr val="000066"/>
                </a:solidFill>
                <a:ea typeface="楷体_GB2312" pitchFamily="49" charset="-122"/>
              </a:rPr>
              <a:t>I</a:t>
            </a:r>
            <a:r>
              <a:rPr lang="en-US" altLang="zh-CN" sz="2400" b="1" kern="1200" baseline="-25000" dirty="0">
                <a:solidFill>
                  <a:srgbClr val="000066"/>
                </a:solidFill>
                <a:ea typeface="楷体_GB2312" pitchFamily="49" charset="-122"/>
              </a:rPr>
              <a:t>OH</a:t>
            </a:r>
            <a:r>
              <a:rPr lang="zh-CN" altLang="en-US" sz="2400" b="1" kern="1200" dirty="0">
                <a:solidFill>
                  <a:srgbClr val="000066"/>
                </a:solidFill>
                <a:ea typeface="楷体_GB2312" pitchFamily="49" charset="-122"/>
              </a:rPr>
              <a:t>为每个OC门截止时的漏电流，</a:t>
            </a:r>
            <a:r>
              <a:rPr lang="en-US" altLang="zh-CN" sz="2400" b="1" i="1" kern="1200" dirty="0">
                <a:solidFill>
                  <a:srgbClr val="000066"/>
                </a:solidFill>
                <a:ea typeface="楷体_GB2312" pitchFamily="49" charset="-122"/>
              </a:rPr>
              <a:t>I</a:t>
            </a:r>
            <a:r>
              <a:rPr lang="en-US" altLang="zh-CN" sz="2400" b="1" kern="1200" baseline="-25000" dirty="0">
                <a:solidFill>
                  <a:srgbClr val="000066"/>
                </a:solidFill>
                <a:ea typeface="楷体_GB2312" pitchFamily="49" charset="-122"/>
              </a:rPr>
              <a:t>IH</a:t>
            </a:r>
            <a:r>
              <a:rPr lang="zh-CN" altLang="en-US" sz="2400" b="1" kern="1200" dirty="0">
                <a:solidFill>
                  <a:srgbClr val="000066"/>
                </a:solidFill>
                <a:ea typeface="楷体_GB2312" pitchFamily="49" charset="-122"/>
              </a:rPr>
              <a:t>为负载门输入高电平电流。</a:t>
            </a:r>
            <a:endParaRPr lang="zh-CN" altLang="en-US" sz="2400" b="1" kern="1200" dirty="0">
              <a:solidFill>
                <a:srgbClr val="000066"/>
              </a:solidFill>
              <a:ea typeface="楷体_GB2312" pitchFamily="49" charset="-122"/>
            </a:endParaRPr>
          </a:p>
        </p:txBody>
      </p:sp>
      <p:sp>
        <p:nvSpPr>
          <p:cNvPr id="100" name="文本框 99"/>
          <p:cNvSpPr txBox="1"/>
          <p:nvPr/>
        </p:nvSpPr>
        <p:spPr>
          <a:xfrm>
            <a:off x="5229225" y="6386830"/>
            <a:ext cx="3368040" cy="337185"/>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图3-30 OC门外接负载电阻最大状态</a:t>
            </a:r>
            <a:endParaRPr sz="1600">
              <a:latin typeface="Times New Roman" panose="02020603050405020304" charset="0"/>
              <a:ea typeface="宋体" panose="02010600030101010101" pitchFamily="2" charset="-122"/>
            </a:endParaRPr>
          </a:p>
        </p:txBody>
      </p:sp>
      <p:pic>
        <p:nvPicPr>
          <p:cNvPr id="9254" name="图片 2691"/>
          <p:cNvPicPr>
            <a:picLocks noChangeAspect="1"/>
          </p:cNvPicPr>
          <p:nvPr/>
        </p:nvPicPr>
        <p:blipFill>
          <a:blip r:embed="rId1"/>
          <a:stretch>
            <a:fillRect/>
          </a:stretch>
        </p:blipFill>
        <p:spPr>
          <a:xfrm>
            <a:off x="4969510" y="3048000"/>
            <a:ext cx="3726180" cy="3262630"/>
          </a:xfrm>
          <a:prstGeom prst="rect">
            <a:avLst/>
          </a:prstGeom>
          <a:noFill/>
          <a:ln>
            <a:noFill/>
          </a:ln>
        </p:spPr>
      </p:pic>
      <p:sp>
        <p:nvSpPr>
          <p:cNvPr id="8" name="Rectangle 3"/>
          <p:cNvSpPr>
            <a:spLocks noGrp="1"/>
          </p:cNvSpPr>
          <p:nvPr/>
        </p:nvSpPr>
        <p:spPr>
          <a:xfrm>
            <a:off x="457200" y="3200400"/>
            <a:ext cx="4661535" cy="49784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O</a:t>
            </a:r>
            <a:r>
              <a:rPr lang="zh-CN" altLang="en-US" sz="2400" b="1" dirty="0">
                <a:solidFill>
                  <a:srgbClr val="000066"/>
                </a:solidFill>
                <a:ea typeface="楷体_GB2312" pitchFamily="49" charset="-122"/>
              </a:rPr>
              <a:t>输出的高电平</a:t>
            </a:r>
            <a:r>
              <a:rPr lang="zh-CN" altLang="en-US" sz="2400" b="1" i="1" dirty="0">
                <a:solidFill>
                  <a:srgbClr val="000066"/>
                </a:solidFill>
                <a:ea typeface="楷体_GB2312" pitchFamily="49" charset="-122"/>
              </a:rPr>
              <a:t>V</a:t>
            </a:r>
            <a:r>
              <a:rPr lang="zh-CN" altLang="en-US" sz="2400" b="1" baseline="-25000" dirty="0">
                <a:solidFill>
                  <a:srgbClr val="000066"/>
                </a:solidFill>
                <a:ea typeface="楷体_GB2312" pitchFamily="49" charset="-122"/>
              </a:rPr>
              <a:t>OH</a:t>
            </a:r>
            <a:r>
              <a:rPr lang="zh-CN" altLang="en-US" sz="2400" b="1" dirty="0">
                <a:solidFill>
                  <a:srgbClr val="000066"/>
                </a:solidFill>
                <a:ea typeface="楷体_GB2312" pitchFamily="49" charset="-122"/>
              </a:rPr>
              <a:t>必须满足</a:t>
            </a:r>
            <a:endParaRPr lang="zh-CN" altLang="en-US" sz="2400" b="1" dirty="0">
              <a:solidFill>
                <a:srgbClr val="000066"/>
              </a:solidFill>
              <a:ea typeface="楷体_GB2312" pitchFamily="49" charset="-122"/>
            </a:endParaRPr>
          </a:p>
        </p:txBody>
      </p:sp>
      <p:sp>
        <p:nvSpPr>
          <p:cNvPr id="5" name="Rectangle 3"/>
          <p:cNvSpPr>
            <a:spLocks noGrp="1"/>
          </p:cNvSpPr>
          <p:nvPr/>
        </p:nvSpPr>
        <p:spPr>
          <a:xfrm>
            <a:off x="466090" y="4165600"/>
            <a:ext cx="4351020" cy="85979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hangingPunct="1">
              <a:lnSpc>
                <a:spcPct val="105000"/>
              </a:lnSpc>
              <a:spcBef>
                <a:spcPts val="0"/>
              </a:spcBef>
              <a:buNone/>
            </a:pPr>
            <a:r>
              <a:rPr sz="2400" b="1" kern="1200" dirty="0">
                <a:solidFill>
                  <a:srgbClr val="000066"/>
                </a:solidFill>
                <a:ea typeface="楷体_GB2312" pitchFamily="49" charset="-122"/>
              </a:rPr>
              <a:t>式中，</a:t>
            </a:r>
            <a:r>
              <a:rPr lang="zh-CN" altLang="en-US" sz="2400" b="1" i="1" dirty="0">
                <a:solidFill>
                  <a:srgbClr val="000066"/>
                </a:solidFill>
                <a:latin typeface="Arial" panose="020B0604020202020204" pitchFamily="34" charset="0"/>
                <a:ea typeface="楷体_GB2312" pitchFamily="49" charset="-122"/>
                <a:sym typeface="+mn-ea"/>
              </a:rPr>
              <a:t>V</a:t>
            </a:r>
            <a:r>
              <a:rPr lang="zh-CN" altLang="en-US" sz="2400" b="1" baseline="-25000" dirty="0">
                <a:solidFill>
                  <a:srgbClr val="000066"/>
                </a:solidFill>
                <a:latin typeface="Arial" panose="020B0604020202020204" pitchFamily="34" charset="0"/>
                <a:ea typeface="楷体_GB2312" pitchFamily="49" charset="-122"/>
                <a:sym typeface="+mn-ea"/>
              </a:rPr>
              <a:t>OH(min)</a:t>
            </a:r>
            <a:r>
              <a:rPr sz="2400" b="1" kern="1200" dirty="0">
                <a:solidFill>
                  <a:srgbClr val="000066"/>
                </a:solidFill>
                <a:ea typeface="楷体_GB2312" pitchFamily="49" charset="-122"/>
              </a:rPr>
              <a:t>为输出高电平电压下限值。</a:t>
            </a:r>
            <a:endParaRPr sz="2400" b="1" kern="1200" dirty="0">
              <a:solidFill>
                <a:srgbClr val="000066"/>
              </a:solidFill>
              <a:ea typeface="楷体_GB2312" pitchFamily="49" charset="-122"/>
            </a:endParaRPr>
          </a:p>
        </p:txBody>
      </p:sp>
      <p:grpSp>
        <p:nvGrpSpPr>
          <p:cNvPr id="13" name="组合 12"/>
          <p:cNvGrpSpPr/>
          <p:nvPr/>
        </p:nvGrpSpPr>
        <p:grpSpPr>
          <a:xfrm>
            <a:off x="2895600" y="1676400"/>
            <a:ext cx="4196080" cy="782320"/>
            <a:chOff x="4560" y="2640"/>
            <a:chExt cx="6608" cy="1232"/>
          </a:xfrm>
        </p:grpSpPr>
        <p:graphicFrame>
          <p:nvGraphicFramePr>
            <p:cNvPr id="2" name="对象 617"/>
            <p:cNvGraphicFramePr>
              <a:graphicFrameLocks noChangeAspect="1"/>
            </p:cNvGraphicFramePr>
            <p:nvPr/>
          </p:nvGraphicFramePr>
          <p:xfrm>
            <a:off x="4560" y="2640"/>
            <a:ext cx="4843" cy="1232"/>
          </p:xfrm>
          <a:graphic>
            <a:graphicData uri="http://schemas.openxmlformats.org/presentationml/2006/ole">
              <mc:AlternateContent xmlns:mc="http://schemas.openxmlformats.org/markup-compatibility/2006">
                <mc:Choice xmlns:v="urn:schemas-microsoft-com:vml" Requires="v">
                  <p:oleObj spid="_x0000_s3076" name="" r:id="rId2" imgW="1497965" imgH="381000" progId="Equation.DSMT4">
                    <p:embed/>
                  </p:oleObj>
                </mc:Choice>
                <mc:Fallback>
                  <p:oleObj name="" r:id="rId2" imgW="1497965" imgH="381000" progId="Equation.DSMT4">
                    <p:embed/>
                    <p:pic>
                      <p:nvPicPr>
                        <p:cNvPr id="0" name="图片 3075"/>
                        <p:cNvPicPr/>
                        <p:nvPr/>
                      </p:nvPicPr>
                      <p:blipFill>
                        <a:blip r:embed="rId3"/>
                        <a:stretch>
                          <a:fillRect/>
                        </a:stretch>
                      </p:blipFill>
                      <p:spPr>
                        <a:xfrm>
                          <a:off x="4560" y="2640"/>
                          <a:ext cx="4843" cy="1232"/>
                        </a:xfrm>
                        <a:prstGeom prst="rect">
                          <a:avLst/>
                        </a:prstGeom>
                        <a:noFill/>
                        <a:ln w="38100">
                          <a:noFill/>
                          <a:miter/>
                        </a:ln>
                      </p:spPr>
                    </p:pic>
                  </p:oleObj>
                </mc:Fallback>
              </mc:AlternateContent>
            </a:graphicData>
          </a:graphic>
        </p:graphicFrame>
        <p:sp>
          <p:nvSpPr>
            <p:cNvPr id="6" name="文本框 5"/>
            <p:cNvSpPr txBox="1"/>
            <p:nvPr/>
          </p:nvSpPr>
          <p:spPr>
            <a:xfrm>
              <a:off x="9600" y="2858"/>
              <a:ext cx="1569" cy="725"/>
            </a:xfrm>
            <a:prstGeom prst="rect">
              <a:avLst/>
            </a:prstGeom>
            <a:noFill/>
          </p:spPr>
          <p:txBody>
            <a:bodyPr wrap="none" rtlCol="0" anchor="t">
              <a:spAutoFit/>
            </a:bodyPr>
            <a:p>
              <a:r>
                <a:rPr sz="2400" b="1" dirty="0">
                  <a:solidFill>
                    <a:srgbClr val="000066"/>
                  </a:solidFill>
                  <a:ea typeface="楷体_GB2312" pitchFamily="49" charset="-122"/>
                  <a:sym typeface="+mn-ea"/>
                </a:rPr>
                <a:t>(3-10)</a:t>
              </a:r>
              <a:endParaRPr lang="zh-CN" altLang="en-US" sz="2400" b="1" dirty="0">
                <a:solidFill>
                  <a:srgbClr val="000066"/>
                </a:solidFill>
                <a:ea typeface="楷体_GB2312" pitchFamily="49" charset="-122"/>
                <a:sym typeface="+mn-ea"/>
              </a:endParaRPr>
            </a:p>
          </p:txBody>
        </p:sp>
      </p:grpSp>
      <p:grpSp>
        <p:nvGrpSpPr>
          <p:cNvPr id="14" name="组合 13"/>
          <p:cNvGrpSpPr/>
          <p:nvPr/>
        </p:nvGrpSpPr>
        <p:grpSpPr>
          <a:xfrm>
            <a:off x="1905000" y="3719830"/>
            <a:ext cx="2655570" cy="464820"/>
            <a:chOff x="3000" y="5858"/>
            <a:chExt cx="4182" cy="732"/>
          </a:xfrm>
        </p:grpSpPr>
        <p:graphicFrame>
          <p:nvGraphicFramePr>
            <p:cNvPr id="3" name="对象 620"/>
            <p:cNvGraphicFramePr>
              <a:graphicFrameLocks noChangeAspect="1"/>
            </p:cNvGraphicFramePr>
            <p:nvPr/>
          </p:nvGraphicFramePr>
          <p:xfrm>
            <a:off x="3000" y="5924"/>
            <a:ext cx="2292" cy="666"/>
          </p:xfrm>
          <a:graphic>
            <a:graphicData uri="http://schemas.openxmlformats.org/presentationml/2006/ole">
              <mc:AlternateContent xmlns:mc="http://schemas.openxmlformats.org/markup-compatibility/2006">
                <mc:Choice xmlns:v="urn:schemas-microsoft-com:vml" Requires="v">
                  <p:oleObj spid="_x0000_s4" name="" r:id="rId4" imgW="697865" imgH="203200" progId="Equation.DSMT4">
                    <p:embed/>
                  </p:oleObj>
                </mc:Choice>
                <mc:Fallback>
                  <p:oleObj name="" r:id="rId4" imgW="697865" imgH="203200" progId="Equation.DSMT4">
                    <p:embed/>
                    <p:pic>
                      <p:nvPicPr>
                        <p:cNvPr id="0" name="图片 1"/>
                        <p:cNvPicPr/>
                        <p:nvPr/>
                      </p:nvPicPr>
                      <p:blipFill>
                        <a:blip r:embed="rId5"/>
                        <a:stretch>
                          <a:fillRect/>
                        </a:stretch>
                      </p:blipFill>
                      <p:spPr>
                        <a:xfrm>
                          <a:off x="3000" y="5924"/>
                          <a:ext cx="2292" cy="666"/>
                        </a:xfrm>
                        <a:prstGeom prst="rect">
                          <a:avLst/>
                        </a:prstGeom>
                        <a:noFill/>
                        <a:ln w="38100">
                          <a:noFill/>
                          <a:miter/>
                        </a:ln>
                      </p:spPr>
                    </p:pic>
                  </p:oleObj>
                </mc:Fallback>
              </mc:AlternateContent>
            </a:graphicData>
          </a:graphic>
        </p:graphicFrame>
        <p:sp>
          <p:nvSpPr>
            <p:cNvPr id="9" name="文本框 8"/>
            <p:cNvSpPr txBox="1"/>
            <p:nvPr/>
          </p:nvSpPr>
          <p:spPr>
            <a:xfrm>
              <a:off x="5640" y="5858"/>
              <a:ext cx="1542" cy="725"/>
            </a:xfrm>
            <a:prstGeom prst="rect">
              <a:avLst/>
            </a:prstGeom>
            <a:noFill/>
          </p:spPr>
          <p:txBody>
            <a:bodyPr wrap="none" rtlCol="0" anchor="t">
              <a:spAutoFit/>
            </a:bodyPr>
            <a:p>
              <a:r>
                <a:rPr sz="2400" b="1" dirty="0">
                  <a:solidFill>
                    <a:srgbClr val="000066"/>
                  </a:solidFill>
                  <a:ea typeface="楷体_GB2312" pitchFamily="49" charset="-122"/>
                  <a:sym typeface="+mn-ea"/>
                </a:rPr>
                <a:t>(3-11)</a:t>
              </a:r>
              <a:endParaRPr lang="zh-CN" altLang="en-US" sz="2400" b="1" dirty="0">
                <a:solidFill>
                  <a:srgbClr val="000066"/>
                </a:solidFill>
                <a:ea typeface="楷体_GB2312" pitchFamily="49" charset="-122"/>
                <a:sym typeface="+mn-ea"/>
              </a:endParaRPr>
            </a:p>
          </p:txBody>
        </p:sp>
      </p:grpSp>
      <p:graphicFrame>
        <p:nvGraphicFramePr>
          <p:cNvPr id="11" name="对象 622"/>
          <p:cNvGraphicFramePr>
            <a:graphicFrameLocks noChangeAspect="1"/>
          </p:cNvGraphicFramePr>
          <p:nvPr/>
        </p:nvGraphicFramePr>
        <p:xfrm>
          <a:off x="1447800" y="5943600"/>
          <a:ext cx="2461895" cy="838835"/>
        </p:xfrm>
        <a:graphic>
          <a:graphicData uri="http://schemas.openxmlformats.org/presentationml/2006/ole">
            <mc:AlternateContent xmlns:mc="http://schemas.openxmlformats.org/markup-compatibility/2006">
              <mc:Choice xmlns:v="urn:schemas-microsoft-com:vml" Requires="v">
                <p:oleObj spid="_x0000_s12" name="" r:id="rId6" imgW="1155065" imgH="393700" progId="Equation.DSMT4">
                  <p:embed/>
                </p:oleObj>
              </mc:Choice>
              <mc:Fallback>
                <p:oleObj name="" r:id="rId6" imgW="1155065" imgH="393700" progId="Equation.DSMT4">
                  <p:embed/>
                  <p:pic>
                    <p:nvPicPr>
                      <p:cNvPr id="0" name="图片 8"/>
                      <p:cNvPicPr/>
                      <p:nvPr/>
                    </p:nvPicPr>
                    <p:blipFill>
                      <a:blip r:embed="rId7"/>
                      <a:stretch>
                        <a:fillRect/>
                      </a:stretch>
                    </p:blipFill>
                    <p:spPr>
                      <a:xfrm>
                        <a:off x="1447800" y="5943600"/>
                        <a:ext cx="2461895" cy="838835"/>
                      </a:xfrm>
                      <a:prstGeom prst="rect">
                        <a:avLst/>
                      </a:prstGeom>
                      <a:noFill/>
                      <a:ln w="38100">
                        <a:noFill/>
                        <a:miter/>
                      </a:ln>
                    </p:spPr>
                  </p:pic>
                </p:oleObj>
              </mc:Fallback>
            </mc:AlternateContent>
          </a:graphicData>
        </a:graphic>
      </p:graphicFrame>
      <p:sp>
        <p:nvSpPr>
          <p:cNvPr id="15" name="Rectangle 3"/>
          <p:cNvSpPr>
            <a:spLocks noGrp="1"/>
          </p:cNvSpPr>
          <p:nvPr/>
        </p:nvSpPr>
        <p:spPr>
          <a:xfrm>
            <a:off x="466090" y="5080000"/>
            <a:ext cx="4351020" cy="89408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hangingPunct="1">
              <a:lnSpc>
                <a:spcPct val="105000"/>
              </a:lnSpc>
              <a:spcBef>
                <a:spcPts val="0"/>
              </a:spcBef>
              <a:buNone/>
            </a:pPr>
            <a:r>
              <a:rPr lang="en-US" sz="2400" b="1" kern="1200" dirty="0">
                <a:solidFill>
                  <a:srgbClr val="000066"/>
                </a:solidFill>
                <a:ea typeface="楷体_GB2312" pitchFamily="49" charset="-122"/>
              </a:rPr>
              <a:t>       </a:t>
            </a:r>
            <a:r>
              <a:rPr sz="2400" b="1" kern="1200" dirty="0">
                <a:solidFill>
                  <a:srgbClr val="000066"/>
                </a:solidFill>
                <a:ea typeface="楷体_GB2312" pitchFamily="49" charset="-122"/>
              </a:rPr>
              <a:t>由式 (3-10) 和(3-11) 可得，负载电阻</a:t>
            </a:r>
            <a:r>
              <a:rPr sz="2400" b="1" i="1" kern="1200" dirty="0">
                <a:solidFill>
                  <a:srgbClr val="000066"/>
                </a:solidFill>
                <a:ea typeface="楷体_GB2312" pitchFamily="49" charset="-122"/>
              </a:rPr>
              <a:t>R</a:t>
            </a:r>
            <a:r>
              <a:rPr sz="2400" b="1" kern="1200" baseline="-25000" dirty="0">
                <a:solidFill>
                  <a:srgbClr val="000066"/>
                </a:solidFill>
                <a:ea typeface="楷体_GB2312" pitchFamily="49" charset="-122"/>
              </a:rPr>
              <a:t>L</a:t>
            </a:r>
            <a:r>
              <a:rPr sz="2400" b="1" kern="1200" dirty="0">
                <a:solidFill>
                  <a:srgbClr val="000066"/>
                </a:solidFill>
                <a:ea typeface="楷体_GB2312" pitchFamily="49" charset="-122"/>
              </a:rPr>
              <a:t>的上限值</a:t>
            </a:r>
            <a:r>
              <a:rPr sz="2400" b="1" i="1" kern="1200" dirty="0">
                <a:solidFill>
                  <a:srgbClr val="000066"/>
                </a:solidFill>
                <a:ea typeface="楷体_GB2312" pitchFamily="49" charset="-122"/>
              </a:rPr>
              <a:t>R</a:t>
            </a:r>
            <a:r>
              <a:rPr sz="2400" b="1" kern="1200" baseline="-25000" dirty="0">
                <a:solidFill>
                  <a:srgbClr val="000066"/>
                </a:solidFill>
                <a:ea typeface="楷体_GB2312" pitchFamily="49" charset="-122"/>
              </a:rPr>
              <a:t>L(max)</a:t>
            </a:r>
            <a:r>
              <a:rPr sz="2400" b="1" kern="1200" dirty="0">
                <a:solidFill>
                  <a:srgbClr val="000066"/>
                </a:solidFill>
                <a:ea typeface="楷体_GB2312" pitchFamily="49" charset="-122"/>
              </a:rPr>
              <a:t>为</a:t>
            </a:r>
            <a:endParaRPr sz="2400" b="1" kern="1200" dirty="0">
              <a:solidFill>
                <a:srgbClr val="000066"/>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92" decel="100000"/>
                                        <p:tgtEl>
                                          <p:spTgt spid="13"/>
                                        </p:tgtEl>
                                      </p:cBhvr>
                                    </p:animEffect>
                                    <p:animScale>
                                      <p:cBhvr>
                                        <p:cTn id="8" dur="192" decel="100000"/>
                                        <p:tgtEl>
                                          <p:spTgt spid="13"/>
                                        </p:tgtEl>
                                      </p:cBhvr>
                                      <p:from x="10000" y="10000"/>
                                      <p:to x="200000" y="450000"/>
                                    </p:animScale>
                                    <p:animScale>
                                      <p:cBhvr>
                                        <p:cTn id="9" dur="308" accel="100000" fill="hold">
                                          <p:stCondLst>
                                            <p:cond delay="192"/>
                                          </p:stCondLst>
                                        </p:cTn>
                                        <p:tgtEl>
                                          <p:spTgt spid="13"/>
                                        </p:tgtEl>
                                      </p:cBhvr>
                                      <p:from x="200000" y="450000"/>
                                      <p:to x="100000" y="100000"/>
                                    </p:animScale>
                                    <p:set>
                                      <p:cBhvr>
                                        <p:cTn id="10" dur="192" fill="hold"/>
                                        <p:tgtEl>
                                          <p:spTgt spid="13"/>
                                        </p:tgtEl>
                                        <p:attrNameLst>
                                          <p:attrName>ppt_x</p:attrName>
                                        </p:attrNameLst>
                                      </p:cBhvr>
                                      <p:to>
                                        <p:strVal val="(0.5)"/>
                                      </p:to>
                                    </p:set>
                                    <p:anim from="(0.5)" to="(#ppt_x)" calcmode="lin" valueType="num">
                                      <p:cBhvr>
                                        <p:cTn id="11" dur="308" accel="100000" fill="hold">
                                          <p:stCondLst>
                                            <p:cond delay="192"/>
                                          </p:stCondLst>
                                        </p:cTn>
                                        <p:tgtEl>
                                          <p:spTgt spid="13"/>
                                        </p:tgtEl>
                                        <p:attrNameLst>
                                          <p:attrName>ppt_x</p:attrName>
                                        </p:attrNameLst>
                                      </p:cBhvr>
                                    </p:anim>
                                    <p:set>
                                      <p:cBhvr>
                                        <p:cTn id="12" dur="192" fill="hold"/>
                                        <p:tgtEl>
                                          <p:spTgt spid="13"/>
                                        </p:tgtEl>
                                        <p:attrNameLst>
                                          <p:attrName>ppt_y</p:attrName>
                                        </p:attrNameLst>
                                      </p:cBhvr>
                                      <p:to>
                                        <p:strVal val="(#ppt_y+0.4)"/>
                                      </p:to>
                                    </p:set>
                                    <p:anim from="(#ppt_y+0.4)" to="(#ppt_y)" calcmode="lin" valueType="num">
                                      <p:cBhvr>
                                        <p:cTn id="13" dur="308" accel="100000" fill="hold">
                                          <p:stCondLst>
                                            <p:cond delay="192"/>
                                          </p:stCondLst>
                                        </p:cTn>
                                        <p:tgtEl>
                                          <p:spTgt spid="13"/>
                                        </p:tgtEl>
                                        <p:attrNameLst>
                                          <p:attrName>ppt_y</p:attrName>
                                        </p:attrNameLst>
                                      </p:cBhvr>
                                    </p:anim>
                                  </p:childTnLst>
                                </p:cTn>
                              </p:par>
                            </p:childTnLst>
                          </p:cTn>
                        </p:par>
                        <p:par>
                          <p:cTn id="14" fill="hold">
                            <p:stCondLst>
                              <p:cond delay="500"/>
                            </p:stCondLst>
                            <p:childTnLst>
                              <p:par>
                                <p:cTn id="15" presetID="1"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0-#ppt_w/2"/>
                                          </p:val>
                                        </p:tav>
                                        <p:tav tm="100000">
                                          <p:val>
                                            <p:strVal val="#ppt_x"/>
                                          </p:val>
                                        </p:tav>
                                      </p:tavLst>
                                    </p:anim>
                                    <p:anim calcmode="lin" valueType="num">
                                      <p:cBhvr additive="base">
                                        <p:cTn id="22"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blinds(horizontal)">
                                      <p:cBhvr>
                                        <p:cTn id="27" dur="500"/>
                                        <p:tgtEl>
                                          <p:spTgt spid="14"/>
                                        </p:tgtEl>
                                      </p:cBhvr>
                                    </p:animEffect>
                                  </p:childTnLst>
                                </p:cTn>
                              </p:par>
                            </p:childTnLst>
                          </p:cTn>
                        </p:par>
                        <p:par>
                          <p:cTn id="28" fill="hold">
                            <p:stCondLst>
                              <p:cond delay="500"/>
                            </p:stCondLst>
                            <p:childTnLst>
                              <p:par>
                                <p:cTn id="29" presetID="1" presetClass="entr" presetSubtype="0" fill="hold" grpId="0" nodeType="after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49" presetClass="entr" presetSubtype="0" decel="10000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p:cTn id="35" dur="500" fill="hold"/>
                                        <p:tgtEl>
                                          <p:spTgt spid="15"/>
                                        </p:tgtEl>
                                        <p:attrNameLst>
                                          <p:attrName>ppt_w</p:attrName>
                                        </p:attrNameLst>
                                      </p:cBhvr>
                                      <p:tavLst>
                                        <p:tav tm="0">
                                          <p:val>
                                            <p:fltVal val="0"/>
                                          </p:val>
                                        </p:tav>
                                        <p:tav tm="100000">
                                          <p:val>
                                            <p:strVal val="#ppt_w"/>
                                          </p:val>
                                        </p:tav>
                                      </p:tavLst>
                                    </p:anim>
                                    <p:anim calcmode="lin" valueType="num">
                                      <p:cBhvr>
                                        <p:cTn id="36" dur="500" fill="hold"/>
                                        <p:tgtEl>
                                          <p:spTgt spid="15"/>
                                        </p:tgtEl>
                                        <p:attrNameLst>
                                          <p:attrName>ppt_h</p:attrName>
                                        </p:attrNameLst>
                                      </p:cBhvr>
                                      <p:tavLst>
                                        <p:tav tm="0">
                                          <p:val>
                                            <p:fltVal val="0"/>
                                          </p:val>
                                        </p:tav>
                                        <p:tav tm="100000">
                                          <p:val>
                                            <p:strVal val="#ppt_h"/>
                                          </p:val>
                                        </p:tav>
                                      </p:tavLst>
                                    </p:anim>
                                    <p:anim calcmode="lin" valueType="num">
                                      <p:cBhvr>
                                        <p:cTn id="37" dur="500" fill="hold"/>
                                        <p:tgtEl>
                                          <p:spTgt spid="15"/>
                                        </p:tgtEl>
                                        <p:attrNameLst>
                                          <p:attrName>style.rotation</p:attrName>
                                        </p:attrNameLst>
                                      </p:cBhvr>
                                      <p:tavLst>
                                        <p:tav tm="0">
                                          <p:val>
                                            <p:fltVal val="360"/>
                                          </p:val>
                                        </p:tav>
                                        <p:tav tm="100000">
                                          <p:val>
                                            <p:fltVal val="0"/>
                                          </p:val>
                                        </p:tav>
                                      </p:tavLst>
                                    </p:anim>
                                    <p:animEffect transition="in" filter="fade">
                                      <p:cBhvr>
                                        <p:cTn id="38" dur="500"/>
                                        <p:tgtEl>
                                          <p:spTgt spid="15"/>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barn(inVertical)">
                                      <p:cBhvr>
                                        <p:cTn id="4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5" grpId="0"/>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7" name="Rectangle 3"/>
          <p:cNvSpPr>
            <a:spLocks noGrp="1"/>
          </p:cNvSpPr>
          <p:nvPr>
            <p:ph idx="1"/>
          </p:nvPr>
        </p:nvSpPr>
        <p:spPr>
          <a:xfrm>
            <a:off x="493395" y="1219200"/>
            <a:ext cx="8228330" cy="923925"/>
          </a:xfrm>
        </p:spPr>
        <p:txBody>
          <a:bodyPr vert="horz" wrap="square" lIns="91440" tIns="45720" rIns="91440" bIns="45720" anchor="t" anchorCtr="0"/>
          <a:p>
            <a:pPr marL="0" indent="0" algn="just" eaLnBrk="1" latinLnBrk="0" hangingPunct="1">
              <a:lnSpc>
                <a:spcPct val="11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ea typeface="楷体_GB2312" pitchFamily="49" charset="-122"/>
              </a:rPr>
              <a:t>在图3-3</a:t>
            </a:r>
            <a:r>
              <a:rPr lang="en-US" sz="2400" b="1" kern="1200" dirty="0">
                <a:solidFill>
                  <a:srgbClr val="000066"/>
                </a:solidFill>
                <a:ea typeface="楷体_GB2312" pitchFamily="49" charset="-122"/>
              </a:rPr>
              <a:t>1</a:t>
            </a:r>
            <a:r>
              <a:rPr sz="2400" b="1" kern="1200" dirty="0">
                <a:solidFill>
                  <a:srgbClr val="000066"/>
                </a:solidFill>
                <a:ea typeface="楷体_GB2312" pitchFamily="49" charset="-122"/>
              </a:rPr>
              <a:t>中，流经电阻</a:t>
            </a:r>
            <a:r>
              <a:rPr sz="2400" b="1" i="1" kern="1200" dirty="0">
                <a:solidFill>
                  <a:srgbClr val="000066"/>
                </a:solidFill>
                <a:ea typeface="楷体_GB2312" pitchFamily="49" charset="-122"/>
              </a:rPr>
              <a:t>R</a:t>
            </a:r>
            <a:r>
              <a:rPr sz="2400" b="1" kern="1200" baseline="-25000" dirty="0">
                <a:solidFill>
                  <a:srgbClr val="000066"/>
                </a:solidFill>
                <a:ea typeface="楷体_GB2312" pitchFamily="49" charset="-122"/>
              </a:rPr>
              <a:t>L</a:t>
            </a:r>
            <a:r>
              <a:rPr sz="2400" b="1" kern="1200" dirty="0">
                <a:solidFill>
                  <a:srgbClr val="000066"/>
                </a:solidFill>
                <a:ea typeface="楷体_GB2312" pitchFamily="49" charset="-122"/>
              </a:rPr>
              <a:t>的电流</a:t>
            </a:r>
            <a:r>
              <a:rPr sz="2400" b="1" i="1" kern="1200" dirty="0">
                <a:solidFill>
                  <a:srgbClr val="000066"/>
                </a:solidFill>
                <a:ea typeface="楷体_GB2312" pitchFamily="49" charset="-122"/>
              </a:rPr>
              <a:t>I</a:t>
            </a:r>
            <a:r>
              <a:rPr sz="2400" b="1" kern="1200" baseline="-25000" dirty="0">
                <a:solidFill>
                  <a:srgbClr val="000066"/>
                </a:solidFill>
                <a:ea typeface="楷体_GB2312" pitchFamily="49" charset="-122"/>
              </a:rPr>
              <a:t>L</a:t>
            </a:r>
            <a:r>
              <a:rPr sz="2400" b="1" kern="1200" dirty="0">
                <a:solidFill>
                  <a:srgbClr val="000066"/>
                </a:solidFill>
                <a:ea typeface="楷体_GB2312" pitchFamily="49" charset="-122"/>
              </a:rPr>
              <a:t>为</a:t>
            </a:r>
            <a:endParaRPr sz="2400" b="1" kern="1200" dirty="0">
              <a:solidFill>
                <a:srgbClr val="000066"/>
              </a:solidFill>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3.2 TTL</a:t>
            </a:r>
            <a:r>
              <a:rPr lang="zh-CN" altLang="en-US" b="1" dirty="0">
                <a:solidFill>
                  <a:srgbClr val="FF0000"/>
                </a:solidFill>
                <a:latin typeface="黑体" panose="02010609060101010101" pitchFamily="49" charset="-122"/>
                <a:ea typeface="黑体" panose="02010609060101010101" pitchFamily="49" charset="-122"/>
              </a:rPr>
              <a:t>逻辑门电路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00" name="文本框 99"/>
          <p:cNvSpPr txBox="1"/>
          <p:nvPr/>
        </p:nvSpPr>
        <p:spPr>
          <a:xfrm>
            <a:off x="5229225" y="6386830"/>
            <a:ext cx="3368040" cy="337185"/>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图3-31 OC门外接负载电阻最小状态</a:t>
            </a:r>
            <a:endParaRPr sz="1600">
              <a:latin typeface="Times New Roman" panose="02020603050405020304" charset="0"/>
              <a:ea typeface="宋体" panose="02010600030101010101" pitchFamily="2" charset="-122"/>
            </a:endParaRPr>
          </a:p>
        </p:txBody>
      </p:sp>
      <p:sp>
        <p:nvSpPr>
          <p:cNvPr id="8" name="Rectangle 3"/>
          <p:cNvSpPr>
            <a:spLocks noGrp="1"/>
          </p:cNvSpPr>
          <p:nvPr/>
        </p:nvSpPr>
        <p:spPr>
          <a:xfrm>
            <a:off x="457200" y="3505200"/>
            <a:ext cx="4661535" cy="49784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O</a:t>
            </a:r>
            <a:r>
              <a:rPr lang="zh-CN" altLang="en-US" sz="2400" b="1" dirty="0">
                <a:solidFill>
                  <a:srgbClr val="000066"/>
                </a:solidFill>
                <a:ea typeface="楷体_GB2312" pitchFamily="49" charset="-122"/>
              </a:rPr>
              <a:t>输出的低电平</a:t>
            </a:r>
            <a:r>
              <a:rPr lang="zh-CN" altLang="en-US" sz="2400" b="1" i="1" dirty="0">
                <a:solidFill>
                  <a:srgbClr val="000066"/>
                </a:solidFill>
                <a:ea typeface="楷体_GB2312" pitchFamily="49" charset="-122"/>
              </a:rPr>
              <a:t>V</a:t>
            </a:r>
            <a:r>
              <a:rPr lang="zh-CN" altLang="en-US" sz="2400" b="1" baseline="-25000" dirty="0">
                <a:solidFill>
                  <a:srgbClr val="000066"/>
                </a:solidFill>
                <a:ea typeface="楷体_GB2312" pitchFamily="49" charset="-122"/>
              </a:rPr>
              <a:t>O</a:t>
            </a:r>
            <a:r>
              <a:rPr lang="en-US" altLang="zh-CN" sz="2400" b="1" baseline="-25000" dirty="0">
                <a:solidFill>
                  <a:srgbClr val="000066"/>
                </a:solidFill>
                <a:ea typeface="楷体_GB2312" pitchFamily="49" charset="-122"/>
              </a:rPr>
              <a:t>L</a:t>
            </a:r>
            <a:r>
              <a:rPr lang="zh-CN" altLang="en-US" sz="2400" b="1" dirty="0">
                <a:solidFill>
                  <a:srgbClr val="000066"/>
                </a:solidFill>
                <a:ea typeface="楷体_GB2312" pitchFamily="49" charset="-122"/>
              </a:rPr>
              <a:t>必须满足</a:t>
            </a:r>
            <a:endParaRPr lang="zh-CN" altLang="en-US" sz="2400" b="1" dirty="0">
              <a:solidFill>
                <a:srgbClr val="000066"/>
              </a:solidFill>
              <a:ea typeface="楷体_GB2312" pitchFamily="49" charset="-122"/>
            </a:endParaRPr>
          </a:p>
        </p:txBody>
      </p:sp>
      <p:sp>
        <p:nvSpPr>
          <p:cNvPr id="6" name="文本框 5"/>
          <p:cNvSpPr txBox="1"/>
          <p:nvPr/>
        </p:nvSpPr>
        <p:spPr>
          <a:xfrm>
            <a:off x="6629400" y="1814830"/>
            <a:ext cx="996315" cy="460375"/>
          </a:xfrm>
          <a:prstGeom prst="rect">
            <a:avLst/>
          </a:prstGeom>
          <a:noFill/>
        </p:spPr>
        <p:txBody>
          <a:bodyPr wrap="none" rtlCol="0" anchor="t">
            <a:spAutoFit/>
          </a:bodyPr>
          <a:p>
            <a:r>
              <a:rPr sz="2400" b="1" dirty="0">
                <a:solidFill>
                  <a:srgbClr val="000066"/>
                </a:solidFill>
                <a:ea typeface="楷体_GB2312" pitchFamily="49" charset="-122"/>
                <a:sym typeface="+mn-ea"/>
              </a:rPr>
              <a:t>(3-1</a:t>
            </a:r>
            <a:r>
              <a:rPr lang="en-US" sz="2400" b="1" dirty="0">
                <a:solidFill>
                  <a:srgbClr val="000066"/>
                </a:solidFill>
                <a:ea typeface="楷体_GB2312" pitchFamily="49" charset="-122"/>
                <a:sym typeface="+mn-ea"/>
              </a:rPr>
              <a:t>3</a:t>
            </a:r>
            <a:r>
              <a:rPr sz="2400" b="1" dirty="0">
                <a:solidFill>
                  <a:srgbClr val="000066"/>
                </a:solidFill>
                <a:ea typeface="楷体_GB2312" pitchFamily="49" charset="-122"/>
                <a:sym typeface="+mn-ea"/>
              </a:rPr>
              <a:t>)</a:t>
            </a:r>
            <a:endParaRPr lang="zh-CN" altLang="en-US" sz="2400" b="1" dirty="0">
              <a:solidFill>
                <a:srgbClr val="000066"/>
              </a:solidFill>
              <a:ea typeface="楷体_GB2312" pitchFamily="49" charset="-122"/>
              <a:sym typeface="+mn-ea"/>
            </a:endParaRPr>
          </a:p>
        </p:txBody>
      </p:sp>
      <p:sp>
        <p:nvSpPr>
          <p:cNvPr id="9" name="文本框 8"/>
          <p:cNvSpPr txBox="1"/>
          <p:nvPr/>
        </p:nvSpPr>
        <p:spPr>
          <a:xfrm>
            <a:off x="3581400" y="4038600"/>
            <a:ext cx="996315" cy="460375"/>
          </a:xfrm>
          <a:prstGeom prst="rect">
            <a:avLst/>
          </a:prstGeom>
          <a:noFill/>
        </p:spPr>
        <p:txBody>
          <a:bodyPr wrap="none" rtlCol="0" anchor="t">
            <a:spAutoFit/>
          </a:bodyPr>
          <a:p>
            <a:r>
              <a:rPr sz="2400" b="1" dirty="0">
                <a:solidFill>
                  <a:srgbClr val="000066"/>
                </a:solidFill>
                <a:ea typeface="楷体_GB2312" pitchFamily="49" charset="-122"/>
                <a:sym typeface="+mn-ea"/>
              </a:rPr>
              <a:t>(3-1</a:t>
            </a:r>
            <a:r>
              <a:rPr lang="en-US" sz="2400" b="1" dirty="0">
                <a:solidFill>
                  <a:srgbClr val="000066"/>
                </a:solidFill>
                <a:ea typeface="楷体_GB2312" pitchFamily="49" charset="-122"/>
                <a:sym typeface="+mn-ea"/>
              </a:rPr>
              <a:t>4</a:t>
            </a:r>
            <a:r>
              <a:rPr sz="2400" b="1" dirty="0">
                <a:solidFill>
                  <a:srgbClr val="000066"/>
                </a:solidFill>
                <a:ea typeface="楷体_GB2312" pitchFamily="49" charset="-122"/>
                <a:sym typeface="+mn-ea"/>
              </a:rPr>
              <a:t>)</a:t>
            </a:r>
            <a:endParaRPr lang="zh-CN" altLang="en-US" sz="2400" b="1" dirty="0">
              <a:solidFill>
                <a:srgbClr val="000066"/>
              </a:solidFill>
              <a:ea typeface="楷体_GB2312" pitchFamily="49" charset="-122"/>
              <a:sym typeface="+mn-ea"/>
            </a:endParaRPr>
          </a:p>
        </p:txBody>
      </p:sp>
      <p:pic>
        <p:nvPicPr>
          <p:cNvPr id="9255" name="图片 2692"/>
          <p:cNvPicPr>
            <a:picLocks noChangeAspect="1"/>
          </p:cNvPicPr>
          <p:nvPr/>
        </p:nvPicPr>
        <p:blipFill>
          <a:blip r:embed="rId1"/>
          <a:stretch>
            <a:fillRect/>
          </a:stretch>
        </p:blipFill>
        <p:spPr>
          <a:xfrm>
            <a:off x="5105400" y="2895600"/>
            <a:ext cx="3638550" cy="3352165"/>
          </a:xfrm>
          <a:prstGeom prst="rect">
            <a:avLst/>
          </a:prstGeom>
          <a:noFill/>
          <a:ln>
            <a:noFill/>
          </a:ln>
        </p:spPr>
      </p:pic>
      <p:graphicFrame>
        <p:nvGraphicFramePr>
          <p:cNvPr id="2" name="对象 623"/>
          <p:cNvGraphicFramePr>
            <a:graphicFrameLocks noChangeAspect="1"/>
          </p:cNvGraphicFramePr>
          <p:nvPr/>
        </p:nvGraphicFramePr>
        <p:xfrm>
          <a:off x="1676400" y="1676400"/>
          <a:ext cx="4843145" cy="798195"/>
        </p:xfrm>
        <a:graphic>
          <a:graphicData uri="http://schemas.openxmlformats.org/presentationml/2006/ole">
            <mc:AlternateContent xmlns:mc="http://schemas.openxmlformats.org/markup-compatibility/2006">
              <mc:Choice xmlns:v="urn:schemas-microsoft-com:vml" Requires="v">
                <p:oleObj spid="_x0000_s13" name="" r:id="rId2" imgW="2310130" imgH="381000" progId="Equation.DSMT4">
                  <p:embed/>
                </p:oleObj>
              </mc:Choice>
              <mc:Fallback>
                <p:oleObj name="" r:id="rId2" imgW="2310130" imgH="381000" progId="Equation.DSMT4">
                  <p:embed/>
                  <p:pic>
                    <p:nvPicPr>
                      <p:cNvPr id="0" name="图片 12"/>
                      <p:cNvPicPr/>
                      <p:nvPr/>
                    </p:nvPicPr>
                    <p:blipFill>
                      <a:blip r:embed="rId3"/>
                      <a:stretch>
                        <a:fillRect/>
                      </a:stretch>
                    </p:blipFill>
                    <p:spPr>
                      <a:xfrm>
                        <a:off x="1676400" y="1676400"/>
                        <a:ext cx="4843145" cy="798195"/>
                      </a:xfrm>
                      <a:prstGeom prst="rect">
                        <a:avLst/>
                      </a:prstGeom>
                      <a:noFill/>
                      <a:ln w="38100">
                        <a:noFill/>
                        <a:miter/>
                      </a:ln>
                    </p:spPr>
                  </p:pic>
                </p:oleObj>
              </mc:Fallback>
            </mc:AlternateContent>
          </a:graphicData>
        </a:graphic>
      </p:graphicFrame>
      <p:sp>
        <p:nvSpPr>
          <p:cNvPr id="7" name="Rectangle 3"/>
          <p:cNvSpPr>
            <a:spLocks noGrp="1"/>
          </p:cNvSpPr>
          <p:nvPr/>
        </p:nvSpPr>
        <p:spPr>
          <a:xfrm>
            <a:off x="457200" y="2362200"/>
            <a:ext cx="8153400" cy="91948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hangingPunct="1">
              <a:lnSpc>
                <a:spcPct val="120000"/>
              </a:lnSpc>
              <a:spcBef>
                <a:spcPts val="0"/>
              </a:spcBef>
              <a:buNone/>
            </a:pPr>
            <a:r>
              <a:rPr lang="zh-CN" altLang="en-US" sz="2400" b="1" kern="1200" dirty="0">
                <a:solidFill>
                  <a:srgbClr val="000066"/>
                </a:solidFill>
                <a:ea typeface="楷体_GB2312" pitchFamily="49" charset="-122"/>
              </a:rPr>
              <a:t>式中，</a:t>
            </a:r>
            <a:r>
              <a:rPr lang="en-US" altLang="zh-CN" sz="2400" b="1" i="1" dirty="0">
                <a:solidFill>
                  <a:srgbClr val="000066"/>
                </a:solidFill>
                <a:latin typeface="Arial" panose="020B0604020202020204" pitchFamily="34" charset="0"/>
                <a:ea typeface="楷体_GB2312" pitchFamily="49" charset="-122"/>
                <a:sym typeface="+mn-ea"/>
              </a:rPr>
              <a:t>I</a:t>
            </a:r>
            <a:r>
              <a:rPr lang="zh-CN" altLang="en-US" sz="2400" b="1" baseline="-25000" dirty="0">
                <a:solidFill>
                  <a:srgbClr val="000066"/>
                </a:solidFill>
                <a:latin typeface="Arial" panose="020B0604020202020204" pitchFamily="34" charset="0"/>
                <a:ea typeface="楷体_GB2312" pitchFamily="49" charset="-122"/>
                <a:sym typeface="+mn-ea"/>
              </a:rPr>
              <a:t>OL(max)</a:t>
            </a:r>
            <a:r>
              <a:rPr sz="2400" b="1" kern="1200" dirty="0">
                <a:solidFill>
                  <a:srgbClr val="000066"/>
                </a:solidFill>
                <a:ea typeface="楷体_GB2312" pitchFamily="49" charset="-122"/>
              </a:rPr>
              <a:t>为导通的OC门输出低电平电流的上限值，</a:t>
            </a:r>
            <a:r>
              <a:rPr lang="en-US" altLang="zh-CN" sz="2400" b="1" i="1" dirty="0">
                <a:solidFill>
                  <a:srgbClr val="000066"/>
                </a:solidFill>
                <a:latin typeface="Arial" panose="020B0604020202020204" pitchFamily="34" charset="0"/>
                <a:ea typeface="楷体_GB2312" pitchFamily="49" charset="-122"/>
                <a:sym typeface="+mn-ea"/>
              </a:rPr>
              <a:t>I</a:t>
            </a:r>
            <a:r>
              <a:rPr lang="en-US" altLang="zh-CN" sz="2400" b="1" baseline="-25000" dirty="0">
                <a:solidFill>
                  <a:srgbClr val="000066"/>
                </a:solidFill>
                <a:latin typeface="Arial" panose="020B0604020202020204" pitchFamily="34" charset="0"/>
                <a:ea typeface="楷体_GB2312" pitchFamily="49" charset="-122"/>
                <a:sym typeface="+mn-ea"/>
              </a:rPr>
              <a:t>I</a:t>
            </a:r>
            <a:r>
              <a:rPr lang="zh-CN" altLang="en-US" sz="2400" b="1" baseline="-25000" dirty="0">
                <a:solidFill>
                  <a:srgbClr val="000066"/>
                </a:solidFill>
                <a:latin typeface="Arial" panose="020B0604020202020204" pitchFamily="34" charset="0"/>
                <a:ea typeface="楷体_GB2312" pitchFamily="49" charset="-122"/>
                <a:sym typeface="+mn-ea"/>
              </a:rPr>
              <a:t>L(</a:t>
            </a:r>
            <a:r>
              <a:rPr lang="en-US" altLang="zh-CN" sz="2400" b="1" baseline="-25000" dirty="0">
                <a:solidFill>
                  <a:srgbClr val="000066"/>
                </a:solidFill>
                <a:latin typeface="Arial" panose="020B0604020202020204" pitchFamily="34" charset="0"/>
                <a:ea typeface="楷体_GB2312" pitchFamily="49" charset="-122"/>
                <a:sym typeface="+mn-ea"/>
              </a:rPr>
              <a:t>total</a:t>
            </a:r>
            <a:r>
              <a:rPr lang="zh-CN" altLang="en-US" sz="2400" b="1" baseline="-25000" dirty="0">
                <a:solidFill>
                  <a:srgbClr val="000066"/>
                </a:solidFill>
                <a:latin typeface="Arial" panose="020B0604020202020204" pitchFamily="34" charset="0"/>
                <a:ea typeface="楷体_GB2312" pitchFamily="49" charset="-122"/>
                <a:sym typeface="+mn-ea"/>
              </a:rPr>
              <a:t>)</a:t>
            </a:r>
            <a:r>
              <a:rPr sz="2400" b="1" kern="1200" dirty="0">
                <a:solidFill>
                  <a:srgbClr val="000066"/>
                </a:solidFill>
                <a:ea typeface="楷体_GB2312" pitchFamily="49" charset="-122"/>
              </a:rPr>
              <a:t>为所有负载门输入低电平电流之和。</a:t>
            </a:r>
            <a:endParaRPr sz="2400" b="1" kern="1200" dirty="0">
              <a:solidFill>
                <a:srgbClr val="000066"/>
              </a:solidFill>
              <a:ea typeface="楷体_GB2312" pitchFamily="49" charset="-122"/>
            </a:endParaRPr>
          </a:p>
        </p:txBody>
      </p:sp>
      <p:graphicFrame>
        <p:nvGraphicFramePr>
          <p:cNvPr id="3" name="对象 -2147479975"/>
          <p:cNvGraphicFramePr>
            <a:graphicFrameLocks noChangeAspect="1"/>
          </p:cNvGraphicFramePr>
          <p:nvPr/>
        </p:nvGraphicFramePr>
        <p:xfrm>
          <a:off x="1828800" y="4114800"/>
          <a:ext cx="1414145" cy="419100"/>
        </p:xfrm>
        <a:graphic>
          <a:graphicData uri="http://schemas.openxmlformats.org/presentationml/2006/ole">
            <mc:AlternateContent xmlns:mc="http://schemas.openxmlformats.org/markup-compatibility/2006">
              <mc:Choice xmlns:v="urn:schemas-microsoft-com:vml" Requires="v">
                <p:oleObj spid="_x0000_s14" name="" r:id="rId4" imgW="685165" imgH="203200" progId="Equation.DSMT4">
                  <p:embed/>
                </p:oleObj>
              </mc:Choice>
              <mc:Fallback>
                <p:oleObj name="" r:id="rId4" imgW="685165" imgH="203200" progId="Equation.DSMT4">
                  <p:embed/>
                  <p:pic>
                    <p:nvPicPr>
                      <p:cNvPr id="0" name="图片 13"/>
                      <p:cNvPicPr/>
                      <p:nvPr/>
                    </p:nvPicPr>
                    <p:blipFill>
                      <a:blip r:embed="rId5"/>
                      <a:stretch>
                        <a:fillRect/>
                      </a:stretch>
                    </p:blipFill>
                    <p:spPr>
                      <a:xfrm>
                        <a:off x="1828800" y="4114800"/>
                        <a:ext cx="1414145" cy="419100"/>
                      </a:xfrm>
                      <a:prstGeom prst="rect">
                        <a:avLst/>
                      </a:prstGeom>
                      <a:noFill/>
                      <a:ln w="38100">
                        <a:noFill/>
                        <a:miter/>
                      </a:ln>
                    </p:spPr>
                  </p:pic>
                </p:oleObj>
              </mc:Fallback>
            </mc:AlternateContent>
          </a:graphicData>
        </a:graphic>
      </p:graphicFrame>
      <p:sp>
        <p:nvSpPr>
          <p:cNvPr id="15" name="Rectangle 3"/>
          <p:cNvSpPr>
            <a:spLocks noGrp="1"/>
          </p:cNvSpPr>
          <p:nvPr/>
        </p:nvSpPr>
        <p:spPr>
          <a:xfrm>
            <a:off x="452120" y="4546600"/>
            <a:ext cx="4661535" cy="9055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dirty="0">
                <a:solidFill>
                  <a:srgbClr val="000066"/>
                </a:solidFill>
                <a:ea typeface="楷体_GB2312" pitchFamily="49" charset="-122"/>
              </a:rPr>
              <a:t>由式 (3-13) 和 (3-14) 可知，负载电阻</a:t>
            </a:r>
            <a:r>
              <a:rPr lang="zh-CN" altLang="en-US" sz="2400" b="1" i="1" dirty="0">
                <a:solidFill>
                  <a:srgbClr val="000066"/>
                </a:solidFill>
                <a:ea typeface="楷体_GB2312" pitchFamily="49" charset="-122"/>
              </a:rPr>
              <a:t>R</a:t>
            </a:r>
            <a:r>
              <a:rPr lang="zh-CN" altLang="en-US" sz="2400" b="1" baseline="-25000" dirty="0">
                <a:solidFill>
                  <a:srgbClr val="000066"/>
                </a:solidFill>
                <a:ea typeface="楷体_GB2312" pitchFamily="49" charset="-122"/>
              </a:rPr>
              <a:t>L</a:t>
            </a:r>
            <a:r>
              <a:rPr lang="zh-CN" altLang="en-US" sz="2400" b="1" dirty="0">
                <a:solidFill>
                  <a:srgbClr val="000066"/>
                </a:solidFill>
                <a:ea typeface="楷体_GB2312" pitchFamily="49" charset="-122"/>
              </a:rPr>
              <a:t>的下限值</a:t>
            </a:r>
            <a:r>
              <a:rPr lang="zh-CN" altLang="en-US" sz="2400" b="1" i="1" dirty="0">
                <a:solidFill>
                  <a:srgbClr val="000066"/>
                </a:solidFill>
                <a:ea typeface="楷体_GB2312" pitchFamily="49" charset="-122"/>
              </a:rPr>
              <a:t>R</a:t>
            </a:r>
            <a:r>
              <a:rPr lang="zh-CN" altLang="en-US" sz="2400" b="1" baseline="-25000" dirty="0">
                <a:solidFill>
                  <a:srgbClr val="000066"/>
                </a:solidFill>
                <a:ea typeface="楷体_GB2312" pitchFamily="49" charset="-122"/>
              </a:rPr>
              <a:t>L(min)</a:t>
            </a:r>
            <a:r>
              <a:rPr lang="zh-CN" altLang="en-US" sz="2400" b="1" dirty="0">
                <a:solidFill>
                  <a:srgbClr val="000066"/>
                </a:solidFill>
                <a:ea typeface="楷体_GB2312" pitchFamily="49" charset="-122"/>
              </a:rPr>
              <a:t>为</a:t>
            </a:r>
            <a:endParaRPr lang="zh-CN" altLang="en-US" sz="2400" b="1" dirty="0">
              <a:solidFill>
                <a:srgbClr val="000066"/>
              </a:solidFill>
              <a:ea typeface="楷体_GB2312" pitchFamily="49" charset="-122"/>
            </a:endParaRPr>
          </a:p>
        </p:txBody>
      </p:sp>
      <p:graphicFrame>
        <p:nvGraphicFramePr>
          <p:cNvPr id="4" name="对象 627"/>
          <p:cNvGraphicFramePr>
            <a:graphicFrameLocks noChangeAspect="1"/>
          </p:cNvGraphicFramePr>
          <p:nvPr/>
        </p:nvGraphicFramePr>
        <p:xfrm>
          <a:off x="1524000" y="5486400"/>
          <a:ext cx="2543175" cy="873760"/>
        </p:xfrm>
        <a:graphic>
          <a:graphicData uri="http://schemas.openxmlformats.org/presentationml/2006/ole">
            <mc:AlternateContent xmlns:mc="http://schemas.openxmlformats.org/markup-compatibility/2006">
              <mc:Choice xmlns:v="urn:schemas-microsoft-com:vml" Requires="v">
                <p:oleObj spid="_x0000_s16" name="" r:id="rId6" imgW="1179830" imgH="405765" progId="Equation.DSMT4">
                  <p:embed/>
                </p:oleObj>
              </mc:Choice>
              <mc:Fallback>
                <p:oleObj name="" r:id="rId6" imgW="1179830" imgH="405765" progId="Equation.DSMT4">
                  <p:embed/>
                  <p:pic>
                    <p:nvPicPr>
                      <p:cNvPr id="0" name="图片 15"/>
                      <p:cNvPicPr/>
                      <p:nvPr/>
                    </p:nvPicPr>
                    <p:blipFill>
                      <a:blip r:embed="rId7"/>
                      <a:stretch>
                        <a:fillRect/>
                      </a:stretch>
                    </p:blipFill>
                    <p:spPr>
                      <a:xfrm>
                        <a:off x="1524000" y="5486400"/>
                        <a:ext cx="2543175" cy="87376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 presetClass="entr" presetSubtype="4"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58" presetClass="entr" presetSubtype="0" accel="10000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500" fill="hold"/>
                                        <p:tgtEl>
                                          <p:spTgt spid="8"/>
                                        </p:tgtEl>
                                        <p:attrNameLst>
                                          <p:attrName>ppt_w</p:attrName>
                                        </p:attrNameLst>
                                      </p:cBhvr>
                                      <p:tavLst>
                                        <p:tav tm="0">
                                          <p:val>
                                            <p:strVal val="#ppt_w*2.5"/>
                                          </p:val>
                                        </p:tav>
                                        <p:tav tm="100000">
                                          <p:val>
                                            <p:strVal val="#ppt_w"/>
                                          </p:val>
                                        </p:tav>
                                      </p:tavLst>
                                    </p:anim>
                                    <p:anim calcmode="lin" valueType="num">
                                      <p:cBhvr>
                                        <p:cTn id="25" dur="500" fill="hold"/>
                                        <p:tgtEl>
                                          <p:spTgt spid="8"/>
                                        </p:tgtEl>
                                        <p:attrNameLst>
                                          <p:attrName>ppt_h</p:attrName>
                                        </p:attrNameLst>
                                      </p:cBhvr>
                                      <p:tavLst>
                                        <p:tav tm="0">
                                          <p:val>
                                            <p:strVal val="#ppt_h*0.01"/>
                                          </p:val>
                                        </p:tav>
                                        <p:tav tm="100000">
                                          <p:val>
                                            <p:strVal val="#ppt_h"/>
                                          </p:val>
                                        </p:tav>
                                      </p:tavLst>
                                    </p:anim>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h+1"/>
                                          </p:val>
                                        </p:tav>
                                        <p:tav tm="100000">
                                          <p:val>
                                            <p:strVal val="#ppt_y"/>
                                          </p:val>
                                        </p:tav>
                                      </p:tavLst>
                                    </p:anim>
                                    <p:animEffect transition="in" filter="fade">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43"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100"/>
                                        <p:tgtEl>
                                          <p:spTgt spid="9"/>
                                        </p:tgtEl>
                                      </p:cBhvr>
                                    </p:animEffect>
                                    <p:anim calcmode="lin" valueType="num">
                                      <p:cBhvr>
                                        <p:cTn id="34" dur="400" fill="hold"/>
                                        <p:tgtEl>
                                          <p:spTgt spid="9"/>
                                        </p:tgtEl>
                                        <p:attrNameLst>
                                          <p:attrName>ppt_x</p:attrName>
                                        </p:attrNameLst>
                                      </p:cBhvr>
                                      <p:tavLst>
                                        <p:tav tm="0">
                                          <p:val>
                                            <p:strVal val="#ppt_x"/>
                                          </p:val>
                                        </p:tav>
                                        <p:tav tm="100000">
                                          <p:val>
                                            <p:strVal val="#ppt_x"/>
                                          </p:val>
                                        </p:tav>
                                      </p:tavLst>
                                    </p:anim>
                                    <p:anim calcmode="lin" valueType="num">
                                      <p:cBhvr>
                                        <p:cTn id="35" dur="400" fill="hold"/>
                                        <p:tgtEl>
                                          <p:spTgt spid="9"/>
                                        </p:tgtEl>
                                        <p:attrNameLst>
                                          <p:attrName>ppt_y</p:attrName>
                                        </p:attrNameLst>
                                      </p:cBhvr>
                                      <p:tavLst>
                                        <p:tav tm="0">
                                          <p:val>
                                            <p:strVal val="#ppt_y+0.31"/>
                                          </p:val>
                                        </p:tav>
                                        <p:tav tm="100000">
                                          <p:val>
                                            <p:strVal val="#ppt_y+0.31"/>
                                          </p:val>
                                        </p:tav>
                                      </p:tavLst>
                                    </p:anim>
                                    <p:anim calcmode="lin" valueType="num">
                                      <p:cBhvr>
                                        <p:cTn id="36" dur="600" decel="50000" fill="hold">
                                          <p:stCondLst>
                                            <p:cond delay="400"/>
                                          </p:stCondLst>
                                        </p:cTn>
                                        <p:tgtEl>
                                          <p:spTgt spid="9"/>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37" dur="600" decel="50000" fill="hold">
                                          <p:stCondLst>
                                            <p:cond delay="400"/>
                                          </p:stCondLst>
                                        </p:cTn>
                                        <p:tgtEl>
                                          <p:spTgt spid="9"/>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par>
                                <p:cTn id="38" presetID="43" presetClass="entr" presetSubtype="0" fill="hold" nodeType="with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fade">
                                      <p:cBhvr>
                                        <p:cTn id="40" dur="100"/>
                                        <p:tgtEl>
                                          <p:spTgt spid="3"/>
                                        </p:tgtEl>
                                      </p:cBhvr>
                                    </p:animEffect>
                                    <p:anim calcmode="lin" valueType="num">
                                      <p:cBhvr>
                                        <p:cTn id="41" dur="400" fill="hold"/>
                                        <p:tgtEl>
                                          <p:spTgt spid="3"/>
                                        </p:tgtEl>
                                        <p:attrNameLst>
                                          <p:attrName>ppt_x</p:attrName>
                                        </p:attrNameLst>
                                      </p:cBhvr>
                                      <p:tavLst>
                                        <p:tav tm="0">
                                          <p:val>
                                            <p:strVal val="#ppt_x"/>
                                          </p:val>
                                        </p:tav>
                                        <p:tav tm="100000">
                                          <p:val>
                                            <p:strVal val="#ppt_x"/>
                                          </p:val>
                                        </p:tav>
                                      </p:tavLst>
                                    </p:anim>
                                    <p:anim calcmode="lin" valueType="num">
                                      <p:cBhvr>
                                        <p:cTn id="42" dur="400" fill="hold"/>
                                        <p:tgtEl>
                                          <p:spTgt spid="3"/>
                                        </p:tgtEl>
                                        <p:attrNameLst>
                                          <p:attrName>ppt_y</p:attrName>
                                        </p:attrNameLst>
                                      </p:cBhvr>
                                      <p:tavLst>
                                        <p:tav tm="0">
                                          <p:val>
                                            <p:strVal val="#ppt_y+0.31"/>
                                          </p:val>
                                        </p:tav>
                                        <p:tav tm="100000">
                                          <p:val>
                                            <p:strVal val="#ppt_y+0.31"/>
                                          </p:val>
                                        </p:tav>
                                      </p:tavLst>
                                    </p:anim>
                                    <p:anim calcmode="lin" valueType="num">
                                      <p:cBhvr>
                                        <p:cTn id="43" dur="600" decel="50000" fill="hold">
                                          <p:stCondLst>
                                            <p:cond delay="400"/>
                                          </p:stCondLst>
                                        </p:cTn>
                                        <p:tgtEl>
                                          <p:spTgt spid="3"/>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4" dur="600" decel="50000" fill="hold">
                                          <p:stCondLst>
                                            <p:cond delay="400"/>
                                          </p:stCondLst>
                                        </p:cTn>
                                        <p:tgtEl>
                                          <p:spTgt spid="3"/>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7" presetClass="entr" presetSubtype="0" fill="hold" grpId="0" nodeType="clickEffect">
                                  <p:stCondLst>
                                    <p:cond delay="0"/>
                                  </p:stCondLst>
                                  <p:iterate type="lt">
                                    <p:tmPct val="50000"/>
                                  </p:iterate>
                                  <p:childTnLst>
                                    <p:set>
                                      <p:cBhvr>
                                        <p:cTn id="48" dur="1" fill="hold">
                                          <p:stCondLst>
                                            <p:cond delay="0"/>
                                          </p:stCondLst>
                                        </p:cTn>
                                        <p:tgtEl>
                                          <p:spTgt spid="15"/>
                                        </p:tgtEl>
                                        <p:attrNameLst>
                                          <p:attrName>style.visibility</p:attrName>
                                        </p:attrNameLst>
                                      </p:cBhvr>
                                      <p:to>
                                        <p:strVal val="visible"/>
                                      </p:to>
                                    </p:set>
                                    <p:anim calcmode="discrete" valueType="clr">
                                      <p:cBhvr override="childStyle">
                                        <p:cTn id="49" dur="80"/>
                                        <p:tgtEl>
                                          <p:spTgt spid="15"/>
                                        </p:tgtEl>
                                        <p:attrNameLst>
                                          <p:attrName>style.color</p:attrName>
                                        </p:attrNameLst>
                                      </p:cBhvr>
                                      <p:tavLst>
                                        <p:tav tm="0">
                                          <p:val>
                                            <p:clrVal>
                                              <a:schemeClr val="accent2"/>
                                            </p:clrVal>
                                          </p:val>
                                        </p:tav>
                                        <p:tav tm="50000">
                                          <p:val>
                                            <p:clrVal>
                                              <a:schemeClr val="hlink"/>
                                            </p:clrVal>
                                          </p:val>
                                        </p:tav>
                                      </p:tavLst>
                                    </p:anim>
                                    <p:anim calcmode="discrete" valueType="clr">
                                      <p:cBhvr>
                                        <p:cTn id="50" dur="80"/>
                                        <p:tgtEl>
                                          <p:spTgt spid="15"/>
                                        </p:tgtEl>
                                        <p:attrNameLst>
                                          <p:attrName>fillcolor</p:attrName>
                                        </p:attrNameLst>
                                      </p:cBhvr>
                                      <p:tavLst>
                                        <p:tav tm="0">
                                          <p:val>
                                            <p:clrVal>
                                              <a:schemeClr val="accent2"/>
                                            </p:clrVal>
                                          </p:val>
                                        </p:tav>
                                        <p:tav tm="50000">
                                          <p:val>
                                            <p:clrVal>
                                              <a:schemeClr val="hlink"/>
                                            </p:clrVal>
                                          </p:val>
                                        </p:tav>
                                      </p:tavLst>
                                    </p:anim>
                                    <p:set>
                                      <p:cBhvr>
                                        <p:cTn id="51" dur="80"/>
                                        <p:tgtEl>
                                          <p:spTgt spid="15"/>
                                        </p:tgtEl>
                                        <p:attrNameLst>
                                          <p:attrName>fill.type</p:attrName>
                                        </p:attrNameLst>
                                      </p:cBhvr>
                                      <p:to>
                                        <p:strVal val="solid"/>
                                      </p:to>
                                    </p:set>
                                  </p:childTnLst>
                                </p:cTn>
                              </p:par>
                            </p:childTnLst>
                          </p:cTn>
                        </p:par>
                      </p:childTnLst>
                    </p:cTn>
                  </p:par>
                  <p:par>
                    <p:cTn id="52" fill="hold">
                      <p:stCondLst>
                        <p:cond delay="indefinite"/>
                      </p:stCondLst>
                      <p:childTnLst>
                        <p:par>
                          <p:cTn id="53" fill="hold">
                            <p:stCondLst>
                              <p:cond delay="0"/>
                            </p:stCondLst>
                            <p:childTnLst>
                              <p:par>
                                <p:cTn id="54" presetID="21" presetClass="entr" presetSubtype="4" fill="hold" nodeType="clickEffect">
                                  <p:stCondLst>
                                    <p:cond delay="0"/>
                                  </p:stCondLst>
                                  <p:childTnLst>
                                    <p:set>
                                      <p:cBhvr>
                                        <p:cTn id="55" dur="500" fill="hold">
                                          <p:stCondLst>
                                            <p:cond delay="0"/>
                                          </p:stCondLst>
                                        </p:cTn>
                                        <p:tgtEl>
                                          <p:spTgt spid="4"/>
                                        </p:tgtEl>
                                        <p:attrNameLst>
                                          <p:attrName>style.visibility</p:attrName>
                                        </p:attrNameLst>
                                      </p:cBhvr>
                                      <p:to>
                                        <p:strVal val="visible"/>
                                      </p:to>
                                    </p:set>
                                    <p:animEffect transition="in" filter="wheel(4)">
                                      <p:cBhvr>
                                        <p:cTn id="5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6" name="Rectangle 2"/>
          <p:cNvSpPr>
            <a:spLocks noGrp="1"/>
          </p:cNvSpPr>
          <p:nvPr>
            <p:ph type="title"/>
          </p:nvPr>
        </p:nvSpPr>
        <p:spPr>
          <a:xfrm>
            <a:off x="567690" y="1198880"/>
            <a:ext cx="4286885"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3.2.4 </a:t>
            </a:r>
            <a:r>
              <a:rPr lang="zh-CN" altLang="en-US" sz="2800" i="0" dirty="0">
                <a:solidFill>
                  <a:srgbClr val="0070C0"/>
                </a:solidFill>
                <a:latin typeface="黑体" panose="02010609060101010101" pitchFamily="49" charset="-122"/>
                <a:ea typeface="黑体" panose="02010609060101010101" pitchFamily="49" charset="-122"/>
              </a:rPr>
              <a:t>三态输出门</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3.2 TTL</a:t>
            </a:r>
            <a:r>
              <a:rPr lang="zh-CN" altLang="en-US" b="1" dirty="0">
                <a:solidFill>
                  <a:srgbClr val="FF0000"/>
                </a:solidFill>
                <a:latin typeface="黑体" panose="02010609060101010101" pitchFamily="49" charset="-122"/>
                <a:ea typeface="黑体" panose="02010609060101010101" pitchFamily="49" charset="-122"/>
              </a:rPr>
              <a:t>逻辑门电路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3" name="Rectangle 3"/>
          <p:cNvSpPr>
            <a:spLocks noGrp="1"/>
          </p:cNvSpPr>
          <p:nvPr/>
        </p:nvSpPr>
        <p:spPr>
          <a:xfrm>
            <a:off x="998220" y="1710690"/>
            <a:ext cx="532066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1. 三态输出门的电路结构和工作原理</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6147" name="Rectangle 3"/>
          <p:cNvSpPr>
            <a:spLocks noGrp="1"/>
          </p:cNvSpPr>
          <p:nvPr>
            <p:ph idx="1"/>
          </p:nvPr>
        </p:nvSpPr>
        <p:spPr>
          <a:xfrm>
            <a:off x="457200" y="2209800"/>
            <a:ext cx="8229600" cy="4592320"/>
          </a:xfrm>
        </p:spPr>
        <p:txBody>
          <a:bodyPr vert="horz" wrap="square" lIns="91440" tIns="45720" rIns="91440" bIns="45720" anchor="t" anchorCtr="0"/>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ea typeface="楷体_GB2312" pitchFamily="49" charset="-122"/>
              </a:rPr>
              <a:t>三态输出门简</a:t>
            </a:r>
            <a:endParaRPr lang="zh-CN" altLang="en-US"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zh-CN" altLang="en-US" sz="2400" b="1" kern="1200" dirty="0">
                <a:solidFill>
                  <a:srgbClr val="000066"/>
                </a:solidFill>
                <a:ea typeface="楷体_GB2312" pitchFamily="49" charset="-122"/>
              </a:rPr>
              <a:t>称为三态门</a:t>
            </a:r>
            <a:r>
              <a:rPr lang="zh-CN" altLang="en-US" sz="2400" b="1" kern="1200" dirty="0">
                <a:solidFill>
                  <a:srgbClr val="000066"/>
                </a:solidFill>
                <a:ea typeface="楷体_GB2312" pitchFamily="49" charset="-122"/>
                <a:sym typeface="+mn-ea"/>
              </a:rPr>
              <a:t>(Three</a:t>
            </a:r>
            <a:endParaRPr lang="zh-CN" altLang="en-US"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zh-CN" altLang="en-US" sz="2400" b="1" kern="1200" dirty="0">
                <a:solidFill>
                  <a:srgbClr val="000066"/>
                </a:solidFill>
                <a:ea typeface="楷体_GB2312" pitchFamily="49" charset="-122"/>
              </a:rPr>
              <a:t>State Gate</a:t>
            </a:r>
            <a:r>
              <a:rPr lang="en-US" altLang="zh-CN" sz="2400" b="1" kern="1200" dirty="0">
                <a:solidFill>
                  <a:srgbClr val="000066"/>
                </a:solidFill>
                <a:ea typeface="楷体_GB2312" pitchFamily="49" charset="-122"/>
              </a:rPr>
              <a:t>, TSG</a:t>
            </a:r>
            <a:r>
              <a:rPr lang="zh-CN" altLang="en-US" sz="2400" b="1" kern="1200" dirty="0">
                <a:solidFill>
                  <a:srgbClr val="000066"/>
                </a:solidFill>
                <a:ea typeface="楷体_GB2312" pitchFamily="49" charset="-122"/>
              </a:rPr>
              <a:t>)，</a:t>
            </a:r>
            <a:endParaRPr lang="zh-CN" altLang="en-US"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zh-CN" altLang="en-US" sz="2400" b="1" kern="1200" dirty="0">
                <a:solidFill>
                  <a:srgbClr val="000066"/>
                </a:solidFill>
                <a:ea typeface="楷体_GB2312" pitchFamily="49" charset="-122"/>
              </a:rPr>
              <a:t>它是在逻辑门电路</a:t>
            </a:r>
            <a:endParaRPr lang="zh-CN" altLang="en-US"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zh-CN" altLang="en-US" sz="2400" b="1" kern="1200" dirty="0">
                <a:solidFill>
                  <a:srgbClr val="000066"/>
                </a:solidFill>
                <a:ea typeface="楷体_GB2312" pitchFamily="49" charset="-122"/>
              </a:rPr>
              <a:t>中增加使能端和使</a:t>
            </a:r>
            <a:endParaRPr lang="zh-CN" altLang="en-US"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zh-CN" altLang="en-US" sz="2400" b="1" kern="1200" dirty="0">
                <a:solidFill>
                  <a:srgbClr val="000066"/>
                </a:solidFill>
                <a:ea typeface="楷体_GB2312" pitchFamily="49" charset="-122"/>
              </a:rPr>
              <a:t>能控制电路构成的。</a:t>
            </a:r>
            <a:endParaRPr lang="zh-CN" altLang="en-US"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zh-CN" altLang="en-US" sz="2400" b="1" kern="1200" dirty="0">
                <a:solidFill>
                  <a:srgbClr val="000066"/>
                </a:solidFill>
                <a:ea typeface="楷体_GB2312" pitchFamily="49" charset="-122"/>
              </a:rPr>
              <a:t>根据使能端的有效</a:t>
            </a:r>
            <a:endParaRPr lang="zh-CN" altLang="en-US"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zh-CN" altLang="en-US" sz="2400" b="1" kern="1200" dirty="0">
                <a:solidFill>
                  <a:srgbClr val="000066"/>
                </a:solidFill>
                <a:ea typeface="楷体_GB2312" pitchFamily="49" charset="-122"/>
              </a:rPr>
              <a:t>情况，分为高电平</a:t>
            </a:r>
            <a:endParaRPr lang="zh-CN" altLang="en-US"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zh-CN" altLang="en-US" sz="2400" b="1" kern="1200" dirty="0">
                <a:solidFill>
                  <a:srgbClr val="000066"/>
                </a:solidFill>
                <a:ea typeface="楷体_GB2312" pitchFamily="49" charset="-122"/>
              </a:rPr>
              <a:t>有效三态门和低电</a:t>
            </a:r>
            <a:endParaRPr lang="zh-CN" altLang="en-US"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zh-CN" altLang="en-US" sz="2400" b="1" kern="1200" dirty="0">
                <a:solidFill>
                  <a:srgbClr val="000066"/>
                </a:solidFill>
                <a:ea typeface="楷体_GB2312" pitchFamily="49" charset="-122"/>
              </a:rPr>
              <a:t>平有效三态门，二</a:t>
            </a:r>
            <a:endParaRPr lang="zh-CN" altLang="en-US"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zh-CN" altLang="en-US" sz="2400" b="1" kern="1200" dirty="0">
                <a:solidFill>
                  <a:srgbClr val="000066"/>
                </a:solidFill>
                <a:ea typeface="楷体_GB2312" pitchFamily="49" charset="-122"/>
              </a:rPr>
              <a:t>者的电路结构和逻</a:t>
            </a:r>
            <a:endParaRPr lang="zh-CN" altLang="en-US"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zh-CN" altLang="en-US" sz="2400" b="1" kern="1200" dirty="0">
                <a:solidFill>
                  <a:srgbClr val="000066"/>
                </a:solidFill>
                <a:ea typeface="楷体_GB2312" pitchFamily="49" charset="-122"/>
              </a:rPr>
              <a:t>辑符号如图3-32 所示。</a:t>
            </a:r>
            <a:endParaRPr lang="zh-CN" altLang="en-US" sz="2400" b="1" kern="1200" dirty="0">
              <a:solidFill>
                <a:srgbClr val="000066"/>
              </a:solidFill>
              <a:ea typeface="楷体_GB2312" pitchFamily="49" charset="-122"/>
            </a:endParaRPr>
          </a:p>
        </p:txBody>
      </p:sp>
      <p:grpSp>
        <p:nvGrpSpPr>
          <p:cNvPr id="6" name="组合 5"/>
          <p:cNvGrpSpPr/>
          <p:nvPr/>
        </p:nvGrpSpPr>
        <p:grpSpPr>
          <a:xfrm>
            <a:off x="3136265" y="2424430"/>
            <a:ext cx="5871210" cy="4084320"/>
            <a:chOff x="4939" y="3818"/>
            <a:chExt cx="9246" cy="6432"/>
          </a:xfrm>
        </p:grpSpPr>
        <p:grpSp>
          <p:nvGrpSpPr>
            <p:cNvPr id="2" name="组合 1"/>
            <p:cNvGrpSpPr/>
            <p:nvPr/>
          </p:nvGrpSpPr>
          <p:grpSpPr>
            <a:xfrm>
              <a:off x="4939" y="3818"/>
              <a:ext cx="9247" cy="6432"/>
              <a:chOff x="4939" y="3818"/>
              <a:chExt cx="9247" cy="6432"/>
            </a:xfrm>
          </p:grpSpPr>
          <p:pic>
            <p:nvPicPr>
              <p:cNvPr id="9256" name="图片 2693"/>
              <p:cNvPicPr>
                <a:picLocks noChangeAspect="1"/>
              </p:cNvPicPr>
              <p:nvPr/>
            </p:nvPicPr>
            <p:blipFill>
              <a:blip r:embed="rId1"/>
              <a:srcRect r="51401"/>
              <a:stretch>
                <a:fillRect/>
              </a:stretch>
            </p:blipFill>
            <p:spPr>
              <a:xfrm>
                <a:off x="4939" y="3840"/>
                <a:ext cx="4786" cy="5722"/>
              </a:xfrm>
              <a:prstGeom prst="rect">
                <a:avLst/>
              </a:prstGeom>
              <a:noFill/>
              <a:ln>
                <a:noFill/>
              </a:ln>
            </p:spPr>
          </p:pic>
          <p:pic>
            <p:nvPicPr>
              <p:cNvPr id="4" name="图片 2693"/>
              <p:cNvPicPr>
                <a:picLocks noChangeAspect="1"/>
              </p:cNvPicPr>
              <p:nvPr/>
            </p:nvPicPr>
            <p:blipFill>
              <a:blip r:embed="rId1"/>
              <a:srcRect l="53361"/>
              <a:stretch>
                <a:fillRect/>
              </a:stretch>
            </p:blipFill>
            <p:spPr>
              <a:xfrm>
                <a:off x="9594" y="3818"/>
                <a:ext cx="4593" cy="5722"/>
              </a:xfrm>
              <a:prstGeom prst="rect">
                <a:avLst/>
              </a:prstGeom>
              <a:noFill/>
              <a:ln>
                <a:noFill/>
              </a:ln>
            </p:spPr>
          </p:pic>
          <p:sp>
            <p:nvSpPr>
              <p:cNvPr id="100" name="文本框 99"/>
              <p:cNvSpPr txBox="1"/>
              <p:nvPr/>
            </p:nvSpPr>
            <p:spPr>
              <a:xfrm>
                <a:off x="6840" y="9720"/>
                <a:ext cx="6016"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图3-32 三态输出门电路结构和逻辑符号</a:t>
                </a:r>
                <a:endParaRPr sz="1600">
                  <a:latin typeface="Times New Roman" panose="02020603050405020304" charset="0"/>
                  <a:ea typeface="宋体" panose="02010600030101010101" pitchFamily="2" charset="-122"/>
                </a:endParaRPr>
              </a:p>
            </p:txBody>
          </p:sp>
        </p:grpSp>
        <p:pic>
          <p:nvPicPr>
            <p:cNvPr id="5" name="图片 4" descr="ET$SWH{O8A(UMW706C6]9LW"/>
            <p:cNvPicPr>
              <a:picLocks noChangeAspect="1"/>
            </p:cNvPicPr>
            <p:nvPr/>
          </p:nvPicPr>
          <p:blipFill>
            <a:blip r:embed="rId2"/>
            <a:stretch>
              <a:fillRect/>
            </a:stretch>
          </p:blipFill>
          <p:spPr>
            <a:xfrm>
              <a:off x="10844" y="7680"/>
              <a:ext cx="2460" cy="1125"/>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000" fill="hold">
                                          <p:stCondLst>
                                            <p:cond delay="0"/>
                                          </p:stCondLst>
                                        </p:cTn>
                                        <p:tgtEl>
                                          <p:spTgt spid="6"/>
                                        </p:tgtEl>
                                        <p:attrNameLst>
                                          <p:attrName>style.visibility</p:attrName>
                                        </p:attrNameLst>
                                      </p:cBhvr>
                                      <p:to>
                                        <p:strVal val="visible"/>
                                      </p:to>
                                    </p:set>
                                    <p:animEffect transition="in" filter="box(in)">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7" name="Rectangle 3"/>
          <p:cNvSpPr>
            <a:spLocks noGrp="1"/>
          </p:cNvSpPr>
          <p:nvPr>
            <p:ph idx="1"/>
          </p:nvPr>
        </p:nvSpPr>
        <p:spPr>
          <a:xfrm>
            <a:off x="457200" y="1219200"/>
            <a:ext cx="8347710" cy="5626735"/>
          </a:xfrm>
        </p:spPr>
        <p:txBody>
          <a:bodyPr vert="horz" wrap="square" lIns="91440" tIns="45720" rIns="91440" bIns="45720" anchor="t" anchorCtr="0"/>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ea typeface="楷体_GB2312" pitchFamily="49" charset="-122"/>
              </a:rPr>
              <a:t>在图3-32 (a) 中，当使能端EN为高电平时，P点也为高电平，二极管D</a:t>
            </a:r>
            <a:r>
              <a:rPr lang="zh-CN" altLang="en-US" sz="2400" b="1" kern="1200" baseline="-25000" dirty="0">
                <a:solidFill>
                  <a:srgbClr val="000066"/>
                </a:solidFill>
                <a:ea typeface="楷体_GB2312" pitchFamily="49" charset="-122"/>
              </a:rPr>
              <a:t>1</a:t>
            </a:r>
            <a:r>
              <a:rPr lang="zh-CN" altLang="en-US" sz="2400" b="1" kern="1200" dirty="0">
                <a:solidFill>
                  <a:srgbClr val="000066"/>
                </a:solidFill>
                <a:ea typeface="楷体_GB2312" pitchFamily="49" charset="-122"/>
              </a:rPr>
              <a:t>截止，此时使能端对电路的逻辑状态不会造成任何影响，即输出Y与输入A、B之间是与非逻辑关系。当EN为低电平时，P点也为低电平，T</a:t>
            </a:r>
            <a:r>
              <a:rPr lang="zh-CN" altLang="en-US" sz="2400" b="1" kern="1200" baseline="-25000" dirty="0">
                <a:solidFill>
                  <a:srgbClr val="000066"/>
                </a:solidFill>
                <a:ea typeface="楷体_GB2312" pitchFamily="49" charset="-122"/>
              </a:rPr>
              <a:t>2</a:t>
            </a:r>
            <a:r>
              <a:rPr lang="zh-CN" altLang="en-US" sz="2400" b="1" kern="1200" dirty="0">
                <a:solidFill>
                  <a:srgbClr val="000066"/>
                </a:solidFill>
                <a:ea typeface="楷体_GB2312" pitchFamily="49" charset="-122"/>
              </a:rPr>
              <a:t>和T</a:t>
            </a:r>
            <a:r>
              <a:rPr lang="zh-CN" altLang="en-US" sz="2400" b="1" kern="1200" baseline="-25000" dirty="0">
                <a:solidFill>
                  <a:srgbClr val="000066"/>
                </a:solidFill>
                <a:ea typeface="楷体_GB2312" pitchFamily="49" charset="-122"/>
              </a:rPr>
              <a:t>3</a:t>
            </a:r>
            <a:r>
              <a:rPr lang="zh-CN" altLang="en-US" sz="2400" b="1" kern="1200" dirty="0">
                <a:solidFill>
                  <a:srgbClr val="000066"/>
                </a:solidFill>
                <a:ea typeface="楷体_GB2312" pitchFamily="49" charset="-122"/>
              </a:rPr>
              <a:t>截止，同时，二极管D</a:t>
            </a:r>
            <a:r>
              <a:rPr lang="zh-CN" altLang="en-US" sz="2400" b="1" kern="1200" baseline="-25000" dirty="0">
                <a:solidFill>
                  <a:srgbClr val="000066"/>
                </a:solidFill>
                <a:ea typeface="楷体_GB2312" pitchFamily="49" charset="-122"/>
              </a:rPr>
              <a:t>1</a:t>
            </a:r>
            <a:r>
              <a:rPr lang="zh-CN" altLang="en-US" sz="2400" b="1" kern="1200" dirty="0">
                <a:solidFill>
                  <a:srgbClr val="000066"/>
                </a:solidFill>
                <a:ea typeface="楷体_GB2312" pitchFamily="49" charset="-122"/>
              </a:rPr>
              <a:t>导通，导致T</a:t>
            </a:r>
            <a:r>
              <a:rPr lang="zh-CN" altLang="en-US" sz="2400" b="1" kern="1200" baseline="-25000" dirty="0">
                <a:solidFill>
                  <a:srgbClr val="000066"/>
                </a:solidFill>
                <a:ea typeface="楷体_GB2312" pitchFamily="49" charset="-122"/>
              </a:rPr>
              <a:t>4</a:t>
            </a:r>
            <a:r>
              <a:rPr lang="zh-CN" altLang="en-US" sz="2400" b="1" kern="1200" dirty="0">
                <a:solidFill>
                  <a:srgbClr val="000066"/>
                </a:solidFill>
                <a:ea typeface="楷体_GB2312" pitchFamily="49" charset="-122"/>
              </a:rPr>
              <a:t>基极的电位被钳在低电平，故T</a:t>
            </a:r>
            <a:r>
              <a:rPr lang="zh-CN" altLang="en-US" sz="2400" b="1" kern="1200" baseline="-25000" dirty="0">
                <a:solidFill>
                  <a:srgbClr val="000066"/>
                </a:solidFill>
                <a:ea typeface="楷体_GB2312" pitchFamily="49" charset="-122"/>
              </a:rPr>
              <a:t>4</a:t>
            </a:r>
            <a:r>
              <a:rPr lang="zh-CN" altLang="en-US" sz="2400" b="1" kern="1200" dirty="0">
                <a:solidFill>
                  <a:srgbClr val="000066"/>
                </a:solidFill>
                <a:ea typeface="楷体_GB2312" pitchFamily="49" charset="-122"/>
              </a:rPr>
              <a:t>截止。由于T</a:t>
            </a:r>
            <a:r>
              <a:rPr lang="zh-CN" altLang="en-US" sz="2400" b="1" kern="1200" baseline="-25000" dirty="0">
                <a:solidFill>
                  <a:srgbClr val="000066"/>
                </a:solidFill>
                <a:ea typeface="楷体_GB2312" pitchFamily="49" charset="-122"/>
              </a:rPr>
              <a:t>3</a:t>
            </a:r>
            <a:r>
              <a:rPr lang="zh-CN" altLang="en-US" sz="2400" b="1" kern="1200" dirty="0">
                <a:solidFill>
                  <a:srgbClr val="000066"/>
                </a:solidFill>
                <a:ea typeface="楷体_GB2312" pitchFamily="49" charset="-122"/>
              </a:rPr>
              <a:t>和T</a:t>
            </a:r>
            <a:r>
              <a:rPr lang="zh-CN" altLang="en-US" sz="2400" b="1" kern="1200" baseline="-25000" dirty="0">
                <a:solidFill>
                  <a:srgbClr val="000066"/>
                </a:solidFill>
                <a:ea typeface="楷体_GB2312" pitchFamily="49" charset="-122"/>
              </a:rPr>
              <a:t>4</a:t>
            </a:r>
            <a:r>
              <a:rPr lang="zh-CN" altLang="en-US" sz="2400" b="1" kern="1200" dirty="0">
                <a:solidFill>
                  <a:srgbClr val="000066"/>
                </a:solidFill>
                <a:ea typeface="楷体_GB2312" pitchFamily="49" charset="-122"/>
              </a:rPr>
              <a:t>同时截止，Y的</a:t>
            </a:r>
            <a:r>
              <a:rPr lang="zh-CN" altLang="en-US" sz="2400" b="1" kern="1200" dirty="0">
                <a:solidFill>
                  <a:srgbClr val="000066"/>
                </a:solidFill>
                <a:ea typeface="楷体_GB2312" pitchFamily="49" charset="-122"/>
                <a:sym typeface="+mn-ea"/>
              </a:rPr>
              <a:t>输出</a:t>
            </a:r>
            <a:endParaRPr lang="zh-CN" altLang="en-US"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zh-CN" altLang="en-US" sz="2400" b="1" kern="1200" dirty="0">
                <a:solidFill>
                  <a:srgbClr val="000066"/>
                </a:solidFill>
                <a:ea typeface="楷体_GB2312" pitchFamily="49" charset="-122"/>
              </a:rPr>
              <a:t>为高阻态，相当于开路。</a:t>
            </a:r>
            <a:r>
              <a:rPr lang="zh-CN" altLang="en-US" sz="2400" b="1" kern="1200" dirty="0">
                <a:solidFill>
                  <a:srgbClr val="000066"/>
                </a:solidFill>
                <a:ea typeface="楷体_GB2312" pitchFamily="49" charset="-122"/>
                <a:sym typeface="+mn-ea"/>
              </a:rPr>
              <a:t>这</a:t>
            </a:r>
            <a:endParaRPr lang="zh-CN" altLang="en-US"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zh-CN" altLang="en-US" sz="2400" b="1" kern="1200" dirty="0">
                <a:solidFill>
                  <a:srgbClr val="000066"/>
                </a:solidFill>
                <a:ea typeface="楷体_GB2312" pitchFamily="49" charset="-122"/>
              </a:rPr>
              <a:t>样，电路的输出就存在低</a:t>
            </a:r>
            <a:r>
              <a:rPr lang="zh-CN" altLang="en-US" sz="2400" b="1" kern="1200" dirty="0">
                <a:solidFill>
                  <a:srgbClr val="000066"/>
                </a:solidFill>
                <a:ea typeface="楷体_GB2312" pitchFamily="49" charset="-122"/>
                <a:sym typeface="+mn-ea"/>
              </a:rPr>
              <a:t>电</a:t>
            </a:r>
            <a:endParaRPr lang="zh-CN" altLang="en-US"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zh-CN" altLang="en-US" sz="2400" b="1" kern="1200" dirty="0">
                <a:solidFill>
                  <a:srgbClr val="000066"/>
                </a:solidFill>
                <a:ea typeface="楷体_GB2312" pitchFamily="49" charset="-122"/>
              </a:rPr>
              <a:t>平、高电平和高阻态三种</a:t>
            </a:r>
            <a:r>
              <a:rPr lang="zh-CN" altLang="en-US" sz="2400" b="1" kern="1200" dirty="0">
                <a:solidFill>
                  <a:srgbClr val="000066"/>
                </a:solidFill>
                <a:ea typeface="楷体_GB2312" pitchFamily="49" charset="-122"/>
                <a:sym typeface="+mn-ea"/>
              </a:rPr>
              <a:t>状</a:t>
            </a:r>
            <a:endParaRPr lang="zh-CN" altLang="en-US"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zh-CN" altLang="en-US" sz="2400" b="1" kern="1200" dirty="0">
                <a:solidFill>
                  <a:srgbClr val="000066"/>
                </a:solidFill>
                <a:ea typeface="楷体_GB2312" pitchFamily="49" charset="-122"/>
              </a:rPr>
              <a:t>态，所以这种电路被称为</a:t>
            </a:r>
            <a:r>
              <a:rPr lang="zh-CN" altLang="en-US" sz="2400" b="1" kern="1200" dirty="0">
                <a:solidFill>
                  <a:srgbClr val="000066"/>
                </a:solidFill>
                <a:ea typeface="楷体_GB2312" pitchFamily="49" charset="-122"/>
                <a:sym typeface="+mn-ea"/>
              </a:rPr>
              <a:t>三</a:t>
            </a:r>
            <a:endParaRPr lang="zh-CN" altLang="en-US"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zh-CN" altLang="en-US" sz="2400" b="1" kern="1200" dirty="0">
                <a:solidFill>
                  <a:srgbClr val="000066"/>
                </a:solidFill>
                <a:ea typeface="楷体_GB2312" pitchFamily="49" charset="-122"/>
              </a:rPr>
              <a:t>态输出门。由于该电路电</a:t>
            </a:r>
            <a:r>
              <a:rPr lang="zh-CN" altLang="en-US" sz="2400" b="1" kern="1200" dirty="0">
                <a:solidFill>
                  <a:srgbClr val="000066"/>
                </a:solidFill>
                <a:ea typeface="楷体_GB2312" pitchFamily="49" charset="-122"/>
                <a:sym typeface="+mn-ea"/>
              </a:rPr>
              <a:t>路</a:t>
            </a:r>
            <a:endParaRPr lang="zh-CN" altLang="en-US"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zh-CN" altLang="en-US" sz="2400" b="1" kern="1200" dirty="0">
                <a:solidFill>
                  <a:srgbClr val="000066"/>
                </a:solidFill>
                <a:ea typeface="楷体_GB2312" pitchFamily="49" charset="-122"/>
              </a:rPr>
              <a:t>实现的是与非功能，也称</a:t>
            </a:r>
            <a:r>
              <a:rPr lang="zh-CN" altLang="en-US" sz="2400" b="1" kern="1200" dirty="0">
                <a:solidFill>
                  <a:srgbClr val="000066"/>
                </a:solidFill>
                <a:ea typeface="楷体_GB2312" pitchFamily="49" charset="-122"/>
                <a:sym typeface="+mn-ea"/>
              </a:rPr>
              <a:t>为</a:t>
            </a:r>
            <a:endParaRPr lang="zh-CN" altLang="en-US"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zh-CN" altLang="en-US" sz="2400" b="1" kern="1200" dirty="0">
                <a:solidFill>
                  <a:srgbClr val="000066"/>
                </a:solidFill>
                <a:ea typeface="楷体_GB2312" pitchFamily="49" charset="-122"/>
              </a:rPr>
              <a:t>三态与非门，更具体地说</a:t>
            </a:r>
            <a:r>
              <a:rPr lang="zh-CN" altLang="en-US" sz="2400" b="1" kern="1200" dirty="0">
                <a:solidFill>
                  <a:srgbClr val="000066"/>
                </a:solidFill>
                <a:ea typeface="楷体_GB2312" pitchFamily="49" charset="-122"/>
                <a:sym typeface="+mn-ea"/>
              </a:rPr>
              <a:t>是</a:t>
            </a:r>
            <a:endParaRPr lang="zh-CN" altLang="en-US"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zh-CN" altLang="en-US" sz="2400" b="1" kern="1200" dirty="0">
                <a:solidFill>
                  <a:srgbClr val="000066"/>
                </a:solidFill>
                <a:ea typeface="楷体_GB2312" pitchFamily="49" charset="-122"/>
              </a:rPr>
              <a:t>高电平有效的三态与非门。</a:t>
            </a:r>
            <a:endParaRPr lang="zh-CN" altLang="en-US" sz="2400" b="1" kern="1200" dirty="0">
              <a:solidFill>
                <a:srgbClr val="000066"/>
              </a:solidFill>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3.2 TTL</a:t>
            </a:r>
            <a:r>
              <a:rPr lang="zh-CN" altLang="en-US" b="1" dirty="0">
                <a:solidFill>
                  <a:srgbClr val="FF0000"/>
                </a:solidFill>
                <a:latin typeface="黑体" panose="02010609060101010101" pitchFamily="49" charset="-122"/>
                <a:ea typeface="黑体" panose="02010609060101010101" pitchFamily="49" charset="-122"/>
              </a:rPr>
              <a:t>逻辑门电路</a:t>
            </a:r>
            <a:endParaRPr lang="zh-CN" altLang="en-US" b="1" dirty="0">
              <a:solidFill>
                <a:srgbClr val="FF0000"/>
              </a:solidFill>
              <a:latin typeface="黑体" panose="02010609060101010101" pitchFamily="49" charset="-122"/>
              <a:ea typeface="黑体" panose="02010609060101010101" pitchFamily="49" charset="-122"/>
            </a:endParaRPr>
          </a:p>
        </p:txBody>
      </p:sp>
      <p:grpSp>
        <p:nvGrpSpPr>
          <p:cNvPr id="5" name="组合 4"/>
          <p:cNvGrpSpPr/>
          <p:nvPr/>
        </p:nvGrpSpPr>
        <p:grpSpPr>
          <a:xfrm>
            <a:off x="4572000" y="3273425"/>
            <a:ext cx="4318635" cy="3537585"/>
            <a:chOff x="7200" y="5040"/>
            <a:chExt cx="6801" cy="5571"/>
          </a:xfrm>
        </p:grpSpPr>
        <p:pic>
          <p:nvPicPr>
            <p:cNvPr id="9256" name="图片 2693"/>
            <p:cNvPicPr>
              <a:picLocks noChangeAspect="1"/>
            </p:cNvPicPr>
            <p:nvPr/>
          </p:nvPicPr>
          <p:blipFill>
            <a:blip r:embed="rId1"/>
            <a:srcRect r="51401" b="36508"/>
            <a:stretch>
              <a:fillRect/>
            </a:stretch>
          </p:blipFill>
          <p:spPr>
            <a:xfrm>
              <a:off x="7200" y="5040"/>
              <a:ext cx="6801" cy="5163"/>
            </a:xfrm>
            <a:prstGeom prst="rect">
              <a:avLst/>
            </a:prstGeom>
            <a:noFill/>
            <a:ln>
              <a:noFill/>
            </a:ln>
          </p:spPr>
        </p:pic>
        <p:sp>
          <p:nvSpPr>
            <p:cNvPr id="100" name="文本框 99"/>
            <p:cNvSpPr txBox="1"/>
            <p:nvPr/>
          </p:nvSpPr>
          <p:spPr>
            <a:xfrm>
              <a:off x="7800" y="10080"/>
              <a:ext cx="6016"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图3-32 (a)</a:t>
              </a:r>
              <a:r>
                <a:rPr lang="en-US" sz="1600">
                  <a:latin typeface="Times New Roman" panose="02020603050405020304" charset="0"/>
                  <a:ea typeface="宋体" panose="02010600030101010101" pitchFamily="2" charset="-122"/>
                </a:rPr>
                <a:t> </a:t>
              </a:r>
              <a:r>
                <a:rPr sz="1600">
                  <a:latin typeface="Times New Roman" panose="02020603050405020304" charset="0"/>
                  <a:ea typeface="宋体" panose="02010600030101010101" pitchFamily="2" charset="-122"/>
                </a:rPr>
                <a:t>高电平有效三态门的电路结构</a:t>
              </a:r>
              <a:endParaRPr sz="1600">
                <a:latin typeface="Times New Roman" panose="0202060305040502030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3"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
                                        <p:tgtEl>
                                          <p:spTgt spid="5"/>
                                        </p:tgtEl>
                                      </p:cBhvr>
                                    </p:animEffect>
                                    <p:anim calcmode="lin" valueType="num">
                                      <p:cBhvr>
                                        <p:cTn id="8" dur="400" fill="hold"/>
                                        <p:tgtEl>
                                          <p:spTgt spid="5"/>
                                        </p:tgtEl>
                                        <p:attrNameLst>
                                          <p:attrName>ppt_x</p:attrName>
                                        </p:attrNameLst>
                                      </p:cBhvr>
                                      <p:tavLst>
                                        <p:tav tm="0">
                                          <p:val>
                                            <p:strVal val="#ppt_x"/>
                                          </p:val>
                                        </p:tav>
                                        <p:tav tm="100000">
                                          <p:val>
                                            <p:strVal val="#ppt_x"/>
                                          </p:val>
                                        </p:tav>
                                      </p:tavLst>
                                    </p:anim>
                                    <p:anim calcmode="lin" valueType="num">
                                      <p:cBhvr>
                                        <p:cTn id="9" dur="400" fill="hold"/>
                                        <p:tgtEl>
                                          <p:spTgt spid="5"/>
                                        </p:tgtEl>
                                        <p:attrNameLst>
                                          <p:attrName>ppt_y</p:attrName>
                                        </p:attrNameLst>
                                      </p:cBhvr>
                                      <p:tavLst>
                                        <p:tav tm="0">
                                          <p:val>
                                            <p:strVal val="#ppt_y+0.31"/>
                                          </p:val>
                                        </p:tav>
                                        <p:tav tm="100000">
                                          <p:val>
                                            <p:strVal val="#ppt_y+0.31"/>
                                          </p:val>
                                        </p:tav>
                                      </p:tavLst>
                                    </p:anim>
                                    <p:anim calcmode="lin" valueType="num">
                                      <p:cBhvr>
                                        <p:cTn id="10" dur="600" decel="50000" fill="hold">
                                          <p:stCondLst>
                                            <p:cond delay="400"/>
                                          </p:stCondLst>
                                        </p:cTn>
                                        <p:tgtEl>
                                          <p:spTgt spid="5"/>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11" dur="600" decel="50000" fill="hold">
                                          <p:stCondLst>
                                            <p:cond delay="400"/>
                                          </p:stCondLst>
                                        </p:cTn>
                                        <p:tgtEl>
                                          <p:spTgt spid="5"/>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7" name="Rectangle 3"/>
          <p:cNvSpPr>
            <a:spLocks noGrp="1"/>
          </p:cNvSpPr>
          <p:nvPr>
            <p:ph idx="1"/>
          </p:nvPr>
        </p:nvSpPr>
        <p:spPr>
          <a:xfrm>
            <a:off x="457200" y="1371600"/>
            <a:ext cx="8347710" cy="1658620"/>
          </a:xfrm>
        </p:spPr>
        <p:txBody>
          <a:bodyPr vert="horz" wrap="square" lIns="91440" tIns="45720" rIns="91440" bIns="45720" anchor="t" anchorCtr="0"/>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ea typeface="楷体_GB2312" pitchFamily="49" charset="-122"/>
              </a:rPr>
              <a:t>在图3-32 (b) 中，当使能端</a:t>
            </a:r>
            <a:r>
              <a:rPr lang="en-US" altLang="zh-CN" sz="2400" b="1" kern="1200" dirty="0">
                <a:solidFill>
                  <a:srgbClr val="000066"/>
                </a:solidFill>
                <a:ea typeface="楷体_GB2312" pitchFamily="49" charset="-122"/>
              </a:rPr>
              <a:t>      </a:t>
            </a:r>
            <a:r>
              <a:rPr lang="zh-CN" altLang="en-US" sz="2400" b="1" kern="1200" dirty="0">
                <a:solidFill>
                  <a:srgbClr val="000066"/>
                </a:solidFill>
                <a:ea typeface="楷体_GB2312" pitchFamily="49" charset="-122"/>
              </a:rPr>
              <a:t>为高电平时，P点为低电平，T</a:t>
            </a:r>
            <a:r>
              <a:rPr lang="zh-CN" altLang="en-US" sz="2400" b="1" kern="1200" baseline="-25000" dirty="0">
                <a:solidFill>
                  <a:srgbClr val="000066"/>
                </a:solidFill>
                <a:ea typeface="楷体_GB2312" pitchFamily="49" charset="-122"/>
              </a:rPr>
              <a:t>3</a:t>
            </a:r>
            <a:r>
              <a:rPr lang="zh-CN" altLang="en-US" sz="2400" b="1" kern="1200" dirty="0">
                <a:solidFill>
                  <a:srgbClr val="000066"/>
                </a:solidFill>
                <a:ea typeface="楷体_GB2312" pitchFamily="49" charset="-122"/>
              </a:rPr>
              <a:t>和T</a:t>
            </a:r>
            <a:r>
              <a:rPr lang="zh-CN" altLang="en-US" sz="2400" b="1" kern="1200" baseline="-25000" dirty="0">
                <a:solidFill>
                  <a:srgbClr val="000066"/>
                </a:solidFill>
                <a:ea typeface="楷体_GB2312" pitchFamily="49" charset="-122"/>
              </a:rPr>
              <a:t>4</a:t>
            </a:r>
            <a:r>
              <a:rPr lang="zh-CN" altLang="en-US" sz="2400" b="1" kern="1200" dirty="0">
                <a:solidFill>
                  <a:srgbClr val="000066"/>
                </a:solidFill>
                <a:ea typeface="楷体_GB2312" pitchFamily="49" charset="-122"/>
              </a:rPr>
              <a:t>同时截止，Y的输出为高阻态。</a:t>
            </a:r>
            <a:r>
              <a:rPr lang="en-US" altLang="zh-CN" sz="2400" b="1" kern="1200" dirty="0">
                <a:solidFill>
                  <a:srgbClr val="000066"/>
                </a:solidFill>
                <a:ea typeface="楷体_GB2312" pitchFamily="49" charset="-122"/>
              </a:rPr>
              <a:t>    </a:t>
            </a:r>
            <a:r>
              <a:rPr lang="zh-CN" altLang="en-US" sz="2400" b="1" kern="1200" dirty="0">
                <a:solidFill>
                  <a:srgbClr val="000066"/>
                </a:solidFill>
                <a:ea typeface="楷体_GB2312" pitchFamily="49" charset="-122"/>
              </a:rPr>
              <a:t>为低电平时，P点为高电平，电路处于与非门的正常工作状态，即</a:t>
            </a:r>
            <a:r>
              <a:rPr lang="en-US" altLang="zh-CN" sz="2400" b="1" kern="1200" dirty="0">
                <a:solidFill>
                  <a:srgbClr val="000066"/>
                </a:solidFill>
                <a:ea typeface="楷体_GB2312" pitchFamily="49" charset="-122"/>
              </a:rPr>
              <a:t>            </a:t>
            </a:r>
            <a:r>
              <a:rPr lang="zh-CN" altLang="en-US" sz="2400" b="1" kern="1200" dirty="0">
                <a:solidFill>
                  <a:srgbClr val="000066"/>
                </a:solidFill>
                <a:ea typeface="楷体_GB2312" pitchFamily="49" charset="-122"/>
              </a:rPr>
              <a:t>。同样，图3-32(b) 也可以称为低电平有效的三态与非门。</a:t>
            </a:r>
            <a:endParaRPr lang="zh-CN" altLang="en-US" sz="2400" b="1" kern="1200" dirty="0">
              <a:solidFill>
                <a:srgbClr val="000066"/>
              </a:solidFill>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3.2 TTL</a:t>
            </a:r>
            <a:r>
              <a:rPr lang="zh-CN" altLang="en-US" b="1" dirty="0">
                <a:solidFill>
                  <a:srgbClr val="FF0000"/>
                </a:solidFill>
                <a:latin typeface="黑体" panose="02010609060101010101" pitchFamily="49" charset="-122"/>
                <a:ea typeface="黑体" panose="02010609060101010101" pitchFamily="49" charset="-122"/>
              </a:rPr>
              <a:t>逻辑门电路</a:t>
            </a:r>
            <a:endParaRPr lang="zh-CN" altLang="en-US" b="1" dirty="0">
              <a:solidFill>
                <a:srgbClr val="FF0000"/>
              </a:solidFill>
              <a:latin typeface="黑体" panose="02010609060101010101" pitchFamily="49" charset="-122"/>
              <a:ea typeface="黑体" panose="02010609060101010101" pitchFamily="49" charset="-122"/>
            </a:endParaRPr>
          </a:p>
        </p:txBody>
      </p:sp>
      <p:grpSp>
        <p:nvGrpSpPr>
          <p:cNvPr id="7" name="组合 6"/>
          <p:cNvGrpSpPr/>
          <p:nvPr/>
        </p:nvGrpSpPr>
        <p:grpSpPr>
          <a:xfrm>
            <a:off x="2424430" y="3091815"/>
            <a:ext cx="4095750" cy="3813175"/>
            <a:chOff x="3818" y="5109"/>
            <a:chExt cx="6450" cy="6005"/>
          </a:xfrm>
        </p:grpSpPr>
        <p:sp>
          <p:nvSpPr>
            <p:cNvPr id="100" name="文本框 99"/>
            <p:cNvSpPr txBox="1"/>
            <p:nvPr/>
          </p:nvSpPr>
          <p:spPr>
            <a:xfrm>
              <a:off x="4080" y="10195"/>
              <a:ext cx="6016" cy="919"/>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图3-32 </a:t>
              </a:r>
              <a:r>
                <a:rPr sz="1600">
                  <a:latin typeface="Times New Roman" panose="02020603050405020304" charset="0"/>
                  <a:sym typeface="+mn-ea"/>
                </a:rPr>
                <a:t> (b)</a:t>
              </a:r>
              <a:r>
                <a:rPr lang="en-US" sz="1600">
                  <a:latin typeface="Times New Roman" panose="02020603050405020304" charset="0"/>
                  <a:sym typeface="+mn-ea"/>
                </a:rPr>
                <a:t> </a:t>
              </a:r>
              <a:r>
                <a:rPr sz="1600">
                  <a:latin typeface="Times New Roman" panose="02020603050405020304" charset="0"/>
                  <a:sym typeface="+mn-ea"/>
                </a:rPr>
                <a:t>低电平有效三态门的电路结构</a:t>
              </a:r>
              <a:endParaRPr sz="1600">
                <a:latin typeface="Times New Roman" panose="02020603050405020304" charset="0"/>
                <a:ea typeface="宋体" panose="02010600030101010101" pitchFamily="2" charset="-122"/>
              </a:endParaRPr>
            </a:p>
            <a:p>
              <a:endParaRPr sz="1600">
                <a:latin typeface="Times New Roman" panose="02020603050405020304" charset="0"/>
                <a:ea typeface="宋体" panose="02010600030101010101" pitchFamily="2" charset="-122"/>
              </a:endParaRPr>
            </a:p>
          </p:txBody>
        </p:sp>
        <p:pic>
          <p:nvPicPr>
            <p:cNvPr id="4" name="图片 2693"/>
            <p:cNvPicPr>
              <a:picLocks noChangeAspect="1"/>
            </p:cNvPicPr>
            <p:nvPr/>
          </p:nvPicPr>
          <p:blipFill>
            <a:blip r:embed="rId1"/>
            <a:srcRect l="53361" b="36298"/>
            <a:stretch>
              <a:fillRect/>
            </a:stretch>
          </p:blipFill>
          <p:spPr>
            <a:xfrm>
              <a:off x="3818" y="5109"/>
              <a:ext cx="6450" cy="5120"/>
            </a:xfrm>
            <a:prstGeom prst="rect">
              <a:avLst/>
            </a:prstGeom>
            <a:noFill/>
            <a:ln>
              <a:noFill/>
            </a:ln>
          </p:spPr>
        </p:pic>
      </p:grpSp>
      <p:grpSp>
        <p:nvGrpSpPr>
          <p:cNvPr id="8" name="组合 7"/>
          <p:cNvGrpSpPr/>
          <p:nvPr/>
        </p:nvGrpSpPr>
        <p:grpSpPr>
          <a:xfrm>
            <a:off x="4876800" y="1371600"/>
            <a:ext cx="3495040" cy="1153160"/>
            <a:chOff x="7680" y="1920"/>
            <a:chExt cx="5504" cy="1816"/>
          </a:xfrm>
        </p:grpSpPr>
        <p:graphicFrame>
          <p:nvGraphicFramePr>
            <p:cNvPr id="2" name="对象 628"/>
            <p:cNvGraphicFramePr>
              <a:graphicFrameLocks noChangeAspect="1"/>
            </p:cNvGraphicFramePr>
            <p:nvPr/>
          </p:nvGraphicFramePr>
          <p:xfrm>
            <a:off x="7680" y="1920"/>
            <a:ext cx="733" cy="611"/>
          </p:xfrm>
          <a:graphic>
            <a:graphicData uri="http://schemas.openxmlformats.org/presentationml/2006/ole">
              <mc:AlternateContent xmlns:mc="http://schemas.openxmlformats.org/markup-compatibility/2006">
                <mc:Choice xmlns:v="urn:schemas-microsoft-com:vml" Requires="v">
                  <p:oleObj spid="_x0000_s3076" name="" r:id="rId2" imgW="228600" imgH="190500" progId="Equation.DSMT4">
                    <p:embed/>
                  </p:oleObj>
                </mc:Choice>
                <mc:Fallback>
                  <p:oleObj name="" r:id="rId2" imgW="228600" imgH="190500" progId="Equation.DSMT4">
                    <p:embed/>
                    <p:pic>
                      <p:nvPicPr>
                        <p:cNvPr id="0" name="图片 3075"/>
                        <p:cNvPicPr/>
                        <p:nvPr/>
                      </p:nvPicPr>
                      <p:blipFill>
                        <a:blip r:embed="rId3"/>
                        <a:stretch>
                          <a:fillRect/>
                        </a:stretch>
                      </p:blipFill>
                      <p:spPr>
                        <a:xfrm>
                          <a:off x="7680" y="1920"/>
                          <a:ext cx="733" cy="611"/>
                        </a:xfrm>
                        <a:prstGeom prst="rect">
                          <a:avLst/>
                        </a:prstGeom>
                        <a:noFill/>
                        <a:ln w="38100">
                          <a:noFill/>
                          <a:miter/>
                        </a:ln>
                      </p:spPr>
                    </p:pic>
                  </p:oleObj>
                </mc:Fallback>
              </mc:AlternateContent>
            </a:graphicData>
          </a:graphic>
        </p:graphicFrame>
        <p:graphicFrame>
          <p:nvGraphicFramePr>
            <p:cNvPr id="3" name="对象 628"/>
            <p:cNvGraphicFramePr>
              <a:graphicFrameLocks noChangeAspect="1"/>
            </p:cNvGraphicFramePr>
            <p:nvPr/>
          </p:nvGraphicFramePr>
          <p:xfrm>
            <a:off x="9774" y="2566"/>
            <a:ext cx="733" cy="611"/>
          </p:xfrm>
          <a:graphic>
            <a:graphicData uri="http://schemas.openxmlformats.org/presentationml/2006/ole">
              <mc:AlternateContent xmlns:mc="http://schemas.openxmlformats.org/markup-compatibility/2006">
                <mc:Choice xmlns:v="urn:schemas-microsoft-com:vml" Requires="v">
                  <p:oleObj spid="_x0000_s5" name="" r:id="rId4" imgW="228600" imgH="190500" progId="Equation.DSMT4">
                    <p:embed/>
                  </p:oleObj>
                </mc:Choice>
                <mc:Fallback>
                  <p:oleObj name="" r:id="rId4" imgW="228600" imgH="190500" progId="Equation.DSMT4">
                    <p:embed/>
                    <p:pic>
                      <p:nvPicPr>
                        <p:cNvPr id="0" name="图片 3075"/>
                        <p:cNvPicPr/>
                        <p:nvPr/>
                      </p:nvPicPr>
                      <p:blipFill>
                        <a:blip r:embed="rId3"/>
                        <a:stretch>
                          <a:fillRect/>
                        </a:stretch>
                      </p:blipFill>
                      <p:spPr>
                        <a:xfrm>
                          <a:off x="9774" y="2566"/>
                          <a:ext cx="733" cy="611"/>
                        </a:xfrm>
                        <a:prstGeom prst="rect">
                          <a:avLst/>
                        </a:prstGeom>
                        <a:noFill/>
                        <a:ln w="38100">
                          <a:noFill/>
                          <a:miter/>
                        </a:ln>
                      </p:spPr>
                    </p:pic>
                  </p:oleObj>
                </mc:Fallback>
              </mc:AlternateContent>
            </a:graphicData>
          </a:graphic>
        </p:graphicFrame>
        <p:graphicFrame>
          <p:nvGraphicFramePr>
            <p:cNvPr id="6" name="对象 630"/>
            <p:cNvGraphicFramePr>
              <a:graphicFrameLocks noChangeAspect="1"/>
            </p:cNvGraphicFramePr>
            <p:nvPr/>
          </p:nvGraphicFramePr>
          <p:xfrm>
            <a:off x="11542" y="3148"/>
            <a:ext cx="1643" cy="588"/>
          </p:xfrm>
          <a:graphic>
            <a:graphicData uri="http://schemas.openxmlformats.org/presentationml/2006/ole">
              <mc:AlternateContent xmlns:mc="http://schemas.openxmlformats.org/markup-compatibility/2006">
                <mc:Choice xmlns:v="urn:schemas-microsoft-com:vml" Requires="v">
                  <p:oleObj spid="_x0000_s9" name="" r:id="rId5" imgW="494665" imgH="177800" progId="Equation.DSMT4">
                    <p:embed/>
                  </p:oleObj>
                </mc:Choice>
                <mc:Fallback>
                  <p:oleObj name="" r:id="rId5" imgW="494665" imgH="177800" progId="Equation.DSMT4">
                    <p:embed/>
                    <p:pic>
                      <p:nvPicPr>
                        <p:cNvPr id="0" name="图片 5"/>
                        <p:cNvPicPr/>
                        <p:nvPr/>
                      </p:nvPicPr>
                      <p:blipFill>
                        <a:blip r:embed="rId6"/>
                        <a:stretch>
                          <a:fillRect/>
                        </a:stretch>
                      </p:blipFill>
                      <p:spPr>
                        <a:xfrm>
                          <a:off x="11542" y="3148"/>
                          <a:ext cx="1643" cy="588"/>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7" name="Rectangle 3"/>
          <p:cNvSpPr>
            <a:spLocks noGrp="1"/>
          </p:cNvSpPr>
          <p:nvPr>
            <p:ph idx="1"/>
          </p:nvPr>
        </p:nvSpPr>
        <p:spPr>
          <a:xfrm>
            <a:off x="457200" y="1371600"/>
            <a:ext cx="8347710" cy="254635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ea typeface="楷体_GB2312" pitchFamily="49" charset="-122"/>
              </a:rPr>
              <a:t>三态门除了上面介绍的多输入单输出的三态与非门外，还有更为常用的单输入单输出三态门。根据输出与输入之间的关系，单输入单输出三态门又有同相三态门和反相三态门之分，其逻辑符号如图3-33所示。由图3-33可知，这两种三态门都是高电平有效。所以，在图 (a) 中，当时</a:t>
            </a:r>
            <a:r>
              <a:rPr lang="en-US" sz="2400" b="1" kern="1200" dirty="0">
                <a:solidFill>
                  <a:srgbClr val="000066"/>
                </a:solidFill>
                <a:ea typeface="楷体_GB2312" pitchFamily="49" charset="-122"/>
              </a:rPr>
              <a:t>          </a:t>
            </a:r>
            <a:r>
              <a:rPr sz="2400" b="1" kern="1200" dirty="0">
                <a:solidFill>
                  <a:srgbClr val="000066"/>
                </a:solidFill>
                <a:ea typeface="楷体_GB2312" pitchFamily="49" charset="-122"/>
              </a:rPr>
              <a:t>，</a:t>
            </a:r>
            <a:r>
              <a:rPr lang="en-US" sz="2400" b="1" kern="1200" dirty="0">
                <a:solidFill>
                  <a:srgbClr val="000066"/>
                </a:solidFill>
                <a:ea typeface="楷体_GB2312" pitchFamily="49" charset="-122"/>
              </a:rPr>
              <a:t>        </a:t>
            </a:r>
            <a:r>
              <a:rPr sz="2400" b="1" kern="1200" dirty="0">
                <a:solidFill>
                  <a:srgbClr val="000066"/>
                </a:solidFill>
                <a:ea typeface="楷体_GB2312" pitchFamily="49" charset="-122"/>
              </a:rPr>
              <a:t>。而在图 (b) 中，当</a:t>
            </a:r>
            <a:r>
              <a:rPr lang="en-US" sz="2400" b="1" kern="1200" dirty="0">
                <a:solidFill>
                  <a:srgbClr val="000066"/>
                </a:solidFill>
                <a:ea typeface="楷体_GB2312" pitchFamily="49" charset="-122"/>
              </a:rPr>
              <a:t>           </a:t>
            </a:r>
            <a:r>
              <a:rPr sz="2400" b="1" kern="1200" dirty="0">
                <a:solidFill>
                  <a:srgbClr val="000066"/>
                </a:solidFill>
                <a:ea typeface="楷体_GB2312" pitchFamily="49" charset="-122"/>
              </a:rPr>
              <a:t>时，</a:t>
            </a:r>
            <a:r>
              <a:rPr lang="en-US" sz="2400" b="1" kern="1200" dirty="0">
                <a:solidFill>
                  <a:srgbClr val="000066"/>
                </a:solidFill>
                <a:ea typeface="楷体_GB2312" pitchFamily="49" charset="-122"/>
              </a:rPr>
              <a:t>       </a:t>
            </a:r>
            <a:r>
              <a:rPr sz="2400" b="1" kern="1200" dirty="0">
                <a:solidFill>
                  <a:srgbClr val="000066"/>
                </a:solidFill>
                <a:ea typeface="楷体_GB2312" pitchFamily="49" charset="-122"/>
              </a:rPr>
              <a:t>。</a:t>
            </a:r>
            <a:endParaRPr sz="2400" b="1" kern="1200" dirty="0">
              <a:solidFill>
                <a:srgbClr val="000066"/>
              </a:solidFill>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3.2 TTL</a:t>
            </a:r>
            <a:r>
              <a:rPr lang="zh-CN" altLang="en-US" b="1" dirty="0">
                <a:solidFill>
                  <a:srgbClr val="FF0000"/>
                </a:solidFill>
                <a:latin typeface="黑体" panose="02010609060101010101" pitchFamily="49" charset="-122"/>
                <a:ea typeface="黑体" panose="02010609060101010101" pitchFamily="49" charset="-122"/>
              </a:rPr>
              <a:t>逻辑门电路</a:t>
            </a:r>
            <a:endParaRPr lang="zh-CN" altLang="en-US" b="1" dirty="0">
              <a:solidFill>
                <a:srgbClr val="FF0000"/>
              </a:solidFill>
              <a:latin typeface="黑体" panose="02010609060101010101" pitchFamily="49" charset="-122"/>
              <a:ea typeface="黑体" panose="02010609060101010101" pitchFamily="49" charset="-122"/>
            </a:endParaRPr>
          </a:p>
        </p:txBody>
      </p:sp>
      <p:graphicFrame>
        <p:nvGraphicFramePr>
          <p:cNvPr id="2" name="对象 631"/>
          <p:cNvGraphicFramePr>
            <a:graphicFrameLocks noChangeAspect="1"/>
          </p:cNvGraphicFramePr>
          <p:nvPr/>
        </p:nvGraphicFramePr>
        <p:xfrm>
          <a:off x="6691630" y="3267710"/>
          <a:ext cx="777240" cy="292100"/>
        </p:xfrm>
        <a:graphic>
          <a:graphicData uri="http://schemas.openxmlformats.org/presentationml/2006/ole">
            <mc:AlternateContent xmlns:mc="http://schemas.openxmlformats.org/markup-compatibility/2006">
              <mc:Choice xmlns:v="urn:schemas-microsoft-com:vml" Requires="v">
                <p:oleObj spid="_x0000_s11" name="" r:id="rId1" imgW="405765" imgH="152400" progId="Equation.DSMT4">
                  <p:embed/>
                </p:oleObj>
              </mc:Choice>
              <mc:Fallback>
                <p:oleObj name="" r:id="rId1" imgW="405765" imgH="152400" progId="Equation.DSMT4">
                  <p:embed/>
                  <p:pic>
                    <p:nvPicPr>
                      <p:cNvPr id="0" name="图片 10"/>
                      <p:cNvPicPr/>
                      <p:nvPr/>
                    </p:nvPicPr>
                    <p:blipFill>
                      <a:blip r:embed="rId2"/>
                      <a:stretch>
                        <a:fillRect/>
                      </a:stretch>
                    </p:blipFill>
                    <p:spPr>
                      <a:xfrm>
                        <a:off x="6691630" y="3267710"/>
                        <a:ext cx="777240" cy="292100"/>
                      </a:xfrm>
                      <a:prstGeom prst="rect">
                        <a:avLst/>
                      </a:prstGeom>
                      <a:noFill/>
                      <a:ln w="38100">
                        <a:noFill/>
                        <a:miter/>
                      </a:ln>
                    </p:spPr>
                  </p:pic>
                </p:oleObj>
              </mc:Fallback>
            </mc:AlternateContent>
          </a:graphicData>
        </a:graphic>
      </p:graphicFrame>
      <p:graphicFrame>
        <p:nvGraphicFramePr>
          <p:cNvPr id="3" name="对象 632"/>
          <p:cNvGraphicFramePr>
            <a:graphicFrameLocks noChangeAspect="1"/>
          </p:cNvGraphicFramePr>
          <p:nvPr/>
        </p:nvGraphicFramePr>
        <p:xfrm>
          <a:off x="7668260" y="3249930"/>
          <a:ext cx="704850" cy="287020"/>
        </p:xfrm>
        <a:graphic>
          <a:graphicData uri="http://schemas.openxmlformats.org/presentationml/2006/ole">
            <mc:AlternateContent xmlns:mc="http://schemas.openxmlformats.org/markup-compatibility/2006">
              <mc:Choice xmlns:v="urn:schemas-microsoft-com:vml" Requires="v">
                <p:oleObj spid="_x0000_s12" name="" r:id="rId3" imgW="342900" imgH="139700" progId="Equation.DSMT4">
                  <p:embed/>
                </p:oleObj>
              </mc:Choice>
              <mc:Fallback>
                <p:oleObj name="" r:id="rId3" imgW="342900" imgH="139700" progId="Equation.DSMT4">
                  <p:embed/>
                  <p:pic>
                    <p:nvPicPr>
                      <p:cNvPr id="0" name="图片 11"/>
                      <p:cNvPicPr/>
                      <p:nvPr/>
                    </p:nvPicPr>
                    <p:blipFill>
                      <a:blip r:embed="rId4"/>
                      <a:stretch>
                        <a:fillRect/>
                      </a:stretch>
                    </p:blipFill>
                    <p:spPr>
                      <a:xfrm>
                        <a:off x="7668260" y="3249930"/>
                        <a:ext cx="704850" cy="287020"/>
                      </a:xfrm>
                      <a:prstGeom prst="rect">
                        <a:avLst/>
                      </a:prstGeom>
                      <a:noFill/>
                      <a:ln w="38100">
                        <a:noFill/>
                        <a:miter/>
                      </a:ln>
                    </p:spPr>
                  </p:pic>
                </p:oleObj>
              </mc:Fallback>
            </mc:AlternateContent>
          </a:graphicData>
        </a:graphic>
      </p:graphicFrame>
      <p:graphicFrame>
        <p:nvGraphicFramePr>
          <p:cNvPr id="14" name="对象 631"/>
          <p:cNvGraphicFramePr>
            <a:graphicFrameLocks noChangeAspect="1"/>
          </p:cNvGraphicFramePr>
          <p:nvPr/>
        </p:nvGraphicFramePr>
        <p:xfrm>
          <a:off x="2971800" y="3707130"/>
          <a:ext cx="777240" cy="292100"/>
        </p:xfrm>
        <a:graphic>
          <a:graphicData uri="http://schemas.openxmlformats.org/presentationml/2006/ole">
            <mc:AlternateContent xmlns:mc="http://schemas.openxmlformats.org/markup-compatibility/2006">
              <mc:Choice xmlns:v="urn:schemas-microsoft-com:vml" Requires="v">
                <p:oleObj spid="_x0000_s15" name="" r:id="rId5" imgW="405765" imgH="152400" progId="Equation.DSMT4">
                  <p:embed/>
                </p:oleObj>
              </mc:Choice>
              <mc:Fallback>
                <p:oleObj name="" r:id="rId5" imgW="405765" imgH="152400" progId="Equation.DSMT4">
                  <p:embed/>
                  <p:pic>
                    <p:nvPicPr>
                      <p:cNvPr id="0" name="图片 10"/>
                      <p:cNvPicPr/>
                      <p:nvPr/>
                    </p:nvPicPr>
                    <p:blipFill>
                      <a:blip r:embed="rId2"/>
                      <a:stretch>
                        <a:fillRect/>
                      </a:stretch>
                    </p:blipFill>
                    <p:spPr>
                      <a:xfrm>
                        <a:off x="2971800" y="3707130"/>
                        <a:ext cx="777240" cy="292100"/>
                      </a:xfrm>
                      <a:prstGeom prst="rect">
                        <a:avLst/>
                      </a:prstGeom>
                      <a:noFill/>
                      <a:ln w="38100">
                        <a:noFill/>
                        <a:miter/>
                      </a:ln>
                    </p:spPr>
                  </p:pic>
                </p:oleObj>
              </mc:Fallback>
            </mc:AlternateContent>
          </a:graphicData>
        </a:graphic>
      </p:graphicFrame>
      <p:graphicFrame>
        <p:nvGraphicFramePr>
          <p:cNvPr id="4" name="对象 634"/>
          <p:cNvGraphicFramePr>
            <a:graphicFrameLocks noChangeAspect="1"/>
          </p:cNvGraphicFramePr>
          <p:nvPr/>
        </p:nvGraphicFramePr>
        <p:xfrm>
          <a:off x="4330700" y="3633470"/>
          <a:ext cx="720725" cy="372110"/>
        </p:xfrm>
        <a:graphic>
          <a:graphicData uri="http://schemas.openxmlformats.org/presentationml/2006/ole">
            <mc:AlternateContent xmlns:mc="http://schemas.openxmlformats.org/markup-compatibility/2006">
              <mc:Choice xmlns:v="urn:schemas-microsoft-com:vml" Requires="v">
                <p:oleObj spid="_x0000_s16" name="" r:id="rId6" imgW="342265" imgH="177800" progId="Equation.DSMT4">
                  <p:embed/>
                </p:oleObj>
              </mc:Choice>
              <mc:Fallback>
                <p:oleObj name="" r:id="rId6" imgW="342265" imgH="177800" progId="Equation.DSMT4">
                  <p:embed/>
                  <p:pic>
                    <p:nvPicPr>
                      <p:cNvPr id="0" name="图片 15"/>
                      <p:cNvPicPr/>
                      <p:nvPr/>
                    </p:nvPicPr>
                    <p:blipFill>
                      <a:blip r:embed="rId7"/>
                      <a:stretch>
                        <a:fillRect/>
                      </a:stretch>
                    </p:blipFill>
                    <p:spPr>
                      <a:xfrm>
                        <a:off x="4330700" y="3633470"/>
                        <a:ext cx="720725" cy="372110"/>
                      </a:xfrm>
                      <a:prstGeom prst="rect">
                        <a:avLst/>
                      </a:prstGeom>
                      <a:noFill/>
                      <a:ln w="38100">
                        <a:noFill/>
                        <a:miter/>
                      </a:ln>
                    </p:spPr>
                  </p:pic>
                </p:oleObj>
              </mc:Fallback>
            </mc:AlternateContent>
          </a:graphicData>
        </a:graphic>
      </p:graphicFrame>
      <p:grpSp>
        <p:nvGrpSpPr>
          <p:cNvPr id="18" name="组合 17"/>
          <p:cNvGrpSpPr/>
          <p:nvPr/>
        </p:nvGrpSpPr>
        <p:grpSpPr>
          <a:xfrm>
            <a:off x="1981200" y="4343400"/>
            <a:ext cx="5669280" cy="2085975"/>
            <a:chOff x="3120" y="6600"/>
            <a:chExt cx="8928" cy="3285"/>
          </a:xfrm>
        </p:grpSpPr>
        <p:sp>
          <p:nvSpPr>
            <p:cNvPr id="100" name="文本框 99"/>
            <p:cNvSpPr txBox="1"/>
            <p:nvPr/>
          </p:nvSpPr>
          <p:spPr>
            <a:xfrm>
              <a:off x="3840" y="9355"/>
              <a:ext cx="8208" cy="531"/>
            </a:xfrm>
            <a:prstGeom prst="rect">
              <a:avLst/>
            </a:prstGeom>
            <a:noFill/>
            <a:ln w="9525">
              <a:noFill/>
            </a:ln>
          </p:spPr>
          <p:txBody>
            <a:bodyPr wrap="square">
              <a:spAutoFit/>
            </a:bodyPr>
            <a:p>
              <a:r>
                <a:rPr sz="1600">
                  <a:latin typeface="Times New Roman" panose="02020603050405020304" charset="0"/>
                </a:rPr>
                <a:t>图3-33 高电平有效的同相和反相三态门逻辑符号</a:t>
              </a:r>
              <a:endParaRPr sz="1600">
                <a:latin typeface="Times New Roman" panose="02020603050405020304" charset="0"/>
              </a:endParaRPr>
            </a:p>
          </p:txBody>
        </p:sp>
        <p:pic>
          <p:nvPicPr>
            <p:cNvPr id="9257" name="图片 2694"/>
            <p:cNvPicPr>
              <a:picLocks noChangeAspect="1"/>
            </p:cNvPicPr>
            <p:nvPr/>
          </p:nvPicPr>
          <p:blipFill>
            <a:blip r:embed="rId8"/>
            <a:srcRect r="59532"/>
            <a:stretch>
              <a:fillRect/>
            </a:stretch>
          </p:blipFill>
          <p:spPr>
            <a:xfrm>
              <a:off x="3120" y="6600"/>
              <a:ext cx="4320" cy="2383"/>
            </a:xfrm>
            <a:prstGeom prst="rect">
              <a:avLst/>
            </a:prstGeom>
            <a:noFill/>
            <a:ln>
              <a:noFill/>
            </a:ln>
          </p:spPr>
        </p:pic>
        <p:pic>
          <p:nvPicPr>
            <p:cNvPr id="17" name="图片 2694"/>
            <p:cNvPicPr>
              <a:picLocks noChangeAspect="1"/>
            </p:cNvPicPr>
            <p:nvPr/>
          </p:nvPicPr>
          <p:blipFill>
            <a:blip r:embed="rId8"/>
            <a:srcRect l="61808"/>
            <a:stretch>
              <a:fillRect/>
            </a:stretch>
          </p:blipFill>
          <p:spPr>
            <a:xfrm>
              <a:off x="7560" y="6600"/>
              <a:ext cx="4077" cy="2383"/>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500" fill="hold">
                                          <p:stCondLst>
                                            <p:cond delay="0"/>
                                          </p:stCondLst>
                                        </p:cTn>
                                        <p:tgtEl>
                                          <p:spTgt spid="18"/>
                                        </p:tgtEl>
                                        <p:attrNameLst>
                                          <p:attrName>style.visibility</p:attrName>
                                        </p:attrNameLst>
                                      </p:cBhvr>
                                      <p:to>
                                        <p:strVal val="visible"/>
                                      </p:to>
                                    </p:set>
                                    <p:animEffect transition="in" filter="wheel(1)">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3.2 TTL</a:t>
            </a:r>
            <a:r>
              <a:rPr lang="zh-CN" altLang="en-US" b="1" dirty="0">
                <a:solidFill>
                  <a:srgbClr val="FF0000"/>
                </a:solidFill>
                <a:latin typeface="黑体" panose="02010609060101010101" pitchFamily="49" charset="-122"/>
                <a:ea typeface="黑体" panose="02010609060101010101" pitchFamily="49" charset="-122"/>
              </a:rPr>
              <a:t>逻辑门电路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3" name="Rectangle 3"/>
          <p:cNvSpPr>
            <a:spLocks noGrp="1"/>
          </p:cNvSpPr>
          <p:nvPr/>
        </p:nvSpPr>
        <p:spPr>
          <a:xfrm>
            <a:off x="990600" y="1295400"/>
            <a:ext cx="316611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2. 三态输出门的应用</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6147" name="Rectangle 3"/>
          <p:cNvSpPr>
            <a:spLocks noGrp="1"/>
          </p:cNvSpPr>
          <p:nvPr>
            <p:ph idx="1"/>
          </p:nvPr>
        </p:nvSpPr>
        <p:spPr>
          <a:xfrm>
            <a:off x="457200" y="1828800"/>
            <a:ext cx="8229600" cy="865505"/>
          </a:xfrm>
        </p:spPr>
        <p:txBody>
          <a:bodyPr vert="horz" wrap="square" lIns="91440" tIns="45720" rIns="91440" bIns="45720" anchor="t" anchorCtr="0"/>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ea typeface="楷体_GB2312" pitchFamily="49" charset="-122"/>
              </a:rPr>
              <a:t>在数字计算机中，有时需要在一组公共的导线 (总线) 上分时传输不同的信号，这通常都是用三态门来实现的。</a:t>
            </a:r>
            <a:endParaRPr lang="zh-CN" altLang="en-US" sz="2400" b="1" kern="1200" dirty="0">
              <a:solidFill>
                <a:srgbClr val="000066"/>
              </a:solidFill>
              <a:ea typeface="楷体_GB2312" pitchFamily="49" charset="-122"/>
            </a:endParaRPr>
          </a:p>
        </p:txBody>
      </p:sp>
      <p:grpSp>
        <p:nvGrpSpPr>
          <p:cNvPr id="11" name="组合 10"/>
          <p:cNvGrpSpPr/>
          <p:nvPr/>
        </p:nvGrpSpPr>
        <p:grpSpPr>
          <a:xfrm>
            <a:off x="3352800" y="2701290"/>
            <a:ext cx="3309620" cy="4146550"/>
            <a:chOff x="840" y="4320"/>
            <a:chExt cx="5212" cy="6530"/>
          </a:xfrm>
        </p:grpSpPr>
        <p:sp>
          <p:nvSpPr>
            <p:cNvPr id="100" name="文本框 99"/>
            <p:cNvSpPr txBox="1"/>
            <p:nvPr/>
          </p:nvSpPr>
          <p:spPr>
            <a:xfrm>
              <a:off x="840" y="10320"/>
              <a:ext cx="5213"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图3-34 信号通过三态门传输到总线</a:t>
              </a:r>
              <a:endParaRPr sz="1600">
                <a:latin typeface="Times New Roman" panose="02020603050405020304" charset="0"/>
                <a:ea typeface="宋体" panose="02010600030101010101" pitchFamily="2" charset="-122"/>
              </a:endParaRPr>
            </a:p>
          </p:txBody>
        </p:sp>
        <p:pic>
          <p:nvPicPr>
            <p:cNvPr id="9258" name="图片 2695"/>
            <p:cNvPicPr>
              <a:picLocks noChangeAspect="1"/>
            </p:cNvPicPr>
            <p:nvPr/>
          </p:nvPicPr>
          <p:blipFill>
            <a:blip r:embed="rId1"/>
            <a:stretch>
              <a:fillRect/>
            </a:stretch>
          </p:blipFill>
          <p:spPr>
            <a:xfrm>
              <a:off x="1216" y="4320"/>
              <a:ext cx="4040" cy="5941"/>
            </a:xfrm>
            <a:prstGeom prst="rect">
              <a:avLst/>
            </a:prstGeom>
            <a:noFill/>
            <a:ln>
              <a:noFill/>
            </a:ln>
          </p:spPr>
        </p:pic>
      </p:grpSp>
      <p:grpSp>
        <p:nvGrpSpPr>
          <p:cNvPr id="8" name="组合 7"/>
          <p:cNvGrpSpPr/>
          <p:nvPr/>
        </p:nvGrpSpPr>
        <p:grpSpPr>
          <a:xfrm>
            <a:off x="6372860" y="2895600"/>
            <a:ext cx="2508250" cy="2949575"/>
            <a:chOff x="5520" y="4793"/>
            <a:chExt cx="3950" cy="4645"/>
          </a:xfrm>
        </p:grpSpPr>
        <p:pic>
          <p:nvPicPr>
            <p:cNvPr id="9259" name="图片 2696"/>
            <p:cNvPicPr>
              <a:picLocks noChangeAspect="1"/>
            </p:cNvPicPr>
            <p:nvPr/>
          </p:nvPicPr>
          <p:blipFill>
            <a:blip r:embed="rId2"/>
            <a:stretch>
              <a:fillRect/>
            </a:stretch>
          </p:blipFill>
          <p:spPr>
            <a:xfrm>
              <a:off x="5520" y="4793"/>
              <a:ext cx="3950" cy="3660"/>
            </a:xfrm>
            <a:prstGeom prst="rect">
              <a:avLst/>
            </a:prstGeom>
            <a:noFill/>
            <a:ln>
              <a:noFill/>
            </a:ln>
          </p:spPr>
        </p:pic>
        <p:sp>
          <p:nvSpPr>
            <p:cNvPr id="5" name="文本框 4"/>
            <p:cNvSpPr txBox="1"/>
            <p:nvPr/>
          </p:nvSpPr>
          <p:spPr>
            <a:xfrm>
              <a:off x="5748" y="8520"/>
              <a:ext cx="3497" cy="919"/>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图3-35 信号在三态门</a:t>
              </a:r>
              <a:endParaRPr sz="1600">
                <a:latin typeface="Times New Roman" panose="02020603050405020304" charset="0"/>
                <a:ea typeface="宋体" panose="02010600030101010101" pitchFamily="2" charset="-122"/>
              </a:endParaRPr>
            </a:p>
            <a:p>
              <a:r>
                <a:rPr sz="1600">
                  <a:latin typeface="Times New Roman" panose="02020603050405020304" charset="0"/>
                  <a:sym typeface="+mn-ea"/>
                </a:rPr>
                <a:t>和</a:t>
              </a:r>
              <a:r>
                <a:rPr sz="1600">
                  <a:latin typeface="Times New Roman" panose="02020603050405020304" charset="0"/>
                  <a:ea typeface="宋体" panose="02010600030101010101" pitchFamily="2" charset="-122"/>
                </a:rPr>
                <a:t>总线之间双向传输</a:t>
              </a:r>
              <a:endParaRPr sz="1600">
                <a:latin typeface="Times New Roman" panose="02020603050405020304" charset="0"/>
                <a:ea typeface="宋体" panose="02010600030101010101" pitchFamily="2" charset="-122"/>
              </a:endParaRPr>
            </a:p>
          </p:txBody>
        </p:sp>
      </p:grpSp>
      <p:sp>
        <p:nvSpPr>
          <p:cNvPr id="6" name="Rectangle 3"/>
          <p:cNvSpPr>
            <a:spLocks noGrp="1"/>
          </p:cNvSpPr>
          <p:nvPr/>
        </p:nvSpPr>
        <p:spPr>
          <a:xfrm>
            <a:off x="457200" y="2743200"/>
            <a:ext cx="2997200" cy="163385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ea typeface="楷体_GB2312" pitchFamily="49" charset="-122"/>
              </a:rPr>
              <a:t>图3-34所示的电路表示信号通过三态门后再传输到总线上的情况。</a:t>
            </a:r>
            <a:endParaRPr lang="zh-CN" altLang="en-US" sz="2400" b="1" kern="1200" dirty="0">
              <a:solidFill>
                <a:srgbClr val="000066"/>
              </a:solidFill>
              <a:ea typeface="楷体_GB2312" pitchFamily="49" charset="-122"/>
            </a:endParaRPr>
          </a:p>
        </p:txBody>
      </p:sp>
      <p:sp>
        <p:nvSpPr>
          <p:cNvPr id="9" name="Rectangle 3"/>
          <p:cNvSpPr>
            <a:spLocks noGrp="1"/>
          </p:cNvSpPr>
          <p:nvPr/>
        </p:nvSpPr>
        <p:spPr>
          <a:xfrm>
            <a:off x="459740" y="4546600"/>
            <a:ext cx="2997200" cy="163385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ea typeface="楷体_GB2312" pitchFamily="49" charset="-122"/>
              </a:rPr>
              <a:t>图3-3</a:t>
            </a:r>
            <a:r>
              <a:rPr lang="en-US" altLang="zh-CN" sz="2400" b="1" kern="1200" dirty="0">
                <a:solidFill>
                  <a:srgbClr val="000066"/>
                </a:solidFill>
                <a:ea typeface="楷体_GB2312" pitchFamily="49" charset="-122"/>
              </a:rPr>
              <a:t>5</a:t>
            </a:r>
            <a:r>
              <a:rPr lang="zh-CN" altLang="en-US" sz="2400" b="1" kern="1200" dirty="0">
                <a:solidFill>
                  <a:srgbClr val="000066"/>
                </a:solidFill>
                <a:ea typeface="楷体_GB2312" pitchFamily="49" charset="-122"/>
              </a:rPr>
              <a:t>所示的电路表示信号在三态门和总线之间相互传输的情况。</a:t>
            </a:r>
            <a:endParaRPr lang="zh-CN" altLang="en-US" sz="2400" b="1" kern="1200" dirty="0">
              <a:solidFill>
                <a:srgbClr val="000066"/>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nodeType="clickEffect">
                                  <p:stCondLst>
                                    <p:cond delay="0"/>
                                  </p:stCondLst>
                                  <p:childTnLst>
                                    <p:set>
                                      <p:cBhvr>
                                        <p:cTn id="13" dur="500" fill="hold">
                                          <p:stCondLst>
                                            <p:cond delay="0"/>
                                          </p:stCondLst>
                                        </p:cTn>
                                        <p:tgtEl>
                                          <p:spTgt spid="11"/>
                                        </p:tgtEl>
                                        <p:attrNameLst>
                                          <p:attrName>style.visibility</p:attrName>
                                        </p:attrNameLst>
                                      </p:cBhvr>
                                      <p:to>
                                        <p:strVal val="visible"/>
                                      </p:to>
                                    </p:set>
                                    <p:animEffect transition="in" filter="wheel(1)">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up)">
                                      <p:cBhvr>
                                        <p:cTn id="19" dur="500"/>
                                        <p:tgtEl>
                                          <p:spTgt spid="9"/>
                                        </p:tgtEl>
                                      </p:cBhvr>
                                    </p:animEffect>
                                  </p:childTnLst>
                                </p:cTn>
                              </p:par>
                            </p:childTnLst>
                          </p:cTn>
                        </p:par>
                        <p:par>
                          <p:cTn id="20" fill="hold">
                            <p:stCondLst>
                              <p:cond delay="500"/>
                            </p:stCondLst>
                            <p:childTnLst>
                              <p:par>
                                <p:cTn id="21" presetID="2" presetClass="entr" presetSubtype="4"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6" name="Rectangle 2"/>
          <p:cNvSpPr>
            <a:spLocks noGrp="1"/>
          </p:cNvSpPr>
          <p:nvPr>
            <p:ph type="title"/>
          </p:nvPr>
        </p:nvSpPr>
        <p:spPr>
          <a:xfrm>
            <a:off x="567690" y="1198880"/>
            <a:ext cx="6006465"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3.2.5 </a:t>
            </a:r>
            <a:r>
              <a:rPr lang="zh-CN" altLang="en-US" sz="2800" i="0" dirty="0">
                <a:solidFill>
                  <a:srgbClr val="0070C0"/>
                </a:solidFill>
                <a:latin typeface="黑体" panose="02010609060101010101" pitchFamily="49" charset="-122"/>
                <a:ea typeface="黑体" panose="02010609060101010101" pitchFamily="49" charset="-122"/>
              </a:rPr>
              <a:t>TTL集成逻辑门使用注意事项</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3.2 TTL</a:t>
            </a:r>
            <a:r>
              <a:rPr lang="zh-CN" altLang="en-US" b="1" dirty="0">
                <a:solidFill>
                  <a:srgbClr val="FF0000"/>
                </a:solidFill>
                <a:latin typeface="黑体" panose="02010609060101010101" pitchFamily="49" charset="-122"/>
                <a:ea typeface="黑体" panose="02010609060101010101" pitchFamily="49" charset="-122"/>
              </a:rPr>
              <a:t>逻辑门电路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457200" y="2209800"/>
            <a:ext cx="8229600" cy="1642745"/>
          </a:xfrm>
        </p:spPr>
        <p:txBody>
          <a:bodyPr vert="horz" wrap="square" lIns="91440" tIns="45720" rIns="91440" bIns="45720" anchor="t" anchorCtr="0"/>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ea typeface="楷体_GB2312" pitchFamily="49" charset="-122"/>
              </a:rPr>
              <a:t>TTL集成逻辑门使用时都需要接正电源和地。74系列和54系列电源电压工作范围分别为(5±0.25)V和</a:t>
            </a:r>
            <a:r>
              <a:rPr lang="zh-CN" altLang="en-US" sz="2400" b="1" kern="1200" dirty="0">
                <a:solidFill>
                  <a:srgbClr val="000066"/>
                </a:solidFill>
                <a:ea typeface="楷体_GB2312" pitchFamily="49" charset="-122"/>
                <a:sym typeface="+mn-ea"/>
              </a:rPr>
              <a:t>(5±0.5)</a:t>
            </a:r>
            <a:r>
              <a:rPr lang="zh-CN" altLang="en-US" sz="2400" b="1" kern="1200" dirty="0">
                <a:solidFill>
                  <a:srgbClr val="000066"/>
                </a:solidFill>
                <a:ea typeface="楷体_GB2312" pitchFamily="49" charset="-122"/>
              </a:rPr>
              <a:t>V。为防止尖峰脉冲对电源的影响，需要对电源进行滤波处理。通常是在直流电源和地之间接滤波电容。</a:t>
            </a:r>
            <a:endParaRPr lang="zh-CN" altLang="en-US" sz="2400" b="1" kern="1200" dirty="0">
              <a:solidFill>
                <a:srgbClr val="000066"/>
              </a:solidFill>
              <a:ea typeface="楷体_GB2312" pitchFamily="49" charset="-122"/>
            </a:endParaRPr>
          </a:p>
        </p:txBody>
      </p:sp>
      <p:sp>
        <p:nvSpPr>
          <p:cNvPr id="2" name="Rectangle 3"/>
          <p:cNvSpPr>
            <a:spLocks noGrp="1"/>
          </p:cNvSpPr>
          <p:nvPr/>
        </p:nvSpPr>
        <p:spPr>
          <a:xfrm>
            <a:off x="990600" y="1752600"/>
            <a:ext cx="316611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1. 电源电压</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grpSp>
        <p:nvGrpSpPr>
          <p:cNvPr id="3" name="组合 2"/>
          <p:cNvGrpSpPr/>
          <p:nvPr/>
        </p:nvGrpSpPr>
        <p:grpSpPr>
          <a:xfrm>
            <a:off x="466090" y="3784600"/>
            <a:ext cx="8229600" cy="2881630"/>
            <a:chOff x="734" y="5960"/>
            <a:chExt cx="12960" cy="4538"/>
          </a:xfrm>
        </p:grpSpPr>
        <p:sp>
          <p:nvSpPr>
            <p:cNvPr id="5" name="Rectangle 3"/>
            <p:cNvSpPr>
              <a:spLocks noGrp="1"/>
            </p:cNvSpPr>
            <p:nvPr/>
          </p:nvSpPr>
          <p:spPr>
            <a:xfrm>
              <a:off x="734" y="6800"/>
              <a:ext cx="12960" cy="3699"/>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ea typeface="楷体_GB2312" pitchFamily="49" charset="-122"/>
                </a:rPr>
                <a:t>多余输入端的处理应该以不改变电路的逻辑状态为基本原则。对于与门或者与非门，多余的输入端可以直接接正电源或通过接1~10k</a:t>
              </a:r>
              <a:r>
                <a:rPr lang="zh-CN" altLang="en-US" sz="2400" b="1" kern="1200" dirty="0">
                  <a:solidFill>
                    <a:srgbClr val="000066"/>
                  </a:solidFill>
                  <a:ea typeface="楷体_GB2312" pitchFamily="49" charset="-122"/>
                  <a:sym typeface="Symbol" panose="05050102010706020507" charset="0"/>
                </a:rPr>
                <a:t></a:t>
              </a:r>
              <a:r>
                <a:rPr lang="zh-CN" altLang="en-US" sz="2400" b="1" kern="1200" dirty="0">
                  <a:solidFill>
                    <a:srgbClr val="000066"/>
                  </a:solidFill>
                  <a:ea typeface="楷体_GB2312" pitchFamily="49" charset="-122"/>
                </a:rPr>
                <a:t>的电阻后再接正电源，或门以及或非门多余的输入端可以直接接地。其次，多余的输入端也可以与正在使用的输入端并联在一起。此外，对于与非门的输入端也可以悬空使输入端电位抬高至高电平。</a:t>
              </a:r>
              <a:endParaRPr lang="zh-CN" altLang="en-US" sz="2400" b="1" kern="1200" dirty="0">
                <a:solidFill>
                  <a:srgbClr val="000066"/>
                </a:solidFill>
                <a:ea typeface="楷体_GB2312" pitchFamily="49" charset="-122"/>
              </a:endParaRPr>
            </a:p>
          </p:txBody>
        </p:sp>
        <p:sp>
          <p:nvSpPr>
            <p:cNvPr id="6" name="Rectangle 3"/>
            <p:cNvSpPr>
              <a:spLocks noGrp="1"/>
            </p:cNvSpPr>
            <p:nvPr/>
          </p:nvSpPr>
          <p:spPr>
            <a:xfrm>
              <a:off x="1574" y="5960"/>
              <a:ext cx="4986" cy="882"/>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2. 多余输入端的处理</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3.2 TTL</a:t>
            </a:r>
            <a:r>
              <a:rPr lang="zh-CN" altLang="en-US" b="1" dirty="0">
                <a:solidFill>
                  <a:srgbClr val="FF0000"/>
                </a:solidFill>
                <a:latin typeface="黑体" panose="02010609060101010101" pitchFamily="49" charset="-122"/>
                <a:ea typeface="黑体" panose="02010609060101010101" pitchFamily="49" charset="-122"/>
              </a:rPr>
              <a:t>逻辑门电路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859155" y="2209800"/>
            <a:ext cx="7407910" cy="249936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ea typeface="楷体_GB2312" pitchFamily="49" charset="-122"/>
              </a:rPr>
              <a:t>集成逻辑门的输出端不能直接接正电源或地，这样能造成门电路的损坏或逻辑状态的</a:t>
            </a:r>
            <a:r>
              <a:rPr lang="zh-CN" altLang="en-US" sz="2400" b="1" kern="1200" dirty="0">
                <a:solidFill>
                  <a:srgbClr val="000066"/>
                </a:solidFill>
                <a:ea typeface="楷体_GB2312" pitchFamily="49" charset="-122"/>
                <a:sym typeface="+mn-ea"/>
              </a:rPr>
              <a:t>改变</a:t>
            </a:r>
            <a:r>
              <a:rPr lang="zh-CN" altLang="en-US" sz="2400" b="1" kern="1200" dirty="0">
                <a:solidFill>
                  <a:srgbClr val="000066"/>
                </a:solidFill>
                <a:ea typeface="楷体_GB2312" pitchFamily="49" charset="-122"/>
              </a:rPr>
              <a:t>。对于具有推拉式输出结构的逻辑门，不允许将它们的输出端直接连接在一起。集电极开路的门电路输出端可以连接在一起，但输出端需要接正电源和负载电阻。</a:t>
            </a:r>
            <a:endParaRPr lang="zh-CN" altLang="en-US" sz="2400" b="1" kern="1200" dirty="0">
              <a:solidFill>
                <a:srgbClr val="000066"/>
              </a:solidFill>
              <a:ea typeface="楷体_GB2312" pitchFamily="49" charset="-122"/>
            </a:endParaRPr>
          </a:p>
        </p:txBody>
      </p:sp>
      <p:sp>
        <p:nvSpPr>
          <p:cNvPr id="2" name="Rectangle 3"/>
          <p:cNvSpPr>
            <a:spLocks noGrp="1"/>
          </p:cNvSpPr>
          <p:nvPr/>
        </p:nvSpPr>
        <p:spPr>
          <a:xfrm>
            <a:off x="1385570" y="1524000"/>
            <a:ext cx="316611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3. 输出端的连接</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6" name="Rectangle 2"/>
          <p:cNvSpPr>
            <a:spLocks noGrp="1"/>
          </p:cNvSpPr>
          <p:nvPr>
            <p:ph type="title"/>
          </p:nvPr>
        </p:nvSpPr>
        <p:spPr>
          <a:xfrm>
            <a:off x="567690" y="1122680"/>
            <a:ext cx="411480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3.3.1 </a:t>
            </a:r>
            <a:r>
              <a:rPr lang="zh-CN" altLang="en-US" sz="2800" i="0" dirty="0">
                <a:solidFill>
                  <a:srgbClr val="0070C0"/>
                </a:solidFill>
                <a:latin typeface="黑体" panose="02010609060101010101" pitchFamily="49" charset="-122"/>
                <a:ea typeface="黑体" panose="02010609060101010101" pitchFamily="49" charset="-122"/>
              </a:rPr>
              <a:t> MOS管开关特性</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3.3 </a:t>
            </a:r>
            <a:r>
              <a:rPr b="1" dirty="0">
                <a:solidFill>
                  <a:srgbClr val="FF0000"/>
                </a:solidFill>
                <a:latin typeface="黑体" panose="02010609060101010101" pitchFamily="49" charset="-122"/>
                <a:ea typeface="黑体" panose="02010609060101010101" pitchFamily="49" charset="-122"/>
              </a:rPr>
              <a:t>COMS逻辑门电路</a:t>
            </a:r>
            <a:endParaRPr b="1" dirty="0">
              <a:solidFill>
                <a:srgbClr val="FF000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457200" y="2438400"/>
            <a:ext cx="8229600" cy="4387215"/>
          </a:xfrm>
        </p:spPr>
        <p:txBody>
          <a:bodyPr vert="horz" wrap="square" lIns="91440" tIns="45720" rIns="91440" bIns="45720" anchor="t" anchorCtr="0"/>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ea typeface="楷体_GB2312" pitchFamily="49" charset="-122"/>
              </a:rPr>
              <a:t>N沟道增强型MOS管的结构示意图及符号如图3-36所示。它是在一块杂质浓度较低的P型硅衬底上，扩散两个掺杂浓度很高的N区(图中用N+表示)，并制作出两个电极：源极S和漏极D。然后在P型硅的表面上覆盖一层SiO</a:t>
            </a:r>
            <a:r>
              <a:rPr lang="zh-CN" altLang="en-US" sz="2400" b="1" kern="1200" baseline="-25000" dirty="0">
                <a:solidFill>
                  <a:srgbClr val="000066"/>
                </a:solidFill>
                <a:ea typeface="楷体_GB2312" pitchFamily="49" charset="-122"/>
              </a:rPr>
              <a:t>2</a:t>
            </a:r>
            <a:r>
              <a:rPr lang="zh-CN" altLang="en-US" sz="2400" b="1" kern="1200" dirty="0">
                <a:solidFill>
                  <a:srgbClr val="000066"/>
                </a:solidFill>
                <a:ea typeface="楷体_GB2312" pitchFamily="49" charset="-122"/>
              </a:rPr>
              <a:t>作为绝缘层，在源极和漏极之间的绝</a:t>
            </a:r>
            <a:endParaRPr lang="zh-CN" altLang="en-US"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zh-CN" altLang="en-US" sz="2400" b="1" kern="1200" dirty="0">
                <a:solidFill>
                  <a:srgbClr val="000066"/>
                </a:solidFill>
                <a:ea typeface="楷体_GB2312" pitchFamily="49" charset="-122"/>
              </a:rPr>
              <a:t>缘层上再制作一个栅极</a:t>
            </a:r>
            <a:endParaRPr lang="zh-CN" altLang="en-US"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zh-CN" altLang="en-US" sz="2400" b="1" kern="1200" dirty="0">
                <a:solidFill>
                  <a:srgbClr val="000066"/>
                </a:solidFill>
                <a:ea typeface="楷体_GB2312" pitchFamily="49" charset="-122"/>
              </a:rPr>
              <a:t>G。MOS管工作时，通</a:t>
            </a:r>
            <a:endParaRPr lang="zh-CN" altLang="en-US"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zh-CN" altLang="en-US" sz="2400" b="1" kern="1200" dirty="0">
                <a:solidFill>
                  <a:srgbClr val="000066"/>
                </a:solidFill>
                <a:ea typeface="楷体_GB2312" pitchFamily="49" charset="-122"/>
              </a:rPr>
              <a:t>常将衬底与源极或地连</a:t>
            </a:r>
            <a:endParaRPr lang="zh-CN" altLang="en-US"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zh-CN" altLang="en-US" sz="2400" b="1" kern="1200" dirty="0">
                <a:solidFill>
                  <a:srgbClr val="000066"/>
                </a:solidFill>
                <a:ea typeface="楷体_GB2312" pitchFamily="49" charset="-122"/>
              </a:rPr>
              <a:t>接在一起，以防止电流</a:t>
            </a:r>
            <a:endParaRPr lang="zh-CN" altLang="en-US"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zh-CN" altLang="en-US" sz="2400" b="1" kern="1200" dirty="0">
                <a:solidFill>
                  <a:srgbClr val="000066"/>
                </a:solidFill>
                <a:ea typeface="楷体_GB2312" pitchFamily="49" charset="-122"/>
              </a:rPr>
              <a:t>从衬底流入源极和导电</a:t>
            </a:r>
            <a:endParaRPr lang="zh-CN" altLang="en-US"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zh-CN" altLang="en-US" sz="2400" b="1" kern="1200" dirty="0">
                <a:solidFill>
                  <a:srgbClr val="000066"/>
                </a:solidFill>
                <a:ea typeface="楷体_GB2312" pitchFamily="49" charset="-122"/>
              </a:rPr>
              <a:t>沟道。</a:t>
            </a:r>
            <a:endParaRPr lang="zh-CN" altLang="en-US" sz="2400" b="1" kern="1200" dirty="0">
              <a:solidFill>
                <a:srgbClr val="000066"/>
              </a:solidFill>
              <a:ea typeface="楷体_GB2312" pitchFamily="49" charset="-122"/>
            </a:endParaRPr>
          </a:p>
        </p:txBody>
      </p:sp>
      <p:sp>
        <p:nvSpPr>
          <p:cNvPr id="2" name="Rectangle 3"/>
          <p:cNvSpPr>
            <a:spLocks noGrp="1"/>
          </p:cNvSpPr>
          <p:nvPr/>
        </p:nvSpPr>
        <p:spPr>
          <a:xfrm>
            <a:off x="990600" y="1606550"/>
            <a:ext cx="351218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1. N沟道增强型MOS管</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3" name="Rectangle 3"/>
          <p:cNvSpPr>
            <a:spLocks noGrp="1"/>
          </p:cNvSpPr>
          <p:nvPr/>
        </p:nvSpPr>
        <p:spPr>
          <a:xfrm>
            <a:off x="457200" y="2001520"/>
            <a:ext cx="4337050"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en-US" sz="2400" b="1" dirty="0">
                <a:solidFill>
                  <a:srgbClr val="070707"/>
                </a:solidFill>
                <a:latin typeface="Times New Roman" panose="02020603050405020304" charset="0"/>
                <a:ea typeface="楷体_GB2312" pitchFamily="49" charset="-122"/>
                <a:cs typeface="Times New Roman" panose="02020603050405020304" charset="0"/>
                <a:sym typeface="+mn-ea"/>
              </a:rPr>
              <a:t>(1) </a:t>
            </a:r>
            <a:r>
              <a:rPr sz="2400" b="1" dirty="0">
                <a:solidFill>
                  <a:srgbClr val="070707"/>
                </a:solidFill>
                <a:latin typeface="Times New Roman" panose="02020603050405020304" charset="0"/>
                <a:ea typeface="楷体_GB2312" pitchFamily="49" charset="-122"/>
                <a:cs typeface="Times New Roman" panose="02020603050405020304" charset="0"/>
              </a:rPr>
              <a:t>电路结构</a:t>
            </a:r>
            <a:r>
              <a:rPr lang="en-US" sz="2400" b="1" dirty="0">
                <a:solidFill>
                  <a:srgbClr val="070707"/>
                </a:solidFill>
                <a:latin typeface="Times New Roman" panose="02020603050405020304" charset="0"/>
                <a:ea typeface="楷体_GB2312" pitchFamily="49" charset="-122"/>
                <a:cs typeface="Times New Roman" panose="02020603050405020304" charset="0"/>
              </a:rPr>
              <a:t>。</a:t>
            </a:r>
            <a:endParaRPr lang="en-US" sz="2400" b="1" dirty="0">
              <a:solidFill>
                <a:srgbClr val="070707"/>
              </a:solidFill>
              <a:latin typeface="Times New Roman" panose="02020603050405020304" charset="0"/>
              <a:ea typeface="楷体_GB2312" pitchFamily="49" charset="-122"/>
              <a:cs typeface="Times New Roman" panose="02020603050405020304" charset="0"/>
            </a:endParaRPr>
          </a:p>
        </p:txBody>
      </p:sp>
      <p:grpSp>
        <p:nvGrpSpPr>
          <p:cNvPr id="11" name="组合 10"/>
          <p:cNvGrpSpPr/>
          <p:nvPr/>
        </p:nvGrpSpPr>
        <p:grpSpPr>
          <a:xfrm>
            <a:off x="3810000" y="4038600"/>
            <a:ext cx="5461000" cy="2842260"/>
            <a:chOff x="6600" y="5640"/>
            <a:chExt cx="8600" cy="4476"/>
          </a:xfrm>
        </p:grpSpPr>
        <p:grpSp>
          <p:nvGrpSpPr>
            <p:cNvPr id="9" name="组合 8"/>
            <p:cNvGrpSpPr/>
            <p:nvPr/>
          </p:nvGrpSpPr>
          <p:grpSpPr>
            <a:xfrm rot="0">
              <a:off x="6600" y="5640"/>
              <a:ext cx="7250" cy="3512"/>
              <a:chOff x="5640" y="4920"/>
              <a:chExt cx="7250" cy="3512"/>
            </a:xfrm>
          </p:grpSpPr>
          <p:pic>
            <p:nvPicPr>
              <p:cNvPr id="9260" name="图片 2697"/>
              <p:cNvPicPr>
                <a:picLocks noChangeAspect="1"/>
              </p:cNvPicPr>
              <p:nvPr/>
            </p:nvPicPr>
            <p:blipFill>
              <a:blip r:embed="rId1"/>
              <a:srcRect l="2081" t="13144" r="27069" b="13728"/>
              <a:stretch>
                <a:fillRect/>
              </a:stretch>
            </p:blipFill>
            <p:spPr>
              <a:xfrm>
                <a:off x="5640" y="4920"/>
                <a:ext cx="6381" cy="3512"/>
              </a:xfrm>
              <a:prstGeom prst="rect">
                <a:avLst/>
              </a:prstGeom>
              <a:noFill/>
              <a:ln>
                <a:noFill/>
              </a:ln>
            </p:spPr>
          </p:pic>
          <p:pic>
            <p:nvPicPr>
              <p:cNvPr id="4" name="图片 2697"/>
              <p:cNvPicPr>
                <a:picLocks noChangeAspect="1"/>
              </p:cNvPicPr>
              <p:nvPr/>
            </p:nvPicPr>
            <p:blipFill>
              <a:blip r:embed="rId1"/>
              <a:srcRect l="79448" t="19974" b="31260"/>
              <a:stretch>
                <a:fillRect/>
              </a:stretch>
            </p:blipFill>
            <p:spPr>
              <a:xfrm>
                <a:off x="11040" y="6000"/>
                <a:ext cx="1851" cy="2342"/>
              </a:xfrm>
              <a:prstGeom prst="rect">
                <a:avLst/>
              </a:prstGeom>
              <a:noFill/>
              <a:ln>
                <a:noFill/>
              </a:ln>
            </p:spPr>
          </p:pic>
        </p:grpSp>
        <p:sp>
          <p:nvSpPr>
            <p:cNvPr id="100" name="文本框 99"/>
            <p:cNvSpPr txBox="1"/>
            <p:nvPr/>
          </p:nvSpPr>
          <p:spPr>
            <a:xfrm>
              <a:off x="7200" y="9044"/>
              <a:ext cx="8000" cy="1073"/>
            </a:xfrm>
            <a:prstGeom prst="rect">
              <a:avLst/>
            </a:prstGeom>
            <a:noFill/>
            <a:ln w="9525">
              <a:noFill/>
            </a:ln>
          </p:spPr>
          <p:txBody>
            <a:bodyPr>
              <a:spAutoFit/>
            </a:bodyPr>
            <a:p>
              <a:pPr>
                <a:lnSpc>
                  <a:spcPct val="120000"/>
                </a:lnSpc>
              </a:pPr>
              <a:r>
                <a:rPr lang="en-US" sz="1600">
                  <a:latin typeface="Times New Roman" panose="02020603050405020304" charset="0"/>
                  <a:ea typeface="宋体" panose="02010600030101010101" pitchFamily="2" charset="-122"/>
                </a:rPr>
                <a:t>        (a) </a:t>
              </a:r>
              <a:r>
                <a:rPr lang="zh-CN" sz="1600">
                  <a:ea typeface="宋体" panose="02010600030101010101" pitchFamily="2" charset="-122"/>
                </a:rPr>
                <a:t>结构示意图                     </a:t>
              </a:r>
              <a:r>
                <a:rPr lang="en-US" sz="1600">
                  <a:latin typeface="Times New Roman" panose="02020603050405020304" charset="0"/>
                  <a:ea typeface="宋体" panose="02010600030101010101" pitchFamily="2" charset="-122"/>
                </a:rPr>
                <a:t>(b) MOS</a:t>
              </a:r>
              <a:r>
                <a:rPr lang="zh-CN" sz="1600">
                  <a:ea typeface="宋体" panose="02010600030101010101" pitchFamily="2" charset="-122"/>
                </a:rPr>
                <a:t>管符号</a:t>
              </a:r>
              <a:endParaRPr lang="zh-CN" sz="1600">
                <a:ea typeface="宋体" panose="02010600030101010101" pitchFamily="2" charset="-122"/>
              </a:endParaRPr>
            </a:p>
            <a:p>
              <a:pPr>
                <a:lnSpc>
                  <a:spcPct val="120000"/>
                </a:lnSpc>
              </a:pPr>
              <a:r>
                <a:rPr lang="en-US" altLang="zh-CN" sz="1600">
                  <a:ea typeface="宋体" panose="02010600030101010101" pitchFamily="2" charset="-122"/>
                </a:rPr>
                <a:t>              </a:t>
              </a:r>
              <a:r>
                <a:rPr lang="zh-CN" sz="1600">
                  <a:ea typeface="宋体" panose="02010600030101010101" pitchFamily="2" charset="-122"/>
                </a:rPr>
                <a:t>图</a:t>
              </a:r>
              <a:r>
                <a:rPr lang="en-US" sz="1600">
                  <a:latin typeface="Times New Roman" panose="02020603050405020304" charset="0"/>
                  <a:ea typeface="宋体" panose="02010600030101010101" pitchFamily="2" charset="-122"/>
                </a:rPr>
                <a:t>3-36 N</a:t>
              </a:r>
              <a:r>
                <a:rPr lang="zh-CN" sz="1600">
                  <a:ea typeface="宋体" panose="02010600030101010101" pitchFamily="2" charset="-122"/>
                </a:rPr>
                <a:t>沟道增强型</a:t>
              </a:r>
              <a:r>
                <a:rPr lang="en-US" sz="1600">
                  <a:latin typeface="Times New Roman" panose="02020603050405020304" charset="0"/>
                  <a:ea typeface="宋体" panose="02010600030101010101" pitchFamily="2" charset="-122"/>
                </a:rPr>
                <a:t>MOS</a:t>
              </a:r>
              <a:r>
                <a:rPr lang="zh-CN" sz="1600">
                  <a:ea typeface="宋体" panose="02010600030101010101" pitchFamily="2" charset="-122"/>
                </a:rPr>
                <a:t>管</a:t>
              </a:r>
              <a:endParaRPr lang="zh-CN" altLang="en-US" sz="16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right)">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3.3 </a:t>
            </a:r>
            <a:r>
              <a:rPr b="1" dirty="0">
                <a:solidFill>
                  <a:srgbClr val="FF0000"/>
                </a:solidFill>
                <a:latin typeface="黑体" panose="02010609060101010101" pitchFamily="49" charset="-122"/>
                <a:ea typeface="黑体" panose="02010609060101010101" pitchFamily="49" charset="-122"/>
              </a:rPr>
              <a:t>COMS逻辑门电路</a:t>
            </a:r>
            <a:endParaRPr b="1" dirty="0">
              <a:solidFill>
                <a:srgbClr val="FF000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457200" y="1828800"/>
            <a:ext cx="8229600" cy="1604010"/>
          </a:xfrm>
        </p:spPr>
        <p:txBody>
          <a:bodyPr vert="horz" wrap="square" lIns="91440" tIns="45720" rIns="91440" bIns="45720" anchor="t" anchorCtr="0"/>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ea typeface="楷体_GB2312" pitchFamily="49" charset="-122"/>
              </a:rPr>
              <a:t>在图3-36中，若在漏源之间加正向电压</a:t>
            </a:r>
            <a:r>
              <a:rPr lang="en-US" altLang="zh-CN" sz="2400" b="1" kern="1200" dirty="0">
                <a:solidFill>
                  <a:srgbClr val="000066"/>
                </a:solidFill>
                <a:ea typeface="楷体_GB2312" pitchFamily="49" charset="-122"/>
              </a:rPr>
              <a:t>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DS</a:t>
            </a:r>
            <a:r>
              <a:rPr lang="zh-CN" altLang="en-US" sz="2400" b="1" kern="1200" dirty="0">
                <a:solidFill>
                  <a:srgbClr val="000066"/>
                </a:solidFill>
                <a:ea typeface="楷体_GB2312" pitchFamily="49" charset="-122"/>
              </a:rPr>
              <a:t>，而栅源之间不加电压，即</a:t>
            </a:r>
            <a:r>
              <a:rPr lang="en-US" altLang="zh-CN" sz="2400" b="1" kern="1200" dirty="0">
                <a:solidFill>
                  <a:srgbClr val="000066"/>
                </a:solidFill>
                <a:ea typeface="楷体_GB2312" pitchFamily="49" charset="-122"/>
              </a:rPr>
              <a:t>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GS</a:t>
            </a:r>
            <a:r>
              <a:rPr lang="en-US" sz="2400" i="1">
                <a:latin typeface="Times New Roman" panose="02020603050405020304" charset="0"/>
                <a:ea typeface="宋体" panose="02010600030101010101" pitchFamily="2" charset="-122"/>
              </a:rPr>
              <a:t>= </a:t>
            </a:r>
            <a:r>
              <a:rPr lang="en-US" sz="2400">
                <a:latin typeface="Times New Roman" panose="02020603050405020304" charset="0"/>
                <a:ea typeface="宋体" panose="02010600030101010101" pitchFamily="2" charset="-122"/>
              </a:rPr>
              <a:t>0</a:t>
            </a:r>
            <a:r>
              <a:rPr lang="zh-CN" altLang="en-US" sz="2400" b="1" kern="1200" dirty="0">
                <a:solidFill>
                  <a:srgbClr val="000066"/>
                </a:solidFill>
                <a:ea typeface="楷体_GB2312" pitchFamily="49" charset="-122"/>
              </a:rPr>
              <a:t>，则漏极区、衬底和源极区三者之间形成两个背向的PN结串联在一起，因此，漏源之间不存在导电沟道，不会产生漏极电流。</a:t>
            </a:r>
            <a:endParaRPr lang="zh-CN" altLang="en-US" sz="2400" b="1" kern="1200" dirty="0">
              <a:solidFill>
                <a:srgbClr val="000066"/>
              </a:solidFill>
              <a:ea typeface="楷体_GB2312" pitchFamily="49" charset="-122"/>
            </a:endParaRPr>
          </a:p>
        </p:txBody>
      </p:sp>
      <p:sp>
        <p:nvSpPr>
          <p:cNvPr id="3" name="Rectangle 3"/>
          <p:cNvSpPr>
            <a:spLocks noGrp="1"/>
          </p:cNvSpPr>
          <p:nvPr/>
        </p:nvSpPr>
        <p:spPr>
          <a:xfrm>
            <a:off x="457200" y="1239520"/>
            <a:ext cx="4337050"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en-US" sz="2400" b="1" dirty="0">
                <a:solidFill>
                  <a:srgbClr val="070707"/>
                </a:solidFill>
                <a:latin typeface="Times New Roman" panose="02020603050405020304" charset="0"/>
                <a:ea typeface="楷体_GB2312" pitchFamily="49" charset="-122"/>
                <a:cs typeface="Times New Roman" panose="02020603050405020304" charset="0"/>
                <a:sym typeface="+mn-ea"/>
              </a:rPr>
              <a:t>(2) </a:t>
            </a:r>
            <a:r>
              <a:rPr sz="2400" b="1" dirty="0">
                <a:solidFill>
                  <a:srgbClr val="070707"/>
                </a:solidFill>
                <a:latin typeface="Times New Roman" panose="02020603050405020304" charset="0"/>
                <a:ea typeface="楷体_GB2312" pitchFamily="49" charset="-122"/>
                <a:cs typeface="Times New Roman" panose="02020603050405020304" charset="0"/>
              </a:rPr>
              <a:t>工作原理</a:t>
            </a:r>
            <a:endParaRPr sz="2400" b="1" dirty="0">
              <a:solidFill>
                <a:srgbClr val="070707"/>
              </a:solidFill>
              <a:latin typeface="Times New Roman" panose="02020603050405020304" charset="0"/>
              <a:ea typeface="楷体_GB2312" pitchFamily="49" charset="-122"/>
              <a:cs typeface="Times New Roman" panose="02020603050405020304" charset="0"/>
            </a:endParaRPr>
          </a:p>
        </p:txBody>
      </p:sp>
      <p:pic>
        <p:nvPicPr>
          <p:cNvPr id="9260" name="图片 2697"/>
          <p:cNvPicPr>
            <a:picLocks noChangeAspect="1"/>
          </p:cNvPicPr>
          <p:nvPr/>
        </p:nvPicPr>
        <p:blipFill>
          <a:blip r:embed="rId1"/>
          <a:srcRect l="-4181" t="5273" r="27069" b="6919"/>
          <a:stretch>
            <a:fillRect/>
          </a:stretch>
        </p:blipFill>
        <p:spPr>
          <a:xfrm>
            <a:off x="1905000" y="3505200"/>
            <a:ext cx="4410075" cy="2677795"/>
          </a:xfrm>
          <a:prstGeom prst="rect">
            <a:avLst/>
          </a:prstGeom>
          <a:noFill/>
          <a:ln>
            <a:noFill/>
          </a:ln>
        </p:spPr>
      </p:pic>
      <p:sp>
        <p:nvSpPr>
          <p:cNvPr id="100" name="文本框 99"/>
          <p:cNvSpPr txBox="1"/>
          <p:nvPr/>
        </p:nvSpPr>
        <p:spPr>
          <a:xfrm>
            <a:off x="2057400" y="6131560"/>
            <a:ext cx="3823335" cy="386080"/>
          </a:xfrm>
          <a:prstGeom prst="rect">
            <a:avLst/>
          </a:prstGeom>
          <a:noFill/>
          <a:ln w="9525">
            <a:noFill/>
          </a:ln>
        </p:spPr>
        <p:txBody>
          <a:bodyPr wrap="square">
            <a:spAutoFit/>
          </a:bodyPr>
          <a:p>
            <a:pPr>
              <a:lnSpc>
                <a:spcPct val="120000"/>
              </a:lnSpc>
            </a:pPr>
            <a:r>
              <a:rPr lang="en-US" sz="1600">
                <a:latin typeface="Times New Roman" panose="02020603050405020304" charset="0"/>
                <a:ea typeface="宋体" panose="02010600030101010101" pitchFamily="2" charset="-122"/>
              </a:rPr>
              <a:t>        </a:t>
            </a:r>
            <a:r>
              <a:rPr lang="en-US" altLang="zh-CN" sz="1600">
                <a:ea typeface="宋体" panose="02010600030101010101" pitchFamily="2" charset="-122"/>
              </a:rPr>
              <a:t>    </a:t>
            </a:r>
            <a:r>
              <a:rPr lang="zh-CN" sz="1600">
                <a:ea typeface="宋体" panose="02010600030101010101" pitchFamily="2" charset="-122"/>
              </a:rPr>
              <a:t>图</a:t>
            </a:r>
            <a:r>
              <a:rPr lang="en-US" sz="1600">
                <a:latin typeface="Times New Roman" panose="02020603050405020304" charset="0"/>
                <a:ea typeface="宋体" panose="02010600030101010101" pitchFamily="2" charset="-122"/>
              </a:rPr>
              <a:t>3-36 N</a:t>
            </a:r>
            <a:r>
              <a:rPr lang="zh-CN" sz="1600">
                <a:ea typeface="宋体" panose="02010600030101010101" pitchFamily="2" charset="-122"/>
              </a:rPr>
              <a:t>沟道增强型</a:t>
            </a:r>
            <a:r>
              <a:rPr lang="en-US" sz="1600">
                <a:latin typeface="Times New Roman" panose="02020603050405020304" charset="0"/>
                <a:ea typeface="宋体" panose="02010600030101010101" pitchFamily="2" charset="-122"/>
              </a:rPr>
              <a:t>MOS</a:t>
            </a:r>
            <a:r>
              <a:rPr lang="zh-CN" sz="1600">
                <a:ea typeface="宋体" panose="02010600030101010101" pitchFamily="2" charset="-122"/>
              </a:rPr>
              <a:t>管</a:t>
            </a:r>
            <a:endParaRPr lang="zh-CN" altLang="en-US" sz="160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3.3 </a:t>
            </a:r>
            <a:r>
              <a:rPr b="1" dirty="0">
                <a:solidFill>
                  <a:srgbClr val="FF0000"/>
                </a:solidFill>
                <a:latin typeface="黑体" panose="02010609060101010101" pitchFamily="49" charset="-122"/>
                <a:ea typeface="黑体" panose="02010609060101010101" pitchFamily="49" charset="-122"/>
              </a:rPr>
              <a:t>COMS逻辑门电路</a:t>
            </a:r>
            <a:endParaRPr b="1" dirty="0">
              <a:solidFill>
                <a:srgbClr val="FF000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457200" y="1222375"/>
            <a:ext cx="8229600" cy="2612390"/>
          </a:xfrm>
        </p:spPr>
        <p:txBody>
          <a:bodyPr vert="horz" wrap="square" lIns="91440" tIns="45720" rIns="91440" bIns="45720" anchor="t" anchorCtr="0"/>
          <a:p>
            <a:pPr marL="0" indent="0" algn="just" eaLnBrk="1" latinLnBrk="0" hangingPunct="1">
              <a:lnSpc>
                <a:spcPct val="10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ea typeface="楷体_GB2312" pitchFamily="49" charset="-122"/>
              </a:rPr>
              <a:t>在在图3-37中，当在栅源之间加正向电压</a:t>
            </a:r>
            <a:r>
              <a:rPr lang="en-US" altLang="zh-CN" sz="2400" b="1" kern="1200" dirty="0">
                <a:solidFill>
                  <a:srgbClr val="000066"/>
                </a:solidFill>
                <a:ea typeface="楷体_GB2312" pitchFamily="49" charset="-122"/>
              </a:rPr>
              <a:t>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GS </a:t>
            </a:r>
            <a:r>
              <a:rPr lang="zh-CN" altLang="en-US" sz="2400" b="1" kern="1200" dirty="0">
                <a:solidFill>
                  <a:srgbClr val="000066"/>
                </a:solidFill>
                <a:ea typeface="楷体_GB2312" pitchFamily="49" charset="-122"/>
              </a:rPr>
              <a:t>时，漏源之间短路时，即</a:t>
            </a:r>
            <a:r>
              <a:rPr lang="en-US" altLang="zh-CN" sz="2400" b="1" kern="1200" dirty="0">
                <a:solidFill>
                  <a:srgbClr val="000066"/>
                </a:solidFill>
                <a:ea typeface="楷体_GB2312" pitchFamily="49" charset="-122"/>
              </a:rPr>
              <a:t>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DS</a:t>
            </a:r>
            <a:r>
              <a:rPr lang="en-US" sz="2400" i="1">
                <a:latin typeface="Times New Roman" panose="02020603050405020304" charset="0"/>
                <a:ea typeface="宋体" panose="02010600030101010101" pitchFamily="2" charset="-122"/>
                <a:sym typeface="+mn-ea"/>
              </a:rPr>
              <a:t>= </a:t>
            </a:r>
            <a:r>
              <a:rPr lang="en-US" sz="2400">
                <a:latin typeface="Times New Roman" panose="02020603050405020304" charset="0"/>
                <a:ea typeface="宋体" panose="02010600030101010101" pitchFamily="2" charset="-122"/>
                <a:sym typeface="+mn-ea"/>
              </a:rPr>
              <a:t>0</a:t>
            </a:r>
            <a:r>
              <a:rPr lang="zh-CN" altLang="en-US" sz="2400" b="1" kern="1200" dirty="0">
                <a:solidFill>
                  <a:srgbClr val="000066"/>
                </a:solidFill>
                <a:ea typeface="楷体_GB2312" pitchFamily="49" charset="-122"/>
              </a:rPr>
              <a:t>，由于电场的作用，衬底中的自由电子被吸引到与二氧化硅层的交界面处。随着</a:t>
            </a:r>
            <a:r>
              <a:rPr lang="en-US" altLang="zh-CN" sz="2400" b="1" kern="1200" dirty="0">
                <a:solidFill>
                  <a:srgbClr val="000066"/>
                </a:solidFill>
                <a:ea typeface="楷体_GB2312" pitchFamily="49" charset="-122"/>
              </a:rPr>
              <a:t>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GS </a:t>
            </a:r>
            <a:r>
              <a:rPr lang="zh-CN" altLang="en-US" sz="2400" b="1" kern="1200" dirty="0">
                <a:solidFill>
                  <a:srgbClr val="000066"/>
                </a:solidFill>
                <a:ea typeface="楷体_GB2312" pitchFamily="49" charset="-122"/>
              </a:rPr>
              <a:t>的增加，将会吸引更多的自由电子，从而在漏极和源极之间产生导电沟道。使漏源间产生导电沟道时的</a:t>
            </a:r>
            <a:r>
              <a:rPr lang="en-US" altLang="zh-CN" sz="2400" b="1" kern="1200" dirty="0">
                <a:solidFill>
                  <a:srgbClr val="000066"/>
                </a:solidFill>
                <a:ea typeface="楷体_GB2312" pitchFamily="49" charset="-122"/>
              </a:rPr>
              <a:t>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GS </a:t>
            </a:r>
            <a:r>
              <a:rPr lang="zh-CN" altLang="en-US" sz="2400" b="1" kern="1200" dirty="0">
                <a:solidFill>
                  <a:srgbClr val="000066"/>
                </a:solidFill>
                <a:ea typeface="楷体_GB2312" pitchFamily="49" charset="-122"/>
              </a:rPr>
              <a:t>电压称为开启电压，用</a:t>
            </a:r>
            <a:r>
              <a:rPr lang="zh-CN" altLang="en-US" sz="2400" b="1" i="1" kern="1200" dirty="0">
                <a:solidFill>
                  <a:srgbClr val="000066"/>
                </a:solidFill>
                <a:ea typeface="楷体_GB2312" pitchFamily="49" charset="-122"/>
              </a:rPr>
              <a:t>V</a:t>
            </a:r>
            <a:r>
              <a:rPr lang="zh-CN" altLang="en-US" sz="2400" b="1" kern="1200" baseline="-25000" dirty="0">
                <a:solidFill>
                  <a:srgbClr val="000066"/>
                </a:solidFill>
                <a:ea typeface="楷体_GB2312" pitchFamily="49" charset="-122"/>
              </a:rPr>
              <a:t>T</a:t>
            </a:r>
            <a:r>
              <a:rPr lang="zh-CN" altLang="en-US" sz="2400" b="1" kern="1200" dirty="0">
                <a:solidFill>
                  <a:srgbClr val="000066"/>
                </a:solidFill>
                <a:ea typeface="楷体_GB2312" pitchFamily="49" charset="-122"/>
              </a:rPr>
              <a:t>表示。漏源间出现导电沟道后，如果再在漏极和源极之间加电压</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DS</a:t>
            </a:r>
            <a:r>
              <a:rPr lang="zh-CN" altLang="en-US" sz="2400" b="1" kern="1200" dirty="0">
                <a:solidFill>
                  <a:srgbClr val="000066"/>
                </a:solidFill>
                <a:ea typeface="楷体_GB2312" pitchFamily="49" charset="-122"/>
              </a:rPr>
              <a:t>，将会产生漏极电流</a:t>
            </a:r>
            <a:r>
              <a:rPr lang="en-US" altLang="zh-CN" sz="2400" b="1" kern="1200" dirty="0">
                <a:solidFill>
                  <a:srgbClr val="000066"/>
                </a:solidFill>
                <a:ea typeface="楷体_GB2312" pitchFamily="49" charset="-122"/>
              </a:rPr>
              <a:t> </a:t>
            </a:r>
            <a:r>
              <a:rPr lang="en-US" sz="2400" i="1">
                <a:latin typeface="Times New Roman" panose="02020603050405020304" charset="0"/>
                <a:ea typeface="宋体" panose="02010600030101010101" pitchFamily="2" charset="-122"/>
                <a:sym typeface="+mn-ea"/>
              </a:rPr>
              <a:t>i</a:t>
            </a:r>
            <a:r>
              <a:rPr lang="en-US" sz="2400" baseline="-25000">
                <a:latin typeface="Times New Roman" panose="02020603050405020304" charset="0"/>
                <a:ea typeface="宋体" panose="02010600030101010101" pitchFamily="2" charset="-122"/>
                <a:sym typeface="+mn-ea"/>
              </a:rPr>
              <a:t>D</a:t>
            </a:r>
            <a:r>
              <a:rPr lang="zh-CN" altLang="en-US" sz="2400" b="1" kern="1200" dirty="0">
                <a:solidFill>
                  <a:srgbClr val="000066"/>
                </a:solidFill>
                <a:ea typeface="楷体_GB2312" pitchFamily="49" charset="-122"/>
              </a:rPr>
              <a:t>，如图3-38所示。</a:t>
            </a:r>
            <a:endParaRPr lang="zh-CN" altLang="en-US" sz="2400" b="1" kern="1200" dirty="0">
              <a:solidFill>
                <a:srgbClr val="000066"/>
              </a:solidFill>
              <a:ea typeface="楷体_GB2312" pitchFamily="49" charset="-122"/>
            </a:endParaRPr>
          </a:p>
        </p:txBody>
      </p:sp>
      <p:grpSp>
        <p:nvGrpSpPr>
          <p:cNvPr id="6" name="组合 5"/>
          <p:cNvGrpSpPr/>
          <p:nvPr/>
        </p:nvGrpSpPr>
        <p:grpSpPr>
          <a:xfrm>
            <a:off x="1094740" y="3962400"/>
            <a:ext cx="3520440" cy="2936240"/>
            <a:chOff x="1724" y="6240"/>
            <a:chExt cx="5544" cy="4624"/>
          </a:xfrm>
        </p:grpSpPr>
        <p:sp>
          <p:nvSpPr>
            <p:cNvPr id="100" name="文本框 99"/>
            <p:cNvSpPr txBox="1"/>
            <p:nvPr/>
          </p:nvSpPr>
          <p:spPr>
            <a:xfrm>
              <a:off x="1724" y="10256"/>
              <a:ext cx="5544" cy="608"/>
            </a:xfrm>
            <a:prstGeom prst="rect">
              <a:avLst/>
            </a:prstGeom>
            <a:noFill/>
            <a:ln w="9525">
              <a:noFill/>
            </a:ln>
          </p:spPr>
          <p:txBody>
            <a:bodyPr wrap="square">
              <a:spAutoFit/>
            </a:bodyPr>
            <a:p>
              <a:pPr>
                <a:lnSpc>
                  <a:spcPct val="120000"/>
                </a:lnSpc>
              </a:pPr>
              <a:r>
                <a:rPr sz="1600">
                  <a:ea typeface="宋体" panose="02010600030101010101" pitchFamily="2" charset="-122"/>
                </a:rPr>
                <a:t>图3-37 </a:t>
              </a:r>
              <a:r>
                <a:rPr lang="en-US" sz="1600" i="1">
                  <a:latin typeface="Times New Roman" panose="02020603050405020304" charset="0"/>
                  <a:sym typeface="+mn-ea"/>
                </a:rPr>
                <a:t>υ</a:t>
              </a:r>
              <a:r>
                <a:rPr lang="en-US" sz="1600" baseline="-25000">
                  <a:latin typeface="Times New Roman" panose="02020603050405020304" charset="0"/>
                  <a:sym typeface="+mn-ea"/>
                </a:rPr>
                <a:t>GS </a:t>
              </a:r>
              <a:r>
                <a:rPr sz="1600">
                  <a:ea typeface="宋体" panose="02010600030101010101" pitchFamily="2" charset="-122"/>
                </a:rPr>
                <a:t>加正向电压形成导电沟道</a:t>
              </a:r>
              <a:endParaRPr sz="1600">
                <a:ea typeface="宋体" panose="02010600030101010101" pitchFamily="2" charset="-122"/>
              </a:endParaRPr>
            </a:p>
          </p:txBody>
        </p:sp>
        <p:pic>
          <p:nvPicPr>
            <p:cNvPr id="9261" name="图片 2698"/>
            <p:cNvPicPr>
              <a:picLocks noChangeAspect="1"/>
            </p:cNvPicPr>
            <p:nvPr/>
          </p:nvPicPr>
          <p:blipFill>
            <a:blip r:embed="rId1"/>
            <a:stretch>
              <a:fillRect/>
            </a:stretch>
          </p:blipFill>
          <p:spPr>
            <a:xfrm>
              <a:off x="2040" y="6240"/>
              <a:ext cx="4652" cy="4047"/>
            </a:xfrm>
            <a:prstGeom prst="rect">
              <a:avLst/>
            </a:prstGeom>
            <a:noFill/>
            <a:ln>
              <a:noFill/>
            </a:ln>
          </p:spPr>
        </p:pic>
      </p:grpSp>
      <p:grpSp>
        <p:nvGrpSpPr>
          <p:cNvPr id="5" name="组合 4"/>
          <p:cNvGrpSpPr/>
          <p:nvPr/>
        </p:nvGrpSpPr>
        <p:grpSpPr>
          <a:xfrm>
            <a:off x="4802505" y="3886200"/>
            <a:ext cx="3989070" cy="2992755"/>
            <a:chOff x="7563" y="6120"/>
            <a:chExt cx="6282" cy="4713"/>
          </a:xfrm>
        </p:grpSpPr>
        <p:pic>
          <p:nvPicPr>
            <p:cNvPr id="9262" name="图片 2699"/>
            <p:cNvPicPr>
              <a:picLocks noChangeAspect="1"/>
            </p:cNvPicPr>
            <p:nvPr/>
          </p:nvPicPr>
          <p:blipFill>
            <a:blip r:embed="rId2"/>
            <a:stretch>
              <a:fillRect/>
            </a:stretch>
          </p:blipFill>
          <p:spPr>
            <a:xfrm>
              <a:off x="8160" y="6120"/>
              <a:ext cx="4803" cy="4026"/>
            </a:xfrm>
            <a:prstGeom prst="rect">
              <a:avLst/>
            </a:prstGeom>
            <a:noFill/>
            <a:ln>
              <a:noFill/>
            </a:ln>
          </p:spPr>
        </p:pic>
        <p:sp>
          <p:nvSpPr>
            <p:cNvPr id="4" name="文本框 3"/>
            <p:cNvSpPr txBox="1"/>
            <p:nvPr/>
          </p:nvSpPr>
          <p:spPr>
            <a:xfrm>
              <a:off x="7563" y="10303"/>
              <a:ext cx="6283" cy="531"/>
            </a:xfrm>
            <a:prstGeom prst="rect">
              <a:avLst/>
            </a:prstGeom>
            <a:noFill/>
            <a:ln w="9525">
              <a:noFill/>
            </a:ln>
          </p:spPr>
          <p:txBody>
            <a:bodyPr wrap="square">
              <a:spAutoFit/>
            </a:bodyPr>
            <a:p>
              <a:r>
                <a:rPr lang="zh-CN" sz="1600">
                  <a:ea typeface="宋体" panose="02010600030101010101" pitchFamily="2" charset="-122"/>
                </a:rPr>
                <a:t>图</a:t>
              </a:r>
              <a:r>
                <a:rPr lang="en-US" sz="1600">
                  <a:latin typeface="Times New Roman" panose="02020603050405020304" charset="0"/>
                  <a:ea typeface="宋体" panose="02010600030101010101" pitchFamily="2" charset="-122"/>
                </a:rPr>
                <a:t>3-38 </a:t>
              </a:r>
              <a:r>
                <a:rPr lang="en-US" sz="1600" i="1">
                  <a:latin typeface="Times New Roman" panose="02020603050405020304" charset="0"/>
                  <a:ea typeface="宋体" panose="02010600030101010101" pitchFamily="2" charset="-122"/>
                </a:rPr>
                <a:t>υ</a:t>
              </a:r>
              <a:r>
                <a:rPr lang="en-US" sz="1600" baseline="-25000">
                  <a:latin typeface="Times New Roman" panose="02020603050405020304" charset="0"/>
                  <a:ea typeface="宋体" panose="02010600030101010101" pitchFamily="2" charset="-122"/>
                </a:rPr>
                <a:t>GS</a:t>
              </a:r>
              <a:r>
                <a:rPr lang="zh-CN" sz="1600">
                  <a:ea typeface="宋体" panose="02010600030101010101" pitchFamily="2" charset="-122"/>
                </a:rPr>
                <a:t>和</a:t>
              </a:r>
              <a:r>
                <a:rPr lang="en-US" sz="1600" i="1">
                  <a:latin typeface="Times New Roman" panose="02020603050405020304" charset="0"/>
                  <a:ea typeface="宋体" panose="02010600030101010101" pitchFamily="2" charset="-122"/>
                </a:rPr>
                <a:t>υ</a:t>
              </a:r>
              <a:r>
                <a:rPr lang="en-US" sz="1600" baseline="-25000">
                  <a:latin typeface="Times New Roman" panose="02020603050405020304" charset="0"/>
                  <a:ea typeface="宋体" panose="02010600030101010101" pitchFamily="2" charset="-122"/>
                </a:rPr>
                <a:t>DS</a:t>
              </a:r>
              <a:r>
                <a:rPr lang="zh-CN" sz="1600">
                  <a:ea typeface="宋体" panose="02010600030101010101" pitchFamily="2" charset="-122"/>
                </a:rPr>
                <a:t>均加正向电压形成漏极电流</a:t>
              </a:r>
              <a:endParaRPr lang="zh-CN" altLang="en-US" sz="16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3.3 </a:t>
            </a:r>
            <a:r>
              <a:rPr b="1" dirty="0">
                <a:solidFill>
                  <a:srgbClr val="FF0000"/>
                </a:solidFill>
                <a:latin typeface="黑体" panose="02010609060101010101" pitchFamily="49" charset="-122"/>
                <a:ea typeface="黑体" panose="02010609060101010101" pitchFamily="49" charset="-122"/>
              </a:rPr>
              <a:t>COMS逻辑门电路</a:t>
            </a:r>
            <a:endParaRPr b="1" dirty="0">
              <a:solidFill>
                <a:srgbClr val="FF000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457200" y="1676400"/>
            <a:ext cx="8229600" cy="1998980"/>
          </a:xfrm>
        </p:spPr>
        <p:txBody>
          <a:bodyPr vert="horz" wrap="square" lIns="91440" tIns="45720" rIns="91440" bIns="45720" anchor="t" anchorCtr="0"/>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ea typeface="楷体_GB2312" pitchFamily="49" charset="-122"/>
              </a:rPr>
              <a:t>图3-39 (a) 为N沟道增强型MOS管的转移特性曲线，它反映的是在漏源电压</a:t>
            </a:r>
            <a:r>
              <a:rPr lang="en-US" altLang="zh-CN" sz="2400" b="1" kern="1200" dirty="0">
                <a:solidFill>
                  <a:srgbClr val="000066"/>
                </a:solidFill>
                <a:ea typeface="楷体_GB2312" pitchFamily="49" charset="-122"/>
              </a:rPr>
              <a:t>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DS </a:t>
            </a:r>
            <a:r>
              <a:rPr lang="zh-CN" altLang="en-US" sz="2400" b="1" kern="1200" dirty="0">
                <a:solidFill>
                  <a:srgbClr val="000066"/>
                </a:solidFill>
                <a:ea typeface="楷体_GB2312" pitchFamily="49" charset="-122"/>
              </a:rPr>
              <a:t>一定的情况下，栅源电压</a:t>
            </a:r>
            <a:r>
              <a:rPr lang="en-US" altLang="zh-CN" sz="2400" b="1" kern="1200" dirty="0">
                <a:solidFill>
                  <a:srgbClr val="000066"/>
                </a:solidFill>
                <a:ea typeface="楷体_GB2312" pitchFamily="49" charset="-122"/>
              </a:rPr>
              <a:t>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GS </a:t>
            </a:r>
            <a:r>
              <a:rPr lang="zh-CN" altLang="en-US" sz="2400" b="1" kern="1200" dirty="0">
                <a:solidFill>
                  <a:srgbClr val="000066"/>
                </a:solidFill>
                <a:ea typeface="楷体_GB2312" pitchFamily="49" charset="-122"/>
              </a:rPr>
              <a:t>对漏极电流</a:t>
            </a:r>
            <a:r>
              <a:rPr lang="en-US" altLang="zh-CN" sz="2400" b="1" kern="1200" dirty="0">
                <a:solidFill>
                  <a:srgbClr val="000066"/>
                </a:solidFill>
                <a:ea typeface="楷体_GB2312" pitchFamily="49" charset="-122"/>
              </a:rPr>
              <a:t> </a:t>
            </a:r>
            <a:r>
              <a:rPr lang="en-US" sz="2400" i="1">
                <a:latin typeface="Times New Roman" panose="02020603050405020304" charset="0"/>
                <a:ea typeface="宋体" panose="02010600030101010101" pitchFamily="2" charset="-122"/>
                <a:sym typeface="+mn-ea"/>
              </a:rPr>
              <a:t>i</a:t>
            </a:r>
            <a:r>
              <a:rPr lang="en-US" sz="2400" baseline="-25000">
                <a:latin typeface="Times New Roman" panose="02020603050405020304" charset="0"/>
                <a:ea typeface="宋体" panose="02010600030101010101" pitchFamily="2" charset="-122"/>
                <a:sym typeface="+mn-ea"/>
              </a:rPr>
              <a:t>D </a:t>
            </a:r>
            <a:r>
              <a:rPr lang="zh-CN" altLang="en-US" sz="2400" b="1" kern="1200" dirty="0">
                <a:solidFill>
                  <a:srgbClr val="000066"/>
                </a:solidFill>
                <a:ea typeface="楷体_GB2312" pitchFamily="49" charset="-122"/>
              </a:rPr>
              <a:t>的作用。由图可知，当</a:t>
            </a:r>
            <a:r>
              <a:rPr lang="en-US" altLang="zh-CN" sz="2400" b="1" kern="1200" dirty="0">
                <a:solidFill>
                  <a:srgbClr val="000066"/>
                </a:solidFill>
                <a:ea typeface="楷体_GB2312" pitchFamily="49" charset="-122"/>
              </a:rPr>
              <a:t> </a:t>
            </a:r>
            <a:r>
              <a:rPr lang="en-US" sz="2400">
                <a:latin typeface="Times New Roman" panose="02020603050405020304" charset="0"/>
                <a:ea typeface="宋体" panose="02010600030101010101" pitchFamily="2" charset="-122"/>
              </a:rPr>
              <a:t>0 &lt;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GS</a:t>
            </a:r>
            <a:r>
              <a:rPr lang="zh-CN" altLang="en-US" sz="2400" b="1" kern="1200" dirty="0">
                <a:solidFill>
                  <a:srgbClr val="000066"/>
                </a:solidFill>
                <a:ea typeface="楷体_GB2312" pitchFamily="49" charset="-122"/>
              </a:rPr>
              <a:t> </a:t>
            </a:r>
            <a:r>
              <a:rPr lang="en-US" sz="2400">
                <a:latin typeface="Times New Roman" panose="02020603050405020304" charset="0"/>
                <a:ea typeface="宋体" panose="02010600030101010101" pitchFamily="2" charset="-122"/>
              </a:rPr>
              <a:t>&lt; </a:t>
            </a:r>
            <a:r>
              <a:rPr lang="en-US" sz="2400" i="1">
                <a:latin typeface="Times New Roman" panose="02020603050405020304" charset="0"/>
                <a:ea typeface="宋体" panose="02010600030101010101" pitchFamily="2" charset="-122"/>
              </a:rPr>
              <a:t>V</a:t>
            </a:r>
            <a:r>
              <a:rPr lang="en-US" sz="2400" baseline="-25000">
                <a:latin typeface="Times New Roman" panose="02020603050405020304" charset="0"/>
                <a:ea typeface="宋体" panose="02010600030101010101" pitchFamily="2" charset="-122"/>
              </a:rPr>
              <a:t>T</a:t>
            </a:r>
            <a:r>
              <a:rPr lang="zh-CN" altLang="en-US" sz="2400" b="1" kern="1200" dirty="0">
                <a:solidFill>
                  <a:srgbClr val="000066"/>
                </a:solidFill>
                <a:ea typeface="楷体_GB2312" pitchFamily="49" charset="-122"/>
              </a:rPr>
              <a:t> 时，漏源之间没有形成导电沟道，MOS管截止，</a:t>
            </a:r>
            <a:r>
              <a:rPr lang="en-US" sz="2400" i="1">
                <a:latin typeface="Times New Roman" panose="02020603050405020304" charset="0"/>
                <a:ea typeface="宋体" panose="02010600030101010101" pitchFamily="2" charset="-122"/>
                <a:sym typeface="+mn-ea"/>
              </a:rPr>
              <a:t>i</a:t>
            </a:r>
            <a:r>
              <a:rPr lang="en-US" sz="2400" baseline="-25000">
                <a:latin typeface="Times New Roman" panose="02020603050405020304" charset="0"/>
                <a:ea typeface="宋体" panose="02010600030101010101" pitchFamily="2" charset="-122"/>
                <a:sym typeface="+mn-ea"/>
              </a:rPr>
              <a:t>D </a:t>
            </a:r>
            <a:r>
              <a:rPr lang="en-US" sz="2400">
                <a:latin typeface="Arial" panose="020B0604020202020204" pitchFamily="34" charset="0"/>
                <a:ea typeface="宋体" panose="02010600030101010101" pitchFamily="2" charset="-122"/>
                <a:cs typeface="Arial" panose="020B0604020202020204" pitchFamily="34" charset="0"/>
              </a:rPr>
              <a:t>≈ </a:t>
            </a:r>
            <a:r>
              <a:rPr lang="en-US" sz="2400">
                <a:latin typeface="Times New Roman" panose="02020603050405020304" charset="0"/>
                <a:ea typeface="宋体" panose="02010600030101010101" pitchFamily="2" charset="-122"/>
              </a:rPr>
              <a:t>0</a:t>
            </a:r>
            <a:r>
              <a:rPr lang="zh-CN" altLang="en-US" sz="2400" b="1" kern="1200" dirty="0">
                <a:solidFill>
                  <a:srgbClr val="000066"/>
                </a:solidFill>
                <a:ea typeface="楷体_GB2312" pitchFamily="49" charset="-122"/>
              </a:rPr>
              <a:t>。只有在</a:t>
            </a:r>
            <a:r>
              <a:rPr lang="en-US" sz="2400" i="1">
                <a:latin typeface="Times New Roman" panose="02020603050405020304" charset="0"/>
                <a:ea typeface="宋体" panose="02010600030101010101" pitchFamily="2" charset="-122"/>
              </a:rPr>
              <a:t>υ</a:t>
            </a:r>
            <a:r>
              <a:rPr lang="en-US" sz="2400" baseline="-25000">
                <a:latin typeface="Times New Roman" panose="02020603050405020304" charset="0"/>
                <a:ea typeface="宋体" panose="02010600030101010101" pitchFamily="2" charset="-122"/>
              </a:rPr>
              <a:t>GS</a:t>
            </a:r>
            <a:r>
              <a:rPr lang="en-US" sz="2400" i="1">
                <a:latin typeface="Times New Roman" panose="02020603050405020304" charset="0"/>
                <a:ea typeface="宋体" panose="02010600030101010101" pitchFamily="2" charset="-122"/>
              </a:rPr>
              <a:t> </a:t>
            </a:r>
            <a:r>
              <a:rPr lang="en-US" sz="2400" i="1">
                <a:latin typeface="Times New Roman" panose="02020603050405020304" charset="0"/>
                <a:ea typeface="宋体" panose="02010600030101010101" pitchFamily="2" charset="-122"/>
                <a:sym typeface="Symbol" panose="05050102010706020507" charset="0"/>
              </a:rPr>
              <a:t> </a:t>
            </a:r>
            <a:r>
              <a:rPr lang="en-US" sz="2400" i="1">
                <a:latin typeface="Times New Roman" panose="02020603050405020304" charset="0"/>
                <a:ea typeface="宋体" panose="02010600030101010101" pitchFamily="2" charset="-122"/>
              </a:rPr>
              <a:t>V</a:t>
            </a:r>
            <a:r>
              <a:rPr lang="en-US" sz="2400" baseline="-25000">
                <a:latin typeface="Times New Roman" panose="02020603050405020304" charset="0"/>
                <a:ea typeface="宋体" panose="02010600030101010101" pitchFamily="2" charset="-122"/>
              </a:rPr>
              <a:t>T</a:t>
            </a:r>
            <a:r>
              <a:rPr lang="zh-CN" altLang="en-US" sz="2400" b="1" kern="1200" dirty="0">
                <a:solidFill>
                  <a:srgbClr val="000066"/>
                </a:solidFill>
                <a:ea typeface="楷体_GB2312" pitchFamily="49" charset="-122"/>
              </a:rPr>
              <a:t> 时，MOS管导通才产生漏极电流。</a:t>
            </a:r>
            <a:endParaRPr lang="zh-CN" altLang="en-US" sz="2400" b="1" kern="1200" dirty="0">
              <a:solidFill>
                <a:srgbClr val="000066"/>
              </a:solidFill>
              <a:ea typeface="楷体_GB2312" pitchFamily="49" charset="-122"/>
            </a:endParaRPr>
          </a:p>
        </p:txBody>
      </p:sp>
      <p:sp>
        <p:nvSpPr>
          <p:cNvPr id="3" name="Rectangle 3"/>
          <p:cNvSpPr>
            <a:spLocks noGrp="1"/>
          </p:cNvSpPr>
          <p:nvPr/>
        </p:nvSpPr>
        <p:spPr>
          <a:xfrm>
            <a:off x="457200" y="1163320"/>
            <a:ext cx="4337050"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en-US" sz="2400" b="1" dirty="0">
                <a:solidFill>
                  <a:srgbClr val="070707"/>
                </a:solidFill>
                <a:latin typeface="Times New Roman" panose="02020603050405020304" charset="0"/>
                <a:ea typeface="楷体_GB2312" pitchFamily="49" charset="-122"/>
                <a:cs typeface="Times New Roman" panose="02020603050405020304" charset="0"/>
                <a:sym typeface="+mn-ea"/>
              </a:rPr>
              <a:t>(3) </a:t>
            </a:r>
            <a:r>
              <a:rPr sz="2400" b="1" dirty="0">
                <a:solidFill>
                  <a:srgbClr val="070707"/>
                </a:solidFill>
                <a:latin typeface="Times New Roman" panose="02020603050405020304" charset="0"/>
                <a:ea typeface="楷体_GB2312" pitchFamily="49" charset="-122"/>
                <a:cs typeface="Times New Roman" panose="02020603050405020304" charset="0"/>
              </a:rPr>
              <a:t>转移特性和输出特性</a:t>
            </a:r>
            <a:endParaRPr sz="2400" b="1" dirty="0">
              <a:solidFill>
                <a:srgbClr val="070707"/>
              </a:solidFill>
              <a:latin typeface="Times New Roman" panose="02020603050405020304" charset="0"/>
              <a:ea typeface="楷体_GB2312" pitchFamily="49" charset="-122"/>
              <a:cs typeface="Times New Roman" panose="02020603050405020304" charset="0"/>
            </a:endParaRPr>
          </a:p>
        </p:txBody>
      </p:sp>
      <p:grpSp>
        <p:nvGrpSpPr>
          <p:cNvPr id="2" name="组合 1"/>
          <p:cNvGrpSpPr/>
          <p:nvPr/>
        </p:nvGrpSpPr>
        <p:grpSpPr>
          <a:xfrm>
            <a:off x="2209800" y="3816350"/>
            <a:ext cx="4261485" cy="3006090"/>
            <a:chOff x="2640" y="5890"/>
            <a:chExt cx="6711" cy="4734"/>
          </a:xfrm>
        </p:grpSpPr>
        <p:sp>
          <p:nvSpPr>
            <p:cNvPr id="100" name="文本框 99"/>
            <p:cNvSpPr txBox="1"/>
            <p:nvPr/>
          </p:nvSpPr>
          <p:spPr>
            <a:xfrm>
              <a:off x="2640" y="10016"/>
              <a:ext cx="6711" cy="608"/>
            </a:xfrm>
            <a:prstGeom prst="rect">
              <a:avLst/>
            </a:prstGeom>
            <a:noFill/>
            <a:ln w="9525">
              <a:noFill/>
            </a:ln>
          </p:spPr>
          <p:txBody>
            <a:bodyPr wrap="square">
              <a:spAutoFit/>
            </a:bodyPr>
            <a:p>
              <a:pPr>
                <a:lnSpc>
                  <a:spcPct val="120000"/>
                </a:lnSpc>
              </a:pPr>
              <a:r>
                <a:rPr sz="1600">
                  <a:ea typeface="宋体" panose="02010600030101010101" pitchFamily="2" charset="-122"/>
                </a:rPr>
                <a:t>图3-39</a:t>
              </a:r>
              <a:r>
                <a:rPr lang="en-US" sz="1600">
                  <a:ea typeface="宋体" panose="02010600030101010101" pitchFamily="2" charset="-122"/>
                </a:rPr>
                <a:t> </a:t>
              </a:r>
              <a:r>
                <a:rPr sz="1600">
                  <a:ea typeface="宋体" panose="02010600030101010101" pitchFamily="2" charset="-122"/>
                </a:rPr>
                <a:t>(a) N沟道增强型MOS管</a:t>
              </a:r>
              <a:r>
                <a:rPr sz="1600">
                  <a:sym typeface="+mn-ea"/>
                </a:rPr>
                <a:t>转移特性曲线</a:t>
              </a:r>
              <a:endParaRPr sz="1600">
                <a:ea typeface="宋体" panose="02010600030101010101" pitchFamily="2" charset="-122"/>
                <a:sym typeface="+mn-ea"/>
              </a:endParaRPr>
            </a:p>
          </p:txBody>
        </p:sp>
        <p:pic>
          <p:nvPicPr>
            <p:cNvPr id="9263" name="图片 2700"/>
            <p:cNvPicPr>
              <a:picLocks noChangeAspect="1"/>
            </p:cNvPicPr>
            <p:nvPr/>
          </p:nvPicPr>
          <p:blipFill>
            <a:blip r:embed="rId1"/>
            <a:srcRect t="4809" r="60234" b="16292"/>
            <a:stretch>
              <a:fillRect/>
            </a:stretch>
          </p:blipFill>
          <p:spPr>
            <a:xfrm>
              <a:off x="4200" y="5890"/>
              <a:ext cx="5101" cy="4102"/>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grpSp>
        <p:nvGrpSpPr>
          <p:cNvPr id="6" name="组合 5"/>
          <p:cNvGrpSpPr/>
          <p:nvPr/>
        </p:nvGrpSpPr>
        <p:grpSpPr>
          <a:xfrm>
            <a:off x="4648200" y="3581400"/>
            <a:ext cx="4260850" cy="3164840"/>
            <a:chOff x="3000" y="5760"/>
            <a:chExt cx="6710" cy="4984"/>
          </a:xfrm>
        </p:grpSpPr>
        <p:sp>
          <p:nvSpPr>
            <p:cNvPr id="100" name="文本框 99"/>
            <p:cNvSpPr txBox="1"/>
            <p:nvPr/>
          </p:nvSpPr>
          <p:spPr>
            <a:xfrm>
              <a:off x="3000" y="10136"/>
              <a:ext cx="6711" cy="608"/>
            </a:xfrm>
            <a:prstGeom prst="rect">
              <a:avLst/>
            </a:prstGeom>
            <a:noFill/>
            <a:ln w="9525">
              <a:noFill/>
            </a:ln>
          </p:spPr>
          <p:txBody>
            <a:bodyPr wrap="square">
              <a:spAutoFit/>
            </a:bodyPr>
            <a:p>
              <a:pPr>
                <a:lnSpc>
                  <a:spcPct val="120000"/>
                </a:lnSpc>
              </a:pPr>
              <a:r>
                <a:rPr sz="1600">
                  <a:ea typeface="宋体" panose="02010600030101010101" pitchFamily="2" charset="-122"/>
                </a:rPr>
                <a:t>图3-39</a:t>
              </a:r>
              <a:r>
                <a:rPr lang="en-US" sz="1600">
                  <a:ea typeface="宋体" panose="02010600030101010101" pitchFamily="2" charset="-122"/>
                </a:rPr>
                <a:t> </a:t>
              </a:r>
              <a:r>
                <a:rPr sz="1600">
                  <a:ea typeface="宋体" panose="02010600030101010101" pitchFamily="2" charset="-122"/>
                </a:rPr>
                <a:t>(b) N沟道增强型MOS管</a:t>
              </a:r>
              <a:r>
                <a:rPr lang="zh-CN" sz="1600">
                  <a:ea typeface="宋体" panose="02010600030101010101" pitchFamily="2" charset="-122"/>
                </a:rPr>
                <a:t>输出</a:t>
              </a:r>
              <a:r>
                <a:rPr sz="1600">
                  <a:sym typeface="+mn-ea"/>
                </a:rPr>
                <a:t>特性曲线</a:t>
              </a:r>
              <a:endParaRPr sz="1600">
                <a:ea typeface="宋体" panose="02010600030101010101" pitchFamily="2" charset="-122"/>
                <a:sym typeface="+mn-ea"/>
              </a:endParaRPr>
            </a:p>
          </p:txBody>
        </p:sp>
        <p:pic>
          <p:nvPicPr>
            <p:cNvPr id="5" name="图片 2700"/>
            <p:cNvPicPr>
              <a:picLocks noChangeAspect="1"/>
            </p:cNvPicPr>
            <p:nvPr/>
          </p:nvPicPr>
          <p:blipFill>
            <a:blip r:embed="rId1"/>
            <a:srcRect l="54671" b="11946"/>
            <a:stretch>
              <a:fillRect/>
            </a:stretch>
          </p:blipFill>
          <p:spPr>
            <a:xfrm>
              <a:off x="3240" y="5760"/>
              <a:ext cx="5708" cy="4493"/>
            </a:xfrm>
            <a:prstGeom prst="rect">
              <a:avLst/>
            </a:prstGeom>
            <a:noFill/>
            <a:ln>
              <a:noFill/>
            </a:ln>
          </p:spPr>
        </p:pic>
      </p:grpSp>
      <p:sp>
        <p:nvSpPr>
          <p:cNvPr id="8" name="Rectangle 3"/>
          <p:cNvSpPr>
            <a:spLocks noGrp="1"/>
          </p:cNvSpPr>
          <p:nvPr/>
        </p:nvSpPr>
        <p:spPr>
          <a:xfrm>
            <a:off x="466090" y="1574800"/>
            <a:ext cx="8229600" cy="473011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dirty="0">
                <a:solidFill>
                  <a:srgbClr val="000066"/>
                </a:solidFill>
                <a:ea typeface="楷体_GB2312" pitchFamily="49" charset="-122"/>
              </a:rPr>
              <a:t>当</a:t>
            </a:r>
            <a:r>
              <a:rPr lang="en-US" altLang="zh-CN" sz="2400" b="1" dirty="0">
                <a:solidFill>
                  <a:srgbClr val="000066"/>
                </a:solidFill>
                <a:ea typeface="楷体_GB2312" pitchFamily="49" charset="-122"/>
              </a:rPr>
              <a:t> </a:t>
            </a:r>
            <a:r>
              <a:rPr lang="en-US" sz="2400" i="1" kern="0">
                <a:latin typeface="Times New Roman" panose="02020603050405020304" charset="0"/>
                <a:ea typeface="宋体" panose="02010600030101010101" pitchFamily="2" charset="-122"/>
              </a:rPr>
              <a:t>υ</a:t>
            </a:r>
            <a:r>
              <a:rPr lang="en-US" sz="2400" kern="0" baseline="-25000">
                <a:latin typeface="Times New Roman" panose="02020603050405020304" charset="0"/>
                <a:ea typeface="宋体" panose="02010600030101010101" pitchFamily="2" charset="-122"/>
              </a:rPr>
              <a:t>GS </a:t>
            </a:r>
            <a:r>
              <a:rPr lang="en-US" sz="2400" kern="0">
                <a:latin typeface="Times New Roman" panose="02020603050405020304" charset="0"/>
                <a:ea typeface="宋体" panose="02010600030101010101" pitchFamily="2" charset="-122"/>
                <a:sym typeface="Symbol" panose="05050102010706020507" charset="0"/>
              </a:rPr>
              <a:t> </a:t>
            </a:r>
            <a:r>
              <a:rPr lang="en-US" sz="2400" i="1" kern="0">
                <a:latin typeface="Times New Roman" panose="02020603050405020304" charset="0"/>
                <a:ea typeface="宋体" panose="02010600030101010101" pitchFamily="2" charset="-122"/>
              </a:rPr>
              <a:t>V</a:t>
            </a:r>
            <a:r>
              <a:rPr lang="en-US" sz="2400" kern="0" baseline="-25000">
                <a:latin typeface="Times New Roman" panose="02020603050405020304" charset="0"/>
                <a:ea typeface="宋体" panose="02010600030101010101" pitchFamily="2" charset="-122"/>
              </a:rPr>
              <a:t>T</a:t>
            </a:r>
            <a:r>
              <a:rPr lang="zh-CN" altLang="en-US" sz="2400" b="1" dirty="0">
                <a:solidFill>
                  <a:srgbClr val="000066"/>
                </a:solidFill>
                <a:ea typeface="楷体_GB2312" pitchFamily="49" charset="-122"/>
              </a:rPr>
              <a:t>，且</a:t>
            </a:r>
            <a:r>
              <a:rPr lang="en-US" sz="2400" i="1" kern="0">
                <a:latin typeface="Times New Roman" panose="02020603050405020304" charset="0"/>
                <a:ea typeface="宋体" panose="02010600030101010101" pitchFamily="2" charset="-122"/>
              </a:rPr>
              <a:t>υ</a:t>
            </a:r>
            <a:r>
              <a:rPr lang="en-US" sz="2400" kern="0" baseline="-25000">
                <a:latin typeface="Times New Roman" panose="02020603050405020304" charset="0"/>
                <a:ea typeface="宋体" panose="02010600030101010101" pitchFamily="2" charset="-122"/>
              </a:rPr>
              <a:t>DS </a:t>
            </a:r>
            <a:r>
              <a:rPr lang="en-US" sz="2400" i="1" kern="0">
                <a:latin typeface="Times New Roman" panose="02020603050405020304" charset="0"/>
                <a:ea typeface="宋体" panose="02010600030101010101" pitchFamily="2" charset="-122"/>
              </a:rPr>
              <a:t>&lt; υ</a:t>
            </a:r>
            <a:r>
              <a:rPr lang="en-US" sz="2400" kern="0" baseline="-25000">
                <a:latin typeface="Times New Roman" panose="02020603050405020304" charset="0"/>
                <a:ea typeface="宋体" panose="02010600030101010101" pitchFamily="2" charset="-122"/>
              </a:rPr>
              <a:t>GS</a:t>
            </a:r>
            <a:r>
              <a:rPr lang="en-US" sz="2400" i="1" kern="0">
                <a:latin typeface="Times New Roman" panose="02020603050405020304" charset="0"/>
                <a:ea typeface="宋体" panose="02010600030101010101" pitchFamily="2" charset="-122"/>
              </a:rPr>
              <a:t> - V</a:t>
            </a:r>
            <a:r>
              <a:rPr lang="en-US" sz="2400" kern="0" baseline="-25000">
                <a:latin typeface="Times New Roman" panose="02020603050405020304" charset="0"/>
                <a:ea typeface="宋体" panose="02010600030101010101" pitchFamily="2" charset="-122"/>
              </a:rPr>
              <a:t>T</a:t>
            </a:r>
            <a:r>
              <a:rPr lang="zh-CN" altLang="en-US" sz="2400" b="1" dirty="0">
                <a:solidFill>
                  <a:srgbClr val="000066"/>
                </a:solidFill>
                <a:ea typeface="楷体_GB2312" pitchFamily="49" charset="-122"/>
              </a:rPr>
              <a:t> 时，N沟道增强型MOS管工作在可变电阻区。此时，</a:t>
            </a:r>
            <a:r>
              <a:rPr lang="en-US" sz="2400" i="1" kern="0">
                <a:latin typeface="Times New Roman" panose="02020603050405020304" charset="0"/>
                <a:ea typeface="宋体" panose="02010600030101010101" pitchFamily="2" charset="-122"/>
              </a:rPr>
              <a:t>i</a:t>
            </a:r>
            <a:r>
              <a:rPr lang="en-US" sz="2400" kern="0" baseline="-25000">
                <a:latin typeface="Times New Roman" panose="02020603050405020304" charset="0"/>
                <a:ea typeface="宋体" panose="02010600030101010101" pitchFamily="2" charset="-122"/>
              </a:rPr>
              <a:t>D</a:t>
            </a:r>
            <a:r>
              <a:rPr lang="zh-CN" altLang="en-US" sz="2400" b="1" dirty="0">
                <a:solidFill>
                  <a:srgbClr val="000066"/>
                </a:solidFill>
                <a:ea typeface="楷体_GB2312" pitchFamily="49" charset="-122"/>
              </a:rPr>
              <a:t>与</a:t>
            </a:r>
            <a:r>
              <a:rPr lang="en-US" altLang="zh-CN" sz="2400" b="1" dirty="0">
                <a:solidFill>
                  <a:srgbClr val="000066"/>
                </a:solidFill>
                <a:ea typeface="楷体_GB2312" pitchFamily="49" charset="-122"/>
              </a:rPr>
              <a:t> </a:t>
            </a:r>
            <a:r>
              <a:rPr lang="en-US" sz="2400" i="1" kern="0">
                <a:latin typeface="Times New Roman" panose="02020603050405020304" charset="0"/>
                <a:ea typeface="宋体" panose="02010600030101010101" pitchFamily="2" charset="-122"/>
              </a:rPr>
              <a:t>υ</a:t>
            </a:r>
            <a:r>
              <a:rPr lang="en-US" sz="2400" kern="0" baseline="-25000">
                <a:latin typeface="Times New Roman" panose="02020603050405020304" charset="0"/>
                <a:ea typeface="宋体" panose="02010600030101010101" pitchFamily="2" charset="-122"/>
              </a:rPr>
              <a:t>DS</a:t>
            </a:r>
            <a:r>
              <a:rPr lang="zh-CN" altLang="en-US" sz="2400" b="1" dirty="0">
                <a:solidFill>
                  <a:srgbClr val="000066"/>
                </a:solidFill>
                <a:ea typeface="楷体_GB2312" pitchFamily="49" charset="-122"/>
              </a:rPr>
              <a:t> 可以视为线性增加关系，D、S间可以看作一个受</a:t>
            </a:r>
            <a:r>
              <a:rPr lang="en-US" altLang="zh-CN" sz="2400" b="1" dirty="0">
                <a:solidFill>
                  <a:srgbClr val="000066"/>
                </a:solidFill>
                <a:ea typeface="楷体_GB2312" pitchFamily="49" charset="-122"/>
              </a:rPr>
              <a:t> </a:t>
            </a:r>
            <a:r>
              <a:rPr lang="en-US" sz="2400" i="1" kern="0">
                <a:latin typeface="Times New Roman" panose="02020603050405020304" charset="0"/>
                <a:ea typeface="宋体" panose="02010600030101010101" pitchFamily="2" charset="-122"/>
              </a:rPr>
              <a:t>υ</a:t>
            </a:r>
            <a:r>
              <a:rPr lang="en-US" sz="2400" kern="0" baseline="-25000">
                <a:latin typeface="Times New Roman" panose="02020603050405020304" charset="0"/>
                <a:ea typeface="宋体" panose="02010600030101010101" pitchFamily="2" charset="-122"/>
              </a:rPr>
              <a:t>GS</a:t>
            </a:r>
            <a:r>
              <a:rPr lang="zh-CN" altLang="en-US" sz="2400" b="1" dirty="0">
                <a:solidFill>
                  <a:srgbClr val="000066"/>
                </a:solidFill>
                <a:ea typeface="楷体_GB2312" pitchFamily="49" charset="-122"/>
              </a:rPr>
              <a:t> 控制的可变电阻。继续增加</a:t>
            </a:r>
            <a:r>
              <a:rPr lang="en-US" altLang="zh-CN" sz="2400" b="1" dirty="0">
                <a:solidFill>
                  <a:srgbClr val="000066"/>
                </a:solidFill>
                <a:ea typeface="楷体_GB2312" pitchFamily="49" charset="-122"/>
              </a:rPr>
              <a:t> </a:t>
            </a:r>
            <a:r>
              <a:rPr lang="en-US" sz="2400" i="1" kern="0">
                <a:latin typeface="Times New Roman" panose="02020603050405020304" charset="0"/>
                <a:ea typeface="宋体" panose="02010600030101010101" pitchFamily="2" charset="-122"/>
              </a:rPr>
              <a:t>υ</a:t>
            </a:r>
            <a:r>
              <a:rPr lang="en-US" sz="2400" kern="0" baseline="-25000">
                <a:latin typeface="Times New Roman" panose="02020603050405020304" charset="0"/>
                <a:ea typeface="宋体" panose="02010600030101010101" pitchFamily="2" charset="-122"/>
              </a:rPr>
              <a:t>DS</a:t>
            </a:r>
            <a:r>
              <a:rPr lang="zh-CN" altLang="en-US" sz="2400" b="1" dirty="0">
                <a:solidFill>
                  <a:srgbClr val="000066"/>
                </a:solidFill>
                <a:ea typeface="楷体_GB2312" pitchFamily="49" charset="-122"/>
              </a:rPr>
              <a:t>，并使</a:t>
            </a:r>
            <a:r>
              <a:rPr lang="en-US" sz="2400" i="1" kern="0">
                <a:latin typeface="Times New Roman" panose="02020603050405020304" charset="0"/>
                <a:ea typeface="宋体" panose="02010600030101010101" pitchFamily="2" charset="-122"/>
              </a:rPr>
              <a:t>υ</a:t>
            </a:r>
            <a:r>
              <a:rPr lang="en-US" sz="2400" kern="0" baseline="-25000">
                <a:latin typeface="Times New Roman" panose="02020603050405020304" charset="0"/>
                <a:ea typeface="宋体" panose="02010600030101010101" pitchFamily="2" charset="-122"/>
              </a:rPr>
              <a:t>DS</a:t>
            </a:r>
            <a:r>
              <a:rPr lang="en-US" sz="2400" i="1" kern="0">
                <a:latin typeface="Times New Roman" panose="02020603050405020304" charset="0"/>
                <a:ea typeface="宋体" panose="02010600030101010101" pitchFamily="2" charset="-122"/>
              </a:rPr>
              <a:t> = υ</a:t>
            </a:r>
            <a:r>
              <a:rPr lang="en-US" sz="2400" kern="0" baseline="-25000">
                <a:latin typeface="Times New Roman" panose="02020603050405020304" charset="0"/>
                <a:ea typeface="宋体" panose="02010600030101010101" pitchFamily="2" charset="-122"/>
              </a:rPr>
              <a:t>GS</a:t>
            </a:r>
            <a:r>
              <a:rPr lang="en-US" sz="2400" i="1" kern="0">
                <a:latin typeface="Times New Roman" panose="02020603050405020304" charset="0"/>
                <a:ea typeface="宋体" panose="02010600030101010101" pitchFamily="2" charset="-122"/>
              </a:rPr>
              <a:t> - V</a:t>
            </a:r>
            <a:r>
              <a:rPr lang="en-US" sz="2400" kern="0" baseline="-25000">
                <a:latin typeface="Times New Roman" panose="02020603050405020304" charset="0"/>
                <a:ea typeface="宋体" panose="02010600030101010101" pitchFamily="2" charset="-122"/>
              </a:rPr>
              <a:t>T</a:t>
            </a:r>
            <a:r>
              <a:rPr lang="zh-CN" altLang="en-US" sz="2400" b="1" dirty="0">
                <a:solidFill>
                  <a:srgbClr val="000066"/>
                </a:solidFill>
                <a:ea typeface="楷体_GB2312" pitchFamily="49" charset="-122"/>
              </a:rPr>
              <a:t> 时，导电沟道在漏极区开始消失，这种情况称为预夹断，预夹断轨迹如图</a:t>
            </a:r>
            <a:endParaRPr lang="zh-CN" altLang="en-US" sz="2400" b="1" dirty="0">
              <a:solidFill>
                <a:srgbClr val="000066"/>
              </a:solidFill>
              <a:ea typeface="楷体_GB2312" pitchFamily="49" charset="-122"/>
            </a:endParaRPr>
          </a:p>
          <a:p>
            <a:pPr marL="0" indent="0" algn="just" eaLnBrk="1" hangingPunct="1">
              <a:lnSpc>
                <a:spcPct val="120000"/>
              </a:lnSpc>
              <a:spcBef>
                <a:spcPts val="0"/>
              </a:spcBef>
              <a:buNone/>
            </a:pPr>
            <a:r>
              <a:rPr lang="zh-CN" altLang="en-US" sz="2400" b="1" dirty="0">
                <a:solidFill>
                  <a:srgbClr val="000066"/>
                </a:solidFill>
                <a:ea typeface="楷体_GB2312" pitchFamily="49" charset="-122"/>
              </a:rPr>
              <a:t>3-39 (b) 中的虚线所示。当</a:t>
            </a:r>
            <a:endParaRPr lang="zh-CN" altLang="en-US" sz="2400" b="1" dirty="0">
              <a:solidFill>
                <a:srgbClr val="000066"/>
              </a:solidFill>
              <a:ea typeface="楷体_GB2312" pitchFamily="49" charset="-122"/>
            </a:endParaRPr>
          </a:p>
          <a:p>
            <a:pPr marL="0" indent="0" algn="just" eaLnBrk="1" hangingPunct="1">
              <a:lnSpc>
                <a:spcPct val="120000"/>
              </a:lnSpc>
              <a:spcBef>
                <a:spcPts val="0"/>
              </a:spcBef>
              <a:buNone/>
            </a:pPr>
            <a:r>
              <a:rPr lang="en-US" sz="2400" i="1" kern="0">
                <a:latin typeface="Times New Roman" panose="02020603050405020304" charset="0"/>
                <a:ea typeface="宋体" panose="02010600030101010101" pitchFamily="2" charset="-122"/>
              </a:rPr>
              <a:t>υ</a:t>
            </a:r>
            <a:r>
              <a:rPr lang="en-US" sz="2400" kern="0" baseline="-25000">
                <a:latin typeface="Times New Roman" panose="02020603050405020304" charset="0"/>
                <a:ea typeface="宋体" panose="02010600030101010101" pitchFamily="2" charset="-122"/>
              </a:rPr>
              <a:t>DS</a:t>
            </a:r>
            <a:r>
              <a:rPr lang="en-US" sz="2400" i="1" kern="0">
                <a:latin typeface="Times New Roman" panose="02020603050405020304" charset="0"/>
                <a:ea typeface="宋体" panose="02010600030101010101" pitchFamily="2" charset="-122"/>
              </a:rPr>
              <a:t> &gt; υ</a:t>
            </a:r>
            <a:r>
              <a:rPr lang="en-US" sz="2400" kern="0" baseline="-25000">
                <a:latin typeface="Times New Roman" panose="02020603050405020304" charset="0"/>
                <a:ea typeface="宋体" panose="02010600030101010101" pitchFamily="2" charset="-122"/>
              </a:rPr>
              <a:t>GS</a:t>
            </a:r>
            <a:r>
              <a:rPr lang="en-US" sz="2400" i="1" kern="0">
                <a:latin typeface="Times New Roman" panose="02020603050405020304" charset="0"/>
                <a:ea typeface="宋体" panose="02010600030101010101" pitchFamily="2" charset="-122"/>
              </a:rPr>
              <a:t> - V</a:t>
            </a:r>
            <a:r>
              <a:rPr lang="en-US" sz="2400" kern="0" baseline="-25000">
                <a:latin typeface="Times New Roman" panose="02020603050405020304" charset="0"/>
                <a:ea typeface="宋体" panose="02010600030101010101" pitchFamily="2" charset="-122"/>
              </a:rPr>
              <a:t>T</a:t>
            </a:r>
            <a:r>
              <a:rPr lang="zh-CN" altLang="en-US" sz="2400" b="1" baseline="-25000" dirty="0">
                <a:solidFill>
                  <a:srgbClr val="000066"/>
                </a:solidFill>
                <a:ea typeface="楷体_GB2312" pitchFamily="49" charset="-122"/>
              </a:rPr>
              <a:t> </a:t>
            </a:r>
            <a:r>
              <a:rPr lang="zh-CN" altLang="en-US" sz="2400" b="1" dirty="0">
                <a:solidFill>
                  <a:srgbClr val="000066"/>
                </a:solidFill>
                <a:ea typeface="楷体_GB2312" pitchFamily="49" charset="-122"/>
              </a:rPr>
              <a:t>时，MOS管工</a:t>
            </a:r>
            <a:endParaRPr lang="zh-CN" altLang="en-US" sz="2400" b="1" dirty="0">
              <a:solidFill>
                <a:srgbClr val="000066"/>
              </a:solidFill>
              <a:ea typeface="楷体_GB2312" pitchFamily="49" charset="-122"/>
            </a:endParaRPr>
          </a:p>
          <a:p>
            <a:pPr marL="0" indent="0" algn="just" eaLnBrk="1" hangingPunct="1">
              <a:lnSpc>
                <a:spcPct val="120000"/>
              </a:lnSpc>
              <a:spcBef>
                <a:spcPts val="0"/>
              </a:spcBef>
              <a:buNone/>
            </a:pPr>
            <a:r>
              <a:rPr lang="zh-CN" altLang="en-US" sz="2400" b="1" dirty="0">
                <a:solidFill>
                  <a:srgbClr val="000066"/>
                </a:solidFill>
                <a:ea typeface="楷体_GB2312" pitchFamily="49" charset="-122"/>
              </a:rPr>
              <a:t>作在饱和区，此时，</a:t>
            </a:r>
            <a:r>
              <a:rPr lang="en-US" sz="2400" i="1" kern="0">
                <a:latin typeface="Times New Roman" panose="02020603050405020304" charset="0"/>
                <a:ea typeface="宋体" panose="02010600030101010101" pitchFamily="2" charset="-122"/>
              </a:rPr>
              <a:t>i</a:t>
            </a:r>
            <a:r>
              <a:rPr lang="en-US" sz="2400" kern="0" baseline="-25000">
                <a:latin typeface="Times New Roman" panose="02020603050405020304" charset="0"/>
                <a:ea typeface="宋体" panose="02010600030101010101" pitchFamily="2" charset="-122"/>
              </a:rPr>
              <a:t>D</a:t>
            </a:r>
            <a:r>
              <a:rPr lang="zh-CN" altLang="en-US" sz="2400" b="1" dirty="0">
                <a:solidFill>
                  <a:srgbClr val="000066"/>
                </a:solidFill>
                <a:ea typeface="楷体_GB2312" pitchFamily="49" charset="-122"/>
              </a:rPr>
              <a:t>几乎</a:t>
            </a:r>
            <a:endParaRPr lang="zh-CN" altLang="en-US" sz="2400" b="1" dirty="0">
              <a:solidFill>
                <a:srgbClr val="000066"/>
              </a:solidFill>
              <a:ea typeface="楷体_GB2312" pitchFamily="49" charset="-122"/>
            </a:endParaRPr>
          </a:p>
          <a:p>
            <a:pPr marL="0" indent="0" algn="just" eaLnBrk="1" hangingPunct="1">
              <a:lnSpc>
                <a:spcPct val="120000"/>
              </a:lnSpc>
              <a:spcBef>
                <a:spcPts val="0"/>
              </a:spcBef>
              <a:buNone/>
            </a:pPr>
            <a:r>
              <a:rPr lang="zh-CN" altLang="en-US" sz="2400" b="1" dirty="0">
                <a:solidFill>
                  <a:srgbClr val="000066"/>
                </a:solidFill>
                <a:ea typeface="楷体_GB2312" pitchFamily="49" charset="-122"/>
              </a:rPr>
              <a:t>不变，即不会随着</a:t>
            </a:r>
            <a:r>
              <a:rPr lang="en-US" sz="2400" i="1" kern="0">
                <a:latin typeface="Times New Roman" panose="02020603050405020304" charset="0"/>
                <a:ea typeface="宋体" panose="02010600030101010101" pitchFamily="2" charset="-122"/>
              </a:rPr>
              <a:t>υ</a:t>
            </a:r>
            <a:r>
              <a:rPr lang="en-US" sz="2400" kern="0" baseline="-25000">
                <a:latin typeface="Times New Roman" panose="02020603050405020304" charset="0"/>
                <a:ea typeface="宋体" panose="02010600030101010101" pitchFamily="2" charset="-122"/>
              </a:rPr>
              <a:t>DS</a:t>
            </a:r>
            <a:r>
              <a:rPr lang="zh-CN" altLang="en-US" sz="2400" b="1" dirty="0">
                <a:solidFill>
                  <a:srgbClr val="000066"/>
                </a:solidFill>
                <a:ea typeface="楷体_GB2312" pitchFamily="49" charset="-122"/>
              </a:rPr>
              <a:t> 的增</a:t>
            </a:r>
            <a:endParaRPr lang="zh-CN" altLang="en-US" sz="2400" b="1" dirty="0">
              <a:solidFill>
                <a:srgbClr val="000066"/>
              </a:solidFill>
              <a:ea typeface="楷体_GB2312" pitchFamily="49" charset="-122"/>
            </a:endParaRPr>
          </a:p>
          <a:p>
            <a:pPr marL="0" indent="0" algn="just" eaLnBrk="1" hangingPunct="1">
              <a:lnSpc>
                <a:spcPct val="120000"/>
              </a:lnSpc>
              <a:spcBef>
                <a:spcPts val="0"/>
              </a:spcBef>
              <a:buNone/>
            </a:pPr>
            <a:r>
              <a:rPr lang="zh-CN" altLang="en-US" sz="2400" b="1" dirty="0">
                <a:solidFill>
                  <a:srgbClr val="000066"/>
                </a:solidFill>
                <a:ea typeface="楷体_GB2312" pitchFamily="49" charset="-122"/>
              </a:rPr>
              <a:t>加而增加。</a:t>
            </a:r>
            <a:endParaRPr lang="zh-CN" altLang="en-US" sz="2400" b="1" dirty="0">
              <a:solidFill>
                <a:srgbClr val="000066"/>
              </a:solidFill>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7" name="Rectangle 3"/>
          <p:cNvSpPr>
            <a:spLocks noGrp="1"/>
          </p:cNvSpPr>
          <p:nvPr>
            <p:ph idx="1"/>
          </p:nvPr>
        </p:nvSpPr>
        <p:spPr>
          <a:xfrm>
            <a:off x="457200" y="228600"/>
            <a:ext cx="8229600" cy="132905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ea typeface="楷体_GB2312" pitchFamily="49" charset="-122"/>
              </a:rPr>
              <a:t>输出特性是在栅源电压</a:t>
            </a:r>
            <a:r>
              <a:rPr lang="en-US" altLang="zh-CN" sz="2400" b="1" kern="1200" dirty="0">
                <a:solidFill>
                  <a:srgbClr val="000066"/>
                </a:solidFill>
                <a:ea typeface="楷体_GB2312" pitchFamily="49" charset="-122"/>
              </a:rPr>
              <a:t>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GS </a:t>
            </a:r>
            <a:r>
              <a:rPr lang="zh-CN" altLang="en-US" sz="2400" b="1" kern="1200" dirty="0">
                <a:solidFill>
                  <a:srgbClr val="000066"/>
                </a:solidFill>
                <a:ea typeface="楷体_GB2312" pitchFamily="49" charset="-122"/>
              </a:rPr>
              <a:t>一定的情况下漏极电流</a:t>
            </a:r>
            <a:r>
              <a:rPr lang="en-US" altLang="zh-CN" sz="2400" b="1" kern="1200" dirty="0">
                <a:solidFill>
                  <a:srgbClr val="000066"/>
                </a:solidFill>
                <a:ea typeface="楷体_GB2312" pitchFamily="49" charset="-122"/>
              </a:rPr>
              <a:t> </a:t>
            </a:r>
            <a:r>
              <a:rPr lang="en-US" sz="2400" i="1">
                <a:latin typeface="Times New Roman" panose="02020603050405020304" charset="0"/>
                <a:ea typeface="宋体" panose="02010600030101010101" pitchFamily="2" charset="-122"/>
                <a:sym typeface="+mn-ea"/>
              </a:rPr>
              <a:t>i</a:t>
            </a:r>
            <a:r>
              <a:rPr lang="en-US" sz="2400" baseline="-25000">
                <a:latin typeface="Times New Roman" panose="02020603050405020304" charset="0"/>
                <a:ea typeface="宋体" panose="02010600030101010101" pitchFamily="2" charset="-122"/>
                <a:sym typeface="+mn-ea"/>
              </a:rPr>
              <a:t>D </a:t>
            </a:r>
            <a:r>
              <a:rPr lang="zh-CN" altLang="en-US" sz="2400" b="1" kern="1200" dirty="0">
                <a:solidFill>
                  <a:srgbClr val="000066"/>
                </a:solidFill>
                <a:ea typeface="楷体_GB2312" pitchFamily="49" charset="-122"/>
              </a:rPr>
              <a:t>与漏源电压</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D</a:t>
            </a:r>
            <a:r>
              <a:rPr lang="en-US" sz="2400" baseline="-25000">
                <a:latin typeface="Times New Roman" panose="02020603050405020304" charset="0"/>
                <a:ea typeface="宋体" panose="02010600030101010101" pitchFamily="2" charset="-122"/>
                <a:sym typeface="+mn-ea"/>
              </a:rPr>
              <a:t>S</a:t>
            </a:r>
            <a:r>
              <a:rPr lang="zh-CN" altLang="en-US" sz="2400" b="1" kern="1200" dirty="0">
                <a:solidFill>
                  <a:srgbClr val="000066"/>
                </a:solidFill>
                <a:ea typeface="楷体_GB2312" pitchFamily="49" charset="-122"/>
              </a:rPr>
              <a:t>之间的关系，如图3-39 (b) 所示。输出特性曲线可以分为可变电阻区、饱和区和截止区三个部分。</a:t>
            </a:r>
            <a:endParaRPr lang="zh-CN" altLang="en-US" sz="2400" b="1" kern="1200" dirty="0">
              <a:solidFill>
                <a:srgbClr val="000066"/>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Lef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7" name="Rectangle 3"/>
          <p:cNvSpPr>
            <a:spLocks noGrp="1"/>
          </p:cNvSpPr>
          <p:nvPr>
            <p:ph idx="1"/>
          </p:nvPr>
        </p:nvSpPr>
        <p:spPr>
          <a:xfrm>
            <a:off x="471170" y="609600"/>
            <a:ext cx="8445500" cy="2790825"/>
          </a:xfrm>
        </p:spPr>
        <p:txBody>
          <a:bodyPr vert="horz" wrap="square" lIns="91440" tIns="45720" rIns="91440" bIns="45720" anchor="t" anchorCtr="0"/>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ea typeface="楷体_GB2312" pitchFamily="49" charset="-122"/>
              </a:rPr>
              <a:t>P沟道增强型MOS管是在一块杂质浓度较低的N型硅衬底上，扩散两个掺杂浓度很高的P区，导电沟道中的载流子为空穴。P沟道增强型MOS管符号</a:t>
            </a:r>
            <a:r>
              <a:rPr lang="zh-CN" altLang="en-US" sz="2400" b="1" kern="1200" dirty="0">
                <a:solidFill>
                  <a:srgbClr val="000066"/>
                </a:solidFill>
                <a:ea typeface="楷体_GB2312" pitchFamily="49" charset="-122"/>
                <a:sym typeface="+mn-ea"/>
              </a:rPr>
              <a:t>有栅极、源极和漏极</a:t>
            </a:r>
            <a:r>
              <a:rPr lang="en-US" altLang="zh-CN" sz="2400" b="1" kern="1200" dirty="0">
                <a:solidFill>
                  <a:srgbClr val="000066"/>
                </a:solidFill>
                <a:ea typeface="楷体_GB2312" pitchFamily="49" charset="-122"/>
                <a:sym typeface="+mn-ea"/>
              </a:rPr>
              <a:t>3</a:t>
            </a:r>
            <a:r>
              <a:rPr lang="zh-CN" altLang="en-US" sz="2400" b="1" kern="1200" dirty="0">
                <a:solidFill>
                  <a:srgbClr val="000066"/>
                </a:solidFill>
                <a:ea typeface="楷体_GB2312" pitchFamily="49" charset="-122"/>
                <a:sym typeface="+mn-ea"/>
              </a:rPr>
              <a:t>个电极，</a:t>
            </a:r>
            <a:r>
              <a:rPr lang="zh-CN" altLang="en-US" sz="2400" b="1" kern="1200" dirty="0">
                <a:solidFill>
                  <a:srgbClr val="000066"/>
                </a:solidFill>
                <a:ea typeface="楷体_GB2312" pitchFamily="49" charset="-122"/>
              </a:rPr>
              <a:t>如图3-40 (a) 所示。工作时，衬底常与源极或电源相连。P沟道增强型MOS管的转移特性曲线和输出特性曲线分别如图3-40 (b) 和 (c) 所示。由图可知，P沟道增强型MOS管栅源电压</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GS</a:t>
            </a:r>
            <a:r>
              <a:rPr lang="zh-CN" altLang="en-US" sz="2400" b="1" kern="1200" dirty="0">
                <a:solidFill>
                  <a:srgbClr val="000066"/>
                </a:solidFill>
                <a:ea typeface="楷体_GB2312" pitchFamily="49" charset="-122"/>
              </a:rPr>
              <a:t>(负值)小于开启电压</a:t>
            </a:r>
            <a:r>
              <a:rPr lang="en-US" sz="2400" i="1">
                <a:latin typeface="Times New Roman" panose="02020603050405020304" charset="0"/>
                <a:ea typeface="宋体" panose="02010600030101010101" pitchFamily="2" charset="-122"/>
                <a:sym typeface="+mn-ea"/>
              </a:rPr>
              <a:t>V</a:t>
            </a:r>
            <a:r>
              <a:rPr lang="en-US" sz="2400" baseline="-25000">
                <a:latin typeface="Times New Roman" panose="02020603050405020304" charset="0"/>
                <a:ea typeface="宋体" panose="02010600030101010101" pitchFamily="2" charset="-122"/>
                <a:sym typeface="+mn-ea"/>
              </a:rPr>
              <a:t>T</a:t>
            </a:r>
            <a:r>
              <a:rPr lang="zh-CN" altLang="en-US" sz="2400" b="1" kern="1200" dirty="0">
                <a:solidFill>
                  <a:srgbClr val="000066"/>
                </a:solidFill>
                <a:ea typeface="楷体_GB2312" pitchFamily="49" charset="-122"/>
              </a:rPr>
              <a:t>(负值)时才能产生漏极电流。</a:t>
            </a:r>
            <a:endParaRPr lang="zh-CN" altLang="en-US" sz="2400" b="1" kern="1200" dirty="0">
              <a:solidFill>
                <a:srgbClr val="000066"/>
              </a:solidFill>
              <a:ea typeface="楷体_GB2312" pitchFamily="49" charset="-122"/>
            </a:endParaRPr>
          </a:p>
        </p:txBody>
      </p:sp>
      <p:sp>
        <p:nvSpPr>
          <p:cNvPr id="2" name="Rectangle 3"/>
          <p:cNvSpPr>
            <a:spLocks noGrp="1"/>
          </p:cNvSpPr>
          <p:nvPr/>
        </p:nvSpPr>
        <p:spPr>
          <a:xfrm>
            <a:off x="990600" y="82550"/>
            <a:ext cx="351218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2. P沟道增强型MOS管</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grpSp>
        <p:nvGrpSpPr>
          <p:cNvPr id="6" name="组合 5"/>
          <p:cNvGrpSpPr/>
          <p:nvPr/>
        </p:nvGrpSpPr>
        <p:grpSpPr>
          <a:xfrm>
            <a:off x="609600" y="3372485"/>
            <a:ext cx="7777480" cy="3289935"/>
            <a:chOff x="960" y="5311"/>
            <a:chExt cx="12248" cy="5181"/>
          </a:xfrm>
        </p:grpSpPr>
        <p:sp>
          <p:nvSpPr>
            <p:cNvPr id="100" name="文本框 99"/>
            <p:cNvSpPr txBox="1"/>
            <p:nvPr/>
          </p:nvSpPr>
          <p:spPr>
            <a:xfrm>
              <a:off x="3840" y="9884"/>
              <a:ext cx="7317" cy="608"/>
            </a:xfrm>
            <a:prstGeom prst="rect">
              <a:avLst/>
            </a:prstGeom>
            <a:noFill/>
            <a:ln w="9525">
              <a:noFill/>
            </a:ln>
          </p:spPr>
          <p:txBody>
            <a:bodyPr wrap="square">
              <a:spAutoFit/>
            </a:bodyPr>
            <a:p>
              <a:pPr>
                <a:lnSpc>
                  <a:spcPct val="120000"/>
                </a:lnSpc>
              </a:pPr>
              <a:r>
                <a:rPr sz="1600">
                  <a:ea typeface="宋体" panose="02010600030101010101" pitchFamily="2" charset="-122"/>
                </a:rPr>
                <a:t>图3-40 P沟道增强型MOS管符号及特性曲线</a:t>
              </a:r>
              <a:endParaRPr sz="1600">
                <a:ea typeface="宋体" panose="02010600030101010101" pitchFamily="2" charset="-122"/>
              </a:endParaRPr>
            </a:p>
          </p:txBody>
        </p:sp>
        <p:pic>
          <p:nvPicPr>
            <p:cNvPr id="9264" name="图片 2701"/>
            <p:cNvPicPr>
              <a:picLocks noChangeAspect="1"/>
            </p:cNvPicPr>
            <p:nvPr/>
          </p:nvPicPr>
          <p:blipFill>
            <a:blip r:embed="rId1"/>
            <a:stretch>
              <a:fillRect/>
            </a:stretch>
          </p:blipFill>
          <p:spPr>
            <a:xfrm>
              <a:off x="960" y="5311"/>
              <a:ext cx="12248" cy="4599"/>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500" fill="hold">
                                          <p:stCondLst>
                                            <p:cond delay="0"/>
                                          </p:stCondLst>
                                        </p:cTn>
                                        <p:tgtEl>
                                          <p:spTgt spid="6"/>
                                        </p:tgtEl>
                                        <p:attrNameLst>
                                          <p:attrName>style.visibility</p:attrName>
                                        </p:attrNameLst>
                                      </p:cBhvr>
                                      <p:to>
                                        <p:strVal val="visible"/>
                                      </p:to>
                                    </p:set>
                                    <p:animEffect transition="in" filter="plus(i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7" name="Rectangle 3"/>
          <p:cNvSpPr>
            <a:spLocks noGrp="1"/>
          </p:cNvSpPr>
          <p:nvPr>
            <p:ph idx="1"/>
          </p:nvPr>
        </p:nvSpPr>
        <p:spPr>
          <a:xfrm>
            <a:off x="471170" y="533400"/>
            <a:ext cx="8229600" cy="3444240"/>
          </a:xfrm>
        </p:spPr>
        <p:txBody>
          <a:bodyPr vert="horz" wrap="square" lIns="91440" tIns="45720" rIns="91440" bIns="45720" anchor="t" anchorCtr="0"/>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ea typeface="楷体_GB2312" pitchFamily="49" charset="-122"/>
              </a:rPr>
              <a:t>图3-41 (a) 为N沟道增强型MOS管构成的开关电路。当输入电压</a:t>
            </a:r>
            <a:r>
              <a:rPr lang="en-US" sz="2400" i="1">
                <a:latin typeface="Times New Roman" panose="02020603050405020304" charset="0"/>
                <a:ea typeface="宋体" panose="02010600030101010101" pitchFamily="2" charset="-122"/>
              </a:rPr>
              <a:t>υ</a:t>
            </a:r>
            <a:r>
              <a:rPr lang="en-US" sz="2400" baseline="-25000">
                <a:latin typeface="Times New Roman" panose="02020603050405020304" charset="0"/>
                <a:ea typeface="宋体" panose="02010600030101010101" pitchFamily="2" charset="-122"/>
              </a:rPr>
              <a:t>I</a:t>
            </a:r>
            <a:r>
              <a:rPr lang="en-US" sz="2400" i="1">
                <a:latin typeface="Times New Roman" panose="02020603050405020304" charset="0"/>
                <a:ea typeface="宋体" panose="02010600030101010101" pitchFamily="2" charset="-122"/>
              </a:rPr>
              <a:t> =</a:t>
            </a:r>
            <a:r>
              <a:rPr lang="zh-CN" altLang="en-US" sz="2400" b="1" kern="1200" dirty="0">
                <a:solidFill>
                  <a:srgbClr val="000066"/>
                </a:solidFill>
                <a:ea typeface="楷体_GB2312" pitchFamily="49" charset="-122"/>
              </a:rPr>
              <a:t>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GS</a:t>
            </a:r>
            <a:r>
              <a:rPr lang="zh-CN" altLang="en-US" sz="2400" b="1" kern="1200" dirty="0">
                <a:solidFill>
                  <a:srgbClr val="000066"/>
                </a:solidFill>
                <a:ea typeface="楷体_GB2312" pitchFamily="49" charset="-122"/>
              </a:rPr>
              <a:t> </a:t>
            </a:r>
            <a:r>
              <a:rPr lang="en-US" sz="2400" i="1">
                <a:latin typeface="Times New Roman" panose="02020603050405020304" charset="0"/>
                <a:ea typeface="宋体" panose="02010600030101010101" pitchFamily="2" charset="-122"/>
              </a:rPr>
              <a:t>&lt; V</a:t>
            </a:r>
            <a:r>
              <a:rPr lang="en-US" sz="2400" baseline="-25000">
                <a:latin typeface="Times New Roman" panose="02020603050405020304" charset="0"/>
                <a:ea typeface="宋体" panose="02010600030101010101" pitchFamily="2" charset="-122"/>
              </a:rPr>
              <a:t>T</a:t>
            </a:r>
            <a:r>
              <a:rPr lang="zh-CN" altLang="en-US" sz="2400" b="1" i="1" kern="1200" baseline="-25000" dirty="0">
                <a:solidFill>
                  <a:srgbClr val="000066"/>
                </a:solidFill>
                <a:ea typeface="楷体_GB2312" pitchFamily="49" charset="-122"/>
              </a:rPr>
              <a:t> </a:t>
            </a:r>
            <a:r>
              <a:rPr lang="zh-CN" altLang="en-US" sz="2400" b="1" kern="1200" dirty="0">
                <a:solidFill>
                  <a:srgbClr val="000066"/>
                </a:solidFill>
                <a:ea typeface="楷体_GB2312" pitchFamily="49" charset="-122"/>
              </a:rPr>
              <a:t>时，漏源之间尚未形成导电沟道，MOS管截止，D、S之间电阻很大，如同开关断开的状态，输出</a:t>
            </a:r>
            <a:r>
              <a:rPr lang="en-US" sz="2400" i="1">
                <a:latin typeface="Times New Roman" panose="02020603050405020304" charset="0"/>
                <a:ea typeface="宋体" panose="02010600030101010101" pitchFamily="2" charset="-122"/>
              </a:rPr>
              <a:t>υ</a:t>
            </a:r>
            <a:r>
              <a:rPr lang="en-US" sz="2400" baseline="-25000">
                <a:latin typeface="Times New Roman" panose="02020603050405020304" charset="0"/>
                <a:ea typeface="宋体" panose="02010600030101010101" pitchFamily="2" charset="-122"/>
              </a:rPr>
              <a:t>O</a:t>
            </a:r>
            <a:r>
              <a:rPr lang="zh-CN" altLang="en-US" sz="2400" b="1" kern="1200" dirty="0">
                <a:solidFill>
                  <a:srgbClr val="000066"/>
                </a:solidFill>
                <a:ea typeface="楷体_GB2312" pitchFamily="49" charset="-122"/>
              </a:rPr>
              <a:t>为高电平，如图3-41 (b) 所示。当</a:t>
            </a:r>
            <a:r>
              <a:rPr lang="en-US" sz="2400" i="1">
                <a:latin typeface="Times New Roman" panose="02020603050405020304" charset="0"/>
                <a:ea typeface="宋体" panose="02010600030101010101" pitchFamily="2" charset="-122"/>
              </a:rPr>
              <a:t>υ</a:t>
            </a:r>
            <a:r>
              <a:rPr lang="en-US" sz="2400" baseline="-25000">
                <a:latin typeface="Times New Roman" panose="02020603050405020304" charset="0"/>
                <a:ea typeface="宋体" panose="02010600030101010101" pitchFamily="2" charset="-122"/>
              </a:rPr>
              <a:t>I</a:t>
            </a:r>
            <a:r>
              <a:rPr lang="en-US" sz="2400" i="1">
                <a:latin typeface="Times New Roman" panose="02020603050405020304" charset="0"/>
                <a:ea typeface="宋体" panose="02010600030101010101" pitchFamily="2" charset="-122"/>
              </a:rPr>
              <a:t> =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GS</a:t>
            </a:r>
            <a:r>
              <a:rPr lang="en-US" sz="2400" i="1">
                <a:latin typeface="Times New Roman" panose="02020603050405020304" charset="0"/>
                <a:ea typeface="宋体" panose="02010600030101010101" pitchFamily="2" charset="-122"/>
              </a:rPr>
              <a:t> </a:t>
            </a:r>
            <a:r>
              <a:rPr lang="en-US" sz="2400" i="1">
                <a:latin typeface="Times New Roman" panose="02020603050405020304" charset="0"/>
                <a:ea typeface="宋体" panose="02010600030101010101" pitchFamily="2" charset="-122"/>
                <a:sym typeface="Symbol" panose="05050102010706020507" charset="0"/>
              </a:rPr>
              <a:t></a:t>
            </a:r>
            <a:r>
              <a:rPr lang="en-US" sz="2400" i="1">
                <a:latin typeface="Times New Roman" panose="02020603050405020304" charset="0"/>
                <a:ea typeface="宋体" panose="02010600030101010101" pitchFamily="2" charset="-122"/>
              </a:rPr>
              <a:t> </a:t>
            </a:r>
            <a:r>
              <a:rPr lang="en-US" sz="2400" i="1">
                <a:latin typeface="Times New Roman" panose="02020603050405020304" charset="0"/>
                <a:ea typeface="宋体" panose="02010600030101010101" pitchFamily="2" charset="-122"/>
                <a:sym typeface="+mn-ea"/>
              </a:rPr>
              <a:t>V</a:t>
            </a:r>
            <a:r>
              <a:rPr lang="en-US" sz="2400" baseline="-25000">
                <a:latin typeface="Times New Roman" panose="02020603050405020304" charset="0"/>
                <a:ea typeface="宋体" panose="02010600030101010101" pitchFamily="2" charset="-122"/>
                <a:sym typeface="+mn-ea"/>
              </a:rPr>
              <a:t>T</a:t>
            </a:r>
            <a:r>
              <a:rPr lang="zh-CN" altLang="en-US" sz="2400" b="1" kern="1200" dirty="0">
                <a:solidFill>
                  <a:srgbClr val="000066"/>
                </a:solidFill>
                <a:ea typeface="楷体_GB2312" pitchFamily="49" charset="-122"/>
              </a:rPr>
              <a:t> 时，MOS管导通，D、S之间可以等效为一个电阻R</a:t>
            </a:r>
            <a:r>
              <a:rPr lang="zh-CN" altLang="en-US" sz="2400" b="1" kern="1200" baseline="-25000" dirty="0">
                <a:solidFill>
                  <a:srgbClr val="000066"/>
                </a:solidFill>
                <a:ea typeface="楷体_GB2312" pitchFamily="49" charset="-122"/>
              </a:rPr>
              <a:t>on</a:t>
            </a:r>
            <a:r>
              <a:rPr lang="zh-CN" altLang="en-US" sz="2400" b="1" kern="1200" dirty="0">
                <a:solidFill>
                  <a:srgbClr val="000066"/>
                </a:solidFill>
                <a:ea typeface="楷体_GB2312" pitchFamily="49" charset="-122"/>
              </a:rPr>
              <a:t>，如图3-41 (c) 所示。当</a:t>
            </a:r>
            <a:r>
              <a:rPr lang="en-US" altLang="zh-CN" sz="2400" b="1" kern="1200" dirty="0">
                <a:solidFill>
                  <a:srgbClr val="000066"/>
                </a:solidFill>
                <a:ea typeface="楷体_GB2312" pitchFamily="49" charset="-122"/>
              </a:rPr>
              <a:t>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GS</a:t>
            </a:r>
            <a:r>
              <a:rPr lang="zh-CN" altLang="en-US" sz="2400" b="1" kern="1200" dirty="0">
                <a:solidFill>
                  <a:srgbClr val="000066"/>
                </a:solidFill>
                <a:ea typeface="楷体_GB2312" pitchFamily="49" charset="-122"/>
              </a:rPr>
              <a:t> 足够大时，且满足</a:t>
            </a:r>
            <a:r>
              <a:rPr lang="en-US" sz="2400" i="1">
                <a:latin typeface="Times New Roman" panose="02020603050405020304" charset="0"/>
                <a:ea typeface="宋体" panose="02010600030101010101" pitchFamily="2" charset="-122"/>
              </a:rPr>
              <a:t>υ</a:t>
            </a:r>
            <a:r>
              <a:rPr lang="en-US" sz="2400" baseline="-25000">
                <a:latin typeface="Times New Roman" panose="02020603050405020304" charset="0"/>
                <a:ea typeface="宋体" panose="02010600030101010101" pitchFamily="2" charset="-122"/>
              </a:rPr>
              <a:t>DS</a:t>
            </a:r>
            <a:r>
              <a:rPr lang="en-US" sz="2400" i="1">
                <a:latin typeface="Times New Roman" panose="02020603050405020304" charset="0"/>
                <a:ea typeface="宋体" panose="02010600030101010101" pitchFamily="2" charset="-122"/>
              </a:rPr>
              <a:t> &lt;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GS</a:t>
            </a:r>
            <a:r>
              <a:rPr lang="en-US" sz="2400" i="1">
                <a:latin typeface="Times New Roman" panose="02020603050405020304" charset="0"/>
                <a:ea typeface="宋体" panose="02010600030101010101" pitchFamily="2" charset="-122"/>
              </a:rPr>
              <a:t> - </a:t>
            </a:r>
            <a:r>
              <a:rPr lang="en-US" sz="2400" i="1">
                <a:latin typeface="Times New Roman" panose="02020603050405020304" charset="0"/>
                <a:ea typeface="宋体" panose="02010600030101010101" pitchFamily="2" charset="-122"/>
                <a:sym typeface="+mn-ea"/>
              </a:rPr>
              <a:t>V</a:t>
            </a:r>
            <a:r>
              <a:rPr lang="en-US" sz="2400" baseline="-25000">
                <a:latin typeface="Times New Roman" panose="02020603050405020304" charset="0"/>
                <a:ea typeface="宋体" panose="02010600030101010101" pitchFamily="2" charset="-122"/>
                <a:sym typeface="+mn-ea"/>
              </a:rPr>
              <a:t>T</a:t>
            </a:r>
            <a:r>
              <a:rPr lang="zh-CN" altLang="en-US" sz="2400" b="1" kern="1200" dirty="0">
                <a:solidFill>
                  <a:srgbClr val="000066"/>
                </a:solidFill>
                <a:ea typeface="楷体_GB2312" pitchFamily="49" charset="-122"/>
              </a:rPr>
              <a:t> 的条件下，MOS管工作在可变电阻区低内阻状态，即Ron很小，相当于开关闭合，输出</a:t>
            </a:r>
            <a:r>
              <a:rPr lang="en-US" sz="2400" i="1">
                <a:latin typeface="Times New Roman" panose="02020603050405020304" charset="0"/>
                <a:ea typeface="宋体" panose="02010600030101010101" pitchFamily="2" charset="-122"/>
              </a:rPr>
              <a:t>υ</a:t>
            </a:r>
            <a:r>
              <a:rPr lang="en-US" sz="2400" baseline="-25000">
                <a:latin typeface="Times New Roman" panose="02020603050405020304" charset="0"/>
                <a:ea typeface="宋体" panose="02010600030101010101" pitchFamily="2" charset="-122"/>
              </a:rPr>
              <a:t>O</a:t>
            </a:r>
            <a:r>
              <a:rPr lang="zh-CN" altLang="en-US" sz="2400" b="1" kern="1200" dirty="0">
                <a:solidFill>
                  <a:srgbClr val="000066"/>
                </a:solidFill>
                <a:ea typeface="楷体_GB2312" pitchFamily="49" charset="-122"/>
              </a:rPr>
              <a:t>为低电平。</a:t>
            </a:r>
            <a:endParaRPr lang="zh-CN" altLang="en-US" sz="2400" b="1" kern="1200" dirty="0">
              <a:solidFill>
                <a:srgbClr val="000066"/>
              </a:solidFill>
              <a:ea typeface="楷体_GB2312" pitchFamily="49" charset="-122"/>
            </a:endParaRPr>
          </a:p>
        </p:txBody>
      </p:sp>
      <p:sp>
        <p:nvSpPr>
          <p:cNvPr id="2" name="Rectangle 3"/>
          <p:cNvSpPr>
            <a:spLocks noGrp="1"/>
          </p:cNvSpPr>
          <p:nvPr/>
        </p:nvSpPr>
        <p:spPr>
          <a:xfrm>
            <a:off x="990600" y="82550"/>
            <a:ext cx="351218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3. 开关特性</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grpSp>
        <p:nvGrpSpPr>
          <p:cNvPr id="3" name="组合 2"/>
          <p:cNvGrpSpPr/>
          <p:nvPr/>
        </p:nvGrpSpPr>
        <p:grpSpPr>
          <a:xfrm>
            <a:off x="990600" y="3962400"/>
            <a:ext cx="7068820" cy="2700020"/>
            <a:chOff x="1560" y="6360"/>
            <a:chExt cx="11132" cy="4252"/>
          </a:xfrm>
        </p:grpSpPr>
        <p:sp>
          <p:nvSpPr>
            <p:cNvPr id="100" name="文本框 99"/>
            <p:cNvSpPr txBox="1"/>
            <p:nvPr/>
          </p:nvSpPr>
          <p:spPr>
            <a:xfrm>
              <a:off x="3360" y="10004"/>
              <a:ext cx="8134" cy="608"/>
            </a:xfrm>
            <a:prstGeom prst="rect">
              <a:avLst/>
            </a:prstGeom>
            <a:noFill/>
            <a:ln w="9525">
              <a:noFill/>
            </a:ln>
          </p:spPr>
          <p:txBody>
            <a:bodyPr wrap="square">
              <a:spAutoFit/>
            </a:bodyPr>
            <a:p>
              <a:pPr>
                <a:lnSpc>
                  <a:spcPct val="120000"/>
                </a:lnSpc>
              </a:pPr>
              <a:r>
                <a:rPr sz="1600">
                  <a:ea typeface="宋体" panose="02010600030101010101" pitchFamily="2" charset="-122"/>
                </a:rPr>
                <a:t>图3-41 N沟道增强型MOS管开关电路及开关等效电路</a:t>
              </a:r>
              <a:endParaRPr sz="1600">
                <a:ea typeface="宋体" panose="02010600030101010101" pitchFamily="2" charset="-122"/>
              </a:endParaRPr>
            </a:p>
          </p:txBody>
        </p:sp>
        <p:pic>
          <p:nvPicPr>
            <p:cNvPr id="9265" name="图片 2702"/>
            <p:cNvPicPr>
              <a:picLocks noChangeAspect="1"/>
            </p:cNvPicPr>
            <p:nvPr/>
          </p:nvPicPr>
          <p:blipFill>
            <a:blip r:embed="rId1"/>
            <a:stretch>
              <a:fillRect/>
            </a:stretch>
          </p:blipFill>
          <p:spPr>
            <a:xfrm>
              <a:off x="1560" y="6360"/>
              <a:ext cx="11132" cy="3743"/>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7" name="Rectangle 3"/>
          <p:cNvSpPr>
            <a:spLocks noGrp="1"/>
          </p:cNvSpPr>
          <p:nvPr>
            <p:ph idx="1"/>
          </p:nvPr>
        </p:nvSpPr>
        <p:spPr>
          <a:xfrm>
            <a:off x="381000" y="1752600"/>
            <a:ext cx="5396865" cy="3166745"/>
          </a:xfrm>
        </p:spPr>
        <p:txBody>
          <a:bodyPr vert="horz" wrap="square" lIns="91440" tIns="45720" rIns="91440" bIns="45720" anchor="t" anchorCtr="0"/>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在图3-41所示的MOS管开关电路中，如果在栅极施加一个如图3-42 (a) 所示的理想脉冲波形</a:t>
            </a:r>
            <a:r>
              <a:rPr lang="zh-CN" altLang="en-US" sz="2400" b="1" kern="1200" dirty="0">
                <a:solidFill>
                  <a:srgbClr val="000066"/>
                </a:solidFill>
                <a:latin typeface="Arial" panose="020B0604020202020204" pitchFamily="34" charset="0"/>
                <a:ea typeface="楷体_GB2312" pitchFamily="49" charset="-122"/>
              </a:rPr>
              <a:t>，</a:t>
            </a:r>
            <a:r>
              <a:rPr lang="en-US" altLang="zh-CN" sz="2400" b="1" kern="1200" dirty="0">
                <a:solidFill>
                  <a:srgbClr val="000066"/>
                </a:solidFill>
                <a:latin typeface="Arial" panose="020B0604020202020204" pitchFamily="34" charset="0"/>
                <a:ea typeface="楷体_GB2312" pitchFamily="49" charset="-122"/>
              </a:rPr>
              <a:t>由于MOS管的栅极与衬底、漏极与衬底以及栅极与漏极分别存在寄生电容，因此，MOS管在截止和导通两种状态之间转换时，输出电压信号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O</a:t>
            </a:r>
            <a:r>
              <a:rPr lang="en-US" altLang="zh-CN" sz="2400" b="1" kern="1200" dirty="0">
                <a:solidFill>
                  <a:srgbClr val="000066"/>
                </a:solidFill>
                <a:latin typeface="Arial" panose="020B0604020202020204" pitchFamily="34" charset="0"/>
                <a:ea typeface="楷体_GB2312" pitchFamily="49" charset="-122"/>
              </a:rPr>
              <a:t> 会受到电容充、放电的影响，而变成图3-42 (b) 所示的滞后于输入信号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I</a:t>
            </a:r>
            <a:r>
              <a:rPr lang="en-US" altLang="zh-CN" sz="2400" b="1" kern="1200" dirty="0">
                <a:solidFill>
                  <a:srgbClr val="000066"/>
                </a:solidFill>
                <a:latin typeface="Arial" panose="020B0604020202020204" pitchFamily="34" charset="0"/>
                <a:ea typeface="楷体_GB2312" pitchFamily="49" charset="-122"/>
              </a:rPr>
              <a:t> 的非理想波形。图中，</a:t>
            </a:r>
            <a:r>
              <a:rPr lang="en-US" altLang="zh-CN" sz="2400" b="1" i="1" kern="1200" dirty="0">
                <a:solidFill>
                  <a:srgbClr val="000066"/>
                </a:solidFill>
                <a:latin typeface="Arial" panose="020B0604020202020204" pitchFamily="34" charset="0"/>
                <a:ea typeface="楷体_GB2312" pitchFamily="49" charset="-122"/>
              </a:rPr>
              <a:t>t</a:t>
            </a:r>
            <a:r>
              <a:rPr lang="en-US" altLang="zh-CN" sz="2400" b="1" kern="1200" baseline="-25000" dirty="0">
                <a:solidFill>
                  <a:srgbClr val="000066"/>
                </a:solidFill>
                <a:latin typeface="Arial" panose="020B0604020202020204" pitchFamily="34" charset="0"/>
                <a:ea typeface="楷体_GB2312" pitchFamily="49" charset="-122"/>
              </a:rPr>
              <a:t>PHL</a:t>
            </a:r>
            <a:r>
              <a:rPr lang="en-US" altLang="zh-CN" sz="2400" b="1" kern="1200" dirty="0">
                <a:solidFill>
                  <a:srgbClr val="000066"/>
                </a:solidFill>
                <a:latin typeface="Arial" panose="020B0604020202020204" pitchFamily="34" charset="0"/>
                <a:ea typeface="楷体_GB2312" pitchFamily="49" charset="-122"/>
              </a:rPr>
              <a:t>表示输出信号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O </a:t>
            </a:r>
            <a:r>
              <a:rPr lang="en-US" altLang="zh-CN" sz="2400" b="1" kern="1200" dirty="0">
                <a:solidFill>
                  <a:srgbClr val="000066"/>
                </a:solidFill>
                <a:latin typeface="Arial" panose="020B0604020202020204" pitchFamily="34" charset="0"/>
                <a:ea typeface="楷体_GB2312" pitchFamily="49" charset="-122"/>
              </a:rPr>
              <a:t>由高电平变为低电平的传输延迟时间，</a:t>
            </a:r>
            <a:r>
              <a:rPr lang="en-US" altLang="zh-CN" sz="2400" b="1" i="1" kern="1200" dirty="0">
                <a:solidFill>
                  <a:srgbClr val="000066"/>
                </a:solidFill>
                <a:latin typeface="Arial" panose="020B0604020202020204" pitchFamily="34" charset="0"/>
                <a:ea typeface="楷体_GB2312" pitchFamily="49" charset="-122"/>
              </a:rPr>
              <a:t>t</a:t>
            </a:r>
            <a:r>
              <a:rPr lang="en-US" altLang="zh-CN" sz="2400" b="1" kern="1200" baseline="-25000" dirty="0">
                <a:solidFill>
                  <a:srgbClr val="000066"/>
                </a:solidFill>
                <a:latin typeface="Arial" panose="020B0604020202020204" pitchFamily="34" charset="0"/>
                <a:ea typeface="楷体_GB2312" pitchFamily="49" charset="-122"/>
              </a:rPr>
              <a:t>PLH</a:t>
            </a:r>
            <a:r>
              <a:rPr lang="en-US" altLang="zh-CN" sz="2400" b="1" kern="1200" dirty="0">
                <a:solidFill>
                  <a:srgbClr val="000066"/>
                </a:solidFill>
                <a:latin typeface="Arial" panose="020B0604020202020204" pitchFamily="34" charset="0"/>
                <a:ea typeface="楷体_GB2312" pitchFamily="49" charset="-122"/>
              </a:rPr>
              <a:t>表示输出信号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O </a:t>
            </a:r>
            <a:r>
              <a:rPr lang="en-US" altLang="zh-CN" sz="2400" b="1" kern="1200" dirty="0">
                <a:solidFill>
                  <a:srgbClr val="000066"/>
                </a:solidFill>
                <a:latin typeface="Arial" panose="020B0604020202020204" pitchFamily="34" charset="0"/>
                <a:ea typeface="楷体_GB2312" pitchFamily="49" charset="-122"/>
              </a:rPr>
              <a:t>由低电平变为高电平的传输延迟时间。</a:t>
            </a:r>
            <a:endParaRPr lang="zh-CN" altLang="en-US" sz="2400" b="1" kern="1200" dirty="0">
              <a:solidFill>
                <a:srgbClr val="000066"/>
              </a:solidFill>
              <a:ea typeface="楷体_GB2312" pitchFamily="49" charset="-122"/>
            </a:endParaRPr>
          </a:p>
        </p:txBody>
      </p:sp>
      <p:sp>
        <p:nvSpPr>
          <p:cNvPr id="2" name="Rectangle 3"/>
          <p:cNvSpPr>
            <a:spLocks noGrp="1"/>
          </p:cNvSpPr>
          <p:nvPr/>
        </p:nvSpPr>
        <p:spPr>
          <a:xfrm>
            <a:off x="914400" y="1219200"/>
            <a:ext cx="431101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4. MOS管开关电路的动态特性</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grpSp>
        <p:nvGrpSpPr>
          <p:cNvPr id="3" name="组合 2"/>
          <p:cNvGrpSpPr/>
          <p:nvPr/>
        </p:nvGrpSpPr>
        <p:grpSpPr>
          <a:xfrm>
            <a:off x="5638800" y="1752600"/>
            <a:ext cx="3390900" cy="4729480"/>
            <a:chOff x="8880" y="2760"/>
            <a:chExt cx="5340" cy="7448"/>
          </a:xfrm>
        </p:grpSpPr>
        <p:sp>
          <p:nvSpPr>
            <p:cNvPr id="100" name="文本框 99"/>
            <p:cNvSpPr txBox="1"/>
            <p:nvPr/>
          </p:nvSpPr>
          <p:spPr>
            <a:xfrm>
              <a:off x="8880" y="9600"/>
              <a:ext cx="5341" cy="608"/>
            </a:xfrm>
            <a:prstGeom prst="rect">
              <a:avLst/>
            </a:prstGeom>
            <a:noFill/>
            <a:ln w="9525">
              <a:noFill/>
            </a:ln>
          </p:spPr>
          <p:txBody>
            <a:bodyPr wrap="square">
              <a:spAutoFit/>
            </a:bodyPr>
            <a:p>
              <a:pPr>
                <a:lnSpc>
                  <a:spcPct val="120000"/>
                </a:lnSpc>
              </a:pPr>
              <a:r>
                <a:rPr sz="1600">
                  <a:ea typeface="宋体" panose="02010600030101010101" pitchFamily="2" charset="-122"/>
                </a:rPr>
                <a:t>图3-42 MOS管开关电路的动态特性</a:t>
              </a:r>
              <a:endParaRPr sz="1600">
                <a:ea typeface="宋体" panose="02010600030101010101" pitchFamily="2" charset="-122"/>
              </a:endParaRPr>
            </a:p>
          </p:txBody>
        </p:sp>
        <p:pic>
          <p:nvPicPr>
            <p:cNvPr id="9266" name="图片 2703"/>
            <p:cNvPicPr>
              <a:picLocks noChangeAspect="1"/>
            </p:cNvPicPr>
            <p:nvPr/>
          </p:nvPicPr>
          <p:blipFill>
            <a:blip r:embed="rId1"/>
            <a:stretch>
              <a:fillRect/>
            </a:stretch>
          </p:blipFill>
          <p:spPr>
            <a:xfrm>
              <a:off x="9360" y="2760"/>
              <a:ext cx="4524" cy="6842"/>
            </a:xfrm>
            <a:prstGeom prst="rect">
              <a:avLst/>
            </a:prstGeom>
            <a:noFill/>
            <a:ln>
              <a:noFill/>
            </a:ln>
          </p:spPr>
        </p:pic>
      </p:gr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3.3 </a:t>
            </a:r>
            <a:r>
              <a:rPr b="1" dirty="0">
                <a:solidFill>
                  <a:srgbClr val="FF0000"/>
                </a:solidFill>
                <a:latin typeface="黑体" panose="02010609060101010101" pitchFamily="49" charset="-122"/>
                <a:ea typeface="黑体" panose="02010609060101010101" pitchFamily="49" charset="-122"/>
              </a:rPr>
              <a:t>COMS逻辑门电路</a:t>
            </a:r>
            <a:endParaRPr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p:nvPr>
        </p:nvSpPr>
        <p:spPr>
          <a:xfrm>
            <a:off x="567690" y="1351280"/>
            <a:ext cx="411480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3.3.2 </a:t>
            </a:r>
            <a:r>
              <a:rPr lang="zh-CN" altLang="en-US" sz="2800" i="0" dirty="0">
                <a:solidFill>
                  <a:srgbClr val="0070C0"/>
                </a:solidFill>
                <a:latin typeface="黑体" panose="02010609060101010101" pitchFamily="49" charset="-122"/>
                <a:ea typeface="黑体" panose="02010609060101010101" pitchFamily="49" charset="-122"/>
              </a:rPr>
              <a:t>CMOS 反相器</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3.3 </a:t>
            </a:r>
            <a:r>
              <a:rPr b="1" dirty="0">
                <a:solidFill>
                  <a:srgbClr val="FF0000"/>
                </a:solidFill>
                <a:latin typeface="黑体" panose="02010609060101010101" pitchFamily="49" charset="-122"/>
                <a:ea typeface="黑体" panose="02010609060101010101" pitchFamily="49" charset="-122"/>
              </a:rPr>
              <a:t>COMS逻辑门电路</a:t>
            </a:r>
            <a:endParaRPr b="1" dirty="0">
              <a:solidFill>
                <a:srgbClr val="FF000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457200" y="1981200"/>
            <a:ext cx="5733415" cy="4240530"/>
          </a:xfrm>
        </p:spPr>
        <p:txBody>
          <a:bodyPr vert="horz" wrap="square" lIns="91440" tIns="45720" rIns="91440" bIns="45720" anchor="t" anchorCtr="0"/>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ea typeface="楷体_GB2312" pitchFamily="49" charset="-122"/>
              </a:rPr>
              <a:t>CMOS反相器电路如图3-43所示，</a:t>
            </a:r>
            <a:r>
              <a:rPr lang="zh-CN" altLang="en-US" sz="2400" b="1" kern="1200" dirty="0">
                <a:solidFill>
                  <a:srgbClr val="000066"/>
                </a:solidFill>
                <a:ea typeface="楷体_GB2312" pitchFamily="49" charset="-122"/>
                <a:sym typeface="+mn-ea"/>
              </a:rPr>
              <a:t>它</a:t>
            </a:r>
            <a:endParaRPr lang="zh-CN" altLang="en-US" sz="2400" b="1" kern="1200" dirty="0">
              <a:solidFill>
                <a:srgbClr val="000066"/>
              </a:solidFill>
              <a:ea typeface="楷体_GB2312" pitchFamily="49" charset="-122"/>
            </a:endParaRPr>
          </a:p>
          <a:p>
            <a:pPr marL="0" indent="0" algn="just" eaLnBrk="1" latinLnBrk="0" hangingPunct="1">
              <a:lnSpc>
                <a:spcPct val="120000"/>
              </a:lnSpc>
              <a:spcBef>
                <a:spcPts val="0"/>
              </a:spcBef>
              <a:buNone/>
            </a:pPr>
            <a:r>
              <a:rPr lang="zh-CN" altLang="en-US" sz="2400" b="1" kern="1200" dirty="0">
                <a:solidFill>
                  <a:srgbClr val="000066"/>
                </a:solidFill>
                <a:ea typeface="楷体_GB2312" pitchFamily="49" charset="-122"/>
              </a:rPr>
              <a:t>是由一个N沟道增强型的MOS管T</a:t>
            </a:r>
            <a:r>
              <a:rPr lang="zh-CN" altLang="en-US" sz="2400" b="1" kern="1200" baseline="-25000" dirty="0">
                <a:solidFill>
                  <a:srgbClr val="000066"/>
                </a:solidFill>
                <a:ea typeface="楷体_GB2312" pitchFamily="49" charset="-122"/>
              </a:rPr>
              <a:t>N</a:t>
            </a:r>
            <a:r>
              <a:rPr lang="zh-CN" altLang="en-US" sz="2400" b="1" kern="1200" dirty="0">
                <a:solidFill>
                  <a:srgbClr val="000066"/>
                </a:solidFill>
                <a:ea typeface="楷体_GB2312" pitchFamily="49" charset="-122"/>
              </a:rPr>
              <a:t> </a:t>
            </a:r>
            <a:r>
              <a:rPr lang="zh-CN" altLang="en-US" sz="2400" b="1" kern="1200" dirty="0">
                <a:solidFill>
                  <a:srgbClr val="000066"/>
                </a:solidFill>
                <a:ea typeface="楷体_GB2312" pitchFamily="49" charset="-122"/>
                <a:sym typeface="+mn-ea"/>
              </a:rPr>
              <a:t>和一</a:t>
            </a:r>
            <a:endParaRPr lang="zh-CN" altLang="en-US" sz="2400" b="1" kern="1200" dirty="0">
              <a:solidFill>
                <a:srgbClr val="000066"/>
              </a:solidFill>
              <a:ea typeface="楷体_GB2312" pitchFamily="49" charset="-122"/>
            </a:endParaRPr>
          </a:p>
          <a:p>
            <a:pPr marL="0" indent="0" algn="just" eaLnBrk="1" latinLnBrk="0" hangingPunct="1">
              <a:lnSpc>
                <a:spcPct val="110000"/>
              </a:lnSpc>
              <a:spcBef>
                <a:spcPts val="0"/>
              </a:spcBef>
              <a:buNone/>
            </a:pPr>
            <a:r>
              <a:rPr lang="zh-CN" altLang="en-US" sz="2400" b="1" kern="1200" dirty="0">
                <a:solidFill>
                  <a:srgbClr val="000066"/>
                </a:solidFill>
                <a:ea typeface="楷体_GB2312" pitchFamily="49" charset="-122"/>
              </a:rPr>
              <a:t>个P沟道增强型的MOS管T</a:t>
            </a:r>
            <a:r>
              <a:rPr lang="zh-CN" altLang="en-US" sz="2400" b="1" kern="1200" baseline="-25000" dirty="0">
                <a:solidFill>
                  <a:srgbClr val="000066"/>
                </a:solidFill>
                <a:ea typeface="楷体_GB2312" pitchFamily="49" charset="-122"/>
              </a:rPr>
              <a:t>P</a:t>
            </a:r>
            <a:r>
              <a:rPr lang="zh-CN" altLang="en-US" sz="2400" b="1" kern="1200" dirty="0">
                <a:solidFill>
                  <a:srgbClr val="000066"/>
                </a:solidFill>
                <a:ea typeface="楷体_GB2312" pitchFamily="49" charset="-122"/>
              </a:rPr>
              <a:t> 组成。T</a:t>
            </a:r>
            <a:r>
              <a:rPr lang="zh-CN" altLang="en-US" sz="2400" b="1" kern="1200" baseline="-25000" dirty="0">
                <a:solidFill>
                  <a:srgbClr val="000066"/>
                </a:solidFill>
                <a:ea typeface="楷体_GB2312" pitchFamily="49" charset="-122"/>
              </a:rPr>
              <a:t>N</a:t>
            </a:r>
            <a:r>
              <a:rPr lang="zh-CN" altLang="en-US" sz="2400" b="1" kern="1200" dirty="0">
                <a:solidFill>
                  <a:srgbClr val="000066"/>
                </a:solidFill>
                <a:ea typeface="楷体_GB2312" pitchFamily="49" charset="-122"/>
              </a:rPr>
              <a:t> 管</a:t>
            </a:r>
            <a:endParaRPr lang="zh-CN" altLang="en-US" sz="2400" b="1" kern="1200" dirty="0">
              <a:solidFill>
                <a:srgbClr val="000066"/>
              </a:solidFill>
              <a:ea typeface="楷体_GB2312" pitchFamily="49" charset="-122"/>
            </a:endParaRPr>
          </a:p>
          <a:p>
            <a:pPr marL="0" indent="0" algn="just" eaLnBrk="1" latinLnBrk="0" hangingPunct="1">
              <a:lnSpc>
                <a:spcPct val="120000"/>
              </a:lnSpc>
              <a:spcBef>
                <a:spcPts val="0"/>
              </a:spcBef>
              <a:buNone/>
            </a:pPr>
            <a:r>
              <a:rPr lang="zh-CN" altLang="en-US" sz="2400" b="1" kern="1200" dirty="0">
                <a:solidFill>
                  <a:srgbClr val="000066"/>
                </a:solidFill>
                <a:ea typeface="楷体_GB2312" pitchFamily="49" charset="-122"/>
              </a:rPr>
              <a:t>和T</a:t>
            </a:r>
            <a:r>
              <a:rPr lang="zh-CN" altLang="en-US" sz="2400" b="1" kern="1200" baseline="-25000" dirty="0">
                <a:solidFill>
                  <a:srgbClr val="000066"/>
                </a:solidFill>
                <a:ea typeface="楷体_GB2312" pitchFamily="49" charset="-122"/>
              </a:rPr>
              <a:t>P</a:t>
            </a:r>
            <a:r>
              <a:rPr lang="zh-CN" altLang="en-US" sz="2400" b="1" kern="1200" dirty="0">
                <a:solidFill>
                  <a:srgbClr val="000066"/>
                </a:solidFill>
                <a:ea typeface="楷体_GB2312" pitchFamily="49" charset="-122"/>
              </a:rPr>
              <a:t> 管的栅极连在一起作为输入端，漏</a:t>
            </a:r>
            <a:endParaRPr lang="zh-CN" altLang="en-US"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zh-CN" altLang="en-US" sz="2400" b="1" kern="1200" dirty="0">
                <a:solidFill>
                  <a:srgbClr val="000066"/>
                </a:solidFill>
                <a:ea typeface="楷体_GB2312" pitchFamily="49" charset="-122"/>
              </a:rPr>
              <a:t>极连在一起作为输出端。T</a:t>
            </a:r>
            <a:r>
              <a:rPr lang="zh-CN" altLang="en-US" sz="2400" b="1" kern="1200" baseline="-25000" dirty="0">
                <a:solidFill>
                  <a:srgbClr val="000066"/>
                </a:solidFill>
                <a:ea typeface="楷体_GB2312" pitchFamily="49" charset="-122"/>
              </a:rPr>
              <a:t>N</a:t>
            </a:r>
            <a:r>
              <a:rPr lang="zh-CN" altLang="en-US" sz="2400" b="1" kern="1200" dirty="0">
                <a:solidFill>
                  <a:srgbClr val="000066"/>
                </a:solidFill>
                <a:ea typeface="楷体_GB2312" pitchFamily="49" charset="-122"/>
              </a:rPr>
              <a:t> 管的源极和</a:t>
            </a:r>
            <a:endParaRPr lang="zh-CN" altLang="en-US"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zh-CN" altLang="en-US" sz="2400" b="1" kern="1200" dirty="0">
                <a:solidFill>
                  <a:srgbClr val="000066"/>
                </a:solidFill>
                <a:ea typeface="楷体_GB2312" pitchFamily="49" charset="-122"/>
              </a:rPr>
              <a:t>衬底接地，T</a:t>
            </a:r>
            <a:r>
              <a:rPr lang="zh-CN" altLang="en-US" sz="2400" b="1" kern="1200" baseline="-25000" dirty="0">
                <a:solidFill>
                  <a:srgbClr val="000066"/>
                </a:solidFill>
                <a:ea typeface="楷体_GB2312" pitchFamily="49" charset="-122"/>
              </a:rPr>
              <a:t>P</a:t>
            </a:r>
            <a:r>
              <a:rPr lang="zh-CN" altLang="en-US" sz="2400" b="1" kern="1200" dirty="0">
                <a:solidFill>
                  <a:srgbClr val="000066"/>
                </a:solidFill>
                <a:ea typeface="楷体_GB2312" pitchFamily="49" charset="-122"/>
              </a:rPr>
              <a:t> 管的源极和衬底接电源</a:t>
            </a:r>
            <a:r>
              <a:rPr lang="zh-CN" altLang="en-US" sz="2400" b="1" kern="1200" dirty="0">
                <a:solidFill>
                  <a:srgbClr val="000066"/>
                </a:solidFill>
                <a:ea typeface="楷体_GB2312" pitchFamily="49" charset="-122"/>
                <a:sym typeface="+mn-ea"/>
              </a:rPr>
              <a:t>V</a:t>
            </a:r>
            <a:r>
              <a:rPr lang="zh-CN" altLang="en-US" sz="2400" b="1" kern="1200" baseline="-25000" dirty="0">
                <a:solidFill>
                  <a:srgbClr val="000066"/>
                </a:solidFill>
                <a:ea typeface="楷体_GB2312" pitchFamily="49" charset="-122"/>
                <a:sym typeface="+mn-ea"/>
              </a:rPr>
              <a:t>DD</a:t>
            </a:r>
            <a:endParaRPr lang="zh-CN" altLang="en-US"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zh-CN" altLang="en-US" sz="2400" b="1" kern="1200" dirty="0">
                <a:solidFill>
                  <a:srgbClr val="000066"/>
                </a:solidFill>
                <a:ea typeface="楷体_GB2312" pitchFamily="49" charset="-122"/>
              </a:rPr>
              <a:t>。T</a:t>
            </a:r>
            <a:r>
              <a:rPr lang="zh-CN" altLang="en-US" sz="2400" b="1" kern="1200" baseline="-25000" dirty="0">
                <a:solidFill>
                  <a:srgbClr val="000066"/>
                </a:solidFill>
                <a:ea typeface="楷体_GB2312" pitchFamily="49" charset="-122"/>
              </a:rPr>
              <a:t>N</a:t>
            </a:r>
            <a:r>
              <a:rPr lang="zh-CN" altLang="en-US" sz="2400" b="1" kern="1200" dirty="0">
                <a:solidFill>
                  <a:srgbClr val="000066"/>
                </a:solidFill>
                <a:ea typeface="楷体_GB2312" pitchFamily="49" charset="-122"/>
              </a:rPr>
              <a:t> 管和T</a:t>
            </a:r>
            <a:r>
              <a:rPr lang="zh-CN" altLang="en-US" sz="2400" b="1" kern="1200" baseline="-25000" dirty="0">
                <a:solidFill>
                  <a:srgbClr val="000066"/>
                </a:solidFill>
                <a:ea typeface="楷体_GB2312" pitchFamily="49" charset="-122"/>
              </a:rPr>
              <a:t>P</a:t>
            </a:r>
            <a:r>
              <a:rPr lang="zh-CN" altLang="en-US" sz="2400" b="1" kern="1200" dirty="0">
                <a:solidFill>
                  <a:srgbClr val="000066"/>
                </a:solidFill>
                <a:ea typeface="楷体_GB2312" pitchFamily="49" charset="-122"/>
              </a:rPr>
              <a:t> 管的开启电压分别用</a:t>
            </a:r>
            <a:r>
              <a:rPr lang="zh-CN" altLang="en-US" sz="2400" b="1" i="1" kern="1200" dirty="0">
                <a:solidFill>
                  <a:srgbClr val="000066"/>
                </a:solidFill>
                <a:ea typeface="楷体_GB2312" pitchFamily="49" charset="-122"/>
              </a:rPr>
              <a:t>V</a:t>
            </a:r>
            <a:r>
              <a:rPr lang="zh-CN" altLang="en-US" sz="2400" b="1" kern="1200" baseline="-25000" dirty="0">
                <a:solidFill>
                  <a:srgbClr val="000066"/>
                </a:solidFill>
                <a:ea typeface="楷体_GB2312" pitchFamily="49" charset="-122"/>
              </a:rPr>
              <a:t>TN</a:t>
            </a:r>
            <a:r>
              <a:rPr lang="zh-CN" altLang="en-US" sz="2400" b="1" kern="1200" dirty="0">
                <a:solidFill>
                  <a:srgbClr val="000066"/>
                </a:solidFill>
                <a:ea typeface="楷体_GB2312" pitchFamily="49" charset="-122"/>
              </a:rPr>
              <a:t> 和</a:t>
            </a:r>
            <a:endParaRPr lang="zh-CN" altLang="en-US"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zh-CN" altLang="en-US" sz="2400" b="1" i="1" kern="1200" dirty="0">
                <a:solidFill>
                  <a:srgbClr val="000066"/>
                </a:solidFill>
                <a:ea typeface="楷体_GB2312" pitchFamily="49" charset="-122"/>
              </a:rPr>
              <a:t>V</a:t>
            </a:r>
            <a:r>
              <a:rPr lang="zh-CN" altLang="en-US" sz="2400" b="1" kern="1200" baseline="-25000" dirty="0">
                <a:solidFill>
                  <a:srgbClr val="000066"/>
                </a:solidFill>
                <a:ea typeface="楷体_GB2312" pitchFamily="49" charset="-122"/>
              </a:rPr>
              <a:t>TP</a:t>
            </a:r>
            <a:r>
              <a:rPr lang="zh-CN" altLang="en-US" sz="2400" b="1" kern="1200" dirty="0">
                <a:solidFill>
                  <a:srgbClr val="000066"/>
                </a:solidFill>
                <a:ea typeface="楷体_GB2312" pitchFamily="49" charset="-122"/>
              </a:rPr>
              <a:t> 表示。CMOS反相器工作时，要求电</a:t>
            </a:r>
            <a:endParaRPr lang="zh-CN" altLang="en-US"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zh-CN" altLang="en-US" sz="2400" b="1" kern="1200" dirty="0">
                <a:solidFill>
                  <a:srgbClr val="000066"/>
                </a:solidFill>
                <a:ea typeface="楷体_GB2312" pitchFamily="49" charset="-122"/>
              </a:rPr>
              <a:t>源电压V</a:t>
            </a:r>
            <a:r>
              <a:rPr lang="zh-CN" altLang="en-US" sz="2400" b="1" kern="1200" baseline="-25000" dirty="0">
                <a:solidFill>
                  <a:srgbClr val="000066"/>
                </a:solidFill>
                <a:ea typeface="楷体_GB2312" pitchFamily="49" charset="-122"/>
              </a:rPr>
              <a:t>DD</a:t>
            </a:r>
            <a:r>
              <a:rPr lang="zh-CN" altLang="en-US" sz="2400" b="1" kern="1200" dirty="0">
                <a:solidFill>
                  <a:srgbClr val="000066"/>
                </a:solidFill>
                <a:ea typeface="楷体_GB2312" pitchFamily="49" charset="-122"/>
              </a:rPr>
              <a:t> &gt; </a:t>
            </a:r>
            <a:r>
              <a:rPr lang="zh-CN" altLang="en-US" sz="2400" b="1" i="1" kern="1200" dirty="0">
                <a:solidFill>
                  <a:srgbClr val="000066"/>
                </a:solidFill>
                <a:ea typeface="楷体_GB2312" pitchFamily="49" charset="-122"/>
              </a:rPr>
              <a:t>V</a:t>
            </a:r>
            <a:r>
              <a:rPr lang="zh-CN" altLang="en-US" sz="2400" b="1" kern="1200" baseline="-25000" dirty="0">
                <a:solidFill>
                  <a:srgbClr val="000066"/>
                </a:solidFill>
                <a:ea typeface="楷体_GB2312" pitchFamily="49" charset="-122"/>
              </a:rPr>
              <a:t>TN</a:t>
            </a:r>
            <a:r>
              <a:rPr lang="zh-CN" altLang="en-US" sz="2400" b="1" kern="1200" dirty="0">
                <a:solidFill>
                  <a:srgbClr val="000066"/>
                </a:solidFill>
                <a:ea typeface="楷体_GB2312" pitchFamily="49" charset="-122"/>
              </a:rPr>
              <a:t> + | </a:t>
            </a:r>
            <a:r>
              <a:rPr lang="zh-CN" altLang="en-US" sz="2400" b="1" i="1" kern="1200" dirty="0">
                <a:solidFill>
                  <a:srgbClr val="000066"/>
                </a:solidFill>
                <a:ea typeface="楷体_GB2312" pitchFamily="49" charset="-122"/>
              </a:rPr>
              <a:t>V</a:t>
            </a:r>
            <a:r>
              <a:rPr lang="zh-CN" altLang="en-US" sz="2400" b="1" kern="1200" baseline="-25000" dirty="0">
                <a:solidFill>
                  <a:srgbClr val="000066"/>
                </a:solidFill>
                <a:ea typeface="楷体_GB2312" pitchFamily="49" charset="-122"/>
              </a:rPr>
              <a:t>TP</a:t>
            </a:r>
            <a:r>
              <a:rPr lang="zh-CN" altLang="en-US" sz="2400" b="1" kern="1200" dirty="0">
                <a:solidFill>
                  <a:srgbClr val="000066"/>
                </a:solidFill>
                <a:ea typeface="楷体_GB2312" pitchFamily="49" charset="-122"/>
              </a:rPr>
              <a:t> |，并假设</a:t>
            </a:r>
            <a:endParaRPr lang="zh-CN" altLang="en-US"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zh-CN" altLang="en-US" sz="2400" b="1" i="1" kern="1200" dirty="0">
                <a:solidFill>
                  <a:srgbClr val="000066"/>
                </a:solidFill>
                <a:ea typeface="楷体_GB2312" pitchFamily="49" charset="-122"/>
              </a:rPr>
              <a:t>V</a:t>
            </a:r>
            <a:r>
              <a:rPr lang="zh-CN" altLang="en-US" sz="2400" b="1" kern="1200" baseline="-25000" dirty="0">
                <a:solidFill>
                  <a:srgbClr val="000066"/>
                </a:solidFill>
                <a:ea typeface="楷体_GB2312" pitchFamily="49" charset="-122"/>
              </a:rPr>
              <a:t>TN</a:t>
            </a:r>
            <a:r>
              <a:rPr lang="zh-CN" altLang="en-US" sz="2400" b="1" kern="1200" dirty="0">
                <a:solidFill>
                  <a:srgbClr val="000066"/>
                </a:solidFill>
                <a:ea typeface="楷体_GB2312" pitchFamily="49" charset="-122"/>
              </a:rPr>
              <a:t> = | </a:t>
            </a:r>
            <a:r>
              <a:rPr lang="zh-CN" altLang="en-US" sz="2400" b="1" i="1" kern="1200" dirty="0">
                <a:solidFill>
                  <a:srgbClr val="000066"/>
                </a:solidFill>
                <a:ea typeface="楷体_GB2312" pitchFamily="49" charset="-122"/>
              </a:rPr>
              <a:t>V</a:t>
            </a:r>
            <a:r>
              <a:rPr lang="zh-CN" altLang="en-US" sz="2400" b="1" kern="1200" baseline="-25000" dirty="0">
                <a:solidFill>
                  <a:srgbClr val="000066"/>
                </a:solidFill>
                <a:ea typeface="楷体_GB2312" pitchFamily="49" charset="-122"/>
              </a:rPr>
              <a:t>TP</a:t>
            </a:r>
            <a:r>
              <a:rPr lang="zh-CN" altLang="en-US" sz="2400" b="1" kern="1200" dirty="0">
                <a:solidFill>
                  <a:srgbClr val="000066"/>
                </a:solidFill>
                <a:ea typeface="楷体_GB2312" pitchFamily="49" charset="-122"/>
              </a:rPr>
              <a:t> |。</a:t>
            </a:r>
            <a:endParaRPr lang="zh-CN" altLang="en-US" sz="2400" b="1" kern="1200" dirty="0">
              <a:solidFill>
                <a:srgbClr val="000066"/>
              </a:solidFill>
              <a:ea typeface="楷体_GB2312" pitchFamily="49" charset="-122"/>
            </a:endParaRPr>
          </a:p>
        </p:txBody>
      </p:sp>
      <p:grpSp>
        <p:nvGrpSpPr>
          <p:cNvPr id="5" name="组合 4"/>
          <p:cNvGrpSpPr/>
          <p:nvPr/>
        </p:nvGrpSpPr>
        <p:grpSpPr>
          <a:xfrm>
            <a:off x="6172200" y="1676400"/>
            <a:ext cx="2467610" cy="4424680"/>
            <a:chOff x="9720" y="2760"/>
            <a:chExt cx="3886" cy="6968"/>
          </a:xfrm>
        </p:grpSpPr>
        <p:sp>
          <p:nvSpPr>
            <p:cNvPr id="100" name="文本框 99"/>
            <p:cNvSpPr txBox="1"/>
            <p:nvPr/>
          </p:nvSpPr>
          <p:spPr>
            <a:xfrm>
              <a:off x="9960" y="9120"/>
              <a:ext cx="3647" cy="608"/>
            </a:xfrm>
            <a:prstGeom prst="rect">
              <a:avLst/>
            </a:prstGeom>
            <a:noFill/>
            <a:ln w="9525">
              <a:noFill/>
            </a:ln>
          </p:spPr>
          <p:txBody>
            <a:bodyPr wrap="square">
              <a:spAutoFit/>
            </a:bodyPr>
            <a:p>
              <a:pPr>
                <a:lnSpc>
                  <a:spcPct val="120000"/>
                </a:lnSpc>
              </a:pPr>
              <a:r>
                <a:rPr sz="1600">
                  <a:ea typeface="宋体" panose="02010600030101010101" pitchFamily="2" charset="-122"/>
                </a:rPr>
                <a:t>图3-43 CMOS反相器</a:t>
              </a:r>
              <a:endParaRPr sz="1600">
                <a:ea typeface="宋体" panose="02010600030101010101" pitchFamily="2" charset="-122"/>
              </a:endParaRPr>
            </a:p>
          </p:txBody>
        </p:sp>
        <p:pic>
          <p:nvPicPr>
            <p:cNvPr id="9267" name="图片 2704"/>
            <p:cNvPicPr>
              <a:picLocks noChangeAspect="1"/>
            </p:cNvPicPr>
            <p:nvPr/>
          </p:nvPicPr>
          <p:blipFill>
            <a:blip r:embed="rId1"/>
            <a:stretch>
              <a:fillRect/>
            </a:stretch>
          </p:blipFill>
          <p:spPr>
            <a:xfrm>
              <a:off x="9720" y="2760"/>
              <a:ext cx="3780" cy="6183"/>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from="(-#ppt_w/2)" to="(#ppt_x)" calcmode="lin" valueType="num">
                                      <p:cBhvr>
                                        <p:cTn id="7" dur="600" fill="hold">
                                          <p:stCondLst>
                                            <p:cond delay="0"/>
                                          </p:stCondLst>
                                        </p:cTn>
                                        <p:tgtEl>
                                          <p:spTgt spid="5"/>
                                        </p:tgtEl>
                                        <p:attrNameLst>
                                          <p:attrName>ppt_x</p:attrName>
                                        </p:attrNameLst>
                                      </p:cBhvr>
                                    </p:anim>
                                    <p:anim from="0" to="-1.0" calcmode="lin" valueType="num">
                                      <p:cBhvr>
                                        <p:cTn id="8" dur="200" decel="50000" autoRev="1" fill="hold">
                                          <p:stCondLst>
                                            <p:cond delay="600"/>
                                          </p:stCondLst>
                                        </p:cTn>
                                        <p:tgtEl>
                                          <p:spTgt spid="5"/>
                                        </p:tgtEl>
                                        <p:attrNameLst>
                                          <p:attrName>xshear</p:attrName>
                                        </p:attrNameLst>
                                      </p:cBhvr>
                                    </p:anim>
                                    <p:animScale>
                                      <p:cBhvr>
                                        <p:cTn id="9" dur="200" decel="100000" autoRev="1" fill="hold">
                                          <p:stCondLst>
                                            <p:cond delay="600"/>
                                          </p:stCondLst>
                                        </p:cTn>
                                        <p:tgtEl>
                                          <p:spTgt spid="5"/>
                                        </p:tgtEl>
                                      </p:cBhvr>
                                      <p:from x="100000" y="100000"/>
                                      <p:to x="80000" y="100000"/>
                                    </p:animScale>
                                    <p:anim by="(#ppt_h/3+#ppt_w*0.1)" calcmode="lin" valueType="num">
                                      <p:cBhvr additive="sum">
                                        <p:cTn id="10" dur="200" decel="100000" autoRev="1" fill="hold">
                                          <p:stCondLst>
                                            <p:cond delay="600"/>
                                          </p:stCondLst>
                                        </p:cTn>
                                        <p:tgtEl>
                                          <p:spTgt spid="5"/>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7" name="Rectangle 3"/>
          <p:cNvSpPr>
            <a:spLocks noGrp="1"/>
          </p:cNvSpPr>
          <p:nvPr>
            <p:ph idx="1"/>
          </p:nvPr>
        </p:nvSpPr>
        <p:spPr>
          <a:xfrm>
            <a:off x="381000" y="1676400"/>
            <a:ext cx="5973445" cy="2359025"/>
          </a:xfrm>
        </p:spPr>
        <p:txBody>
          <a:bodyPr vert="horz" wrap="square" lIns="91440" tIns="45720" rIns="91440" bIns="45720" anchor="t" anchorCtr="0"/>
          <a:p>
            <a:pPr marL="0" indent="0" algn="just" eaLnBrk="1" latinLnBrk="0" hangingPunct="1">
              <a:lnSpc>
                <a:spcPct val="10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当输入电压</a:t>
            </a:r>
            <a:r>
              <a:rPr lang="en-US" sz="2400" i="1">
                <a:latin typeface="Times New Roman" panose="02020603050405020304" charset="0"/>
                <a:ea typeface="宋体" panose="02010600030101010101" pitchFamily="2" charset="-122"/>
              </a:rPr>
              <a:t>υ</a:t>
            </a:r>
            <a:r>
              <a:rPr lang="en-US" sz="2400" baseline="-25000">
                <a:latin typeface="Times New Roman" panose="02020603050405020304" charset="0"/>
                <a:ea typeface="宋体" panose="02010600030101010101" pitchFamily="2" charset="-122"/>
              </a:rPr>
              <a:t>I</a:t>
            </a:r>
            <a:r>
              <a:rPr lang="en-US" altLang="zh-CN" sz="2400" b="1" kern="1200" dirty="0">
                <a:solidFill>
                  <a:srgbClr val="000066"/>
                </a:solidFill>
                <a:latin typeface="Arial" panose="020B0604020202020204" pitchFamily="34" charset="0"/>
                <a:ea typeface="楷体_GB2312" pitchFamily="49" charset="-122"/>
              </a:rPr>
              <a:t>为低电平0V时，T</a:t>
            </a:r>
            <a:r>
              <a:rPr lang="en-US" altLang="zh-CN" sz="2400" b="1" kern="1200" baseline="-25000" dirty="0">
                <a:solidFill>
                  <a:srgbClr val="000066"/>
                </a:solidFill>
                <a:latin typeface="Arial" panose="020B0604020202020204" pitchFamily="34" charset="0"/>
                <a:ea typeface="楷体_GB2312" pitchFamily="49" charset="-122"/>
              </a:rPr>
              <a:t>N</a:t>
            </a:r>
            <a:r>
              <a:rPr lang="en-US" altLang="zh-CN" sz="2400" b="1" kern="1200" dirty="0">
                <a:solidFill>
                  <a:srgbClr val="000066"/>
                </a:solidFill>
                <a:latin typeface="Arial" panose="020B0604020202020204" pitchFamily="34" charset="0"/>
                <a:ea typeface="楷体_GB2312" pitchFamily="49" charset="-122"/>
              </a:rPr>
              <a:t> 管栅源间的电压</a:t>
            </a:r>
            <a:r>
              <a:rPr lang="en-US" sz="2400" i="1">
                <a:latin typeface="Times New Roman" panose="02020603050405020304" charset="0"/>
                <a:ea typeface="宋体" panose="02010600030101010101" pitchFamily="2" charset="-122"/>
              </a:rPr>
              <a:t>υ</a:t>
            </a:r>
            <a:r>
              <a:rPr lang="en-US" sz="2400" baseline="-25000">
                <a:latin typeface="Times New Roman" panose="02020603050405020304" charset="0"/>
                <a:ea typeface="宋体" panose="02010600030101010101" pitchFamily="2" charset="-122"/>
              </a:rPr>
              <a:t>GSN</a:t>
            </a:r>
            <a:r>
              <a:rPr lang="en-US" sz="2400" i="1">
                <a:latin typeface="Times New Roman" panose="02020603050405020304" charset="0"/>
                <a:ea typeface="宋体" panose="02010600030101010101" pitchFamily="2" charset="-122"/>
              </a:rPr>
              <a:t> = υ</a:t>
            </a:r>
            <a:r>
              <a:rPr lang="en-US" sz="2400" baseline="-25000">
                <a:latin typeface="Times New Roman" panose="02020603050405020304" charset="0"/>
                <a:ea typeface="宋体" panose="02010600030101010101" pitchFamily="2" charset="-122"/>
              </a:rPr>
              <a:t>GN</a:t>
            </a:r>
            <a:r>
              <a:rPr lang="en-US" sz="2400" i="1">
                <a:latin typeface="Times New Roman" panose="02020603050405020304" charset="0"/>
                <a:ea typeface="宋体" panose="02010600030101010101" pitchFamily="2" charset="-122"/>
              </a:rPr>
              <a:t> - υ</a:t>
            </a:r>
            <a:r>
              <a:rPr lang="en-US" sz="2400" baseline="-25000">
                <a:latin typeface="Times New Roman" panose="02020603050405020304" charset="0"/>
                <a:ea typeface="宋体" panose="02010600030101010101" pitchFamily="2" charset="-122"/>
              </a:rPr>
              <a:t>SN</a:t>
            </a:r>
            <a:r>
              <a:rPr lang="en-US" sz="2400" i="1">
                <a:latin typeface="Times New Roman" panose="02020603050405020304" charset="0"/>
                <a:ea typeface="宋体" panose="02010600030101010101" pitchFamily="2" charset="-122"/>
              </a:rPr>
              <a:t> =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I</a:t>
            </a:r>
            <a:r>
              <a:rPr lang="en-US" sz="2400" i="1">
                <a:latin typeface="Times New Roman" panose="02020603050405020304" charset="0"/>
                <a:ea typeface="宋体" panose="02010600030101010101" pitchFamily="2" charset="-122"/>
              </a:rPr>
              <a:t> -υ</a:t>
            </a:r>
            <a:r>
              <a:rPr lang="en-US" sz="2400" baseline="-25000">
                <a:latin typeface="Times New Roman" panose="02020603050405020304" charset="0"/>
                <a:ea typeface="宋体" panose="02010600030101010101" pitchFamily="2" charset="-122"/>
              </a:rPr>
              <a:t>SN</a:t>
            </a:r>
            <a:r>
              <a:rPr lang="en-US" sz="2400" i="1">
                <a:latin typeface="Times New Roman" panose="02020603050405020304" charset="0"/>
                <a:ea typeface="宋体" panose="02010600030101010101" pitchFamily="2" charset="-122"/>
              </a:rPr>
              <a:t> </a:t>
            </a:r>
            <a:r>
              <a:rPr lang="en-US" sz="2400">
                <a:latin typeface="Times New Roman" panose="02020603050405020304" charset="0"/>
                <a:ea typeface="宋体" panose="02010600030101010101" pitchFamily="2" charset="-122"/>
              </a:rPr>
              <a:t>=</a:t>
            </a:r>
            <a:r>
              <a:rPr lang="en-US" sz="2400" i="1">
                <a:latin typeface="Times New Roman" panose="02020603050405020304" charset="0"/>
                <a:ea typeface="宋体" panose="02010600030101010101" pitchFamily="2" charset="-122"/>
              </a:rPr>
              <a:t> </a:t>
            </a:r>
            <a:r>
              <a:rPr lang="en-US" sz="2400">
                <a:latin typeface="Times New Roman" panose="02020603050405020304" charset="0"/>
                <a:ea typeface="宋体" panose="02010600030101010101" pitchFamily="2" charset="-122"/>
              </a:rPr>
              <a:t>0</a:t>
            </a:r>
            <a:r>
              <a:rPr lang="en-US" sz="2400" i="1">
                <a:latin typeface="Times New Roman" panose="02020603050405020304" charset="0"/>
                <a:ea typeface="宋体" panose="02010600030101010101" pitchFamily="2" charset="-122"/>
              </a:rPr>
              <a:t> &lt; V</a:t>
            </a:r>
            <a:r>
              <a:rPr lang="en-US" sz="2400" baseline="-25000">
                <a:latin typeface="Times New Roman" panose="02020603050405020304" charset="0"/>
                <a:ea typeface="宋体" panose="02010600030101010101" pitchFamily="2" charset="-122"/>
              </a:rPr>
              <a:t>TN</a:t>
            </a:r>
            <a:r>
              <a:rPr lang="en-US" altLang="zh-CN" sz="2400" b="1" kern="1200" dirty="0">
                <a:solidFill>
                  <a:srgbClr val="000066"/>
                </a:solidFill>
                <a:latin typeface="Arial" panose="020B0604020202020204" pitchFamily="34" charset="0"/>
                <a:ea typeface="楷体_GB2312" pitchFamily="49" charset="-122"/>
              </a:rPr>
              <a:t>，T</a:t>
            </a:r>
            <a:r>
              <a:rPr lang="en-US" altLang="zh-CN" sz="2400" b="1" kern="1200" baseline="-25000" dirty="0">
                <a:solidFill>
                  <a:srgbClr val="000066"/>
                </a:solidFill>
                <a:latin typeface="Arial" panose="020B0604020202020204" pitchFamily="34" charset="0"/>
                <a:ea typeface="楷体_GB2312" pitchFamily="49" charset="-122"/>
              </a:rPr>
              <a:t>N</a:t>
            </a:r>
            <a:r>
              <a:rPr lang="en-US" altLang="zh-CN" sz="2400" b="1" kern="1200" dirty="0">
                <a:solidFill>
                  <a:srgbClr val="000066"/>
                </a:solidFill>
                <a:latin typeface="Arial" panose="020B0604020202020204" pitchFamily="34" charset="0"/>
                <a:ea typeface="楷体_GB2312" pitchFamily="49" charset="-122"/>
              </a:rPr>
              <a:t> 管截止；而T</a:t>
            </a:r>
            <a:r>
              <a:rPr lang="en-US" altLang="zh-CN" sz="2400" b="1" kern="1200" baseline="-25000" dirty="0">
                <a:solidFill>
                  <a:srgbClr val="000066"/>
                </a:solidFill>
                <a:latin typeface="Arial" panose="020B0604020202020204" pitchFamily="34" charset="0"/>
                <a:ea typeface="楷体_GB2312" pitchFamily="49" charset="-122"/>
              </a:rPr>
              <a:t>P</a:t>
            </a:r>
            <a:r>
              <a:rPr lang="en-US" altLang="zh-CN" sz="2400" b="1" kern="1200" dirty="0">
                <a:solidFill>
                  <a:srgbClr val="000066"/>
                </a:solidFill>
                <a:latin typeface="Arial" panose="020B0604020202020204" pitchFamily="34" charset="0"/>
                <a:ea typeface="楷体_GB2312" pitchFamily="49" charset="-122"/>
              </a:rPr>
              <a:t> 管栅源间的电压</a:t>
            </a:r>
            <a:r>
              <a:rPr lang="en-US" sz="2400" i="1">
                <a:latin typeface="Times New Roman" panose="02020603050405020304" charset="0"/>
                <a:ea typeface="宋体" panose="02010600030101010101" pitchFamily="2" charset="-122"/>
              </a:rPr>
              <a:t>υ</a:t>
            </a:r>
            <a:r>
              <a:rPr lang="en-US" sz="2400" baseline="-25000">
                <a:latin typeface="Times New Roman" panose="02020603050405020304" charset="0"/>
                <a:ea typeface="宋体" panose="02010600030101010101" pitchFamily="2" charset="-122"/>
              </a:rPr>
              <a:t>GSP</a:t>
            </a:r>
            <a:r>
              <a:rPr lang="en-US" sz="2400" i="1">
                <a:latin typeface="Times New Roman" panose="02020603050405020304" charset="0"/>
                <a:ea typeface="宋体" panose="02010600030101010101" pitchFamily="2" charset="-122"/>
              </a:rPr>
              <a:t> </a:t>
            </a:r>
            <a:r>
              <a:rPr lang="en-US" sz="2400">
                <a:latin typeface="Times New Roman" panose="02020603050405020304" charset="0"/>
                <a:ea typeface="宋体" panose="02010600030101010101" pitchFamily="2" charset="-122"/>
              </a:rPr>
              <a:t>=</a:t>
            </a:r>
            <a:r>
              <a:rPr lang="en-US" sz="2400" i="1">
                <a:latin typeface="Times New Roman" panose="02020603050405020304" charset="0"/>
                <a:ea typeface="宋体" panose="02010600030101010101" pitchFamily="2" charset="-122"/>
              </a:rPr>
              <a:t> υ</a:t>
            </a:r>
            <a:r>
              <a:rPr lang="en-US" sz="2400" baseline="-25000">
                <a:latin typeface="Times New Roman" panose="02020603050405020304" charset="0"/>
                <a:ea typeface="宋体" panose="02010600030101010101" pitchFamily="2" charset="-122"/>
              </a:rPr>
              <a:t>GP</a:t>
            </a:r>
            <a:r>
              <a:rPr lang="en-US" sz="2400" i="1">
                <a:latin typeface="Times New Roman" panose="02020603050405020304" charset="0"/>
                <a:ea typeface="宋体" panose="02010600030101010101" pitchFamily="2" charset="-122"/>
              </a:rPr>
              <a:t> - υ</a:t>
            </a:r>
            <a:r>
              <a:rPr lang="en-US" sz="2400" baseline="-25000">
                <a:latin typeface="Times New Roman" panose="02020603050405020304" charset="0"/>
                <a:ea typeface="宋体" panose="02010600030101010101" pitchFamily="2" charset="-122"/>
              </a:rPr>
              <a:t>SP</a:t>
            </a:r>
            <a:r>
              <a:rPr lang="en-US" sz="2400" i="1">
                <a:latin typeface="Times New Roman" panose="02020603050405020304" charset="0"/>
                <a:ea typeface="宋体" panose="02010600030101010101" pitchFamily="2" charset="-122"/>
              </a:rPr>
              <a:t> </a:t>
            </a:r>
            <a:r>
              <a:rPr lang="en-US" sz="2400">
                <a:latin typeface="Times New Roman" panose="02020603050405020304" charset="0"/>
                <a:ea typeface="宋体" panose="02010600030101010101" pitchFamily="2" charset="-122"/>
              </a:rPr>
              <a:t>=</a:t>
            </a:r>
            <a:r>
              <a:rPr lang="en-US" sz="2400" i="1">
                <a:latin typeface="Times New Roman" panose="02020603050405020304" charset="0"/>
                <a:ea typeface="宋体" panose="02010600030101010101" pitchFamily="2" charset="-122"/>
              </a:rPr>
              <a:t>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I</a:t>
            </a:r>
            <a:r>
              <a:rPr lang="en-US" sz="2400" i="1">
                <a:latin typeface="Times New Roman" panose="02020603050405020304" charset="0"/>
                <a:ea typeface="宋体" panose="02010600030101010101" pitchFamily="2" charset="-122"/>
              </a:rPr>
              <a:t> - V</a:t>
            </a:r>
            <a:r>
              <a:rPr lang="en-US" sz="2400" baseline="-25000">
                <a:latin typeface="Times New Roman" panose="02020603050405020304" charset="0"/>
                <a:ea typeface="宋体" panose="02010600030101010101" pitchFamily="2" charset="-122"/>
              </a:rPr>
              <a:t>DD</a:t>
            </a:r>
            <a:r>
              <a:rPr lang="en-US" sz="2400" i="1">
                <a:latin typeface="Times New Roman" panose="02020603050405020304" charset="0"/>
                <a:ea typeface="宋体" panose="02010600030101010101" pitchFamily="2" charset="-122"/>
              </a:rPr>
              <a:t> </a:t>
            </a:r>
            <a:r>
              <a:rPr lang="en-US" sz="2400">
                <a:latin typeface="Times New Roman" panose="02020603050405020304" charset="0"/>
                <a:ea typeface="宋体" panose="02010600030101010101" pitchFamily="2" charset="-122"/>
              </a:rPr>
              <a:t>=</a:t>
            </a:r>
            <a:r>
              <a:rPr lang="en-US" sz="2400" i="1">
                <a:latin typeface="Times New Roman" panose="02020603050405020304" charset="0"/>
                <a:ea typeface="宋体" panose="02010600030101010101" pitchFamily="2" charset="-122"/>
              </a:rPr>
              <a:t> -V</a:t>
            </a:r>
            <a:r>
              <a:rPr lang="en-US" sz="2400" baseline="-25000">
                <a:latin typeface="Times New Roman" panose="02020603050405020304" charset="0"/>
                <a:ea typeface="宋体" panose="02010600030101010101" pitchFamily="2" charset="-122"/>
              </a:rPr>
              <a:t>DD </a:t>
            </a:r>
            <a:r>
              <a:rPr lang="en-US" sz="2400" i="1">
                <a:latin typeface="Times New Roman" panose="02020603050405020304" charset="0"/>
                <a:ea typeface="宋体" panose="02010600030101010101" pitchFamily="2" charset="-122"/>
              </a:rPr>
              <a:t>&lt; V</a:t>
            </a:r>
            <a:r>
              <a:rPr lang="en-US" sz="2400" baseline="-25000">
                <a:latin typeface="Times New Roman" panose="02020603050405020304" charset="0"/>
                <a:ea typeface="宋体" panose="02010600030101010101" pitchFamily="2" charset="-122"/>
              </a:rPr>
              <a:t>TP</a:t>
            </a:r>
            <a:r>
              <a:rPr lang="en-US" altLang="zh-CN" sz="2400" b="1" kern="1200" dirty="0">
                <a:solidFill>
                  <a:srgbClr val="000066"/>
                </a:solidFill>
                <a:latin typeface="Arial" panose="020B0604020202020204" pitchFamily="34" charset="0"/>
                <a:ea typeface="楷体_GB2312" pitchFamily="49" charset="-122"/>
              </a:rPr>
              <a:t>，T</a:t>
            </a:r>
            <a:r>
              <a:rPr lang="en-US" altLang="zh-CN" sz="2400" b="1" kern="1200" baseline="-25000" dirty="0">
                <a:solidFill>
                  <a:srgbClr val="000066"/>
                </a:solidFill>
                <a:latin typeface="Arial" panose="020B0604020202020204" pitchFamily="34" charset="0"/>
                <a:ea typeface="楷体_GB2312" pitchFamily="49" charset="-122"/>
              </a:rPr>
              <a:t>P</a:t>
            </a:r>
            <a:r>
              <a:rPr lang="en-US" altLang="zh-CN" sz="2400" b="1" kern="1200" dirty="0">
                <a:solidFill>
                  <a:srgbClr val="000066"/>
                </a:solidFill>
                <a:latin typeface="Arial" panose="020B0604020202020204" pitchFamily="34" charset="0"/>
                <a:ea typeface="楷体_GB2312" pitchFamily="49" charset="-122"/>
              </a:rPr>
              <a:t> 管导通。因此，反相器输出为高电平</a:t>
            </a:r>
            <a:r>
              <a:rPr lang="en-US" altLang="zh-CN" sz="2400" b="1" i="1" kern="1200" dirty="0">
                <a:solidFill>
                  <a:srgbClr val="000066"/>
                </a:solidFill>
                <a:latin typeface="Arial" panose="020B0604020202020204" pitchFamily="34" charset="0"/>
                <a:ea typeface="楷体_GB2312" pitchFamily="49" charset="-122"/>
              </a:rPr>
              <a:t>V</a:t>
            </a:r>
            <a:r>
              <a:rPr lang="en-US" altLang="zh-CN" sz="2400" b="1" kern="1200" baseline="-25000" dirty="0">
                <a:solidFill>
                  <a:srgbClr val="000066"/>
                </a:solidFill>
                <a:latin typeface="Arial" panose="020B0604020202020204" pitchFamily="34" charset="0"/>
                <a:ea typeface="楷体_GB2312" pitchFamily="49" charset="-122"/>
              </a:rPr>
              <a:t>OH</a:t>
            </a:r>
            <a:r>
              <a:rPr lang="en-US" altLang="zh-CN" sz="2400" b="1" kern="1200" dirty="0">
                <a:solidFill>
                  <a:srgbClr val="000066"/>
                </a:solidFill>
                <a:latin typeface="Arial" panose="020B0604020202020204" pitchFamily="34" charset="0"/>
                <a:ea typeface="楷体_GB2312" pitchFamily="49" charset="-122"/>
              </a:rPr>
              <a:t>，即输出电压</a:t>
            </a:r>
            <a:r>
              <a:rPr lang="en-US" altLang="zh-CN" sz="2400" b="1" kern="1200" dirty="0">
                <a:solidFill>
                  <a:srgbClr val="000066"/>
                </a:solidFill>
                <a:latin typeface="Arial" panose="020B0604020202020204" pitchFamily="34" charset="0"/>
                <a:ea typeface="楷体_GB2312" pitchFamily="49" charset="-122"/>
                <a:sym typeface="+mn-ea"/>
              </a:rPr>
              <a:t>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O</a:t>
            </a:r>
            <a:r>
              <a:rPr lang="en-US" sz="2400" i="1">
                <a:latin typeface="Times New Roman" panose="02020603050405020304" charset="0"/>
                <a:ea typeface="宋体" panose="02010600030101010101" pitchFamily="2" charset="-122"/>
              </a:rPr>
              <a:t> = V</a:t>
            </a:r>
            <a:r>
              <a:rPr lang="en-US" sz="2400" baseline="-25000">
                <a:latin typeface="Times New Roman" panose="02020603050405020304" charset="0"/>
                <a:ea typeface="宋体" panose="02010600030101010101" pitchFamily="2" charset="-122"/>
              </a:rPr>
              <a:t>OH  </a:t>
            </a:r>
            <a:r>
              <a:rPr lang="en-US" sz="2400">
                <a:latin typeface="Times New Roman" panose="02020603050405020304" charset="0"/>
                <a:ea typeface="宋体" panose="02010600030101010101" pitchFamily="2" charset="-122"/>
              </a:rPr>
              <a:t>≈ </a:t>
            </a:r>
            <a:r>
              <a:rPr lang="en-US" sz="2400" i="1">
                <a:latin typeface="Times New Roman" panose="02020603050405020304" charset="0"/>
                <a:ea typeface="宋体" panose="02010600030101010101" pitchFamily="2" charset="-122"/>
              </a:rPr>
              <a:t>V</a:t>
            </a:r>
            <a:r>
              <a:rPr lang="en-US" sz="2400" baseline="-25000">
                <a:latin typeface="Times New Roman" panose="02020603050405020304" charset="0"/>
                <a:ea typeface="宋体" panose="02010600030101010101" pitchFamily="2" charset="-122"/>
              </a:rPr>
              <a:t>DD</a:t>
            </a:r>
            <a:r>
              <a:rPr lang="en-US" altLang="zh-CN" sz="2400" b="1" kern="1200" dirty="0">
                <a:solidFill>
                  <a:srgbClr val="000066"/>
                </a:solidFill>
                <a:latin typeface="Arial" panose="020B0604020202020204" pitchFamily="34" charset="0"/>
                <a:ea typeface="楷体_GB2312" pitchFamily="49" charset="-122"/>
              </a:rPr>
              <a:t>。</a:t>
            </a:r>
            <a:r>
              <a:rPr lang="en-US" sz="2400" baseline="-25000">
                <a:latin typeface="Times New Roman" panose="02020603050405020304" charset="0"/>
                <a:ea typeface="宋体" panose="02010600030101010101" pitchFamily="2" charset="-122"/>
                <a:sym typeface="+mn-ea"/>
              </a:rPr>
              <a:t> </a:t>
            </a:r>
            <a:endParaRPr lang="zh-CN" altLang="en-US" sz="2400" b="1" kern="1200" dirty="0">
              <a:solidFill>
                <a:srgbClr val="000066"/>
              </a:solidFill>
              <a:ea typeface="楷体_GB2312" pitchFamily="49" charset="-122"/>
            </a:endParaRPr>
          </a:p>
        </p:txBody>
      </p:sp>
      <p:sp>
        <p:nvSpPr>
          <p:cNvPr id="2" name="Rectangle 3"/>
          <p:cNvSpPr>
            <a:spLocks noGrp="1"/>
          </p:cNvSpPr>
          <p:nvPr/>
        </p:nvSpPr>
        <p:spPr>
          <a:xfrm>
            <a:off x="914400" y="1219200"/>
            <a:ext cx="242316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1. 工作原理</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3.3 </a:t>
            </a:r>
            <a:r>
              <a:rPr b="1" dirty="0">
                <a:solidFill>
                  <a:srgbClr val="FF0000"/>
                </a:solidFill>
                <a:latin typeface="黑体" panose="02010609060101010101" pitchFamily="49" charset="-122"/>
                <a:ea typeface="黑体" panose="02010609060101010101" pitchFamily="49" charset="-122"/>
              </a:rPr>
              <a:t>COMS逻辑门电路</a:t>
            </a:r>
            <a:endParaRPr b="1" dirty="0">
              <a:solidFill>
                <a:srgbClr val="FF0000"/>
              </a:solidFill>
              <a:latin typeface="黑体" panose="02010609060101010101" pitchFamily="49" charset="-122"/>
              <a:ea typeface="黑体" panose="02010609060101010101" pitchFamily="49" charset="-122"/>
            </a:endParaRPr>
          </a:p>
        </p:txBody>
      </p:sp>
      <p:grpSp>
        <p:nvGrpSpPr>
          <p:cNvPr id="7" name="组合 6"/>
          <p:cNvGrpSpPr/>
          <p:nvPr/>
        </p:nvGrpSpPr>
        <p:grpSpPr>
          <a:xfrm>
            <a:off x="6477000" y="1676400"/>
            <a:ext cx="2467610" cy="4224020"/>
            <a:chOff x="10200" y="2640"/>
            <a:chExt cx="3886" cy="6652"/>
          </a:xfrm>
        </p:grpSpPr>
        <p:sp>
          <p:nvSpPr>
            <p:cNvPr id="3" name="文本框 2"/>
            <p:cNvSpPr txBox="1"/>
            <p:nvPr/>
          </p:nvSpPr>
          <p:spPr>
            <a:xfrm>
              <a:off x="10440" y="8684"/>
              <a:ext cx="3647" cy="608"/>
            </a:xfrm>
            <a:prstGeom prst="rect">
              <a:avLst/>
            </a:prstGeom>
            <a:noFill/>
            <a:ln w="9525">
              <a:noFill/>
            </a:ln>
          </p:spPr>
          <p:txBody>
            <a:bodyPr wrap="square">
              <a:spAutoFit/>
            </a:bodyPr>
            <a:p>
              <a:pPr>
                <a:lnSpc>
                  <a:spcPct val="120000"/>
                </a:lnSpc>
              </a:pPr>
              <a:r>
                <a:rPr sz="1600">
                  <a:ea typeface="宋体" panose="02010600030101010101" pitchFamily="2" charset="-122"/>
                </a:rPr>
                <a:t>图3-43 CMOS反相器</a:t>
              </a:r>
              <a:endParaRPr sz="1600">
                <a:ea typeface="宋体" panose="02010600030101010101" pitchFamily="2" charset="-122"/>
              </a:endParaRPr>
            </a:p>
          </p:txBody>
        </p:sp>
        <p:pic>
          <p:nvPicPr>
            <p:cNvPr id="9267" name="图片 2704"/>
            <p:cNvPicPr>
              <a:picLocks noChangeAspect="1"/>
            </p:cNvPicPr>
            <p:nvPr/>
          </p:nvPicPr>
          <p:blipFill>
            <a:blip r:embed="rId1"/>
            <a:stretch>
              <a:fillRect/>
            </a:stretch>
          </p:blipFill>
          <p:spPr>
            <a:xfrm>
              <a:off x="10200" y="2640"/>
              <a:ext cx="3780" cy="6183"/>
            </a:xfrm>
            <a:prstGeom prst="rect">
              <a:avLst/>
            </a:prstGeom>
            <a:noFill/>
            <a:ln>
              <a:noFill/>
            </a:ln>
          </p:spPr>
        </p:pic>
      </p:grpSp>
      <p:sp>
        <p:nvSpPr>
          <p:cNvPr id="4" name="Rectangle 3"/>
          <p:cNvSpPr>
            <a:spLocks noGrp="1"/>
          </p:cNvSpPr>
          <p:nvPr/>
        </p:nvSpPr>
        <p:spPr>
          <a:xfrm>
            <a:off x="381000" y="3962400"/>
            <a:ext cx="5960745" cy="1959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hangingPunct="1">
              <a:lnSpc>
                <a:spcPct val="10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en-US" altLang="zh-CN" sz="2400" b="1" dirty="0">
                <a:solidFill>
                  <a:srgbClr val="000066"/>
                </a:solidFill>
                <a:latin typeface="Arial" panose="020B0604020202020204" pitchFamily="34" charset="0"/>
                <a:ea typeface="楷体_GB2312" pitchFamily="49" charset="-122"/>
              </a:rPr>
              <a:t>当输入电压</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I</a:t>
            </a:r>
            <a:r>
              <a:rPr lang="en-US" altLang="zh-CN" sz="2400" b="1" dirty="0">
                <a:solidFill>
                  <a:srgbClr val="000066"/>
                </a:solidFill>
                <a:latin typeface="Arial" panose="020B0604020202020204" pitchFamily="34" charset="0"/>
                <a:ea typeface="楷体_GB2312" pitchFamily="49" charset="-122"/>
              </a:rPr>
              <a:t>为高电平</a:t>
            </a:r>
            <a:r>
              <a:rPr lang="en-US" sz="2400" i="1" kern="0">
                <a:latin typeface="Times New Roman" panose="02020603050405020304" charset="0"/>
                <a:ea typeface="宋体" panose="02010600030101010101" pitchFamily="2" charset="-122"/>
              </a:rPr>
              <a:t>V</a:t>
            </a:r>
            <a:r>
              <a:rPr lang="en-US" sz="2400" kern="0" baseline="-25000">
                <a:latin typeface="Times New Roman" panose="02020603050405020304" charset="0"/>
                <a:ea typeface="宋体" panose="02010600030101010101" pitchFamily="2" charset="-122"/>
              </a:rPr>
              <a:t>DD</a:t>
            </a:r>
            <a:r>
              <a:rPr lang="en-US" altLang="zh-CN" sz="2400" b="1" dirty="0">
                <a:solidFill>
                  <a:srgbClr val="000066"/>
                </a:solidFill>
                <a:latin typeface="Arial" panose="020B0604020202020204" pitchFamily="34" charset="0"/>
                <a:ea typeface="楷体_GB2312" pitchFamily="49" charset="-122"/>
              </a:rPr>
              <a:t>时，T</a:t>
            </a:r>
            <a:r>
              <a:rPr lang="en-US" altLang="zh-CN" sz="2400" b="1" baseline="-25000" dirty="0">
                <a:solidFill>
                  <a:srgbClr val="000066"/>
                </a:solidFill>
                <a:latin typeface="Arial" panose="020B0604020202020204" pitchFamily="34" charset="0"/>
                <a:ea typeface="楷体_GB2312" pitchFamily="49" charset="-122"/>
              </a:rPr>
              <a:t>N</a:t>
            </a:r>
            <a:r>
              <a:rPr lang="en-US" altLang="zh-CN" sz="2400" b="1" dirty="0">
                <a:solidFill>
                  <a:srgbClr val="000066"/>
                </a:solidFill>
                <a:latin typeface="Arial" panose="020B0604020202020204" pitchFamily="34" charset="0"/>
                <a:ea typeface="楷体_GB2312" pitchFamily="49" charset="-122"/>
              </a:rPr>
              <a:t> 管栅源间的电压</a:t>
            </a:r>
            <a:r>
              <a:rPr lang="en-US" sz="2400" i="1" kern="0">
                <a:latin typeface="Times New Roman" panose="02020603050405020304" charset="0"/>
                <a:ea typeface="宋体" panose="02010600030101010101" pitchFamily="2" charset="-122"/>
              </a:rPr>
              <a:t>υ</a:t>
            </a:r>
            <a:r>
              <a:rPr lang="en-US" sz="2400" kern="0" baseline="-25000">
                <a:latin typeface="Times New Roman" panose="02020603050405020304" charset="0"/>
                <a:ea typeface="宋体" panose="02010600030101010101" pitchFamily="2" charset="-122"/>
              </a:rPr>
              <a:t>GSN</a:t>
            </a:r>
            <a:r>
              <a:rPr lang="en-US" sz="2400" i="1" kern="0">
                <a:latin typeface="Times New Roman" panose="02020603050405020304" charset="0"/>
                <a:ea typeface="宋体" panose="02010600030101010101" pitchFamily="2" charset="-122"/>
              </a:rPr>
              <a:t> </a:t>
            </a:r>
            <a:r>
              <a:rPr lang="en-US" sz="2400" kern="0">
                <a:latin typeface="Times New Roman" panose="02020603050405020304" charset="0"/>
                <a:ea typeface="宋体" panose="02010600030101010101" pitchFamily="2" charset="-122"/>
              </a:rPr>
              <a:t>=</a:t>
            </a:r>
            <a:r>
              <a:rPr lang="en-US" sz="2400" i="1" kern="0">
                <a:latin typeface="Times New Roman" panose="02020603050405020304" charset="0"/>
                <a:ea typeface="宋体" panose="02010600030101010101" pitchFamily="2" charset="-122"/>
              </a:rPr>
              <a:t> υ</a:t>
            </a:r>
            <a:r>
              <a:rPr lang="en-US" sz="2400" kern="0" baseline="-25000">
                <a:latin typeface="Times New Roman" panose="02020603050405020304" charset="0"/>
                <a:ea typeface="宋体" panose="02010600030101010101" pitchFamily="2" charset="-122"/>
              </a:rPr>
              <a:t>I</a:t>
            </a:r>
            <a:r>
              <a:rPr lang="en-US" sz="2400" i="1" kern="0">
                <a:latin typeface="Times New Roman" panose="02020603050405020304" charset="0"/>
                <a:ea typeface="宋体" panose="02010600030101010101" pitchFamily="2" charset="-122"/>
              </a:rPr>
              <a:t> -υ</a:t>
            </a:r>
            <a:r>
              <a:rPr lang="en-US" sz="2400" kern="0" baseline="-25000">
                <a:latin typeface="Times New Roman" panose="02020603050405020304" charset="0"/>
                <a:ea typeface="宋体" panose="02010600030101010101" pitchFamily="2" charset="-122"/>
              </a:rPr>
              <a:t>SN</a:t>
            </a:r>
            <a:r>
              <a:rPr lang="en-US" sz="2400" i="1" kern="0">
                <a:latin typeface="Times New Roman" panose="02020603050405020304" charset="0"/>
                <a:ea typeface="宋体" panose="02010600030101010101" pitchFamily="2" charset="-122"/>
              </a:rPr>
              <a:t> </a:t>
            </a:r>
            <a:r>
              <a:rPr lang="en-US" sz="2400" kern="0">
                <a:latin typeface="Times New Roman" panose="02020603050405020304" charset="0"/>
                <a:ea typeface="宋体" panose="02010600030101010101" pitchFamily="2" charset="-122"/>
              </a:rPr>
              <a:t>=</a:t>
            </a:r>
            <a:r>
              <a:rPr lang="en-US" sz="2400" i="1" kern="0">
                <a:latin typeface="Times New Roman" panose="02020603050405020304" charset="0"/>
                <a:ea typeface="宋体" panose="02010600030101010101" pitchFamily="2" charset="-122"/>
              </a:rPr>
              <a:t> V</a:t>
            </a:r>
            <a:r>
              <a:rPr lang="en-US" sz="2400" kern="0" baseline="-25000">
                <a:latin typeface="Times New Roman" panose="02020603050405020304" charset="0"/>
                <a:ea typeface="宋体" panose="02010600030101010101" pitchFamily="2" charset="-122"/>
              </a:rPr>
              <a:t>DD</a:t>
            </a:r>
            <a:r>
              <a:rPr lang="en-US" sz="2400" i="1" kern="0">
                <a:latin typeface="Times New Roman" panose="02020603050405020304" charset="0"/>
                <a:ea typeface="宋体" panose="02010600030101010101" pitchFamily="2" charset="-122"/>
              </a:rPr>
              <a:t> &gt; V</a:t>
            </a:r>
            <a:r>
              <a:rPr lang="en-US" sz="2400" kern="0" baseline="-25000">
                <a:latin typeface="Times New Roman" panose="02020603050405020304" charset="0"/>
                <a:ea typeface="宋体" panose="02010600030101010101" pitchFamily="2" charset="-122"/>
              </a:rPr>
              <a:t>TN</a:t>
            </a:r>
            <a:r>
              <a:rPr lang="en-US" altLang="zh-CN" sz="2400" b="1" dirty="0">
                <a:solidFill>
                  <a:srgbClr val="000066"/>
                </a:solidFill>
                <a:latin typeface="Arial" panose="020B0604020202020204" pitchFamily="34" charset="0"/>
                <a:ea typeface="楷体_GB2312" pitchFamily="49" charset="-122"/>
              </a:rPr>
              <a:t>，T</a:t>
            </a:r>
            <a:r>
              <a:rPr lang="en-US" altLang="zh-CN" sz="2400" b="1" baseline="-25000" dirty="0">
                <a:solidFill>
                  <a:srgbClr val="000066"/>
                </a:solidFill>
                <a:latin typeface="Arial" panose="020B0604020202020204" pitchFamily="34" charset="0"/>
                <a:ea typeface="楷体_GB2312" pitchFamily="49" charset="-122"/>
              </a:rPr>
              <a:t>N</a:t>
            </a:r>
            <a:r>
              <a:rPr lang="en-US" altLang="zh-CN" sz="2400" b="1" dirty="0">
                <a:solidFill>
                  <a:srgbClr val="000066"/>
                </a:solidFill>
                <a:latin typeface="Arial" panose="020B0604020202020204" pitchFamily="34" charset="0"/>
                <a:ea typeface="楷体_GB2312" pitchFamily="49" charset="-122"/>
              </a:rPr>
              <a:t> 管导通；而T</a:t>
            </a:r>
            <a:r>
              <a:rPr lang="en-US" altLang="zh-CN" sz="2400" b="1" baseline="-25000" dirty="0">
                <a:solidFill>
                  <a:srgbClr val="000066"/>
                </a:solidFill>
                <a:latin typeface="Arial" panose="020B0604020202020204" pitchFamily="34" charset="0"/>
                <a:ea typeface="楷体_GB2312" pitchFamily="49" charset="-122"/>
              </a:rPr>
              <a:t>P</a:t>
            </a:r>
            <a:r>
              <a:rPr lang="en-US" altLang="zh-CN" sz="2400" b="1" dirty="0">
                <a:solidFill>
                  <a:srgbClr val="000066"/>
                </a:solidFill>
                <a:latin typeface="Arial" panose="020B0604020202020204" pitchFamily="34" charset="0"/>
                <a:ea typeface="楷体_GB2312" pitchFamily="49" charset="-122"/>
              </a:rPr>
              <a:t> 管栅源间的电压</a:t>
            </a:r>
            <a:r>
              <a:rPr lang="en-US" sz="2400" i="1" kern="0">
                <a:latin typeface="Times New Roman" panose="02020603050405020304" charset="0"/>
                <a:ea typeface="宋体" panose="02010600030101010101" pitchFamily="2" charset="-122"/>
              </a:rPr>
              <a:t>υ</a:t>
            </a:r>
            <a:r>
              <a:rPr lang="en-US" sz="2400" kern="0" baseline="-25000">
                <a:latin typeface="Times New Roman" panose="02020603050405020304" charset="0"/>
                <a:ea typeface="宋体" panose="02010600030101010101" pitchFamily="2" charset="-122"/>
              </a:rPr>
              <a:t>GSP</a:t>
            </a:r>
            <a:r>
              <a:rPr lang="en-US" sz="2400" i="1" kern="0">
                <a:latin typeface="Times New Roman" panose="02020603050405020304" charset="0"/>
                <a:ea typeface="宋体" panose="02010600030101010101" pitchFamily="2" charset="-122"/>
              </a:rPr>
              <a:t> </a:t>
            </a:r>
            <a:r>
              <a:rPr lang="en-US" sz="2400" kern="0">
                <a:latin typeface="Times New Roman" panose="02020603050405020304" charset="0"/>
                <a:ea typeface="宋体" panose="02010600030101010101" pitchFamily="2" charset="-122"/>
              </a:rPr>
              <a:t>=</a:t>
            </a:r>
            <a:r>
              <a:rPr lang="en-US" sz="2400" i="1" kern="0">
                <a:latin typeface="Times New Roman" panose="02020603050405020304" charset="0"/>
                <a:ea typeface="宋体" panose="02010600030101010101" pitchFamily="2" charset="-122"/>
              </a:rPr>
              <a:t> υ</a:t>
            </a:r>
            <a:r>
              <a:rPr lang="en-US" sz="2400" kern="0" baseline="-25000">
                <a:latin typeface="Times New Roman" panose="02020603050405020304" charset="0"/>
                <a:ea typeface="宋体" panose="02010600030101010101" pitchFamily="2" charset="-122"/>
              </a:rPr>
              <a:t>I </a:t>
            </a:r>
            <a:r>
              <a:rPr lang="en-US" sz="2400" i="1" kern="0">
                <a:latin typeface="Times New Roman" panose="02020603050405020304" charset="0"/>
                <a:ea typeface="宋体" panose="02010600030101010101" pitchFamily="2" charset="-122"/>
              </a:rPr>
              <a:t>-υ</a:t>
            </a:r>
            <a:r>
              <a:rPr lang="en-US" sz="2400" kern="0" baseline="-25000">
                <a:latin typeface="Times New Roman" panose="02020603050405020304" charset="0"/>
                <a:ea typeface="宋体" panose="02010600030101010101" pitchFamily="2" charset="-122"/>
              </a:rPr>
              <a:t>SP</a:t>
            </a:r>
            <a:r>
              <a:rPr lang="en-US" sz="2400" i="1" kern="0">
                <a:latin typeface="Times New Roman" panose="02020603050405020304" charset="0"/>
                <a:ea typeface="宋体" panose="02010600030101010101" pitchFamily="2" charset="-122"/>
              </a:rPr>
              <a:t> </a:t>
            </a:r>
            <a:r>
              <a:rPr lang="en-US" sz="2400" kern="0">
                <a:latin typeface="Times New Roman" panose="02020603050405020304" charset="0"/>
                <a:ea typeface="宋体" panose="02010600030101010101" pitchFamily="2" charset="-122"/>
              </a:rPr>
              <a:t>= 0</a:t>
            </a:r>
            <a:r>
              <a:rPr lang="en-US" sz="2400" i="1" kern="0">
                <a:latin typeface="Times New Roman" panose="02020603050405020304" charset="0"/>
                <a:ea typeface="宋体" panose="02010600030101010101" pitchFamily="2" charset="-122"/>
              </a:rPr>
              <a:t> &gt; V</a:t>
            </a:r>
            <a:r>
              <a:rPr lang="en-US" sz="2400" kern="0" baseline="-25000">
                <a:latin typeface="Times New Roman" panose="02020603050405020304" charset="0"/>
                <a:ea typeface="宋体" panose="02010600030101010101" pitchFamily="2" charset="-122"/>
              </a:rPr>
              <a:t>TP</a:t>
            </a:r>
            <a:r>
              <a:rPr lang="en-US" altLang="zh-CN" sz="2400" b="1" dirty="0">
                <a:solidFill>
                  <a:srgbClr val="000066"/>
                </a:solidFill>
                <a:latin typeface="Arial" panose="020B0604020202020204" pitchFamily="34" charset="0"/>
                <a:ea typeface="楷体_GB2312" pitchFamily="49" charset="-122"/>
              </a:rPr>
              <a:t>，T</a:t>
            </a:r>
            <a:r>
              <a:rPr lang="en-US" altLang="zh-CN" sz="2400" b="1" baseline="-25000" dirty="0">
                <a:solidFill>
                  <a:srgbClr val="000066"/>
                </a:solidFill>
                <a:latin typeface="Arial" panose="020B0604020202020204" pitchFamily="34" charset="0"/>
                <a:ea typeface="楷体_GB2312" pitchFamily="49" charset="-122"/>
              </a:rPr>
              <a:t>P</a:t>
            </a:r>
            <a:r>
              <a:rPr lang="en-US" altLang="zh-CN" sz="2400" b="1" dirty="0">
                <a:solidFill>
                  <a:srgbClr val="000066"/>
                </a:solidFill>
                <a:latin typeface="Arial" panose="020B0604020202020204" pitchFamily="34" charset="0"/>
                <a:ea typeface="楷体_GB2312" pitchFamily="49" charset="-122"/>
              </a:rPr>
              <a:t> 管截止。因此，反相器输出为低电平</a:t>
            </a:r>
            <a:r>
              <a:rPr lang="en-US" sz="2400" i="1" kern="0">
                <a:latin typeface="Times New Roman" panose="02020603050405020304" charset="0"/>
                <a:ea typeface="宋体" panose="02010600030101010101" pitchFamily="2" charset="-122"/>
                <a:sym typeface="+mn-ea"/>
              </a:rPr>
              <a:t>V</a:t>
            </a:r>
            <a:r>
              <a:rPr lang="en-US" sz="2400" kern="0" baseline="-25000">
                <a:latin typeface="Times New Roman" panose="02020603050405020304" charset="0"/>
                <a:ea typeface="宋体" panose="02010600030101010101" pitchFamily="2" charset="-122"/>
                <a:sym typeface="+mn-ea"/>
              </a:rPr>
              <a:t>OL</a:t>
            </a:r>
            <a:r>
              <a:rPr lang="en-US" altLang="zh-CN" sz="2400" b="1" dirty="0">
                <a:solidFill>
                  <a:srgbClr val="000066"/>
                </a:solidFill>
                <a:latin typeface="Arial" panose="020B0604020202020204" pitchFamily="34" charset="0"/>
                <a:ea typeface="楷体_GB2312" pitchFamily="49" charset="-122"/>
              </a:rPr>
              <a:t>，即输出电压 </a:t>
            </a:r>
            <a:r>
              <a:rPr lang="en-US" sz="2400" i="1" kern="0">
                <a:latin typeface="Times New Roman" panose="02020603050405020304" charset="0"/>
                <a:ea typeface="宋体" panose="02010600030101010101" pitchFamily="2" charset="-122"/>
              </a:rPr>
              <a:t>υ</a:t>
            </a:r>
            <a:r>
              <a:rPr lang="en-US" sz="2400" kern="0" baseline="-25000">
                <a:latin typeface="Times New Roman" panose="02020603050405020304" charset="0"/>
                <a:ea typeface="宋体" panose="02010600030101010101" pitchFamily="2" charset="-122"/>
              </a:rPr>
              <a:t>O</a:t>
            </a:r>
            <a:r>
              <a:rPr lang="en-US" sz="2400" i="1" kern="0">
                <a:latin typeface="Times New Roman" panose="02020603050405020304" charset="0"/>
                <a:ea typeface="宋体" panose="02010600030101010101" pitchFamily="2" charset="-122"/>
              </a:rPr>
              <a:t> = V</a:t>
            </a:r>
            <a:r>
              <a:rPr lang="en-US" sz="2400" kern="0" baseline="-25000">
                <a:latin typeface="Times New Roman" panose="02020603050405020304" charset="0"/>
                <a:ea typeface="宋体" panose="02010600030101010101" pitchFamily="2" charset="-122"/>
              </a:rPr>
              <a:t>OL</a:t>
            </a:r>
            <a:r>
              <a:rPr lang="en-US" sz="2400" i="1" kern="0">
                <a:latin typeface="Times New Roman" panose="02020603050405020304" charset="0"/>
                <a:ea typeface="宋体" panose="02010600030101010101" pitchFamily="2" charset="-122"/>
              </a:rPr>
              <a:t> </a:t>
            </a:r>
            <a:r>
              <a:rPr lang="en-US" sz="2400" i="1" kern="0">
                <a:latin typeface="Times New Roman" panose="02020603050405020304" charset="0"/>
                <a:ea typeface="宋体" panose="02010600030101010101" pitchFamily="2" charset="-122"/>
                <a:sym typeface="+mn-ea"/>
              </a:rPr>
              <a:t>≈</a:t>
            </a:r>
            <a:r>
              <a:rPr lang="en-US" sz="2400" i="1" kern="0">
                <a:latin typeface="Times New Roman" panose="02020603050405020304" charset="0"/>
                <a:ea typeface="宋体" panose="02010600030101010101" pitchFamily="2" charset="-122"/>
              </a:rPr>
              <a:t> </a:t>
            </a:r>
            <a:r>
              <a:rPr lang="en-US" sz="2400" kern="0">
                <a:latin typeface="Times New Roman" panose="02020603050405020304" charset="0"/>
                <a:ea typeface="宋体" panose="02010600030101010101" pitchFamily="2" charset="-122"/>
              </a:rPr>
              <a:t>0</a:t>
            </a:r>
            <a:r>
              <a:rPr lang="en-US" sz="2400" i="1" kern="0">
                <a:latin typeface="Times New Roman" panose="02020603050405020304" charset="0"/>
                <a:ea typeface="宋体" panose="02010600030101010101" pitchFamily="2" charset="-122"/>
              </a:rPr>
              <a:t>V</a:t>
            </a:r>
            <a:r>
              <a:rPr lang="en-US" altLang="zh-CN" sz="2400" b="1" dirty="0">
                <a:solidFill>
                  <a:srgbClr val="000066"/>
                </a:solidFill>
                <a:latin typeface="Arial" panose="020B0604020202020204" pitchFamily="34" charset="0"/>
                <a:ea typeface="楷体_GB2312" pitchFamily="49" charset="-122"/>
              </a:rPr>
              <a:t>。</a:t>
            </a:r>
            <a:endParaRPr lang="zh-CN" altLang="en-US" sz="2400" b="1" kern="1200" dirty="0">
              <a:solidFill>
                <a:srgbClr val="000066"/>
              </a:solidFill>
              <a:ea typeface="楷体_GB2312" pitchFamily="49" charset="-122"/>
            </a:endParaRPr>
          </a:p>
        </p:txBody>
      </p:sp>
      <p:sp>
        <p:nvSpPr>
          <p:cNvPr id="6" name="Rectangle 3"/>
          <p:cNvSpPr>
            <a:spLocks noGrp="1"/>
          </p:cNvSpPr>
          <p:nvPr/>
        </p:nvSpPr>
        <p:spPr>
          <a:xfrm>
            <a:off x="456565" y="5943600"/>
            <a:ext cx="8359775" cy="50419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hangingPunct="1">
              <a:lnSpc>
                <a:spcPct val="10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en-US" altLang="zh-CN" sz="2400" b="1" dirty="0">
                <a:solidFill>
                  <a:srgbClr val="000066"/>
                </a:solidFill>
                <a:latin typeface="Arial" panose="020B0604020202020204" pitchFamily="34" charset="0"/>
                <a:ea typeface="楷体_GB2312" pitchFamily="49" charset="-122"/>
              </a:rPr>
              <a:t>综上</a:t>
            </a:r>
            <a:r>
              <a:rPr lang="zh-CN" altLang="en-US" sz="2400" b="1" dirty="0">
                <a:solidFill>
                  <a:srgbClr val="000066"/>
                </a:solidFill>
                <a:latin typeface="Arial" panose="020B0604020202020204" pitchFamily="34" charset="0"/>
                <a:ea typeface="楷体_GB2312" pitchFamily="49" charset="-122"/>
              </a:rPr>
              <a:t>，</a:t>
            </a:r>
            <a:r>
              <a:rPr lang="en-US" altLang="zh-CN" sz="2400" b="1" dirty="0">
                <a:solidFill>
                  <a:srgbClr val="000066"/>
                </a:solidFill>
                <a:latin typeface="Arial" panose="020B0604020202020204" pitchFamily="34" charset="0"/>
                <a:ea typeface="楷体_GB2312" pitchFamily="49" charset="-122"/>
              </a:rPr>
              <a:t>电路实现非逻辑功能，即为非门，也称为反相器。</a:t>
            </a:r>
            <a:endParaRPr lang="en-US" altLang="zh-CN" sz="2400" b="1" dirty="0">
              <a:solidFill>
                <a:srgbClr val="000066"/>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500" fill="hold">
                                          <p:stCondLst>
                                            <p:cond delay="0"/>
                                          </p:stCondLst>
                                        </p:cTn>
                                        <p:tgtEl>
                                          <p:spTgt spid="6"/>
                                        </p:tgtEl>
                                        <p:attrNameLst>
                                          <p:attrName>style.visibility</p:attrName>
                                        </p:attrNameLst>
                                      </p:cBhvr>
                                      <p:to>
                                        <p:strVal val="visible"/>
                                      </p:to>
                                    </p:set>
                                    <p:animEffect transition="in" filter="box(i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7" name="Rectangle 3"/>
          <p:cNvSpPr>
            <a:spLocks noGrp="1"/>
          </p:cNvSpPr>
          <p:nvPr>
            <p:ph idx="1"/>
          </p:nvPr>
        </p:nvSpPr>
        <p:spPr>
          <a:xfrm>
            <a:off x="381000" y="2133600"/>
            <a:ext cx="8385175" cy="1209040"/>
          </a:xfrm>
        </p:spPr>
        <p:txBody>
          <a:bodyPr vert="horz" wrap="square" lIns="91440" tIns="45720" rIns="91440" bIns="45720" anchor="t" anchorCtr="0"/>
          <a:p>
            <a:pPr marL="0" indent="0" algn="just" eaLnBrk="1" latinLnBrk="0" hangingPunct="1">
              <a:lnSpc>
                <a:spcPct val="10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图3-44 是CMOS反相器的电压传输特性，它表示输出电压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O </a:t>
            </a:r>
            <a:r>
              <a:rPr lang="en-US" altLang="zh-CN" sz="2400" b="1" kern="1200" dirty="0">
                <a:solidFill>
                  <a:srgbClr val="000066"/>
                </a:solidFill>
                <a:latin typeface="Arial" panose="020B0604020202020204" pitchFamily="34" charset="0"/>
                <a:ea typeface="楷体_GB2312" pitchFamily="49" charset="-122"/>
              </a:rPr>
              <a:t>随输入电压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I </a:t>
            </a:r>
            <a:r>
              <a:rPr lang="en-US" altLang="zh-CN" sz="2400" b="1" kern="1200" dirty="0">
                <a:solidFill>
                  <a:srgbClr val="000066"/>
                </a:solidFill>
                <a:latin typeface="Arial" panose="020B0604020202020204" pitchFamily="34" charset="0"/>
                <a:ea typeface="楷体_GB2312" pitchFamily="49" charset="-122"/>
              </a:rPr>
              <a:t>变化的关系曲线。电压传输特性曲线共分为AB、BC、CD、DE和EF五段。</a:t>
            </a:r>
            <a:endParaRPr lang="zh-CN" altLang="en-US" sz="2400" b="1" kern="1200" dirty="0">
              <a:solidFill>
                <a:srgbClr val="000066"/>
              </a:solidFill>
              <a:ea typeface="楷体_GB2312" pitchFamily="49" charset="-122"/>
            </a:endParaRPr>
          </a:p>
        </p:txBody>
      </p:sp>
      <p:sp>
        <p:nvSpPr>
          <p:cNvPr id="2" name="Rectangle 3"/>
          <p:cNvSpPr>
            <a:spLocks noGrp="1"/>
          </p:cNvSpPr>
          <p:nvPr/>
        </p:nvSpPr>
        <p:spPr>
          <a:xfrm>
            <a:off x="914400" y="1219200"/>
            <a:ext cx="242316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2. 传输特性</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3.3 </a:t>
            </a:r>
            <a:r>
              <a:rPr b="1" dirty="0">
                <a:solidFill>
                  <a:srgbClr val="FF0000"/>
                </a:solidFill>
                <a:latin typeface="黑体" panose="02010609060101010101" pitchFamily="49" charset="-122"/>
                <a:ea typeface="黑体" panose="02010609060101010101" pitchFamily="49" charset="-122"/>
              </a:rPr>
              <a:t>COMS逻辑门电路</a:t>
            </a:r>
            <a:endParaRPr b="1" dirty="0">
              <a:solidFill>
                <a:srgbClr val="FF0000"/>
              </a:solidFill>
              <a:latin typeface="黑体" panose="02010609060101010101" pitchFamily="49" charset="-122"/>
              <a:ea typeface="黑体" panose="02010609060101010101" pitchFamily="49" charset="-122"/>
            </a:endParaRPr>
          </a:p>
        </p:txBody>
      </p:sp>
      <p:sp>
        <p:nvSpPr>
          <p:cNvPr id="5" name="Rectangle 3"/>
          <p:cNvSpPr>
            <a:spLocks noGrp="1"/>
          </p:cNvSpPr>
          <p:nvPr/>
        </p:nvSpPr>
        <p:spPr>
          <a:xfrm>
            <a:off x="381000" y="1620520"/>
            <a:ext cx="3032760"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en-US" sz="2400" b="1" dirty="0">
                <a:solidFill>
                  <a:srgbClr val="070707"/>
                </a:solidFill>
                <a:latin typeface="Times New Roman" panose="02020603050405020304" charset="0"/>
                <a:ea typeface="楷体_GB2312" pitchFamily="49" charset="-122"/>
                <a:cs typeface="Times New Roman" panose="02020603050405020304" charset="0"/>
                <a:sym typeface="+mn-ea"/>
              </a:rPr>
              <a:t>(1) </a:t>
            </a:r>
            <a:r>
              <a:rPr sz="2400" b="1" dirty="0">
                <a:solidFill>
                  <a:srgbClr val="070707"/>
                </a:solidFill>
                <a:latin typeface="Times New Roman" panose="02020603050405020304" charset="0"/>
                <a:ea typeface="楷体_GB2312" pitchFamily="49" charset="-122"/>
                <a:cs typeface="Times New Roman" panose="02020603050405020304" charset="0"/>
              </a:rPr>
              <a:t>电压传输特性</a:t>
            </a:r>
            <a:r>
              <a:rPr lang="zh-CN" sz="2400" b="1" dirty="0">
                <a:solidFill>
                  <a:srgbClr val="070707"/>
                </a:solidFill>
                <a:latin typeface="Times New Roman" panose="02020603050405020304" charset="0"/>
                <a:ea typeface="楷体_GB2312" pitchFamily="49" charset="-122"/>
                <a:cs typeface="Times New Roman" panose="02020603050405020304" charset="0"/>
              </a:rPr>
              <a:t>。</a:t>
            </a:r>
            <a:endParaRPr lang="zh-CN" sz="2400" b="1" dirty="0">
              <a:solidFill>
                <a:srgbClr val="070707"/>
              </a:solidFill>
              <a:latin typeface="Times New Roman" panose="02020603050405020304" charset="0"/>
              <a:ea typeface="楷体_GB2312" pitchFamily="49" charset="-122"/>
              <a:cs typeface="Times New Roman" panose="02020603050405020304" charset="0"/>
            </a:endParaRPr>
          </a:p>
        </p:txBody>
      </p:sp>
      <p:grpSp>
        <p:nvGrpSpPr>
          <p:cNvPr id="8" name="组合 7"/>
          <p:cNvGrpSpPr/>
          <p:nvPr/>
        </p:nvGrpSpPr>
        <p:grpSpPr>
          <a:xfrm>
            <a:off x="5671185" y="2878455"/>
            <a:ext cx="3563620" cy="3603625"/>
            <a:chOff x="8931" y="2733"/>
            <a:chExt cx="5612" cy="5675"/>
          </a:xfrm>
        </p:grpSpPr>
        <p:sp>
          <p:nvSpPr>
            <p:cNvPr id="3" name="文本框 2"/>
            <p:cNvSpPr txBox="1"/>
            <p:nvPr/>
          </p:nvSpPr>
          <p:spPr>
            <a:xfrm>
              <a:off x="8931" y="7800"/>
              <a:ext cx="5613" cy="608"/>
            </a:xfrm>
            <a:prstGeom prst="rect">
              <a:avLst/>
            </a:prstGeom>
            <a:noFill/>
            <a:ln w="9525">
              <a:noFill/>
            </a:ln>
          </p:spPr>
          <p:txBody>
            <a:bodyPr wrap="square">
              <a:spAutoFit/>
            </a:bodyPr>
            <a:p>
              <a:pPr>
                <a:lnSpc>
                  <a:spcPct val="120000"/>
                </a:lnSpc>
              </a:pPr>
              <a:r>
                <a:rPr sz="1600">
                  <a:ea typeface="宋体" panose="02010600030101010101" pitchFamily="2" charset="-122"/>
                </a:rPr>
                <a:t>图3-44 CMOS反相器的电压传输特性</a:t>
              </a:r>
              <a:endParaRPr sz="1600">
                <a:ea typeface="宋体" panose="02010600030101010101" pitchFamily="2" charset="-122"/>
              </a:endParaRPr>
            </a:p>
          </p:txBody>
        </p:sp>
        <p:pic>
          <p:nvPicPr>
            <p:cNvPr id="9268" name="图片 2705"/>
            <p:cNvPicPr>
              <a:picLocks noChangeAspect="1"/>
            </p:cNvPicPr>
            <p:nvPr/>
          </p:nvPicPr>
          <p:blipFill>
            <a:blip r:embed="rId1"/>
            <a:stretch>
              <a:fillRect/>
            </a:stretch>
          </p:blipFill>
          <p:spPr>
            <a:xfrm>
              <a:off x="9128" y="2733"/>
              <a:ext cx="5067" cy="5031"/>
            </a:xfrm>
            <a:prstGeom prst="rect">
              <a:avLst/>
            </a:prstGeom>
            <a:noFill/>
            <a:ln>
              <a:noFill/>
            </a:ln>
          </p:spPr>
        </p:pic>
      </p:grpSp>
      <p:sp>
        <p:nvSpPr>
          <p:cNvPr id="9" name="Rectangle 3"/>
          <p:cNvSpPr>
            <a:spLocks noGrp="1"/>
          </p:cNvSpPr>
          <p:nvPr/>
        </p:nvSpPr>
        <p:spPr>
          <a:xfrm>
            <a:off x="457200" y="3505200"/>
            <a:ext cx="5333365" cy="119824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0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在AB段，</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I</a:t>
            </a:r>
            <a:r>
              <a:rPr lang="en-US" sz="2400" i="1" kern="1200">
                <a:latin typeface="Times New Roman" panose="02020603050405020304" charset="0"/>
                <a:ea typeface="宋体" panose="02010600030101010101" pitchFamily="2" charset="-122"/>
              </a:rPr>
              <a:t> &lt; V</a:t>
            </a:r>
            <a:r>
              <a:rPr lang="en-US" sz="2400" kern="1200" baseline="-25000">
                <a:latin typeface="Times New Roman" panose="02020603050405020304" charset="0"/>
                <a:ea typeface="宋体" panose="02010600030101010101" pitchFamily="2" charset="-122"/>
              </a:rPr>
              <a:t>TN</a:t>
            </a:r>
            <a:r>
              <a:rPr lang="en-US" altLang="zh-CN" sz="2400" b="1" kern="1200" dirty="0">
                <a:solidFill>
                  <a:srgbClr val="000066"/>
                </a:solidFill>
                <a:latin typeface="Arial" panose="020B0604020202020204" pitchFamily="34" charset="0"/>
                <a:ea typeface="楷体_GB2312" pitchFamily="49" charset="-122"/>
              </a:rPr>
              <a:t>，T</a:t>
            </a:r>
            <a:r>
              <a:rPr lang="en-US" altLang="zh-CN" sz="2400" b="1" kern="1200" baseline="-25000" dirty="0">
                <a:solidFill>
                  <a:srgbClr val="000066"/>
                </a:solidFill>
                <a:latin typeface="Arial" panose="020B0604020202020204" pitchFamily="34" charset="0"/>
                <a:ea typeface="楷体_GB2312" pitchFamily="49" charset="-122"/>
              </a:rPr>
              <a:t>N </a:t>
            </a:r>
            <a:r>
              <a:rPr lang="en-US" altLang="zh-CN" sz="2400" b="1" kern="1200" dirty="0">
                <a:solidFill>
                  <a:srgbClr val="000066"/>
                </a:solidFill>
                <a:latin typeface="Arial" panose="020B0604020202020204" pitchFamily="34" charset="0"/>
                <a:ea typeface="楷体_GB2312" pitchFamily="49" charset="-122"/>
              </a:rPr>
              <a:t>管截止，T</a:t>
            </a:r>
            <a:r>
              <a:rPr lang="en-US" altLang="zh-CN" sz="2400" b="1" kern="1200" baseline="-25000" dirty="0">
                <a:solidFill>
                  <a:srgbClr val="000066"/>
                </a:solidFill>
                <a:latin typeface="Arial" panose="020B0604020202020204" pitchFamily="34" charset="0"/>
                <a:ea typeface="楷体_GB2312" pitchFamily="49" charset="-122"/>
              </a:rPr>
              <a:t>P</a:t>
            </a:r>
            <a:r>
              <a:rPr lang="en-US" altLang="zh-CN" sz="2400" b="1" kern="1200" dirty="0">
                <a:solidFill>
                  <a:srgbClr val="000066"/>
                </a:solidFill>
                <a:latin typeface="Arial" panose="020B0604020202020204" pitchFamily="34" charset="0"/>
                <a:ea typeface="楷体_GB2312" pitchFamily="49" charset="-122"/>
              </a:rPr>
              <a:t> 管导通且工作在低内阻的可变电阻区，输出</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O </a:t>
            </a:r>
            <a:r>
              <a:rPr lang="en-US" altLang="zh-CN" sz="2400" b="1" kern="1200" dirty="0">
                <a:solidFill>
                  <a:srgbClr val="000066"/>
                </a:solidFill>
                <a:latin typeface="Arial" panose="020B0604020202020204" pitchFamily="34" charset="0"/>
                <a:ea typeface="楷体_GB2312" pitchFamily="49" charset="-122"/>
              </a:rPr>
              <a:t>为高电平，即</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O</a:t>
            </a:r>
            <a:r>
              <a:rPr lang="en-US" sz="2400" i="1" kern="1200">
                <a:latin typeface="Times New Roman" panose="02020603050405020304" charset="0"/>
                <a:ea typeface="宋体" panose="02010600030101010101" pitchFamily="2" charset="-122"/>
              </a:rPr>
              <a:t> = V</a:t>
            </a:r>
            <a:r>
              <a:rPr lang="en-US" sz="2400" kern="1200" baseline="-25000">
                <a:latin typeface="Times New Roman" panose="02020603050405020304" charset="0"/>
                <a:ea typeface="宋体" panose="02010600030101010101" pitchFamily="2" charset="-122"/>
              </a:rPr>
              <a:t>OH </a:t>
            </a:r>
            <a:r>
              <a:rPr lang="en-US" sz="2400" i="1" kern="0">
                <a:latin typeface="Times New Roman" panose="02020603050405020304" charset="0"/>
                <a:ea typeface="宋体" panose="02010600030101010101" pitchFamily="2" charset="-122"/>
                <a:sym typeface="+mn-ea"/>
              </a:rPr>
              <a:t> </a:t>
            </a:r>
            <a:r>
              <a:rPr lang="en-US" sz="2400" i="1" kern="0">
                <a:latin typeface="Times New Roman" panose="02020603050405020304" charset="0"/>
                <a:ea typeface="宋体" panose="02010600030101010101" pitchFamily="2" charset="-122"/>
                <a:sym typeface="+mn-ea"/>
              </a:rPr>
              <a:t>≈</a:t>
            </a:r>
            <a:r>
              <a:rPr lang="en-US" sz="2400" i="1" kern="0">
                <a:latin typeface="Times New Roman" panose="02020603050405020304" charset="0"/>
                <a:ea typeface="宋体" panose="02010600030101010101" pitchFamily="2" charset="-122"/>
                <a:sym typeface="+mn-ea"/>
              </a:rPr>
              <a:t> </a:t>
            </a:r>
            <a:r>
              <a:rPr lang="en-US" sz="2400" kern="1200" baseline="-25000">
                <a:latin typeface="Times New Roman" panose="02020603050405020304" charset="0"/>
                <a:ea typeface="宋体" panose="02010600030101010101" pitchFamily="2" charset="-122"/>
              </a:rPr>
              <a:t> </a:t>
            </a:r>
            <a:r>
              <a:rPr lang="en-US" sz="2400" i="1" kern="1200">
                <a:latin typeface="Times New Roman" panose="02020603050405020304" charset="0"/>
                <a:ea typeface="宋体" panose="02010600030101010101" pitchFamily="2" charset="-122"/>
              </a:rPr>
              <a:t>V</a:t>
            </a:r>
            <a:r>
              <a:rPr lang="en-US" sz="2400" kern="1200" baseline="-25000">
                <a:latin typeface="Times New Roman" panose="02020603050405020304" charset="0"/>
                <a:ea typeface="宋体" panose="02010600030101010101" pitchFamily="2" charset="-122"/>
              </a:rPr>
              <a:t>DD</a:t>
            </a:r>
            <a:r>
              <a:rPr lang="en-US" altLang="zh-CN" sz="2400" b="1" kern="1200" dirty="0">
                <a:solidFill>
                  <a:srgbClr val="000066"/>
                </a:solidFill>
                <a:latin typeface="Arial" panose="020B0604020202020204" pitchFamily="34" charset="0"/>
                <a:ea typeface="楷体_GB2312" pitchFamily="49" charset="-122"/>
              </a:rPr>
              <a:t>。 </a:t>
            </a:r>
            <a:endParaRPr lang="zh-CN" altLang="en-US" sz="2400" b="1" kern="1200" dirty="0">
              <a:solidFill>
                <a:srgbClr val="000066"/>
              </a:solidFill>
              <a:ea typeface="楷体_GB2312" pitchFamily="49" charset="-122"/>
            </a:endParaRPr>
          </a:p>
        </p:txBody>
      </p:sp>
      <p:sp>
        <p:nvSpPr>
          <p:cNvPr id="10" name="Rectangle 3"/>
          <p:cNvSpPr>
            <a:spLocks noGrp="1"/>
          </p:cNvSpPr>
          <p:nvPr/>
        </p:nvSpPr>
        <p:spPr>
          <a:xfrm>
            <a:off x="466090" y="4775200"/>
            <a:ext cx="5333365" cy="152019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0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在BC段，</a:t>
            </a:r>
            <a:r>
              <a:rPr lang="en-US" sz="2400" i="1" kern="1200">
                <a:latin typeface="Times New Roman" panose="02020603050405020304" charset="0"/>
                <a:ea typeface="宋体" panose="02010600030101010101" pitchFamily="2" charset="-122"/>
              </a:rPr>
              <a:t>υ</a:t>
            </a:r>
            <a:r>
              <a:rPr lang="en-US" sz="2400" kern="1200" baseline="-25000">
                <a:latin typeface="Times New Roman" panose="02020603050405020304" charset="0"/>
                <a:ea typeface="宋体" panose="02010600030101010101" pitchFamily="2" charset="-122"/>
              </a:rPr>
              <a:t>I</a:t>
            </a:r>
            <a:r>
              <a:rPr lang="en-US" sz="2400" i="1" kern="1200">
                <a:latin typeface="Times New Roman" panose="02020603050405020304" charset="0"/>
                <a:ea typeface="宋体" panose="02010600030101010101" pitchFamily="2" charset="-122"/>
              </a:rPr>
              <a:t> </a:t>
            </a:r>
            <a:r>
              <a:rPr lang="en-US" sz="2400" i="1" kern="1200">
                <a:latin typeface="Times New Roman" panose="02020603050405020304" charset="0"/>
                <a:ea typeface="宋体" panose="02010600030101010101" pitchFamily="2" charset="-122"/>
                <a:sym typeface="Symbol" panose="05050102010706020507" charset="0"/>
              </a:rPr>
              <a:t> </a:t>
            </a:r>
            <a:r>
              <a:rPr lang="en-US" sz="2400" i="1" kern="1200">
                <a:latin typeface="Times New Roman" panose="02020603050405020304" charset="0"/>
                <a:ea typeface="宋体" panose="02010600030101010101" pitchFamily="2" charset="-122"/>
              </a:rPr>
              <a:t>V</a:t>
            </a:r>
            <a:r>
              <a:rPr lang="en-US" sz="2400" kern="1200" baseline="-25000">
                <a:latin typeface="Times New Roman" panose="02020603050405020304" charset="0"/>
                <a:ea typeface="宋体" panose="02010600030101010101" pitchFamily="2" charset="-122"/>
              </a:rPr>
              <a:t>TN</a:t>
            </a:r>
            <a:r>
              <a:rPr lang="en-US" altLang="zh-CN" sz="2400" b="1" kern="1200" dirty="0">
                <a:solidFill>
                  <a:srgbClr val="000066"/>
                </a:solidFill>
                <a:latin typeface="Arial" panose="020B0604020202020204" pitchFamily="34" charset="0"/>
                <a:ea typeface="楷体_GB2312" pitchFamily="49" charset="-122"/>
              </a:rPr>
              <a:t>，T</a:t>
            </a:r>
            <a:r>
              <a:rPr lang="en-US" altLang="zh-CN" sz="2400" b="1" kern="1200" baseline="-25000" dirty="0">
                <a:solidFill>
                  <a:srgbClr val="000066"/>
                </a:solidFill>
                <a:latin typeface="Arial" panose="020B0604020202020204" pitchFamily="34" charset="0"/>
                <a:ea typeface="楷体_GB2312" pitchFamily="49" charset="-122"/>
              </a:rPr>
              <a:t>N</a:t>
            </a:r>
            <a:r>
              <a:rPr lang="en-US" altLang="zh-CN" sz="2400" b="1" kern="1200" dirty="0">
                <a:solidFill>
                  <a:srgbClr val="000066"/>
                </a:solidFill>
                <a:latin typeface="Arial" panose="020B0604020202020204" pitchFamily="34" charset="0"/>
                <a:ea typeface="楷体_GB2312" pitchFamily="49" charset="-122"/>
              </a:rPr>
              <a:t> 管开始导通，但此时由于</a:t>
            </a:r>
            <a:r>
              <a:rPr lang="en-US" sz="2400" i="1" kern="1200">
                <a:latin typeface="Times New Roman" panose="02020603050405020304" charset="0"/>
                <a:ea typeface="宋体" panose="02010600030101010101" pitchFamily="2" charset="-122"/>
              </a:rPr>
              <a:t>υ</a:t>
            </a:r>
            <a:r>
              <a:rPr lang="en-US" sz="2400" kern="1200" baseline="-25000">
                <a:latin typeface="Times New Roman" panose="02020603050405020304" charset="0"/>
                <a:ea typeface="宋体" panose="02010600030101010101" pitchFamily="2" charset="-122"/>
              </a:rPr>
              <a:t>DSN</a:t>
            </a:r>
            <a:r>
              <a:rPr lang="en-US" sz="2400" i="1" kern="1200">
                <a:latin typeface="Times New Roman" panose="02020603050405020304" charset="0"/>
                <a:ea typeface="宋体" panose="02010600030101010101" pitchFamily="2" charset="-122"/>
              </a:rPr>
              <a:t> = υ</a:t>
            </a:r>
            <a:r>
              <a:rPr lang="en-US" sz="2400" kern="1200" baseline="-25000">
                <a:latin typeface="Times New Roman" panose="02020603050405020304" charset="0"/>
                <a:ea typeface="宋体" panose="02010600030101010101" pitchFamily="2" charset="-122"/>
              </a:rPr>
              <a:t>O</a:t>
            </a:r>
            <a:r>
              <a:rPr lang="en-US" sz="2400" i="1" kern="1200">
                <a:latin typeface="Times New Roman" panose="02020603050405020304" charset="0"/>
                <a:ea typeface="宋体" panose="02010600030101010101" pitchFamily="2" charset="-122"/>
              </a:rPr>
              <a:t> &gt; υ</a:t>
            </a:r>
            <a:r>
              <a:rPr lang="en-US" sz="2400" kern="1200" baseline="-25000">
                <a:latin typeface="Times New Roman" panose="02020603050405020304" charset="0"/>
                <a:ea typeface="宋体" panose="02010600030101010101" pitchFamily="2" charset="-122"/>
              </a:rPr>
              <a:t>GSN</a:t>
            </a:r>
            <a:r>
              <a:rPr lang="en-US" sz="2400" i="1" kern="1200">
                <a:latin typeface="Times New Roman" panose="02020603050405020304" charset="0"/>
                <a:ea typeface="宋体" panose="02010600030101010101" pitchFamily="2" charset="-122"/>
              </a:rPr>
              <a:t> - V</a:t>
            </a:r>
            <a:r>
              <a:rPr lang="en-US" sz="2400" kern="1200" baseline="-25000">
                <a:latin typeface="Times New Roman" panose="02020603050405020304" charset="0"/>
                <a:ea typeface="宋体" panose="02010600030101010101" pitchFamily="2" charset="-122"/>
              </a:rPr>
              <a:t>TN</a:t>
            </a:r>
            <a:r>
              <a:rPr lang="en-US" altLang="zh-CN" sz="2400" b="1" kern="1200" dirty="0">
                <a:solidFill>
                  <a:srgbClr val="000066"/>
                </a:solidFill>
                <a:latin typeface="Arial" panose="020B0604020202020204" pitchFamily="34" charset="0"/>
                <a:ea typeface="楷体_GB2312" pitchFamily="49" charset="-122"/>
              </a:rPr>
              <a:t> ，T</a:t>
            </a:r>
            <a:r>
              <a:rPr lang="en-US" altLang="zh-CN" sz="2400" b="1" kern="1200" baseline="-25000" dirty="0">
                <a:solidFill>
                  <a:srgbClr val="000066"/>
                </a:solidFill>
                <a:latin typeface="Arial" panose="020B0604020202020204" pitchFamily="34" charset="0"/>
                <a:ea typeface="楷体_GB2312" pitchFamily="49" charset="-122"/>
              </a:rPr>
              <a:t>N</a:t>
            </a:r>
            <a:r>
              <a:rPr lang="en-US" altLang="zh-CN" sz="2400" b="1" kern="1200" dirty="0">
                <a:solidFill>
                  <a:srgbClr val="000066"/>
                </a:solidFill>
                <a:latin typeface="Arial" panose="020B0604020202020204" pitchFamily="34" charset="0"/>
                <a:ea typeface="楷体_GB2312" pitchFamily="49" charset="-122"/>
              </a:rPr>
              <a:t> 管工作在内阻较高的饱和区，而T</a:t>
            </a:r>
            <a:r>
              <a:rPr lang="en-US" altLang="zh-CN" sz="2400" b="1" kern="1200" baseline="-25000" dirty="0">
                <a:solidFill>
                  <a:srgbClr val="000066"/>
                </a:solidFill>
                <a:latin typeface="Arial" panose="020B0604020202020204" pitchFamily="34" charset="0"/>
                <a:ea typeface="楷体_GB2312" pitchFamily="49" charset="-122"/>
              </a:rPr>
              <a:t>P</a:t>
            </a:r>
            <a:r>
              <a:rPr lang="en-US" altLang="zh-CN" sz="2400" b="1" kern="1200" dirty="0">
                <a:solidFill>
                  <a:srgbClr val="000066"/>
                </a:solidFill>
                <a:latin typeface="Arial" panose="020B0604020202020204" pitchFamily="34" charset="0"/>
                <a:ea typeface="楷体_GB2312" pitchFamily="49" charset="-122"/>
              </a:rPr>
              <a:t> 管仍工作在可变电阻区。</a:t>
            </a:r>
            <a:endParaRPr lang="zh-CN" altLang="en-US" sz="2400" b="1" kern="1200" dirty="0">
              <a:solidFill>
                <a:srgbClr val="000066"/>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500" fill="hold">
                                          <p:stCondLst>
                                            <p:cond delay="0"/>
                                          </p:stCondLst>
                                        </p:cTn>
                                        <p:tgtEl>
                                          <p:spTgt spid="9"/>
                                        </p:tgtEl>
                                        <p:attrNameLst>
                                          <p:attrName>style.visibility</p:attrName>
                                        </p:attrNameLst>
                                      </p:cBhvr>
                                      <p:to>
                                        <p:strVal val="visible"/>
                                      </p:to>
                                    </p:set>
                                    <p:animEffect transition="in" filter="diamond(i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7" name="Rectangle 3"/>
          <p:cNvSpPr>
            <a:spLocks noGrp="1"/>
          </p:cNvSpPr>
          <p:nvPr>
            <p:ph idx="1"/>
          </p:nvPr>
        </p:nvSpPr>
        <p:spPr>
          <a:xfrm>
            <a:off x="381000" y="228600"/>
            <a:ext cx="8385175" cy="2700020"/>
          </a:xfrm>
        </p:spPr>
        <p:txBody>
          <a:bodyPr vert="horz" wrap="square" lIns="91440" tIns="45720" rIns="91440" bIns="45720" anchor="t" anchorCtr="0"/>
          <a:p>
            <a:pPr marL="0" indent="0" algn="just" eaLnBrk="1" latinLnBrk="0" hangingPunct="1">
              <a:lnSpc>
                <a:spcPct val="10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在CD段，</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I</a:t>
            </a:r>
            <a:r>
              <a:rPr lang="en-US" altLang="zh-CN" sz="2400" b="1" kern="1200" dirty="0">
                <a:solidFill>
                  <a:srgbClr val="000066"/>
                </a:solidFill>
                <a:latin typeface="Arial" panose="020B0604020202020204" pitchFamily="34" charset="0"/>
                <a:ea typeface="楷体_GB2312" pitchFamily="49" charset="-122"/>
              </a:rPr>
              <a:t> 的增加和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O</a:t>
            </a:r>
            <a:r>
              <a:rPr lang="en-US" altLang="zh-CN" sz="2400" b="1" kern="1200" dirty="0">
                <a:solidFill>
                  <a:srgbClr val="000066"/>
                </a:solidFill>
                <a:latin typeface="Arial" panose="020B0604020202020204" pitchFamily="34" charset="0"/>
                <a:ea typeface="楷体_GB2312" pitchFamily="49" charset="-122"/>
              </a:rPr>
              <a:t> 的降低使T</a:t>
            </a:r>
            <a:r>
              <a:rPr lang="en-US" altLang="zh-CN" sz="2400" b="1" kern="1200" baseline="-25000" dirty="0">
                <a:solidFill>
                  <a:srgbClr val="000066"/>
                </a:solidFill>
                <a:latin typeface="Arial" panose="020B0604020202020204" pitchFamily="34" charset="0"/>
                <a:ea typeface="楷体_GB2312" pitchFamily="49" charset="-122"/>
              </a:rPr>
              <a:t>N</a:t>
            </a:r>
            <a:r>
              <a:rPr lang="en-US" altLang="zh-CN" sz="2400" b="1" kern="1200" dirty="0">
                <a:solidFill>
                  <a:srgbClr val="000066"/>
                </a:solidFill>
                <a:latin typeface="Arial" panose="020B0604020202020204" pitchFamily="34" charset="0"/>
                <a:ea typeface="楷体_GB2312" pitchFamily="49" charset="-122"/>
              </a:rPr>
              <a:t> 管和T</a:t>
            </a:r>
            <a:r>
              <a:rPr lang="en-US" altLang="zh-CN" sz="2400" b="1" kern="1200" baseline="-25000" dirty="0">
                <a:solidFill>
                  <a:srgbClr val="000066"/>
                </a:solidFill>
                <a:latin typeface="Arial" panose="020B0604020202020204" pitchFamily="34" charset="0"/>
                <a:ea typeface="楷体_GB2312" pitchFamily="49" charset="-122"/>
              </a:rPr>
              <a:t>P</a:t>
            </a:r>
            <a:r>
              <a:rPr lang="en-US" altLang="zh-CN" sz="2400" b="1" kern="1200" dirty="0">
                <a:solidFill>
                  <a:srgbClr val="000066"/>
                </a:solidFill>
                <a:latin typeface="Arial" panose="020B0604020202020204" pitchFamily="34" charset="0"/>
                <a:ea typeface="楷体_GB2312" pitchFamily="49" charset="-122"/>
              </a:rPr>
              <a:t> 管都工作在饱和区，输出电压</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O</a:t>
            </a:r>
            <a:r>
              <a:rPr lang="en-US" altLang="zh-CN" sz="2400" b="1" kern="1200" dirty="0">
                <a:solidFill>
                  <a:srgbClr val="000066"/>
                </a:solidFill>
                <a:latin typeface="Arial" panose="020B0604020202020204" pitchFamily="34" charset="0"/>
                <a:ea typeface="楷体_GB2312" pitchFamily="49" charset="-122"/>
              </a:rPr>
              <a:t> 随输入电压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I</a:t>
            </a:r>
            <a:r>
              <a:rPr lang="en-US" altLang="zh-CN" sz="2400" b="1" kern="1200" dirty="0">
                <a:solidFill>
                  <a:srgbClr val="000066"/>
                </a:solidFill>
                <a:latin typeface="Arial" panose="020B0604020202020204" pitchFamily="34" charset="0"/>
                <a:ea typeface="楷体_GB2312" pitchFamily="49" charset="-122"/>
              </a:rPr>
              <a:t> 的增加</a:t>
            </a:r>
            <a:r>
              <a:rPr lang="zh-CN" altLang="en-US" sz="2400" b="1" kern="1200" dirty="0">
                <a:solidFill>
                  <a:srgbClr val="000066"/>
                </a:solidFill>
                <a:latin typeface="Arial" panose="020B0604020202020204" pitchFamily="34" charset="0"/>
                <a:ea typeface="楷体_GB2312" pitchFamily="49" charset="-122"/>
              </a:rPr>
              <a:t>迅速</a:t>
            </a:r>
            <a:r>
              <a:rPr lang="en-US" altLang="zh-CN" sz="2400" b="1" kern="1200" dirty="0">
                <a:solidFill>
                  <a:srgbClr val="000066"/>
                </a:solidFill>
                <a:latin typeface="Arial" panose="020B0604020202020204" pitchFamily="34" charset="0"/>
                <a:ea typeface="楷体_GB2312" pitchFamily="49" charset="-122"/>
              </a:rPr>
              <a:t>下降，该段称为传输特性的转折区，对应的输入电压值称为CMOS反相器的阈值电压或门槛电压 </a:t>
            </a:r>
            <a:r>
              <a:rPr lang="en-US" sz="2400" i="1" kern="1200">
                <a:latin typeface="Times New Roman" panose="02020603050405020304" charset="0"/>
                <a:ea typeface="宋体" panose="02010600030101010101" pitchFamily="2" charset="-122"/>
                <a:sym typeface="+mn-ea"/>
              </a:rPr>
              <a:t>V</a:t>
            </a:r>
            <a:r>
              <a:rPr lang="en-US" sz="2400" kern="1200" baseline="-25000">
                <a:latin typeface="Times New Roman" panose="02020603050405020304" charset="0"/>
                <a:ea typeface="宋体" panose="02010600030101010101" pitchFamily="2" charset="-122"/>
                <a:sym typeface="+mn-ea"/>
              </a:rPr>
              <a:t>TH</a:t>
            </a:r>
            <a:r>
              <a:rPr lang="en-US" altLang="zh-CN" sz="2400" b="1" kern="1200" dirty="0">
                <a:solidFill>
                  <a:srgbClr val="000066"/>
                </a:solidFill>
                <a:latin typeface="Arial" panose="020B0604020202020204" pitchFamily="34" charset="0"/>
                <a:ea typeface="楷体_GB2312" pitchFamily="49" charset="-122"/>
              </a:rPr>
              <a:t>，</a:t>
            </a:r>
            <a:r>
              <a:rPr lang="en-US" sz="2400" i="1" kern="1200">
                <a:latin typeface="Times New Roman" panose="02020603050405020304" charset="0"/>
                <a:ea typeface="宋体" panose="02010600030101010101" pitchFamily="2" charset="-122"/>
              </a:rPr>
              <a:t>V</a:t>
            </a:r>
            <a:r>
              <a:rPr lang="en-US" sz="2400" kern="1200" baseline="-25000">
                <a:latin typeface="Times New Roman" panose="02020603050405020304" charset="0"/>
                <a:ea typeface="宋体" panose="02010600030101010101" pitchFamily="2" charset="-122"/>
              </a:rPr>
              <a:t>TH</a:t>
            </a:r>
            <a:r>
              <a:rPr lang="en-US" sz="2400" i="1" kern="1200">
                <a:latin typeface="Times New Roman" panose="02020603050405020304" charset="0"/>
                <a:ea typeface="宋体" panose="02010600030101010101" pitchFamily="2" charset="-122"/>
              </a:rPr>
              <a:t> </a:t>
            </a:r>
            <a:r>
              <a:rPr lang="en-US" sz="2400" kern="1200">
                <a:latin typeface="Times New Roman" panose="02020603050405020304" charset="0"/>
                <a:ea typeface="宋体" panose="02010600030101010101" pitchFamily="2" charset="-122"/>
              </a:rPr>
              <a:t>=</a:t>
            </a:r>
            <a:r>
              <a:rPr lang="en-US" sz="2400" i="1" kern="1200">
                <a:latin typeface="Times New Roman" panose="02020603050405020304" charset="0"/>
                <a:ea typeface="宋体" panose="02010600030101010101" pitchFamily="2" charset="-122"/>
              </a:rPr>
              <a:t> V</a:t>
            </a:r>
            <a:r>
              <a:rPr lang="en-US" sz="2400" kern="1200" baseline="-25000">
                <a:latin typeface="Times New Roman" panose="02020603050405020304" charset="0"/>
                <a:ea typeface="宋体" panose="02010600030101010101" pitchFamily="2" charset="-122"/>
              </a:rPr>
              <a:t>DD</a:t>
            </a:r>
            <a:r>
              <a:rPr lang="en-US" sz="2400" i="1" kern="1200">
                <a:latin typeface="Times New Roman" panose="02020603050405020304" charset="0"/>
                <a:ea typeface="宋体" panose="02010600030101010101" pitchFamily="2" charset="-122"/>
              </a:rPr>
              <a:t> </a:t>
            </a:r>
            <a:r>
              <a:rPr lang="en-US" sz="2400" kern="1200">
                <a:latin typeface="Times New Roman" panose="02020603050405020304" charset="0"/>
                <a:ea typeface="宋体" panose="02010600030101010101" pitchFamily="2" charset="-122"/>
              </a:rPr>
              <a:t>/ 2</a:t>
            </a:r>
            <a:r>
              <a:rPr lang="en-US" altLang="zh-CN" sz="2400" b="1" kern="1200" dirty="0">
                <a:solidFill>
                  <a:srgbClr val="000066"/>
                </a:solidFill>
                <a:latin typeface="Arial" panose="020B0604020202020204" pitchFamily="34" charset="0"/>
                <a:ea typeface="楷体_GB2312" pitchFamily="49" charset="-122"/>
              </a:rPr>
              <a:t>。当反相器工作在转折区时，输出状态会发生改变。具体来说，输入电压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I </a:t>
            </a:r>
            <a:r>
              <a:rPr lang="en-US" altLang="zh-CN" sz="2400" b="1" kern="1200" dirty="0">
                <a:solidFill>
                  <a:srgbClr val="000066"/>
                </a:solidFill>
                <a:latin typeface="Arial" panose="020B0604020202020204" pitchFamily="34" charset="0"/>
                <a:ea typeface="楷体_GB2312" pitchFamily="49" charset="-122"/>
              </a:rPr>
              <a:t>增加到 </a:t>
            </a:r>
            <a:r>
              <a:rPr lang="en-US" sz="2400" i="1" kern="1200">
                <a:latin typeface="Times New Roman" panose="02020603050405020304" charset="0"/>
                <a:ea typeface="宋体" panose="02010600030101010101" pitchFamily="2" charset="-122"/>
                <a:sym typeface="+mn-ea"/>
              </a:rPr>
              <a:t>V</a:t>
            </a:r>
            <a:r>
              <a:rPr lang="en-US" sz="2400" kern="1200" baseline="-25000">
                <a:latin typeface="Times New Roman" panose="02020603050405020304" charset="0"/>
                <a:ea typeface="宋体" panose="02010600030101010101" pitchFamily="2" charset="-122"/>
                <a:sym typeface="+mn-ea"/>
              </a:rPr>
              <a:t>TH </a:t>
            </a:r>
            <a:r>
              <a:rPr lang="en-US" altLang="zh-CN" sz="2400" b="1" kern="1200" dirty="0">
                <a:solidFill>
                  <a:srgbClr val="000066"/>
                </a:solidFill>
                <a:latin typeface="Arial" panose="020B0604020202020204" pitchFamily="34" charset="0"/>
                <a:ea typeface="楷体_GB2312" pitchFamily="49" charset="-122"/>
              </a:rPr>
              <a:t>时，输出电压由高电平变为低电平状态；或者输入电压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I</a:t>
            </a:r>
            <a:r>
              <a:rPr lang="en-US" altLang="zh-CN" sz="2400" b="1" kern="1200" dirty="0">
                <a:solidFill>
                  <a:srgbClr val="000066"/>
                </a:solidFill>
                <a:latin typeface="Arial" panose="020B0604020202020204" pitchFamily="34" charset="0"/>
                <a:ea typeface="楷体_GB2312" pitchFamily="49" charset="-122"/>
              </a:rPr>
              <a:t>下降到 </a:t>
            </a:r>
            <a:r>
              <a:rPr lang="en-US" sz="2400" i="1" kern="1200">
                <a:latin typeface="Times New Roman" panose="02020603050405020304" charset="0"/>
                <a:ea typeface="宋体" panose="02010600030101010101" pitchFamily="2" charset="-122"/>
                <a:sym typeface="+mn-ea"/>
              </a:rPr>
              <a:t>V</a:t>
            </a:r>
            <a:r>
              <a:rPr lang="en-US" sz="2400" kern="1200" baseline="-25000">
                <a:latin typeface="Times New Roman" panose="02020603050405020304" charset="0"/>
                <a:ea typeface="宋体" panose="02010600030101010101" pitchFamily="2" charset="-122"/>
                <a:sym typeface="+mn-ea"/>
              </a:rPr>
              <a:t>TH </a:t>
            </a:r>
            <a:r>
              <a:rPr lang="en-US" altLang="zh-CN" sz="2400" b="1" kern="1200" dirty="0">
                <a:solidFill>
                  <a:srgbClr val="000066"/>
                </a:solidFill>
                <a:latin typeface="Arial" panose="020B0604020202020204" pitchFamily="34" charset="0"/>
                <a:ea typeface="楷体_GB2312" pitchFamily="49" charset="-122"/>
              </a:rPr>
              <a:t>时，输出电压由低电平变为高电平状态。</a:t>
            </a:r>
            <a:endParaRPr lang="en-US" sz="2400"/>
          </a:p>
        </p:txBody>
      </p:sp>
      <p:grpSp>
        <p:nvGrpSpPr>
          <p:cNvPr id="8" name="组合 7"/>
          <p:cNvGrpSpPr/>
          <p:nvPr/>
        </p:nvGrpSpPr>
        <p:grpSpPr>
          <a:xfrm>
            <a:off x="5518785" y="2878455"/>
            <a:ext cx="3563620" cy="3603625"/>
            <a:chOff x="8931" y="2733"/>
            <a:chExt cx="5612" cy="5675"/>
          </a:xfrm>
        </p:grpSpPr>
        <p:sp>
          <p:nvSpPr>
            <p:cNvPr id="3" name="文本框 2"/>
            <p:cNvSpPr txBox="1"/>
            <p:nvPr/>
          </p:nvSpPr>
          <p:spPr>
            <a:xfrm>
              <a:off x="8931" y="7800"/>
              <a:ext cx="5613" cy="608"/>
            </a:xfrm>
            <a:prstGeom prst="rect">
              <a:avLst/>
            </a:prstGeom>
            <a:noFill/>
            <a:ln w="9525">
              <a:noFill/>
            </a:ln>
          </p:spPr>
          <p:txBody>
            <a:bodyPr wrap="square">
              <a:spAutoFit/>
            </a:bodyPr>
            <a:p>
              <a:pPr>
                <a:lnSpc>
                  <a:spcPct val="120000"/>
                </a:lnSpc>
              </a:pPr>
              <a:r>
                <a:rPr sz="1600">
                  <a:ea typeface="宋体" panose="02010600030101010101" pitchFamily="2" charset="-122"/>
                </a:rPr>
                <a:t>图3-44 CMOS反相器的电压传输特性</a:t>
              </a:r>
              <a:endParaRPr sz="1600">
                <a:ea typeface="宋体" panose="02010600030101010101" pitchFamily="2" charset="-122"/>
              </a:endParaRPr>
            </a:p>
          </p:txBody>
        </p:sp>
        <p:pic>
          <p:nvPicPr>
            <p:cNvPr id="9268" name="图片 2705"/>
            <p:cNvPicPr>
              <a:picLocks noChangeAspect="1"/>
            </p:cNvPicPr>
            <p:nvPr/>
          </p:nvPicPr>
          <p:blipFill>
            <a:blip r:embed="rId1"/>
            <a:stretch>
              <a:fillRect/>
            </a:stretch>
          </p:blipFill>
          <p:spPr>
            <a:xfrm>
              <a:off x="9128" y="2733"/>
              <a:ext cx="5067" cy="5031"/>
            </a:xfrm>
            <a:prstGeom prst="rect">
              <a:avLst/>
            </a:prstGeom>
            <a:noFill/>
            <a:ln>
              <a:noFill/>
            </a:ln>
          </p:spPr>
        </p:pic>
      </p:grpSp>
      <p:sp>
        <p:nvSpPr>
          <p:cNvPr id="9" name="Rectangle 3"/>
          <p:cNvSpPr>
            <a:spLocks noGrp="1"/>
          </p:cNvSpPr>
          <p:nvPr/>
        </p:nvSpPr>
        <p:spPr>
          <a:xfrm>
            <a:off x="415290" y="3200400"/>
            <a:ext cx="5079365" cy="12077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0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en-US" altLang="zh-CN" sz="2400" b="1" dirty="0">
                <a:solidFill>
                  <a:srgbClr val="000066"/>
                </a:solidFill>
                <a:latin typeface="Arial" panose="020B0604020202020204" pitchFamily="34" charset="0"/>
                <a:ea typeface="楷体_GB2312" pitchFamily="49" charset="-122"/>
              </a:rPr>
              <a:t>在DE段，</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I </a:t>
            </a:r>
            <a:r>
              <a:rPr lang="en-US" altLang="zh-CN" sz="2400" b="1" dirty="0">
                <a:solidFill>
                  <a:srgbClr val="000066"/>
                </a:solidFill>
                <a:latin typeface="Arial" panose="020B0604020202020204" pitchFamily="34" charset="0"/>
                <a:ea typeface="楷体_GB2312" pitchFamily="49" charset="-122"/>
              </a:rPr>
              <a:t>的增加导致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O </a:t>
            </a:r>
            <a:r>
              <a:rPr lang="en-US" altLang="zh-CN" sz="2400" b="1" dirty="0">
                <a:solidFill>
                  <a:srgbClr val="000066"/>
                </a:solidFill>
                <a:latin typeface="Arial" panose="020B0604020202020204" pitchFamily="34" charset="0"/>
                <a:ea typeface="楷体_GB2312" pitchFamily="49" charset="-122"/>
                <a:sym typeface="+mn-ea"/>
              </a:rPr>
              <a:t>的</a:t>
            </a:r>
            <a:r>
              <a:rPr lang="en-US" altLang="zh-CN" sz="2400" b="1" dirty="0">
                <a:solidFill>
                  <a:srgbClr val="000066"/>
                </a:solidFill>
                <a:latin typeface="Arial" panose="020B0604020202020204" pitchFamily="34" charset="0"/>
                <a:ea typeface="楷体_GB2312" pitchFamily="49" charset="-122"/>
              </a:rPr>
              <a:t>降低，从而使T</a:t>
            </a:r>
            <a:r>
              <a:rPr lang="en-US" altLang="zh-CN" sz="2400" b="1" baseline="-25000" dirty="0">
                <a:solidFill>
                  <a:srgbClr val="000066"/>
                </a:solidFill>
                <a:latin typeface="Arial" panose="020B0604020202020204" pitchFamily="34" charset="0"/>
                <a:ea typeface="楷体_GB2312" pitchFamily="49" charset="-122"/>
              </a:rPr>
              <a:t>N</a:t>
            </a:r>
            <a:r>
              <a:rPr lang="en-US" altLang="zh-CN" sz="2400" b="1" dirty="0">
                <a:solidFill>
                  <a:srgbClr val="000066"/>
                </a:solidFill>
                <a:latin typeface="Arial" panose="020B0604020202020204" pitchFamily="34" charset="0"/>
                <a:ea typeface="楷体_GB2312" pitchFamily="49" charset="-122"/>
              </a:rPr>
              <a:t> 管工作在低内阻的可变电阻区，T</a:t>
            </a:r>
            <a:r>
              <a:rPr lang="en-US" altLang="zh-CN" sz="2400" b="1" baseline="-25000" dirty="0">
                <a:solidFill>
                  <a:srgbClr val="000066"/>
                </a:solidFill>
                <a:latin typeface="Arial" panose="020B0604020202020204" pitchFamily="34" charset="0"/>
                <a:ea typeface="楷体_GB2312" pitchFamily="49" charset="-122"/>
              </a:rPr>
              <a:t>P</a:t>
            </a:r>
            <a:r>
              <a:rPr lang="en-US" altLang="zh-CN" sz="2400" b="1" dirty="0">
                <a:solidFill>
                  <a:srgbClr val="000066"/>
                </a:solidFill>
                <a:latin typeface="Arial" panose="020B0604020202020204" pitchFamily="34" charset="0"/>
                <a:ea typeface="楷体_GB2312" pitchFamily="49" charset="-122"/>
              </a:rPr>
              <a:t> 管仍工作在饱和区。</a:t>
            </a:r>
            <a:endParaRPr lang="zh-CN" altLang="en-US" sz="2400" b="1" kern="1200" dirty="0">
              <a:solidFill>
                <a:srgbClr val="000066"/>
              </a:solidFill>
              <a:ea typeface="楷体_GB2312" pitchFamily="49" charset="-122"/>
            </a:endParaRPr>
          </a:p>
        </p:txBody>
      </p:sp>
      <p:sp>
        <p:nvSpPr>
          <p:cNvPr id="10" name="Rectangle 3"/>
          <p:cNvSpPr>
            <a:spLocks noGrp="1"/>
          </p:cNvSpPr>
          <p:nvPr/>
        </p:nvSpPr>
        <p:spPr>
          <a:xfrm>
            <a:off x="347980" y="4546600"/>
            <a:ext cx="5146040" cy="12230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0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在</a:t>
            </a:r>
            <a:r>
              <a:rPr lang="en-US" altLang="zh-CN" sz="2400" b="1" kern="1200" dirty="0">
                <a:solidFill>
                  <a:srgbClr val="000066"/>
                </a:solidFill>
                <a:latin typeface="Arial" panose="020B0604020202020204" pitchFamily="34" charset="0"/>
                <a:ea typeface="楷体_GB2312" pitchFamily="49" charset="-122"/>
              </a:rPr>
              <a:t>EF段，T</a:t>
            </a:r>
            <a:r>
              <a:rPr lang="en-US" altLang="zh-CN" sz="2400" b="1" kern="1200" baseline="-25000" dirty="0">
                <a:solidFill>
                  <a:srgbClr val="000066"/>
                </a:solidFill>
                <a:latin typeface="Arial" panose="020B0604020202020204" pitchFamily="34" charset="0"/>
                <a:ea typeface="楷体_GB2312" pitchFamily="49" charset="-122"/>
              </a:rPr>
              <a:t>N</a:t>
            </a:r>
            <a:r>
              <a:rPr lang="en-US" altLang="zh-CN" sz="2400" b="1" kern="1200" dirty="0">
                <a:solidFill>
                  <a:srgbClr val="000066"/>
                </a:solidFill>
                <a:latin typeface="Arial" panose="020B0604020202020204" pitchFamily="34" charset="0"/>
                <a:ea typeface="楷体_GB2312" pitchFamily="49" charset="-122"/>
              </a:rPr>
              <a:t> 管仍工作在低内阻的可变电阻区，T</a:t>
            </a:r>
            <a:r>
              <a:rPr lang="en-US" altLang="zh-CN" sz="2400" b="1" kern="1200" baseline="-25000" dirty="0">
                <a:solidFill>
                  <a:srgbClr val="000066"/>
                </a:solidFill>
                <a:latin typeface="Arial" panose="020B0604020202020204" pitchFamily="34" charset="0"/>
                <a:ea typeface="楷体_GB2312" pitchFamily="49" charset="-122"/>
              </a:rPr>
              <a:t>P</a:t>
            </a:r>
            <a:r>
              <a:rPr lang="en-US" altLang="zh-CN" sz="2400" b="1" kern="1200" dirty="0">
                <a:solidFill>
                  <a:srgbClr val="000066"/>
                </a:solidFill>
                <a:latin typeface="Arial" panose="020B0604020202020204" pitchFamily="34" charset="0"/>
                <a:ea typeface="楷体_GB2312" pitchFamily="49" charset="-122"/>
              </a:rPr>
              <a:t> 管截止，输出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O</a:t>
            </a:r>
            <a:r>
              <a:rPr lang="en-US" altLang="zh-CN" sz="2400" b="1" kern="1200" dirty="0">
                <a:solidFill>
                  <a:srgbClr val="000066"/>
                </a:solidFill>
                <a:latin typeface="Arial" panose="020B0604020202020204" pitchFamily="34" charset="0"/>
                <a:ea typeface="楷体_GB2312" pitchFamily="49" charset="-122"/>
              </a:rPr>
              <a:t> 为低电平，即</a:t>
            </a:r>
            <a:r>
              <a:rPr lang="en-US" altLang="zh-CN" sz="2400" b="1" dirty="0">
                <a:solidFill>
                  <a:srgbClr val="000066"/>
                </a:solidFill>
                <a:latin typeface="Arial" panose="020B0604020202020204" pitchFamily="34" charset="0"/>
                <a:ea typeface="楷体_GB2312" pitchFamily="49" charset="-122"/>
                <a:sym typeface="+mn-ea"/>
              </a:rPr>
              <a:t> </a:t>
            </a:r>
            <a:r>
              <a:rPr lang="en-US" sz="2400" i="1" kern="0">
                <a:latin typeface="Times New Roman" panose="02020603050405020304" charset="0"/>
                <a:ea typeface="宋体" panose="02010600030101010101" pitchFamily="2" charset="-122"/>
                <a:sym typeface="+mn-ea"/>
              </a:rPr>
              <a:t>υ</a:t>
            </a:r>
            <a:r>
              <a:rPr lang="en-US" sz="2400" kern="0" baseline="-25000">
                <a:latin typeface="Times New Roman" panose="02020603050405020304" charset="0"/>
                <a:ea typeface="宋体" panose="02010600030101010101" pitchFamily="2" charset="-122"/>
                <a:sym typeface="+mn-ea"/>
              </a:rPr>
              <a:t>O</a:t>
            </a:r>
            <a:r>
              <a:rPr lang="en-US" sz="2400" i="1" kern="0">
                <a:latin typeface="Times New Roman" panose="02020603050405020304" charset="0"/>
                <a:ea typeface="宋体" panose="02010600030101010101" pitchFamily="2" charset="-122"/>
                <a:sym typeface="+mn-ea"/>
              </a:rPr>
              <a:t> = V</a:t>
            </a:r>
            <a:r>
              <a:rPr lang="en-US" sz="2400" kern="0" baseline="-25000">
                <a:latin typeface="Times New Roman" panose="02020603050405020304" charset="0"/>
                <a:ea typeface="宋体" panose="02010600030101010101" pitchFamily="2" charset="-122"/>
                <a:sym typeface="+mn-ea"/>
              </a:rPr>
              <a:t>OL</a:t>
            </a:r>
            <a:r>
              <a:rPr lang="en-US" sz="2400" i="1" kern="0">
                <a:latin typeface="Times New Roman" panose="02020603050405020304" charset="0"/>
                <a:ea typeface="宋体" panose="02010600030101010101" pitchFamily="2" charset="-122"/>
                <a:sym typeface="+mn-ea"/>
              </a:rPr>
              <a:t> </a:t>
            </a:r>
            <a:r>
              <a:rPr lang="en-US" sz="2400" i="1" kern="0">
                <a:latin typeface="Times New Roman" panose="02020603050405020304" charset="0"/>
                <a:ea typeface="宋体" panose="02010600030101010101" pitchFamily="2" charset="-122"/>
                <a:sym typeface="+mn-ea"/>
              </a:rPr>
              <a:t>≈</a:t>
            </a:r>
            <a:r>
              <a:rPr lang="en-US" sz="2400" i="1" kern="0">
                <a:latin typeface="Times New Roman" panose="02020603050405020304" charset="0"/>
                <a:ea typeface="宋体" panose="02010600030101010101" pitchFamily="2" charset="-122"/>
                <a:sym typeface="+mn-ea"/>
              </a:rPr>
              <a:t> </a:t>
            </a:r>
            <a:r>
              <a:rPr lang="en-US" sz="2400" kern="0">
                <a:latin typeface="Times New Roman" panose="02020603050405020304" charset="0"/>
                <a:ea typeface="宋体" panose="02010600030101010101" pitchFamily="2" charset="-122"/>
                <a:sym typeface="+mn-ea"/>
              </a:rPr>
              <a:t>0</a:t>
            </a:r>
            <a:r>
              <a:rPr lang="en-US" sz="2400" i="1" kern="0">
                <a:latin typeface="Times New Roman" panose="02020603050405020304" charset="0"/>
                <a:ea typeface="宋体" panose="02010600030101010101" pitchFamily="2" charset="-122"/>
                <a:sym typeface="+mn-ea"/>
              </a:rPr>
              <a:t>V</a:t>
            </a:r>
            <a:r>
              <a:rPr lang="en-US" altLang="zh-CN" sz="2400" b="1" kern="1200" dirty="0">
                <a:solidFill>
                  <a:srgbClr val="000066"/>
                </a:solidFill>
                <a:latin typeface="Arial" panose="020B0604020202020204" pitchFamily="34" charset="0"/>
                <a:ea typeface="楷体_GB2312" pitchFamily="49" charset="-122"/>
              </a:rPr>
              <a:t>。</a:t>
            </a:r>
            <a:endParaRPr lang="zh-CN" altLang="en-US" sz="2400" b="1" kern="1200" dirty="0">
              <a:solidFill>
                <a:srgbClr val="000066"/>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500" fill="hold">
                                          <p:stCondLst>
                                            <p:cond delay="0"/>
                                          </p:stCondLst>
                                        </p:cTn>
                                        <p:tgtEl>
                                          <p:spTgt spid="10"/>
                                        </p:tgtEl>
                                        <p:attrNameLst>
                                          <p:attrName>style.visibility</p:attrName>
                                        </p:attrNameLst>
                                      </p:cBhvr>
                                      <p:to>
                                        <p:strVal val="visible"/>
                                      </p:to>
                                    </p:set>
                                    <p:animEffect transition="in" filter="diamond(in)">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7" name="Rectangle 3"/>
          <p:cNvSpPr>
            <a:spLocks noGrp="1"/>
          </p:cNvSpPr>
          <p:nvPr>
            <p:ph idx="1"/>
          </p:nvPr>
        </p:nvSpPr>
        <p:spPr>
          <a:xfrm>
            <a:off x="381000" y="1752600"/>
            <a:ext cx="8385175" cy="804545"/>
          </a:xfrm>
        </p:spPr>
        <p:txBody>
          <a:bodyPr vert="horz" wrap="square" lIns="91440" tIns="45720" rIns="91440" bIns="45720" anchor="t" anchorCtr="0"/>
          <a:p>
            <a:pPr marL="0" indent="0" algn="just" eaLnBrk="1" latinLnBrk="0" hangingPunct="1">
              <a:lnSpc>
                <a:spcPct val="10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图3-45 是CMOS反相器的电流传输特性，它表示漏极电流 </a:t>
            </a:r>
            <a:r>
              <a:rPr lang="en-US" sz="2400" i="1">
                <a:latin typeface="Times New Roman" panose="02020603050405020304" charset="0"/>
                <a:ea typeface="宋体" panose="02010600030101010101" pitchFamily="2" charset="-122"/>
              </a:rPr>
              <a:t>i</a:t>
            </a:r>
            <a:r>
              <a:rPr lang="en-US" sz="2400" baseline="-25000">
                <a:latin typeface="Times New Roman" panose="02020603050405020304" charset="0"/>
                <a:ea typeface="宋体" panose="02010600030101010101" pitchFamily="2" charset="-122"/>
              </a:rPr>
              <a:t>D</a:t>
            </a:r>
            <a:r>
              <a:rPr lang="en-US" altLang="zh-CN" sz="2400" b="1" kern="1200" dirty="0">
                <a:solidFill>
                  <a:srgbClr val="000066"/>
                </a:solidFill>
                <a:latin typeface="Arial" panose="020B0604020202020204" pitchFamily="34" charset="0"/>
                <a:ea typeface="楷体_GB2312" pitchFamily="49" charset="-122"/>
              </a:rPr>
              <a:t> 随输入电压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I </a:t>
            </a:r>
            <a:r>
              <a:rPr lang="en-US" altLang="zh-CN" sz="2400" b="1" kern="1200" dirty="0">
                <a:solidFill>
                  <a:srgbClr val="000066"/>
                </a:solidFill>
                <a:latin typeface="Arial" panose="020B0604020202020204" pitchFamily="34" charset="0"/>
                <a:ea typeface="楷体_GB2312" pitchFamily="49" charset="-122"/>
              </a:rPr>
              <a:t>变化的关系曲线。</a:t>
            </a:r>
            <a:endParaRPr lang="zh-CN" altLang="en-US" sz="2400" b="1" kern="1200" dirty="0">
              <a:solidFill>
                <a:srgbClr val="000066"/>
              </a:solidFill>
              <a:ea typeface="楷体_GB2312" pitchFamily="49"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3.3 </a:t>
            </a:r>
            <a:r>
              <a:rPr b="1" dirty="0">
                <a:solidFill>
                  <a:srgbClr val="FF0000"/>
                </a:solidFill>
                <a:latin typeface="黑体" panose="02010609060101010101" pitchFamily="49" charset="-122"/>
                <a:ea typeface="黑体" panose="02010609060101010101" pitchFamily="49" charset="-122"/>
              </a:rPr>
              <a:t>COMS逻辑门电路</a:t>
            </a:r>
            <a:endParaRPr b="1" dirty="0">
              <a:solidFill>
                <a:srgbClr val="FF0000"/>
              </a:solidFill>
              <a:latin typeface="黑体" panose="02010609060101010101" pitchFamily="49" charset="-122"/>
              <a:ea typeface="黑体" panose="02010609060101010101" pitchFamily="49" charset="-122"/>
            </a:endParaRPr>
          </a:p>
        </p:txBody>
      </p:sp>
      <p:sp>
        <p:nvSpPr>
          <p:cNvPr id="5" name="Rectangle 3"/>
          <p:cNvSpPr>
            <a:spLocks noGrp="1"/>
          </p:cNvSpPr>
          <p:nvPr/>
        </p:nvSpPr>
        <p:spPr>
          <a:xfrm>
            <a:off x="381000" y="1163320"/>
            <a:ext cx="3032760"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en-US" sz="2400" b="1" dirty="0">
                <a:solidFill>
                  <a:srgbClr val="070707"/>
                </a:solidFill>
                <a:latin typeface="Times New Roman" panose="02020603050405020304" charset="0"/>
                <a:ea typeface="楷体_GB2312" pitchFamily="49" charset="-122"/>
                <a:cs typeface="Times New Roman" panose="02020603050405020304" charset="0"/>
                <a:sym typeface="+mn-ea"/>
              </a:rPr>
              <a:t>(2) </a:t>
            </a:r>
            <a:r>
              <a:rPr sz="2400" b="1" dirty="0">
                <a:solidFill>
                  <a:srgbClr val="070707"/>
                </a:solidFill>
                <a:latin typeface="Times New Roman" panose="02020603050405020304" charset="0"/>
                <a:ea typeface="楷体_GB2312" pitchFamily="49" charset="-122"/>
                <a:cs typeface="Times New Roman" panose="02020603050405020304" charset="0"/>
              </a:rPr>
              <a:t>电流传输特性</a:t>
            </a:r>
            <a:r>
              <a:rPr lang="zh-CN" sz="2400" b="1" dirty="0">
                <a:solidFill>
                  <a:srgbClr val="070707"/>
                </a:solidFill>
                <a:latin typeface="Times New Roman" panose="02020603050405020304" charset="0"/>
                <a:ea typeface="楷体_GB2312" pitchFamily="49" charset="-122"/>
                <a:cs typeface="Times New Roman" panose="02020603050405020304" charset="0"/>
              </a:rPr>
              <a:t>。</a:t>
            </a:r>
            <a:endParaRPr lang="zh-CN" sz="2400" b="1" dirty="0">
              <a:solidFill>
                <a:srgbClr val="070707"/>
              </a:solidFill>
              <a:latin typeface="Times New Roman" panose="02020603050405020304" charset="0"/>
              <a:ea typeface="楷体_GB2312" pitchFamily="49" charset="-122"/>
              <a:cs typeface="Times New Roman" panose="02020603050405020304" charset="0"/>
            </a:endParaRPr>
          </a:p>
        </p:txBody>
      </p:sp>
      <p:sp>
        <p:nvSpPr>
          <p:cNvPr id="9" name="Rectangle 3"/>
          <p:cNvSpPr>
            <a:spLocks noGrp="1"/>
          </p:cNvSpPr>
          <p:nvPr/>
        </p:nvSpPr>
        <p:spPr>
          <a:xfrm>
            <a:off x="457200" y="2667000"/>
            <a:ext cx="8122920" cy="328358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0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en-US" altLang="zh-CN" sz="2400" b="1" dirty="0">
                <a:solidFill>
                  <a:srgbClr val="000066"/>
                </a:solidFill>
                <a:latin typeface="Arial" panose="020B0604020202020204" pitchFamily="34" charset="0"/>
                <a:ea typeface="楷体_GB2312" pitchFamily="49" charset="-122"/>
              </a:rPr>
              <a:t>在AB段和EF段，分别是T</a:t>
            </a:r>
            <a:r>
              <a:rPr lang="en-US" altLang="zh-CN" sz="2400" b="1" baseline="-25000" dirty="0">
                <a:solidFill>
                  <a:srgbClr val="000066"/>
                </a:solidFill>
                <a:latin typeface="Arial" panose="020B0604020202020204" pitchFamily="34" charset="0"/>
                <a:ea typeface="楷体_GB2312" pitchFamily="49" charset="-122"/>
              </a:rPr>
              <a:t>N</a:t>
            </a:r>
            <a:r>
              <a:rPr lang="en-US" altLang="zh-CN" sz="2400" b="1" dirty="0">
                <a:solidFill>
                  <a:srgbClr val="000066"/>
                </a:solidFill>
                <a:latin typeface="Arial" panose="020B0604020202020204" pitchFamily="34" charset="0"/>
                <a:ea typeface="楷体_GB2312" pitchFamily="49" charset="-122"/>
              </a:rPr>
              <a:t> 管和T</a:t>
            </a:r>
            <a:r>
              <a:rPr lang="en-US" altLang="zh-CN" sz="2400" b="1" baseline="-25000" dirty="0">
                <a:solidFill>
                  <a:srgbClr val="000066"/>
                </a:solidFill>
                <a:latin typeface="Arial" panose="020B0604020202020204" pitchFamily="34" charset="0"/>
                <a:ea typeface="楷体_GB2312" pitchFamily="49" charset="-122"/>
              </a:rPr>
              <a:t>P</a:t>
            </a:r>
            <a:r>
              <a:rPr lang="en-US" altLang="zh-CN" sz="2400" b="1" dirty="0">
                <a:solidFill>
                  <a:srgbClr val="000066"/>
                </a:solidFill>
                <a:latin typeface="Arial" panose="020B0604020202020204" pitchFamily="34" charset="0"/>
                <a:ea typeface="楷体_GB2312" pitchFamily="49" charset="-122"/>
              </a:rPr>
              <a:t> 管截止，因此，漏电流几乎为零。在CD段，T</a:t>
            </a:r>
            <a:r>
              <a:rPr lang="en-US" altLang="zh-CN" sz="2400" b="1" baseline="-25000" dirty="0">
                <a:solidFill>
                  <a:srgbClr val="000066"/>
                </a:solidFill>
                <a:latin typeface="Arial" panose="020B0604020202020204" pitchFamily="34" charset="0"/>
                <a:ea typeface="楷体_GB2312" pitchFamily="49" charset="-122"/>
              </a:rPr>
              <a:t>N</a:t>
            </a:r>
            <a:r>
              <a:rPr lang="en-US" altLang="zh-CN" sz="2400" b="1" dirty="0">
                <a:solidFill>
                  <a:srgbClr val="000066"/>
                </a:solidFill>
                <a:latin typeface="Arial" panose="020B0604020202020204" pitchFamily="34" charset="0"/>
                <a:ea typeface="楷体_GB2312" pitchFamily="49" charset="-122"/>
              </a:rPr>
              <a:t> 管和T</a:t>
            </a:r>
            <a:r>
              <a:rPr lang="en-US" altLang="zh-CN" sz="2400" b="1" baseline="-25000" dirty="0">
                <a:solidFill>
                  <a:srgbClr val="000066"/>
                </a:solidFill>
                <a:latin typeface="Arial" panose="020B0604020202020204" pitchFamily="34" charset="0"/>
                <a:ea typeface="楷体_GB2312" pitchFamily="49" charset="-122"/>
              </a:rPr>
              <a:t>P</a:t>
            </a:r>
            <a:r>
              <a:rPr lang="en-US" altLang="zh-CN" sz="2400" b="1" dirty="0">
                <a:solidFill>
                  <a:srgbClr val="000066"/>
                </a:solidFill>
                <a:latin typeface="Arial" panose="020B0604020202020204" pitchFamily="34" charset="0"/>
                <a:ea typeface="楷体_GB2312" pitchFamily="49" charset="-122"/>
              </a:rPr>
              <a:t> 管都工作在饱和区，漏极电流 </a:t>
            </a:r>
            <a:r>
              <a:rPr lang="en-US" sz="2400" i="1">
                <a:latin typeface="Times New Roman" panose="02020603050405020304" charset="0"/>
                <a:ea typeface="宋体" panose="02010600030101010101" pitchFamily="2" charset="-122"/>
              </a:rPr>
              <a:t>i</a:t>
            </a:r>
            <a:r>
              <a:rPr lang="en-US" sz="2400" baseline="-25000">
                <a:latin typeface="Times New Roman" panose="02020603050405020304" charset="0"/>
                <a:ea typeface="宋体" panose="02010600030101010101" pitchFamily="2" charset="-122"/>
              </a:rPr>
              <a:t>D</a:t>
            </a:r>
            <a:r>
              <a:rPr lang="en-US" altLang="zh-CN" sz="2400" b="1" dirty="0">
                <a:solidFill>
                  <a:srgbClr val="000066"/>
                </a:solidFill>
                <a:latin typeface="Arial" panose="020B0604020202020204" pitchFamily="34" charset="0"/>
                <a:ea typeface="楷体_GB2312" pitchFamily="49" charset="-122"/>
              </a:rPr>
              <a:t> 在 </a:t>
            </a:r>
            <a:r>
              <a:rPr lang="en-US" sz="2400" i="1">
                <a:latin typeface="Times New Roman" panose="02020603050405020304" charset="0"/>
                <a:ea typeface="宋体" panose="02010600030101010101" pitchFamily="2" charset="-122"/>
              </a:rPr>
              <a:t>υ</a:t>
            </a:r>
            <a:r>
              <a:rPr lang="en-US" sz="2400" baseline="-25000">
                <a:latin typeface="Times New Roman" panose="02020603050405020304" charset="0"/>
                <a:ea typeface="宋体" panose="02010600030101010101" pitchFamily="2" charset="-122"/>
              </a:rPr>
              <a:t>I</a:t>
            </a:r>
            <a:r>
              <a:rPr lang="en-US" sz="2400" i="1">
                <a:latin typeface="Times New Roman" panose="02020603050405020304" charset="0"/>
                <a:ea typeface="宋体" panose="02010600030101010101" pitchFamily="2" charset="-122"/>
              </a:rPr>
              <a:t> </a:t>
            </a:r>
            <a:r>
              <a:rPr lang="en-US" sz="2400">
                <a:latin typeface="Times New Roman" panose="02020603050405020304" charset="0"/>
                <a:ea typeface="宋体" panose="02010600030101010101" pitchFamily="2" charset="-122"/>
              </a:rPr>
              <a:t>=</a:t>
            </a:r>
            <a:r>
              <a:rPr lang="en-US" sz="2400" i="1">
                <a:latin typeface="Times New Roman" panose="02020603050405020304" charset="0"/>
                <a:ea typeface="宋体" panose="02010600030101010101" pitchFamily="2" charset="-122"/>
              </a:rPr>
              <a:t> V</a:t>
            </a:r>
            <a:r>
              <a:rPr lang="en-US" sz="2400" baseline="-25000">
                <a:latin typeface="Times New Roman" panose="02020603050405020304" charset="0"/>
                <a:ea typeface="宋体" panose="02010600030101010101" pitchFamily="2" charset="-122"/>
              </a:rPr>
              <a:t>DD</a:t>
            </a:r>
            <a:r>
              <a:rPr lang="en-US" sz="2400">
                <a:latin typeface="Times New Roman" panose="02020603050405020304" charset="0"/>
                <a:ea typeface="宋体" panose="02010600030101010101" pitchFamily="2" charset="-122"/>
              </a:rPr>
              <a:t> /2</a:t>
            </a:r>
            <a:r>
              <a:rPr lang="en-US" altLang="zh-CN" sz="2400" b="1" dirty="0">
                <a:solidFill>
                  <a:srgbClr val="000066"/>
                </a:solidFill>
                <a:latin typeface="Arial" panose="020B0604020202020204" pitchFamily="34" charset="0"/>
                <a:ea typeface="楷体_GB2312" pitchFamily="49" charset="-122"/>
              </a:rPr>
              <a:t>达到最</a:t>
            </a:r>
            <a:endParaRPr lang="en-US" altLang="zh-CN" sz="2400" b="1" dirty="0">
              <a:solidFill>
                <a:srgbClr val="000066"/>
              </a:solidFill>
              <a:latin typeface="Arial" panose="020B0604020202020204" pitchFamily="34" charset="0"/>
              <a:ea typeface="楷体_GB2312" pitchFamily="49" charset="-122"/>
            </a:endParaRPr>
          </a:p>
          <a:p>
            <a:pPr marL="0" indent="0" algn="just" eaLnBrk="1" latinLnBrk="0" hangingPunct="1">
              <a:lnSpc>
                <a:spcPct val="100000"/>
              </a:lnSpc>
              <a:spcBef>
                <a:spcPts val="0"/>
              </a:spcBef>
              <a:buNone/>
            </a:pPr>
            <a:r>
              <a:rPr lang="en-US" altLang="zh-CN" sz="2400" b="1" dirty="0">
                <a:solidFill>
                  <a:srgbClr val="000066"/>
                </a:solidFill>
                <a:latin typeface="Arial" panose="020B0604020202020204" pitchFamily="34" charset="0"/>
                <a:ea typeface="楷体_GB2312" pitchFamily="49" charset="-122"/>
              </a:rPr>
              <a:t>大值。在BC段</a:t>
            </a:r>
            <a:r>
              <a:rPr lang="zh-CN" altLang="en-US" sz="2400" b="1" dirty="0">
                <a:solidFill>
                  <a:srgbClr val="000066"/>
                </a:solidFill>
                <a:latin typeface="Arial" panose="020B0604020202020204" pitchFamily="34" charset="0"/>
                <a:ea typeface="楷体_GB2312" pitchFamily="49" charset="-122"/>
              </a:rPr>
              <a:t>和</a:t>
            </a:r>
            <a:r>
              <a:rPr lang="en-US" altLang="zh-CN" sz="2400" b="1" dirty="0">
                <a:solidFill>
                  <a:srgbClr val="000066"/>
                </a:solidFill>
                <a:latin typeface="Arial" panose="020B0604020202020204" pitchFamily="34" charset="0"/>
                <a:ea typeface="楷体_GB2312" pitchFamily="49" charset="-122"/>
              </a:rPr>
              <a:t>DE段，T</a:t>
            </a:r>
            <a:r>
              <a:rPr lang="en-US" altLang="zh-CN" sz="2400" b="1" baseline="-25000" dirty="0">
                <a:solidFill>
                  <a:srgbClr val="000066"/>
                </a:solidFill>
                <a:latin typeface="Arial" panose="020B0604020202020204" pitchFamily="34" charset="0"/>
                <a:ea typeface="楷体_GB2312" pitchFamily="49" charset="-122"/>
              </a:rPr>
              <a:t>N</a:t>
            </a:r>
            <a:r>
              <a:rPr lang="en-US" altLang="zh-CN" sz="2400" b="1" dirty="0">
                <a:solidFill>
                  <a:srgbClr val="000066"/>
                </a:solidFill>
                <a:latin typeface="Arial" panose="020B0604020202020204" pitchFamily="34" charset="0"/>
                <a:ea typeface="楷体_GB2312" pitchFamily="49" charset="-122"/>
              </a:rPr>
              <a:t> 管和</a:t>
            </a:r>
            <a:endParaRPr lang="en-US" altLang="zh-CN" sz="2400" b="1" dirty="0">
              <a:solidFill>
                <a:srgbClr val="000066"/>
              </a:solidFill>
              <a:latin typeface="Arial" panose="020B0604020202020204" pitchFamily="34" charset="0"/>
              <a:ea typeface="楷体_GB2312" pitchFamily="49" charset="-122"/>
            </a:endParaRPr>
          </a:p>
          <a:p>
            <a:pPr marL="0" indent="0" algn="just" eaLnBrk="1" latinLnBrk="0" hangingPunct="1">
              <a:lnSpc>
                <a:spcPct val="100000"/>
              </a:lnSpc>
              <a:spcBef>
                <a:spcPts val="0"/>
              </a:spcBef>
              <a:buNone/>
            </a:pPr>
            <a:r>
              <a:rPr lang="en-US" altLang="zh-CN" sz="2400" b="1" dirty="0">
                <a:solidFill>
                  <a:srgbClr val="000066"/>
                </a:solidFill>
                <a:latin typeface="Arial" panose="020B0604020202020204" pitchFamily="34" charset="0"/>
                <a:ea typeface="楷体_GB2312" pitchFamily="49" charset="-122"/>
              </a:rPr>
              <a:t>T</a:t>
            </a:r>
            <a:r>
              <a:rPr lang="en-US" altLang="zh-CN" sz="2400" b="1" baseline="-25000" dirty="0">
                <a:solidFill>
                  <a:srgbClr val="000066"/>
                </a:solidFill>
                <a:latin typeface="Arial" panose="020B0604020202020204" pitchFamily="34" charset="0"/>
                <a:ea typeface="楷体_GB2312" pitchFamily="49" charset="-122"/>
              </a:rPr>
              <a:t>P</a:t>
            </a:r>
            <a:r>
              <a:rPr lang="en-US" altLang="zh-CN" sz="2400" b="1" dirty="0">
                <a:solidFill>
                  <a:srgbClr val="000066"/>
                </a:solidFill>
                <a:latin typeface="Arial" panose="020B0604020202020204" pitchFamily="34" charset="0"/>
                <a:ea typeface="楷体_GB2312" pitchFamily="49" charset="-122"/>
              </a:rPr>
              <a:t> 管总是一个工作在可变电阻区，</a:t>
            </a:r>
            <a:endParaRPr lang="en-US" altLang="zh-CN" sz="2400" b="1" dirty="0">
              <a:solidFill>
                <a:srgbClr val="000066"/>
              </a:solidFill>
              <a:latin typeface="Arial" panose="020B0604020202020204" pitchFamily="34" charset="0"/>
              <a:ea typeface="楷体_GB2312" pitchFamily="49" charset="-122"/>
            </a:endParaRPr>
          </a:p>
          <a:p>
            <a:pPr marL="0" indent="0" algn="just" eaLnBrk="1" latinLnBrk="0" hangingPunct="1">
              <a:lnSpc>
                <a:spcPct val="100000"/>
              </a:lnSpc>
              <a:spcBef>
                <a:spcPts val="0"/>
              </a:spcBef>
              <a:buNone/>
            </a:pPr>
            <a:r>
              <a:rPr lang="en-US" altLang="zh-CN" sz="2400" b="1" dirty="0">
                <a:solidFill>
                  <a:srgbClr val="000066"/>
                </a:solidFill>
                <a:latin typeface="Arial" panose="020B0604020202020204" pitchFamily="34" charset="0"/>
                <a:ea typeface="楷体_GB2312" pitchFamily="49" charset="-122"/>
              </a:rPr>
              <a:t>另一个工作在饱和区，因此，漏</a:t>
            </a:r>
            <a:endParaRPr lang="en-US" altLang="zh-CN" sz="2400" b="1" dirty="0">
              <a:solidFill>
                <a:srgbClr val="000066"/>
              </a:solidFill>
              <a:latin typeface="Arial" panose="020B0604020202020204" pitchFamily="34" charset="0"/>
              <a:ea typeface="楷体_GB2312" pitchFamily="49" charset="-122"/>
            </a:endParaRPr>
          </a:p>
          <a:p>
            <a:pPr marL="0" indent="0" algn="just" eaLnBrk="1" latinLnBrk="0" hangingPunct="1">
              <a:lnSpc>
                <a:spcPct val="100000"/>
              </a:lnSpc>
              <a:spcBef>
                <a:spcPts val="0"/>
              </a:spcBef>
              <a:buNone/>
            </a:pPr>
            <a:r>
              <a:rPr lang="en-US" altLang="zh-CN" sz="2400" b="1" dirty="0">
                <a:solidFill>
                  <a:srgbClr val="000066"/>
                </a:solidFill>
                <a:latin typeface="Arial" panose="020B0604020202020204" pitchFamily="34" charset="0"/>
                <a:ea typeface="楷体_GB2312" pitchFamily="49" charset="-122"/>
              </a:rPr>
              <a:t>极电流 </a:t>
            </a:r>
            <a:r>
              <a:rPr lang="en-US" sz="2400" i="1">
                <a:latin typeface="Times New Roman" panose="02020603050405020304" charset="0"/>
                <a:ea typeface="宋体" panose="02010600030101010101" pitchFamily="2" charset="-122"/>
                <a:sym typeface="+mn-ea"/>
              </a:rPr>
              <a:t>i</a:t>
            </a:r>
            <a:r>
              <a:rPr lang="en-US" sz="2400" baseline="-25000">
                <a:latin typeface="Times New Roman" panose="02020603050405020304" charset="0"/>
                <a:ea typeface="宋体" panose="02010600030101010101" pitchFamily="2" charset="-122"/>
                <a:sym typeface="+mn-ea"/>
              </a:rPr>
              <a:t>D </a:t>
            </a:r>
            <a:r>
              <a:rPr lang="en-US" altLang="zh-CN" sz="2400" b="1" dirty="0">
                <a:solidFill>
                  <a:srgbClr val="000066"/>
                </a:solidFill>
                <a:latin typeface="Arial" panose="020B0604020202020204" pitchFamily="34" charset="0"/>
                <a:ea typeface="楷体_GB2312" pitchFamily="49" charset="-122"/>
              </a:rPr>
              <a:t>存在从近似为0上升到</a:t>
            </a:r>
            <a:endParaRPr lang="en-US" altLang="zh-CN" sz="2400" b="1" dirty="0">
              <a:solidFill>
                <a:srgbClr val="000066"/>
              </a:solidFill>
              <a:latin typeface="Arial" panose="020B0604020202020204" pitchFamily="34" charset="0"/>
              <a:ea typeface="楷体_GB2312" pitchFamily="49" charset="-122"/>
            </a:endParaRPr>
          </a:p>
          <a:p>
            <a:pPr marL="0" indent="0" algn="just" eaLnBrk="1" latinLnBrk="0" hangingPunct="1">
              <a:lnSpc>
                <a:spcPct val="100000"/>
              </a:lnSpc>
              <a:spcBef>
                <a:spcPts val="0"/>
              </a:spcBef>
              <a:buNone/>
            </a:pPr>
            <a:r>
              <a:rPr lang="en-US" altLang="zh-CN" sz="2400" b="1" dirty="0">
                <a:solidFill>
                  <a:srgbClr val="000066"/>
                </a:solidFill>
                <a:latin typeface="Arial" panose="020B0604020202020204" pitchFamily="34" charset="0"/>
                <a:ea typeface="楷体_GB2312" pitchFamily="49" charset="-122"/>
              </a:rPr>
              <a:t>最大值或者从最大值下降到近似</a:t>
            </a:r>
            <a:endParaRPr lang="en-US" altLang="zh-CN" sz="2400" b="1" dirty="0">
              <a:solidFill>
                <a:srgbClr val="000066"/>
              </a:solidFill>
              <a:latin typeface="Arial" panose="020B0604020202020204" pitchFamily="34" charset="0"/>
              <a:ea typeface="楷体_GB2312" pitchFamily="49" charset="-122"/>
            </a:endParaRPr>
          </a:p>
          <a:p>
            <a:pPr marL="0" indent="0" algn="just" eaLnBrk="1" latinLnBrk="0" hangingPunct="1">
              <a:lnSpc>
                <a:spcPct val="100000"/>
              </a:lnSpc>
              <a:spcBef>
                <a:spcPts val="0"/>
              </a:spcBef>
              <a:buNone/>
            </a:pPr>
            <a:r>
              <a:rPr lang="en-US" altLang="zh-CN" sz="2400" b="1" dirty="0">
                <a:solidFill>
                  <a:srgbClr val="000066"/>
                </a:solidFill>
                <a:latin typeface="Arial" panose="020B0604020202020204" pitchFamily="34" charset="0"/>
                <a:ea typeface="楷体_GB2312" pitchFamily="49" charset="-122"/>
              </a:rPr>
              <a:t>为0的过程。</a:t>
            </a:r>
            <a:r>
              <a:rPr lang="en-US" altLang="zh-CN" sz="2400" b="1" kern="1200" dirty="0">
                <a:solidFill>
                  <a:srgbClr val="000066"/>
                </a:solidFill>
                <a:latin typeface="Arial" panose="020B0604020202020204" pitchFamily="34" charset="0"/>
                <a:ea typeface="楷体_GB2312" pitchFamily="49" charset="-122"/>
              </a:rPr>
              <a:t> </a:t>
            </a:r>
            <a:endParaRPr lang="en-US" altLang="zh-CN" sz="2400" b="1" kern="1200" dirty="0">
              <a:solidFill>
                <a:srgbClr val="000066"/>
              </a:solidFill>
              <a:latin typeface="Arial" panose="020B0604020202020204" pitchFamily="34" charset="0"/>
              <a:ea typeface="楷体_GB2312" pitchFamily="49" charset="-122"/>
            </a:endParaRPr>
          </a:p>
        </p:txBody>
      </p:sp>
      <p:grpSp>
        <p:nvGrpSpPr>
          <p:cNvPr id="4" name="组合 3"/>
          <p:cNvGrpSpPr/>
          <p:nvPr/>
        </p:nvGrpSpPr>
        <p:grpSpPr>
          <a:xfrm>
            <a:off x="5137785" y="3505200"/>
            <a:ext cx="3563620" cy="2976880"/>
            <a:chOff x="8931" y="5520"/>
            <a:chExt cx="5612" cy="4688"/>
          </a:xfrm>
        </p:grpSpPr>
        <p:sp>
          <p:nvSpPr>
            <p:cNvPr id="3" name="文本框 2"/>
            <p:cNvSpPr txBox="1"/>
            <p:nvPr/>
          </p:nvSpPr>
          <p:spPr>
            <a:xfrm>
              <a:off x="8931" y="9600"/>
              <a:ext cx="5613" cy="608"/>
            </a:xfrm>
            <a:prstGeom prst="rect">
              <a:avLst/>
            </a:prstGeom>
            <a:noFill/>
            <a:ln w="9525">
              <a:noFill/>
            </a:ln>
          </p:spPr>
          <p:txBody>
            <a:bodyPr wrap="square">
              <a:spAutoFit/>
            </a:bodyPr>
            <a:p>
              <a:pPr>
                <a:lnSpc>
                  <a:spcPct val="120000"/>
                </a:lnSpc>
              </a:pPr>
              <a:r>
                <a:rPr sz="1600">
                  <a:ea typeface="宋体" panose="02010600030101010101" pitchFamily="2" charset="-122"/>
                </a:rPr>
                <a:t>图3-45 CMOS反相器的电流传输特性</a:t>
              </a:r>
              <a:endParaRPr sz="1600">
                <a:ea typeface="宋体" panose="02010600030101010101" pitchFamily="2" charset="-122"/>
              </a:endParaRPr>
            </a:p>
          </p:txBody>
        </p:sp>
        <p:pic>
          <p:nvPicPr>
            <p:cNvPr id="9269" name="图片 2706"/>
            <p:cNvPicPr>
              <a:picLocks noChangeAspect="1"/>
            </p:cNvPicPr>
            <p:nvPr/>
          </p:nvPicPr>
          <p:blipFill>
            <a:blip r:embed="rId1"/>
            <a:stretch>
              <a:fillRect/>
            </a:stretch>
          </p:blipFill>
          <p:spPr>
            <a:xfrm>
              <a:off x="9240" y="5520"/>
              <a:ext cx="4921" cy="4145"/>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500"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p:nvPr>
        </p:nvSpPr>
        <p:spPr>
          <a:xfrm>
            <a:off x="567690" y="1351280"/>
            <a:ext cx="411480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3.3.3 </a:t>
            </a:r>
            <a:r>
              <a:rPr lang="zh-CN" altLang="en-US" sz="2800" i="0" dirty="0">
                <a:solidFill>
                  <a:srgbClr val="0070C0"/>
                </a:solidFill>
                <a:latin typeface="黑体" panose="02010609060101010101" pitchFamily="49" charset="-122"/>
                <a:ea typeface="黑体" panose="02010609060101010101" pitchFamily="49" charset="-122"/>
              </a:rPr>
              <a:t>CMOS 与非门</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3.3 </a:t>
            </a:r>
            <a:r>
              <a:rPr b="1" dirty="0">
                <a:solidFill>
                  <a:srgbClr val="FF0000"/>
                </a:solidFill>
                <a:latin typeface="黑体" panose="02010609060101010101" pitchFamily="49" charset="-122"/>
                <a:ea typeface="黑体" panose="02010609060101010101" pitchFamily="49" charset="-122"/>
              </a:rPr>
              <a:t>COMS逻辑门电路</a:t>
            </a:r>
            <a:endParaRPr b="1" dirty="0">
              <a:solidFill>
                <a:srgbClr val="FF000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457200" y="1905000"/>
            <a:ext cx="8385175" cy="899795"/>
          </a:xfrm>
        </p:spPr>
        <p:txBody>
          <a:bodyPr vert="horz" wrap="square" lIns="91440" tIns="45720" rIns="91440" bIns="45720" anchor="t" anchorCtr="0"/>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ea typeface="楷体_GB2312" pitchFamily="49" charset="-122"/>
              </a:rPr>
              <a:t>假设V</a:t>
            </a:r>
            <a:r>
              <a:rPr lang="zh-CN" altLang="en-US" sz="2400" b="1" kern="1200" baseline="-25000" dirty="0">
                <a:solidFill>
                  <a:srgbClr val="000066"/>
                </a:solidFill>
                <a:ea typeface="楷体_GB2312" pitchFamily="49" charset="-122"/>
              </a:rPr>
              <a:t>DD</a:t>
            </a:r>
            <a:r>
              <a:rPr lang="zh-CN" altLang="en-US" sz="2400" b="1" kern="1200" dirty="0">
                <a:solidFill>
                  <a:srgbClr val="000066"/>
                </a:solidFill>
                <a:ea typeface="楷体_GB2312" pitchFamily="49" charset="-122"/>
              </a:rPr>
              <a:t> = 10V，输入端A、B的电压信号只有0V和10V两种情况，且T</a:t>
            </a:r>
            <a:r>
              <a:rPr lang="zh-CN" altLang="en-US" sz="2400" b="1" kern="1200" baseline="-25000" dirty="0">
                <a:solidFill>
                  <a:srgbClr val="000066"/>
                </a:solidFill>
                <a:ea typeface="楷体_GB2312" pitchFamily="49" charset="-122"/>
              </a:rPr>
              <a:t>N</a:t>
            </a:r>
            <a:r>
              <a:rPr lang="zh-CN" altLang="en-US" sz="2400" b="1" kern="1200" dirty="0">
                <a:solidFill>
                  <a:srgbClr val="000066"/>
                </a:solidFill>
                <a:ea typeface="楷体_GB2312" pitchFamily="49" charset="-122"/>
              </a:rPr>
              <a:t> 和T</a:t>
            </a:r>
            <a:r>
              <a:rPr lang="zh-CN" altLang="en-US" sz="2400" b="1" kern="1200" baseline="-25000" dirty="0">
                <a:solidFill>
                  <a:srgbClr val="000066"/>
                </a:solidFill>
                <a:ea typeface="楷体_GB2312" pitchFamily="49" charset="-122"/>
              </a:rPr>
              <a:t>P</a:t>
            </a:r>
            <a:r>
              <a:rPr lang="zh-CN" altLang="en-US" sz="2400" b="1" kern="1200" dirty="0">
                <a:solidFill>
                  <a:srgbClr val="000066"/>
                </a:solidFill>
                <a:ea typeface="楷体_GB2312" pitchFamily="49" charset="-122"/>
              </a:rPr>
              <a:t> 的开启电压分别为</a:t>
            </a:r>
            <a:r>
              <a:rPr lang="zh-CN" altLang="en-US" sz="2400" b="1" i="1" kern="1200" dirty="0">
                <a:solidFill>
                  <a:srgbClr val="000066"/>
                </a:solidFill>
                <a:ea typeface="楷体_GB2312" pitchFamily="49" charset="-122"/>
              </a:rPr>
              <a:t>V</a:t>
            </a:r>
            <a:r>
              <a:rPr lang="zh-CN" altLang="en-US" sz="2400" b="1" kern="1200" baseline="-25000" dirty="0">
                <a:solidFill>
                  <a:srgbClr val="000066"/>
                </a:solidFill>
                <a:ea typeface="楷体_GB2312" pitchFamily="49" charset="-122"/>
              </a:rPr>
              <a:t>TN</a:t>
            </a:r>
            <a:r>
              <a:rPr lang="zh-CN" altLang="en-US" sz="2400" b="1" kern="1200" dirty="0">
                <a:solidFill>
                  <a:srgbClr val="000066"/>
                </a:solidFill>
                <a:ea typeface="楷体_GB2312" pitchFamily="49" charset="-122"/>
              </a:rPr>
              <a:t> = 2V和</a:t>
            </a:r>
            <a:r>
              <a:rPr lang="zh-CN" altLang="en-US" sz="2400" b="1" i="1" kern="1200" dirty="0">
                <a:solidFill>
                  <a:srgbClr val="000066"/>
                </a:solidFill>
                <a:ea typeface="楷体_GB2312" pitchFamily="49" charset="-122"/>
              </a:rPr>
              <a:t>V</a:t>
            </a:r>
            <a:r>
              <a:rPr lang="zh-CN" altLang="en-US" sz="2400" b="1" kern="1200" baseline="-25000" dirty="0">
                <a:solidFill>
                  <a:srgbClr val="000066"/>
                </a:solidFill>
                <a:ea typeface="楷体_GB2312" pitchFamily="49" charset="-122"/>
              </a:rPr>
              <a:t>TP</a:t>
            </a:r>
            <a:r>
              <a:rPr lang="zh-CN" altLang="en-US" sz="2400" b="1" kern="1200" dirty="0">
                <a:solidFill>
                  <a:srgbClr val="000066"/>
                </a:solidFill>
                <a:ea typeface="楷体_GB2312" pitchFamily="49" charset="-122"/>
              </a:rPr>
              <a:t> = -2V。</a:t>
            </a:r>
            <a:endParaRPr lang="zh-CN" altLang="en-US" sz="2400" b="1" kern="1200" dirty="0">
              <a:solidFill>
                <a:srgbClr val="000066"/>
              </a:solidFill>
              <a:ea typeface="楷体_GB2312" pitchFamily="49" charset="-122"/>
            </a:endParaRPr>
          </a:p>
        </p:txBody>
      </p:sp>
      <p:sp>
        <p:nvSpPr>
          <p:cNvPr id="100" name="文本框 99"/>
          <p:cNvSpPr txBox="1"/>
          <p:nvPr/>
        </p:nvSpPr>
        <p:spPr>
          <a:xfrm>
            <a:off x="1143000" y="5638800"/>
            <a:ext cx="2315845" cy="386080"/>
          </a:xfrm>
          <a:prstGeom prst="rect">
            <a:avLst/>
          </a:prstGeom>
          <a:noFill/>
          <a:ln w="9525">
            <a:noFill/>
          </a:ln>
        </p:spPr>
        <p:txBody>
          <a:bodyPr wrap="square">
            <a:spAutoFit/>
          </a:bodyPr>
          <a:p>
            <a:pPr>
              <a:lnSpc>
                <a:spcPct val="120000"/>
              </a:lnSpc>
            </a:pPr>
            <a:r>
              <a:rPr sz="1600">
                <a:ea typeface="宋体" panose="02010600030101010101" pitchFamily="2" charset="-122"/>
              </a:rPr>
              <a:t>图3-43 CMOS与非门</a:t>
            </a:r>
            <a:endParaRPr sz="1600">
              <a:ea typeface="宋体" panose="02010600030101010101" pitchFamily="2" charset="-122"/>
            </a:endParaRPr>
          </a:p>
        </p:txBody>
      </p:sp>
      <p:pic>
        <p:nvPicPr>
          <p:cNvPr id="9270" name="图片 2707"/>
          <p:cNvPicPr>
            <a:picLocks noChangeAspect="1"/>
          </p:cNvPicPr>
          <p:nvPr>
            <p:custDataLst>
              <p:tags r:id="rId1"/>
            </p:custDataLst>
          </p:nvPr>
        </p:nvPicPr>
        <p:blipFill>
          <a:blip r:embed="rId2"/>
          <a:stretch>
            <a:fillRect/>
          </a:stretch>
        </p:blipFill>
        <p:spPr>
          <a:xfrm>
            <a:off x="457200" y="2819400"/>
            <a:ext cx="3168015" cy="2834640"/>
          </a:xfrm>
          <a:prstGeom prst="rect">
            <a:avLst/>
          </a:prstGeom>
          <a:noFill/>
          <a:ln>
            <a:noFill/>
          </a:ln>
        </p:spPr>
      </p:pic>
      <p:sp>
        <p:nvSpPr>
          <p:cNvPr id="418829" name="文本框 418828"/>
          <p:cNvSpPr txBox="1"/>
          <p:nvPr/>
        </p:nvSpPr>
        <p:spPr>
          <a:xfrm>
            <a:off x="3741738" y="3640138"/>
            <a:ext cx="895350" cy="519112"/>
          </a:xfrm>
          <a:prstGeom prst="rect">
            <a:avLst/>
          </a:prstGeom>
          <a:noFill/>
          <a:ln w="9525">
            <a:noFill/>
          </a:ln>
        </p:spPr>
        <p:txBody>
          <a:bodyPr wrap="none" anchor="t" anchorCtr="0">
            <a:spAutoFit/>
          </a:bodyPr>
          <a:p>
            <a:pPr eaLnBrk="0" hangingPunct="0"/>
            <a:r>
              <a:rPr lang="en-US" altLang="zh-CN" sz="2800">
                <a:solidFill>
                  <a:srgbClr val="000066"/>
                </a:solidFill>
                <a:latin typeface="Times New Roman" panose="02020603050405020304" charset="0"/>
                <a:ea typeface="楷体_GB2312" pitchFamily="49" charset="-122"/>
              </a:rPr>
              <a:t>0    0</a:t>
            </a:r>
            <a:endParaRPr lang="en-US" altLang="zh-CN" sz="2800">
              <a:solidFill>
                <a:srgbClr val="000066"/>
              </a:solidFill>
              <a:latin typeface="Times New Roman" panose="02020603050405020304" charset="0"/>
              <a:ea typeface="楷体_GB2312" pitchFamily="49" charset="-122"/>
            </a:endParaRPr>
          </a:p>
        </p:txBody>
      </p:sp>
      <p:sp>
        <p:nvSpPr>
          <p:cNvPr id="418830" name="文本框 418829"/>
          <p:cNvSpPr txBox="1"/>
          <p:nvPr/>
        </p:nvSpPr>
        <p:spPr>
          <a:xfrm>
            <a:off x="3741738" y="4197350"/>
            <a:ext cx="895350" cy="519113"/>
          </a:xfrm>
          <a:prstGeom prst="rect">
            <a:avLst/>
          </a:prstGeom>
          <a:noFill/>
          <a:ln w="9525">
            <a:noFill/>
          </a:ln>
        </p:spPr>
        <p:txBody>
          <a:bodyPr wrap="none" anchor="t" anchorCtr="0">
            <a:spAutoFit/>
          </a:bodyPr>
          <a:p>
            <a:pPr eaLnBrk="0" hangingPunct="0"/>
            <a:r>
              <a:rPr lang="en-US" altLang="zh-CN" sz="2800">
                <a:solidFill>
                  <a:srgbClr val="000066"/>
                </a:solidFill>
                <a:latin typeface="Times New Roman" panose="02020603050405020304" charset="0"/>
                <a:ea typeface="楷体_GB2312" pitchFamily="49" charset="-122"/>
              </a:rPr>
              <a:t>0    1</a:t>
            </a:r>
            <a:endParaRPr lang="en-US" altLang="zh-CN" sz="2800">
              <a:solidFill>
                <a:srgbClr val="000066"/>
              </a:solidFill>
              <a:latin typeface="Times New Roman" panose="02020603050405020304" charset="0"/>
              <a:ea typeface="楷体_GB2312" pitchFamily="49" charset="-122"/>
            </a:endParaRPr>
          </a:p>
        </p:txBody>
      </p:sp>
      <p:sp>
        <p:nvSpPr>
          <p:cNvPr id="418831" name="文本框 418830"/>
          <p:cNvSpPr txBox="1"/>
          <p:nvPr/>
        </p:nvSpPr>
        <p:spPr>
          <a:xfrm>
            <a:off x="3741738" y="4783138"/>
            <a:ext cx="895350" cy="519112"/>
          </a:xfrm>
          <a:prstGeom prst="rect">
            <a:avLst/>
          </a:prstGeom>
          <a:noFill/>
          <a:ln w="9525">
            <a:noFill/>
          </a:ln>
        </p:spPr>
        <p:txBody>
          <a:bodyPr wrap="none" anchor="t" anchorCtr="0">
            <a:spAutoFit/>
          </a:bodyPr>
          <a:p>
            <a:pPr eaLnBrk="0" hangingPunct="0"/>
            <a:r>
              <a:rPr lang="en-US" altLang="zh-CN" sz="2800">
                <a:solidFill>
                  <a:srgbClr val="000066"/>
                </a:solidFill>
                <a:latin typeface="Times New Roman" panose="02020603050405020304" charset="0"/>
                <a:ea typeface="楷体_GB2312" pitchFamily="49" charset="-122"/>
              </a:rPr>
              <a:t>1    0</a:t>
            </a:r>
            <a:endParaRPr lang="en-US" altLang="zh-CN" sz="2800">
              <a:solidFill>
                <a:srgbClr val="000066"/>
              </a:solidFill>
              <a:latin typeface="Times New Roman" panose="02020603050405020304" charset="0"/>
              <a:ea typeface="楷体_GB2312" pitchFamily="49" charset="-122"/>
            </a:endParaRPr>
          </a:p>
        </p:txBody>
      </p:sp>
      <p:sp>
        <p:nvSpPr>
          <p:cNvPr id="418832" name="文本框 418831"/>
          <p:cNvSpPr txBox="1"/>
          <p:nvPr/>
        </p:nvSpPr>
        <p:spPr>
          <a:xfrm>
            <a:off x="3741738" y="5349875"/>
            <a:ext cx="895350" cy="519113"/>
          </a:xfrm>
          <a:prstGeom prst="rect">
            <a:avLst/>
          </a:prstGeom>
          <a:noFill/>
          <a:ln w="9525">
            <a:noFill/>
          </a:ln>
        </p:spPr>
        <p:txBody>
          <a:bodyPr wrap="none" anchor="t" anchorCtr="0">
            <a:spAutoFit/>
          </a:bodyPr>
          <a:p>
            <a:pPr eaLnBrk="0" hangingPunct="0"/>
            <a:r>
              <a:rPr lang="en-US" altLang="zh-CN" sz="2800">
                <a:solidFill>
                  <a:srgbClr val="000066"/>
                </a:solidFill>
                <a:latin typeface="Times New Roman" panose="02020603050405020304" charset="0"/>
                <a:ea typeface="楷体_GB2312" pitchFamily="49" charset="-122"/>
              </a:rPr>
              <a:t>1    1</a:t>
            </a:r>
            <a:endParaRPr lang="en-US" altLang="zh-CN" sz="2800">
              <a:solidFill>
                <a:srgbClr val="000066"/>
              </a:solidFill>
              <a:latin typeface="Times New Roman" panose="02020603050405020304" charset="0"/>
              <a:ea typeface="楷体_GB2312" pitchFamily="49" charset="-122"/>
            </a:endParaRPr>
          </a:p>
        </p:txBody>
      </p:sp>
      <p:sp>
        <p:nvSpPr>
          <p:cNvPr id="418833" name="文本框 418832"/>
          <p:cNvSpPr txBox="1"/>
          <p:nvPr/>
        </p:nvSpPr>
        <p:spPr>
          <a:xfrm>
            <a:off x="4841875" y="3640138"/>
            <a:ext cx="903288" cy="457200"/>
          </a:xfrm>
          <a:prstGeom prst="rect">
            <a:avLst/>
          </a:prstGeom>
          <a:noFill/>
          <a:ln w="9525">
            <a:noFill/>
          </a:ln>
        </p:spPr>
        <p:txBody>
          <a:bodyPr anchor="t" anchorCtr="0">
            <a:spAutoFit/>
          </a:bodyPr>
          <a:p>
            <a:pPr eaLnBrk="0" hangingPunct="0"/>
            <a:r>
              <a:rPr lang="zh-CN" altLang="en-US" sz="2400" dirty="0">
                <a:solidFill>
                  <a:srgbClr val="000066"/>
                </a:solidFill>
                <a:latin typeface="Times New Roman" panose="02020603050405020304" charset="0"/>
                <a:ea typeface="楷体_GB2312" pitchFamily="49" charset="-122"/>
              </a:rPr>
              <a:t>截止</a:t>
            </a:r>
            <a:endParaRPr lang="zh-CN" altLang="en-US" sz="2400">
              <a:solidFill>
                <a:srgbClr val="000066"/>
              </a:solidFill>
              <a:latin typeface="Times New Roman" panose="02020603050405020304" charset="0"/>
              <a:ea typeface="楷体_GB2312" pitchFamily="49" charset="-122"/>
            </a:endParaRPr>
          </a:p>
        </p:txBody>
      </p:sp>
      <p:sp>
        <p:nvSpPr>
          <p:cNvPr id="418834" name="文本框 418833"/>
          <p:cNvSpPr txBox="1"/>
          <p:nvPr/>
        </p:nvSpPr>
        <p:spPr>
          <a:xfrm>
            <a:off x="5614988" y="3654425"/>
            <a:ext cx="796925" cy="457200"/>
          </a:xfrm>
          <a:prstGeom prst="rect">
            <a:avLst/>
          </a:prstGeom>
          <a:noFill/>
          <a:ln w="9525">
            <a:noFill/>
          </a:ln>
        </p:spPr>
        <p:txBody>
          <a:bodyPr wrap="none" anchor="t" anchorCtr="0">
            <a:spAutoFit/>
          </a:bodyPr>
          <a:p>
            <a:pPr eaLnBrk="0" hangingPunct="0"/>
            <a:r>
              <a:rPr lang="zh-CN" altLang="en-US" sz="2400" dirty="0">
                <a:solidFill>
                  <a:srgbClr val="000066"/>
                </a:solidFill>
                <a:latin typeface="Times New Roman" panose="02020603050405020304" charset="0"/>
                <a:ea typeface="楷体_GB2312" pitchFamily="49" charset="-122"/>
              </a:rPr>
              <a:t>导通</a:t>
            </a:r>
            <a:endParaRPr lang="zh-CN" altLang="en-US" sz="2400">
              <a:solidFill>
                <a:srgbClr val="000066"/>
              </a:solidFill>
              <a:latin typeface="Times New Roman" panose="02020603050405020304" charset="0"/>
              <a:ea typeface="楷体_GB2312" pitchFamily="49" charset="-122"/>
            </a:endParaRPr>
          </a:p>
        </p:txBody>
      </p:sp>
      <p:sp>
        <p:nvSpPr>
          <p:cNvPr id="418835" name="文本框 418834"/>
          <p:cNvSpPr txBox="1"/>
          <p:nvPr/>
        </p:nvSpPr>
        <p:spPr>
          <a:xfrm>
            <a:off x="6340475" y="3654425"/>
            <a:ext cx="796925" cy="457200"/>
          </a:xfrm>
          <a:prstGeom prst="rect">
            <a:avLst/>
          </a:prstGeom>
          <a:noFill/>
          <a:ln w="9525">
            <a:noFill/>
          </a:ln>
        </p:spPr>
        <p:txBody>
          <a:bodyPr wrap="none" anchor="t" anchorCtr="0">
            <a:spAutoFit/>
          </a:bodyPr>
          <a:p>
            <a:pPr eaLnBrk="0" hangingPunct="0"/>
            <a:r>
              <a:rPr lang="zh-CN" altLang="en-US" sz="2400" dirty="0">
                <a:solidFill>
                  <a:srgbClr val="000066"/>
                </a:solidFill>
                <a:latin typeface="Times New Roman" panose="02020603050405020304" charset="0"/>
                <a:ea typeface="楷体_GB2312" pitchFamily="49" charset="-122"/>
              </a:rPr>
              <a:t>截止</a:t>
            </a:r>
            <a:endParaRPr lang="zh-CN" altLang="en-US" sz="2400">
              <a:solidFill>
                <a:srgbClr val="000066"/>
              </a:solidFill>
              <a:latin typeface="Times New Roman" panose="02020603050405020304" charset="0"/>
              <a:ea typeface="楷体_GB2312" pitchFamily="49" charset="-122"/>
            </a:endParaRPr>
          </a:p>
        </p:txBody>
      </p:sp>
      <p:sp>
        <p:nvSpPr>
          <p:cNvPr id="418836" name="文本框 418835"/>
          <p:cNvSpPr txBox="1"/>
          <p:nvPr/>
        </p:nvSpPr>
        <p:spPr>
          <a:xfrm>
            <a:off x="5608638" y="4183063"/>
            <a:ext cx="803275" cy="457200"/>
          </a:xfrm>
          <a:prstGeom prst="rect">
            <a:avLst/>
          </a:prstGeom>
          <a:noFill/>
          <a:ln w="9525">
            <a:noFill/>
          </a:ln>
        </p:spPr>
        <p:txBody>
          <a:bodyPr anchor="t" anchorCtr="0">
            <a:spAutoFit/>
          </a:bodyPr>
          <a:p>
            <a:pPr eaLnBrk="0" hangingPunct="0"/>
            <a:r>
              <a:rPr lang="zh-CN" altLang="en-US" sz="2400" dirty="0">
                <a:solidFill>
                  <a:srgbClr val="000066"/>
                </a:solidFill>
                <a:latin typeface="Times New Roman" panose="02020603050405020304" charset="0"/>
                <a:ea typeface="楷体_GB2312" pitchFamily="49" charset="-122"/>
              </a:rPr>
              <a:t>导通</a:t>
            </a:r>
            <a:endParaRPr lang="zh-CN" altLang="en-US" sz="2400">
              <a:solidFill>
                <a:srgbClr val="000066"/>
              </a:solidFill>
              <a:latin typeface="Times New Roman" panose="02020603050405020304" charset="0"/>
              <a:ea typeface="楷体_GB2312" pitchFamily="49" charset="-122"/>
            </a:endParaRPr>
          </a:p>
        </p:txBody>
      </p:sp>
      <p:sp>
        <p:nvSpPr>
          <p:cNvPr id="418837" name="文本框 418836"/>
          <p:cNvSpPr txBox="1"/>
          <p:nvPr/>
        </p:nvSpPr>
        <p:spPr>
          <a:xfrm>
            <a:off x="6340475" y="4183063"/>
            <a:ext cx="796925" cy="457200"/>
          </a:xfrm>
          <a:prstGeom prst="rect">
            <a:avLst/>
          </a:prstGeom>
          <a:noFill/>
          <a:ln w="9525">
            <a:noFill/>
          </a:ln>
        </p:spPr>
        <p:txBody>
          <a:bodyPr wrap="none" anchor="t" anchorCtr="0">
            <a:spAutoFit/>
          </a:bodyPr>
          <a:p>
            <a:pPr eaLnBrk="0" hangingPunct="0"/>
            <a:r>
              <a:rPr lang="zh-CN" altLang="en-US" sz="2400" dirty="0">
                <a:solidFill>
                  <a:srgbClr val="000066"/>
                </a:solidFill>
                <a:latin typeface="Times New Roman" panose="02020603050405020304" charset="0"/>
                <a:ea typeface="楷体_GB2312" pitchFamily="49" charset="-122"/>
              </a:rPr>
              <a:t>导通</a:t>
            </a:r>
            <a:endParaRPr lang="zh-CN" altLang="en-US" sz="2400">
              <a:solidFill>
                <a:srgbClr val="000066"/>
              </a:solidFill>
              <a:latin typeface="Times New Roman" panose="02020603050405020304" charset="0"/>
              <a:ea typeface="楷体_GB2312" pitchFamily="49" charset="-122"/>
            </a:endParaRPr>
          </a:p>
        </p:txBody>
      </p:sp>
      <p:sp>
        <p:nvSpPr>
          <p:cNvPr id="418842" name="文本框 418841"/>
          <p:cNvSpPr txBox="1"/>
          <p:nvPr/>
        </p:nvSpPr>
        <p:spPr>
          <a:xfrm>
            <a:off x="7127875" y="3654425"/>
            <a:ext cx="796925" cy="457200"/>
          </a:xfrm>
          <a:prstGeom prst="rect">
            <a:avLst/>
          </a:prstGeom>
          <a:noFill/>
          <a:ln w="9525">
            <a:noFill/>
          </a:ln>
        </p:spPr>
        <p:txBody>
          <a:bodyPr wrap="none" anchor="t" anchorCtr="0">
            <a:spAutoFit/>
          </a:bodyPr>
          <a:p>
            <a:pPr eaLnBrk="0" hangingPunct="0"/>
            <a:r>
              <a:rPr lang="zh-CN" altLang="en-US" sz="2400" dirty="0">
                <a:solidFill>
                  <a:srgbClr val="000066"/>
                </a:solidFill>
                <a:latin typeface="Times New Roman" panose="02020603050405020304" charset="0"/>
                <a:ea typeface="楷体_GB2312" pitchFamily="49" charset="-122"/>
              </a:rPr>
              <a:t>导通</a:t>
            </a:r>
            <a:endParaRPr lang="zh-CN" altLang="en-US" sz="2400">
              <a:solidFill>
                <a:srgbClr val="000066"/>
              </a:solidFill>
              <a:latin typeface="Times New Roman" panose="02020603050405020304" charset="0"/>
              <a:ea typeface="楷体_GB2312" pitchFamily="49" charset="-122"/>
            </a:endParaRPr>
          </a:p>
        </p:txBody>
      </p:sp>
      <p:sp>
        <p:nvSpPr>
          <p:cNvPr id="418843" name="文本框 418842"/>
          <p:cNvSpPr txBox="1"/>
          <p:nvPr/>
        </p:nvSpPr>
        <p:spPr>
          <a:xfrm>
            <a:off x="4824413" y="4183063"/>
            <a:ext cx="796925" cy="457200"/>
          </a:xfrm>
          <a:prstGeom prst="rect">
            <a:avLst/>
          </a:prstGeom>
          <a:noFill/>
          <a:ln w="9525">
            <a:noFill/>
          </a:ln>
        </p:spPr>
        <p:txBody>
          <a:bodyPr wrap="none" anchor="t" anchorCtr="0">
            <a:spAutoFit/>
          </a:bodyPr>
          <a:p>
            <a:pPr eaLnBrk="0" hangingPunct="0"/>
            <a:r>
              <a:rPr lang="zh-CN" altLang="en-US" sz="2400" dirty="0">
                <a:solidFill>
                  <a:srgbClr val="000066"/>
                </a:solidFill>
                <a:latin typeface="Times New Roman" panose="02020603050405020304" charset="0"/>
                <a:ea typeface="楷体_GB2312" pitchFamily="49" charset="-122"/>
              </a:rPr>
              <a:t>截止</a:t>
            </a:r>
            <a:endParaRPr lang="zh-CN" altLang="en-US" sz="2400">
              <a:solidFill>
                <a:srgbClr val="000066"/>
              </a:solidFill>
              <a:latin typeface="Times New Roman" panose="02020603050405020304" charset="0"/>
              <a:ea typeface="楷体_GB2312" pitchFamily="49" charset="-122"/>
            </a:endParaRPr>
          </a:p>
        </p:txBody>
      </p:sp>
      <p:sp>
        <p:nvSpPr>
          <p:cNvPr id="418844" name="文本框 418843"/>
          <p:cNvSpPr txBox="1"/>
          <p:nvPr/>
        </p:nvSpPr>
        <p:spPr>
          <a:xfrm>
            <a:off x="7169785" y="4183063"/>
            <a:ext cx="796925" cy="457200"/>
          </a:xfrm>
          <a:prstGeom prst="rect">
            <a:avLst/>
          </a:prstGeom>
          <a:noFill/>
          <a:ln w="9525">
            <a:noFill/>
          </a:ln>
        </p:spPr>
        <p:txBody>
          <a:bodyPr wrap="none" anchor="t" anchorCtr="0">
            <a:spAutoFit/>
          </a:bodyPr>
          <a:p>
            <a:pPr eaLnBrk="0" hangingPunct="0"/>
            <a:r>
              <a:rPr lang="zh-CN" altLang="en-US" sz="2400" dirty="0">
                <a:solidFill>
                  <a:srgbClr val="000066"/>
                </a:solidFill>
                <a:latin typeface="Times New Roman" panose="02020603050405020304" charset="0"/>
                <a:ea typeface="楷体_GB2312" pitchFamily="49" charset="-122"/>
              </a:rPr>
              <a:t>截止</a:t>
            </a:r>
            <a:endParaRPr lang="zh-CN" altLang="en-US" sz="2400">
              <a:solidFill>
                <a:srgbClr val="000066"/>
              </a:solidFill>
              <a:latin typeface="Times New Roman" panose="02020603050405020304" charset="0"/>
              <a:ea typeface="楷体_GB2312" pitchFamily="49" charset="-122"/>
            </a:endParaRPr>
          </a:p>
        </p:txBody>
      </p:sp>
      <p:grpSp>
        <p:nvGrpSpPr>
          <p:cNvPr id="418975" name="组合 418974"/>
          <p:cNvGrpSpPr/>
          <p:nvPr/>
        </p:nvGrpSpPr>
        <p:grpSpPr>
          <a:xfrm>
            <a:off x="4841875" y="4835525"/>
            <a:ext cx="3121025" cy="457200"/>
            <a:chOff x="3146" y="2614"/>
            <a:chExt cx="1966" cy="288"/>
          </a:xfrm>
        </p:grpSpPr>
        <p:sp>
          <p:nvSpPr>
            <p:cNvPr id="32793" name="文本框 418837"/>
            <p:cNvSpPr txBox="1"/>
            <p:nvPr/>
          </p:nvSpPr>
          <p:spPr>
            <a:xfrm>
              <a:off x="3146" y="2614"/>
              <a:ext cx="502" cy="288"/>
            </a:xfrm>
            <a:prstGeom prst="rect">
              <a:avLst/>
            </a:prstGeom>
            <a:noFill/>
            <a:ln w="9525">
              <a:noFill/>
            </a:ln>
          </p:spPr>
          <p:txBody>
            <a:bodyPr wrap="none" anchor="t" anchorCtr="0">
              <a:spAutoFit/>
            </a:bodyPr>
            <a:p>
              <a:pPr eaLnBrk="0" hangingPunct="0"/>
              <a:r>
                <a:rPr lang="zh-CN" altLang="en-US" sz="2400" dirty="0">
                  <a:solidFill>
                    <a:srgbClr val="000066"/>
                  </a:solidFill>
                  <a:latin typeface="Times New Roman" panose="02020603050405020304" charset="0"/>
                  <a:ea typeface="楷体_GB2312" pitchFamily="49" charset="-122"/>
                </a:rPr>
                <a:t>导通</a:t>
              </a:r>
              <a:endParaRPr lang="zh-CN" altLang="en-US" sz="2400">
                <a:solidFill>
                  <a:srgbClr val="000066"/>
                </a:solidFill>
                <a:latin typeface="Times New Roman" panose="02020603050405020304" charset="0"/>
                <a:ea typeface="楷体_GB2312" pitchFamily="49" charset="-122"/>
              </a:endParaRPr>
            </a:p>
          </p:txBody>
        </p:sp>
        <p:sp>
          <p:nvSpPr>
            <p:cNvPr id="32794" name="文本框 418838"/>
            <p:cNvSpPr txBox="1"/>
            <p:nvPr/>
          </p:nvSpPr>
          <p:spPr>
            <a:xfrm>
              <a:off x="4610" y="2614"/>
              <a:ext cx="502" cy="288"/>
            </a:xfrm>
            <a:prstGeom prst="rect">
              <a:avLst/>
            </a:prstGeom>
            <a:noFill/>
            <a:ln w="9525">
              <a:noFill/>
            </a:ln>
          </p:spPr>
          <p:txBody>
            <a:bodyPr wrap="none" anchor="t" anchorCtr="0">
              <a:spAutoFit/>
            </a:bodyPr>
            <a:p>
              <a:pPr eaLnBrk="0" hangingPunct="0"/>
              <a:r>
                <a:rPr lang="zh-CN" altLang="en-US" sz="2400" dirty="0">
                  <a:solidFill>
                    <a:srgbClr val="000066"/>
                  </a:solidFill>
                  <a:latin typeface="Times New Roman" panose="02020603050405020304" charset="0"/>
                  <a:ea typeface="楷体_GB2312" pitchFamily="49" charset="-122"/>
                </a:rPr>
                <a:t>导通</a:t>
              </a:r>
              <a:endParaRPr lang="zh-CN" altLang="en-US" sz="2400">
                <a:solidFill>
                  <a:srgbClr val="000066"/>
                </a:solidFill>
                <a:latin typeface="Times New Roman" panose="02020603050405020304" charset="0"/>
                <a:ea typeface="楷体_GB2312" pitchFamily="49" charset="-122"/>
              </a:endParaRPr>
            </a:p>
          </p:txBody>
        </p:sp>
        <p:sp>
          <p:nvSpPr>
            <p:cNvPr id="32795" name="文本框 418844"/>
            <p:cNvSpPr txBox="1"/>
            <p:nvPr/>
          </p:nvSpPr>
          <p:spPr>
            <a:xfrm>
              <a:off x="3653" y="2614"/>
              <a:ext cx="502" cy="288"/>
            </a:xfrm>
            <a:prstGeom prst="rect">
              <a:avLst/>
            </a:prstGeom>
            <a:noFill/>
            <a:ln w="9525">
              <a:noFill/>
            </a:ln>
          </p:spPr>
          <p:txBody>
            <a:bodyPr wrap="none" anchor="t" anchorCtr="0">
              <a:spAutoFit/>
            </a:bodyPr>
            <a:p>
              <a:pPr eaLnBrk="0" hangingPunct="0"/>
              <a:r>
                <a:rPr lang="zh-CN" altLang="en-US" sz="2400" dirty="0">
                  <a:solidFill>
                    <a:srgbClr val="000066"/>
                  </a:solidFill>
                  <a:latin typeface="Times New Roman" panose="02020603050405020304" charset="0"/>
                  <a:ea typeface="楷体_GB2312" pitchFamily="49" charset="-122"/>
                </a:rPr>
                <a:t>截止</a:t>
              </a:r>
              <a:endParaRPr lang="zh-CN" altLang="en-US" sz="2400">
                <a:solidFill>
                  <a:srgbClr val="000066"/>
                </a:solidFill>
                <a:latin typeface="Times New Roman" panose="02020603050405020304" charset="0"/>
                <a:ea typeface="楷体_GB2312" pitchFamily="49" charset="-122"/>
              </a:endParaRPr>
            </a:p>
          </p:txBody>
        </p:sp>
        <p:sp>
          <p:nvSpPr>
            <p:cNvPr id="32796" name="文本框 418845"/>
            <p:cNvSpPr txBox="1"/>
            <p:nvPr/>
          </p:nvSpPr>
          <p:spPr>
            <a:xfrm>
              <a:off x="4106" y="2614"/>
              <a:ext cx="502" cy="288"/>
            </a:xfrm>
            <a:prstGeom prst="rect">
              <a:avLst/>
            </a:prstGeom>
            <a:noFill/>
            <a:ln w="9525">
              <a:noFill/>
            </a:ln>
          </p:spPr>
          <p:txBody>
            <a:bodyPr wrap="none" anchor="t" anchorCtr="0">
              <a:spAutoFit/>
            </a:bodyPr>
            <a:p>
              <a:pPr eaLnBrk="0" hangingPunct="0"/>
              <a:r>
                <a:rPr lang="zh-CN" altLang="en-US" sz="2400" dirty="0">
                  <a:solidFill>
                    <a:srgbClr val="000066"/>
                  </a:solidFill>
                  <a:latin typeface="Times New Roman" panose="02020603050405020304" charset="0"/>
                  <a:ea typeface="楷体_GB2312" pitchFamily="49" charset="-122"/>
                </a:rPr>
                <a:t>截止</a:t>
              </a:r>
              <a:endParaRPr lang="zh-CN" altLang="en-US" sz="2400">
                <a:solidFill>
                  <a:srgbClr val="000066"/>
                </a:solidFill>
                <a:latin typeface="Times New Roman" panose="02020603050405020304" charset="0"/>
                <a:ea typeface="楷体_GB2312" pitchFamily="49" charset="-122"/>
              </a:endParaRPr>
            </a:p>
          </p:txBody>
        </p:sp>
      </p:grpSp>
      <p:grpSp>
        <p:nvGrpSpPr>
          <p:cNvPr id="418976" name="组合 418975"/>
          <p:cNvGrpSpPr/>
          <p:nvPr/>
        </p:nvGrpSpPr>
        <p:grpSpPr>
          <a:xfrm>
            <a:off x="4841875" y="5402263"/>
            <a:ext cx="3106738" cy="457200"/>
            <a:chOff x="3146" y="2971"/>
            <a:chExt cx="1957" cy="288"/>
          </a:xfrm>
        </p:grpSpPr>
        <p:sp>
          <p:nvSpPr>
            <p:cNvPr id="32798" name="文本框 418839"/>
            <p:cNvSpPr txBox="1"/>
            <p:nvPr/>
          </p:nvSpPr>
          <p:spPr>
            <a:xfrm>
              <a:off x="3638" y="2971"/>
              <a:ext cx="502" cy="288"/>
            </a:xfrm>
            <a:prstGeom prst="rect">
              <a:avLst/>
            </a:prstGeom>
            <a:noFill/>
            <a:ln w="9525">
              <a:noFill/>
            </a:ln>
          </p:spPr>
          <p:txBody>
            <a:bodyPr wrap="none" anchor="t" anchorCtr="0">
              <a:spAutoFit/>
            </a:bodyPr>
            <a:p>
              <a:pPr eaLnBrk="0" hangingPunct="0"/>
              <a:r>
                <a:rPr lang="zh-CN" altLang="en-US" sz="2400" dirty="0">
                  <a:solidFill>
                    <a:srgbClr val="000066"/>
                  </a:solidFill>
                  <a:latin typeface="Times New Roman" panose="02020603050405020304" charset="0"/>
                  <a:ea typeface="楷体_GB2312" pitchFamily="49" charset="-122"/>
                </a:rPr>
                <a:t>截止</a:t>
              </a:r>
              <a:endParaRPr lang="zh-CN" altLang="en-US" sz="2400">
                <a:solidFill>
                  <a:srgbClr val="000066"/>
                </a:solidFill>
                <a:latin typeface="Times New Roman" panose="02020603050405020304" charset="0"/>
                <a:ea typeface="楷体_GB2312" pitchFamily="49" charset="-122"/>
              </a:endParaRPr>
            </a:p>
          </p:txBody>
        </p:sp>
        <p:sp>
          <p:nvSpPr>
            <p:cNvPr id="32799" name="文本框 418840"/>
            <p:cNvSpPr txBox="1"/>
            <p:nvPr/>
          </p:nvSpPr>
          <p:spPr>
            <a:xfrm>
              <a:off x="4601" y="2971"/>
              <a:ext cx="502" cy="288"/>
            </a:xfrm>
            <a:prstGeom prst="rect">
              <a:avLst/>
            </a:prstGeom>
            <a:noFill/>
            <a:ln w="9525">
              <a:noFill/>
            </a:ln>
          </p:spPr>
          <p:txBody>
            <a:bodyPr wrap="none" anchor="t" anchorCtr="0">
              <a:spAutoFit/>
            </a:bodyPr>
            <a:p>
              <a:pPr eaLnBrk="0" hangingPunct="0"/>
              <a:r>
                <a:rPr lang="zh-CN" altLang="en-US" sz="2400" dirty="0">
                  <a:solidFill>
                    <a:srgbClr val="000066"/>
                  </a:solidFill>
                  <a:latin typeface="Times New Roman" panose="02020603050405020304" charset="0"/>
                  <a:ea typeface="楷体_GB2312" pitchFamily="49" charset="-122"/>
                </a:rPr>
                <a:t>截止</a:t>
              </a:r>
              <a:endParaRPr lang="zh-CN" altLang="en-US" sz="2400">
                <a:solidFill>
                  <a:srgbClr val="000066"/>
                </a:solidFill>
                <a:latin typeface="Times New Roman" panose="02020603050405020304" charset="0"/>
                <a:ea typeface="楷体_GB2312" pitchFamily="49" charset="-122"/>
              </a:endParaRPr>
            </a:p>
          </p:txBody>
        </p:sp>
        <p:sp>
          <p:nvSpPr>
            <p:cNvPr id="32800" name="文本框 418846"/>
            <p:cNvSpPr txBox="1"/>
            <p:nvPr/>
          </p:nvSpPr>
          <p:spPr>
            <a:xfrm>
              <a:off x="3146" y="2971"/>
              <a:ext cx="502" cy="288"/>
            </a:xfrm>
            <a:prstGeom prst="rect">
              <a:avLst/>
            </a:prstGeom>
            <a:noFill/>
            <a:ln w="9525">
              <a:noFill/>
            </a:ln>
          </p:spPr>
          <p:txBody>
            <a:bodyPr wrap="none" anchor="t" anchorCtr="0">
              <a:spAutoFit/>
            </a:bodyPr>
            <a:p>
              <a:pPr eaLnBrk="0" hangingPunct="0"/>
              <a:r>
                <a:rPr lang="zh-CN" altLang="en-US" sz="2400" dirty="0">
                  <a:solidFill>
                    <a:srgbClr val="000066"/>
                  </a:solidFill>
                  <a:latin typeface="Times New Roman" panose="02020603050405020304" charset="0"/>
                  <a:ea typeface="楷体_GB2312" pitchFamily="49" charset="-122"/>
                </a:rPr>
                <a:t>导通</a:t>
              </a:r>
              <a:endParaRPr lang="zh-CN" altLang="en-US" sz="2400">
                <a:solidFill>
                  <a:srgbClr val="000066"/>
                </a:solidFill>
                <a:latin typeface="Times New Roman" panose="02020603050405020304" charset="0"/>
                <a:ea typeface="楷体_GB2312" pitchFamily="49" charset="-122"/>
              </a:endParaRPr>
            </a:p>
          </p:txBody>
        </p:sp>
        <p:sp>
          <p:nvSpPr>
            <p:cNvPr id="32801" name="文本框 418847"/>
            <p:cNvSpPr txBox="1"/>
            <p:nvPr/>
          </p:nvSpPr>
          <p:spPr>
            <a:xfrm>
              <a:off x="4106" y="2971"/>
              <a:ext cx="502" cy="288"/>
            </a:xfrm>
            <a:prstGeom prst="rect">
              <a:avLst/>
            </a:prstGeom>
            <a:noFill/>
            <a:ln w="9525">
              <a:noFill/>
            </a:ln>
          </p:spPr>
          <p:txBody>
            <a:bodyPr wrap="none" anchor="t" anchorCtr="0">
              <a:spAutoFit/>
            </a:bodyPr>
            <a:p>
              <a:pPr eaLnBrk="0" hangingPunct="0"/>
              <a:r>
                <a:rPr lang="zh-CN" altLang="en-US" sz="2400" dirty="0">
                  <a:solidFill>
                    <a:srgbClr val="000066"/>
                  </a:solidFill>
                  <a:latin typeface="Times New Roman" panose="02020603050405020304" charset="0"/>
                  <a:ea typeface="楷体_GB2312" pitchFamily="49" charset="-122"/>
                </a:rPr>
                <a:t>导通</a:t>
              </a:r>
              <a:endParaRPr lang="zh-CN" altLang="en-US" sz="2400">
                <a:solidFill>
                  <a:srgbClr val="000066"/>
                </a:solidFill>
                <a:latin typeface="Times New Roman" panose="02020603050405020304" charset="0"/>
                <a:ea typeface="楷体_GB2312" pitchFamily="49" charset="-122"/>
              </a:endParaRPr>
            </a:p>
          </p:txBody>
        </p:sp>
      </p:grpSp>
      <p:sp>
        <p:nvSpPr>
          <p:cNvPr id="418849" name="文本框 418848"/>
          <p:cNvSpPr txBox="1"/>
          <p:nvPr/>
        </p:nvSpPr>
        <p:spPr>
          <a:xfrm>
            <a:off x="8032750" y="3630613"/>
            <a:ext cx="361950" cy="519112"/>
          </a:xfrm>
          <a:prstGeom prst="rect">
            <a:avLst/>
          </a:prstGeom>
          <a:noFill/>
          <a:ln w="9525">
            <a:noFill/>
          </a:ln>
        </p:spPr>
        <p:txBody>
          <a:bodyPr wrap="none" anchor="t" anchorCtr="0">
            <a:spAutoFit/>
          </a:bodyPr>
          <a:p>
            <a:pPr eaLnBrk="0" hangingPunct="0"/>
            <a:r>
              <a:rPr lang="en-US" altLang="zh-CN" sz="2800">
                <a:solidFill>
                  <a:srgbClr val="000066"/>
                </a:solidFill>
                <a:latin typeface="Times New Roman" panose="02020603050405020304" charset="0"/>
                <a:ea typeface="楷体_GB2312" pitchFamily="49" charset="-122"/>
              </a:rPr>
              <a:t>1</a:t>
            </a:r>
            <a:endParaRPr lang="en-US" altLang="zh-CN" sz="2800">
              <a:solidFill>
                <a:srgbClr val="000066"/>
              </a:solidFill>
              <a:latin typeface="Times New Roman" panose="02020603050405020304" charset="0"/>
              <a:ea typeface="楷体_GB2312" pitchFamily="49" charset="-122"/>
            </a:endParaRPr>
          </a:p>
        </p:txBody>
      </p:sp>
      <p:sp>
        <p:nvSpPr>
          <p:cNvPr id="418850" name="文本框 418849"/>
          <p:cNvSpPr txBox="1"/>
          <p:nvPr/>
        </p:nvSpPr>
        <p:spPr>
          <a:xfrm>
            <a:off x="8032750" y="4164013"/>
            <a:ext cx="361950" cy="519112"/>
          </a:xfrm>
          <a:prstGeom prst="rect">
            <a:avLst/>
          </a:prstGeom>
          <a:noFill/>
          <a:ln w="9525">
            <a:noFill/>
          </a:ln>
        </p:spPr>
        <p:txBody>
          <a:bodyPr wrap="none" anchor="t" anchorCtr="0">
            <a:spAutoFit/>
          </a:bodyPr>
          <a:p>
            <a:pPr eaLnBrk="0" hangingPunct="0"/>
            <a:r>
              <a:rPr lang="en-US" altLang="zh-CN" sz="2800">
                <a:solidFill>
                  <a:srgbClr val="000066"/>
                </a:solidFill>
                <a:latin typeface="Times New Roman" panose="02020603050405020304" charset="0"/>
                <a:ea typeface="楷体_GB2312" pitchFamily="49" charset="-122"/>
              </a:rPr>
              <a:t>1</a:t>
            </a:r>
            <a:endParaRPr lang="en-US" altLang="zh-CN" sz="2800">
              <a:solidFill>
                <a:srgbClr val="000066"/>
              </a:solidFill>
              <a:latin typeface="Times New Roman" panose="02020603050405020304" charset="0"/>
              <a:ea typeface="楷体_GB2312" pitchFamily="49" charset="-122"/>
            </a:endParaRPr>
          </a:p>
        </p:txBody>
      </p:sp>
      <p:sp>
        <p:nvSpPr>
          <p:cNvPr id="418851" name="文本框 418850"/>
          <p:cNvSpPr txBox="1"/>
          <p:nvPr/>
        </p:nvSpPr>
        <p:spPr>
          <a:xfrm>
            <a:off x="8032750" y="4783138"/>
            <a:ext cx="361950" cy="519112"/>
          </a:xfrm>
          <a:prstGeom prst="rect">
            <a:avLst/>
          </a:prstGeom>
          <a:noFill/>
          <a:ln w="9525">
            <a:noFill/>
          </a:ln>
        </p:spPr>
        <p:txBody>
          <a:bodyPr wrap="none" anchor="t" anchorCtr="0">
            <a:spAutoFit/>
          </a:bodyPr>
          <a:p>
            <a:pPr eaLnBrk="0" hangingPunct="0"/>
            <a:r>
              <a:rPr lang="en-US" altLang="zh-CN" sz="2800">
                <a:solidFill>
                  <a:srgbClr val="000066"/>
                </a:solidFill>
                <a:latin typeface="Times New Roman" panose="02020603050405020304" charset="0"/>
                <a:ea typeface="楷体_GB2312" pitchFamily="49" charset="-122"/>
              </a:rPr>
              <a:t>1</a:t>
            </a:r>
            <a:endParaRPr lang="en-US" altLang="zh-CN" sz="2800">
              <a:solidFill>
                <a:srgbClr val="000066"/>
              </a:solidFill>
              <a:latin typeface="Times New Roman" panose="02020603050405020304" charset="0"/>
              <a:ea typeface="楷体_GB2312" pitchFamily="49" charset="-122"/>
            </a:endParaRPr>
          </a:p>
        </p:txBody>
      </p:sp>
      <p:sp>
        <p:nvSpPr>
          <p:cNvPr id="418852" name="文本框 418851"/>
          <p:cNvSpPr txBox="1"/>
          <p:nvPr/>
        </p:nvSpPr>
        <p:spPr>
          <a:xfrm>
            <a:off x="8034338" y="5349875"/>
            <a:ext cx="361950" cy="519113"/>
          </a:xfrm>
          <a:prstGeom prst="rect">
            <a:avLst/>
          </a:prstGeom>
          <a:noFill/>
          <a:ln w="9525">
            <a:noFill/>
          </a:ln>
        </p:spPr>
        <p:txBody>
          <a:bodyPr wrap="none" anchor="t" anchorCtr="0">
            <a:spAutoFit/>
          </a:bodyPr>
          <a:p>
            <a:pPr eaLnBrk="0" hangingPunct="0"/>
            <a:r>
              <a:rPr lang="en-US" altLang="zh-CN" sz="2800">
                <a:solidFill>
                  <a:srgbClr val="000066"/>
                </a:solidFill>
                <a:latin typeface="Times New Roman" panose="02020603050405020304" charset="0"/>
                <a:ea typeface="楷体_GB2312" pitchFamily="49" charset="-122"/>
              </a:rPr>
              <a:t>0</a:t>
            </a:r>
            <a:endParaRPr lang="en-US" altLang="zh-CN" sz="2800">
              <a:solidFill>
                <a:srgbClr val="000066"/>
              </a:solidFill>
              <a:latin typeface="Times New Roman" panose="02020603050405020304" charset="0"/>
              <a:ea typeface="楷体_GB2312" pitchFamily="49" charset="-122"/>
            </a:endParaRPr>
          </a:p>
        </p:txBody>
      </p:sp>
      <p:sp>
        <p:nvSpPr>
          <p:cNvPr id="2" name="Rectangle 3"/>
          <p:cNvSpPr>
            <a:spLocks noGrp="1"/>
          </p:cNvSpPr>
          <p:nvPr/>
        </p:nvSpPr>
        <p:spPr>
          <a:xfrm>
            <a:off x="228600" y="6019800"/>
            <a:ext cx="8385175" cy="43878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0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dirty="0">
                <a:solidFill>
                  <a:srgbClr val="000066"/>
                </a:solidFill>
                <a:ea typeface="楷体_GB2312" pitchFamily="49" charset="-122"/>
              </a:rPr>
              <a:t>输出信号Y和输入信号A、B之间是与非逻辑关系。</a:t>
            </a:r>
            <a:endParaRPr lang="zh-CN" altLang="en-US" sz="2400" b="1" dirty="0">
              <a:solidFill>
                <a:srgbClr val="000066"/>
              </a:solidFill>
              <a:ea typeface="楷体_GB2312" pitchFamily="49" charset="-122"/>
            </a:endParaRPr>
          </a:p>
        </p:txBody>
      </p:sp>
      <p:grpSp>
        <p:nvGrpSpPr>
          <p:cNvPr id="14" name="组合 13"/>
          <p:cNvGrpSpPr/>
          <p:nvPr/>
        </p:nvGrpSpPr>
        <p:grpSpPr>
          <a:xfrm>
            <a:off x="3701415" y="3114675"/>
            <a:ext cx="4909185" cy="2828290"/>
            <a:chOff x="6069" y="4905"/>
            <a:chExt cx="7731" cy="4454"/>
          </a:xfrm>
        </p:grpSpPr>
        <p:grpSp>
          <p:nvGrpSpPr>
            <p:cNvPr id="418974" name="组合 418973"/>
            <p:cNvGrpSpPr/>
            <p:nvPr/>
          </p:nvGrpSpPr>
          <p:grpSpPr>
            <a:xfrm>
              <a:off x="6070" y="4905"/>
              <a:ext cx="7730" cy="4455"/>
              <a:chOff x="2406" y="1519"/>
              <a:chExt cx="3092" cy="1782"/>
            </a:xfrm>
          </p:grpSpPr>
          <p:sp>
            <p:nvSpPr>
              <p:cNvPr id="32771" name="文本框 418819"/>
              <p:cNvSpPr txBox="1"/>
              <p:nvPr/>
            </p:nvSpPr>
            <p:spPr>
              <a:xfrm>
                <a:off x="2406" y="1519"/>
                <a:ext cx="638" cy="327"/>
              </a:xfrm>
              <a:prstGeom prst="rect">
                <a:avLst/>
              </a:prstGeom>
              <a:noFill/>
              <a:ln w="9525">
                <a:noFill/>
              </a:ln>
            </p:spPr>
            <p:txBody>
              <a:bodyPr wrap="none" anchor="t" anchorCtr="0">
                <a:spAutoFit/>
              </a:bodyPr>
              <a:p>
                <a:pPr eaLnBrk="0" hangingPunct="0"/>
                <a:r>
                  <a:rPr lang="en-US" altLang="zh-CN" sz="2800" i="1">
                    <a:solidFill>
                      <a:srgbClr val="000066"/>
                    </a:solidFill>
                    <a:latin typeface="Times New Roman" panose="02020603050405020304" charset="0"/>
                    <a:ea typeface="楷体_GB2312" pitchFamily="49" charset="-122"/>
                  </a:rPr>
                  <a:t>A</a:t>
                </a:r>
                <a:r>
                  <a:rPr lang="en-US" altLang="zh-CN" sz="2800">
                    <a:solidFill>
                      <a:srgbClr val="000066"/>
                    </a:solidFill>
                    <a:latin typeface="Times New Roman" panose="02020603050405020304" charset="0"/>
                    <a:ea typeface="楷体_GB2312" pitchFamily="49" charset="-122"/>
                  </a:rPr>
                  <a:t>    </a:t>
                </a:r>
                <a:r>
                  <a:rPr lang="en-US" altLang="zh-CN" sz="2800" i="1">
                    <a:solidFill>
                      <a:srgbClr val="000066"/>
                    </a:solidFill>
                    <a:latin typeface="Times New Roman" panose="02020603050405020304" charset="0"/>
                    <a:ea typeface="楷体_GB2312" pitchFamily="49" charset="-122"/>
                  </a:rPr>
                  <a:t>B</a:t>
                </a:r>
                <a:endParaRPr lang="en-US" altLang="zh-CN" sz="2800" i="1">
                  <a:solidFill>
                    <a:srgbClr val="000066"/>
                  </a:solidFill>
                  <a:latin typeface="Times New Roman" panose="02020603050405020304" charset="0"/>
                  <a:ea typeface="楷体_GB2312" pitchFamily="49" charset="-122"/>
                </a:endParaRPr>
              </a:p>
            </p:txBody>
          </p:sp>
          <p:sp>
            <p:nvSpPr>
              <p:cNvPr id="32772" name="文本框 418820"/>
              <p:cNvSpPr txBox="1"/>
              <p:nvPr/>
            </p:nvSpPr>
            <p:spPr>
              <a:xfrm>
                <a:off x="3146" y="1525"/>
                <a:ext cx="1996" cy="329"/>
              </a:xfrm>
              <a:prstGeom prst="rect">
                <a:avLst/>
              </a:prstGeom>
              <a:noFill/>
              <a:ln w="9525">
                <a:noFill/>
              </a:ln>
            </p:spPr>
            <p:txBody>
              <a:bodyPr wrap="square" anchor="t" anchorCtr="0">
                <a:spAutoFit/>
              </a:bodyPr>
              <a:p>
                <a:pPr eaLnBrk="0" hangingPunct="0"/>
                <a:r>
                  <a:rPr lang="en-US" altLang="zh-CN" sz="2800">
                    <a:solidFill>
                      <a:srgbClr val="000066"/>
                    </a:solidFill>
                    <a:latin typeface="Times New Roman" panose="02020603050405020304" charset="0"/>
                    <a:ea typeface="楷体_GB2312" pitchFamily="49" charset="-122"/>
                  </a:rPr>
                  <a:t>T</a:t>
                </a:r>
                <a:r>
                  <a:rPr lang="en-US" altLang="zh-CN" sz="2800" baseline="-25000">
                    <a:solidFill>
                      <a:srgbClr val="000066"/>
                    </a:solidFill>
                    <a:latin typeface="Times New Roman" panose="02020603050405020304" charset="0"/>
                    <a:ea typeface="楷体_GB2312" pitchFamily="49" charset="-122"/>
                  </a:rPr>
                  <a:t>N1</a:t>
                </a:r>
                <a:r>
                  <a:rPr lang="en-US" altLang="zh-CN" sz="2800">
                    <a:solidFill>
                      <a:srgbClr val="000066"/>
                    </a:solidFill>
                    <a:latin typeface="Times New Roman" panose="02020603050405020304" charset="0"/>
                    <a:ea typeface="楷体_GB2312" pitchFamily="49" charset="-122"/>
                  </a:rPr>
                  <a:t>    T</a:t>
                </a:r>
                <a:r>
                  <a:rPr lang="en-US" altLang="zh-CN" sz="2800" baseline="-25000">
                    <a:solidFill>
                      <a:srgbClr val="000066"/>
                    </a:solidFill>
                    <a:latin typeface="Times New Roman" panose="02020603050405020304" charset="0"/>
                    <a:ea typeface="楷体_GB2312" pitchFamily="49" charset="-122"/>
                  </a:rPr>
                  <a:t>P1</a:t>
                </a:r>
                <a:r>
                  <a:rPr lang="en-US" altLang="zh-CN" sz="2000">
                    <a:solidFill>
                      <a:srgbClr val="000066"/>
                    </a:solidFill>
                    <a:latin typeface="Times New Roman" panose="02020603050405020304" charset="0"/>
                    <a:ea typeface="楷体_GB2312" pitchFamily="49" charset="-122"/>
                  </a:rPr>
                  <a:t> </a:t>
                </a:r>
                <a:r>
                  <a:rPr lang="en-US" altLang="zh-CN" sz="2800">
                    <a:solidFill>
                      <a:srgbClr val="000066"/>
                    </a:solidFill>
                    <a:latin typeface="Times New Roman" panose="02020603050405020304" charset="0"/>
                    <a:ea typeface="楷体_GB2312" pitchFamily="49" charset="-122"/>
                  </a:rPr>
                  <a:t>   T</a:t>
                </a:r>
                <a:r>
                  <a:rPr lang="en-US" altLang="zh-CN" sz="2800" baseline="-25000">
                    <a:solidFill>
                      <a:srgbClr val="000066"/>
                    </a:solidFill>
                    <a:latin typeface="Times New Roman" panose="02020603050405020304" charset="0"/>
                    <a:ea typeface="楷体_GB2312" pitchFamily="49" charset="-122"/>
                  </a:rPr>
                  <a:t>N2</a:t>
                </a:r>
                <a:r>
                  <a:rPr lang="en-US" altLang="zh-CN" sz="2800">
                    <a:solidFill>
                      <a:srgbClr val="000066"/>
                    </a:solidFill>
                    <a:latin typeface="Times New Roman" panose="02020603050405020304" charset="0"/>
                    <a:ea typeface="楷体_GB2312" pitchFamily="49" charset="-122"/>
                  </a:rPr>
                  <a:t>  T</a:t>
                </a:r>
                <a:r>
                  <a:rPr lang="en-US" altLang="zh-CN" sz="2800" baseline="-25000">
                    <a:solidFill>
                      <a:srgbClr val="000066"/>
                    </a:solidFill>
                    <a:latin typeface="Times New Roman" panose="02020603050405020304" charset="0"/>
                    <a:ea typeface="楷体_GB2312" pitchFamily="49" charset="-122"/>
                  </a:rPr>
                  <a:t>P2</a:t>
                </a:r>
                <a:endParaRPr lang="en-US" altLang="zh-CN" sz="2800" baseline="-25000">
                  <a:solidFill>
                    <a:srgbClr val="000066"/>
                  </a:solidFill>
                  <a:latin typeface="Times New Roman" panose="02020603050405020304" charset="0"/>
                  <a:ea typeface="楷体_GB2312" pitchFamily="49" charset="-122"/>
                </a:endParaRPr>
              </a:p>
            </p:txBody>
          </p:sp>
          <p:grpSp>
            <p:nvGrpSpPr>
              <p:cNvPr id="32773" name="组合 418821"/>
              <p:cNvGrpSpPr/>
              <p:nvPr/>
            </p:nvGrpSpPr>
            <p:grpSpPr>
              <a:xfrm>
                <a:off x="2426" y="1525"/>
                <a:ext cx="3072" cy="1776"/>
                <a:chOff x="2525" y="1381"/>
                <a:chExt cx="3072" cy="1776"/>
              </a:xfrm>
            </p:grpSpPr>
            <p:sp>
              <p:nvSpPr>
                <p:cNvPr id="32774" name="直接连接符 418822"/>
                <p:cNvSpPr/>
                <p:nvPr/>
              </p:nvSpPr>
              <p:spPr>
                <a:xfrm>
                  <a:off x="2525" y="1381"/>
                  <a:ext cx="3072" cy="0"/>
                </a:xfrm>
                <a:prstGeom prst="line">
                  <a:avLst/>
                </a:prstGeom>
                <a:ln w="38100" cap="flat" cmpd="sng">
                  <a:solidFill>
                    <a:schemeClr val="accent6">
                      <a:lumMod val="60000"/>
                      <a:lumOff val="40000"/>
                    </a:schemeClr>
                  </a:solidFill>
                  <a:prstDash val="solid"/>
                  <a:round/>
                  <a:headEnd type="none" w="med" len="med"/>
                  <a:tailEnd type="none" w="med" len="med"/>
                </a:ln>
              </p:spPr>
            </p:sp>
            <p:sp>
              <p:nvSpPr>
                <p:cNvPr id="32775" name="直接连接符 418823"/>
                <p:cNvSpPr/>
                <p:nvPr/>
              </p:nvSpPr>
              <p:spPr>
                <a:xfrm>
                  <a:off x="2525" y="1717"/>
                  <a:ext cx="3072" cy="0"/>
                </a:xfrm>
                <a:prstGeom prst="line">
                  <a:avLst/>
                </a:prstGeom>
                <a:ln w="28575" cap="flat" cmpd="sng">
                  <a:solidFill>
                    <a:schemeClr val="accent6">
                      <a:lumMod val="60000"/>
                      <a:lumOff val="40000"/>
                    </a:schemeClr>
                  </a:solidFill>
                  <a:prstDash val="solid"/>
                  <a:round/>
                  <a:headEnd type="none" w="med" len="med"/>
                  <a:tailEnd type="none" w="med" len="med"/>
                </a:ln>
              </p:spPr>
            </p:sp>
            <p:sp>
              <p:nvSpPr>
                <p:cNvPr id="32776" name="直接连接符 418824"/>
                <p:cNvSpPr/>
                <p:nvPr/>
              </p:nvSpPr>
              <p:spPr>
                <a:xfrm>
                  <a:off x="2525" y="3157"/>
                  <a:ext cx="3072" cy="0"/>
                </a:xfrm>
                <a:prstGeom prst="line">
                  <a:avLst/>
                </a:prstGeom>
                <a:ln w="38100" cap="flat" cmpd="sng">
                  <a:solidFill>
                    <a:schemeClr val="accent6">
                      <a:lumMod val="60000"/>
                      <a:lumOff val="40000"/>
                    </a:schemeClr>
                  </a:solidFill>
                  <a:prstDash val="solid"/>
                  <a:round/>
                  <a:headEnd type="none" w="med" len="med"/>
                  <a:tailEnd type="none" w="med" len="med"/>
                </a:ln>
              </p:spPr>
            </p:sp>
            <p:sp>
              <p:nvSpPr>
                <p:cNvPr id="32777" name="直接连接符 418825"/>
                <p:cNvSpPr/>
                <p:nvPr/>
              </p:nvSpPr>
              <p:spPr>
                <a:xfrm>
                  <a:off x="3197" y="1381"/>
                  <a:ext cx="0" cy="1776"/>
                </a:xfrm>
                <a:prstGeom prst="line">
                  <a:avLst/>
                </a:prstGeom>
                <a:ln w="28575" cap="flat" cmpd="sng">
                  <a:solidFill>
                    <a:schemeClr val="accent6">
                      <a:lumMod val="60000"/>
                      <a:lumOff val="40000"/>
                    </a:schemeClr>
                  </a:solidFill>
                  <a:prstDash val="solid"/>
                  <a:round/>
                  <a:headEnd type="none" w="med" len="med"/>
                  <a:tailEnd type="none" w="med" len="med"/>
                </a:ln>
              </p:spPr>
            </p:sp>
            <p:sp>
              <p:nvSpPr>
                <p:cNvPr id="32778" name="直接连接符 418826"/>
                <p:cNvSpPr/>
                <p:nvPr/>
              </p:nvSpPr>
              <p:spPr>
                <a:xfrm>
                  <a:off x="5153" y="1381"/>
                  <a:ext cx="0" cy="1776"/>
                </a:xfrm>
                <a:prstGeom prst="line">
                  <a:avLst/>
                </a:prstGeom>
                <a:ln w="28575" cap="flat" cmpd="sng">
                  <a:solidFill>
                    <a:schemeClr val="accent6">
                      <a:lumMod val="60000"/>
                      <a:lumOff val="40000"/>
                    </a:schemeClr>
                  </a:solidFill>
                  <a:prstDash val="solid"/>
                  <a:round/>
                  <a:headEnd type="none" w="med" len="med"/>
                  <a:tailEnd type="none" w="med" len="med"/>
                </a:ln>
              </p:spPr>
            </p:sp>
          </p:grpSp>
          <p:sp>
            <p:nvSpPr>
              <p:cNvPr id="32779" name="文本框 418827"/>
              <p:cNvSpPr txBox="1"/>
              <p:nvPr/>
            </p:nvSpPr>
            <p:spPr>
              <a:xfrm>
                <a:off x="5124" y="1519"/>
                <a:ext cx="240" cy="329"/>
              </a:xfrm>
              <a:prstGeom prst="rect">
                <a:avLst/>
              </a:prstGeom>
              <a:noFill/>
              <a:ln w="9525">
                <a:noFill/>
              </a:ln>
            </p:spPr>
            <p:txBody>
              <a:bodyPr wrap="none" anchor="t" anchorCtr="0">
                <a:spAutoFit/>
              </a:bodyPr>
              <a:p>
                <a:pPr eaLnBrk="0" hangingPunct="0"/>
                <a:r>
                  <a:rPr lang="en-US" altLang="zh-CN" sz="2800" i="1">
                    <a:solidFill>
                      <a:srgbClr val="000066"/>
                    </a:solidFill>
                    <a:latin typeface="Times New Roman" panose="02020603050405020304" charset="0"/>
                    <a:ea typeface="楷体_GB2312" pitchFamily="49" charset="-122"/>
                  </a:rPr>
                  <a:t>Y</a:t>
                </a:r>
                <a:endParaRPr lang="en-US" altLang="zh-CN" sz="2800" i="1">
                  <a:solidFill>
                    <a:srgbClr val="000066"/>
                  </a:solidFill>
                  <a:latin typeface="Times New Roman" panose="02020603050405020304" charset="0"/>
                  <a:ea typeface="楷体_GB2312" pitchFamily="49" charset="-122"/>
                </a:endParaRPr>
              </a:p>
            </p:txBody>
          </p:sp>
        </p:grpSp>
        <p:sp>
          <p:nvSpPr>
            <p:cNvPr id="3" name="直接连接符 418825"/>
            <p:cNvSpPr/>
            <p:nvPr/>
          </p:nvSpPr>
          <p:spPr>
            <a:xfrm>
              <a:off x="6069" y="4917"/>
              <a:ext cx="0" cy="4440"/>
            </a:xfrm>
            <a:prstGeom prst="line">
              <a:avLst/>
            </a:prstGeom>
            <a:ln w="28575" cap="flat" cmpd="sng">
              <a:solidFill>
                <a:schemeClr val="accent6">
                  <a:lumMod val="60000"/>
                  <a:lumOff val="40000"/>
                </a:schemeClr>
              </a:solidFill>
              <a:prstDash val="solid"/>
              <a:round/>
              <a:headEnd type="none" w="med" len="med"/>
              <a:tailEnd type="none" w="med" len="med"/>
            </a:ln>
          </p:spPr>
        </p:sp>
      </p:grpSp>
      <p:grpSp>
        <p:nvGrpSpPr>
          <p:cNvPr id="13" name="组合 12"/>
          <p:cNvGrpSpPr/>
          <p:nvPr/>
        </p:nvGrpSpPr>
        <p:grpSpPr>
          <a:xfrm>
            <a:off x="3684270" y="3109595"/>
            <a:ext cx="4925060" cy="2861310"/>
            <a:chOff x="6042" y="4897"/>
            <a:chExt cx="7756" cy="4506"/>
          </a:xfrm>
        </p:grpSpPr>
        <p:sp>
          <p:nvSpPr>
            <p:cNvPr id="4" name="直接连接符 418825"/>
            <p:cNvSpPr/>
            <p:nvPr/>
          </p:nvSpPr>
          <p:spPr>
            <a:xfrm>
              <a:off x="13775" y="4909"/>
              <a:ext cx="0" cy="4440"/>
            </a:xfrm>
            <a:prstGeom prst="line">
              <a:avLst/>
            </a:prstGeom>
            <a:ln w="28575" cap="flat" cmpd="sng">
              <a:solidFill>
                <a:schemeClr val="accent6">
                  <a:lumMod val="60000"/>
                  <a:lumOff val="40000"/>
                </a:schemeClr>
              </a:solidFill>
              <a:prstDash val="solid"/>
              <a:round/>
              <a:headEnd type="none" w="med" len="med"/>
              <a:tailEnd type="none" w="med" len="med"/>
            </a:ln>
          </p:spPr>
        </p:sp>
        <p:sp>
          <p:nvSpPr>
            <p:cNvPr id="6" name="直接连接符 418825"/>
            <p:cNvSpPr/>
            <p:nvPr/>
          </p:nvSpPr>
          <p:spPr>
            <a:xfrm>
              <a:off x="6935" y="4931"/>
              <a:ext cx="0" cy="4440"/>
            </a:xfrm>
            <a:prstGeom prst="line">
              <a:avLst/>
            </a:prstGeom>
            <a:ln w="28575" cap="flat" cmpd="sng">
              <a:solidFill>
                <a:schemeClr val="accent6">
                  <a:lumMod val="60000"/>
                  <a:lumOff val="40000"/>
                </a:schemeClr>
              </a:solidFill>
              <a:prstDash val="solid"/>
              <a:round/>
              <a:headEnd type="none" w="med" len="med"/>
              <a:tailEnd type="none" w="med" len="med"/>
            </a:ln>
          </p:spPr>
        </p:sp>
        <p:sp>
          <p:nvSpPr>
            <p:cNvPr id="7" name="直接连接符 418825"/>
            <p:cNvSpPr/>
            <p:nvPr/>
          </p:nvSpPr>
          <p:spPr>
            <a:xfrm>
              <a:off x="9117" y="4897"/>
              <a:ext cx="0" cy="4440"/>
            </a:xfrm>
            <a:prstGeom prst="line">
              <a:avLst/>
            </a:prstGeom>
            <a:ln w="28575" cap="flat" cmpd="sng">
              <a:solidFill>
                <a:schemeClr val="accent6">
                  <a:lumMod val="60000"/>
                  <a:lumOff val="40000"/>
                </a:schemeClr>
              </a:solidFill>
              <a:prstDash val="solid"/>
              <a:round/>
              <a:headEnd type="none" w="med" len="med"/>
              <a:tailEnd type="none" w="med" len="med"/>
            </a:ln>
          </p:spPr>
        </p:sp>
        <p:sp>
          <p:nvSpPr>
            <p:cNvPr id="8" name="直接连接符 418825"/>
            <p:cNvSpPr/>
            <p:nvPr/>
          </p:nvSpPr>
          <p:spPr>
            <a:xfrm>
              <a:off x="10315" y="4953"/>
              <a:ext cx="0" cy="4440"/>
            </a:xfrm>
            <a:prstGeom prst="line">
              <a:avLst/>
            </a:prstGeom>
            <a:ln w="28575" cap="flat" cmpd="sng">
              <a:solidFill>
                <a:schemeClr val="accent6">
                  <a:lumMod val="60000"/>
                  <a:lumOff val="40000"/>
                </a:schemeClr>
              </a:solidFill>
              <a:prstDash val="solid"/>
              <a:round/>
              <a:headEnd type="none" w="med" len="med"/>
              <a:tailEnd type="none" w="med" len="med"/>
            </a:ln>
          </p:spPr>
        </p:sp>
        <p:sp>
          <p:nvSpPr>
            <p:cNvPr id="9" name="直接连接符 418825"/>
            <p:cNvSpPr/>
            <p:nvPr/>
          </p:nvSpPr>
          <p:spPr>
            <a:xfrm>
              <a:off x="11571" y="4963"/>
              <a:ext cx="0" cy="4440"/>
            </a:xfrm>
            <a:prstGeom prst="line">
              <a:avLst/>
            </a:prstGeom>
            <a:ln w="28575" cap="flat" cmpd="sng">
              <a:solidFill>
                <a:schemeClr val="accent6">
                  <a:lumMod val="60000"/>
                  <a:lumOff val="40000"/>
                </a:schemeClr>
              </a:solidFill>
              <a:prstDash val="solid"/>
              <a:round/>
              <a:headEnd type="none" w="med" len="med"/>
              <a:tailEnd type="none" w="med" len="med"/>
            </a:ln>
          </p:spPr>
        </p:sp>
        <p:cxnSp>
          <p:nvCxnSpPr>
            <p:cNvPr id="10" name="直接连接符 9"/>
            <p:cNvCxnSpPr/>
            <p:nvPr/>
          </p:nvCxnSpPr>
          <p:spPr>
            <a:xfrm>
              <a:off x="6044" y="6644"/>
              <a:ext cx="7753" cy="0"/>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6046" y="7571"/>
              <a:ext cx="7753" cy="0"/>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042" y="8471"/>
              <a:ext cx="7753" cy="0"/>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18829"/>
                                        </p:tgtEl>
                                        <p:attrNameLst>
                                          <p:attrName>style.visibility</p:attrName>
                                        </p:attrNameLst>
                                      </p:cBhvr>
                                      <p:to>
                                        <p:strVal val="visible"/>
                                      </p:to>
                                    </p:set>
                                    <p:anim calcmode="lin" valueType="num">
                                      <p:cBhvr additive="base">
                                        <p:cTn id="13" dur="500" fill="hold"/>
                                        <p:tgtEl>
                                          <p:spTgt spid="418829"/>
                                        </p:tgtEl>
                                        <p:attrNameLst>
                                          <p:attrName>ppt_x</p:attrName>
                                        </p:attrNameLst>
                                      </p:cBhvr>
                                      <p:tavLst>
                                        <p:tav tm="0">
                                          <p:val>
                                            <p:strVal val="#ppt_x"/>
                                          </p:val>
                                        </p:tav>
                                        <p:tav tm="100000">
                                          <p:val>
                                            <p:strVal val="#ppt_x"/>
                                          </p:val>
                                        </p:tav>
                                      </p:tavLst>
                                    </p:anim>
                                    <p:anim calcmode="lin" valueType="num">
                                      <p:cBhvr additive="base">
                                        <p:cTn id="14" dur="500" fill="hold"/>
                                        <p:tgtEl>
                                          <p:spTgt spid="41882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18835"/>
                                        </p:tgtEl>
                                        <p:attrNameLst>
                                          <p:attrName>style.visibility</p:attrName>
                                        </p:attrNameLst>
                                      </p:cBhvr>
                                      <p:to>
                                        <p:strVal val="visible"/>
                                      </p:to>
                                    </p:set>
                                    <p:anim calcmode="lin" valueType="num">
                                      <p:cBhvr additive="base">
                                        <p:cTn id="19" dur="500" fill="hold"/>
                                        <p:tgtEl>
                                          <p:spTgt spid="418835"/>
                                        </p:tgtEl>
                                        <p:attrNameLst>
                                          <p:attrName>ppt_x</p:attrName>
                                        </p:attrNameLst>
                                      </p:cBhvr>
                                      <p:tavLst>
                                        <p:tav tm="0">
                                          <p:val>
                                            <p:strVal val="#ppt_x"/>
                                          </p:val>
                                        </p:tav>
                                        <p:tav tm="100000">
                                          <p:val>
                                            <p:strVal val="#ppt_x"/>
                                          </p:val>
                                        </p:tav>
                                      </p:tavLst>
                                    </p:anim>
                                    <p:anim calcmode="lin" valueType="num">
                                      <p:cBhvr additive="base">
                                        <p:cTn id="20" dur="500" fill="hold"/>
                                        <p:tgtEl>
                                          <p:spTgt spid="41883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18842"/>
                                        </p:tgtEl>
                                        <p:attrNameLst>
                                          <p:attrName>style.visibility</p:attrName>
                                        </p:attrNameLst>
                                      </p:cBhvr>
                                      <p:to>
                                        <p:strVal val="visible"/>
                                      </p:to>
                                    </p:set>
                                    <p:anim calcmode="lin" valueType="num">
                                      <p:cBhvr additive="base">
                                        <p:cTn id="25" dur="500" fill="hold"/>
                                        <p:tgtEl>
                                          <p:spTgt spid="418842"/>
                                        </p:tgtEl>
                                        <p:attrNameLst>
                                          <p:attrName>ppt_x</p:attrName>
                                        </p:attrNameLst>
                                      </p:cBhvr>
                                      <p:tavLst>
                                        <p:tav tm="0">
                                          <p:val>
                                            <p:strVal val="#ppt_x"/>
                                          </p:val>
                                        </p:tav>
                                        <p:tav tm="100000">
                                          <p:val>
                                            <p:strVal val="#ppt_x"/>
                                          </p:val>
                                        </p:tav>
                                      </p:tavLst>
                                    </p:anim>
                                    <p:anim calcmode="lin" valueType="num">
                                      <p:cBhvr additive="base">
                                        <p:cTn id="26" dur="500" fill="hold"/>
                                        <p:tgtEl>
                                          <p:spTgt spid="41884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18833"/>
                                        </p:tgtEl>
                                        <p:attrNameLst>
                                          <p:attrName>style.visibility</p:attrName>
                                        </p:attrNameLst>
                                      </p:cBhvr>
                                      <p:to>
                                        <p:strVal val="visible"/>
                                      </p:to>
                                    </p:set>
                                    <p:anim calcmode="lin" valueType="num">
                                      <p:cBhvr additive="base">
                                        <p:cTn id="31" dur="500" fill="hold"/>
                                        <p:tgtEl>
                                          <p:spTgt spid="418833"/>
                                        </p:tgtEl>
                                        <p:attrNameLst>
                                          <p:attrName>ppt_x</p:attrName>
                                        </p:attrNameLst>
                                      </p:cBhvr>
                                      <p:tavLst>
                                        <p:tav tm="0">
                                          <p:val>
                                            <p:strVal val="#ppt_x"/>
                                          </p:val>
                                        </p:tav>
                                        <p:tav tm="100000">
                                          <p:val>
                                            <p:strVal val="#ppt_x"/>
                                          </p:val>
                                        </p:tav>
                                      </p:tavLst>
                                    </p:anim>
                                    <p:anim calcmode="lin" valueType="num">
                                      <p:cBhvr additive="base">
                                        <p:cTn id="32" dur="500" fill="hold"/>
                                        <p:tgtEl>
                                          <p:spTgt spid="41883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18834"/>
                                        </p:tgtEl>
                                        <p:attrNameLst>
                                          <p:attrName>style.visibility</p:attrName>
                                        </p:attrNameLst>
                                      </p:cBhvr>
                                      <p:to>
                                        <p:strVal val="visible"/>
                                      </p:to>
                                    </p:set>
                                    <p:anim calcmode="lin" valueType="num">
                                      <p:cBhvr additive="base">
                                        <p:cTn id="37" dur="500" fill="hold"/>
                                        <p:tgtEl>
                                          <p:spTgt spid="418834"/>
                                        </p:tgtEl>
                                        <p:attrNameLst>
                                          <p:attrName>ppt_x</p:attrName>
                                        </p:attrNameLst>
                                      </p:cBhvr>
                                      <p:tavLst>
                                        <p:tav tm="0">
                                          <p:val>
                                            <p:strVal val="#ppt_x"/>
                                          </p:val>
                                        </p:tav>
                                        <p:tav tm="100000">
                                          <p:val>
                                            <p:strVal val="#ppt_x"/>
                                          </p:val>
                                        </p:tav>
                                      </p:tavLst>
                                    </p:anim>
                                    <p:anim calcmode="lin" valueType="num">
                                      <p:cBhvr additive="base">
                                        <p:cTn id="38" dur="500" fill="hold"/>
                                        <p:tgtEl>
                                          <p:spTgt spid="41883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18849"/>
                                        </p:tgtEl>
                                        <p:attrNameLst>
                                          <p:attrName>style.visibility</p:attrName>
                                        </p:attrNameLst>
                                      </p:cBhvr>
                                      <p:to>
                                        <p:strVal val="visible"/>
                                      </p:to>
                                    </p:set>
                                    <p:anim calcmode="lin" valueType="num">
                                      <p:cBhvr additive="base">
                                        <p:cTn id="43" dur="500" fill="hold"/>
                                        <p:tgtEl>
                                          <p:spTgt spid="418849"/>
                                        </p:tgtEl>
                                        <p:attrNameLst>
                                          <p:attrName>ppt_x</p:attrName>
                                        </p:attrNameLst>
                                      </p:cBhvr>
                                      <p:tavLst>
                                        <p:tav tm="0">
                                          <p:val>
                                            <p:strVal val="#ppt_x"/>
                                          </p:val>
                                        </p:tav>
                                        <p:tav tm="100000">
                                          <p:val>
                                            <p:strVal val="#ppt_x"/>
                                          </p:val>
                                        </p:tav>
                                      </p:tavLst>
                                    </p:anim>
                                    <p:anim calcmode="lin" valueType="num">
                                      <p:cBhvr additive="base">
                                        <p:cTn id="44" dur="500" fill="hold"/>
                                        <p:tgtEl>
                                          <p:spTgt spid="41884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418830"/>
                                        </p:tgtEl>
                                        <p:attrNameLst>
                                          <p:attrName>style.visibility</p:attrName>
                                        </p:attrNameLst>
                                      </p:cBhvr>
                                      <p:to>
                                        <p:strVal val="visible"/>
                                      </p:to>
                                    </p:set>
                                    <p:anim calcmode="lin" valueType="num">
                                      <p:cBhvr additive="base">
                                        <p:cTn id="49" dur="500" fill="hold"/>
                                        <p:tgtEl>
                                          <p:spTgt spid="418830"/>
                                        </p:tgtEl>
                                        <p:attrNameLst>
                                          <p:attrName>ppt_x</p:attrName>
                                        </p:attrNameLst>
                                      </p:cBhvr>
                                      <p:tavLst>
                                        <p:tav tm="0">
                                          <p:val>
                                            <p:strVal val="0-#ppt_w/2"/>
                                          </p:val>
                                        </p:tav>
                                        <p:tav tm="100000">
                                          <p:val>
                                            <p:strVal val="#ppt_x"/>
                                          </p:val>
                                        </p:tav>
                                      </p:tavLst>
                                    </p:anim>
                                    <p:anim calcmode="lin" valueType="num">
                                      <p:cBhvr additive="base">
                                        <p:cTn id="50" dur="500" fill="hold"/>
                                        <p:tgtEl>
                                          <p:spTgt spid="418830"/>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418837"/>
                                        </p:tgtEl>
                                        <p:attrNameLst>
                                          <p:attrName>style.visibility</p:attrName>
                                        </p:attrNameLst>
                                      </p:cBhvr>
                                      <p:to>
                                        <p:strVal val="visible"/>
                                      </p:to>
                                    </p:set>
                                    <p:anim calcmode="lin" valueType="num">
                                      <p:cBhvr additive="base">
                                        <p:cTn id="55" dur="500" fill="hold"/>
                                        <p:tgtEl>
                                          <p:spTgt spid="418837"/>
                                        </p:tgtEl>
                                        <p:attrNameLst>
                                          <p:attrName>ppt_x</p:attrName>
                                        </p:attrNameLst>
                                      </p:cBhvr>
                                      <p:tavLst>
                                        <p:tav tm="0">
                                          <p:val>
                                            <p:strVal val="1+#ppt_w/2"/>
                                          </p:val>
                                        </p:tav>
                                        <p:tav tm="100000">
                                          <p:val>
                                            <p:strVal val="#ppt_x"/>
                                          </p:val>
                                        </p:tav>
                                      </p:tavLst>
                                    </p:anim>
                                    <p:anim calcmode="lin" valueType="num">
                                      <p:cBhvr additive="base">
                                        <p:cTn id="56" dur="500" fill="hold"/>
                                        <p:tgtEl>
                                          <p:spTgt spid="418837"/>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418844"/>
                                        </p:tgtEl>
                                        <p:attrNameLst>
                                          <p:attrName>style.visibility</p:attrName>
                                        </p:attrNameLst>
                                      </p:cBhvr>
                                      <p:to>
                                        <p:strVal val="visible"/>
                                      </p:to>
                                    </p:set>
                                    <p:anim calcmode="lin" valueType="num">
                                      <p:cBhvr additive="base">
                                        <p:cTn id="61" dur="500" fill="hold"/>
                                        <p:tgtEl>
                                          <p:spTgt spid="418844"/>
                                        </p:tgtEl>
                                        <p:attrNameLst>
                                          <p:attrName>ppt_x</p:attrName>
                                        </p:attrNameLst>
                                      </p:cBhvr>
                                      <p:tavLst>
                                        <p:tav tm="0">
                                          <p:val>
                                            <p:strVal val="1+#ppt_w/2"/>
                                          </p:val>
                                        </p:tav>
                                        <p:tav tm="100000">
                                          <p:val>
                                            <p:strVal val="#ppt_x"/>
                                          </p:val>
                                        </p:tav>
                                      </p:tavLst>
                                    </p:anim>
                                    <p:anim calcmode="lin" valueType="num">
                                      <p:cBhvr additive="base">
                                        <p:cTn id="62" dur="500" fill="hold"/>
                                        <p:tgtEl>
                                          <p:spTgt spid="418844"/>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2" fill="hold" grpId="0" nodeType="clickEffect">
                                  <p:stCondLst>
                                    <p:cond delay="0"/>
                                  </p:stCondLst>
                                  <p:childTnLst>
                                    <p:set>
                                      <p:cBhvr>
                                        <p:cTn id="66" dur="1" fill="hold">
                                          <p:stCondLst>
                                            <p:cond delay="0"/>
                                          </p:stCondLst>
                                        </p:cTn>
                                        <p:tgtEl>
                                          <p:spTgt spid="418843"/>
                                        </p:tgtEl>
                                        <p:attrNameLst>
                                          <p:attrName>style.visibility</p:attrName>
                                        </p:attrNameLst>
                                      </p:cBhvr>
                                      <p:to>
                                        <p:strVal val="visible"/>
                                      </p:to>
                                    </p:set>
                                    <p:anim calcmode="lin" valueType="num">
                                      <p:cBhvr additive="base">
                                        <p:cTn id="67" dur="500" fill="hold"/>
                                        <p:tgtEl>
                                          <p:spTgt spid="418843"/>
                                        </p:tgtEl>
                                        <p:attrNameLst>
                                          <p:attrName>ppt_x</p:attrName>
                                        </p:attrNameLst>
                                      </p:cBhvr>
                                      <p:tavLst>
                                        <p:tav tm="0">
                                          <p:val>
                                            <p:strVal val="1+#ppt_w/2"/>
                                          </p:val>
                                        </p:tav>
                                        <p:tav tm="100000">
                                          <p:val>
                                            <p:strVal val="#ppt_x"/>
                                          </p:val>
                                        </p:tav>
                                      </p:tavLst>
                                    </p:anim>
                                    <p:anim calcmode="lin" valueType="num">
                                      <p:cBhvr additive="base">
                                        <p:cTn id="68" dur="500" fill="hold"/>
                                        <p:tgtEl>
                                          <p:spTgt spid="418843"/>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2" fill="hold" grpId="0" nodeType="clickEffect">
                                  <p:stCondLst>
                                    <p:cond delay="0"/>
                                  </p:stCondLst>
                                  <p:childTnLst>
                                    <p:set>
                                      <p:cBhvr>
                                        <p:cTn id="72" dur="1" fill="hold">
                                          <p:stCondLst>
                                            <p:cond delay="0"/>
                                          </p:stCondLst>
                                        </p:cTn>
                                        <p:tgtEl>
                                          <p:spTgt spid="418836"/>
                                        </p:tgtEl>
                                        <p:attrNameLst>
                                          <p:attrName>style.visibility</p:attrName>
                                        </p:attrNameLst>
                                      </p:cBhvr>
                                      <p:to>
                                        <p:strVal val="visible"/>
                                      </p:to>
                                    </p:set>
                                    <p:anim calcmode="lin" valueType="num">
                                      <p:cBhvr additive="base">
                                        <p:cTn id="73" dur="500" fill="hold"/>
                                        <p:tgtEl>
                                          <p:spTgt spid="418836"/>
                                        </p:tgtEl>
                                        <p:attrNameLst>
                                          <p:attrName>ppt_x</p:attrName>
                                        </p:attrNameLst>
                                      </p:cBhvr>
                                      <p:tavLst>
                                        <p:tav tm="0">
                                          <p:val>
                                            <p:strVal val="1+#ppt_w/2"/>
                                          </p:val>
                                        </p:tav>
                                        <p:tav tm="100000">
                                          <p:val>
                                            <p:strVal val="#ppt_x"/>
                                          </p:val>
                                        </p:tav>
                                      </p:tavLst>
                                    </p:anim>
                                    <p:anim calcmode="lin" valueType="num">
                                      <p:cBhvr additive="base">
                                        <p:cTn id="74" dur="500" fill="hold"/>
                                        <p:tgtEl>
                                          <p:spTgt spid="418836"/>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2" fill="hold" grpId="0" nodeType="clickEffect">
                                  <p:stCondLst>
                                    <p:cond delay="0"/>
                                  </p:stCondLst>
                                  <p:childTnLst>
                                    <p:set>
                                      <p:cBhvr>
                                        <p:cTn id="78" dur="1" fill="hold">
                                          <p:stCondLst>
                                            <p:cond delay="0"/>
                                          </p:stCondLst>
                                        </p:cTn>
                                        <p:tgtEl>
                                          <p:spTgt spid="418850"/>
                                        </p:tgtEl>
                                        <p:attrNameLst>
                                          <p:attrName>style.visibility</p:attrName>
                                        </p:attrNameLst>
                                      </p:cBhvr>
                                      <p:to>
                                        <p:strVal val="visible"/>
                                      </p:to>
                                    </p:set>
                                    <p:anim calcmode="lin" valueType="num">
                                      <p:cBhvr additive="base">
                                        <p:cTn id="79" dur="500" fill="hold"/>
                                        <p:tgtEl>
                                          <p:spTgt spid="418850"/>
                                        </p:tgtEl>
                                        <p:attrNameLst>
                                          <p:attrName>ppt_x</p:attrName>
                                        </p:attrNameLst>
                                      </p:cBhvr>
                                      <p:tavLst>
                                        <p:tav tm="0">
                                          <p:val>
                                            <p:strVal val="1+#ppt_w/2"/>
                                          </p:val>
                                        </p:tav>
                                        <p:tav tm="100000">
                                          <p:val>
                                            <p:strVal val="#ppt_x"/>
                                          </p:val>
                                        </p:tav>
                                      </p:tavLst>
                                    </p:anim>
                                    <p:anim calcmode="lin" valueType="num">
                                      <p:cBhvr additive="base">
                                        <p:cTn id="80" dur="500" fill="hold"/>
                                        <p:tgtEl>
                                          <p:spTgt spid="418850"/>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418831"/>
                                        </p:tgtEl>
                                        <p:attrNameLst>
                                          <p:attrName>style.visibility</p:attrName>
                                        </p:attrNameLst>
                                      </p:cBhvr>
                                      <p:to>
                                        <p:strVal val="visible"/>
                                      </p:to>
                                    </p:set>
                                    <p:anim calcmode="lin" valueType="num">
                                      <p:cBhvr additive="base">
                                        <p:cTn id="85" dur="500" fill="hold"/>
                                        <p:tgtEl>
                                          <p:spTgt spid="418831"/>
                                        </p:tgtEl>
                                        <p:attrNameLst>
                                          <p:attrName>ppt_x</p:attrName>
                                        </p:attrNameLst>
                                      </p:cBhvr>
                                      <p:tavLst>
                                        <p:tav tm="0">
                                          <p:val>
                                            <p:strVal val="#ppt_x"/>
                                          </p:val>
                                        </p:tav>
                                        <p:tav tm="100000">
                                          <p:val>
                                            <p:strVal val="#ppt_x"/>
                                          </p:val>
                                        </p:tav>
                                      </p:tavLst>
                                    </p:anim>
                                    <p:anim calcmode="lin" valueType="num">
                                      <p:cBhvr additive="base">
                                        <p:cTn id="86" dur="500" fill="hold"/>
                                        <p:tgtEl>
                                          <p:spTgt spid="418831"/>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418975"/>
                                        </p:tgtEl>
                                        <p:attrNameLst>
                                          <p:attrName>style.visibility</p:attrName>
                                        </p:attrNameLst>
                                      </p:cBhvr>
                                      <p:to>
                                        <p:strVal val="visible"/>
                                      </p:to>
                                    </p:set>
                                    <p:anim calcmode="lin" valueType="num">
                                      <p:cBhvr additive="base">
                                        <p:cTn id="91" dur="500" fill="hold"/>
                                        <p:tgtEl>
                                          <p:spTgt spid="418975"/>
                                        </p:tgtEl>
                                        <p:attrNameLst>
                                          <p:attrName>ppt_x</p:attrName>
                                        </p:attrNameLst>
                                      </p:cBhvr>
                                      <p:tavLst>
                                        <p:tav tm="0">
                                          <p:val>
                                            <p:strVal val="#ppt_x"/>
                                          </p:val>
                                        </p:tav>
                                        <p:tav tm="100000">
                                          <p:val>
                                            <p:strVal val="#ppt_x"/>
                                          </p:val>
                                        </p:tav>
                                      </p:tavLst>
                                    </p:anim>
                                    <p:anim calcmode="lin" valueType="num">
                                      <p:cBhvr additive="base">
                                        <p:cTn id="92" dur="500" fill="hold"/>
                                        <p:tgtEl>
                                          <p:spTgt spid="418975"/>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418851"/>
                                        </p:tgtEl>
                                        <p:attrNameLst>
                                          <p:attrName>style.visibility</p:attrName>
                                        </p:attrNameLst>
                                      </p:cBhvr>
                                      <p:to>
                                        <p:strVal val="visible"/>
                                      </p:to>
                                    </p:set>
                                    <p:anim calcmode="lin" valueType="num">
                                      <p:cBhvr additive="base">
                                        <p:cTn id="97" dur="500" fill="hold"/>
                                        <p:tgtEl>
                                          <p:spTgt spid="418851"/>
                                        </p:tgtEl>
                                        <p:attrNameLst>
                                          <p:attrName>ppt_x</p:attrName>
                                        </p:attrNameLst>
                                      </p:cBhvr>
                                      <p:tavLst>
                                        <p:tav tm="0">
                                          <p:val>
                                            <p:strVal val="#ppt_x"/>
                                          </p:val>
                                        </p:tav>
                                        <p:tav tm="100000">
                                          <p:val>
                                            <p:strVal val="#ppt_x"/>
                                          </p:val>
                                        </p:tav>
                                      </p:tavLst>
                                    </p:anim>
                                    <p:anim calcmode="lin" valueType="num">
                                      <p:cBhvr additive="base">
                                        <p:cTn id="98" dur="500" fill="hold"/>
                                        <p:tgtEl>
                                          <p:spTgt spid="418851"/>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49" presetClass="entr" presetSubtype="0" decel="100000" fill="hold" grpId="0" nodeType="clickEffect">
                                  <p:stCondLst>
                                    <p:cond delay="0"/>
                                  </p:stCondLst>
                                  <p:childTnLst>
                                    <p:set>
                                      <p:cBhvr>
                                        <p:cTn id="102" dur="1" fill="hold">
                                          <p:stCondLst>
                                            <p:cond delay="0"/>
                                          </p:stCondLst>
                                        </p:cTn>
                                        <p:tgtEl>
                                          <p:spTgt spid="418832"/>
                                        </p:tgtEl>
                                        <p:attrNameLst>
                                          <p:attrName>style.visibility</p:attrName>
                                        </p:attrNameLst>
                                      </p:cBhvr>
                                      <p:to>
                                        <p:strVal val="visible"/>
                                      </p:to>
                                    </p:set>
                                    <p:anim calcmode="lin" valueType="num">
                                      <p:cBhvr>
                                        <p:cTn id="103" dur="500" fill="hold"/>
                                        <p:tgtEl>
                                          <p:spTgt spid="418832"/>
                                        </p:tgtEl>
                                        <p:attrNameLst>
                                          <p:attrName>ppt_w</p:attrName>
                                        </p:attrNameLst>
                                      </p:cBhvr>
                                      <p:tavLst>
                                        <p:tav tm="0">
                                          <p:val>
                                            <p:fltVal val="0.000000"/>
                                          </p:val>
                                        </p:tav>
                                        <p:tav tm="100000">
                                          <p:val>
                                            <p:strVal val="#ppt_w"/>
                                          </p:val>
                                        </p:tav>
                                      </p:tavLst>
                                    </p:anim>
                                    <p:anim calcmode="lin" valueType="num">
                                      <p:cBhvr>
                                        <p:cTn id="104" dur="500" fill="hold"/>
                                        <p:tgtEl>
                                          <p:spTgt spid="418832"/>
                                        </p:tgtEl>
                                        <p:attrNameLst>
                                          <p:attrName>ppt_h</p:attrName>
                                        </p:attrNameLst>
                                      </p:cBhvr>
                                      <p:tavLst>
                                        <p:tav tm="0">
                                          <p:val>
                                            <p:fltVal val="0.000000"/>
                                          </p:val>
                                        </p:tav>
                                        <p:tav tm="100000">
                                          <p:val>
                                            <p:strVal val="#ppt_h"/>
                                          </p:val>
                                        </p:tav>
                                      </p:tavLst>
                                    </p:anim>
                                    <p:anim calcmode="lin" valueType="num">
                                      <p:cBhvr>
                                        <p:cTn id="105" dur="500" fill="hold"/>
                                        <p:tgtEl>
                                          <p:spTgt spid="418832"/>
                                        </p:tgtEl>
                                        <p:attrNameLst>
                                          <p:attrName>style.rotation</p:attrName>
                                        </p:attrNameLst>
                                      </p:cBhvr>
                                      <p:tavLst>
                                        <p:tav tm="0">
                                          <p:val>
                                            <p:fltVal val="360.000000"/>
                                          </p:val>
                                        </p:tav>
                                        <p:tav tm="100000">
                                          <p:val>
                                            <p:fltVal val="0.000000"/>
                                          </p:val>
                                        </p:tav>
                                      </p:tavLst>
                                    </p:anim>
                                    <p:animEffect transition="in" filter="fade">
                                      <p:cBhvr>
                                        <p:cTn id="106" dur="500"/>
                                        <p:tgtEl>
                                          <p:spTgt spid="418832"/>
                                        </p:tgtEl>
                                      </p:cBhvr>
                                    </p:animEffect>
                                  </p:childTnLst>
                                </p:cTn>
                              </p:par>
                            </p:childTnLst>
                          </p:cTn>
                        </p:par>
                      </p:childTnLst>
                    </p:cTn>
                  </p:par>
                  <p:par>
                    <p:cTn id="107" fill="hold">
                      <p:stCondLst>
                        <p:cond delay="indefinite"/>
                      </p:stCondLst>
                      <p:childTnLst>
                        <p:par>
                          <p:cTn id="108" fill="hold">
                            <p:stCondLst>
                              <p:cond delay="0"/>
                            </p:stCondLst>
                            <p:childTnLst>
                              <p:par>
                                <p:cTn id="109" presetID="53" presetClass="entr" presetSubtype="16" fill="hold" nodeType="clickEffect">
                                  <p:stCondLst>
                                    <p:cond delay="0"/>
                                  </p:stCondLst>
                                  <p:childTnLst>
                                    <p:set>
                                      <p:cBhvr>
                                        <p:cTn id="110" dur="1" fill="hold">
                                          <p:stCondLst>
                                            <p:cond delay="0"/>
                                          </p:stCondLst>
                                        </p:cTn>
                                        <p:tgtEl>
                                          <p:spTgt spid="418976"/>
                                        </p:tgtEl>
                                        <p:attrNameLst>
                                          <p:attrName>style.visibility</p:attrName>
                                        </p:attrNameLst>
                                      </p:cBhvr>
                                      <p:to>
                                        <p:strVal val="visible"/>
                                      </p:to>
                                    </p:set>
                                    <p:anim calcmode="lin" valueType="num">
                                      <p:cBhvr>
                                        <p:cTn id="111" dur="500" fill="hold"/>
                                        <p:tgtEl>
                                          <p:spTgt spid="418976"/>
                                        </p:tgtEl>
                                        <p:attrNameLst>
                                          <p:attrName>ppt_w</p:attrName>
                                        </p:attrNameLst>
                                      </p:cBhvr>
                                      <p:tavLst>
                                        <p:tav tm="0">
                                          <p:val>
                                            <p:fltVal val="0.000000"/>
                                          </p:val>
                                        </p:tav>
                                        <p:tav tm="100000">
                                          <p:val>
                                            <p:strVal val="#ppt_w"/>
                                          </p:val>
                                        </p:tav>
                                      </p:tavLst>
                                    </p:anim>
                                    <p:anim calcmode="lin" valueType="num">
                                      <p:cBhvr>
                                        <p:cTn id="112" dur="500" fill="hold"/>
                                        <p:tgtEl>
                                          <p:spTgt spid="418976"/>
                                        </p:tgtEl>
                                        <p:attrNameLst>
                                          <p:attrName>ppt_h</p:attrName>
                                        </p:attrNameLst>
                                      </p:cBhvr>
                                      <p:tavLst>
                                        <p:tav tm="0">
                                          <p:val>
                                            <p:fltVal val="0.000000"/>
                                          </p:val>
                                        </p:tav>
                                        <p:tav tm="100000">
                                          <p:val>
                                            <p:strVal val="#ppt_h"/>
                                          </p:val>
                                        </p:tav>
                                      </p:tavLst>
                                    </p:anim>
                                    <p:animEffect transition="in" filter="fade">
                                      <p:cBhvr>
                                        <p:cTn id="113" dur="500"/>
                                        <p:tgtEl>
                                          <p:spTgt spid="418976"/>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1" fill="hold" grpId="0" nodeType="clickEffect">
                                  <p:stCondLst>
                                    <p:cond delay="0"/>
                                  </p:stCondLst>
                                  <p:childTnLst>
                                    <p:set>
                                      <p:cBhvr>
                                        <p:cTn id="117" dur="1" fill="hold">
                                          <p:stCondLst>
                                            <p:cond delay="0"/>
                                          </p:stCondLst>
                                        </p:cTn>
                                        <p:tgtEl>
                                          <p:spTgt spid="418852"/>
                                        </p:tgtEl>
                                        <p:attrNameLst>
                                          <p:attrName>style.visibility</p:attrName>
                                        </p:attrNameLst>
                                      </p:cBhvr>
                                      <p:to>
                                        <p:strVal val="visible"/>
                                      </p:to>
                                    </p:set>
                                    <p:animEffect transition="in" filter="wipe(up)">
                                      <p:cBhvr>
                                        <p:cTn id="118" dur="500"/>
                                        <p:tgtEl>
                                          <p:spTgt spid="418852"/>
                                        </p:tgtEl>
                                      </p:cBhvr>
                                    </p:animEffect>
                                  </p:childTnLst>
                                </p:cTn>
                              </p:par>
                            </p:childTnLst>
                          </p:cTn>
                        </p:par>
                      </p:childTnLst>
                    </p:cTn>
                  </p:par>
                  <p:par>
                    <p:cTn id="119" fill="hold">
                      <p:stCondLst>
                        <p:cond delay="indefinite"/>
                      </p:stCondLst>
                      <p:childTnLst>
                        <p:par>
                          <p:cTn id="120" fill="hold">
                            <p:stCondLst>
                              <p:cond delay="0"/>
                            </p:stCondLst>
                            <p:childTnLst>
                              <p:par>
                                <p:cTn id="121" presetID="25" presetClass="entr" presetSubtype="0" fill="hold" grpId="0" nodeType="clickEffect">
                                  <p:stCondLst>
                                    <p:cond delay="0"/>
                                  </p:stCondLst>
                                  <p:childTnLst>
                                    <p:set>
                                      <p:cBhvr>
                                        <p:cTn id="122" dur="1" fill="hold">
                                          <p:stCondLst>
                                            <p:cond delay="0"/>
                                          </p:stCondLst>
                                        </p:cTn>
                                        <p:tgtEl>
                                          <p:spTgt spid="2"/>
                                        </p:tgtEl>
                                        <p:attrNameLst>
                                          <p:attrName>style.visibility</p:attrName>
                                        </p:attrNameLst>
                                      </p:cBhvr>
                                      <p:to>
                                        <p:strVal val="visible"/>
                                      </p:to>
                                    </p:set>
                                    <p:anim calcmode="lin" valueType="num">
                                      <p:cBhvr>
                                        <p:cTn id="123"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124"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125"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26" dur="1000" fill="hold"/>
                                        <p:tgtEl>
                                          <p:spTgt spid="2"/>
                                        </p:tgtEl>
                                        <p:attrNameLst>
                                          <p:attrName>ppt_h</p:attrName>
                                        </p:attrNameLst>
                                      </p:cBhvr>
                                      <p:tavLst>
                                        <p:tav tm="0">
                                          <p:val>
                                            <p:strVal val="#ppt_h"/>
                                          </p:val>
                                        </p:tav>
                                        <p:tav tm="100000">
                                          <p:val>
                                            <p:strVal val="#ppt_h"/>
                                          </p:val>
                                        </p:tav>
                                      </p:tavLst>
                                    </p:anim>
                                    <p:anim calcmode="lin" valueType="num">
                                      <p:cBhvr>
                                        <p:cTn id="127"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8"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29"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30"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8829" grpId="0"/>
      <p:bldP spid="418830" grpId="0"/>
      <p:bldP spid="418831" grpId="0"/>
      <p:bldP spid="418832" grpId="0"/>
      <p:bldP spid="418833" grpId="0"/>
      <p:bldP spid="418834" grpId="0"/>
      <p:bldP spid="418835" grpId="0"/>
      <p:bldP spid="418836" grpId="0"/>
      <p:bldP spid="418837" grpId="0"/>
      <p:bldP spid="418842" grpId="0"/>
      <p:bldP spid="418843" grpId="0"/>
      <p:bldP spid="418844" grpId="0"/>
      <p:bldP spid="418849" grpId="0"/>
      <p:bldP spid="418850" grpId="0"/>
      <p:bldP spid="418851" grpId="0"/>
      <p:bldP spid="418852" grpId="0"/>
      <p:bldP spid="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p:nvPr>
        </p:nvSpPr>
        <p:spPr>
          <a:xfrm>
            <a:off x="567690" y="1351280"/>
            <a:ext cx="411480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3.3.4 </a:t>
            </a:r>
            <a:r>
              <a:rPr lang="zh-CN" altLang="en-US" sz="2800" i="0" dirty="0">
                <a:solidFill>
                  <a:srgbClr val="0070C0"/>
                </a:solidFill>
                <a:latin typeface="黑体" panose="02010609060101010101" pitchFamily="49" charset="-122"/>
                <a:ea typeface="黑体" panose="02010609060101010101" pitchFamily="49" charset="-122"/>
              </a:rPr>
              <a:t>CMOS 或非门</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3.3 </a:t>
            </a:r>
            <a:r>
              <a:rPr b="1" dirty="0">
                <a:solidFill>
                  <a:srgbClr val="FF0000"/>
                </a:solidFill>
                <a:latin typeface="黑体" panose="02010609060101010101" pitchFamily="49" charset="-122"/>
                <a:ea typeface="黑体" panose="02010609060101010101" pitchFamily="49" charset="-122"/>
              </a:rPr>
              <a:t>COMS逻辑门电路</a:t>
            </a:r>
            <a:endParaRPr b="1" dirty="0">
              <a:solidFill>
                <a:srgbClr val="FF000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457200" y="1905000"/>
            <a:ext cx="8385175" cy="899795"/>
          </a:xfrm>
        </p:spPr>
        <p:txBody>
          <a:bodyPr vert="horz" wrap="square" lIns="91440" tIns="45720" rIns="91440" bIns="45720" anchor="t" anchorCtr="0"/>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ea typeface="楷体_GB2312" pitchFamily="49" charset="-122"/>
              </a:rPr>
              <a:t>假设V</a:t>
            </a:r>
            <a:r>
              <a:rPr lang="zh-CN" altLang="en-US" sz="2400" b="1" kern="1200" baseline="-25000" dirty="0">
                <a:solidFill>
                  <a:srgbClr val="000066"/>
                </a:solidFill>
                <a:ea typeface="楷体_GB2312" pitchFamily="49" charset="-122"/>
              </a:rPr>
              <a:t>DD</a:t>
            </a:r>
            <a:r>
              <a:rPr lang="zh-CN" altLang="en-US" sz="2400" b="1" kern="1200" dirty="0">
                <a:solidFill>
                  <a:srgbClr val="000066"/>
                </a:solidFill>
                <a:ea typeface="楷体_GB2312" pitchFamily="49" charset="-122"/>
              </a:rPr>
              <a:t> = 10V，输入端A、B的电压信号只有0V和10V两种情况，且T</a:t>
            </a:r>
            <a:r>
              <a:rPr lang="zh-CN" altLang="en-US" sz="2400" b="1" kern="1200" baseline="-25000" dirty="0">
                <a:solidFill>
                  <a:srgbClr val="000066"/>
                </a:solidFill>
                <a:ea typeface="楷体_GB2312" pitchFamily="49" charset="-122"/>
              </a:rPr>
              <a:t>N</a:t>
            </a:r>
            <a:r>
              <a:rPr lang="zh-CN" altLang="en-US" sz="2400" b="1" kern="1200" dirty="0">
                <a:solidFill>
                  <a:srgbClr val="000066"/>
                </a:solidFill>
                <a:ea typeface="楷体_GB2312" pitchFamily="49" charset="-122"/>
              </a:rPr>
              <a:t> 和T</a:t>
            </a:r>
            <a:r>
              <a:rPr lang="zh-CN" altLang="en-US" sz="2400" b="1" kern="1200" baseline="-25000" dirty="0">
                <a:solidFill>
                  <a:srgbClr val="000066"/>
                </a:solidFill>
                <a:ea typeface="楷体_GB2312" pitchFamily="49" charset="-122"/>
              </a:rPr>
              <a:t>P</a:t>
            </a:r>
            <a:r>
              <a:rPr lang="zh-CN" altLang="en-US" sz="2400" b="1" kern="1200" dirty="0">
                <a:solidFill>
                  <a:srgbClr val="000066"/>
                </a:solidFill>
                <a:ea typeface="楷体_GB2312" pitchFamily="49" charset="-122"/>
              </a:rPr>
              <a:t> 的开启电压分别为</a:t>
            </a:r>
            <a:r>
              <a:rPr lang="zh-CN" altLang="en-US" sz="2400" b="1" i="1" kern="1200" dirty="0">
                <a:solidFill>
                  <a:srgbClr val="000066"/>
                </a:solidFill>
                <a:ea typeface="楷体_GB2312" pitchFamily="49" charset="-122"/>
              </a:rPr>
              <a:t>V</a:t>
            </a:r>
            <a:r>
              <a:rPr lang="zh-CN" altLang="en-US" sz="2400" b="1" kern="1200" baseline="-25000" dirty="0">
                <a:solidFill>
                  <a:srgbClr val="000066"/>
                </a:solidFill>
                <a:ea typeface="楷体_GB2312" pitchFamily="49" charset="-122"/>
              </a:rPr>
              <a:t>TN</a:t>
            </a:r>
            <a:r>
              <a:rPr lang="zh-CN" altLang="en-US" sz="2400" b="1" kern="1200" dirty="0">
                <a:solidFill>
                  <a:srgbClr val="000066"/>
                </a:solidFill>
                <a:ea typeface="楷体_GB2312" pitchFamily="49" charset="-122"/>
              </a:rPr>
              <a:t> = 2V和</a:t>
            </a:r>
            <a:r>
              <a:rPr lang="zh-CN" altLang="en-US" sz="2400" b="1" i="1" kern="1200" dirty="0">
                <a:solidFill>
                  <a:srgbClr val="000066"/>
                </a:solidFill>
                <a:ea typeface="楷体_GB2312" pitchFamily="49" charset="-122"/>
              </a:rPr>
              <a:t>V</a:t>
            </a:r>
            <a:r>
              <a:rPr lang="zh-CN" altLang="en-US" sz="2400" b="1" kern="1200" baseline="-25000" dirty="0">
                <a:solidFill>
                  <a:srgbClr val="000066"/>
                </a:solidFill>
                <a:ea typeface="楷体_GB2312" pitchFamily="49" charset="-122"/>
              </a:rPr>
              <a:t>TP</a:t>
            </a:r>
            <a:r>
              <a:rPr lang="zh-CN" altLang="en-US" sz="2400" b="1" kern="1200" dirty="0">
                <a:solidFill>
                  <a:srgbClr val="000066"/>
                </a:solidFill>
                <a:ea typeface="楷体_GB2312" pitchFamily="49" charset="-122"/>
              </a:rPr>
              <a:t> = -2V。</a:t>
            </a:r>
            <a:endParaRPr lang="zh-CN" altLang="en-US" sz="2400" b="1" kern="1200" dirty="0">
              <a:solidFill>
                <a:srgbClr val="000066"/>
              </a:solidFill>
              <a:ea typeface="楷体_GB2312" pitchFamily="49" charset="-122"/>
            </a:endParaRPr>
          </a:p>
        </p:txBody>
      </p:sp>
      <p:sp>
        <p:nvSpPr>
          <p:cNvPr id="100" name="文本框 99"/>
          <p:cNvSpPr txBox="1"/>
          <p:nvPr/>
        </p:nvSpPr>
        <p:spPr>
          <a:xfrm>
            <a:off x="1143000" y="5638800"/>
            <a:ext cx="2315845" cy="386080"/>
          </a:xfrm>
          <a:prstGeom prst="rect">
            <a:avLst/>
          </a:prstGeom>
          <a:noFill/>
          <a:ln w="9525">
            <a:noFill/>
          </a:ln>
        </p:spPr>
        <p:txBody>
          <a:bodyPr wrap="square">
            <a:spAutoFit/>
          </a:bodyPr>
          <a:p>
            <a:pPr>
              <a:lnSpc>
                <a:spcPct val="120000"/>
              </a:lnSpc>
            </a:pPr>
            <a:r>
              <a:rPr sz="1600">
                <a:ea typeface="宋体" panose="02010600030101010101" pitchFamily="2" charset="-122"/>
              </a:rPr>
              <a:t>图3-43 CMOS</a:t>
            </a:r>
            <a:r>
              <a:rPr lang="zh-CN" sz="1600">
                <a:ea typeface="宋体" panose="02010600030101010101" pitchFamily="2" charset="-122"/>
              </a:rPr>
              <a:t>或</a:t>
            </a:r>
            <a:r>
              <a:rPr sz="1600">
                <a:ea typeface="宋体" panose="02010600030101010101" pitchFamily="2" charset="-122"/>
              </a:rPr>
              <a:t>非门</a:t>
            </a:r>
            <a:endParaRPr sz="1600">
              <a:ea typeface="宋体" panose="02010600030101010101" pitchFamily="2" charset="-122"/>
            </a:endParaRPr>
          </a:p>
        </p:txBody>
      </p:sp>
      <p:sp>
        <p:nvSpPr>
          <p:cNvPr id="2" name="Rectangle 3"/>
          <p:cNvSpPr>
            <a:spLocks noGrp="1"/>
          </p:cNvSpPr>
          <p:nvPr/>
        </p:nvSpPr>
        <p:spPr>
          <a:xfrm>
            <a:off x="228600" y="6019800"/>
            <a:ext cx="8385175" cy="43878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0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dirty="0">
                <a:solidFill>
                  <a:srgbClr val="000066"/>
                </a:solidFill>
                <a:ea typeface="楷体_GB2312" pitchFamily="49" charset="-122"/>
              </a:rPr>
              <a:t>输出信号Y和输入信号A、B之间是或非逻辑关系。</a:t>
            </a:r>
            <a:endParaRPr lang="zh-CN" altLang="en-US" sz="2400" b="1" dirty="0">
              <a:solidFill>
                <a:srgbClr val="000066"/>
              </a:solidFill>
              <a:ea typeface="楷体_GB2312" pitchFamily="49" charset="-122"/>
            </a:endParaRPr>
          </a:p>
        </p:txBody>
      </p:sp>
      <p:grpSp>
        <p:nvGrpSpPr>
          <p:cNvPr id="5" name="组合 4"/>
          <p:cNvGrpSpPr/>
          <p:nvPr/>
        </p:nvGrpSpPr>
        <p:grpSpPr>
          <a:xfrm>
            <a:off x="3684270" y="3109595"/>
            <a:ext cx="4925695" cy="2861310"/>
            <a:chOff x="6042" y="4897"/>
            <a:chExt cx="7757" cy="4506"/>
          </a:xfrm>
        </p:grpSpPr>
        <p:grpSp>
          <p:nvGrpSpPr>
            <p:cNvPr id="14" name="组合 13"/>
            <p:cNvGrpSpPr/>
            <p:nvPr/>
          </p:nvGrpSpPr>
          <p:grpSpPr>
            <a:xfrm>
              <a:off x="6069" y="4905"/>
              <a:ext cx="7731" cy="4454"/>
              <a:chOff x="6069" y="4905"/>
              <a:chExt cx="7731" cy="4454"/>
            </a:xfrm>
          </p:grpSpPr>
          <p:grpSp>
            <p:nvGrpSpPr>
              <p:cNvPr id="418974" name="组合 418973"/>
              <p:cNvGrpSpPr/>
              <p:nvPr/>
            </p:nvGrpSpPr>
            <p:grpSpPr>
              <a:xfrm>
                <a:off x="6070" y="4905"/>
                <a:ext cx="7730" cy="4455"/>
                <a:chOff x="2406" y="1519"/>
                <a:chExt cx="3092" cy="1782"/>
              </a:xfrm>
            </p:grpSpPr>
            <p:sp>
              <p:nvSpPr>
                <p:cNvPr id="32771" name="文本框 418819"/>
                <p:cNvSpPr txBox="1"/>
                <p:nvPr/>
              </p:nvSpPr>
              <p:spPr>
                <a:xfrm>
                  <a:off x="2406" y="1519"/>
                  <a:ext cx="638" cy="327"/>
                </a:xfrm>
                <a:prstGeom prst="rect">
                  <a:avLst/>
                </a:prstGeom>
                <a:noFill/>
                <a:ln w="9525">
                  <a:noFill/>
                </a:ln>
              </p:spPr>
              <p:txBody>
                <a:bodyPr wrap="none" anchor="t" anchorCtr="0">
                  <a:spAutoFit/>
                </a:bodyPr>
                <a:p>
                  <a:pPr eaLnBrk="0" hangingPunct="0"/>
                  <a:r>
                    <a:rPr lang="en-US" altLang="zh-CN" sz="2800" i="1">
                      <a:solidFill>
                        <a:srgbClr val="000066"/>
                      </a:solidFill>
                      <a:latin typeface="Times New Roman" panose="02020603050405020304" charset="0"/>
                      <a:ea typeface="楷体_GB2312" pitchFamily="49" charset="-122"/>
                    </a:rPr>
                    <a:t>A</a:t>
                  </a:r>
                  <a:r>
                    <a:rPr lang="en-US" altLang="zh-CN" sz="2800">
                      <a:solidFill>
                        <a:srgbClr val="000066"/>
                      </a:solidFill>
                      <a:latin typeface="Times New Roman" panose="02020603050405020304" charset="0"/>
                      <a:ea typeface="楷体_GB2312" pitchFamily="49" charset="-122"/>
                    </a:rPr>
                    <a:t>    </a:t>
                  </a:r>
                  <a:r>
                    <a:rPr lang="en-US" altLang="zh-CN" sz="2800" i="1">
                      <a:solidFill>
                        <a:srgbClr val="000066"/>
                      </a:solidFill>
                      <a:latin typeface="Times New Roman" panose="02020603050405020304" charset="0"/>
                      <a:ea typeface="楷体_GB2312" pitchFamily="49" charset="-122"/>
                    </a:rPr>
                    <a:t>B</a:t>
                  </a:r>
                  <a:endParaRPr lang="en-US" altLang="zh-CN" sz="2800" i="1">
                    <a:solidFill>
                      <a:srgbClr val="000066"/>
                    </a:solidFill>
                    <a:latin typeface="Times New Roman" panose="02020603050405020304" charset="0"/>
                    <a:ea typeface="楷体_GB2312" pitchFamily="49" charset="-122"/>
                  </a:endParaRPr>
                </a:p>
              </p:txBody>
            </p:sp>
            <p:sp>
              <p:nvSpPr>
                <p:cNvPr id="32772" name="文本框 418820"/>
                <p:cNvSpPr txBox="1"/>
                <p:nvPr/>
              </p:nvSpPr>
              <p:spPr>
                <a:xfrm>
                  <a:off x="3146" y="1525"/>
                  <a:ext cx="1996" cy="329"/>
                </a:xfrm>
                <a:prstGeom prst="rect">
                  <a:avLst/>
                </a:prstGeom>
                <a:noFill/>
                <a:ln w="9525">
                  <a:noFill/>
                </a:ln>
              </p:spPr>
              <p:txBody>
                <a:bodyPr wrap="square" anchor="t" anchorCtr="0">
                  <a:spAutoFit/>
                </a:bodyPr>
                <a:p>
                  <a:pPr eaLnBrk="0" hangingPunct="0"/>
                  <a:r>
                    <a:rPr lang="en-US" altLang="zh-CN" sz="2800">
                      <a:solidFill>
                        <a:srgbClr val="000066"/>
                      </a:solidFill>
                      <a:latin typeface="Times New Roman" panose="02020603050405020304" charset="0"/>
                      <a:ea typeface="楷体_GB2312" pitchFamily="49" charset="-122"/>
                    </a:rPr>
                    <a:t>T</a:t>
                  </a:r>
                  <a:r>
                    <a:rPr lang="en-US" altLang="zh-CN" sz="2800" baseline="-25000">
                      <a:solidFill>
                        <a:srgbClr val="000066"/>
                      </a:solidFill>
                      <a:latin typeface="Times New Roman" panose="02020603050405020304" charset="0"/>
                      <a:ea typeface="楷体_GB2312" pitchFamily="49" charset="-122"/>
                    </a:rPr>
                    <a:t>N1</a:t>
                  </a:r>
                  <a:r>
                    <a:rPr lang="en-US" altLang="zh-CN" sz="2800">
                      <a:solidFill>
                        <a:srgbClr val="000066"/>
                      </a:solidFill>
                      <a:latin typeface="Times New Roman" panose="02020603050405020304" charset="0"/>
                      <a:ea typeface="楷体_GB2312" pitchFamily="49" charset="-122"/>
                    </a:rPr>
                    <a:t>    T</a:t>
                  </a:r>
                  <a:r>
                    <a:rPr lang="en-US" altLang="zh-CN" sz="2800" baseline="-25000">
                      <a:solidFill>
                        <a:srgbClr val="000066"/>
                      </a:solidFill>
                      <a:latin typeface="Times New Roman" panose="02020603050405020304" charset="0"/>
                      <a:ea typeface="楷体_GB2312" pitchFamily="49" charset="-122"/>
                    </a:rPr>
                    <a:t>P1</a:t>
                  </a:r>
                  <a:r>
                    <a:rPr lang="en-US" altLang="zh-CN" sz="2000">
                      <a:solidFill>
                        <a:srgbClr val="000066"/>
                      </a:solidFill>
                      <a:latin typeface="Times New Roman" panose="02020603050405020304" charset="0"/>
                      <a:ea typeface="楷体_GB2312" pitchFamily="49" charset="-122"/>
                    </a:rPr>
                    <a:t> </a:t>
                  </a:r>
                  <a:r>
                    <a:rPr lang="en-US" altLang="zh-CN" sz="2800">
                      <a:solidFill>
                        <a:srgbClr val="000066"/>
                      </a:solidFill>
                      <a:latin typeface="Times New Roman" panose="02020603050405020304" charset="0"/>
                      <a:ea typeface="楷体_GB2312" pitchFamily="49" charset="-122"/>
                    </a:rPr>
                    <a:t>   T</a:t>
                  </a:r>
                  <a:r>
                    <a:rPr lang="en-US" altLang="zh-CN" sz="2800" baseline="-25000">
                      <a:solidFill>
                        <a:srgbClr val="000066"/>
                      </a:solidFill>
                      <a:latin typeface="Times New Roman" panose="02020603050405020304" charset="0"/>
                      <a:ea typeface="楷体_GB2312" pitchFamily="49" charset="-122"/>
                    </a:rPr>
                    <a:t>N2</a:t>
                  </a:r>
                  <a:r>
                    <a:rPr lang="en-US" altLang="zh-CN" sz="2800">
                      <a:solidFill>
                        <a:srgbClr val="000066"/>
                      </a:solidFill>
                      <a:latin typeface="Times New Roman" panose="02020603050405020304" charset="0"/>
                      <a:ea typeface="楷体_GB2312" pitchFamily="49" charset="-122"/>
                    </a:rPr>
                    <a:t>  T</a:t>
                  </a:r>
                  <a:r>
                    <a:rPr lang="en-US" altLang="zh-CN" sz="2800" baseline="-25000">
                      <a:solidFill>
                        <a:srgbClr val="000066"/>
                      </a:solidFill>
                      <a:latin typeface="Times New Roman" panose="02020603050405020304" charset="0"/>
                      <a:ea typeface="楷体_GB2312" pitchFamily="49" charset="-122"/>
                    </a:rPr>
                    <a:t>P2</a:t>
                  </a:r>
                  <a:endParaRPr lang="en-US" altLang="zh-CN" sz="2800" baseline="-25000">
                    <a:solidFill>
                      <a:srgbClr val="000066"/>
                    </a:solidFill>
                    <a:latin typeface="Times New Roman" panose="02020603050405020304" charset="0"/>
                    <a:ea typeface="楷体_GB2312" pitchFamily="49" charset="-122"/>
                  </a:endParaRPr>
                </a:p>
              </p:txBody>
            </p:sp>
            <p:grpSp>
              <p:nvGrpSpPr>
                <p:cNvPr id="32773" name="组合 418821"/>
                <p:cNvGrpSpPr/>
                <p:nvPr/>
              </p:nvGrpSpPr>
              <p:grpSpPr>
                <a:xfrm>
                  <a:off x="2426" y="1525"/>
                  <a:ext cx="3072" cy="1776"/>
                  <a:chOff x="2525" y="1381"/>
                  <a:chExt cx="3072" cy="1776"/>
                </a:xfrm>
              </p:grpSpPr>
              <p:sp>
                <p:nvSpPr>
                  <p:cNvPr id="32774" name="直接连接符 418822"/>
                  <p:cNvSpPr/>
                  <p:nvPr/>
                </p:nvSpPr>
                <p:spPr>
                  <a:xfrm>
                    <a:off x="2525" y="1381"/>
                    <a:ext cx="3072" cy="0"/>
                  </a:xfrm>
                  <a:prstGeom prst="line">
                    <a:avLst/>
                  </a:prstGeom>
                  <a:ln w="38100" cap="flat" cmpd="sng">
                    <a:solidFill>
                      <a:schemeClr val="accent6">
                        <a:lumMod val="60000"/>
                        <a:lumOff val="40000"/>
                      </a:schemeClr>
                    </a:solidFill>
                    <a:prstDash val="solid"/>
                    <a:round/>
                    <a:headEnd type="none" w="med" len="med"/>
                    <a:tailEnd type="none" w="med" len="med"/>
                  </a:ln>
                </p:spPr>
              </p:sp>
              <p:sp>
                <p:nvSpPr>
                  <p:cNvPr id="32775" name="直接连接符 418823"/>
                  <p:cNvSpPr/>
                  <p:nvPr/>
                </p:nvSpPr>
                <p:spPr>
                  <a:xfrm>
                    <a:off x="2525" y="1717"/>
                    <a:ext cx="3072" cy="0"/>
                  </a:xfrm>
                  <a:prstGeom prst="line">
                    <a:avLst/>
                  </a:prstGeom>
                  <a:ln w="28575" cap="flat" cmpd="sng">
                    <a:solidFill>
                      <a:schemeClr val="accent6">
                        <a:lumMod val="60000"/>
                        <a:lumOff val="40000"/>
                      </a:schemeClr>
                    </a:solidFill>
                    <a:prstDash val="solid"/>
                    <a:round/>
                    <a:headEnd type="none" w="med" len="med"/>
                    <a:tailEnd type="none" w="med" len="med"/>
                  </a:ln>
                </p:spPr>
              </p:sp>
              <p:sp>
                <p:nvSpPr>
                  <p:cNvPr id="32776" name="直接连接符 418824"/>
                  <p:cNvSpPr/>
                  <p:nvPr/>
                </p:nvSpPr>
                <p:spPr>
                  <a:xfrm>
                    <a:off x="2525" y="3157"/>
                    <a:ext cx="3072" cy="0"/>
                  </a:xfrm>
                  <a:prstGeom prst="line">
                    <a:avLst/>
                  </a:prstGeom>
                  <a:ln w="38100" cap="flat" cmpd="sng">
                    <a:solidFill>
                      <a:schemeClr val="accent6">
                        <a:lumMod val="60000"/>
                        <a:lumOff val="40000"/>
                      </a:schemeClr>
                    </a:solidFill>
                    <a:prstDash val="solid"/>
                    <a:round/>
                    <a:headEnd type="none" w="med" len="med"/>
                    <a:tailEnd type="none" w="med" len="med"/>
                  </a:ln>
                </p:spPr>
              </p:sp>
              <p:sp>
                <p:nvSpPr>
                  <p:cNvPr id="32777" name="直接连接符 418825"/>
                  <p:cNvSpPr/>
                  <p:nvPr/>
                </p:nvSpPr>
                <p:spPr>
                  <a:xfrm>
                    <a:off x="3197" y="1381"/>
                    <a:ext cx="0" cy="1776"/>
                  </a:xfrm>
                  <a:prstGeom prst="line">
                    <a:avLst/>
                  </a:prstGeom>
                  <a:ln w="28575" cap="flat" cmpd="sng">
                    <a:solidFill>
                      <a:schemeClr val="accent6">
                        <a:lumMod val="60000"/>
                        <a:lumOff val="40000"/>
                      </a:schemeClr>
                    </a:solidFill>
                    <a:prstDash val="solid"/>
                    <a:round/>
                    <a:headEnd type="none" w="med" len="med"/>
                    <a:tailEnd type="none" w="med" len="med"/>
                  </a:ln>
                </p:spPr>
              </p:sp>
              <p:sp>
                <p:nvSpPr>
                  <p:cNvPr id="32778" name="直接连接符 418826"/>
                  <p:cNvSpPr/>
                  <p:nvPr/>
                </p:nvSpPr>
                <p:spPr>
                  <a:xfrm>
                    <a:off x="5153" y="1381"/>
                    <a:ext cx="0" cy="1776"/>
                  </a:xfrm>
                  <a:prstGeom prst="line">
                    <a:avLst/>
                  </a:prstGeom>
                  <a:ln w="28575" cap="flat" cmpd="sng">
                    <a:solidFill>
                      <a:schemeClr val="accent6">
                        <a:lumMod val="60000"/>
                        <a:lumOff val="40000"/>
                      </a:schemeClr>
                    </a:solidFill>
                    <a:prstDash val="solid"/>
                    <a:round/>
                    <a:headEnd type="none" w="med" len="med"/>
                    <a:tailEnd type="none" w="med" len="med"/>
                  </a:ln>
                </p:spPr>
              </p:sp>
            </p:grpSp>
            <p:sp>
              <p:nvSpPr>
                <p:cNvPr id="32779" name="文本框 418827"/>
                <p:cNvSpPr txBox="1"/>
                <p:nvPr/>
              </p:nvSpPr>
              <p:spPr>
                <a:xfrm>
                  <a:off x="5124" y="1519"/>
                  <a:ext cx="240" cy="329"/>
                </a:xfrm>
                <a:prstGeom prst="rect">
                  <a:avLst/>
                </a:prstGeom>
                <a:noFill/>
                <a:ln w="9525">
                  <a:noFill/>
                </a:ln>
              </p:spPr>
              <p:txBody>
                <a:bodyPr wrap="none" anchor="t" anchorCtr="0">
                  <a:spAutoFit/>
                </a:bodyPr>
                <a:p>
                  <a:pPr eaLnBrk="0" hangingPunct="0"/>
                  <a:r>
                    <a:rPr lang="en-US" altLang="zh-CN" sz="2800" i="1">
                      <a:solidFill>
                        <a:srgbClr val="000066"/>
                      </a:solidFill>
                      <a:latin typeface="Times New Roman" panose="02020603050405020304" charset="0"/>
                      <a:ea typeface="楷体_GB2312" pitchFamily="49" charset="-122"/>
                    </a:rPr>
                    <a:t>Y</a:t>
                  </a:r>
                  <a:endParaRPr lang="en-US" altLang="zh-CN" sz="2800" i="1">
                    <a:solidFill>
                      <a:srgbClr val="000066"/>
                    </a:solidFill>
                    <a:latin typeface="Times New Roman" panose="02020603050405020304" charset="0"/>
                    <a:ea typeface="楷体_GB2312" pitchFamily="49" charset="-122"/>
                  </a:endParaRPr>
                </a:p>
              </p:txBody>
            </p:sp>
          </p:grpSp>
          <p:sp>
            <p:nvSpPr>
              <p:cNvPr id="3" name="直接连接符 418825"/>
              <p:cNvSpPr/>
              <p:nvPr/>
            </p:nvSpPr>
            <p:spPr>
              <a:xfrm>
                <a:off x="6069" y="4917"/>
                <a:ext cx="0" cy="4440"/>
              </a:xfrm>
              <a:prstGeom prst="line">
                <a:avLst/>
              </a:prstGeom>
              <a:ln w="28575" cap="flat" cmpd="sng">
                <a:solidFill>
                  <a:schemeClr val="accent6">
                    <a:lumMod val="60000"/>
                    <a:lumOff val="40000"/>
                  </a:schemeClr>
                </a:solidFill>
                <a:prstDash val="solid"/>
                <a:round/>
                <a:headEnd type="none" w="med" len="med"/>
                <a:tailEnd type="none" w="med" len="med"/>
              </a:ln>
            </p:spPr>
          </p:sp>
        </p:grpSp>
        <p:grpSp>
          <p:nvGrpSpPr>
            <p:cNvPr id="13" name="组合 12"/>
            <p:cNvGrpSpPr/>
            <p:nvPr/>
          </p:nvGrpSpPr>
          <p:grpSpPr>
            <a:xfrm>
              <a:off x="6042" y="4897"/>
              <a:ext cx="7756" cy="4506"/>
              <a:chOff x="6042" y="4897"/>
              <a:chExt cx="7756" cy="4506"/>
            </a:xfrm>
          </p:grpSpPr>
          <p:sp>
            <p:nvSpPr>
              <p:cNvPr id="4" name="直接连接符 418825"/>
              <p:cNvSpPr/>
              <p:nvPr/>
            </p:nvSpPr>
            <p:spPr>
              <a:xfrm>
                <a:off x="13775" y="4909"/>
                <a:ext cx="0" cy="4440"/>
              </a:xfrm>
              <a:prstGeom prst="line">
                <a:avLst/>
              </a:prstGeom>
              <a:ln w="28575" cap="flat" cmpd="sng">
                <a:solidFill>
                  <a:schemeClr val="accent6">
                    <a:lumMod val="60000"/>
                    <a:lumOff val="40000"/>
                  </a:schemeClr>
                </a:solidFill>
                <a:prstDash val="solid"/>
                <a:round/>
                <a:headEnd type="none" w="med" len="med"/>
                <a:tailEnd type="none" w="med" len="med"/>
              </a:ln>
            </p:spPr>
          </p:sp>
          <p:sp>
            <p:nvSpPr>
              <p:cNvPr id="6" name="直接连接符 418825"/>
              <p:cNvSpPr/>
              <p:nvPr/>
            </p:nvSpPr>
            <p:spPr>
              <a:xfrm>
                <a:off x="6935" y="4931"/>
                <a:ext cx="0" cy="4440"/>
              </a:xfrm>
              <a:prstGeom prst="line">
                <a:avLst/>
              </a:prstGeom>
              <a:ln w="28575" cap="flat" cmpd="sng">
                <a:solidFill>
                  <a:schemeClr val="accent6">
                    <a:lumMod val="60000"/>
                    <a:lumOff val="40000"/>
                  </a:schemeClr>
                </a:solidFill>
                <a:prstDash val="solid"/>
                <a:round/>
                <a:headEnd type="none" w="med" len="med"/>
                <a:tailEnd type="none" w="med" len="med"/>
              </a:ln>
            </p:spPr>
          </p:sp>
          <p:sp>
            <p:nvSpPr>
              <p:cNvPr id="7" name="直接连接符 418825"/>
              <p:cNvSpPr/>
              <p:nvPr/>
            </p:nvSpPr>
            <p:spPr>
              <a:xfrm>
                <a:off x="9117" y="4897"/>
                <a:ext cx="0" cy="4440"/>
              </a:xfrm>
              <a:prstGeom prst="line">
                <a:avLst/>
              </a:prstGeom>
              <a:ln w="28575" cap="flat" cmpd="sng">
                <a:solidFill>
                  <a:schemeClr val="accent6">
                    <a:lumMod val="60000"/>
                    <a:lumOff val="40000"/>
                  </a:schemeClr>
                </a:solidFill>
                <a:prstDash val="solid"/>
                <a:round/>
                <a:headEnd type="none" w="med" len="med"/>
                <a:tailEnd type="none" w="med" len="med"/>
              </a:ln>
            </p:spPr>
          </p:sp>
          <p:sp>
            <p:nvSpPr>
              <p:cNvPr id="8" name="直接连接符 418825"/>
              <p:cNvSpPr/>
              <p:nvPr/>
            </p:nvSpPr>
            <p:spPr>
              <a:xfrm>
                <a:off x="10315" y="4953"/>
                <a:ext cx="0" cy="4440"/>
              </a:xfrm>
              <a:prstGeom prst="line">
                <a:avLst/>
              </a:prstGeom>
              <a:ln w="28575" cap="flat" cmpd="sng">
                <a:solidFill>
                  <a:schemeClr val="accent6">
                    <a:lumMod val="60000"/>
                    <a:lumOff val="40000"/>
                  </a:schemeClr>
                </a:solidFill>
                <a:prstDash val="solid"/>
                <a:round/>
                <a:headEnd type="none" w="med" len="med"/>
                <a:tailEnd type="none" w="med" len="med"/>
              </a:ln>
            </p:spPr>
          </p:sp>
          <p:sp>
            <p:nvSpPr>
              <p:cNvPr id="9" name="直接连接符 418825"/>
              <p:cNvSpPr/>
              <p:nvPr/>
            </p:nvSpPr>
            <p:spPr>
              <a:xfrm>
                <a:off x="11571" y="4963"/>
                <a:ext cx="0" cy="4440"/>
              </a:xfrm>
              <a:prstGeom prst="line">
                <a:avLst/>
              </a:prstGeom>
              <a:ln w="28575" cap="flat" cmpd="sng">
                <a:solidFill>
                  <a:schemeClr val="accent6">
                    <a:lumMod val="60000"/>
                    <a:lumOff val="40000"/>
                  </a:schemeClr>
                </a:solidFill>
                <a:prstDash val="solid"/>
                <a:round/>
                <a:headEnd type="none" w="med" len="med"/>
                <a:tailEnd type="none" w="med" len="med"/>
              </a:ln>
            </p:spPr>
          </p:sp>
          <p:cxnSp>
            <p:nvCxnSpPr>
              <p:cNvPr id="10" name="直接连接符 9"/>
              <p:cNvCxnSpPr/>
              <p:nvPr/>
            </p:nvCxnSpPr>
            <p:spPr>
              <a:xfrm>
                <a:off x="6044" y="6644"/>
                <a:ext cx="7753" cy="0"/>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6046" y="7571"/>
                <a:ext cx="7753" cy="0"/>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042" y="8471"/>
                <a:ext cx="7753" cy="0"/>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pic>
        <p:nvPicPr>
          <p:cNvPr id="9271" name="图片 2708"/>
          <p:cNvPicPr>
            <a:picLocks noChangeAspect="1"/>
          </p:cNvPicPr>
          <p:nvPr/>
        </p:nvPicPr>
        <p:blipFill>
          <a:blip r:embed="rId1"/>
          <a:stretch>
            <a:fillRect/>
          </a:stretch>
        </p:blipFill>
        <p:spPr>
          <a:xfrm>
            <a:off x="609600" y="2743200"/>
            <a:ext cx="2761615" cy="2896235"/>
          </a:xfrm>
          <a:prstGeom prst="rect">
            <a:avLst/>
          </a:prstGeom>
          <a:noFill/>
          <a:ln>
            <a:noFill/>
          </a:ln>
        </p:spPr>
      </p:pic>
      <p:grpSp>
        <p:nvGrpSpPr>
          <p:cNvPr id="15" name="组合 14"/>
          <p:cNvGrpSpPr/>
          <p:nvPr/>
        </p:nvGrpSpPr>
        <p:grpSpPr>
          <a:xfrm>
            <a:off x="3786188" y="3783013"/>
            <a:ext cx="868363" cy="2170112"/>
            <a:chOff x="2481" y="1711"/>
            <a:chExt cx="547" cy="1367"/>
          </a:xfrm>
        </p:grpSpPr>
        <p:sp>
          <p:nvSpPr>
            <p:cNvPr id="16" name="文本框 419936"/>
            <p:cNvSpPr txBox="1"/>
            <p:nvPr/>
          </p:nvSpPr>
          <p:spPr>
            <a:xfrm>
              <a:off x="2481" y="1711"/>
              <a:ext cx="547" cy="290"/>
            </a:xfrm>
            <a:prstGeom prst="rect">
              <a:avLst/>
            </a:prstGeom>
            <a:noFill/>
            <a:ln w="9525">
              <a:noFill/>
            </a:ln>
          </p:spPr>
          <p:txBody>
            <a:bodyPr wrap="none" anchor="t" anchorCtr="0">
              <a:spAutoFit/>
            </a:bodyPr>
            <a:p>
              <a:pPr eaLnBrk="0" hangingPunct="0"/>
              <a:r>
                <a:rPr lang="en-US" altLang="zh-CN" sz="2400" b="1">
                  <a:solidFill>
                    <a:srgbClr val="000066"/>
                  </a:solidFill>
                  <a:latin typeface="Times New Roman" panose="02020603050405020304" charset="0"/>
                  <a:ea typeface="楷体_GB2312" pitchFamily="49" charset="-122"/>
                </a:rPr>
                <a:t>0     0</a:t>
              </a:r>
              <a:endParaRPr lang="en-US" altLang="zh-CN" sz="2400" b="1">
                <a:solidFill>
                  <a:srgbClr val="000066"/>
                </a:solidFill>
                <a:latin typeface="Times New Roman" panose="02020603050405020304" charset="0"/>
                <a:ea typeface="楷体_GB2312" pitchFamily="49" charset="-122"/>
              </a:endParaRPr>
            </a:p>
          </p:txBody>
        </p:sp>
        <p:sp>
          <p:nvSpPr>
            <p:cNvPr id="17" name="文本框 419937"/>
            <p:cNvSpPr txBox="1"/>
            <p:nvPr/>
          </p:nvSpPr>
          <p:spPr>
            <a:xfrm>
              <a:off x="2481" y="2062"/>
              <a:ext cx="547" cy="290"/>
            </a:xfrm>
            <a:prstGeom prst="rect">
              <a:avLst/>
            </a:prstGeom>
            <a:noFill/>
            <a:ln w="9525">
              <a:noFill/>
            </a:ln>
          </p:spPr>
          <p:txBody>
            <a:bodyPr wrap="none" anchor="t" anchorCtr="0">
              <a:spAutoFit/>
            </a:bodyPr>
            <a:p>
              <a:pPr eaLnBrk="0" hangingPunct="0"/>
              <a:r>
                <a:rPr lang="en-US" altLang="zh-CN" sz="2400" b="1">
                  <a:solidFill>
                    <a:srgbClr val="000066"/>
                  </a:solidFill>
                  <a:latin typeface="Times New Roman" panose="02020603050405020304" charset="0"/>
                  <a:ea typeface="楷体_GB2312" pitchFamily="49" charset="-122"/>
                </a:rPr>
                <a:t>0     1</a:t>
              </a:r>
              <a:endParaRPr lang="en-US" altLang="zh-CN" sz="2400" b="1">
                <a:solidFill>
                  <a:srgbClr val="000066"/>
                </a:solidFill>
                <a:latin typeface="Times New Roman" panose="02020603050405020304" charset="0"/>
                <a:ea typeface="楷体_GB2312" pitchFamily="49" charset="-122"/>
              </a:endParaRPr>
            </a:p>
          </p:txBody>
        </p:sp>
        <p:sp>
          <p:nvSpPr>
            <p:cNvPr id="18" name="文本框 419938"/>
            <p:cNvSpPr txBox="1"/>
            <p:nvPr/>
          </p:nvSpPr>
          <p:spPr>
            <a:xfrm>
              <a:off x="2481" y="2431"/>
              <a:ext cx="547" cy="290"/>
            </a:xfrm>
            <a:prstGeom prst="rect">
              <a:avLst/>
            </a:prstGeom>
            <a:noFill/>
            <a:ln w="9525">
              <a:noFill/>
            </a:ln>
          </p:spPr>
          <p:txBody>
            <a:bodyPr wrap="none" anchor="t" anchorCtr="0">
              <a:spAutoFit/>
            </a:bodyPr>
            <a:p>
              <a:pPr eaLnBrk="0" hangingPunct="0"/>
              <a:r>
                <a:rPr lang="en-US" altLang="zh-CN" sz="2400" b="1">
                  <a:solidFill>
                    <a:srgbClr val="000066"/>
                  </a:solidFill>
                  <a:latin typeface="Times New Roman" panose="02020603050405020304" charset="0"/>
                  <a:ea typeface="楷体_GB2312" pitchFamily="49" charset="-122"/>
                </a:rPr>
                <a:t>1     0</a:t>
              </a:r>
              <a:endParaRPr lang="en-US" altLang="zh-CN" sz="2400" b="1">
                <a:solidFill>
                  <a:srgbClr val="000066"/>
                </a:solidFill>
                <a:latin typeface="Times New Roman" panose="02020603050405020304" charset="0"/>
                <a:ea typeface="楷体_GB2312" pitchFamily="49" charset="-122"/>
              </a:endParaRPr>
            </a:p>
          </p:txBody>
        </p:sp>
        <p:sp>
          <p:nvSpPr>
            <p:cNvPr id="19" name="文本框 419939"/>
            <p:cNvSpPr txBox="1"/>
            <p:nvPr/>
          </p:nvSpPr>
          <p:spPr>
            <a:xfrm>
              <a:off x="2481" y="2788"/>
              <a:ext cx="547" cy="290"/>
            </a:xfrm>
            <a:prstGeom prst="rect">
              <a:avLst/>
            </a:prstGeom>
            <a:noFill/>
            <a:ln w="9525">
              <a:noFill/>
            </a:ln>
          </p:spPr>
          <p:txBody>
            <a:bodyPr wrap="none" anchor="t" anchorCtr="0">
              <a:spAutoFit/>
            </a:bodyPr>
            <a:p>
              <a:pPr eaLnBrk="0" hangingPunct="0"/>
              <a:r>
                <a:rPr lang="en-US" altLang="zh-CN" sz="2400" b="1">
                  <a:solidFill>
                    <a:srgbClr val="000066"/>
                  </a:solidFill>
                  <a:latin typeface="Times New Roman" panose="02020603050405020304" charset="0"/>
                  <a:ea typeface="楷体_GB2312" pitchFamily="49" charset="-122"/>
                </a:rPr>
                <a:t>1     1</a:t>
              </a:r>
              <a:endParaRPr lang="en-US" altLang="zh-CN" sz="2400" b="1">
                <a:solidFill>
                  <a:srgbClr val="000066"/>
                </a:solidFill>
                <a:latin typeface="Times New Roman" panose="02020603050405020304" charset="0"/>
                <a:ea typeface="楷体_GB2312" pitchFamily="49" charset="-122"/>
              </a:endParaRPr>
            </a:p>
          </p:txBody>
        </p:sp>
      </p:grpSp>
      <p:grpSp>
        <p:nvGrpSpPr>
          <p:cNvPr id="20" name="组合 19"/>
          <p:cNvGrpSpPr/>
          <p:nvPr/>
        </p:nvGrpSpPr>
        <p:grpSpPr>
          <a:xfrm>
            <a:off x="4852988" y="3773170"/>
            <a:ext cx="3127375" cy="496888"/>
            <a:chOff x="3159" y="1706"/>
            <a:chExt cx="1970" cy="313"/>
          </a:xfrm>
        </p:grpSpPr>
        <p:sp>
          <p:nvSpPr>
            <p:cNvPr id="21" name="文本框 419940"/>
            <p:cNvSpPr txBox="1"/>
            <p:nvPr/>
          </p:nvSpPr>
          <p:spPr>
            <a:xfrm>
              <a:off x="3159" y="1714"/>
              <a:ext cx="501" cy="290"/>
            </a:xfrm>
            <a:prstGeom prst="rect">
              <a:avLst/>
            </a:prstGeom>
            <a:noFill/>
            <a:ln w="9525">
              <a:noFill/>
            </a:ln>
          </p:spPr>
          <p:txBody>
            <a:bodyPr wrap="none" anchor="t" anchorCtr="0">
              <a:spAutoFit/>
            </a:bodyPr>
            <a:p>
              <a:pPr eaLnBrk="0" hangingPunct="0"/>
              <a:r>
                <a:rPr lang="zh-CN" altLang="en-US" sz="2400" b="1" dirty="0">
                  <a:solidFill>
                    <a:srgbClr val="000066"/>
                  </a:solidFill>
                  <a:latin typeface="楷体_GB2312" pitchFamily="49" charset="-122"/>
                  <a:ea typeface="楷体_GB2312" pitchFamily="49" charset="-122"/>
                </a:rPr>
                <a:t>截止</a:t>
              </a:r>
              <a:endParaRPr lang="zh-CN" altLang="en-US" sz="2400" b="1" dirty="0">
                <a:solidFill>
                  <a:srgbClr val="000066"/>
                </a:solidFill>
                <a:latin typeface="楷体_GB2312" pitchFamily="49" charset="-122"/>
                <a:ea typeface="楷体_GB2312" pitchFamily="49" charset="-122"/>
              </a:endParaRPr>
            </a:p>
          </p:txBody>
        </p:sp>
        <p:sp>
          <p:nvSpPr>
            <p:cNvPr id="22" name="文本框 419941"/>
            <p:cNvSpPr txBox="1"/>
            <p:nvPr/>
          </p:nvSpPr>
          <p:spPr>
            <a:xfrm>
              <a:off x="3648" y="1729"/>
              <a:ext cx="617" cy="290"/>
            </a:xfrm>
            <a:prstGeom prst="rect">
              <a:avLst/>
            </a:prstGeom>
            <a:noFill/>
            <a:ln w="9525">
              <a:noFill/>
            </a:ln>
          </p:spPr>
          <p:txBody>
            <a:bodyPr wrap="square" anchor="t" anchorCtr="0">
              <a:spAutoFit/>
            </a:bodyPr>
            <a:p>
              <a:pPr eaLnBrk="0" hangingPunct="0"/>
              <a:r>
                <a:rPr lang="zh-CN" altLang="en-US" sz="2400" b="1" dirty="0">
                  <a:solidFill>
                    <a:srgbClr val="000066"/>
                  </a:solidFill>
                  <a:latin typeface="楷体_GB2312" pitchFamily="49" charset="-122"/>
                  <a:ea typeface="楷体_GB2312" pitchFamily="49" charset="-122"/>
                </a:rPr>
                <a:t>导通</a:t>
              </a:r>
              <a:endParaRPr lang="zh-CN" altLang="en-US" sz="2400" b="1" dirty="0">
                <a:solidFill>
                  <a:srgbClr val="000066"/>
                </a:solidFill>
                <a:latin typeface="楷体_GB2312" pitchFamily="49" charset="-122"/>
                <a:ea typeface="楷体_GB2312" pitchFamily="49" charset="-122"/>
              </a:endParaRPr>
            </a:p>
          </p:txBody>
        </p:sp>
        <p:sp>
          <p:nvSpPr>
            <p:cNvPr id="23" name="文本框 419942"/>
            <p:cNvSpPr txBox="1"/>
            <p:nvPr/>
          </p:nvSpPr>
          <p:spPr>
            <a:xfrm>
              <a:off x="4134" y="1706"/>
              <a:ext cx="558" cy="290"/>
            </a:xfrm>
            <a:prstGeom prst="rect">
              <a:avLst/>
            </a:prstGeom>
            <a:noFill/>
            <a:ln w="9525">
              <a:noFill/>
            </a:ln>
          </p:spPr>
          <p:txBody>
            <a:bodyPr wrap="square" anchor="t" anchorCtr="0">
              <a:spAutoFit/>
            </a:bodyPr>
            <a:p>
              <a:pPr eaLnBrk="0" hangingPunct="0"/>
              <a:r>
                <a:rPr lang="zh-CN" altLang="en-US" sz="2400" b="1" dirty="0">
                  <a:solidFill>
                    <a:srgbClr val="000066"/>
                  </a:solidFill>
                  <a:latin typeface="Times New Roman" panose="02020603050405020304" charset="0"/>
                  <a:ea typeface="楷体_GB2312" pitchFamily="49" charset="-122"/>
                </a:rPr>
                <a:t>截止</a:t>
              </a:r>
              <a:endParaRPr lang="zh-CN" altLang="en-US" sz="2400" b="1" dirty="0">
                <a:solidFill>
                  <a:srgbClr val="000066"/>
                </a:solidFill>
                <a:latin typeface="Times New Roman" panose="02020603050405020304" charset="0"/>
                <a:ea typeface="楷体_GB2312" pitchFamily="49" charset="-122"/>
              </a:endParaRPr>
            </a:p>
          </p:txBody>
        </p:sp>
        <p:sp>
          <p:nvSpPr>
            <p:cNvPr id="24" name="文本框 419949"/>
            <p:cNvSpPr txBox="1"/>
            <p:nvPr/>
          </p:nvSpPr>
          <p:spPr>
            <a:xfrm>
              <a:off x="4566" y="1706"/>
              <a:ext cx="563" cy="290"/>
            </a:xfrm>
            <a:prstGeom prst="rect">
              <a:avLst/>
            </a:prstGeom>
            <a:noFill/>
            <a:ln w="9525">
              <a:noFill/>
            </a:ln>
          </p:spPr>
          <p:txBody>
            <a:bodyPr wrap="square" anchor="t" anchorCtr="0">
              <a:spAutoFit/>
            </a:bodyPr>
            <a:p>
              <a:pPr eaLnBrk="0" hangingPunct="0"/>
              <a:r>
                <a:rPr lang="en-US" altLang="zh-CN" sz="2400" b="1" dirty="0">
                  <a:solidFill>
                    <a:srgbClr val="000066"/>
                  </a:solidFill>
                  <a:latin typeface="Times New Roman" panose="02020603050405020304" charset="0"/>
                  <a:ea typeface="楷体_GB2312" pitchFamily="49" charset="-122"/>
                </a:rPr>
                <a:t> </a:t>
              </a:r>
              <a:r>
                <a:rPr lang="zh-CN" altLang="en-US" sz="2400" b="1" dirty="0">
                  <a:solidFill>
                    <a:srgbClr val="000066"/>
                  </a:solidFill>
                  <a:latin typeface="Times New Roman" panose="02020603050405020304" charset="0"/>
                  <a:ea typeface="楷体_GB2312" pitchFamily="49" charset="-122"/>
                </a:rPr>
                <a:t>导通</a:t>
              </a:r>
              <a:endParaRPr lang="zh-CN" altLang="en-US" sz="2400" b="1" dirty="0">
                <a:solidFill>
                  <a:srgbClr val="000066"/>
                </a:solidFill>
                <a:latin typeface="Times New Roman" panose="02020603050405020304" charset="0"/>
                <a:ea typeface="楷体_GB2312" pitchFamily="49" charset="-122"/>
              </a:endParaRPr>
            </a:p>
          </p:txBody>
        </p:sp>
      </p:grpSp>
      <p:grpSp>
        <p:nvGrpSpPr>
          <p:cNvPr id="25" name="组合 24"/>
          <p:cNvGrpSpPr/>
          <p:nvPr/>
        </p:nvGrpSpPr>
        <p:grpSpPr>
          <a:xfrm>
            <a:off x="4881562" y="4312920"/>
            <a:ext cx="3165476" cy="490538"/>
            <a:chOff x="3177" y="2046"/>
            <a:chExt cx="1994" cy="309"/>
          </a:xfrm>
        </p:grpSpPr>
        <p:sp>
          <p:nvSpPr>
            <p:cNvPr id="26" name="文本框 419943"/>
            <p:cNvSpPr txBox="1"/>
            <p:nvPr/>
          </p:nvSpPr>
          <p:spPr>
            <a:xfrm>
              <a:off x="3639" y="2046"/>
              <a:ext cx="546" cy="290"/>
            </a:xfrm>
            <a:prstGeom prst="rect">
              <a:avLst/>
            </a:prstGeom>
            <a:noFill/>
            <a:ln w="9525">
              <a:noFill/>
            </a:ln>
          </p:spPr>
          <p:txBody>
            <a:bodyPr wrap="square" anchor="t" anchorCtr="0">
              <a:spAutoFit/>
            </a:bodyPr>
            <a:p>
              <a:pPr eaLnBrk="0" hangingPunct="0"/>
              <a:r>
                <a:rPr lang="zh-CN" altLang="en-US" sz="2400" b="1" dirty="0">
                  <a:solidFill>
                    <a:srgbClr val="000066"/>
                  </a:solidFill>
                  <a:latin typeface="楷体_GB2312" pitchFamily="49" charset="-122"/>
                  <a:ea typeface="楷体_GB2312" pitchFamily="49" charset="-122"/>
                </a:rPr>
                <a:t>导通</a:t>
              </a:r>
              <a:endParaRPr lang="zh-CN" altLang="en-US" sz="2400" b="1" dirty="0">
                <a:solidFill>
                  <a:srgbClr val="000066"/>
                </a:solidFill>
                <a:latin typeface="楷体_GB2312" pitchFamily="49" charset="-122"/>
                <a:ea typeface="楷体_GB2312" pitchFamily="49" charset="-122"/>
              </a:endParaRPr>
            </a:p>
          </p:txBody>
        </p:sp>
        <p:sp>
          <p:nvSpPr>
            <p:cNvPr id="27" name="文本框 419944"/>
            <p:cNvSpPr txBox="1"/>
            <p:nvPr/>
          </p:nvSpPr>
          <p:spPr>
            <a:xfrm>
              <a:off x="4134" y="2046"/>
              <a:ext cx="549" cy="290"/>
            </a:xfrm>
            <a:prstGeom prst="rect">
              <a:avLst/>
            </a:prstGeom>
            <a:noFill/>
            <a:ln w="9525">
              <a:noFill/>
            </a:ln>
          </p:spPr>
          <p:txBody>
            <a:bodyPr wrap="square" anchor="t" anchorCtr="0">
              <a:spAutoFit/>
            </a:bodyPr>
            <a:p>
              <a:pPr eaLnBrk="0" hangingPunct="0"/>
              <a:r>
                <a:rPr lang="zh-CN" altLang="en-US" sz="2400" b="1" dirty="0">
                  <a:solidFill>
                    <a:srgbClr val="000066"/>
                  </a:solidFill>
                  <a:latin typeface="楷体_GB2312" pitchFamily="49" charset="-122"/>
                  <a:ea typeface="楷体_GB2312" pitchFamily="49" charset="-122"/>
                </a:rPr>
                <a:t>导通</a:t>
              </a:r>
              <a:endParaRPr lang="zh-CN" altLang="en-US" sz="2400" b="1" dirty="0">
                <a:solidFill>
                  <a:srgbClr val="000066"/>
                </a:solidFill>
                <a:latin typeface="楷体_GB2312" pitchFamily="49" charset="-122"/>
                <a:ea typeface="楷体_GB2312" pitchFamily="49" charset="-122"/>
              </a:endParaRPr>
            </a:p>
          </p:txBody>
        </p:sp>
        <p:sp>
          <p:nvSpPr>
            <p:cNvPr id="28" name="文本框 419950"/>
            <p:cNvSpPr txBox="1"/>
            <p:nvPr/>
          </p:nvSpPr>
          <p:spPr>
            <a:xfrm>
              <a:off x="3177" y="2065"/>
              <a:ext cx="501" cy="290"/>
            </a:xfrm>
            <a:prstGeom prst="rect">
              <a:avLst/>
            </a:prstGeom>
            <a:noFill/>
            <a:ln w="9525">
              <a:noFill/>
            </a:ln>
          </p:spPr>
          <p:txBody>
            <a:bodyPr wrap="none" anchor="t" anchorCtr="0">
              <a:spAutoFit/>
            </a:bodyPr>
            <a:p>
              <a:pPr eaLnBrk="0" hangingPunct="0"/>
              <a:r>
                <a:rPr lang="zh-CN" altLang="en-US" sz="2400" b="1" dirty="0">
                  <a:solidFill>
                    <a:srgbClr val="000066"/>
                  </a:solidFill>
                  <a:latin typeface="楷体_GB2312" pitchFamily="49" charset="-122"/>
                  <a:ea typeface="楷体_GB2312" pitchFamily="49" charset="-122"/>
                </a:rPr>
                <a:t>截止</a:t>
              </a:r>
              <a:endParaRPr lang="zh-CN" altLang="en-US" sz="2400" b="1" dirty="0">
                <a:solidFill>
                  <a:srgbClr val="000066"/>
                </a:solidFill>
                <a:latin typeface="楷体_GB2312" pitchFamily="49" charset="-122"/>
                <a:ea typeface="楷体_GB2312" pitchFamily="49" charset="-122"/>
              </a:endParaRPr>
            </a:p>
          </p:txBody>
        </p:sp>
        <p:sp>
          <p:nvSpPr>
            <p:cNvPr id="29" name="文本框 419951"/>
            <p:cNvSpPr txBox="1"/>
            <p:nvPr/>
          </p:nvSpPr>
          <p:spPr>
            <a:xfrm>
              <a:off x="4566" y="2046"/>
              <a:ext cx="605" cy="290"/>
            </a:xfrm>
            <a:prstGeom prst="rect">
              <a:avLst/>
            </a:prstGeom>
            <a:noFill/>
            <a:ln w="9525">
              <a:noFill/>
            </a:ln>
          </p:spPr>
          <p:txBody>
            <a:bodyPr wrap="square" anchor="t" anchorCtr="0">
              <a:spAutoFit/>
            </a:bodyPr>
            <a:p>
              <a:pPr eaLnBrk="0" hangingPunct="0"/>
              <a:r>
                <a:rPr lang="en-US" altLang="zh-CN" sz="2400" b="1" dirty="0">
                  <a:solidFill>
                    <a:srgbClr val="000066"/>
                  </a:solidFill>
                  <a:latin typeface="Times New Roman" panose="02020603050405020304" charset="0"/>
                  <a:ea typeface="楷体_GB2312" pitchFamily="49" charset="-122"/>
                </a:rPr>
                <a:t> </a:t>
              </a:r>
              <a:r>
                <a:rPr lang="zh-CN" altLang="en-US" sz="2400" b="1" dirty="0">
                  <a:solidFill>
                    <a:srgbClr val="000066"/>
                  </a:solidFill>
                  <a:latin typeface="Times New Roman" panose="02020603050405020304" charset="0"/>
                  <a:ea typeface="楷体_GB2312" pitchFamily="49" charset="-122"/>
                </a:rPr>
                <a:t>截止</a:t>
              </a:r>
              <a:endParaRPr lang="zh-CN" altLang="en-US" sz="2400" b="1" dirty="0">
                <a:solidFill>
                  <a:srgbClr val="000066"/>
                </a:solidFill>
                <a:latin typeface="Times New Roman" panose="02020603050405020304" charset="0"/>
                <a:ea typeface="楷体_GB2312" pitchFamily="49" charset="-122"/>
              </a:endParaRPr>
            </a:p>
          </p:txBody>
        </p:sp>
      </p:grpSp>
      <p:grpSp>
        <p:nvGrpSpPr>
          <p:cNvPr id="30" name="组合 29"/>
          <p:cNvGrpSpPr/>
          <p:nvPr/>
        </p:nvGrpSpPr>
        <p:grpSpPr>
          <a:xfrm>
            <a:off x="4852988" y="4891088"/>
            <a:ext cx="3116262" cy="496887"/>
            <a:chOff x="3153" y="2409"/>
            <a:chExt cx="1963" cy="313"/>
          </a:xfrm>
        </p:grpSpPr>
        <p:sp>
          <p:nvSpPr>
            <p:cNvPr id="31" name="文本框 419945"/>
            <p:cNvSpPr txBox="1"/>
            <p:nvPr/>
          </p:nvSpPr>
          <p:spPr>
            <a:xfrm>
              <a:off x="3153" y="2409"/>
              <a:ext cx="544" cy="290"/>
            </a:xfrm>
            <a:prstGeom prst="rect">
              <a:avLst/>
            </a:prstGeom>
            <a:noFill/>
            <a:ln w="9525">
              <a:noFill/>
            </a:ln>
          </p:spPr>
          <p:txBody>
            <a:bodyPr wrap="square" anchor="t" anchorCtr="0">
              <a:spAutoFit/>
            </a:bodyPr>
            <a:p>
              <a:pPr eaLnBrk="0" hangingPunct="0"/>
              <a:r>
                <a:rPr lang="zh-CN" altLang="en-US" sz="2400" b="1" dirty="0">
                  <a:solidFill>
                    <a:srgbClr val="000066"/>
                  </a:solidFill>
                  <a:latin typeface="楷体_GB2312" pitchFamily="49" charset="-122"/>
                  <a:ea typeface="楷体_GB2312" pitchFamily="49" charset="-122"/>
                </a:rPr>
                <a:t>导通</a:t>
              </a:r>
              <a:endParaRPr lang="zh-CN" altLang="en-US" sz="2400" b="1" dirty="0">
                <a:solidFill>
                  <a:srgbClr val="000066"/>
                </a:solidFill>
                <a:latin typeface="楷体_GB2312" pitchFamily="49" charset="-122"/>
                <a:ea typeface="楷体_GB2312" pitchFamily="49" charset="-122"/>
              </a:endParaRPr>
            </a:p>
          </p:txBody>
        </p:sp>
        <p:sp>
          <p:nvSpPr>
            <p:cNvPr id="32" name="文本框 419946"/>
            <p:cNvSpPr txBox="1"/>
            <p:nvPr/>
          </p:nvSpPr>
          <p:spPr>
            <a:xfrm>
              <a:off x="4602" y="2409"/>
              <a:ext cx="514" cy="290"/>
            </a:xfrm>
            <a:prstGeom prst="rect">
              <a:avLst/>
            </a:prstGeom>
            <a:noFill/>
            <a:ln w="9525">
              <a:noFill/>
            </a:ln>
          </p:spPr>
          <p:txBody>
            <a:bodyPr wrap="square" anchor="t" anchorCtr="0">
              <a:spAutoFit/>
            </a:bodyPr>
            <a:p>
              <a:pPr eaLnBrk="0" hangingPunct="0"/>
              <a:r>
                <a:rPr lang="zh-CN" altLang="en-US" sz="2400" b="1" dirty="0">
                  <a:solidFill>
                    <a:srgbClr val="000066"/>
                  </a:solidFill>
                  <a:latin typeface="Times New Roman" panose="02020603050405020304" charset="0"/>
                  <a:ea typeface="楷体_GB2312" pitchFamily="49" charset="-122"/>
                </a:rPr>
                <a:t>导通</a:t>
              </a:r>
              <a:endParaRPr lang="zh-CN" altLang="en-US" sz="2400" b="1" dirty="0">
                <a:solidFill>
                  <a:srgbClr val="000066"/>
                </a:solidFill>
                <a:latin typeface="Times New Roman" panose="02020603050405020304" charset="0"/>
                <a:ea typeface="楷体_GB2312" pitchFamily="49" charset="-122"/>
              </a:endParaRPr>
            </a:p>
          </p:txBody>
        </p:sp>
        <p:sp>
          <p:nvSpPr>
            <p:cNvPr id="33" name="文本框 419952"/>
            <p:cNvSpPr txBox="1"/>
            <p:nvPr/>
          </p:nvSpPr>
          <p:spPr>
            <a:xfrm>
              <a:off x="3658" y="2409"/>
              <a:ext cx="599" cy="290"/>
            </a:xfrm>
            <a:prstGeom prst="rect">
              <a:avLst/>
            </a:prstGeom>
            <a:noFill/>
            <a:ln w="9525">
              <a:noFill/>
            </a:ln>
          </p:spPr>
          <p:txBody>
            <a:bodyPr wrap="square" anchor="t" anchorCtr="0">
              <a:spAutoFit/>
            </a:bodyPr>
            <a:p>
              <a:pPr eaLnBrk="0" hangingPunct="0"/>
              <a:r>
                <a:rPr lang="zh-CN" altLang="en-US" sz="2400" b="1" dirty="0">
                  <a:solidFill>
                    <a:srgbClr val="000066"/>
                  </a:solidFill>
                  <a:latin typeface="楷体_GB2312" pitchFamily="49" charset="-122"/>
                  <a:ea typeface="楷体_GB2312" pitchFamily="49" charset="-122"/>
                </a:rPr>
                <a:t>截止</a:t>
              </a:r>
              <a:endParaRPr lang="zh-CN" altLang="en-US" sz="2400" b="1" dirty="0">
                <a:solidFill>
                  <a:srgbClr val="000066"/>
                </a:solidFill>
                <a:latin typeface="楷体_GB2312" pitchFamily="49" charset="-122"/>
                <a:ea typeface="楷体_GB2312" pitchFamily="49" charset="-122"/>
              </a:endParaRPr>
            </a:p>
          </p:txBody>
        </p:sp>
        <p:sp>
          <p:nvSpPr>
            <p:cNvPr id="34" name="文本框 419953"/>
            <p:cNvSpPr txBox="1"/>
            <p:nvPr/>
          </p:nvSpPr>
          <p:spPr>
            <a:xfrm>
              <a:off x="4134" y="2432"/>
              <a:ext cx="531" cy="290"/>
            </a:xfrm>
            <a:prstGeom prst="rect">
              <a:avLst/>
            </a:prstGeom>
            <a:noFill/>
            <a:ln w="9525">
              <a:noFill/>
            </a:ln>
          </p:spPr>
          <p:txBody>
            <a:bodyPr wrap="square" anchor="t" anchorCtr="0">
              <a:spAutoFit/>
            </a:bodyPr>
            <a:p>
              <a:pPr eaLnBrk="0" hangingPunct="0"/>
              <a:r>
                <a:rPr lang="zh-CN" altLang="en-US" sz="2400" b="1" dirty="0">
                  <a:solidFill>
                    <a:srgbClr val="000066"/>
                  </a:solidFill>
                  <a:latin typeface="楷体_GB2312" pitchFamily="49" charset="-122"/>
                  <a:ea typeface="楷体_GB2312" pitchFamily="49" charset="-122"/>
                </a:rPr>
                <a:t>截止</a:t>
              </a:r>
              <a:endParaRPr lang="zh-CN" altLang="en-US" sz="2400" b="1" dirty="0">
                <a:solidFill>
                  <a:srgbClr val="000066"/>
                </a:solidFill>
                <a:latin typeface="楷体_GB2312" pitchFamily="49" charset="-122"/>
                <a:ea typeface="楷体_GB2312" pitchFamily="49" charset="-122"/>
              </a:endParaRPr>
            </a:p>
          </p:txBody>
        </p:sp>
      </p:grpSp>
      <p:grpSp>
        <p:nvGrpSpPr>
          <p:cNvPr id="419998" name="组合 419997"/>
          <p:cNvGrpSpPr/>
          <p:nvPr/>
        </p:nvGrpSpPr>
        <p:grpSpPr>
          <a:xfrm>
            <a:off x="4848225" y="5497513"/>
            <a:ext cx="3249613" cy="473075"/>
            <a:chOff x="3150" y="2791"/>
            <a:chExt cx="2047" cy="298"/>
          </a:xfrm>
        </p:grpSpPr>
        <p:sp>
          <p:nvSpPr>
            <p:cNvPr id="33909" name="文本框 419947"/>
            <p:cNvSpPr txBox="1"/>
            <p:nvPr/>
          </p:nvSpPr>
          <p:spPr>
            <a:xfrm>
              <a:off x="3657" y="2799"/>
              <a:ext cx="591" cy="290"/>
            </a:xfrm>
            <a:prstGeom prst="rect">
              <a:avLst/>
            </a:prstGeom>
            <a:noFill/>
            <a:ln w="9525">
              <a:noFill/>
            </a:ln>
          </p:spPr>
          <p:txBody>
            <a:bodyPr wrap="square" anchor="t" anchorCtr="0">
              <a:spAutoFit/>
            </a:bodyPr>
            <a:p>
              <a:pPr eaLnBrk="0" hangingPunct="0"/>
              <a:r>
                <a:rPr lang="zh-CN" altLang="en-US" sz="2400" b="1" dirty="0">
                  <a:solidFill>
                    <a:srgbClr val="000066"/>
                  </a:solidFill>
                  <a:latin typeface="楷体_GB2312" pitchFamily="49" charset="-122"/>
                  <a:ea typeface="楷体_GB2312" pitchFamily="49" charset="-122"/>
                </a:rPr>
                <a:t>截止</a:t>
              </a:r>
              <a:endParaRPr lang="zh-CN" altLang="en-US" sz="2400" b="1" dirty="0">
                <a:solidFill>
                  <a:srgbClr val="000066"/>
                </a:solidFill>
                <a:latin typeface="楷体_GB2312" pitchFamily="49" charset="-122"/>
                <a:ea typeface="楷体_GB2312" pitchFamily="49" charset="-122"/>
              </a:endParaRPr>
            </a:p>
          </p:txBody>
        </p:sp>
        <p:sp>
          <p:nvSpPr>
            <p:cNvPr id="33910" name="文本框 419948"/>
            <p:cNvSpPr txBox="1"/>
            <p:nvPr/>
          </p:nvSpPr>
          <p:spPr>
            <a:xfrm>
              <a:off x="4611" y="2795"/>
              <a:ext cx="586" cy="290"/>
            </a:xfrm>
            <a:prstGeom prst="rect">
              <a:avLst/>
            </a:prstGeom>
            <a:noFill/>
            <a:ln w="9525">
              <a:noFill/>
            </a:ln>
          </p:spPr>
          <p:txBody>
            <a:bodyPr anchor="t" anchorCtr="0">
              <a:spAutoFit/>
            </a:bodyPr>
            <a:p>
              <a:pPr eaLnBrk="0" hangingPunct="0"/>
              <a:r>
                <a:rPr lang="zh-CN" altLang="en-US" sz="2400" b="1" dirty="0">
                  <a:solidFill>
                    <a:srgbClr val="000066"/>
                  </a:solidFill>
                  <a:latin typeface="Times New Roman" panose="02020603050405020304" charset="0"/>
                  <a:ea typeface="楷体_GB2312" pitchFamily="49" charset="-122"/>
                </a:rPr>
                <a:t>截止</a:t>
              </a:r>
              <a:endParaRPr lang="zh-CN" altLang="en-US" sz="2400" b="1" dirty="0">
                <a:solidFill>
                  <a:srgbClr val="000066"/>
                </a:solidFill>
                <a:latin typeface="Times New Roman" panose="02020603050405020304" charset="0"/>
                <a:ea typeface="楷体_GB2312" pitchFamily="49" charset="-122"/>
              </a:endParaRPr>
            </a:p>
          </p:txBody>
        </p:sp>
        <p:sp>
          <p:nvSpPr>
            <p:cNvPr id="33911" name="文本框 419954"/>
            <p:cNvSpPr txBox="1"/>
            <p:nvPr/>
          </p:nvSpPr>
          <p:spPr>
            <a:xfrm>
              <a:off x="3150" y="2791"/>
              <a:ext cx="501" cy="290"/>
            </a:xfrm>
            <a:prstGeom prst="rect">
              <a:avLst/>
            </a:prstGeom>
            <a:noFill/>
            <a:ln w="9525">
              <a:noFill/>
            </a:ln>
          </p:spPr>
          <p:txBody>
            <a:bodyPr wrap="none" anchor="t" anchorCtr="0">
              <a:spAutoFit/>
            </a:bodyPr>
            <a:p>
              <a:pPr eaLnBrk="0" hangingPunct="0"/>
              <a:r>
                <a:rPr lang="zh-CN" altLang="en-US" sz="2400" b="1" dirty="0">
                  <a:solidFill>
                    <a:srgbClr val="000066"/>
                  </a:solidFill>
                  <a:latin typeface="楷体_GB2312" pitchFamily="49" charset="-122"/>
                  <a:ea typeface="楷体_GB2312" pitchFamily="49" charset="-122"/>
                </a:rPr>
                <a:t>导通</a:t>
              </a:r>
              <a:endParaRPr lang="zh-CN" altLang="en-US" sz="2400" b="1" dirty="0">
                <a:solidFill>
                  <a:srgbClr val="000066"/>
                </a:solidFill>
                <a:latin typeface="楷体_GB2312" pitchFamily="49" charset="-122"/>
                <a:ea typeface="楷体_GB2312" pitchFamily="49" charset="-122"/>
              </a:endParaRPr>
            </a:p>
          </p:txBody>
        </p:sp>
        <p:sp>
          <p:nvSpPr>
            <p:cNvPr id="33912" name="文本框 419955"/>
            <p:cNvSpPr txBox="1"/>
            <p:nvPr/>
          </p:nvSpPr>
          <p:spPr>
            <a:xfrm>
              <a:off x="4134" y="2795"/>
              <a:ext cx="610" cy="290"/>
            </a:xfrm>
            <a:prstGeom prst="rect">
              <a:avLst/>
            </a:prstGeom>
            <a:noFill/>
            <a:ln w="9525">
              <a:noFill/>
            </a:ln>
          </p:spPr>
          <p:txBody>
            <a:bodyPr wrap="square" anchor="t" anchorCtr="0">
              <a:spAutoFit/>
            </a:bodyPr>
            <a:p>
              <a:pPr eaLnBrk="0" hangingPunct="0"/>
              <a:r>
                <a:rPr lang="zh-CN" altLang="en-US" sz="2400" b="1" dirty="0">
                  <a:solidFill>
                    <a:srgbClr val="000066"/>
                  </a:solidFill>
                  <a:latin typeface="楷体_GB2312" pitchFamily="49" charset="-122"/>
                  <a:ea typeface="楷体_GB2312" pitchFamily="49" charset="-122"/>
                </a:rPr>
                <a:t>导通</a:t>
              </a:r>
              <a:endParaRPr lang="zh-CN" altLang="en-US" sz="2400" b="1" dirty="0">
                <a:solidFill>
                  <a:srgbClr val="000066"/>
                </a:solidFill>
                <a:latin typeface="楷体_GB2312" pitchFamily="49" charset="-122"/>
                <a:ea typeface="楷体_GB2312" pitchFamily="49" charset="-122"/>
              </a:endParaRPr>
            </a:p>
          </p:txBody>
        </p:sp>
      </p:grpSp>
      <p:sp>
        <p:nvSpPr>
          <p:cNvPr id="35" name="文本框 34"/>
          <p:cNvSpPr txBox="1"/>
          <p:nvPr/>
        </p:nvSpPr>
        <p:spPr>
          <a:xfrm>
            <a:off x="8077200" y="3773488"/>
            <a:ext cx="335280" cy="460375"/>
          </a:xfrm>
          <a:prstGeom prst="rect">
            <a:avLst/>
          </a:prstGeom>
          <a:noFill/>
          <a:ln w="9525">
            <a:noFill/>
          </a:ln>
        </p:spPr>
        <p:txBody>
          <a:bodyPr wrap="none" anchor="t" anchorCtr="0">
            <a:spAutoFit/>
          </a:bodyPr>
          <a:p>
            <a:pPr eaLnBrk="0" hangingPunct="0"/>
            <a:r>
              <a:rPr lang="en-US" altLang="zh-CN" sz="2400" b="1">
                <a:solidFill>
                  <a:srgbClr val="000066"/>
                </a:solidFill>
                <a:latin typeface="Times New Roman" panose="02020603050405020304" charset="0"/>
                <a:ea typeface="楷体_GB2312" pitchFamily="49" charset="-122"/>
              </a:rPr>
              <a:t>1</a:t>
            </a:r>
            <a:endParaRPr lang="en-US" altLang="zh-CN" sz="2400" b="1">
              <a:solidFill>
                <a:srgbClr val="000066"/>
              </a:solidFill>
              <a:latin typeface="Times New Roman" panose="02020603050405020304" charset="0"/>
              <a:ea typeface="楷体_GB2312" pitchFamily="49" charset="-122"/>
            </a:endParaRPr>
          </a:p>
        </p:txBody>
      </p:sp>
      <p:sp>
        <p:nvSpPr>
          <p:cNvPr id="36" name="文本框 35"/>
          <p:cNvSpPr txBox="1"/>
          <p:nvPr/>
        </p:nvSpPr>
        <p:spPr>
          <a:xfrm>
            <a:off x="8077200" y="4306888"/>
            <a:ext cx="335280" cy="460375"/>
          </a:xfrm>
          <a:prstGeom prst="rect">
            <a:avLst/>
          </a:prstGeom>
          <a:noFill/>
          <a:ln w="9525">
            <a:noFill/>
          </a:ln>
        </p:spPr>
        <p:txBody>
          <a:bodyPr wrap="none" anchor="t" anchorCtr="0">
            <a:spAutoFit/>
          </a:bodyPr>
          <a:p>
            <a:pPr eaLnBrk="0" hangingPunct="0"/>
            <a:r>
              <a:rPr lang="en-US" altLang="zh-CN" sz="2400" b="1">
                <a:solidFill>
                  <a:srgbClr val="000066"/>
                </a:solidFill>
                <a:latin typeface="Times New Roman" panose="02020603050405020304" charset="0"/>
                <a:ea typeface="楷体_GB2312" pitchFamily="49" charset="-122"/>
              </a:rPr>
              <a:t>0</a:t>
            </a:r>
            <a:endParaRPr lang="en-US" altLang="zh-CN" sz="2400" b="1">
              <a:solidFill>
                <a:srgbClr val="000066"/>
              </a:solidFill>
              <a:latin typeface="Times New Roman" panose="02020603050405020304" charset="0"/>
              <a:ea typeface="楷体_GB2312" pitchFamily="49" charset="-122"/>
            </a:endParaRPr>
          </a:p>
        </p:txBody>
      </p:sp>
      <p:sp>
        <p:nvSpPr>
          <p:cNvPr id="37" name="文本框 36"/>
          <p:cNvSpPr txBox="1"/>
          <p:nvPr/>
        </p:nvSpPr>
        <p:spPr>
          <a:xfrm>
            <a:off x="8077200" y="4926013"/>
            <a:ext cx="335280" cy="460375"/>
          </a:xfrm>
          <a:prstGeom prst="rect">
            <a:avLst/>
          </a:prstGeom>
          <a:noFill/>
          <a:ln w="9525">
            <a:noFill/>
          </a:ln>
        </p:spPr>
        <p:txBody>
          <a:bodyPr wrap="none" anchor="t" anchorCtr="0">
            <a:spAutoFit/>
          </a:bodyPr>
          <a:p>
            <a:pPr eaLnBrk="0" hangingPunct="0"/>
            <a:r>
              <a:rPr lang="en-US" altLang="zh-CN" sz="2400" b="1">
                <a:solidFill>
                  <a:srgbClr val="000066"/>
                </a:solidFill>
                <a:latin typeface="Times New Roman" panose="02020603050405020304" charset="0"/>
                <a:ea typeface="楷体_GB2312" pitchFamily="49" charset="-122"/>
              </a:rPr>
              <a:t>0</a:t>
            </a:r>
            <a:endParaRPr lang="en-US" altLang="zh-CN" sz="2400" b="1">
              <a:solidFill>
                <a:srgbClr val="000066"/>
              </a:solidFill>
              <a:latin typeface="Times New Roman" panose="02020603050405020304" charset="0"/>
              <a:ea typeface="楷体_GB2312" pitchFamily="49" charset="-122"/>
            </a:endParaRPr>
          </a:p>
        </p:txBody>
      </p:sp>
      <p:sp>
        <p:nvSpPr>
          <p:cNvPr id="38" name="文本框 37"/>
          <p:cNvSpPr txBox="1"/>
          <p:nvPr/>
        </p:nvSpPr>
        <p:spPr>
          <a:xfrm>
            <a:off x="8078788" y="5492750"/>
            <a:ext cx="335280" cy="460375"/>
          </a:xfrm>
          <a:prstGeom prst="rect">
            <a:avLst/>
          </a:prstGeom>
          <a:noFill/>
          <a:ln w="9525">
            <a:noFill/>
          </a:ln>
        </p:spPr>
        <p:txBody>
          <a:bodyPr wrap="none" anchor="t" anchorCtr="0">
            <a:spAutoFit/>
          </a:bodyPr>
          <a:p>
            <a:pPr eaLnBrk="0" hangingPunct="0"/>
            <a:r>
              <a:rPr lang="en-US" altLang="zh-CN" sz="2400" b="1">
                <a:solidFill>
                  <a:srgbClr val="000066"/>
                </a:solidFill>
                <a:latin typeface="Times New Roman" panose="02020603050405020304" charset="0"/>
                <a:ea typeface="楷体_GB2312" pitchFamily="49" charset="-122"/>
              </a:rPr>
              <a:t>0</a:t>
            </a:r>
            <a:endParaRPr lang="en-US" altLang="zh-CN" sz="2400" b="1">
              <a:solidFill>
                <a:srgbClr val="000066"/>
              </a:solidFill>
              <a:latin typeface="Times New Roman" panose="0202060305040502030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up)">
                                      <p:cBhvr>
                                        <p:cTn id="13" dur="5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25" presetClass="entr" presetSubtype="0" fill="hold" nodeType="clickEffect">
                                  <p:stCondLst>
                                    <p:cond delay="0"/>
                                  </p:stCondLst>
                                  <p:childTnLst>
                                    <p:set>
                                      <p:cBhvr>
                                        <p:cTn id="17" dur="1" fill="hold">
                                          <p:stCondLst>
                                            <p:cond delay="0"/>
                                          </p:stCondLst>
                                        </p:cTn>
                                        <p:tgtEl>
                                          <p:spTgt spid="20"/>
                                        </p:tgtEl>
                                        <p:attrNameLst>
                                          <p:attrName>style.visibility</p:attrName>
                                        </p:attrNameLst>
                                      </p:cBhvr>
                                      <p:to>
                                        <p:strVal val="visible"/>
                                      </p:to>
                                    </p:set>
                                    <p:anim calcmode="lin" valueType="num">
                                      <p:cBhvr>
                                        <p:cTn id="18" dur="500" decel="50000" fill="hold">
                                          <p:stCondLst>
                                            <p:cond delay="0"/>
                                          </p:stCondLst>
                                        </p:cTn>
                                        <p:tgtEl>
                                          <p:spTgt spid="20"/>
                                        </p:tgtEl>
                                        <p:attrNameLst>
                                          <p:attrName>style.rotation</p:attrName>
                                        </p:attrNameLst>
                                      </p:cBhvr>
                                      <p:tavLst>
                                        <p:tav tm="0">
                                          <p:val>
                                            <p:fltVal val="-90.000000"/>
                                          </p:val>
                                        </p:tav>
                                        <p:tav tm="100000">
                                          <p:val>
                                            <p:fltVal val="0.000000"/>
                                          </p:val>
                                        </p:tav>
                                      </p:tavLst>
                                    </p:anim>
                                    <p:anim calcmode="lin" valueType="num">
                                      <p:cBhvr>
                                        <p:cTn id="19" dur="500" decel="50000" fill="hold">
                                          <p:stCondLst>
                                            <p:cond delay="0"/>
                                          </p:stCondLst>
                                        </p:cTn>
                                        <p:tgtEl>
                                          <p:spTgt spid="20"/>
                                        </p:tgtEl>
                                        <p:attrNameLst>
                                          <p:attrName>ppt_w</p:attrName>
                                        </p:attrNameLst>
                                      </p:cBhvr>
                                      <p:tavLst>
                                        <p:tav tm="0">
                                          <p:val>
                                            <p:strVal val="#ppt_w"/>
                                          </p:val>
                                        </p:tav>
                                        <p:tav tm="100000">
                                          <p:val>
                                            <p:strVal val="#ppt_w*.05"/>
                                          </p:val>
                                        </p:tav>
                                      </p:tavLst>
                                    </p:anim>
                                    <p:anim calcmode="lin" valueType="num">
                                      <p:cBhvr>
                                        <p:cTn id="20" dur="500" accel="50000" fill="hold">
                                          <p:stCondLst>
                                            <p:cond delay="500"/>
                                          </p:stCondLst>
                                        </p:cTn>
                                        <p:tgtEl>
                                          <p:spTgt spid="20"/>
                                        </p:tgtEl>
                                        <p:attrNameLst>
                                          <p:attrName>ppt_w</p:attrName>
                                        </p:attrNameLst>
                                      </p:cBhvr>
                                      <p:tavLst>
                                        <p:tav tm="0">
                                          <p:val>
                                            <p:strVal val="#ppt_w*.05"/>
                                          </p:val>
                                        </p:tav>
                                        <p:tav tm="100000">
                                          <p:val>
                                            <p:strVal val="#ppt_w"/>
                                          </p:val>
                                        </p:tav>
                                      </p:tavLst>
                                    </p:anim>
                                    <p:anim calcmode="lin" valueType="num">
                                      <p:cBhvr>
                                        <p:cTn id="21" dur="1000" fill="hold"/>
                                        <p:tgtEl>
                                          <p:spTgt spid="20"/>
                                        </p:tgtEl>
                                        <p:attrNameLst>
                                          <p:attrName>ppt_h</p:attrName>
                                        </p:attrNameLst>
                                      </p:cBhvr>
                                      <p:tavLst>
                                        <p:tav tm="0">
                                          <p:val>
                                            <p:strVal val="#ppt_h"/>
                                          </p:val>
                                        </p:tav>
                                        <p:tav tm="100000">
                                          <p:val>
                                            <p:strVal val="#ppt_h"/>
                                          </p:val>
                                        </p:tav>
                                      </p:tavLst>
                                    </p:anim>
                                    <p:anim calcmode="lin" valueType="num">
                                      <p:cBhvr>
                                        <p:cTn id="22" dur="500" decel="50000" fill="hold">
                                          <p:stCondLst>
                                            <p:cond delay="0"/>
                                          </p:stCondLst>
                                        </p:cTn>
                                        <p:tgtEl>
                                          <p:spTgt spid="20"/>
                                        </p:tgtEl>
                                        <p:attrNameLst>
                                          <p:attrName>ppt_x</p:attrName>
                                        </p:attrNameLst>
                                      </p:cBhvr>
                                      <p:tavLst>
                                        <p:tav tm="0">
                                          <p:val>
                                            <p:strVal val="#ppt_x+.4"/>
                                          </p:val>
                                        </p:tav>
                                        <p:tav tm="100000">
                                          <p:val>
                                            <p:strVal val="#ppt_x"/>
                                          </p:val>
                                        </p:tav>
                                      </p:tavLst>
                                    </p:anim>
                                    <p:anim calcmode="lin" valueType="num">
                                      <p:cBhvr>
                                        <p:cTn id="23" dur="500" decel="50000" fill="hold">
                                          <p:stCondLst>
                                            <p:cond delay="0"/>
                                          </p:stCondLst>
                                        </p:cTn>
                                        <p:tgtEl>
                                          <p:spTgt spid="20"/>
                                        </p:tgtEl>
                                        <p:attrNameLst>
                                          <p:attrName>ppt_y</p:attrName>
                                        </p:attrNameLst>
                                      </p:cBhvr>
                                      <p:tavLst>
                                        <p:tav tm="0">
                                          <p:val>
                                            <p:strVal val="#ppt_y-.2"/>
                                          </p:val>
                                        </p:tav>
                                        <p:tav tm="100000">
                                          <p:val>
                                            <p:strVal val="#ppt_y+.1"/>
                                          </p:val>
                                        </p:tav>
                                      </p:tavLst>
                                    </p:anim>
                                    <p:anim calcmode="lin" valueType="num">
                                      <p:cBhvr>
                                        <p:cTn id="24" dur="500" accel="50000" fill="hold">
                                          <p:stCondLst>
                                            <p:cond delay="500"/>
                                          </p:stCondLst>
                                        </p:cTn>
                                        <p:tgtEl>
                                          <p:spTgt spid="20"/>
                                        </p:tgtEl>
                                        <p:attrNameLst>
                                          <p:attrName>ppt_y</p:attrName>
                                        </p:attrNameLst>
                                      </p:cBhvr>
                                      <p:tavLst>
                                        <p:tav tm="0">
                                          <p:val>
                                            <p:strVal val="#ppt_y+.1"/>
                                          </p:val>
                                        </p:tav>
                                        <p:tav tm="100000">
                                          <p:val>
                                            <p:strVal val="#ppt_y"/>
                                          </p:val>
                                        </p:tav>
                                      </p:tavLst>
                                    </p:anim>
                                    <p:animEffect transition="in" filter="fade">
                                      <p:cBhvr>
                                        <p:cTn id="25" dur="1000" decel="50000">
                                          <p:stCondLst>
                                            <p:cond delay="0"/>
                                          </p:stCondLst>
                                        </p:cTn>
                                        <p:tgtEl>
                                          <p:spTgt spid="20"/>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5"/>
                                        </p:tgtEl>
                                        <p:attrNameLst>
                                          <p:attrName>style.visibility</p:attrName>
                                        </p:attrNameLst>
                                      </p:cBhvr>
                                      <p:to>
                                        <p:strVal val="visible"/>
                                      </p:to>
                                    </p:set>
                                    <p:anim calcmode="lin" valueType="num">
                                      <p:cBhvr additive="base">
                                        <p:cTn id="30" dur="500" fill="hold"/>
                                        <p:tgtEl>
                                          <p:spTgt spid="35"/>
                                        </p:tgtEl>
                                        <p:attrNameLst>
                                          <p:attrName>ppt_x</p:attrName>
                                        </p:attrNameLst>
                                      </p:cBhvr>
                                      <p:tavLst>
                                        <p:tav tm="0">
                                          <p:val>
                                            <p:strVal val="#ppt_x"/>
                                          </p:val>
                                        </p:tav>
                                        <p:tav tm="100000">
                                          <p:val>
                                            <p:strVal val="#ppt_x"/>
                                          </p:val>
                                        </p:tav>
                                      </p:tavLst>
                                    </p:anim>
                                    <p:anim calcmode="lin" valueType="num">
                                      <p:cBhvr additive="base">
                                        <p:cTn id="31"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1" presetClass="entr" presetSubtype="4" fill="hold" nodeType="click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wheel(4)">
                                      <p:cBhvr>
                                        <p:cTn id="36" dur="500"/>
                                        <p:tgtEl>
                                          <p:spTgt spid="25"/>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6"/>
                                        </p:tgtEl>
                                        <p:attrNameLst>
                                          <p:attrName>style.visibility</p:attrName>
                                        </p:attrNameLst>
                                      </p:cBhvr>
                                      <p:to>
                                        <p:strVal val="visible"/>
                                      </p:to>
                                    </p:set>
                                    <p:anim calcmode="lin" valueType="num">
                                      <p:cBhvr additive="base">
                                        <p:cTn id="41" dur="500" fill="hold"/>
                                        <p:tgtEl>
                                          <p:spTgt spid="36"/>
                                        </p:tgtEl>
                                        <p:attrNameLst>
                                          <p:attrName>ppt_x</p:attrName>
                                        </p:attrNameLst>
                                      </p:cBhvr>
                                      <p:tavLst>
                                        <p:tav tm="0">
                                          <p:val>
                                            <p:strVal val="#ppt_x"/>
                                          </p:val>
                                        </p:tav>
                                        <p:tav tm="100000">
                                          <p:val>
                                            <p:strVal val="#ppt_x"/>
                                          </p:val>
                                        </p:tav>
                                      </p:tavLst>
                                    </p:anim>
                                    <p:anim calcmode="lin" valueType="num">
                                      <p:cBhvr additive="base">
                                        <p:cTn id="42"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7" presetClass="entr" presetSubtype="10" fill="hold" nodeType="clickEffect">
                                  <p:stCondLst>
                                    <p:cond delay="0"/>
                                  </p:stCondLst>
                                  <p:childTnLst>
                                    <p:set>
                                      <p:cBhvr>
                                        <p:cTn id="46" dur="1" fill="hold">
                                          <p:stCondLst>
                                            <p:cond delay="0"/>
                                          </p:stCondLst>
                                        </p:cTn>
                                        <p:tgtEl>
                                          <p:spTgt spid="30"/>
                                        </p:tgtEl>
                                        <p:attrNameLst>
                                          <p:attrName>style.visibility</p:attrName>
                                        </p:attrNameLst>
                                      </p:cBhvr>
                                      <p:to>
                                        <p:strVal val="visible"/>
                                      </p:to>
                                    </p:set>
                                    <p:anim calcmode="lin" valueType="num">
                                      <p:cBhvr>
                                        <p:cTn id="47" dur="500" fill="hold"/>
                                        <p:tgtEl>
                                          <p:spTgt spid="30"/>
                                        </p:tgtEl>
                                        <p:attrNameLst>
                                          <p:attrName>ppt_w</p:attrName>
                                        </p:attrNameLst>
                                      </p:cBhvr>
                                      <p:tavLst>
                                        <p:tav tm="0">
                                          <p:val>
                                            <p:fltVal val="0.000000"/>
                                          </p:val>
                                        </p:tav>
                                        <p:tav tm="100000">
                                          <p:val>
                                            <p:strVal val="#ppt_w"/>
                                          </p:val>
                                        </p:tav>
                                      </p:tavLst>
                                    </p:anim>
                                    <p:anim calcmode="lin" valueType="num">
                                      <p:cBhvr>
                                        <p:cTn id="48" dur="500" fill="hold"/>
                                        <p:tgtEl>
                                          <p:spTgt spid="30"/>
                                        </p:tgtEl>
                                        <p:attrNameLst>
                                          <p:attrName>ppt_h</p:attrName>
                                        </p:attrNameLst>
                                      </p:cBhvr>
                                      <p:tavLst>
                                        <p:tav tm="0">
                                          <p:val>
                                            <p:strVal val="#ppt_h"/>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53" presetClass="entr" presetSubtype="16" fill="hold" grpId="0" nodeType="clickEffect">
                                  <p:stCondLst>
                                    <p:cond delay="0"/>
                                  </p:stCondLst>
                                  <p:childTnLst>
                                    <p:set>
                                      <p:cBhvr>
                                        <p:cTn id="52" dur="1" fill="hold">
                                          <p:stCondLst>
                                            <p:cond delay="0"/>
                                          </p:stCondLst>
                                        </p:cTn>
                                        <p:tgtEl>
                                          <p:spTgt spid="37"/>
                                        </p:tgtEl>
                                        <p:attrNameLst>
                                          <p:attrName>style.visibility</p:attrName>
                                        </p:attrNameLst>
                                      </p:cBhvr>
                                      <p:to>
                                        <p:strVal val="visible"/>
                                      </p:to>
                                    </p:set>
                                    <p:anim calcmode="lin" valueType="num">
                                      <p:cBhvr>
                                        <p:cTn id="53" dur="500" fill="hold"/>
                                        <p:tgtEl>
                                          <p:spTgt spid="37"/>
                                        </p:tgtEl>
                                        <p:attrNameLst>
                                          <p:attrName>ppt_w</p:attrName>
                                        </p:attrNameLst>
                                      </p:cBhvr>
                                      <p:tavLst>
                                        <p:tav tm="0">
                                          <p:val>
                                            <p:fltVal val="0.000000"/>
                                          </p:val>
                                        </p:tav>
                                        <p:tav tm="100000">
                                          <p:val>
                                            <p:strVal val="#ppt_w"/>
                                          </p:val>
                                        </p:tav>
                                      </p:tavLst>
                                    </p:anim>
                                    <p:anim calcmode="lin" valueType="num">
                                      <p:cBhvr>
                                        <p:cTn id="54" dur="500" fill="hold"/>
                                        <p:tgtEl>
                                          <p:spTgt spid="37"/>
                                        </p:tgtEl>
                                        <p:attrNameLst>
                                          <p:attrName>ppt_h</p:attrName>
                                        </p:attrNameLst>
                                      </p:cBhvr>
                                      <p:tavLst>
                                        <p:tav tm="0">
                                          <p:val>
                                            <p:fltVal val="0.000000"/>
                                          </p:val>
                                        </p:tav>
                                        <p:tav tm="100000">
                                          <p:val>
                                            <p:strVal val="#ppt_h"/>
                                          </p:val>
                                        </p:tav>
                                      </p:tavLst>
                                    </p:anim>
                                    <p:animEffect transition="in" filter="fade">
                                      <p:cBhvr>
                                        <p:cTn id="55" dur="500"/>
                                        <p:tgtEl>
                                          <p:spTgt spid="37"/>
                                        </p:tgtEl>
                                      </p:cBhvr>
                                    </p:animEffect>
                                  </p:childTnLst>
                                </p:cTn>
                              </p:par>
                            </p:childTnLst>
                          </p:cTn>
                        </p:par>
                      </p:childTnLst>
                    </p:cTn>
                  </p:par>
                  <p:par>
                    <p:cTn id="56" fill="hold">
                      <p:stCondLst>
                        <p:cond delay="indefinite"/>
                      </p:stCondLst>
                      <p:childTnLst>
                        <p:par>
                          <p:cTn id="57" fill="hold">
                            <p:stCondLst>
                              <p:cond delay="0"/>
                            </p:stCondLst>
                            <p:childTnLst>
                              <p:par>
                                <p:cTn id="58" presetID="13" presetClass="entr" presetSubtype="16" fill="hold" nodeType="clickEffect">
                                  <p:stCondLst>
                                    <p:cond delay="0"/>
                                  </p:stCondLst>
                                  <p:childTnLst>
                                    <p:set>
                                      <p:cBhvr>
                                        <p:cTn id="59" dur="1" fill="hold">
                                          <p:stCondLst>
                                            <p:cond delay="0"/>
                                          </p:stCondLst>
                                        </p:cTn>
                                        <p:tgtEl>
                                          <p:spTgt spid="419998"/>
                                        </p:tgtEl>
                                        <p:attrNameLst>
                                          <p:attrName>style.visibility</p:attrName>
                                        </p:attrNameLst>
                                      </p:cBhvr>
                                      <p:to>
                                        <p:strVal val="visible"/>
                                      </p:to>
                                    </p:set>
                                    <p:animEffect transition="in" filter="plus(in)">
                                      <p:cBhvr>
                                        <p:cTn id="60" dur="500"/>
                                        <p:tgtEl>
                                          <p:spTgt spid="419998"/>
                                        </p:tgtEl>
                                      </p:cBhvr>
                                    </p:animEffect>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38"/>
                                        </p:tgtEl>
                                        <p:attrNameLst>
                                          <p:attrName>style.visibility</p:attrName>
                                        </p:attrNameLst>
                                      </p:cBhvr>
                                      <p:to>
                                        <p:strVal val="visible"/>
                                      </p:to>
                                    </p:set>
                                    <p:anim calcmode="lin" valueType="num">
                                      <p:cBhvr additive="base">
                                        <p:cTn id="65" dur="500" fill="hold"/>
                                        <p:tgtEl>
                                          <p:spTgt spid="38"/>
                                        </p:tgtEl>
                                        <p:attrNameLst>
                                          <p:attrName>ppt_x</p:attrName>
                                        </p:attrNameLst>
                                      </p:cBhvr>
                                      <p:tavLst>
                                        <p:tav tm="0">
                                          <p:val>
                                            <p:strVal val="#ppt_x"/>
                                          </p:val>
                                        </p:tav>
                                        <p:tav tm="100000">
                                          <p:val>
                                            <p:strVal val="#ppt_x"/>
                                          </p:val>
                                        </p:tav>
                                      </p:tavLst>
                                    </p:anim>
                                    <p:anim calcmode="lin" valueType="num">
                                      <p:cBhvr additive="base">
                                        <p:cTn id="66"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9" presetClass="entr" presetSubtype="0" decel="100000" fill="hold" grpId="0" nodeType="clickEffect">
                                  <p:stCondLst>
                                    <p:cond delay="0"/>
                                  </p:stCondLst>
                                  <p:childTnLst>
                                    <p:set>
                                      <p:cBhvr>
                                        <p:cTn id="70" dur="1" fill="hold">
                                          <p:stCondLst>
                                            <p:cond delay="0"/>
                                          </p:stCondLst>
                                        </p:cTn>
                                        <p:tgtEl>
                                          <p:spTgt spid="2"/>
                                        </p:tgtEl>
                                        <p:attrNameLst>
                                          <p:attrName>style.visibility</p:attrName>
                                        </p:attrNameLst>
                                      </p:cBhvr>
                                      <p:to>
                                        <p:strVal val="visible"/>
                                      </p:to>
                                    </p:set>
                                    <p:anim calcmode="lin" valueType="num">
                                      <p:cBhvr>
                                        <p:cTn id="71" dur="500" fill="hold"/>
                                        <p:tgtEl>
                                          <p:spTgt spid="2"/>
                                        </p:tgtEl>
                                        <p:attrNameLst>
                                          <p:attrName>ppt_w</p:attrName>
                                        </p:attrNameLst>
                                      </p:cBhvr>
                                      <p:tavLst>
                                        <p:tav tm="0">
                                          <p:val>
                                            <p:fltVal val="0"/>
                                          </p:val>
                                        </p:tav>
                                        <p:tav tm="100000">
                                          <p:val>
                                            <p:strVal val="#ppt_w"/>
                                          </p:val>
                                        </p:tav>
                                      </p:tavLst>
                                    </p:anim>
                                    <p:anim calcmode="lin" valueType="num">
                                      <p:cBhvr>
                                        <p:cTn id="72" dur="500" fill="hold"/>
                                        <p:tgtEl>
                                          <p:spTgt spid="2"/>
                                        </p:tgtEl>
                                        <p:attrNameLst>
                                          <p:attrName>ppt_h</p:attrName>
                                        </p:attrNameLst>
                                      </p:cBhvr>
                                      <p:tavLst>
                                        <p:tav tm="0">
                                          <p:val>
                                            <p:fltVal val="0"/>
                                          </p:val>
                                        </p:tav>
                                        <p:tav tm="100000">
                                          <p:val>
                                            <p:strVal val="#ppt_h"/>
                                          </p:val>
                                        </p:tav>
                                      </p:tavLst>
                                    </p:anim>
                                    <p:anim calcmode="lin" valueType="num">
                                      <p:cBhvr>
                                        <p:cTn id="73" dur="500" fill="hold"/>
                                        <p:tgtEl>
                                          <p:spTgt spid="2"/>
                                        </p:tgtEl>
                                        <p:attrNameLst>
                                          <p:attrName>style.rotation</p:attrName>
                                        </p:attrNameLst>
                                      </p:cBhvr>
                                      <p:tavLst>
                                        <p:tav tm="0">
                                          <p:val>
                                            <p:fltVal val="360"/>
                                          </p:val>
                                        </p:tav>
                                        <p:tav tm="100000">
                                          <p:val>
                                            <p:fltVal val="0"/>
                                          </p:val>
                                        </p:tav>
                                      </p:tavLst>
                                    </p:anim>
                                    <p:animEffect transition="in" filter="fade">
                                      <p:cBhvr>
                                        <p:cTn id="7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P spid="38" grpId="0"/>
      <p:bldP spid="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3.3 </a:t>
            </a:r>
            <a:r>
              <a:rPr b="1" dirty="0">
                <a:solidFill>
                  <a:srgbClr val="FF0000"/>
                </a:solidFill>
                <a:latin typeface="黑体" panose="02010609060101010101" pitchFamily="49" charset="-122"/>
                <a:ea typeface="黑体" panose="02010609060101010101" pitchFamily="49" charset="-122"/>
              </a:rPr>
              <a:t>COMS逻辑门电路</a:t>
            </a:r>
            <a:endParaRPr b="1" dirty="0">
              <a:solidFill>
                <a:srgbClr val="FF000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457200" y="1295400"/>
            <a:ext cx="8385175" cy="899795"/>
          </a:xfrm>
        </p:spPr>
        <p:txBody>
          <a:bodyPr vert="horz" wrap="square" lIns="91440" tIns="45720" rIns="91440" bIns="45720" anchor="t" anchorCtr="0"/>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ea typeface="楷体_GB2312" pitchFamily="49" charset="-122"/>
              </a:rPr>
              <a:t>【例3-3】分析图3-48所示的电路，写出输出信号Y的逻辑表达式，并说明其逻辑功能。</a:t>
            </a:r>
            <a:endParaRPr lang="zh-CN" altLang="en-US" sz="2400" b="1" kern="1200" dirty="0">
              <a:solidFill>
                <a:srgbClr val="000066"/>
              </a:solidFill>
              <a:ea typeface="楷体_GB2312" pitchFamily="49" charset="-122"/>
            </a:endParaRPr>
          </a:p>
        </p:txBody>
      </p:sp>
      <p:pic>
        <p:nvPicPr>
          <p:cNvPr id="9272" name="图片 2709"/>
          <p:cNvPicPr>
            <a:picLocks noChangeAspect="1"/>
          </p:cNvPicPr>
          <p:nvPr/>
        </p:nvPicPr>
        <p:blipFill>
          <a:blip r:embed="rId1"/>
          <a:stretch>
            <a:fillRect/>
          </a:stretch>
        </p:blipFill>
        <p:spPr>
          <a:xfrm>
            <a:off x="838200" y="2209800"/>
            <a:ext cx="5124450" cy="3810000"/>
          </a:xfrm>
          <a:prstGeom prst="rect">
            <a:avLst/>
          </a:prstGeom>
          <a:noFill/>
          <a:ln>
            <a:noFill/>
          </a:ln>
        </p:spPr>
      </p:pic>
      <p:sp>
        <p:nvSpPr>
          <p:cNvPr id="2" name="Rectangle 3"/>
          <p:cNvSpPr>
            <a:spLocks noGrp="1"/>
          </p:cNvSpPr>
          <p:nvPr/>
        </p:nvSpPr>
        <p:spPr>
          <a:xfrm>
            <a:off x="5943600" y="4724400"/>
            <a:ext cx="2459990" cy="87884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00000"/>
              </a:lnSpc>
              <a:spcBef>
                <a:spcPts val="0"/>
              </a:spcBef>
              <a:buNone/>
            </a:pPr>
            <a:r>
              <a:rPr lang="zh-CN" altLang="en-US" sz="2400" b="1" dirty="0">
                <a:solidFill>
                  <a:srgbClr val="000066"/>
                </a:solidFill>
                <a:ea typeface="楷体_GB2312" pitchFamily="49" charset="-122"/>
              </a:rPr>
              <a:t>Y与A、B之间是</a:t>
            </a:r>
            <a:endParaRPr lang="zh-CN" altLang="en-US" sz="2400" b="1" dirty="0">
              <a:solidFill>
                <a:srgbClr val="000066"/>
              </a:solidFill>
              <a:ea typeface="楷体_GB2312" pitchFamily="49" charset="-122"/>
            </a:endParaRPr>
          </a:p>
          <a:p>
            <a:pPr marL="0" indent="0" algn="just" eaLnBrk="1" latinLnBrk="0" hangingPunct="1">
              <a:lnSpc>
                <a:spcPct val="100000"/>
              </a:lnSpc>
              <a:spcBef>
                <a:spcPts val="0"/>
              </a:spcBef>
              <a:buNone/>
            </a:pPr>
            <a:r>
              <a:rPr lang="zh-CN" altLang="en-US" sz="2400" b="1" dirty="0">
                <a:solidFill>
                  <a:srgbClr val="000066"/>
                </a:solidFill>
                <a:ea typeface="楷体_GB2312" pitchFamily="49" charset="-122"/>
              </a:rPr>
              <a:t>异或逻辑关系。</a:t>
            </a:r>
            <a:endParaRPr lang="zh-CN" altLang="en-US" sz="2400" b="1" dirty="0">
              <a:solidFill>
                <a:srgbClr val="000066"/>
              </a:solidFill>
              <a:ea typeface="楷体_GB2312" pitchFamily="49" charset="-122"/>
            </a:endParaRPr>
          </a:p>
        </p:txBody>
      </p:sp>
      <p:sp>
        <p:nvSpPr>
          <p:cNvPr id="100" name="文本框 99"/>
          <p:cNvSpPr txBox="1"/>
          <p:nvPr/>
        </p:nvSpPr>
        <p:spPr>
          <a:xfrm>
            <a:off x="2057400" y="5867400"/>
            <a:ext cx="2315845" cy="386080"/>
          </a:xfrm>
          <a:prstGeom prst="rect">
            <a:avLst/>
          </a:prstGeom>
          <a:noFill/>
          <a:ln w="9525">
            <a:noFill/>
          </a:ln>
        </p:spPr>
        <p:txBody>
          <a:bodyPr wrap="square">
            <a:spAutoFit/>
          </a:bodyPr>
          <a:p>
            <a:pPr>
              <a:lnSpc>
                <a:spcPct val="120000"/>
              </a:lnSpc>
            </a:pPr>
            <a:r>
              <a:rPr sz="1600">
                <a:ea typeface="宋体" panose="02010600030101010101" pitchFamily="2" charset="-122"/>
              </a:rPr>
              <a:t>图3-48 例3-3 逻辑电路</a:t>
            </a:r>
            <a:endParaRPr sz="1600">
              <a:ea typeface="宋体" panose="02010600030101010101" pitchFamily="2" charset="-122"/>
            </a:endParaRPr>
          </a:p>
        </p:txBody>
      </p:sp>
      <p:graphicFrame>
        <p:nvGraphicFramePr>
          <p:cNvPr id="40" name="对象 39">
            <a:hlinkClick r:id="" action="ppaction://ole?verb="/>
          </p:cNvPr>
          <p:cNvGraphicFramePr>
            <a:graphicFrameLocks noChangeAspect="1"/>
          </p:cNvGraphicFramePr>
          <p:nvPr/>
        </p:nvGraphicFramePr>
        <p:xfrm>
          <a:off x="6172200" y="3276600"/>
          <a:ext cx="716280" cy="336550"/>
        </p:xfrm>
        <a:graphic>
          <a:graphicData uri="http://schemas.openxmlformats.org/presentationml/2006/ole">
            <mc:AlternateContent xmlns:mc="http://schemas.openxmlformats.org/markup-compatibility/2006">
              <mc:Choice xmlns:v="urn:schemas-microsoft-com:vml" Requires="v">
                <p:oleObj spid="_x0000_s1025" name="" r:id="rId2" imgW="431800" imgH="203200" progId="Equation.KSEE3">
                  <p:embed/>
                </p:oleObj>
              </mc:Choice>
              <mc:Fallback>
                <p:oleObj name="" r:id="rId2" imgW="431800" imgH="203200" progId="Equation.KSEE3">
                  <p:embed/>
                  <p:pic>
                    <p:nvPicPr>
                      <p:cNvPr id="0" name="图片 1024"/>
                      <p:cNvPicPr/>
                      <p:nvPr/>
                    </p:nvPicPr>
                    <p:blipFill>
                      <a:blip r:embed="rId3"/>
                      <a:stretch>
                        <a:fillRect/>
                      </a:stretch>
                    </p:blipFill>
                    <p:spPr>
                      <a:xfrm>
                        <a:off x="6172200" y="3276600"/>
                        <a:ext cx="716280" cy="336550"/>
                      </a:xfrm>
                      <a:prstGeom prst="rect">
                        <a:avLst/>
                      </a:prstGeom>
                    </p:spPr>
                  </p:pic>
                </p:oleObj>
              </mc:Fallback>
            </mc:AlternateContent>
          </a:graphicData>
        </a:graphic>
      </p:graphicFrame>
      <p:graphicFrame>
        <p:nvGraphicFramePr>
          <p:cNvPr id="41" name="对象 40">
            <a:hlinkClick r:id="" action="ppaction://ole?verb="/>
          </p:cNvPr>
          <p:cNvGraphicFramePr>
            <a:graphicFrameLocks noChangeAspect="1"/>
          </p:cNvGraphicFramePr>
          <p:nvPr/>
        </p:nvGraphicFramePr>
        <p:xfrm>
          <a:off x="6213793" y="2889250"/>
          <a:ext cx="695325" cy="336550"/>
        </p:xfrm>
        <a:graphic>
          <a:graphicData uri="http://schemas.openxmlformats.org/presentationml/2006/ole">
            <mc:AlternateContent xmlns:mc="http://schemas.openxmlformats.org/markup-compatibility/2006">
              <mc:Choice xmlns:v="urn:schemas-microsoft-com:vml" Requires="v">
                <p:oleObj spid="_x0000_s3" name="" r:id="rId4" imgW="419100" imgH="203200" progId="Equation.KSEE3">
                  <p:embed/>
                </p:oleObj>
              </mc:Choice>
              <mc:Fallback>
                <p:oleObj name="" r:id="rId4" imgW="419100" imgH="203200" progId="Equation.KSEE3">
                  <p:embed/>
                  <p:pic>
                    <p:nvPicPr>
                      <p:cNvPr id="0" name="图片 1024"/>
                      <p:cNvPicPr/>
                      <p:nvPr/>
                    </p:nvPicPr>
                    <p:blipFill>
                      <a:blip r:embed="rId5"/>
                      <a:stretch>
                        <a:fillRect/>
                      </a:stretch>
                    </p:blipFill>
                    <p:spPr>
                      <a:xfrm>
                        <a:off x="6213793" y="2889250"/>
                        <a:ext cx="695325" cy="336550"/>
                      </a:xfrm>
                      <a:prstGeom prst="rect">
                        <a:avLst/>
                      </a:prstGeom>
                    </p:spPr>
                  </p:pic>
                </p:oleObj>
              </mc:Fallback>
            </mc:AlternateContent>
          </a:graphicData>
        </a:graphic>
      </p:graphicFrame>
      <p:graphicFrame>
        <p:nvGraphicFramePr>
          <p:cNvPr id="42" name="对象 41">
            <a:hlinkClick r:id="" action="ppaction://ole?verb="/>
          </p:cNvPr>
          <p:cNvGraphicFramePr>
            <a:graphicFrameLocks noChangeAspect="1"/>
          </p:cNvGraphicFramePr>
          <p:nvPr/>
        </p:nvGraphicFramePr>
        <p:xfrm>
          <a:off x="6171883" y="3733483"/>
          <a:ext cx="1369695" cy="379095"/>
        </p:xfrm>
        <a:graphic>
          <a:graphicData uri="http://schemas.openxmlformats.org/presentationml/2006/ole">
            <mc:AlternateContent xmlns:mc="http://schemas.openxmlformats.org/markup-compatibility/2006">
              <mc:Choice xmlns:v="urn:schemas-microsoft-com:vml" Requires="v">
                <p:oleObj spid="_x0000_s43" name="" r:id="rId6" imgW="825500" imgH="228600" progId="Equation.KSEE3">
                  <p:embed/>
                </p:oleObj>
              </mc:Choice>
              <mc:Fallback>
                <p:oleObj name="" r:id="rId6" imgW="825500" imgH="228600" progId="Equation.KSEE3">
                  <p:embed/>
                  <p:pic>
                    <p:nvPicPr>
                      <p:cNvPr id="0" name="图片 1024"/>
                      <p:cNvPicPr/>
                      <p:nvPr/>
                    </p:nvPicPr>
                    <p:blipFill>
                      <a:blip r:embed="rId7"/>
                      <a:stretch>
                        <a:fillRect/>
                      </a:stretch>
                    </p:blipFill>
                    <p:spPr>
                      <a:xfrm>
                        <a:off x="6171883" y="3733483"/>
                        <a:ext cx="1369695" cy="379095"/>
                      </a:xfrm>
                      <a:prstGeom prst="rect">
                        <a:avLst/>
                      </a:prstGeom>
                    </p:spPr>
                  </p:pic>
                </p:oleObj>
              </mc:Fallback>
            </mc:AlternateContent>
          </a:graphicData>
        </a:graphic>
      </p:graphicFrame>
      <p:graphicFrame>
        <p:nvGraphicFramePr>
          <p:cNvPr id="44" name="对象 43">
            <a:hlinkClick r:id="" action="ppaction://ole?verb="/>
          </p:cNvPr>
          <p:cNvGraphicFramePr>
            <a:graphicFrameLocks noChangeAspect="1"/>
          </p:cNvGraphicFramePr>
          <p:nvPr/>
        </p:nvGraphicFramePr>
        <p:xfrm>
          <a:off x="6095683" y="4267200"/>
          <a:ext cx="2654935" cy="358140"/>
        </p:xfrm>
        <a:graphic>
          <a:graphicData uri="http://schemas.openxmlformats.org/presentationml/2006/ole">
            <mc:AlternateContent xmlns:mc="http://schemas.openxmlformats.org/markup-compatibility/2006">
              <mc:Choice xmlns:v="urn:schemas-microsoft-com:vml" Requires="v">
                <p:oleObj spid="_x0000_s45" name="" r:id="rId8" imgW="1600200" imgH="215900" progId="Equation.KSEE3">
                  <p:embed/>
                </p:oleObj>
              </mc:Choice>
              <mc:Fallback>
                <p:oleObj name="" r:id="rId8" imgW="1600200" imgH="215900" progId="Equation.KSEE3">
                  <p:embed/>
                  <p:pic>
                    <p:nvPicPr>
                      <p:cNvPr id="0" name="图片 1024"/>
                      <p:cNvPicPr/>
                      <p:nvPr/>
                    </p:nvPicPr>
                    <p:blipFill>
                      <a:blip r:embed="rId9"/>
                      <a:stretch>
                        <a:fillRect/>
                      </a:stretch>
                    </p:blipFill>
                    <p:spPr>
                      <a:xfrm>
                        <a:off x="6095683" y="4267200"/>
                        <a:ext cx="2654935" cy="35814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500" fill="hold">
                                          <p:stCondLst>
                                            <p:cond delay="0"/>
                                          </p:stCondLst>
                                        </p:cTn>
                                        <p:tgtEl>
                                          <p:spTgt spid="41"/>
                                        </p:tgtEl>
                                        <p:attrNameLst>
                                          <p:attrName>style.visibility</p:attrName>
                                        </p:attrNameLst>
                                      </p:cBhvr>
                                      <p:to>
                                        <p:strVal val="visible"/>
                                      </p:to>
                                    </p:set>
                                    <p:animEffect transition="in" filter="box(in)">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 calcmode="lin" valueType="num">
                                      <p:cBhvr additive="base">
                                        <p:cTn id="12" dur="500" fill="hold"/>
                                        <p:tgtEl>
                                          <p:spTgt spid="40"/>
                                        </p:tgtEl>
                                        <p:attrNameLst>
                                          <p:attrName>ppt_x</p:attrName>
                                        </p:attrNameLst>
                                      </p:cBhvr>
                                      <p:tavLst>
                                        <p:tav tm="0">
                                          <p:val>
                                            <p:strVal val="#ppt_x"/>
                                          </p:val>
                                        </p:tav>
                                        <p:tav tm="100000">
                                          <p:val>
                                            <p:strVal val="#ppt_x"/>
                                          </p:val>
                                        </p:tav>
                                      </p:tavLst>
                                    </p:anim>
                                    <p:anim calcmode="lin" valueType="num">
                                      <p:cBhvr additive="base">
                                        <p:cTn id="13"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5" presetClass="entr" presetSubtype="0" fill="hold" nodeType="clickEffect">
                                  <p:stCondLst>
                                    <p:cond delay="0"/>
                                  </p:stCondLst>
                                  <p:childTnLst>
                                    <p:set>
                                      <p:cBhvr>
                                        <p:cTn id="17" dur="1000" fill="hold">
                                          <p:stCondLst>
                                            <p:cond delay="0"/>
                                          </p:stCondLst>
                                        </p:cTn>
                                        <p:tgtEl>
                                          <p:spTgt spid="42"/>
                                        </p:tgtEl>
                                        <p:attrNameLst>
                                          <p:attrName>style.visibility</p:attrName>
                                        </p:attrNameLst>
                                      </p:cBhvr>
                                      <p:to>
                                        <p:strVal val="visible"/>
                                      </p:to>
                                    </p:set>
                                    <p:animEffect transition="in" filter="fade">
                                      <p:cBhvr>
                                        <p:cTn id="18" dur="1000"/>
                                        <p:tgtEl>
                                          <p:spTgt spid="42"/>
                                        </p:tgtEl>
                                      </p:cBhvr>
                                    </p:animEffect>
                                    <p:anim calcmode="lin" valueType="num">
                                      <p:cBhvr>
                                        <p:cTn id="19" dur="1000" fill="hold"/>
                                        <p:tgtEl>
                                          <p:spTgt spid="42"/>
                                        </p:tgtEl>
                                        <p:attrNameLst>
                                          <p:attrName>ppt_w</p:attrName>
                                        </p:attrNameLst>
                                      </p:cBhvr>
                                      <p:tavLst>
                                        <p:tav tm="0" fmla="#ppt_w*sin(2.5*pi*$)">
                                          <p:val>
                                            <p:fltVal val="0"/>
                                          </p:val>
                                        </p:tav>
                                        <p:tav tm="100000">
                                          <p:val>
                                            <p:fltVal val="1"/>
                                          </p:val>
                                        </p:tav>
                                      </p:tavLst>
                                    </p:anim>
                                    <p:anim calcmode="lin" valueType="num">
                                      <p:cBhvr>
                                        <p:cTn id="20" dur="1000" fill="hold"/>
                                        <p:tgtEl>
                                          <p:spTgt spid="42"/>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nodeType="clickEffect">
                                  <p:stCondLst>
                                    <p:cond delay="0"/>
                                  </p:stCondLst>
                                  <p:childTnLst>
                                    <p:set>
                                      <p:cBhvr>
                                        <p:cTn id="24" dur="1" fill="hold">
                                          <p:stCondLst>
                                            <p:cond delay="0"/>
                                          </p:stCondLst>
                                        </p:cTn>
                                        <p:tgtEl>
                                          <p:spTgt spid="44"/>
                                        </p:tgtEl>
                                        <p:attrNameLst>
                                          <p:attrName>style.visibility</p:attrName>
                                        </p:attrNameLst>
                                      </p:cBhvr>
                                      <p:to>
                                        <p:strVal val="visible"/>
                                      </p:to>
                                    </p:set>
                                    <p:anim calcmode="lin" valueType="num">
                                      <p:cBhvr>
                                        <p:cTn id="25" dur="500" fill="hold"/>
                                        <p:tgtEl>
                                          <p:spTgt spid="44"/>
                                        </p:tgtEl>
                                        <p:attrNameLst>
                                          <p:attrName>ppt_w</p:attrName>
                                        </p:attrNameLst>
                                      </p:cBhvr>
                                      <p:tavLst>
                                        <p:tav tm="0">
                                          <p:val>
                                            <p:fltVal val="0"/>
                                          </p:val>
                                        </p:tav>
                                        <p:tav tm="100000">
                                          <p:val>
                                            <p:strVal val="#ppt_w"/>
                                          </p:val>
                                        </p:tav>
                                      </p:tavLst>
                                    </p:anim>
                                    <p:anim calcmode="lin" valueType="num">
                                      <p:cBhvr>
                                        <p:cTn id="26" dur="500" fill="hold"/>
                                        <p:tgtEl>
                                          <p:spTgt spid="44"/>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7" presetClass="entr" presetSubtype="0" fill="hold" grpId="0" nodeType="clickEffect">
                                  <p:stCondLst>
                                    <p:cond delay="0"/>
                                  </p:stCondLst>
                                  <p:iterate type="lt">
                                    <p:tmPct val="50000"/>
                                  </p:iterate>
                                  <p:childTnLst>
                                    <p:set>
                                      <p:cBhvr>
                                        <p:cTn id="30" dur="1" fill="hold">
                                          <p:stCondLst>
                                            <p:cond delay="0"/>
                                          </p:stCondLst>
                                        </p:cTn>
                                        <p:tgtEl>
                                          <p:spTgt spid="2"/>
                                        </p:tgtEl>
                                        <p:attrNameLst>
                                          <p:attrName>style.visibility</p:attrName>
                                        </p:attrNameLst>
                                      </p:cBhvr>
                                      <p:to>
                                        <p:strVal val="visible"/>
                                      </p:to>
                                    </p:set>
                                    <p:anim calcmode="discrete" valueType="clr">
                                      <p:cBhvr override="childStyle">
                                        <p:cTn id="31"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32" dur="80"/>
                                        <p:tgtEl>
                                          <p:spTgt spid="2"/>
                                        </p:tgtEl>
                                        <p:attrNameLst>
                                          <p:attrName>fillcolor</p:attrName>
                                        </p:attrNameLst>
                                      </p:cBhvr>
                                      <p:tavLst>
                                        <p:tav tm="0">
                                          <p:val>
                                            <p:clrVal>
                                              <a:schemeClr val="accent2"/>
                                            </p:clrVal>
                                          </p:val>
                                        </p:tav>
                                        <p:tav tm="50000">
                                          <p:val>
                                            <p:clrVal>
                                              <a:schemeClr val="hlink"/>
                                            </p:clrVal>
                                          </p:val>
                                        </p:tav>
                                      </p:tavLst>
                                    </p:anim>
                                    <p:set>
                                      <p:cBhvr>
                                        <p:cTn id="33" dur="80"/>
                                        <p:tgtEl>
                                          <p:spTgt spid="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 name="文本框 41"/>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6" name="Rectangle 2"/>
          <p:cNvSpPr>
            <a:spLocks noGrp="1"/>
          </p:cNvSpPr>
          <p:nvPr>
            <p:ph type="title"/>
          </p:nvPr>
        </p:nvSpPr>
        <p:spPr>
          <a:xfrm>
            <a:off x="491490" y="1198880"/>
            <a:ext cx="411480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3.3.5 </a:t>
            </a:r>
            <a:r>
              <a:rPr lang="zh-CN" altLang="en-US" sz="2800" i="0" dirty="0">
                <a:solidFill>
                  <a:srgbClr val="0070C0"/>
                </a:solidFill>
                <a:latin typeface="黑体" panose="02010609060101010101" pitchFamily="49" charset="-122"/>
                <a:ea typeface="黑体" panose="02010609060101010101" pitchFamily="49" charset="-122"/>
              </a:rPr>
              <a:t> CMOS 传输门</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3.3 </a:t>
            </a:r>
            <a:r>
              <a:rPr b="1" dirty="0">
                <a:solidFill>
                  <a:srgbClr val="FF0000"/>
                </a:solidFill>
                <a:latin typeface="黑体" panose="02010609060101010101" pitchFamily="49" charset="-122"/>
                <a:ea typeface="黑体" panose="02010609060101010101" pitchFamily="49" charset="-122"/>
              </a:rPr>
              <a:t>COMS逻辑门电路</a:t>
            </a:r>
            <a:endParaRPr b="1" dirty="0">
              <a:solidFill>
                <a:srgbClr val="FF000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457200" y="1752600"/>
            <a:ext cx="8385175" cy="1978025"/>
          </a:xfrm>
        </p:spPr>
        <p:txBody>
          <a:bodyPr vert="horz" wrap="square" lIns="91440" tIns="45720" rIns="91440" bIns="45720" anchor="t" anchorCtr="0"/>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ea typeface="楷体_GB2312" pitchFamily="49" charset="-122"/>
              </a:rPr>
              <a:t>CMOS传输门电路结构和逻辑符号如图3-49所示。其中，NMOS管和PMOS管的栅极分别接一对互补控制信号</a:t>
            </a:r>
            <a:r>
              <a:rPr lang="en-US" altLang="zh-CN" sz="2400" b="1" kern="1200" dirty="0">
                <a:solidFill>
                  <a:srgbClr val="000066"/>
                </a:solidFill>
                <a:ea typeface="楷体_GB2312" pitchFamily="49" charset="-122"/>
              </a:rPr>
              <a:t>   </a:t>
            </a:r>
            <a:r>
              <a:rPr lang="zh-CN" altLang="en-US" sz="2400" b="1" kern="1200" dirty="0">
                <a:solidFill>
                  <a:srgbClr val="000066"/>
                </a:solidFill>
                <a:ea typeface="楷体_GB2312" pitchFamily="49" charset="-122"/>
              </a:rPr>
              <a:t>和</a:t>
            </a:r>
            <a:r>
              <a:rPr lang="en-US" altLang="zh-CN" sz="2400" b="1" kern="1200" dirty="0">
                <a:solidFill>
                  <a:srgbClr val="000066"/>
                </a:solidFill>
                <a:ea typeface="楷体_GB2312" pitchFamily="49" charset="-122"/>
              </a:rPr>
              <a:t>    </a:t>
            </a:r>
            <a:r>
              <a:rPr lang="zh-CN" altLang="en-US" sz="2400" b="1" kern="1200" dirty="0">
                <a:solidFill>
                  <a:srgbClr val="000066"/>
                </a:solidFill>
                <a:ea typeface="楷体_GB2312" pitchFamily="49" charset="-122"/>
              </a:rPr>
              <a:t>，源极连接在一起作为输入信号端，漏极连接在一起作为输出信号端，衬底分别接地和电源</a:t>
            </a:r>
            <a:r>
              <a:rPr lang="zh-CN" altLang="en-US" sz="2400" b="1" i="1" kern="1200" dirty="0">
                <a:solidFill>
                  <a:srgbClr val="000066"/>
                </a:solidFill>
                <a:ea typeface="楷体_GB2312" pitchFamily="49" charset="-122"/>
              </a:rPr>
              <a:t>V</a:t>
            </a:r>
            <a:r>
              <a:rPr lang="zh-CN" altLang="en-US" sz="2400" b="1" kern="1200" baseline="-25000" dirty="0">
                <a:solidFill>
                  <a:srgbClr val="000066"/>
                </a:solidFill>
                <a:ea typeface="楷体_GB2312" pitchFamily="49" charset="-122"/>
              </a:rPr>
              <a:t>DD</a:t>
            </a:r>
            <a:r>
              <a:rPr lang="zh-CN" altLang="en-US" sz="2400" b="1" kern="1200" dirty="0">
                <a:solidFill>
                  <a:srgbClr val="000066"/>
                </a:solidFill>
                <a:ea typeface="楷体_GB2312" pitchFamily="49" charset="-122"/>
              </a:rPr>
              <a:t>，开启电压分别为</a:t>
            </a:r>
            <a:r>
              <a:rPr lang="zh-CN" altLang="en-US" sz="2400" b="1" i="1" kern="1200" dirty="0">
                <a:solidFill>
                  <a:srgbClr val="000066"/>
                </a:solidFill>
                <a:ea typeface="楷体_GB2312" pitchFamily="49" charset="-122"/>
              </a:rPr>
              <a:t>V</a:t>
            </a:r>
            <a:r>
              <a:rPr lang="zh-CN" altLang="en-US" sz="2400" b="1" kern="1200" baseline="-25000" dirty="0">
                <a:solidFill>
                  <a:srgbClr val="000066"/>
                </a:solidFill>
                <a:ea typeface="楷体_GB2312" pitchFamily="49" charset="-122"/>
              </a:rPr>
              <a:t>TN</a:t>
            </a:r>
            <a:r>
              <a:rPr lang="zh-CN" altLang="en-US" sz="2400" b="1" kern="1200" dirty="0">
                <a:solidFill>
                  <a:srgbClr val="000066"/>
                </a:solidFill>
                <a:ea typeface="楷体_GB2312" pitchFamily="49" charset="-122"/>
              </a:rPr>
              <a:t>和</a:t>
            </a:r>
            <a:r>
              <a:rPr lang="zh-CN" altLang="en-US" sz="2400" b="1" i="1" kern="1200" dirty="0">
                <a:solidFill>
                  <a:srgbClr val="000066"/>
                </a:solidFill>
                <a:ea typeface="楷体_GB2312" pitchFamily="49" charset="-122"/>
              </a:rPr>
              <a:t>V</a:t>
            </a:r>
            <a:r>
              <a:rPr lang="zh-CN" altLang="en-US" sz="2400" b="1" kern="1200" baseline="-25000" dirty="0">
                <a:solidFill>
                  <a:srgbClr val="000066"/>
                </a:solidFill>
                <a:ea typeface="楷体_GB2312" pitchFamily="49" charset="-122"/>
              </a:rPr>
              <a:t>TP</a:t>
            </a:r>
            <a:r>
              <a:rPr lang="zh-CN" altLang="en-US" sz="2400" b="1" kern="1200" dirty="0">
                <a:solidFill>
                  <a:srgbClr val="000066"/>
                </a:solidFill>
                <a:ea typeface="楷体_GB2312" pitchFamily="49" charset="-122"/>
              </a:rPr>
              <a:t>，且</a:t>
            </a:r>
            <a:r>
              <a:rPr lang="zh-CN" altLang="en-US" sz="2400" b="1" i="1" kern="1200" dirty="0">
                <a:solidFill>
                  <a:srgbClr val="000066"/>
                </a:solidFill>
                <a:ea typeface="楷体_GB2312" pitchFamily="49" charset="-122"/>
              </a:rPr>
              <a:t>V</a:t>
            </a:r>
            <a:r>
              <a:rPr lang="zh-CN" altLang="en-US" sz="2400" b="1" kern="1200" baseline="-25000" dirty="0">
                <a:solidFill>
                  <a:srgbClr val="000066"/>
                </a:solidFill>
                <a:ea typeface="楷体_GB2312" pitchFamily="49" charset="-122"/>
              </a:rPr>
              <a:t>TN</a:t>
            </a:r>
            <a:r>
              <a:rPr lang="zh-CN" altLang="en-US" sz="2400" b="1" kern="1200" dirty="0">
                <a:solidFill>
                  <a:srgbClr val="000066"/>
                </a:solidFill>
                <a:ea typeface="楷体_GB2312" pitchFamily="49" charset="-122"/>
              </a:rPr>
              <a:t> = | </a:t>
            </a:r>
            <a:r>
              <a:rPr lang="zh-CN" altLang="en-US" sz="2400" b="1" i="1" kern="1200" dirty="0">
                <a:solidFill>
                  <a:srgbClr val="000066"/>
                </a:solidFill>
                <a:ea typeface="楷体_GB2312" pitchFamily="49" charset="-122"/>
              </a:rPr>
              <a:t>V</a:t>
            </a:r>
            <a:r>
              <a:rPr lang="zh-CN" altLang="en-US" sz="2400" b="1" kern="1200" baseline="-25000" dirty="0">
                <a:solidFill>
                  <a:srgbClr val="000066"/>
                </a:solidFill>
                <a:ea typeface="楷体_GB2312" pitchFamily="49" charset="-122"/>
              </a:rPr>
              <a:t>TP</a:t>
            </a:r>
            <a:r>
              <a:rPr lang="zh-CN" altLang="en-US" sz="2400" b="1" kern="1200" dirty="0">
                <a:solidFill>
                  <a:srgbClr val="000066"/>
                </a:solidFill>
                <a:ea typeface="楷体_GB2312" pitchFamily="49" charset="-122"/>
              </a:rPr>
              <a:t> | = </a:t>
            </a:r>
            <a:r>
              <a:rPr lang="zh-CN" altLang="en-US" sz="2400" b="1" i="1" kern="1200" dirty="0">
                <a:solidFill>
                  <a:srgbClr val="000066"/>
                </a:solidFill>
                <a:ea typeface="楷体_GB2312" pitchFamily="49" charset="-122"/>
              </a:rPr>
              <a:t>V</a:t>
            </a:r>
            <a:r>
              <a:rPr lang="zh-CN" altLang="en-US" sz="2400" b="1" kern="1200" baseline="-25000" dirty="0">
                <a:solidFill>
                  <a:srgbClr val="000066"/>
                </a:solidFill>
                <a:ea typeface="楷体_GB2312" pitchFamily="49" charset="-122"/>
              </a:rPr>
              <a:t>T</a:t>
            </a:r>
            <a:r>
              <a:rPr lang="zh-CN" altLang="en-US" sz="2400" b="1" kern="1200" dirty="0">
                <a:solidFill>
                  <a:srgbClr val="000066"/>
                </a:solidFill>
                <a:ea typeface="楷体_GB2312" pitchFamily="49" charset="-122"/>
              </a:rPr>
              <a:t>。</a:t>
            </a:r>
            <a:endParaRPr lang="zh-CN" altLang="en-US" sz="2400" b="1" kern="1200" dirty="0">
              <a:solidFill>
                <a:srgbClr val="000066"/>
              </a:solidFill>
              <a:ea typeface="楷体_GB2312" pitchFamily="49" charset="-122"/>
            </a:endParaRPr>
          </a:p>
        </p:txBody>
      </p:sp>
      <p:grpSp>
        <p:nvGrpSpPr>
          <p:cNvPr id="4" name="组合 3"/>
          <p:cNvGrpSpPr/>
          <p:nvPr/>
        </p:nvGrpSpPr>
        <p:grpSpPr>
          <a:xfrm>
            <a:off x="1524000" y="3810000"/>
            <a:ext cx="6385560" cy="2990850"/>
            <a:chOff x="2400" y="6000"/>
            <a:chExt cx="10056" cy="4710"/>
          </a:xfrm>
        </p:grpSpPr>
        <p:sp>
          <p:nvSpPr>
            <p:cNvPr id="100" name="文本框 99"/>
            <p:cNvSpPr txBox="1"/>
            <p:nvPr/>
          </p:nvSpPr>
          <p:spPr>
            <a:xfrm>
              <a:off x="5880" y="10102"/>
              <a:ext cx="3647" cy="608"/>
            </a:xfrm>
            <a:prstGeom prst="rect">
              <a:avLst/>
            </a:prstGeom>
            <a:noFill/>
            <a:ln w="9525">
              <a:noFill/>
            </a:ln>
          </p:spPr>
          <p:txBody>
            <a:bodyPr wrap="square">
              <a:spAutoFit/>
            </a:bodyPr>
            <a:p>
              <a:pPr>
                <a:lnSpc>
                  <a:spcPct val="120000"/>
                </a:lnSpc>
              </a:pPr>
              <a:r>
                <a:rPr sz="1600">
                  <a:ea typeface="宋体" panose="02010600030101010101" pitchFamily="2" charset="-122"/>
                </a:rPr>
                <a:t>图3-49 CMOS传输门</a:t>
              </a:r>
              <a:endParaRPr sz="1600">
                <a:ea typeface="宋体" panose="02010600030101010101" pitchFamily="2" charset="-122"/>
              </a:endParaRPr>
            </a:p>
          </p:txBody>
        </p:sp>
        <p:pic>
          <p:nvPicPr>
            <p:cNvPr id="9273" name="图片 2710"/>
            <p:cNvPicPr>
              <a:picLocks noChangeAspect="1"/>
            </p:cNvPicPr>
            <p:nvPr/>
          </p:nvPicPr>
          <p:blipFill>
            <a:blip r:embed="rId1"/>
            <a:stretch>
              <a:fillRect/>
            </a:stretch>
          </p:blipFill>
          <p:spPr>
            <a:xfrm>
              <a:off x="2400" y="6000"/>
              <a:ext cx="10057" cy="4203"/>
            </a:xfrm>
            <a:prstGeom prst="rect">
              <a:avLst/>
            </a:prstGeom>
            <a:noFill/>
            <a:ln>
              <a:noFill/>
            </a:ln>
          </p:spPr>
        </p:pic>
      </p:grpSp>
      <p:grpSp>
        <p:nvGrpSpPr>
          <p:cNvPr id="41" name="组合 40"/>
          <p:cNvGrpSpPr/>
          <p:nvPr/>
        </p:nvGrpSpPr>
        <p:grpSpPr>
          <a:xfrm>
            <a:off x="7571740" y="2160270"/>
            <a:ext cx="875030" cy="387350"/>
            <a:chOff x="11924" y="3402"/>
            <a:chExt cx="1378" cy="610"/>
          </a:xfrm>
        </p:grpSpPr>
        <p:graphicFrame>
          <p:nvGraphicFramePr>
            <p:cNvPr id="2" name="对象 647"/>
            <p:cNvGraphicFramePr>
              <a:graphicFrameLocks noChangeAspect="1"/>
            </p:cNvGraphicFramePr>
            <p:nvPr/>
          </p:nvGraphicFramePr>
          <p:xfrm>
            <a:off x="11924" y="3534"/>
            <a:ext cx="438" cy="478"/>
          </p:xfrm>
          <a:graphic>
            <a:graphicData uri="http://schemas.openxmlformats.org/presentationml/2006/ole">
              <mc:AlternateContent xmlns:mc="http://schemas.openxmlformats.org/markup-compatibility/2006">
                <mc:Choice xmlns:v="urn:schemas-microsoft-com:vml" Requires="v">
                  <p:oleObj spid="_x0000_s3076" name="" r:id="rId2" imgW="139700" imgH="152400" progId="Equation.DSMT4">
                    <p:embed/>
                  </p:oleObj>
                </mc:Choice>
                <mc:Fallback>
                  <p:oleObj name="" r:id="rId2" imgW="139700" imgH="152400" progId="Equation.DSMT4">
                    <p:embed/>
                    <p:pic>
                      <p:nvPicPr>
                        <p:cNvPr id="0" name="图片 3075"/>
                        <p:cNvPicPr/>
                        <p:nvPr/>
                      </p:nvPicPr>
                      <p:blipFill>
                        <a:blip r:embed="rId3"/>
                        <a:stretch>
                          <a:fillRect/>
                        </a:stretch>
                      </p:blipFill>
                      <p:spPr>
                        <a:xfrm>
                          <a:off x="11924" y="3534"/>
                          <a:ext cx="438" cy="478"/>
                        </a:xfrm>
                        <a:prstGeom prst="rect">
                          <a:avLst/>
                        </a:prstGeom>
                        <a:noFill/>
                        <a:ln w="38100">
                          <a:noFill/>
                          <a:miter/>
                        </a:ln>
                      </p:spPr>
                    </p:pic>
                  </p:oleObj>
                </mc:Fallback>
              </mc:AlternateContent>
            </a:graphicData>
          </a:graphic>
        </p:graphicFrame>
        <p:graphicFrame>
          <p:nvGraphicFramePr>
            <p:cNvPr id="3" name="对象 648"/>
            <p:cNvGraphicFramePr>
              <a:graphicFrameLocks noChangeAspect="1"/>
            </p:cNvGraphicFramePr>
            <p:nvPr/>
          </p:nvGraphicFramePr>
          <p:xfrm>
            <a:off x="12862" y="3402"/>
            <a:ext cx="440" cy="600"/>
          </p:xfrm>
          <a:graphic>
            <a:graphicData uri="http://schemas.openxmlformats.org/presentationml/2006/ole">
              <mc:AlternateContent xmlns:mc="http://schemas.openxmlformats.org/markup-compatibility/2006">
                <mc:Choice xmlns:v="urn:schemas-microsoft-com:vml" Requires="v">
                  <p:oleObj spid="_x0000_s40" name="" r:id="rId4" imgW="139700" imgH="190500" progId="Equation.DSMT4">
                    <p:embed/>
                  </p:oleObj>
                </mc:Choice>
                <mc:Fallback>
                  <p:oleObj name="" r:id="rId4" imgW="139700" imgH="190500" progId="Equation.DSMT4">
                    <p:embed/>
                    <p:pic>
                      <p:nvPicPr>
                        <p:cNvPr id="0" name="图片 39"/>
                        <p:cNvPicPr/>
                        <p:nvPr/>
                      </p:nvPicPr>
                      <p:blipFill>
                        <a:blip r:embed="rId5"/>
                        <a:stretch>
                          <a:fillRect/>
                        </a:stretch>
                      </p:blipFill>
                      <p:spPr>
                        <a:xfrm>
                          <a:off x="12862" y="3402"/>
                          <a:ext cx="440" cy="600"/>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ntr" presetSubtype="10" fill="hold" nodeType="clickEffect">
                                  <p:stCondLst>
                                    <p:cond delay="0"/>
                                  </p:stCondLst>
                                  <p:childTnLst>
                                    <p:set>
                                      <p:cBhvr>
                                        <p:cTn id="6" dur="1000"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fmla="#ppt_w*sin(2.5*pi*$)">
                                          <p:val>
                                            <p:fltVal val="0"/>
                                          </p:val>
                                        </p:tav>
                                        <p:tav tm="100000">
                                          <p:val>
                                            <p:fltVal val="1"/>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 name="文本框 41"/>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3.3 </a:t>
            </a:r>
            <a:r>
              <a:rPr b="1" dirty="0">
                <a:solidFill>
                  <a:srgbClr val="FF0000"/>
                </a:solidFill>
                <a:latin typeface="黑体" panose="02010609060101010101" pitchFamily="49" charset="-122"/>
                <a:ea typeface="黑体" panose="02010609060101010101" pitchFamily="49" charset="-122"/>
              </a:rPr>
              <a:t>COMS逻辑门电路</a:t>
            </a:r>
            <a:endParaRPr b="1" dirty="0">
              <a:solidFill>
                <a:srgbClr val="FF000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457200" y="1295400"/>
            <a:ext cx="8385175" cy="1311910"/>
          </a:xfrm>
        </p:spPr>
        <p:txBody>
          <a:bodyPr vert="horz" wrap="square" lIns="91440" tIns="45720" rIns="91440" bIns="45720" anchor="t" anchorCtr="0"/>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ea typeface="楷体_GB2312" pitchFamily="49" charset="-122"/>
              </a:rPr>
              <a:t>当控制信号</a:t>
            </a:r>
            <a:r>
              <a:rPr lang="en-US" sz="2400" b="1" kern="1200" dirty="0">
                <a:solidFill>
                  <a:srgbClr val="000066"/>
                </a:solidFill>
                <a:ea typeface="楷体_GB2312" pitchFamily="49" charset="-122"/>
              </a:rPr>
              <a:t>    </a:t>
            </a:r>
            <a:r>
              <a:rPr sz="2400" b="1" kern="1200" dirty="0">
                <a:solidFill>
                  <a:srgbClr val="000066"/>
                </a:solidFill>
                <a:ea typeface="楷体_GB2312" pitchFamily="49" charset="-122"/>
              </a:rPr>
              <a:t>端为0V，</a:t>
            </a:r>
            <a:r>
              <a:rPr lang="en-US" sz="2400" b="1" kern="1200" dirty="0">
                <a:solidFill>
                  <a:srgbClr val="000066"/>
                </a:solidFill>
                <a:ea typeface="楷体_GB2312" pitchFamily="49" charset="-122"/>
              </a:rPr>
              <a:t>  </a:t>
            </a:r>
            <a:r>
              <a:rPr sz="2400" b="1" kern="1200" dirty="0">
                <a:solidFill>
                  <a:srgbClr val="000066"/>
                </a:solidFill>
                <a:ea typeface="楷体_GB2312" pitchFamily="49" charset="-122"/>
              </a:rPr>
              <a:t>端为</a:t>
            </a:r>
            <a:r>
              <a:rPr sz="2400" b="1" i="1" kern="1200" dirty="0">
                <a:solidFill>
                  <a:srgbClr val="000066"/>
                </a:solidFill>
                <a:ea typeface="楷体_GB2312" pitchFamily="49" charset="-122"/>
              </a:rPr>
              <a:t>V</a:t>
            </a:r>
            <a:r>
              <a:rPr sz="2400" b="1" kern="1200" baseline="-25000" dirty="0">
                <a:solidFill>
                  <a:srgbClr val="000066"/>
                </a:solidFill>
                <a:ea typeface="楷体_GB2312" pitchFamily="49" charset="-122"/>
              </a:rPr>
              <a:t>DD</a:t>
            </a:r>
            <a:r>
              <a:rPr sz="2400" b="1" kern="1200" dirty="0">
                <a:solidFill>
                  <a:srgbClr val="000066"/>
                </a:solidFill>
                <a:ea typeface="楷体_GB2312" pitchFamily="49" charset="-122"/>
              </a:rPr>
              <a:t>，</a:t>
            </a:r>
            <a:r>
              <a:rPr lang="zh-CN" sz="2400" b="1" kern="1200" dirty="0">
                <a:solidFill>
                  <a:srgbClr val="000066"/>
                </a:solidFill>
                <a:ea typeface="楷体_GB2312" pitchFamily="49" charset="-122"/>
              </a:rPr>
              <a:t>且</a:t>
            </a:r>
            <a:r>
              <a:rPr sz="2400" b="1" kern="1200" dirty="0">
                <a:solidFill>
                  <a:srgbClr val="000066"/>
                </a:solidFill>
                <a:ea typeface="楷体_GB2312" pitchFamily="49" charset="-122"/>
              </a:rPr>
              <a:t>输入信号</a:t>
            </a:r>
            <a:r>
              <a:rPr lang="en-US" sz="2400" b="1" kern="1200" dirty="0">
                <a:solidFill>
                  <a:srgbClr val="000066"/>
                </a:solidFill>
                <a:ea typeface="楷体_GB2312" pitchFamily="49" charset="-122"/>
              </a:rPr>
              <a:t>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I </a:t>
            </a:r>
            <a:r>
              <a:rPr sz="2400" b="1" kern="1200" dirty="0">
                <a:solidFill>
                  <a:srgbClr val="000066"/>
                </a:solidFill>
                <a:ea typeface="楷体_GB2312" pitchFamily="49" charset="-122"/>
                <a:sym typeface="+mn-ea"/>
              </a:rPr>
              <a:t>取值为</a:t>
            </a:r>
            <a:r>
              <a:rPr sz="2400" b="1" kern="1200" dirty="0">
                <a:solidFill>
                  <a:srgbClr val="000066"/>
                </a:solidFill>
                <a:ea typeface="楷体_GB2312" pitchFamily="49" charset="-122"/>
              </a:rPr>
              <a:t>0 V~ + </a:t>
            </a:r>
            <a:r>
              <a:rPr sz="2400" b="1" i="1" kern="1200" dirty="0">
                <a:solidFill>
                  <a:srgbClr val="000066"/>
                </a:solidFill>
                <a:ea typeface="楷体_GB2312" pitchFamily="49" charset="-122"/>
              </a:rPr>
              <a:t>V</a:t>
            </a:r>
            <a:r>
              <a:rPr sz="2400" b="1" kern="1200" baseline="-25000" dirty="0">
                <a:solidFill>
                  <a:srgbClr val="000066"/>
                </a:solidFill>
                <a:ea typeface="楷体_GB2312" pitchFamily="49" charset="-122"/>
              </a:rPr>
              <a:t>DD</a:t>
            </a:r>
            <a:r>
              <a:rPr sz="2400" b="1" kern="1200" dirty="0">
                <a:solidFill>
                  <a:srgbClr val="000066"/>
                </a:solidFill>
                <a:ea typeface="楷体_GB2312" pitchFamily="49" charset="-122"/>
              </a:rPr>
              <a:t>时，NMOS管和PMOS管都截止，输入端和输出端之间呈高阻态，传输门断开。</a:t>
            </a:r>
            <a:endParaRPr sz="2400" b="1" kern="1200" dirty="0">
              <a:solidFill>
                <a:srgbClr val="000066"/>
              </a:solidFill>
              <a:ea typeface="楷体_GB2312" pitchFamily="49" charset="-122"/>
            </a:endParaRPr>
          </a:p>
        </p:txBody>
      </p:sp>
      <p:sp>
        <p:nvSpPr>
          <p:cNvPr id="100" name="文本框 99"/>
          <p:cNvSpPr txBox="1"/>
          <p:nvPr/>
        </p:nvSpPr>
        <p:spPr>
          <a:xfrm>
            <a:off x="1219200" y="6414770"/>
            <a:ext cx="2315845" cy="386080"/>
          </a:xfrm>
          <a:prstGeom prst="rect">
            <a:avLst/>
          </a:prstGeom>
          <a:noFill/>
          <a:ln w="9525">
            <a:noFill/>
          </a:ln>
        </p:spPr>
        <p:txBody>
          <a:bodyPr wrap="square">
            <a:spAutoFit/>
          </a:bodyPr>
          <a:p>
            <a:pPr>
              <a:lnSpc>
                <a:spcPct val="120000"/>
              </a:lnSpc>
            </a:pPr>
            <a:r>
              <a:rPr sz="1600">
                <a:ea typeface="宋体" panose="02010600030101010101" pitchFamily="2" charset="-122"/>
              </a:rPr>
              <a:t>图3-49 CMOS传输门</a:t>
            </a:r>
            <a:endParaRPr sz="1600">
              <a:ea typeface="宋体" panose="02010600030101010101" pitchFamily="2" charset="-122"/>
            </a:endParaRPr>
          </a:p>
        </p:txBody>
      </p:sp>
      <p:pic>
        <p:nvPicPr>
          <p:cNvPr id="9273" name="图片 2710"/>
          <p:cNvPicPr>
            <a:picLocks noChangeAspect="1"/>
          </p:cNvPicPr>
          <p:nvPr/>
        </p:nvPicPr>
        <p:blipFill>
          <a:blip r:embed="rId1"/>
          <a:srcRect r="53475" b="10754"/>
          <a:stretch>
            <a:fillRect/>
          </a:stretch>
        </p:blipFill>
        <p:spPr>
          <a:xfrm>
            <a:off x="762000" y="4114800"/>
            <a:ext cx="2971165" cy="2381885"/>
          </a:xfrm>
          <a:prstGeom prst="rect">
            <a:avLst/>
          </a:prstGeom>
          <a:noFill/>
          <a:ln>
            <a:noFill/>
          </a:ln>
        </p:spPr>
      </p:pic>
      <p:graphicFrame>
        <p:nvGraphicFramePr>
          <p:cNvPr id="7" name="对象 647"/>
          <p:cNvGraphicFramePr>
            <a:graphicFrameLocks noChangeAspect="1"/>
          </p:cNvGraphicFramePr>
          <p:nvPr/>
        </p:nvGraphicFramePr>
        <p:xfrm>
          <a:off x="2667000" y="1399540"/>
          <a:ext cx="278130" cy="303530"/>
        </p:xfrm>
        <a:graphic>
          <a:graphicData uri="http://schemas.openxmlformats.org/presentationml/2006/ole">
            <mc:AlternateContent xmlns:mc="http://schemas.openxmlformats.org/markup-compatibility/2006">
              <mc:Choice xmlns:v="urn:schemas-microsoft-com:vml" Requires="v">
                <p:oleObj spid="_x0000_s8" name="" r:id="rId2" imgW="139700" imgH="152400" progId="Equation.DSMT4">
                  <p:embed/>
                </p:oleObj>
              </mc:Choice>
              <mc:Fallback>
                <p:oleObj name="" r:id="rId2" imgW="139700" imgH="152400" progId="Equation.DSMT4">
                  <p:embed/>
                  <p:pic>
                    <p:nvPicPr>
                      <p:cNvPr id="0" name="图片 3075"/>
                      <p:cNvPicPr/>
                      <p:nvPr/>
                    </p:nvPicPr>
                    <p:blipFill>
                      <a:blip r:embed="rId3"/>
                      <a:stretch>
                        <a:fillRect/>
                      </a:stretch>
                    </p:blipFill>
                    <p:spPr>
                      <a:xfrm>
                        <a:off x="2667000" y="1399540"/>
                        <a:ext cx="278130" cy="303530"/>
                      </a:xfrm>
                      <a:prstGeom prst="rect">
                        <a:avLst/>
                      </a:prstGeom>
                      <a:noFill/>
                      <a:ln w="38100">
                        <a:noFill/>
                        <a:miter/>
                      </a:ln>
                    </p:spPr>
                  </p:pic>
                </p:oleObj>
              </mc:Fallback>
            </mc:AlternateContent>
          </a:graphicData>
        </a:graphic>
      </p:graphicFrame>
      <p:graphicFrame>
        <p:nvGraphicFramePr>
          <p:cNvPr id="9" name="对象 648"/>
          <p:cNvGraphicFramePr>
            <a:graphicFrameLocks noChangeAspect="1"/>
          </p:cNvGraphicFramePr>
          <p:nvPr/>
        </p:nvGraphicFramePr>
        <p:xfrm>
          <a:off x="4114800" y="1309370"/>
          <a:ext cx="279400" cy="381000"/>
        </p:xfrm>
        <a:graphic>
          <a:graphicData uri="http://schemas.openxmlformats.org/presentationml/2006/ole">
            <mc:AlternateContent xmlns:mc="http://schemas.openxmlformats.org/markup-compatibility/2006">
              <mc:Choice xmlns:v="urn:schemas-microsoft-com:vml" Requires="v">
                <p:oleObj spid="_x0000_s10" name="" r:id="rId4" imgW="139700" imgH="190500" progId="Equation.DSMT4">
                  <p:embed/>
                </p:oleObj>
              </mc:Choice>
              <mc:Fallback>
                <p:oleObj name="" r:id="rId4" imgW="139700" imgH="190500" progId="Equation.DSMT4">
                  <p:embed/>
                  <p:pic>
                    <p:nvPicPr>
                      <p:cNvPr id="0" name="图片 39"/>
                      <p:cNvPicPr/>
                      <p:nvPr/>
                    </p:nvPicPr>
                    <p:blipFill>
                      <a:blip r:embed="rId5"/>
                      <a:stretch>
                        <a:fillRect/>
                      </a:stretch>
                    </p:blipFill>
                    <p:spPr>
                      <a:xfrm>
                        <a:off x="4114800" y="1309370"/>
                        <a:ext cx="279400" cy="381000"/>
                      </a:xfrm>
                      <a:prstGeom prst="rect">
                        <a:avLst/>
                      </a:prstGeom>
                      <a:noFill/>
                      <a:ln w="38100">
                        <a:noFill/>
                        <a:miter/>
                      </a:ln>
                    </p:spPr>
                  </p:pic>
                </p:oleObj>
              </mc:Fallback>
            </mc:AlternateContent>
          </a:graphicData>
        </a:graphic>
      </p:graphicFrame>
      <p:grpSp>
        <p:nvGrpSpPr>
          <p:cNvPr id="2" name="组合 1"/>
          <p:cNvGrpSpPr/>
          <p:nvPr/>
        </p:nvGrpSpPr>
        <p:grpSpPr>
          <a:xfrm>
            <a:off x="445770" y="2489200"/>
            <a:ext cx="8384540" cy="1703070"/>
            <a:chOff x="702" y="3920"/>
            <a:chExt cx="13204" cy="2682"/>
          </a:xfrm>
        </p:grpSpPr>
        <p:sp>
          <p:nvSpPr>
            <p:cNvPr id="5" name="Rectangle 3"/>
            <p:cNvSpPr>
              <a:spLocks noGrp="1"/>
            </p:cNvSpPr>
            <p:nvPr/>
          </p:nvSpPr>
          <p:spPr>
            <a:xfrm>
              <a:off x="702" y="3920"/>
              <a:ext cx="13205" cy="2683"/>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ea typeface="楷体_GB2312" pitchFamily="49" charset="-122"/>
                </a:rPr>
                <a:t>当控制信号</a:t>
              </a:r>
              <a:r>
                <a:rPr lang="en-US" sz="2400" b="1" kern="1200" dirty="0">
                  <a:solidFill>
                    <a:srgbClr val="000066"/>
                  </a:solidFill>
                  <a:ea typeface="楷体_GB2312" pitchFamily="49" charset="-122"/>
                </a:rPr>
                <a:t>   </a:t>
              </a:r>
              <a:r>
                <a:rPr sz="2400" b="1" kern="1200" dirty="0">
                  <a:solidFill>
                    <a:srgbClr val="000066"/>
                  </a:solidFill>
                  <a:ea typeface="楷体_GB2312" pitchFamily="49" charset="-122"/>
                </a:rPr>
                <a:t>端为V</a:t>
              </a:r>
              <a:r>
                <a:rPr sz="2400" b="1" kern="1200" baseline="-25000" dirty="0">
                  <a:solidFill>
                    <a:srgbClr val="000066"/>
                  </a:solidFill>
                  <a:ea typeface="楷体_GB2312" pitchFamily="49" charset="-122"/>
                </a:rPr>
                <a:t>DD</a:t>
              </a:r>
              <a:r>
                <a:rPr sz="2400" b="1" kern="1200" dirty="0">
                  <a:solidFill>
                    <a:srgbClr val="000066"/>
                  </a:solidFill>
                  <a:ea typeface="楷体_GB2312" pitchFamily="49" charset="-122"/>
                </a:rPr>
                <a:t>，</a:t>
              </a:r>
              <a:r>
                <a:rPr lang="en-US" sz="2400" b="1" kern="1200" dirty="0">
                  <a:solidFill>
                    <a:srgbClr val="000066"/>
                  </a:solidFill>
                  <a:ea typeface="楷体_GB2312" pitchFamily="49" charset="-122"/>
                </a:rPr>
                <a:t>  </a:t>
              </a:r>
              <a:r>
                <a:rPr sz="2400" b="1" kern="1200" dirty="0">
                  <a:solidFill>
                    <a:srgbClr val="000066"/>
                  </a:solidFill>
                  <a:ea typeface="楷体_GB2312" pitchFamily="49" charset="-122"/>
                </a:rPr>
                <a:t>端为0V时</a:t>
              </a:r>
              <a:r>
                <a:rPr lang="zh-CN" sz="2400" b="1" kern="1200" dirty="0">
                  <a:solidFill>
                    <a:srgbClr val="000066"/>
                  </a:solidFill>
                  <a:ea typeface="楷体_GB2312" pitchFamily="49" charset="-122"/>
                </a:rPr>
                <a:t>，且</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I </a:t>
              </a:r>
              <a:r>
                <a:rPr sz="2400" b="1" dirty="0">
                  <a:solidFill>
                    <a:srgbClr val="000066"/>
                  </a:solidFill>
                  <a:ea typeface="楷体_GB2312" pitchFamily="49" charset="-122"/>
                  <a:sym typeface="+mn-ea"/>
                </a:rPr>
                <a:t>取值为</a:t>
              </a:r>
              <a:r>
                <a:rPr lang="en-US" sz="2400" kern="1200">
                  <a:latin typeface="Times New Roman" panose="02020603050405020304" charset="0"/>
                  <a:ea typeface="宋体" panose="02010600030101010101" pitchFamily="2" charset="-122"/>
                </a:rPr>
                <a:t>0 V~</a:t>
              </a:r>
              <a:r>
                <a:rPr lang="en-US" sz="2400" i="1" kern="1200">
                  <a:latin typeface="Times New Roman" panose="02020603050405020304" charset="0"/>
                  <a:ea typeface="宋体" panose="02010600030101010101" pitchFamily="2" charset="-122"/>
                </a:rPr>
                <a:t> </a:t>
              </a:r>
              <a:r>
                <a:rPr lang="en-US" sz="2400" kern="1200">
                  <a:latin typeface="Times New Roman" panose="02020603050405020304" charset="0"/>
                  <a:ea typeface="宋体" panose="02010600030101010101" pitchFamily="2" charset="-122"/>
                </a:rPr>
                <a:t>(</a:t>
              </a:r>
              <a:r>
                <a:rPr lang="en-US" sz="2400" i="1" kern="1200">
                  <a:latin typeface="Times New Roman" panose="02020603050405020304" charset="0"/>
                  <a:ea typeface="宋体" panose="02010600030101010101" pitchFamily="2" charset="-122"/>
                </a:rPr>
                <a:t>V</a:t>
              </a:r>
              <a:r>
                <a:rPr lang="en-US" sz="2400" kern="1200" baseline="-25000">
                  <a:latin typeface="Times New Roman" panose="02020603050405020304" charset="0"/>
                  <a:ea typeface="宋体" panose="02010600030101010101" pitchFamily="2" charset="-122"/>
                </a:rPr>
                <a:t>DD</a:t>
              </a:r>
              <a:r>
                <a:rPr lang="en-US" sz="2400" kern="1200">
                  <a:latin typeface="Times New Roman" panose="02020603050405020304" charset="0"/>
                  <a:ea typeface="宋体" panose="02010600030101010101" pitchFamily="2" charset="-122"/>
                </a:rPr>
                <a:t> - </a:t>
              </a:r>
              <a:r>
                <a:rPr lang="en-US" sz="2400" i="1" kern="1200">
                  <a:latin typeface="Times New Roman" panose="02020603050405020304" charset="0"/>
                  <a:ea typeface="宋体" panose="02010600030101010101" pitchFamily="2" charset="-122"/>
                </a:rPr>
                <a:t>V</a:t>
              </a:r>
              <a:r>
                <a:rPr lang="en-US" sz="2400" kern="1200" baseline="-25000">
                  <a:latin typeface="Times New Roman" panose="02020603050405020304" charset="0"/>
                  <a:ea typeface="宋体" panose="02010600030101010101" pitchFamily="2" charset="-122"/>
                </a:rPr>
                <a:t>T</a:t>
              </a:r>
              <a:r>
                <a:rPr lang="en-US" sz="2400" kern="1200">
                  <a:latin typeface="Times New Roman" panose="02020603050405020304" charset="0"/>
                  <a:ea typeface="宋体" panose="02010600030101010101" pitchFamily="2" charset="-122"/>
                </a:rPr>
                <a:t>)</a:t>
              </a:r>
              <a:r>
                <a:rPr sz="2400" b="1" kern="1200" dirty="0">
                  <a:solidFill>
                    <a:srgbClr val="000066"/>
                  </a:solidFill>
                  <a:ea typeface="楷体_GB2312" pitchFamily="49" charset="-122"/>
                </a:rPr>
                <a:t>时，NMOS管导通；而</a:t>
              </a:r>
              <a:r>
                <a:rPr lang="en-US" sz="2400" b="1" kern="1200" dirty="0">
                  <a:solidFill>
                    <a:srgbClr val="000066"/>
                  </a:solidFill>
                  <a:ea typeface="楷体_GB2312" pitchFamily="49" charset="-122"/>
                </a:rPr>
                <a:t> </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I </a:t>
              </a:r>
              <a:r>
                <a:rPr lang="zh-CN" sz="2400" b="1" kern="1200" dirty="0">
                  <a:solidFill>
                    <a:srgbClr val="000066"/>
                  </a:solidFill>
                  <a:ea typeface="楷体_GB2312" pitchFamily="49" charset="-122"/>
                </a:rPr>
                <a:t>取值为</a:t>
              </a:r>
              <a:r>
                <a:rPr lang="en-US" sz="2400" b="1" kern="1200" dirty="0">
                  <a:solidFill>
                    <a:srgbClr val="000066"/>
                  </a:solidFill>
                  <a:ea typeface="楷体_GB2312" pitchFamily="49" charset="-122"/>
                </a:rPr>
                <a:t> </a:t>
              </a:r>
              <a:r>
                <a:rPr lang="en-US" sz="2400" i="1" kern="1200">
                  <a:latin typeface="Times New Roman" panose="02020603050405020304" charset="0"/>
                  <a:ea typeface="宋体" panose="02010600030101010101" pitchFamily="2" charset="-122"/>
                </a:rPr>
                <a:t>V</a:t>
              </a:r>
              <a:r>
                <a:rPr lang="en-US" sz="2400" kern="1200" baseline="-25000">
                  <a:latin typeface="Times New Roman" panose="02020603050405020304" charset="0"/>
                  <a:ea typeface="宋体" panose="02010600030101010101" pitchFamily="2" charset="-122"/>
                </a:rPr>
                <a:t>T</a:t>
              </a:r>
              <a:r>
                <a:rPr lang="en-US" sz="2400" kern="1200">
                  <a:latin typeface="Times New Roman" panose="02020603050405020304" charset="0"/>
                  <a:ea typeface="宋体" panose="02010600030101010101" pitchFamily="2" charset="-122"/>
                </a:rPr>
                <a:t> ~</a:t>
              </a:r>
              <a:r>
                <a:rPr lang="en-US" sz="2400" i="1" kern="1200">
                  <a:latin typeface="Times New Roman" panose="02020603050405020304" charset="0"/>
                  <a:ea typeface="宋体" panose="02010600030101010101" pitchFamily="2" charset="-122"/>
                </a:rPr>
                <a:t> V</a:t>
              </a:r>
              <a:r>
                <a:rPr lang="en-US" sz="2400" i="1" kern="1200" baseline="-25000">
                  <a:latin typeface="Times New Roman" panose="02020603050405020304" charset="0"/>
                  <a:ea typeface="宋体" panose="02010600030101010101" pitchFamily="2" charset="-122"/>
                </a:rPr>
                <a:t>DD </a:t>
              </a:r>
              <a:r>
                <a:rPr sz="2400" b="1" kern="1200" dirty="0">
                  <a:solidFill>
                    <a:srgbClr val="000066"/>
                  </a:solidFill>
                  <a:ea typeface="楷体_GB2312" pitchFamily="49" charset="-122"/>
                </a:rPr>
                <a:t>时，PMOS管导通。因此，</a:t>
              </a:r>
              <a:r>
                <a:rPr lang="en-US" sz="2400" i="1">
                  <a:latin typeface="Times New Roman" panose="02020603050405020304" charset="0"/>
                  <a:ea typeface="宋体" panose="02010600030101010101" pitchFamily="2" charset="-122"/>
                  <a:sym typeface="+mn-ea"/>
                </a:rPr>
                <a:t>υ</a:t>
              </a:r>
              <a:r>
                <a:rPr lang="en-US" sz="2400" baseline="-25000">
                  <a:latin typeface="Times New Roman" panose="02020603050405020304" charset="0"/>
                  <a:ea typeface="宋体" panose="02010600030101010101" pitchFamily="2" charset="-122"/>
                  <a:sym typeface="+mn-ea"/>
                </a:rPr>
                <a:t>I </a:t>
              </a:r>
              <a:r>
                <a:rPr sz="2400" b="1" kern="1200" dirty="0">
                  <a:solidFill>
                    <a:srgbClr val="000066"/>
                  </a:solidFill>
                  <a:ea typeface="楷体_GB2312" pitchFamily="49" charset="-122"/>
                </a:rPr>
                <a:t>在</a:t>
              </a:r>
              <a:r>
                <a:rPr lang="en-US" sz="2400" kern="1200">
                  <a:latin typeface="Times New Roman" panose="02020603050405020304" charset="0"/>
                  <a:ea typeface="宋体" panose="02010600030101010101" pitchFamily="2" charset="-122"/>
                </a:rPr>
                <a:t>0 V ~ + </a:t>
              </a:r>
              <a:r>
                <a:rPr lang="en-US" sz="2400" i="1" kern="1200">
                  <a:latin typeface="Times New Roman" panose="02020603050405020304" charset="0"/>
                  <a:ea typeface="宋体" panose="02010600030101010101" pitchFamily="2" charset="-122"/>
                </a:rPr>
                <a:t>V</a:t>
              </a:r>
              <a:r>
                <a:rPr lang="en-US" sz="2400" kern="1200" baseline="-25000">
                  <a:latin typeface="Times New Roman" panose="02020603050405020304" charset="0"/>
                  <a:ea typeface="宋体" panose="02010600030101010101" pitchFamily="2" charset="-122"/>
                </a:rPr>
                <a:t>DD</a:t>
              </a:r>
              <a:r>
                <a:rPr sz="2400" b="1" kern="1200" dirty="0">
                  <a:solidFill>
                    <a:srgbClr val="000066"/>
                  </a:solidFill>
                  <a:ea typeface="楷体_GB2312" pitchFamily="49" charset="-122"/>
                </a:rPr>
                <a:t>范围内变化时，NMOS管和PMOS管至少有一个是导通的，传输门导通。</a:t>
              </a:r>
              <a:endParaRPr sz="2400" b="1" kern="1200" dirty="0">
                <a:solidFill>
                  <a:srgbClr val="000066"/>
                </a:solidFill>
                <a:ea typeface="楷体_GB2312" pitchFamily="49" charset="-122"/>
              </a:endParaRPr>
            </a:p>
          </p:txBody>
        </p:sp>
        <p:graphicFrame>
          <p:nvGraphicFramePr>
            <p:cNvPr id="11" name="对象 647"/>
            <p:cNvGraphicFramePr>
              <a:graphicFrameLocks noChangeAspect="1"/>
            </p:cNvGraphicFramePr>
            <p:nvPr/>
          </p:nvGraphicFramePr>
          <p:xfrm>
            <a:off x="4080" y="4080"/>
            <a:ext cx="438" cy="478"/>
          </p:xfrm>
          <a:graphic>
            <a:graphicData uri="http://schemas.openxmlformats.org/presentationml/2006/ole">
              <mc:AlternateContent xmlns:mc="http://schemas.openxmlformats.org/markup-compatibility/2006">
                <mc:Choice xmlns:v="urn:schemas-microsoft-com:vml" Requires="v">
                  <p:oleObj spid="_x0000_s12" name="" r:id="rId6" imgW="139700" imgH="152400" progId="Equation.DSMT4">
                    <p:embed/>
                  </p:oleObj>
                </mc:Choice>
                <mc:Fallback>
                  <p:oleObj name="" r:id="rId6" imgW="139700" imgH="152400" progId="Equation.DSMT4">
                    <p:embed/>
                    <p:pic>
                      <p:nvPicPr>
                        <p:cNvPr id="0" name="图片 3075"/>
                        <p:cNvPicPr/>
                        <p:nvPr/>
                      </p:nvPicPr>
                      <p:blipFill>
                        <a:blip r:embed="rId3"/>
                        <a:stretch>
                          <a:fillRect/>
                        </a:stretch>
                      </p:blipFill>
                      <p:spPr>
                        <a:xfrm>
                          <a:off x="4080" y="4080"/>
                          <a:ext cx="438" cy="478"/>
                        </a:xfrm>
                        <a:prstGeom prst="rect">
                          <a:avLst/>
                        </a:prstGeom>
                        <a:noFill/>
                        <a:ln w="38100">
                          <a:noFill/>
                          <a:miter/>
                        </a:ln>
                      </p:spPr>
                    </p:pic>
                  </p:oleObj>
                </mc:Fallback>
              </mc:AlternateContent>
            </a:graphicData>
          </a:graphic>
        </p:graphicFrame>
        <p:graphicFrame>
          <p:nvGraphicFramePr>
            <p:cNvPr id="13" name="对象 648"/>
            <p:cNvGraphicFramePr>
              <a:graphicFrameLocks noChangeAspect="1"/>
            </p:cNvGraphicFramePr>
            <p:nvPr/>
          </p:nvGraphicFramePr>
          <p:xfrm>
            <a:off x="6600" y="3960"/>
            <a:ext cx="440" cy="600"/>
          </p:xfrm>
          <a:graphic>
            <a:graphicData uri="http://schemas.openxmlformats.org/presentationml/2006/ole">
              <mc:AlternateContent xmlns:mc="http://schemas.openxmlformats.org/markup-compatibility/2006">
                <mc:Choice xmlns:v="urn:schemas-microsoft-com:vml" Requires="v">
                  <p:oleObj spid="_x0000_s14" name="" r:id="rId7" imgW="139700" imgH="190500" progId="Equation.DSMT4">
                    <p:embed/>
                  </p:oleObj>
                </mc:Choice>
                <mc:Fallback>
                  <p:oleObj name="" r:id="rId7" imgW="139700" imgH="190500" progId="Equation.DSMT4">
                    <p:embed/>
                    <p:pic>
                      <p:nvPicPr>
                        <p:cNvPr id="0" name="图片 39"/>
                        <p:cNvPicPr/>
                        <p:nvPr/>
                      </p:nvPicPr>
                      <p:blipFill>
                        <a:blip r:embed="rId5"/>
                        <a:stretch>
                          <a:fillRect/>
                        </a:stretch>
                      </p:blipFill>
                      <p:spPr>
                        <a:xfrm>
                          <a:off x="6600" y="3960"/>
                          <a:ext cx="440" cy="600"/>
                        </a:xfrm>
                        <a:prstGeom prst="rect">
                          <a:avLst/>
                        </a:prstGeom>
                        <a:noFill/>
                        <a:ln w="38100">
                          <a:noFill/>
                          <a:miter/>
                        </a:ln>
                      </p:spPr>
                    </p:pic>
                  </p:oleObj>
                </mc:Fallback>
              </mc:AlternateContent>
            </a:graphicData>
          </a:graphic>
        </p:graphicFrame>
      </p:grpSp>
      <p:sp>
        <p:nvSpPr>
          <p:cNvPr id="4" name="文本框 3"/>
          <p:cNvSpPr txBox="1"/>
          <p:nvPr/>
        </p:nvSpPr>
        <p:spPr>
          <a:xfrm>
            <a:off x="3810000" y="4343400"/>
            <a:ext cx="5088890" cy="2306955"/>
          </a:xfrm>
          <a:prstGeom prst="rect">
            <a:avLst/>
          </a:prstGeom>
          <a:noFill/>
          <a:ln w="9525">
            <a:noFill/>
          </a:ln>
        </p:spPr>
        <p:txBody>
          <a:bodyPr wrap="square">
            <a:spAutoFit/>
          </a:bodyPr>
          <a:p>
            <a:pPr indent="266700"/>
            <a:r>
              <a:rPr sz="2400" b="1" dirty="0">
                <a:solidFill>
                  <a:srgbClr val="000066"/>
                </a:solidFill>
                <a:latin typeface="+mn-lt"/>
                <a:ea typeface="楷体_GB2312" pitchFamily="49" charset="-122"/>
              </a:rPr>
              <a:t>由于NMOS管和PMOS管的结构都是对称的，可以将它们漏极连接在一起作为输入端，源极连接在一起作为输出端，因而，CMOS传输门的输入和输出端可以互换，即传输门是一种双向器件。</a:t>
            </a:r>
            <a:endParaRPr sz="2400" b="1" dirty="0">
              <a:solidFill>
                <a:srgbClr val="000066"/>
              </a:solidFill>
              <a:latin typeface="+mn-lt"/>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000" fill="hold">
                                          <p:stCondLst>
                                            <p:cond delay="0"/>
                                          </p:stCondLst>
                                        </p:cTn>
                                        <p:tgtEl>
                                          <p:spTgt spid="4"/>
                                        </p:tgtEl>
                                        <p:attrNameLst>
                                          <p:attrName>style.visibility</p:attrName>
                                        </p:attrNameLst>
                                      </p:cBhvr>
                                      <p:to>
                                        <p:strVal val="visible"/>
                                      </p:to>
                                    </p:set>
                                    <p:animEffect transition="in" filter="wedge">
                                      <p:cBhvr>
                                        <p:cTn id="12"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400800"/>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3.3 </a:t>
            </a:r>
            <a:r>
              <a:rPr b="1" dirty="0">
                <a:solidFill>
                  <a:srgbClr val="FF0000"/>
                </a:solidFill>
                <a:latin typeface="黑体" panose="02010609060101010101" pitchFamily="49" charset="-122"/>
                <a:ea typeface="黑体" panose="02010609060101010101" pitchFamily="49" charset="-122"/>
              </a:rPr>
              <a:t>COMS逻辑门电路</a:t>
            </a:r>
            <a:endParaRPr b="1" dirty="0">
              <a:solidFill>
                <a:srgbClr val="FF000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457200" y="1295400"/>
            <a:ext cx="8385175" cy="870585"/>
          </a:xfrm>
        </p:spPr>
        <p:txBody>
          <a:bodyPr vert="horz" wrap="square" lIns="91440" tIns="45720" rIns="91440" bIns="45720" anchor="t" anchorCtr="0"/>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ea typeface="楷体_GB2312" pitchFamily="49" charset="-122"/>
              </a:rPr>
              <a:t>    【例3-4】分析图3-50所示的电路，写出输出Y的逻辑表达式，并说明其逻辑功能。</a:t>
            </a:r>
            <a:endParaRPr sz="2400" b="1" kern="1200" dirty="0">
              <a:solidFill>
                <a:srgbClr val="000066"/>
              </a:solidFill>
              <a:ea typeface="楷体_GB2312" pitchFamily="49" charset="-122"/>
            </a:endParaRPr>
          </a:p>
        </p:txBody>
      </p:sp>
      <p:sp>
        <p:nvSpPr>
          <p:cNvPr id="100" name="文本框 99"/>
          <p:cNvSpPr txBox="1"/>
          <p:nvPr/>
        </p:nvSpPr>
        <p:spPr>
          <a:xfrm>
            <a:off x="1295400" y="5638800"/>
            <a:ext cx="2315845" cy="386080"/>
          </a:xfrm>
          <a:prstGeom prst="rect">
            <a:avLst/>
          </a:prstGeom>
          <a:noFill/>
          <a:ln w="9525">
            <a:noFill/>
          </a:ln>
        </p:spPr>
        <p:txBody>
          <a:bodyPr wrap="square">
            <a:spAutoFit/>
          </a:bodyPr>
          <a:p>
            <a:pPr>
              <a:lnSpc>
                <a:spcPct val="120000"/>
              </a:lnSpc>
            </a:pPr>
            <a:r>
              <a:rPr sz="1600">
                <a:ea typeface="宋体" panose="02010600030101010101" pitchFamily="2" charset="-122"/>
              </a:rPr>
              <a:t>图3-50例3-4逻辑电路</a:t>
            </a:r>
            <a:endParaRPr sz="1600">
              <a:ea typeface="宋体" panose="02010600030101010101" pitchFamily="2" charset="-122"/>
            </a:endParaRPr>
          </a:p>
        </p:txBody>
      </p:sp>
      <p:pic>
        <p:nvPicPr>
          <p:cNvPr id="9274" name="图片 2711"/>
          <p:cNvPicPr>
            <a:picLocks noChangeAspect="1"/>
          </p:cNvPicPr>
          <p:nvPr/>
        </p:nvPicPr>
        <p:blipFill>
          <a:blip r:embed="rId1"/>
          <a:stretch>
            <a:fillRect/>
          </a:stretch>
        </p:blipFill>
        <p:spPr>
          <a:xfrm>
            <a:off x="838200" y="2438400"/>
            <a:ext cx="3891280" cy="3014980"/>
          </a:xfrm>
          <a:prstGeom prst="rect">
            <a:avLst/>
          </a:prstGeom>
          <a:noFill/>
          <a:ln>
            <a:noFill/>
          </a:ln>
        </p:spPr>
      </p:pic>
      <p:grpSp>
        <p:nvGrpSpPr>
          <p:cNvPr id="16" name="组合 15"/>
          <p:cNvGrpSpPr/>
          <p:nvPr/>
        </p:nvGrpSpPr>
        <p:grpSpPr>
          <a:xfrm>
            <a:off x="5054918" y="3035618"/>
            <a:ext cx="868363" cy="2170112"/>
            <a:chOff x="2481" y="1711"/>
            <a:chExt cx="547" cy="1367"/>
          </a:xfrm>
        </p:grpSpPr>
        <p:sp>
          <p:nvSpPr>
            <p:cNvPr id="17" name="文本框 419936"/>
            <p:cNvSpPr txBox="1"/>
            <p:nvPr/>
          </p:nvSpPr>
          <p:spPr>
            <a:xfrm>
              <a:off x="2481" y="1711"/>
              <a:ext cx="547" cy="290"/>
            </a:xfrm>
            <a:prstGeom prst="rect">
              <a:avLst/>
            </a:prstGeom>
            <a:noFill/>
            <a:ln w="9525">
              <a:noFill/>
            </a:ln>
          </p:spPr>
          <p:txBody>
            <a:bodyPr wrap="none" anchor="t" anchorCtr="0">
              <a:spAutoFit/>
            </a:bodyPr>
            <a:p>
              <a:pPr eaLnBrk="0" hangingPunct="0"/>
              <a:r>
                <a:rPr lang="en-US" altLang="zh-CN" sz="2400" b="1">
                  <a:solidFill>
                    <a:srgbClr val="000066"/>
                  </a:solidFill>
                  <a:latin typeface="Times New Roman" panose="02020603050405020304" charset="0"/>
                  <a:ea typeface="楷体_GB2312" pitchFamily="49" charset="-122"/>
                </a:rPr>
                <a:t>0     0</a:t>
              </a:r>
              <a:endParaRPr lang="en-US" altLang="zh-CN" sz="2400" b="1">
                <a:solidFill>
                  <a:srgbClr val="000066"/>
                </a:solidFill>
                <a:latin typeface="Times New Roman" panose="02020603050405020304" charset="0"/>
                <a:ea typeface="楷体_GB2312" pitchFamily="49" charset="-122"/>
              </a:endParaRPr>
            </a:p>
          </p:txBody>
        </p:sp>
        <p:sp>
          <p:nvSpPr>
            <p:cNvPr id="18" name="文本框 419937"/>
            <p:cNvSpPr txBox="1"/>
            <p:nvPr/>
          </p:nvSpPr>
          <p:spPr>
            <a:xfrm>
              <a:off x="2481" y="2062"/>
              <a:ext cx="547" cy="290"/>
            </a:xfrm>
            <a:prstGeom prst="rect">
              <a:avLst/>
            </a:prstGeom>
            <a:noFill/>
            <a:ln w="9525">
              <a:noFill/>
            </a:ln>
          </p:spPr>
          <p:txBody>
            <a:bodyPr wrap="none" anchor="t" anchorCtr="0">
              <a:spAutoFit/>
            </a:bodyPr>
            <a:p>
              <a:pPr eaLnBrk="0" hangingPunct="0"/>
              <a:r>
                <a:rPr lang="en-US" altLang="zh-CN" sz="2400" b="1">
                  <a:solidFill>
                    <a:srgbClr val="000066"/>
                  </a:solidFill>
                  <a:latin typeface="Times New Roman" panose="02020603050405020304" charset="0"/>
                  <a:ea typeface="楷体_GB2312" pitchFamily="49" charset="-122"/>
                </a:rPr>
                <a:t>0     1</a:t>
              </a:r>
              <a:endParaRPr lang="en-US" altLang="zh-CN" sz="2400" b="1">
                <a:solidFill>
                  <a:srgbClr val="000066"/>
                </a:solidFill>
                <a:latin typeface="Times New Roman" panose="02020603050405020304" charset="0"/>
                <a:ea typeface="楷体_GB2312" pitchFamily="49" charset="-122"/>
              </a:endParaRPr>
            </a:p>
          </p:txBody>
        </p:sp>
        <p:sp>
          <p:nvSpPr>
            <p:cNvPr id="19" name="文本框 419938"/>
            <p:cNvSpPr txBox="1"/>
            <p:nvPr/>
          </p:nvSpPr>
          <p:spPr>
            <a:xfrm>
              <a:off x="2481" y="2431"/>
              <a:ext cx="547" cy="290"/>
            </a:xfrm>
            <a:prstGeom prst="rect">
              <a:avLst/>
            </a:prstGeom>
            <a:noFill/>
            <a:ln w="9525">
              <a:noFill/>
            </a:ln>
          </p:spPr>
          <p:txBody>
            <a:bodyPr wrap="none" anchor="t" anchorCtr="0">
              <a:spAutoFit/>
            </a:bodyPr>
            <a:p>
              <a:pPr eaLnBrk="0" hangingPunct="0"/>
              <a:r>
                <a:rPr lang="en-US" altLang="zh-CN" sz="2400" b="1">
                  <a:solidFill>
                    <a:srgbClr val="000066"/>
                  </a:solidFill>
                  <a:latin typeface="Times New Roman" panose="02020603050405020304" charset="0"/>
                  <a:ea typeface="楷体_GB2312" pitchFamily="49" charset="-122"/>
                </a:rPr>
                <a:t>1     0</a:t>
              </a:r>
              <a:endParaRPr lang="en-US" altLang="zh-CN" sz="2400" b="1">
                <a:solidFill>
                  <a:srgbClr val="000066"/>
                </a:solidFill>
                <a:latin typeface="Times New Roman" panose="02020603050405020304" charset="0"/>
                <a:ea typeface="楷体_GB2312" pitchFamily="49" charset="-122"/>
              </a:endParaRPr>
            </a:p>
          </p:txBody>
        </p:sp>
        <p:sp>
          <p:nvSpPr>
            <p:cNvPr id="20" name="文本框 419939"/>
            <p:cNvSpPr txBox="1"/>
            <p:nvPr/>
          </p:nvSpPr>
          <p:spPr>
            <a:xfrm>
              <a:off x="2481" y="2788"/>
              <a:ext cx="547" cy="290"/>
            </a:xfrm>
            <a:prstGeom prst="rect">
              <a:avLst/>
            </a:prstGeom>
            <a:noFill/>
            <a:ln w="9525">
              <a:noFill/>
            </a:ln>
          </p:spPr>
          <p:txBody>
            <a:bodyPr wrap="none" anchor="t" anchorCtr="0">
              <a:spAutoFit/>
            </a:bodyPr>
            <a:p>
              <a:pPr eaLnBrk="0" hangingPunct="0"/>
              <a:r>
                <a:rPr lang="en-US" altLang="zh-CN" sz="2400" b="1">
                  <a:solidFill>
                    <a:srgbClr val="000066"/>
                  </a:solidFill>
                  <a:latin typeface="Times New Roman" panose="02020603050405020304" charset="0"/>
                  <a:ea typeface="楷体_GB2312" pitchFamily="49" charset="-122"/>
                </a:rPr>
                <a:t>1     1</a:t>
              </a:r>
              <a:endParaRPr lang="en-US" altLang="zh-CN" sz="2400" b="1">
                <a:solidFill>
                  <a:srgbClr val="000066"/>
                </a:solidFill>
                <a:latin typeface="Times New Roman" panose="02020603050405020304" charset="0"/>
                <a:ea typeface="楷体_GB2312" pitchFamily="49" charset="-122"/>
              </a:endParaRPr>
            </a:p>
          </p:txBody>
        </p:sp>
      </p:grpSp>
      <p:sp>
        <p:nvSpPr>
          <p:cNvPr id="22" name="文本框 419940"/>
          <p:cNvSpPr txBox="1"/>
          <p:nvPr/>
        </p:nvSpPr>
        <p:spPr>
          <a:xfrm>
            <a:off x="6045835" y="3038475"/>
            <a:ext cx="795020" cy="460375"/>
          </a:xfrm>
          <a:prstGeom prst="rect">
            <a:avLst/>
          </a:prstGeom>
          <a:noFill/>
          <a:ln w="9525">
            <a:noFill/>
          </a:ln>
        </p:spPr>
        <p:txBody>
          <a:bodyPr wrap="none" anchor="t" anchorCtr="0">
            <a:spAutoFit/>
          </a:bodyPr>
          <a:p>
            <a:pPr eaLnBrk="0" hangingPunct="0"/>
            <a:r>
              <a:rPr lang="zh-CN" altLang="en-US" sz="2400" b="1" dirty="0">
                <a:solidFill>
                  <a:srgbClr val="000066"/>
                </a:solidFill>
                <a:latin typeface="楷体_GB2312" pitchFamily="49" charset="-122"/>
                <a:ea typeface="楷体_GB2312" pitchFamily="49" charset="-122"/>
              </a:rPr>
              <a:t>导通</a:t>
            </a:r>
            <a:endParaRPr lang="zh-CN" altLang="en-US" sz="2400" b="1" dirty="0">
              <a:solidFill>
                <a:srgbClr val="000066"/>
              </a:solidFill>
              <a:latin typeface="楷体_GB2312" pitchFamily="49" charset="-122"/>
              <a:ea typeface="楷体_GB2312" pitchFamily="49" charset="-122"/>
            </a:endParaRPr>
          </a:p>
        </p:txBody>
      </p:sp>
      <p:sp>
        <p:nvSpPr>
          <p:cNvPr id="23" name="文本框 419941"/>
          <p:cNvSpPr txBox="1"/>
          <p:nvPr/>
        </p:nvSpPr>
        <p:spPr>
          <a:xfrm>
            <a:off x="6898005" y="3062605"/>
            <a:ext cx="901065" cy="460375"/>
          </a:xfrm>
          <a:prstGeom prst="rect">
            <a:avLst/>
          </a:prstGeom>
          <a:noFill/>
          <a:ln w="9525">
            <a:noFill/>
          </a:ln>
        </p:spPr>
        <p:txBody>
          <a:bodyPr wrap="square" anchor="t" anchorCtr="0">
            <a:spAutoFit/>
          </a:bodyPr>
          <a:p>
            <a:pPr eaLnBrk="0" hangingPunct="0"/>
            <a:r>
              <a:rPr lang="zh-CN" altLang="en-US" sz="2400" b="1" dirty="0">
                <a:solidFill>
                  <a:srgbClr val="000066"/>
                </a:solidFill>
                <a:latin typeface="楷体_GB2312" pitchFamily="49" charset="-122"/>
                <a:ea typeface="楷体_GB2312" pitchFamily="49" charset="-122"/>
              </a:rPr>
              <a:t>断开</a:t>
            </a:r>
            <a:endParaRPr lang="zh-CN" altLang="en-US" sz="2400" b="1" dirty="0">
              <a:solidFill>
                <a:srgbClr val="000066"/>
              </a:solidFill>
              <a:latin typeface="楷体_GB2312" pitchFamily="49" charset="-122"/>
              <a:ea typeface="楷体_GB2312" pitchFamily="49" charset="-122"/>
            </a:endParaRPr>
          </a:p>
        </p:txBody>
      </p:sp>
      <p:sp>
        <p:nvSpPr>
          <p:cNvPr id="27" name="文本框 419943"/>
          <p:cNvSpPr txBox="1"/>
          <p:nvPr/>
        </p:nvSpPr>
        <p:spPr>
          <a:xfrm>
            <a:off x="6883400" y="3565525"/>
            <a:ext cx="866775" cy="460375"/>
          </a:xfrm>
          <a:prstGeom prst="rect">
            <a:avLst/>
          </a:prstGeom>
          <a:noFill/>
          <a:ln w="9525">
            <a:noFill/>
          </a:ln>
        </p:spPr>
        <p:txBody>
          <a:bodyPr wrap="square" anchor="t" anchorCtr="0">
            <a:spAutoFit/>
          </a:bodyPr>
          <a:p>
            <a:pPr eaLnBrk="0" hangingPunct="0"/>
            <a:r>
              <a:rPr lang="zh-CN" altLang="en-US" sz="2400" b="1" dirty="0">
                <a:solidFill>
                  <a:srgbClr val="000066"/>
                </a:solidFill>
                <a:latin typeface="楷体_GB2312" pitchFamily="49" charset="-122"/>
                <a:ea typeface="楷体_GB2312" pitchFamily="49" charset="-122"/>
              </a:rPr>
              <a:t>导通</a:t>
            </a:r>
            <a:endParaRPr lang="zh-CN" altLang="en-US" sz="2400" b="1" dirty="0">
              <a:solidFill>
                <a:srgbClr val="000066"/>
              </a:solidFill>
              <a:latin typeface="楷体_GB2312" pitchFamily="49" charset="-122"/>
              <a:ea typeface="楷体_GB2312" pitchFamily="49" charset="-122"/>
            </a:endParaRPr>
          </a:p>
        </p:txBody>
      </p:sp>
      <p:sp>
        <p:nvSpPr>
          <p:cNvPr id="29" name="文本框 419950"/>
          <p:cNvSpPr txBox="1"/>
          <p:nvPr/>
        </p:nvSpPr>
        <p:spPr>
          <a:xfrm>
            <a:off x="6073775" y="3596005"/>
            <a:ext cx="795020" cy="460375"/>
          </a:xfrm>
          <a:prstGeom prst="rect">
            <a:avLst/>
          </a:prstGeom>
          <a:noFill/>
          <a:ln w="9525">
            <a:noFill/>
          </a:ln>
        </p:spPr>
        <p:txBody>
          <a:bodyPr wrap="none" anchor="t" anchorCtr="0">
            <a:spAutoFit/>
          </a:bodyPr>
          <a:p>
            <a:pPr eaLnBrk="0" hangingPunct="0"/>
            <a:r>
              <a:rPr lang="zh-CN" altLang="en-US" sz="2400" b="1" dirty="0">
                <a:solidFill>
                  <a:srgbClr val="000066"/>
                </a:solidFill>
                <a:latin typeface="楷体_GB2312" pitchFamily="49" charset="-122"/>
                <a:ea typeface="楷体_GB2312" pitchFamily="49" charset="-122"/>
              </a:rPr>
              <a:t>断开</a:t>
            </a:r>
            <a:endParaRPr lang="zh-CN" altLang="en-US" sz="2400" b="1" dirty="0">
              <a:solidFill>
                <a:srgbClr val="000066"/>
              </a:solidFill>
              <a:latin typeface="楷体_GB2312" pitchFamily="49" charset="-122"/>
              <a:ea typeface="楷体_GB2312" pitchFamily="49" charset="-122"/>
            </a:endParaRPr>
          </a:p>
        </p:txBody>
      </p:sp>
      <p:sp>
        <p:nvSpPr>
          <p:cNvPr id="32" name="文本框 419945"/>
          <p:cNvSpPr txBox="1"/>
          <p:nvPr/>
        </p:nvSpPr>
        <p:spPr>
          <a:xfrm>
            <a:off x="6045835" y="4144010"/>
            <a:ext cx="863600" cy="460375"/>
          </a:xfrm>
          <a:prstGeom prst="rect">
            <a:avLst/>
          </a:prstGeom>
          <a:noFill/>
          <a:ln w="9525">
            <a:noFill/>
          </a:ln>
        </p:spPr>
        <p:txBody>
          <a:bodyPr wrap="square" anchor="t" anchorCtr="0">
            <a:spAutoFit/>
          </a:bodyPr>
          <a:p>
            <a:pPr eaLnBrk="0" hangingPunct="0"/>
            <a:r>
              <a:rPr lang="zh-CN" altLang="en-US" sz="2400" b="1" dirty="0">
                <a:solidFill>
                  <a:srgbClr val="000066"/>
                </a:solidFill>
                <a:latin typeface="楷体_GB2312" pitchFamily="49" charset="-122"/>
                <a:ea typeface="楷体_GB2312" pitchFamily="49" charset="-122"/>
              </a:rPr>
              <a:t>导通</a:t>
            </a:r>
            <a:endParaRPr lang="zh-CN" altLang="en-US" sz="2400" b="1" dirty="0">
              <a:solidFill>
                <a:srgbClr val="000066"/>
              </a:solidFill>
              <a:latin typeface="楷体_GB2312" pitchFamily="49" charset="-122"/>
              <a:ea typeface="楷体_GB2312" pitchFamily="49" charset="-122"/>
            </a:endParaRPr>
          </a:p>
        </p:txBody>
      </p:sp>
      <p:sp>
        <p:nvSpPr>
          <p:cNvPr id="34" name="文本框 419952"/>
          <p:cNvSpPr txBox="1"/>
          <p:nvPr/>
        </p:nvSpPr>
        <p:spPr>
          <a:xfrm>
            <a:off x="6923405" y="4144010"/>
            <a:ext cx="831215" cy="460375"/>
          </a:xfrm>
          <a:prstGeom prst="rect">
            <a:avLst/>
          </a:prstGeom>
          <a:noFill/>
          <a:ln w="9525">
            <a:noFill/>
          </a:ln>
        </p:spPr>
        <p:txBody>
          <a:bodyPr wrap="square" anchor="t" anchorCtr="0">
            <a:spAutoFit/>
          </a:bodyPr>
          <a:p>
            <a:pPr eaLnBrk="0" hangingPunct="0"/>
            <a:r>
              <a:rPr lang="zh-CN" altLang="en-US" sz="2400" b="1" dirty="0">
                <a:solidFill>
                  <a:srgbClr val="000066"/>
                </a:solidFill>
                <a:latin typeface="楷体_GB2312" pitchFamily="49" charset="-122"/>
                <a:ea typeface="楷体_GB2312" pitchFamily="49" charset="-122"/>
              </a:rPr>
              <a:t>断开</a:t>
            </a:r>
            <a:endParaRPr lang="zh-CN" altLang="en-US" sz="2400" b="1" dirty="0">
              <a:solidFill>
                <a:srgbClr val="000066"/>
              </a:solidFill>
              <a:latin typeface="楷体_GB2312" pitchFamily="49" charset="-122"/>
              <a:ea typeface="楷体_GB2312" pitchFamily="49" charset="-122"/>
            </a:endParaRPr>
          </a:p>
        </p:txBody>
      </p:sp>
      <p:sp>
        <p:nvSpPr>
          <p:cNvPr id="33909" name="文本框 419947"/>
          <p:cNvSpPr txBox="1"/>
          <p:nvPr/>
        </p:nvSpPr>
        <p:spPr>
          <a:xfrm>
            <a:off x="6901180" y="4737100"/>
            <a:ext cx="938530" cy="460375"/>
          </a:xfrm>
          <a:prstGeom prst="rect">
            <a:avLst/>
          </a:prstGeom>
          <a:noFill/>
          <a:ln w="9525">
            <a:noFill/>
          </a:ln>
        </p:spPr>
        <p:txBody>
          <a:bodyPr wrap="square" anchor="t" anchorCtr="0">
            <a:spAutoFit/>
          </a:bodyPr>
          <a:p>
            <a:pPr eaLnBrk="0" hangingPunct="0"/>
            <a:r>
              <a:rPr lang="zh-CN" altLang="en-US" sz="2400" b="1" dirty="0">
                <a:solidFill>
                  <a:srgbClr val="000066"/>
                </a:solidFill>
                <a:latin typeface="楷体_GB2312" pitchFamily="49" charset="-122"/>
                <a:ea typeface="楷体_GB2312" pitchFamily="49" charset="-122"/>
              </a:rPr>
              <a:t>导通</a:t>
            </a:r>
            <a:endParaRPr lang="zh-CN" altLang="en-US" sz="2400" b="1" dirty="0">
              <a:solidFill>
                <a:srgbClr val="000066"/>
              </a:solidFill>
              <a:latin typeface="楷体_GB2312" pitchFamily="49" charset="-122"/>
              <a:ea typeface="楷体_GB2312" pitchFamily="49" charset="-122"/>
            </a:endParaRPr>
          </a:p>
        </p:txBody>
      </p:sp>
      <p:sp>
        <p:nvSpPr>
          <p:cNvPr id="33911" name="文本框 419954"/>
          <p:cNvSpPr txBox="1"/>
          <p:nvPr/>
        </p:nvSpPr>
        <p:spPr>
          <a:xfrm>
            <a:off x="6096000" y="4724400"/>
            <a:ext cx="795020" cy="460375"/>
          </a:xfrm>
          <a:prstGeom prst="rect">
            <a:avLst/>
          </a:prstGeom>
          <a:noFill/>
          <a:ln w="9525">
            <a:noFill/>
          </a:ln>
        </p:spPr>
        <p:txBody>
          <a:bodyPr wrap="none" anchor="t" anchorCtr="0">
            <a:spAutoFit/>
          </a:bodyPr>
          <a:p>
            <a:pPr eaLnBrk="0" hangingPunct="0"/>
            <a:r>
              <a:rPr lang="zh-CN" altLang="en-US" sz="2400" b="1" dirty="0">
                <a:solidFill>
                  <a:srgbClr val="000066"/>
                </a:solidFill>
                <a:latin typeface="楷体_GB2312" pitchFamily="49" charset="-122"/>
                <a:ea typeface="楷体_GB2312" pitchFamily="49" charset="-122"/>
              </a:rPr>
              <a:t>断开</a:t>
            </a:r>
            <a:endParaRPr lang="zh-CN" altLang="en-US" sz="2400" b="1" dirty="0">
              <a:solidFill>
                <a:srgbClr val="000066"/>
              </a:solidFill>
              <a:latin typeface="楷体_GB2312" pitchFamily="49" charset="-122"/>
              <a:ea typeface="楷体_GB2312" pitchFamily="49" charset="-122"/>
            </a:endParaRPr>
          </a:p>
        </p:txBody>
      </p:sp>
      <p:sp>
        <p:nvSpPr>
          <p:cNvPr id="36" name="文本框 35"/>
          <p:cNvSpPr txBox="1"/>
          <p:nvPr/>
        </p:nvSpPr>
        <p:spPr>
          <a:xfrm>
            <a:off x="7821930" y="3026093"/>
            <a:ext cx="335280" cy="460375"/>
          </a:xfrm>
          <a:prstGeom prst="rect">
            <a:avLst/>
          </a:prstGeom>
          <a:noFill/>
          <a:ln w="9525">
            <a:noFill/>
          </a:ln>
        </p:spPr>
        <p:txBody>
          <a:bodyPr wrap="none" anchor="t" anchorCtr="0">
            <a:spAutoFit/>
          </a:bodyPr>
          <a:p>
            <a:pPr eaLnBrk="0" hangingPunct="0"/>
            <a:r>
              <a:rPr lang="en-US" altLang="zh-CN" sz="2400" b="1">
                <a:solidFill>
                  <a:srgbClr val="000066"/>
                </a:solidFill>
                <a:latin typeface="Times New Roman" panose="02020603050405020304" charset="0"/>
                <a:ea typeface="楷体_GB2312" pitchFamily="49" charset="-122"/>
              </a:rPr>
              <a:t>1</a:t>
            </a:r>
            <a:endParaRPr lang="en-US" altLang="zh-CN" sz="2400" b="1">
              <a:solidFill>
                <a:srgbClr val="000066"/>
              </a:solidFill>
              <a:latin typeface="Times New Roman" panose="02020603050405020304" charset="0"/>
              <a:ea typeface="楷体_GB2312" pitchFamily="49" charset="-122"/>
            </a:endParaRPr>
          </a:p>
        </p:txBody>
      </p:sp>
      <p:sp>
        <p:nvSpPr>
          <p:cNvPr id="37" name="文本框 36"/>
          <p:cNvSpPr txBox="1"/>
          <p:nvPr/>
        </p:nvSpPr>
        <p:spPr>
          <a:xfrm>
            <a:off x="7842250" y="3559493"/>
            <a:ext cx="335280" cy="460375"/>
          </a:xfrm>
          <a:prstGeom prst="rect">
            <a:avLst/>
          </a:prstGeom>
          <a:noFill/>
          <a:ln w="9525">
            <a:noFill/>
          </a:ln>
        </p:spPr>
        <p:txBody>
          <a:bodyPr wrap="none" anchor="t" anchorCtr="0">
            <a:spAutoFit/>
          </a:bodyPr>
          <a:p>
            <a:pPr eaLnBrk="0" hangingPunct="0"/>
            <a:r>
              <a:rPr lang="en-US" altLang="zh-CN" sz="2400" b="1">
                <a:solidFill>
                  <a:srgbClr val="000066"/>
                </a:solidFill>
                <a:latin typeface="Times New Roman" panose="02020603050405020304" charset="0"/>
                <a:ea typeface="楷体_GB2312" pitchFamily="49" charset="-122"/>
              </a:rPr>
              <a:t>0</a:t>
            </a:r>
            <a:endParaRPr lang="en-US" altLang="zh-CN" sz="2400" b="1">
              <a:solidFill>
                <a:srgbClr val="000066"/>
              </a:solidFill>
              <a:latin typeface="Times New Roman" panose="02020603050405020304" charset="0"/>
              <a:ea typeface="楷体_GB2312" pitchFamily="49" charset="-122"/>
            </a:endParaRPr>
          </a:p>
        </p:txBody>
      </p:sp>
      <p:sp>
        <p:nvSpPr>
          <p:cNvPr id="38" name="文本框 37"/>
          <p:cNvSpPr txBox="1"/>
          <p:nvPr/>
        </p:nvSpPr>
        <p:spPr>
          <a:xfrm>
            <a:off x="7848600" y="4190683"/>
            <a:ext cx="335280" cy="460375"/>
          </a:xfrm>
          <a:prstGeom prst="rect">
            <a:avLst/>
          </a:prstGeom>
          <a:noFill/>
          <a:ln w="9525">
            <a:noFill/>
          </a:ln>
        </p:spPr>
        <p:txBody>
          <a:bodyPr wrap="none" anchor="t" anchorCtr="0">
            <a:spAutoFit/>
          </a:bodyPr>
          <a:p>
            <a:pPr eaLnBrk="0" hangingPunct="0"/>
            <a:r>
              <a:rPr lang="en-US" altLang="zh-CN" sz="2400" b="1">
                <a:solidFill>
                  <a:srgbClr val="000066"/>
                </a:solidFill>
                <a:latin typeface="Times New Roman" panose="02020603050405020304" charset="0"/>
                <a:ea typeface="楷体_GB2312" pitchFamily="49" charset="-122"/>
              </a:rPr>
              <a:t>0</a:t>
            </a:r>
            <a:endParaRPr lang="en-US" altLang="zh-CN" sz="2400" b="1">
              <a:solidFill>
                <a:srgbClr val="000066"/>
              </a:solidFill>
              <a:latin typeface="Times New Roman" panose="02020603050405020304" charset="0"/>
              <a:ea typeface="楷体_GB2312" pitchFamily="49" charset="-122"/>
            </a:endParaRPr>
          </a:p>
        </p:txBody>
      </p:sp>
      <p:sp>
        <p:nvSpPr>
          <p:cNvPr id="39" name="文本框 38"/>
          <p:cNvSpPr txBox="1"/>
          <p:nvPr/>
        </p:nvSpPr>
        <p:spPr>
          <a:xfrm>
            <a:off x="7851458" y="4745355"/>
            <a:ext cx="335280" cy="460375"/>
          </a:xfrm>
          <a:prstGeom prst="rect">
            <a:avLst/>
          </a:prstGeom>
          <a:noFill/>
          <a:ln w="9525">
            <a:noFill/>
          </a:ln>
        </p:spPr>
        <p:txBody>
          <a:bodyPr wrap="none" anchor="t" anchorCtr="0">
            <a:spAutoFit/>
          </a:bodyPr>
          <a:p>
            <a:pPr eaLnBrk="0" hangingPunct="0"/>
            <a:r>
              <a:rPr lang="en-US" altLang="zh-CN" sz="2400" b="1">
                <a:solidFill>
                  <a:srgbClr val="000066"/>
                </a:solidFill>
                <a:latin typeface="Times New Roman" panose="02020603050405020304" charset="0"/>
                <a:ea typeface="楷体_GB2312" pitchFamily="49" charset="-122"/>
              </a:rPr>
              <a:t>1</a:t>
            </a:r>
            <a:endParaRPr lang="en-US" altLang="zh-CN" sz="2400" b="1">
              <a:solidFill>
                <a:srgbClr val="000066"/>
              </a:solidFill>
              <a:latin typeface="Times New Roman" panose="02020603050405020304" charset="0"/>
              <a:ea typeface="楷体_GB2312" pitchFamily="49" charset="-122"/>
            </a:endParaRPr>
          </a:p>
        </p:txBody>
      </p:sp>
      <p:grpSp>
        <p:nvGrpSpPr>
          <p:cNvPr id="45" name="组合 44"/>
          <p:cNvGrpSpPr/>
          <p:nvPr/>
        </p:nvGrpSpPr>
        <p:grpSpPr>
          <a:xfrm>
            <a:off x="4966970" y="2349500"/>
            <a:ext cx="3426460" cy="2847340"/>
            <a:chOff x="7822" y="4060"/>
            <a:chExt cx="5396" cy="4484"/>
          </a:xfrm>
        </p:grpSpPr>
        <p:sp>
          <p:nvSpPr>
            <p:cNvPr id="32771" name="文本框 418819"/>
            <p:cNvSpPr txBox="1"/>
            <p:nvPr/>
          </p:nvSpPr>
          <p:spPr>
            <a:xfrm>
              <a:off x="7828" y="4089"/>
              <a:ext cx="1595" cy="818"/>
            </a:xfrm>
            <a:prstGeom prst="rect">
              <a:avLst/>
            </a:prstGeom>
            <a:noFill/>
            <a:ln w="9525">
              <a:noFill/>
            </a:ln>
          </p:spPr>
          <p:txBody>
            <a:bodyPr wrap="none" anchor="t" anchorCtr="0">
              <a:spAutoFit/>
            </a:bodyPr>
            <a:p>
              <a:pPr eaLnBrk="0" hangingPunct="0"/>
              <a:r>
                <a:rPr lang="en-US" altLang="zh-CN" sz="2800" i="1">
                  <a:solidFill>
                    <a:srgbClr val="000066"/>
                  </a:solidFill>
                  <a:latin typeface="Times New Roman" panose="02020603050405020304" charset="0"/>
                  <a:ea typeface="楷体_GB2312" pitchFamily="49" charset="-122"/>
                </a:rPr>
                <a:t>A</a:t>
              </a:r>
              <a:r>
                <a:rPr lang="en-US" altLang="zh-CN" sz="2800">
                  <a:solidFill>
                    <a:srgbClr val="000066"/>
                  </a:solidFill>
                  <a:latin typeface="Times New Roman" panose="02020603050405020304" charset="0"/>
                  <a:ea typeface="楷体_GB2312" pitchFamily="49" charset="-122"/>
                </a:rPr>
                <a:t>    </a:t>
              </a:r>
              <a:r>
                <a:rPr lang="en-US" altLang="zh-CN" sz="2800" i="1">
                  <a:solidFill>
                    <a:srgbClr val="000066"/>
                  </a:solidFill>
                  <a:latin typeface="Times New Roman" panose="02020603050405020304" charset="0"/>
                  <a:ea typeface="楷体_GB2312" pitchFamily="49" charset="-122"/>
                </a:rPr>
                <a:t>B</a:t>
              </a:r>
              <a:endParaRPr lang="en-US" altLang="zh-CN" sz="2800" i="1">
                <a:solidFill>
                  <a:srgbClr val="000066"/>
                </a:solidFill>
                <a:latin typeface="Times New Roman" panose="02020603050405020304" charset="0"/>
                <a:ea typeface="楷体_GB2312" pitchFamily="49" charset="-122"/>
              </a:endParaRPr>
            </a:p>
          </p:txBody>
        </p:sp>
        <p:sp>
          <p:nvSpPr>
            <p:cNvPr id="32772" name="文本框 418820"/>
            <p:cNvSpPr txBox="1"/>
            <p:nvPr/>
          </p:nvSpPr>
          <p:spPr>
            <a:xfrm>
              <a:off x="9568" y="4104"/>
              <a:ext cx="2615" cy="822"/>
            </a:xfrm>
            <a:prstGeom prst="rect">
              <a:avLst/>
            </a:prstGeom>
            <a:noFill/>
            <a:ln w="9525">
              <a:noFill/>
            </a:ln>
          </p:spPr>
          <p:txBody>
            <a:bodyPr wrap="square" anchor="t" anchorCtr="0">
              <a:spAutoFit/>
            </a:bodyPr>
            <a:p>
              <a:pPr eaLnBrk="0" hangingPunct="0"/>
              <a:r>
                <a:rPr lang="en-US" altLang="zh-CN" sz="2800">
                  <a:solidFill>
                    <a:srgbClr val="000066"/>
                  </a:solidFill>
                  <a:latin typeface="Times New Roman" panose="02020603050405020304" charset="0"/>
                  <a:ea typeface="楷体_GB2312" pitchFamily="49" charset="-122"/>
                </a:rPr>
                <a:t>TG</a:t>
              </a:r>
              <a:r>
                <a:rPr lang="en-US" altLang="zh-CN" sz="2800" baseline="-25000">
                  <a:solidFill>
                    <a:srgbClr val="000066"/>
                  </a:solidFill>
                  <a:latin typeface="Times New Roman" panose="02020603050405020304" charset="0"/>
                  <a:ea typeface="楷体_GB2312" pitchFamily="49" charset="-122"/>
                </a:rPr>
                <a:t>1</a:t>
              </a:r>
              <a:r>
                <a:rPr lang="en-US" altLang="zh-CN" sz="2800">
                  <a:solidFill>
                    <a:srgbClr val="000066"/>
                  </a:solidFill>
                  <a:latin typeface="Times New Roman" panose="02020603050405020304" charset="0"/>
                  <a:ea typeface="楷体_GB2312" pitchFamily="49" charset="-122"/>
                </a:rPr>
                <a:t>   TG</a:t>
              </a:r>
              <a:r>
                <a:rPr lang="en-US" altLang="zh-CN" sz="2800" baseline="-25000">
                  <a:solidFill>
                    <a:srgbClr val="000066"/>
                  </a:solidFill>
                  <a:latin typeface="Times New Roman" panose="02020603050405020304" charset="0"/>
                  <a:ea typeface="楷体_GB2312" pitchFamily="49" charset="-122"/>
                </a:rPr>
                <a:t>2</a:t>
              </a:r>
              <a:r>
                <a:rPr lang="en-US" altLang="zh-CN" sz="2000">
                  <a:solidFill>
                    <a:srgbClr val="000066"/>
                  </a:solidFill>
                  <a:latin typeface="Times New Roman" panose="02020603050405020304" charset="0"/>
                  <a:ea typeface="楷体_GB2312" pitchFamily="49" charset="-122"/>
                </a:rPr>
                <a:t> </a:t>
              </a:r>
              <a:r>
                <a:rPr lang="en-US" altLang="zh-CN" sz="2800">
                  <a:solidFill>
                    <a:srgbClr val="000066"/>
                  </a:solidFill>
                  <a:latin typeface="Times New Roman" panose="02020603050405020304" charset="0"/>
                  <a:ea typeface="楷体_GB2312" pitchFamily="49" charset="-122"/>
                </a:rPr>
                <a:t>   </a:t>
              </a:r>
              <a:endParaRPr lang="en-US" altLang="zh-CN" sz="2800" baseline="-25000">
                <a:solidFill>
                  <a:srgbClr val="000066"/>
                </a:solidFill>
                <a:latin typeface="Times New Roman" panose="02020603050405020304" charset="0"/>
                <a:ea typeface="楷体_GB2312" pitchFamily="49" charset="-122"/>
              </a:endParaRPr>
            </a:p>
          </p:txBody>
        </p:sp>
        <p:sp>
          <p:nvSpPr>
            <p:cNvPr id="32779" name="文本框 418827"/>
            <p:cNvSpPr txBox="1"/>
            <p:nvPr/>
          </p:nvSpPr>
          <p:spPr>
            <a:xfrm>
              <a:off x="12360" y="4080"/>
              <a:ext cx="600" cy="823"/>
            </a:xfrm>
            <a:prstGeom prst="rect">
              <a:avLst/>
            </a:prstGeom>
            <a:noFill/>
            <a:ln w="9525">
              <a:noFill/>
            </a:ln>
          </p:spPr>
          <p:txBody>
            <a:bodyPr wrap="none" anchor="t" anchorCtr="0">
              <a:spAutoFit/>
            </a:bodyPr>
            <a:p>
              <a:pPr eaLnBrk="0" hangingPunct="0"/>
              <a:r>
                <a:rPr lang="en-US" altLang="zh-CN" sz="2800" i="1">
                  <a:solidFill>
                    <a:srgbClr val="000066"/>
                  </a:solidFill>
                  <a:latin typeface="Times New Roman" panose="02020603050405020304" charset="0"/>
                  <a:ea typeface="楷体_GB2312" pitchFamily="49" charset="-122"/>
                </a:rPr>
                <a:t>Y</a:t>
              </a:r>
              <a:endParaRPr lang="en-US" altLang="zh-CN" sz="2800" i="1">
                <a:solidFill>
                  <a:srgbClr val="000066"/>
                </a:solidFill>
                <a:latin typeface="Times New Roman" panose="02020603050405020304" charset="0"/>
                <a:ea typeface="楷体_GB2312" pitchFamily="49" charset="-122"/>
              </a:endParaRPr>
            </a:p>
          </p:txBody>
        </p:sp>
        <p:grpSp>
          <p:nvGrpSpPr>
            <p:cNvPr id="44" name="组合 43"/>
            <p:cNvGrpSpPr/>
            <p:nvPr/>
          </p:nvGrpSpPr>
          <p:grpSpPr>
            <a:xfrm>
              <a:off x="7822" y="4060"/>
              <a:ext cx="5396" cy="4484"/>
              <a:chOff x="7822" y="4060"/>
              <a:chExt cx="5396" cy="4484"/>
            </a:xfrm>
          </p:grpSpPr>
          <p:sp>
            <p:nvSpPr>
              <p:cNvPr id="32776" name="直接连接符 418824"/>
              <p:cNvSpPr/>
              <p:nvPr/>
            </p:nvSpPr>
            <p:spPr>
              <a:xfrm>
                <a:off x="7834" y="8544"/>
                <a:ext cx="5363" cy="0"/>
              </a:xfrm>
              <a:prstGeom prst="line">
                <a:avLst/>
              </a:prstGeom>
              <a:ln w="38100" cap="flat" cmpd="sng">
                <a:solidFill>
                  <a:schemeClr val="accent6">
                    <a:lumMod val="60000"/>
                    <a:lumOff val="40000"/>
                  </a:schemeClr>
                </a:solidFill>
                <a:prstDash val="solid"/>
                <a:round/>
                <a:headEnd type="none" w="med" len="med"/>
                <a:tailEnd type="none" w="med" len="med"/>
              </a:ln>
            </p:spPr>
          </p:sp>
          <p:sp>
            <p:nvSpPr>
              <p:cNvPr id="6" name="直接连接符 418825"/>
              <p:cNvSpPr/>
              <p:nvPr/>
            </p:nvSpPr>
            <p:spPr>
              <a:xfrm>
                <a:off x="13200" y="4080"/>
                <a:ext cx="0" cy="4440"/>
              </a:xfrm>
              <a:prstGeom prst="line">
                <a:avLst/>
              </a:prstGeom>
              <a:ln w="28575" cap="flat" cmpd="sng">
                <a:solidFill>
                  <a:schemeClr val="accent6">
                    <a:lumMod val="60000"/>
                    <a:lumOff val="40000"/>
                  </a:schemeClr>
                </a:solidFill>
                <a:prstDash val="solid"/>
                <a:round/>
                <a:headEnd type="none" w="med" len="med"/>
                <a:tailEnd type="none" w="med" len="med"/>
              </a:ln>
            </p:spPr>
          </p:sp>
          <p:grpSp>
            <p:nvGrpSpPr>
              <p:cNvPr id="43" name="组合 42"/>
              <p:cNvGrpSpPr/>
              <p:nvPr/>
            </p:nvGrpSpPr>
            <p:grpSpPr>
              <a:xfrm>
                <a:off x="7822" y="4060"/>
                <a:ext cx="5397" cy="4484"/>
                <a:chOff x="6622" y="4540"/>
                <a:chExt cx="5397" cy="4484"/>
              </a:xfrm>
            </p:grpSpPr>
            <p:sp>
              <p:nvSpPr>
                <p:cNvPr id="32777" name="直接连接符 418825"/>
                <p:cNvSpPr/>
                <p:nvPr/>
              </p:nvSpPr>
              <p:spPr>
                <a:xfrm>
                  <a:off x="8358" y="4584"/>
                  <a:ext cx="0" cy="4440"/>
                </a:xfrm>
                <a:prstGeom prst="line">
                  <a:avLst/>
                </a:prstGeom>
                <a:ln w="28575" cap="flat" cmpd="sng">
                  <a:solidFill>
                    <a:schemeClr val="accent6">
                      <a:lumMod val="60000"/>
                      <a:lumOff val="40000"/>
                    </a:schemeClr>
                  </a:solidFill>
                  <a:prstDash val="solid"/>
                  <a:round/>
                  <a:headEnd type="none" w="med" len="med"/>
                  <a:tailEnd type="none" w="med" len="med"/>
                </a:ln>
              </p:spPr>
            </p:sp>
            <p:sp>
              <p:nvSpPr>
                <p:cNvPr id="32775" name="直接连接符 418823"/>
                <p:cNvSpPr/>
                <p:nvPr/>
              </p:nvSpPr>
              <p:spPr>
                <a:xfrm>
                  <a:off x="6634" y="5424"/>
                  <a:ext cx="5363" cy="32"/>
                </a:xfrm>
                <a:prstGeom prst="line">
                  <a:avLst/>
                </a:prstGeom>
                <a:ln w="28575" cap="flat" cmpd="sng">
                  <a:solidFill>
                    <a:schemeClr val="accent6">
                      <a:lumMod val="60000"/>
                      <a:lumOff val="40000"/>
                    </a:schemeClr>
                  </a:solidFill>
                  <a:prstDash val="solid"/>
                  <a:round/>
                  <a:headEnd type="none" w="med" len="med"/>
                  <a:tailEnd type="none" w="med" len="med"/>
                </a:ln>
              </p:spPr>
            </p:sp>
            <p:sp>
              <p:nvSpPr>
                <p:cNvPr id="32778" name="直接连接符 418826"/>
                <p:cNvSpPr/>
                <p:nvPr/>
              </p:nvSpPr>
              <p:spPr>
                <a:xfrm>
                  <a:off x="10968" y="4584"/>
                  <a:ext cx="0" cy="4440"/>
                </a:xfrm>
                <a:prstGeom prst="line">
                  <a:avLst/>
                </a:prstGeom>
                <a:ln w="28575" cap="flat" cmpd="sng">
                  <a:solidFill>
                    <a:schemeClr val="accent6">
                      <a:lumMod val="60000"/>
                      <a:lumOff val="40000"/>
                    </a:schemeClr>
                  </a:solidFill>
                  <a:prstDash val="solid"/>
                  <a:round/>
                  <a:headEnd type="none" w="med" len="med"/>
                  <a:tailEnd type="none" w="med" len="med"/>
                </a:ln>
              </p:spPr>
            </p:sp>
            <p:sp>
              <p:nvSpPr>
                <p:cNvPr id="3" name="直接连接符 418825"/>
                <p:cNvSpPr/>
                <p:nvPr/>
              </p:nvSpPr>
              <p:spPr>
                <a:xfrm>
                  <a:off x="6627" y="4581"/>
                  <a:ext cx="0" cy="4440"/>
                </a:xfrm>
                <a:prstGeom prst="line">
                  <a:avLst/>
                </a:prstGeom>
                <a:ln w="28575" cap="flat" cmpd="sng">
                  <a:solidFill>
                    <a:schemeClr val="accent6">
                      <a:lumMod val="60000"/>
                      <a:lumOff val="40000"/>
                    </a:schemeClr>
                  </a:solidFill>
                  <a:prstDash val="solid"/>
                  <a:round/>
                  <a:headEnd type="none" w="med" len="med"/>
                  <a:tailEnd type="none" w="med" len="med"/>
                </a:ln>
              </p:spPr>
            </p:sp>
            <p:sp>
              <p:nvSpPr>
                <p:cNvPr id="7" name="直接连接符 418825"/>
                <p:cNvSpPr/>
                <p:nvPr/>
              </p:nvSpPr>
              <p:spPr>
                <a:xfrm>
                  <a:off x="7440" y="4560"/>
                  <a:ext cx="0" cy="4440"/>
                </a:xfrm>
                <a:prstGeom prst="line">
                  <a:avLst/>
                </a:prstGeom>
                <a:ln w="28575" cap="flat" cmpd="sng">
                  <a:solidFill>
                    <a:schemeClr val="accent6">
                      <a:lumMod val="60000"/>
                      <a:lumOff val="40000"/>
                    </a:schemeClr>
                  </a:solidFill>
                  <a:prstDash val="solid"/>
                  <a:round/>
                  <a:headEnd type="none" w="med" len="med"/>
                  <a:tailEnd type="none" w="med" len="med"/>
                </a:ln>
              </p:spPr>
            </p:sp>
            <p:sp>
              <p:nvSpPr>
                <p:cNvPr id="8" name="直接连接符 418825"/>
                <p:cNvSpPr/>
                <p:nvPr/>
              </p:nvSpPr>
              <p:spPr>
                <a:xfrm>
                  <a:off x="9600" y="4560"/>
                  <a:ext cx="0" cy="4440"/>
                </a:xfrm>
                <a:prstGeom prst="line">
                  <a:avLst/>
                </a:prstGeom>
                <a:ln w="28575" cap="flat" cmpd="sng">
                  <a:solidFill>
                    <a:schemeClr val="accent6">
                      <a:lumMod val="60000"/>
                      <a:lumOff val="40000"/>
                    </a:schemeClr>
                  </a:solidFill>
                  <a:prstDash val="solid"/>
                  <a:round/>
                  <a:headEnd type="none" w="med" len="med"/>
                  <a:tailEnd type="none" w="med" len="med"/>
                </a:ln>
              </p:spPr>
            </p:sp>
            <p:cxnSp>
              <p:nvCxnSpPr>
                <p:cNvPr id="11" name="直接连接符 10"/>
                <p:cNvCxnSpPr/>
                <p:nvPr/>
              </p:nvCxnSpPr>
              <p:spPr>
                <a:xfrm>
                  <a:off x="6622" y="6360"/>
                  <a:ext cx="5363" cy="0"/>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6626" y="7270"/>
                  <a:ext cx="5363" cy="0"/>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6622" y="8160"/>
                  <a:ext cx="5363" cy="0"/>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2774" name="直接连接符 418822"/>
                <p:cNvSpPr/>
                <p:nvPr/>
              </p:nvSpPr>
              <p:spPr>
                <a:xfrm>
                  <a:off x="6655" y="4540"/>
                  <a:ext cx="5365" cy="32"/>
                </a:xfrm>
                <a:prstGeom prst="line">
                  <a:avLst/>
                </a:prstGeom>
                <a:ln w="38100" cap="flat" cmpd="sng">
                  <a:solidFill>
                    <a:schemeClr val="accent6">
                      <a:lumMod val="60000"/>
                      <a:lumOff val="40000"/>
                    </a:schemeClr>
                  </a:solidFill>
                  <a:prstDash val="solid"/>
                  <a:round/>
                  <a:headEnd type="none" w="med" len="med"/>
                  <a:tailEnd type="none" w="med" len="med"/>
                </a:ln>
              </p:spPr>
            </p:sp>
          </p:grpSp>
        </p:grpSp>
      </p:grpSp>
      <p:graphicFrame>
        <p:nvGraphicFramePr>
          <p:cNvPr id="2" name="对象 -2147479975"/>
          <p:cNvGraphicFramePr>
            <a:graphicFrameLocks noChangeAspect="1"/>
          </p:cNvGraphicFramePr>
          <p:nvPr/>
        </p:nvGraphicFramePr>
        <p:xfrm>
          <a:off x="5486400" y="5334000"/>
          <a:ext cx="1539875" cy="383540"/>
        </p:xfrm>
        <a:graphic>
          <a:graphicData uri="http://schemas.openxmlformats.org/presentationml/2006/ole">
            <mc:AlternateContent xmlns:mc="http://schemas.openxmlformats.org/markup-compatibility/2006">
              <mc:Choice xmlns:v="urn:schemas-microsoft-com:vml" Requires="v">
                <p:oleObj spid="_x0000_s3076" name="" r:id="rId2" imgW="709930" imgH="177800" progId="Equation.DSMT4">
                  <p:embed/>
                </p:oleObj>
              </mc:Choice>
              <mc:Fallback>
                <p:oleObj name="" r:id="rId2" imgW="709930" imgH="177800" progId="Equation.DSMT4">
                  <p:embed/>
                  <p:pic>
                    <p:nvPicPr>
                      <p:cNvPr id="0" name="图片 3075"/>
                      <p:cNvPicPr/>
                      <p:nvPr/>
                    </p:nvPicPr>
                    <p:blipFill>
                      <a:blip r:embed="rId3"/>
                      <a:stretch>
                        <a:fillRect/>
                      </a:stretch>
                    </p:blipFill>
                    <p:spPr>
                      <a:xfrm>
                        <a:off x="5486400" y="5334000"/>
                        <a:ext cx="1539875" cy="383540"/>
                      </a:xfrm>
                      <a:prstGeom prst="rect">
                        <a:avLst/>
                      </a:prstGeom>
                      <a:noFill/>
                      <a:ln w="38100">
                        <a:noFill/>
                        <a:miter/>
                      </a:ln>
                    </p:spPr>
                  </p:pic>
                </p:oleObj>
              </mc:Fallback>
            </mc:AlternateContent>
          </a:graphicData>
        </a:graphic>
      </p:graphicFrame>
      <p:sp>
        <p:nvSpPr>
          <p:cNvPr id="46" name="Rectangle 3"/>
          <p:cNvSpPr>
            <a:spLocks noGrp="1"/>
          </p:cNvSpPr>
          <p:nvPr/>
        </p:nvSpPr>
        <p:spPr>
          <a:xfrm>
            <a:off x="4627880" y="5791200"/>
            <a:ext cx="4420235" cy="46355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00000"/>
              </a:lnSpc>
              <a:spcBef>
                <a:spcPts val="0"/>
              </a:spcBef>
              <a:buNone/>
            </a:pPr>
            <a:r>
              <a:rPr lang="zh-CN" altLang="en-US" sz="2400" b="1" dirty="0">
                <a:solidFill>
                  <a:srgbClr val="000066"/>
                </a:solidFill>
                <a:ea typeface="楷体_GB2312" pitchFamily="49" charset="-122"/>
              </a:rPr>
              <a:t>Y与A、B之间是同或逻辑关系。</a:t>
            </a:r>
            <a:endParaRPr lang="zh-CN" altLang="en-US" sz="2400" b="1" dirty="0">
              <a:solidFill>
                <a:srgbClr val="000066"/>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up)">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up)">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1000"/>
                                        <p:tgtEl>
                                          <p:spTgt spid="22"/>
                                        </p:tgtEl>
                                      </p:cBhvr>
                                    </p:animEffect>
                                    <p:anim calcmode="lin" valueType="num">
                                      <p:cBhvr>
                                        <p:cTn id="18" dur="1000" fill="hold"/>
                                        <p:tgtEl>
                                          <p:spTgt spid="22"/>
                                        </p:tgtEl>
                                        <p:attrNameLst>
                                          <p:attrName>ppt_x</p:attrName>
                                        </p:attrNameLst>
                                      </p:cBhvr>
                                      <p:tavLst>
                                        <p:tav tm="0">
                                          <p:val>
                                            <p:strVal val="#ppt_x"/>
                                          </p:val>
                                        </p:tav>
                                        <p:tav tm="100000">
                                          <p:val>
                                            <p:strVal val="#ppt_x"/>
                                          </p:val>
                                        </p:tav>
                                      </p:tavLst>
                                    </p:anim>
                                    <p:anim calcmode="lin" valueType="num">
                                      <p:cBhvr>
                                        <p:cTn id="1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wipe(up)">
                                      <p:cBhvr>
                                        <p:cTn id="24" dur="500"/>
                                        <p:tgtEl>
                                          <p:spTgt spid="23"/>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6"/>
                                        </p:tgtEl>
                                        <p:attrNameLst>
                                          <p:attrName>style.visibility</p:attrName>
                                        </p:attrNameLst>
                                      </p:cBhvr>
                                      <p:to>
                                        <p:strVal val="visible"/>
                                      </p:to>
                                    </p:set>
                                    <p:anim calcmode="lin" valueType="num">
                                      <p:cBhvr additive="base">
                                        <p:cTn id="29" dur="500" fill="hold"/>
                                        <p:tgtEl>
                                          <p:spTgt spid="36"/>
                                        </p:tgtEl>
                                        <p:attrNameLst>
                                          <p:attrName>ppt_x</p:attrName>
                                        </p:attrNameLst>
                                      </p:cBhvr>
                                      <p:tavLst>
                                        <p:tav tm="0">
                                          <p:val>
                                            <p:strVal val="#ppt_x"/>
                                          </p:val>
                                        </p:tav>
                                        <p:tav tm="100000">
                                          <p:val>
                                            <p:strVal val="#ppt_x"/>
                                          </p:val>
                                        </p:tav>
                                      </p:tavLst>
                                    </p:anim>
                                    <p:anim calcmode="lin" valueType="num">
                                      <p:cBhvr additive="base">
                                        <p:cTn id="30"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barn(inVertical)">
                                      <p:cBhvr>
                                        <p:cTn id="35" dur="500"/>
                                        <p:tgtEl>
                                          <p:spTgt spid="2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2" fill="hold" grpId="0" nodeType="click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wipe(right)">
                                      <p:cBhvr>
                                        <p:cTn id="40" dur="500"/>
                                        <p:tgtEl>
                                          <p:spTgt spid="27"/>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37"/>
                                        </p:tgtEl>
                                        <p:attrNameLst>
                                          <p:attrName>style.visibility</p:attrName>
                                        </p:attrNameLst>
                                      </p:cBhvr>
                                      <p:to>
                                        <p:strVal val="visible"/>
                                      </p:to>
                                    </p:set>
                                    <p:anim calcmode="lin" valueType="num">
                                      <p:cBhvr additive="base">
                                        <p:cTn id="45" dur="500" fill="hold"/>
                                        <p:tgtEl>
                                          <p:spTgt spid="37"/>
                                        </p:tgtEl>
                                        <p:attrNameLst>
                                          <p:attrName>ppt_x</p:attrName>
                                        </p:attrNameLst>
                                      </p:cBhvr>
                                      <p:tavLst>
                                        <p:tav tm="0">
                                          <p:val>
                                            <p:strVal val="#ppt_x"/>
                                          </p:val>
                                        </p:tav>
                                        <p:tav tm="100000">
                                          <p:val>
                                            <p:strVal val="#ppt_x"/>
                                          </p:val>
                                        </p:tav>
                                      </p:tavLst>
                                    </p:anim>
                                    <p:anim calcmode="lin" valueType="num">
                                      <p:cBhvr additive="base">
                                        <p:cTn id="46"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1" presetClass="entr" presetSubtype="1" fill="hold" grpId="0" nodeType="clickEffect">
                                  <p:stCondLst>
                                    <p:cond delay="0"/>
                                  </p:stCondLst>
                                  <p:childTnLst>
                                    <p:set>
                                      <p:cBhvr>
                                        <p:cTn id="50" dur="500" fill="hold">
                                          <p:stCondLst>
                                            <p:cond delay="0"/>
                                          </p:stCondLst>
                                        </p:cTn>
                                        <p:tgtEl>
                                          <p:spTgt spid="32"/>
                                        </p:tgtEl>
                                        <p:attrNameLst>
                                          <p:attrName>style.visibility</p:attrName>
                                        </p:attrNameLst>
                                      </p:cBhvr>
                                      <p:to>
                                        <p:strVal val="visible"/>
                                      </p:to>
                                    </p:set>
                                    <p:animEffect transition="in" filter="wheel(1)">
                                      <p:cBhvr>
                                        <p:cTn id="51" dur="500"/>
                                        <p:tgtEl>
                                          <p:spTgt spid="32"/>
                                        </p:tgtEl>
                                      </p:cBhvr>
                                    </p:animEffect>
                                  </p:childTnLst>
                                </p:cTn>
                              </p:par>
                            </p:childTnLst>
                          </p:cTn>
                        </p:par>
                      </p:childTnLst>
                    </p:cTn>
                  </p:par>
                  <p:par>
                    <p:cTn id="52" fill="hold">
                      <p:stCondLst>
                        <p:cond delay="indefinite"/>
                      </p:stCondLst>
                      <p:childTnLst>
                        <p:par>
                          <p:cTn id="53" fill="hold">
                            <p:stCondLst>
                              <p:cond delay="0"/>
                            </p:stCondLst>
                            <p:childTnLst>
                              <p:par>
                                <p:cTn id="54" presetID="16" presetClass="entr" presetSubtype="21" fill="hold" grpId="0" nodeType="click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barn(inVertical)">
                                      <p:cBhvr>
                                        <p:cTn id="56" dur="500"/>
                                        <p:tgtEl>
                                          <p:spTgt spid="34"/>
                                        </p:tgtEl>
                                      </p:cBhvr>
                                    </p:animEffect>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grpId="0" nodeType="clickEffect">
                                  <p:stCondLst>
                                    <p:cond delay="0"/>
                                  </p:stCondLst>
                                  <p:childTnLst>
                                    <p:set>
                                      <p:cBhvr>
                                        <p:cTn id="60" dur="1" fill="hold">
                                          <p:stCondLst>
                                            <p:cond delay="0"/>
                                          </p:stCondLst>
                                        </p:cTn>
                                        <p:tgtEl>
                                          <p:spTgt spid="38"/>
                                        </p:tgtEl>
                                        <p:attrNameLst>
                                          <p:attrName>style.visibility</p:attrName>
                                        </p:attrNameLst>
                                      </p:cBhvr>
                                      <p:to>
                                        <p:strVal val="visible"/>
                                      </p:to>
                                    </p:set>
                                    <p:anim calcmode="lin" valueType="num">
                                      <p:cBhvr>
                                        <p:cTn id="61" dur="500" fill="hold"/>
                                        <p:tgtEl>
                                          <p:spTgt spid="38"/>
                                        </p:tgtEl>
                                        <p:attrNameLst>
                                          <p:attrName>ppt_w</p:attrName>
                                        </p:attrNameLst>
                                      </p:cBhvr>
                                      <p:tavLst>
                                        <p:tav tm="0">
                                          <p:val>
                                            <p:fltVal val="0.000000"/>
                                          </p:val>
                                        </p:tav>
                                        <p:tav tm="100000">
                                          <p:val>
                                            <p:strVal val="#ppt_w"/>
                                          </p:val>
                                        </p:tav>
                                      </p:tavLst>
                                    </p:anim>
                                    <p:anim calcmode="lin" valueType="num">
                                      <p:cBhvr>
                                        <p:cTn id="62" dur="500" fill="hold"/>
                                        <p:tgtEl>
                                          <p:spTgt spid="38"/>
                                        </p:tgtEl>
                                        <p:attrNameLst>
                                          <p:attrName>ppt_h</p:attrName>
                                        </p:attrNameLst>
                                      </p:cBhvr>
                                      <p:tavLst>
                                        <p:tav tm="0">
                                          <p:val>
                                            <p:fltVal val="0.000000"/>
                                          </p:val>
                                        </p:tav>
                                        <p:tav tm="100000">
                                          <p:val>
                                            <p:strVal val="#ppt_h"/>
                                          </p:val>
                                        </p:tav>
                                      </p:tavLst>
                                    </p:anim>
                                    <p:animEffect transition="in" filter="fade">
                                      <p:cBhvr>
                                        <p:cTn id="63" dur="500"/>
                                        <p:tgtEl>
                                          <p:spTgt spid="38"/>
                                        </p:tgtEl>
                                      </p:cBhvr>
                                    </p:animEffec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grpId="0" nodeType="clickEffect">
                                  <p:stCondLst>
                                    <p:cond delay="0"/>
                                  </p:stCondLst>
                                  <p:childTnLst>
                                    <p:set>
                                      <p:cBhvr>
                                        <p:cTn id="67" dur="1" fill="hold">
                                          <p:stCondLst>
                                            <p:cond delay="0"/>
                                          </p:stCondLst>
                                        </p:cTn>
                                        <p:tgtEl>
                                          <p:spTgt spid="33911"/>
                                        </p:tgtEl>
                                        <p:attrNameLst>
                                          <p:attrName>style.visibility</p:attrName>
                                        </p:attrNameLst>
                                      </p:cBhvr>
                                      <p:to>
                                        <p:strVal val="visible"/>
                                      </p:to>
                                    </p:set>
                                    <p:animEffect transition="in" filter="dissolve">
                                      <p:cBhvr>
                                        <p:cTn id="68" dur="500"/>
                                        <p:tgtEl>
                                          <p:spTgt spid="33911"/>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33909"/>
                                        </p:tgtEl>
                                        <p:attrNameLst>
                                          <p:attrName>style.visibility</p:attrName>
                                        </p:attrNameLst>
                                      </p:cBhvr>
                                      <p:to>
                                        <p:strVal val="visible"/>
                                      </p:to>
                                    </p:set>
                                    <p:animEffect transition="in" filter="blinds(horizontal)">
                                      <p:cBhvr>
                                        <p:cTn id="73" dur="500"/>
                                        <p:tgtEl>
                                          <p:spTgt spid="33909"/>
                                        </p:tgtEl>
                                      </p:cBhvr>
                                    </p:animEffect>
                                  </p:childTnLst>
                                </p:cTn>
                              </p:par>
                            </p:childTnLst>
                          </p:cTn>
                        </p:par>
                      </p:childTnLst>
                    </p:cTn>
                  </p:par>
                  <p:par>
                    <p:cTn id="74" fill="hold">
                      <p:stCondLst>
                        <p:cond delay="indefinite"/>
                      </p:stCondLst>
                      <p:childTnLst>
                        <p:par>
                          <p:cTn id="75" fill="hold">
                            <p:stCondLst>
                              <p:cond delay="0"/>
                            </p:stCondLst>
                            <p:childTnLst>
                              <p:par>
                                <p:cTn id="76" presetID="2" presetClass="entr" presetSubtype="4" fill="hold" grpId="0" nodeType="clickEffect">
                                  <p:stCondLst>
                                    <p:cond delay="0"/>
                                  </p:stCondLst>
                                  <p:childTnLst>
                                    <p:set>
                                      <p:cBhvr>
                                        <p:cTn id="77" dur="1" fill="hold">
                                          <p:stCondLst>
                                            <p:cond delay="0"/>
                                          </p:stCondLst>
                                        </p:cTn>
                                        <p:tgtEl>
                                          <p:spTgt spid="39"/>
                                        </p:tgtEl>
                                        <p:attrNameLst>
                                          <p:attrName>style.visibility</p:attrName>
                                        </p:attrNameLst>
                                      </p:cBhvr>
                                      <p:to>
                                        <p:strVal val="visible"/>
                                      </p:to>
                                    </p:set>
                                    <p:anim calcmode="lin" valueType="num">
                                      <p:cBhvr additive="base">
                                        <p:cTn id="78" dur="500" fill="hold"/>
                                        <p:tgtEl>
                                          <p:spTgt spid="39"/>
                                        </p:tgtEl>
                                        <p:attrNameLst>
                                          <p:attrName>ppt_x</p:attrName>
                                        </p:attrNameLst>
                                      </p:cBhvr>
                                      <p:tavLst>
                                        <p:tav tm="0">
                                          <p:val>
                                            <p:strVal val="#ppt_x"/>
                                          </p:val>
                                        </p:tav>
                                        <p:tav tm="100000">
                                          <p:val>
                                            <p:strVal val="#ppt_x"/>
                                          </p:val>
                                        </p:tav>
                                      </p:tavLst>
                                    </p:anim>
                                    <p:anim calcmode="lin" valueType="num">
                                      <p:cBhvr additive="base">
                                        <p:cTn id="79"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2" presetClass="entr" presetSubtype="4" fill="hold" nodeType="clickEffect">
                                  <p:stCondLst>
                                    <p:cond delay="0"/>
                                  </p:stCondLst>
                                  <p:childTnLst>
                                    <p:set>
                                      <p:cBhvr>
                                        <p:cTn id="83" dur="1" fill="hold">
                                          <p:stCondLst>
                                            <p:cond delay="0"/>
                                          </p:stCondLst>
                                        </p:cTn>
                                        <p:tgtEl>
                                          <p:spTgt spid="2"/>
                                        </p:tgtEl>
                                        <p:attrNameLst>
                                          <p:attrName>style.visibility</p:attrName>
                                        </p:attrNameLst>
                                      </p:cBhvr>
                                      <p:to>
                                        <p:strVal val="visible"/>
                                      </p:to>
                                    </p:set>
                                    <p:anim calcmode="lin" valueType="num">
                                      <p:cBhvr additive="base">
                                        <p:cTn id="84" dur="500" fill="hold"/>
                                        <p:tgtEl>
                                          <p:spTgt spid="2"/>
                                        </p:tgtEl>
                                        <p:attrNameLst>
                                          <p:attrName>ppt_x</p:attrName>
                                        </p:attrNameLst>
                                      </p:cBhvr>
                                      <p:tavLst>
                                        <p:tav tm="0">
                                          <p:val>
                                            <p:strVal val="#ppt_x"/>
                                          </p:val>
                                        </p:tav>
                                        <p:tav tm="100000">
                                          <p:val>
                                            <p:strVal val="#ppt_x"/>
                                          </p:val>
                                        </p:tav>
                                      </p:tavLst>
                                    </p:anim>
                                    <p:anim calcmode="lin" valueType="num">
                                      <p:cBhvr additive="base">
                                        <p:cTn id="8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45" presetClass="entr" presetSubtype="0" fill="hold" grpId="0" nodeType="clickEffect">
                                  <p:stCondLst>
                                    <p:cond delay="0"/>
                                  </p:stCondLst>
                                  <p:childTnLst>
                                    <p:set>
                                      <p:cBhvr>
                                        <p:cTn id="89" dur="1000" fill="hold">
                                          <p:stCondLst>
                                            <p:cond delay="0"/>
                                          </p:stCondLst>
                                        </p:cTn>
                                        <p:tgtEl>
                                          <p:spTgt spid="46"/>
                                        </p:tgtEl>
                                        <p:attrNameLst>
                                          <p:attrName>style.visibility</p:attrName>
                                        </p:attrNameLst>
                                      </p:cBhvr>
                                      <p:to>
                                        <p:strVal val="visible"/>
                                      </p:to>
                                    </p:set>
                                    <p:animEffect transition="in" filter="fade">
                                      <p:cBhvr>
                                        <p:cTn id="90" dur="1000"/>
                                        <p:tgtEl>
                                          <p:spTgt spid="46"/>
                                        </p:tgtEl>
                                      </p:cBhvr>
                                    </p:animEffect>
                                    <p:anim calcmode="lin" valueType="num">
                                      <p:cBhvr>
                                        <p:cTn id="91" dur="1000" fill="hold"/>
                                        <p:tgtEl>
                                          <p:spTgt spid="46"/>
                                        </p:tgtEl>
                                        <p:attrNameLst>
                                          <p:attrName>ppt_w</p:attrName>
                                        </p:attrNameLst>
                                      </p:cBhvr>
                                      <p:tavLst>
                                        <p:tav tm="0" fmla="#ppt_w*sin(2.5*pi*$)">
                                          <p:val>
                                            <p:fltVal val="0"/>
                                          </p:val>
                                        </p:tav>
                                        <p:tav tm="100000">
                                          <p:val>
                                            <p:fltVal val="1"/>
                                          </p:val>
                                        </p:tav>
                                      </p:tavLst>
                                    </p:anim>
                                    <p:anim calcmode="lin" valueType="num">
                                      <p:cBhvr>
                                        <p:cTn id="92" dur="1000" fill="hold"/>
                                        <p:tgtEl>
                                          <p:spTgt spid="4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P spid="38" grpId="0"/>
      <p:bldP spid="39" grpId="0"/>
      <p:bldP spid="22" grpId="0"/>
      <p:bldP spid="23" grpId="0"/>
      <p:bldP spid="27" grpId="0"/>
      <p:bldP spid="32" grpId="0"/>
      <p:bldP spid="34" grpId="0"/>
      <p:bldP spid="33911" grpId="0"/>
      <p:bldP spid="33909" grpId="0"/>
      <p:bldP spid="29" grpId="0"/>
      <p:bldP spid="46"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 name="文本框 41"/>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6" name="Rectangle 2"/>
          <p:cNvSpPr>
            <a:spLocks noGrp="1"/>
          </p:cNvSpPr>
          <p:nvPr>
            <p:ph type="title"/>
          </p:nvPr>
        </p:nvSpPr>
        <p:spPr>
          <a:xfrm>
            <a:off x="491490" y="1198880"/>
            <a:ext cx="7359015"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3.3.6 </a:t>
            </a:r>
            <a:r>
              <a:rPr lang="zh-CN" altLang="en-US" sz="2800" i="0" dirty="0">
                <a:solidFill>
                  <a:srgbClr val="0070C0"/>
                </a:solidFill>
                <a:latin typeface="黑体" panose="02010609060101010101" pitchFamily="49" charset="-122"/>
                <a:ea typeface="黑体" panose="02010609060101010101" pitchFamily="49" charset="-122"/>
              </a:rPr>
              <a:t> CMOS漏极开路 (Open Drain，OD) 门</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3.3 </a:t>
            </a:r>
            <a:r>
              <a:rPr b="1" dirty="0">
                <a:solidFill>
                  <a:srgbClr val="FF0000"/>
                </a:solidFill>
                <a:latin typeface="黑体" panose="02010609060101010101" pitchFamily="49" charset="-122"/>
                <a:ea typeface="黑体" panose="02010609060101010101" pitchFamily="49" charset="-122"/>
              </a:rPr>
              <a:t>COMS逻辑门电路</a:t>
            </a:r>
            <a:endParaRPr b="1" dirty="0">
              <a:solidFill>
                <a:srgbClr val="FF000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457200" y="1981200"/>
            <a:ext cx="5132070" cy="4002405"/>
          </a:xfrm>
        </p:spPr>
        <p:txBody>
          <a:bodyPr vert="horz" wrap="square" lIns="91440" tIns="45720" rIns="91440" bIns="45720" anchor="t" anchorCtr="0"/>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ea typeface="楷体_GB2312" pitchFamily="49" charset="-122"/>
              </a:rPr>
              <a:t>当逻辑门G</a:t>
            </a:r>
            <a:r>
              <a:rPr sz="2400" b="1" kern="1200" baseline="-25000" dirty="0">
                <a:solidFill>
                  <a:srgbClr val="000066"/>
                </a:solidFill>
                <a:ea typeface="楷体_GB2312" pitchFamily="49" charset="-122"/>
              </a:rPr>
              <a:t>1</a:t>
            </a:r>
            <a:r>
              <a:rPr sz="2400" b="1" kern="1200" dirty="0">
                <a:solidFill>
                  <a:srgbClr val="000066"/>
                </a:solidFill>
                <a:ea typeface="楷体_GB2312" pitchFamily="49" charset="-122"/>
              </a:rPr>
              <a:t>的输入信号A和B分别为低电平0和高电平1时，则T</a:t>
            </a:r>
            <a:r>
              <a:rPr sz="2400" b="1" kern="1200" baseline="-25000" dirty="0">
                <a:solidFill>
                  <a:srgbClr val="000066"/>
                </a:solidFill>
                <a:ea typeface="楷体_GB2312" pitchFamily="49" charset="-122"/>
              </a:rPr>
              <a:t>N1</a:t>
            </a:r>
            <a:r>
              <a:rPr sz="2400" b="1" kern="1200" dirty="0">
                <a:solidFill>
                  <a:srgbClr val="000066"/>
                </a:solidFill>
                <a:ea typeface="楷体_GB2312" pitchFamily="49" charset="-122"/>
              </a:rPr>
              <a:t>截止，T</a:t>
            </a:r>
            <a:r>
              <a:rPr sz="2400" b="1" kern="1200" baseline="-25000" dirty="0">
                <a:solidFill>
                  <a:srgbClr val="000066"/>
                </a:solidFill>
                <a:ea typeface="楷体_GB2312" pitchFamily="49" charset="-122"/>
              </a:rPr>
              <a:t>N2</a:t>
            </a:r>
            <a:r>
              <a:rPr sz="2400" b="1" kern="1200" dirty="0">
                <a:solidFill>
                  <a:srgbClr val="000066"/>
                </a:solidFill>
                <a:ea typeface="楷体_GB2312" pitchFamily="49" charset="-122"/>
              </a:rPr>
              <a:t>导通，T</a:t>
            </a:r>
            <a:r>
              <a:rPr sz="2400" b="1" kern="1200" baseline="-25000" dirty="0">
                <a:solidFill>
                  <a:srgbClr val="000066"/>
                </a:solidFill>
                <a:ea typeface="楷体_GB2312" pitchFamily="49" charset="-122"/>
              </a:rPr>
              <a:t>P1</a:t>
            </a:r>
            <a:r>
              <a:rPr sz="2400" b="1" kern="1200" dirty="0">
                <a:solidFill>
                  <a:srgbClr val="000066"/>
                </a:solidFill>
                <a:ea typeface="楷体_GB2312" pitchFamily="49" charset="-122"/>
              </a:rPr>
              <a:t>导通，T</a:t>
            </a:r>
            <a:r>
              <a:rPr sz="2400" b="1" kern="1200" baseline="-25000" dirty="0">
                <a:solidFill>
                  <a:srgbClr val="000066"/>
                </a:solidFill>
                <a:ea typeface="楷体_GB2312" pitchFamily="49" charset="-122"/>
              </a:rPr>
              <a:t>P2</a:t>
            </a:r>
            <a:r>
              <a:rPr sz="2400" b="1" kern="1200" dirty="0">
                <a:solidFill>
                  <a:srgbClr val="000066"/>
                </a:solidFill>
                <a:ea typeface="楷体_GB2312" pitchFamily="49" charset="-122"/>
              </a:rPr>
              <a:t>截止，G</a:t>
            </a:r>
            <a:r>
              <a:rPr sz="2400" b="1" kern="1200" baseline="-25000" dirty="0">
                <a:solidFill>
                  <a:srgbClr val="000066"/>
                </a:solidFill>
                <a:ea typeface="楷体_GB2312" pitchFamily="49" charset="-122"/>
              </a:rPr>
              <a:t>1</a:t>
            </a:r>
            <a:r>
              <a:rPr sz="2400" b="1" kern="1200" dirty="0">
                <a:solidFill>
                  <a:srgbClr val="000066"/>
                </a:solidFill>
                <a:ea typeface="楷体_GB2312" pitchFamily="49" charset="-122"/>
              </a:rPr>
              <a:t>输出为高电平</a:t>
            </a:r>
            <a:r>
              <a:rPr lang="en-US" sz="2400" b="1" kern="1200" dirty="0">
                <a:solidFill>
                  <a:srgbClr val="000066"/>
                </a:solidFill>
                <a:ea typeface="楷体_GB2312" pitchFamily="49" charset="-122"/>
              </a:rPr>
              <a:t>1</a:t>
            </a:r>
            <a:r>
              <a:rPr sz="2400" b="1" kern="1200" dirty="0">
                <a:solidFill>
                  <a:srgbClr val="000066"/>
                </a:solidFill>
                <a:ea typeface="楷体_GB2312" pitchFamily="49" charset="-122"/>
              </a:rPr>
              <a:t>。此时，若G</a:t>
            </a:r>
            <a:r>
              <a:rPr sz="2400" b="1" kern="1200" baseline="-25000" dirty="0">
                <a:solidFill>
                  <a:srgbClr val="000066"/>
                </a:solidFill>
                <a:ea typeface="楷体_GB2312" pitchFamily="49" charset="-122"/>
              </a:rPr>
              <a:t>2</a:t>
            </a:r>
            <a:r>
              <a:rPr sz="2400" b="1" kern="1200" dirty="0">
                <a:solidFill>
                  <a:srgbClr val="000066"/>
                </a:solidFill>
                <a:ea typeface="楷体_GB2312" pitchFamily="49" charset="-122"/>
              </a:rPr>
              <a:t>的输入信号C和D均为高电平，则T</a:t>
            </a:r>
            <a:r>
              <a:rPr sz="2400" b="1" kern="1200" dirty="0">
                <a:solidFill>
                  <a:srgbClr val="000066"/>
                </a:solidFill>
                <a:latin typeface="Times New Roman" panose="02020603050405020304" charset="0"/>
                <a:ea typeface="楷体_GB2312" pitchFamily="49" charset="-122"/>
                <a:cs typeface="Times New Roman" panose="02020603050405020304" charset="0"/>
              </a:rPr>
              <a:t>'</a:t>
            </a:r>
            <a:r>
              <a:rPr sz="2400" b="1" kern="1200" baseline="-25000" dirty="0">
                <a:solidFill>
                  <a:srgbClr val="000066"/>
                </a:solidFill>
                <a:ea typeface="楷体_GB2312" pitchFamily="49" charset="-122"/>
              </a:rPr>
              <a:t>N1</a:t>
            </a:r>
            <a:r>
              <a:rPr sz="2400" b="1" kern="1200" dirty="0">
                <a:solidFill>
                  <a:srgbClr val="000066"/>
                </a:solidFill>
                <a:ea typeface="楷体_GB2312" pitchFamily="49" charset="-122"/>
              </a:rPr>
              <a:t>和T</a:t>
            </a:r>
            <a:r>
              <a:rPr sz="2400" b="1" kern="1200" dirty="0">
                <a:solidFill>
                  <a:srgbClr val="000066"/>
                </a:solidFill>
                <a:latin typeface="Times New Roman" panose="02020603050405020304" charset="0"/>
                <a:ea typeface="楷体_GB2312" pitchFamily="49" charset="-122"/>
                <a:cs typeface="Times New Roman" panose="02020603050405020304" charset="0"/>
                <a:sym typeface="+mn-ea"/>
              </a:rPr>
              <a:t>'</a:t>
            </a:r>
            <a:r>
              <a:rPr sz="2400" b="1" kern="1200" baseline="-25000" dirty="0">
                <a:solidFill>
                  <a:srgbClr val="000066"/>
                </a:solidFill>
                <a:ea typeface="楷体_GB2312" pitchFamily="49" charset="-122"/>
              </a:rPr>
              <a:t>N2</a:t>
            </a:r>
            <a:r>
              <a:rPr sz="2400" b="1" kern="1200" dirty="0">
                <a:solidFill>
                  <a:srgbClr val="000066"/>
                </a:solidFill>
                <a:ea typeface="楷体_GB2312" pitchFamily="49" charset="-122"/>
              </a:rPr>
              <a:t>均导通，T</a:t>
            </a:r>
            <a:r>
              <a:rPr sz="2400" b="1" kern="1200" dirty="0">
                <a:solidFill>
                  <a:srgbClr val="000066"/>
                </a:solidFill>
                <a:latin typeface="Times New Roman" panose="02020603050405020304" charset="0"/>
                <a:ea typeface="楷体_GB2312" pitchFamily="49" charset="-122"/>
                <a:cs typeface="Times New Roman" panose="02020603050405020304" charset="0"/>
                <a:sym typeface="+mn-ea"/>
              </a:rPr>
              <a:t>'</a:t>
            </a:r>
            <a:r>
              <a:rPr sz="2400" b="1" kern="1200" baseline="-25000" dirty="0">
                <a:solidFill>
                  <a:srgbClr val="000066"/>
                </a:solidFill>
                <a:ea typeface="楷体_GB2312" pitchFamily="49" charset="-122"/>
              </a:rPr>
              <a:t>P1</a:t>
            </a:r>
            <a:r>
              <a:rPr sz="2400" b="1" kern="1200" dirty="0">
                <a:solidFill>
                  <a:srgbClr val="000066"/>
                </a:solidFill>
                <a:ea typeface="楷体_GB2312" pitchFamily="49" charset="-122"/>
              </a:rPr>
              <a:t>和T</a:t>
            </a:r>
            <a:r>
              <a:rPr sz="2400" b="1" kern="1200" dirty="0">
                <a:solidFill>
                  <a:srgbClr val="000066"/>
                </a:solidFill>
                <a:latin typeface="Times New Roman" panose="02020603050405020304" charset="0"/>
                <a:ea typeface="楷体_GB2312" pitchFamily="49" charset="-122"/>
                <a:cs typeface="Times New Roman" panose="02020603050405020304" charset="0"/>
                <a:sym typeface="+mn-ea"/>
              </a:rPr>
              <a:t>'</a:t>
            </a:r>
            <a:r>
              <a:rPr sz="2400" b="1" kern="1200" baseline="-25000" dirty="0">
                <a:solidFill>
                  <a:srgbClr val="000066"/>
                </a:solidFill>
                <a:ea typeface="楷体_GB2312" pitchFamily="49" charset="-122"/>
              </a:rPr>
              <a:t>P2</a:t>
            </a:r>
            <a:r>
              <a:rPr sz="2400" b="1" kern="1200" dirty="0">
                <a:solidFill>
                  <a:srgbClr val="000066"/>
                </a:solidFill>
                <a:ea typeface="楷体_GB2312" pitchFamily="49" charset="-122"/>
              </a:rPr>
              <a:t>均截止，G</a:t>
            </a:r>
            <a:r>
              <a:rPr sz="2400" b="1" kern="1200" baseline="-25000" dirty="0">
                <a:solidFill>
                  <a:srgbClr val="000066"/>
                </a:solidFill>
                <a:ea typeface="楷体_GB2312" pitchFamily="49" charset="-122"/>
              </a:rPr>
              <a:t>2</a:t>
            </a:r>
            <a:r>
              <a:rPr sz="2400" b="1" kern="1200" dirty="0">
                <a:solidFill>
                  <a:srgbClr val="000066"/>
                </a:solidFill>
                <a:ea typeface="楷体_GB2312" pitchFamily="49" charset="-122"/>
              </a:rPr>
              <a:t>的输出为低电平0，二者输出端并联会导致很大的电流同时流经G</a:t>
            </a:r>
            <a:r>
              <a:rPr sz="2400" b="1" kern="1200" baseline="-25000" dirty="0">
                <a:solidFill>
                  <a:srgbClr val="000066"/>
                </a:solidFill>
                <a:ea typeface="楷体_GB2312" pitchFamily="49" charset="-122"/>
              </a:rPr>
              <a:t>1</a:t>
            </a:r>
            <a:r>
              <a:rPr sz="2400" b="1" kern="1200" dirty="0">
                <a:solidFill>
                  <a:srgbClr val="000066"/>
                </a:solidFill>
                <a:ea typeface="楷体_GB2312" pitchFamily="49" charset="-122"/>
              </a:rPr>
              <a:t>的T</a:t>
            </a:r>
            <a:r>
              <a:rPr sz="2400" b="1" kern="1200" baseline="-25000" dirty="0">
                <a:solidFill>
                  <a:srgbClr val="000066"/>
                </a:solidFill>
                <a:ea typeface="楷体_GB2312" pitchFamily="49" charset="-122"/>
              </a:rPr>
              <a:t>P1</a:t>
            </a:r>
            <a:r>
              <a:rPr sz="2400" b="1" kern="1200" dirty="0">
                <a:solidFill>
                  <a:srgbClr val="000066"/>
                </a:solidFill>
                <a:ea typeface="楷体_GB2312" pitchFamily="49" charset="-122"/>
              </a:rPr>
              <a:t>、G</a:t>
            </a:r>
            <a:r>
              <a:rPr sz="2400" b="1" kern="1200" baseline="-25000" dirty="0">
                <a:solidFill>
                  <a:srgbClr val="000066"/>
                </a:solidFill>
                <a:ea typeface="楷体_GB2312" pitchFamily="49" charset="-122"/>
              </a:rPr>
              <a:t>2</a:t>
            </a:r>
            <a:r>
              <a:rPr sz="2400" b="1" kern="1200" dirty="0">
                <a:solidFill>
                  <a:srgbClr val="000066"/>
                </a:solidFill>
                <a:ea typeface="楷体_GB2312" pitchFamily="49" charset="-122"/>
              </a:rPr>
              <a:t>的T</a:t>
            </a:r>
            <a:r>
              <a:rPr sz="2400" b="1" kern="1200" dirty="0">
                <a:solidFill>
                  <a:srgbClr val="000066"/>
                </a:solidFill>
                <a:latin typeface="Times New Roman" panose="02020603050405020304" charset="0"/>
                <a:ea typeface="楷体_GB2312" pitchFamily="49" charset="-122"/>
                <a:cs typeface="Times New Roman" panose="02020603050405020304" charset="0"/>
                <a:sym typeface="+mn-ea"/>
              </a:rPr>
              <a:t>'</a:t>
            </a:r>
            <a:r>
              <a:rPr sz="2400" b="1" kern="1200" baseline="-25000" dirty="0">
                <a:solidFill>
                  <a:srgbClr val="000066"/>
                </a:solidFill>
                <a:ea typeface="楷体_GB2312" pitchFamily="49" charset="-122"/>
              </a:rPr>
              <a:t>N1</a:t>
            </a:r>
            <a:r>
              <a:rPr sz="2400" b="1" kern="1200" dirty="0">
                <a:solidFill>
                  <a:srgbClr val="000066"/>
                </a:solidFill>
                <a:ea typeface="楷体_GB2312" pitchFamily="49" charset="-122"/>
              </a:rPr>
              <a:t>和T</a:t>
            </a:r>
            <a:r>
              <a:rPr sz="2400" b="1" kern="1200" dirty="0">
                <a:solidFill>
                  <a:srgbClr val="000066"/>
                </a:solidFill>
                <a:latin typeface="Times New Roman" panose="02020603050405020304" charset="0"/>
                <a:ea typeface="楷体_GB2312" pitchFamily="49" charset="-122"/>
                <a:cs typeface="Times New Roman" panose="02020603050405020304" charset="0"/>
                <a:sym typeface="+mn-ea"/>
              </a:rPr>
              <a:t>'</a:t>
            </a:r>
            <a:r>
              <a:rPr sz="2400" b="1" kern="1200" baseline="-25000" dirty="0">
                <a:solidFill>
                  <a:srgbClr val="000066"/>
                </a:solidFill>
                <a:ea typeface="楷体_GB2312" pitchFamily="49" charset="-122"/>
              </a:rPr>
              <a:t>N2</a:t>
            </a:r>
            <a:r>
              <a:rPr sz="2400" b="1" kern="1200" dirty="0">
                <a:solidFill>
                  <a:srgbClr val="000066"/>
                </a:solidFill>
                <a:ea typeface="楷体_GB2312" pitchFamily="49" charset="-122"/>
              </a:rPr>
              <a:t>，此电流可能造成这些门电路的损坏。</a:t>
            </a:r>
            <a:endParaRPr sz="2400" b="1" kern="1200" dirty="0">
              <a:solidFill>
                <a:srgbClr val="000066"/>
              </a:solidFill>
              <a:ea typeface="楷体_GB2312" pitchFamily="49" charset="-122"/>
            </a:endParaRPr>
          </a:p>
        </p:txBody>
      </p:sp>
      <p:grpSp>
        <p:nvGrpSpPr>
          <p:cNvPr id="41" name="组合 40"/>
          <p:cNvGrpSpPr/>
          <p:nvPr/>
        </p:nvGrpSpPr>
        <p:grpSpPr>
          <a:xfrm>
            <a:off x="7571740" y="2160270"/>
            <a:ext cx="875030" cy="387350"/>
            <a:chOff x="11924" y="3402"/>
            <a:chExt cx="1378" cy="610"/>
          </a:xfrm>
        </p:grpSpPr>
        <p:graphicFrame>
          <p:nvGraphicFramePr>
            <p:cNvPr id="2" name="对象 647"/>
            <p:cNvGraphicFramePr>
              <a:graphicFrameLocks noChangeAspect="1"/>
            </p:cNvGraphicFramePr>
            <p:nvPr/>
          </p:nvGraphicFramePr>
          <p:xfrm>
            <a:off x="11924" y="3534"/>
            <a:ext cx="438" cy="478"/>
          </p:xfrm>
          <a:graphic>
            <a:graphicData uri="http://schemas.openxmlformats.org/presentationml/2006/ole">
              <mc:AlternateContent xmlns:mc="http://schemas.openxmlformats.org/markup-compatibility/2006">
                <mc:Choice xmlns:v="urn:schemas-microsoft-com:vml" Requires="v">
                  <p:oleObj spid="_x0000_s3076" name="" r:id="rId1" imgW="139700" imgH="152400" progId="Equation.DSMT4">
                    <p:embed/>
                  </p:oleObj>
                </mc:Choice>
                <mc:Fallback>
                  <p:oleObj name="" r:id="rId1" imgW="139700" imgH="152400" progId="Equation.DSMT4">
                    <p:embed/>
                    <p:pic>
                      <p:nvPicPr>
                        <p:cNvPr id="0" name="图片 3075"/>
                        <p:cNvPicPr/>
                        <p:nvPr/>
                      </p:nvPicPr>
                      <p:blipFill>
                        <a:blip r:embed="rId2"/>
                        <a:stretch>
                          <a:fillRect/>
                        </a:stretch>
                      </p:blipFill>
                      <p:spPr>
                        <a:xfrm>
                          <a:off x="11924" y="3534"/>
                          <a:ext cx="438" cy="478"/>
                        </a:xfrm>
                        <a:prstGeom prst="rect">
                          <a:avLst/>
                        </a:prstGeom>
                        <a:noFill/>
                        <a:ln w="38100">
                          <a:noFill/>
                          <a:miter/>
                        </a:ln>
                      </p:spPr>
                    </p:pic>
                  </p:oleObj>
                </mc:Fallback>
              </mc:AlternateContent>
            </a:graphicData>
          </a:graphic>
        </p:graphicFrame>
        <p:graphicFrame>
          <p:nvGraphicFramePr>
            <p:cNvPr id="3" name="对象 648"/>
            <p:cNvGraphicFramePr>
              <a:graphicFrameLocks noChangeAspect="1"/>
            </p:cNvGraphicFramePr>
            <p:nvPr/>
          </p:nvGraphicFramePr>
          <p:xfrm>
            <a:off x="12862" y="3402"/>
            <a:ext cx="440" cy="600"/>
          </p:xfrm>
          <a:graphic>
            <a:graphicData uri="http://schemas.openxmlformats.org/presentationml/2006/ole">
              <mc:AlternateContent xmlns:mc="http://schemas.openxmlformats.org/markup-compatibility/2006">
                <mc:Choice xmlns:v="urn:schemas-microsoft-com:vml" Requires="v">
                  <p:oleObj spid="_x0000_s40" name="" r:id="rId3" imgW="139700" imgH="190500" progId="Equation.DSMT4">
                    <p:embed/>
                  </p:oleObj>
                </mc:Choice>
                <mc:Fallback>
                  <p:oleObj name="" r:id="rId3" imgW="139700" imgH="190500" progId="Equation.DSMT4">
                    <p:embed/>
                    <p:pic>
                      <p:nvPicPr>
                        <p:cNvPr id="0" name="图片 39"/>
                        <p:cNvPicPr/>
                        <p:nvPr/>
                      </p:nvPicPr>
                      <p:blipFill>
                        <a:blip r:embed="rId4"/>
                        <a:stretch>
                          <a:fillRect/>
                        </a:stretch>
                      </p:blipFill>
                      <p:spPr>
                        <a:xfrm>
                          <a:off x="12862" y="3402"/>
                          <a:ext cx="440" cy="600"/>
                        </a:xfrm>
                        <a:prstGeom prst="rect">
                          <a:avLst/>
                        </a:prstGeom>
                        <a:noFill/>
                        <a:ln w="38100">
                          <a:noFill/>
                          <a:miter/>
                        </a:ln>
                      </p:spPr>
                    </p:pic>
                  </p:oleObj>
                </mc:Fallback>
              </mc:AlternateContent>
            </a:graphicData>
          </a:graphic>
        </p:graphicFrame>
      </p:grpSp>
      <p:grpSp>
        <p:nvGrpSpPr>
          <p:cNvPr id="4" name="组合 3"/>
          <p:cNvGrpSpPr/>
          <p:nvPr/>
        </p:nvGrpSpPr>
        <p:grpSpPr>
          <a:xfrm>
            <a:off x="5867400" y="1676400"/>
            <a:ext cx="3140710" cy="5110480"/>
            <a:chOff x="9240" y="2640"/>
            <a:chExt cx="4946" cy="8048"/>
          </a:xfrm>
        </p:grpSpPr>
        <p:sp>
          <p:nvSpPr>
            <p:cNvPr id="100" name="文本框 99"/>
            <p:cNvSpPr txBox="1"/>
            <p:nvPr/>
          </p:nvSpPr>
          <p:spPr>
            <a:xfrm>
              <a:off x="9240" y="10080"/>
              <a:ext cx="4946" cy="608"/>
            </a:xfrm>
            <a:prstGeom prst="rect">
              <a:avLst/>
            </a:prstGeom>
            <a:noFill/>
            <a:ln w="9525">
              <a:noFill/>
            </a:ln>
          </p:spPr>
          <p:txBody>
            <a:bodyPr wrap="square">
              <a:spAutoFit/>
            </a:bodyPr>
            <a:p>
              <a:pPr>
                <a:lnSpc>
                  <a:spcPct val="120000"/>
                </a:lnSpc>
              </a:pPr>
              <a:r>
                <a:rPr sz="1600">
                  <a:ea typeface="宋体" panose="02010600030101010101" pitchFamily="2" charset="-122"/>
                </a:rPr>
                <a:t>图3-51 CMOS与非门输出级并联</a:t>
              </a:r>
              <a:endParaRPr sz="1600">
                <a:ea typeface="宋体" panose="02010600030101010101" pitchFamily="2" charset="-122"/>
              </a:endParaRPr>
            </a:p>
          </p:txBody>
        </p:sp>
        <p:pic>
          <p:nvPicPr>
            <p:cNvPr id="9275" name="图片 2712"/>
            <p:cNvPicPr>
              <a:picLocks noChangeAspect="1"/>
            </p:cNvPicPr>
            <p:nvPr/>
          </p:nvPicPr>
          <p:blipFill>
            <a:blip r:embed="rId5"/>
            <a:stretch>
              <a:fillRect/>
            </a:stretch>
          </p:blipFill>
          <p:spPr>
            <a:xfrm>
              <a:off x="9240" y="2640"/>
              <a:ext cx="4460" cy="7572"/>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500"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 name="文本框 41"/>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3.3 </a:t>
            </a:r>
            <a:r>
              <a:rPr b="1" dirty="0">
                <a:solidFill>
                  <a:srgbClr val="FF0000"/>
                </a:solidFill>
                <a:latin typeface="黑体" panose="02010609060101010101" pitchFamily="49" charset="-122"/>
                <a:ea typeface="黑体" panose="02010609060101010101" pitchFamily="49" charset="-122"/>
              </a:rPr>
              <a:t>COMS逻辑门电路</a:t>
            </a:r>
            <a:endParaRPr b="1" dirty="0">
              <a:solidFill>
                <a:srgbClr val="FF000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457200" y="1447800"/>
            <a:ext cx="8050530" cy="1986280"/>
          </a:xfrm>
        </p:spPr>
        <p:txBody>
          <a:bodyPr vert="horz" wrap="square" lIns="91440" tIns="45720" rIns="91440" bIns="45720" anchor="t" anchorCtr="0"/>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ea typeface="楷体_GB2312" pitchFamily="49" charset="-122"/>
              </a:rPr>
              <a:t>为了解决CMOS门电路的输出端并联问题，把输出</a:t>
            </a:r>
            <a:r>
              <a:rPr lang="zh-CN" sz="2400" b="1" kern="1200" dirty="0">
                <a:solidFill>
                  <a:srgbClr val="000066"/>
                </a:solidFill>
                <a:ea typeface="楷体_GB2312" pitchFamily="49" charset="-122"/>
              </a:rPr>
              <a:t>端</a:t>
            </a:r>
            <a:r>
              <a:rPr sz="2400" b="1" kern="1200" dirty="0">
                <a:solidFill>
                  <a:srgbClr val="000066"/>
                </a:solidFill>
                <a:ea typeface="楷体_GB2312" pitchFamily="49" charset="-122"/>
              </a:rPr>
              <a:t>改为漏极开路的结构，漏极开路的与非门电路结构和逻辑符号如图3-52所示。漏极开路的与非门与集电极开路的与非逻辑符号相同，并且二者的工作方式也相同，都需要外接电源和负载电阻。</a:t>
            </a:r>
            <a:endParaRPr sz="2400" b="1" kern="1200" dirty="0">
              <a:solidFill>
                <a:srgbClr val="000066"/>
              </a:solidFill>
              <a:ea typeface="楷体_GB2312" pitchFamily="49" charset="-122"/>
            </a:endParaRPr>
          </a:p>
        </p:txBody>
      </p:sp>
      <p:grpSp>
        <p:nvGrpSpPr>
          <p:cNvPr id="2" name="组合 1"/>
          <p:cNvGrpSpPr/>
          <p:nvPr/>
        </p:nvGrpSpPr>
        <p:grpSpPr>
          <a:xfrm>
            <a:off x="1905000" y="3505200"/>
            <a:ext cx="5358130" cy="3129280"/>
            <a:chOff x="3000" y="5520"/>
            <a:chExt cx="8438" cy="4928"/>
          </a:xfrm>
        </p:grpSpPr>
        <p:sp>
          <p:nvSpPr>
            <p:cNvPr id="100" name="文本框 99"/>
            <p:cNvSpPr txBox="1"/>
            <p:nvPr/>
          </p:nvSpPr>
          <p:spPr>
            <a:xfrm>
              <a:off x="5040" y="9840"/>
              <a:ext cx="6026" cy="608"/>
            </a:xfrm>
            <a:prstGeom prst="rect">
              <a:avLst/>
            </a:prstGeom>
            <a:noFill/>
            <a:ln w="9525">
              <a:noFill/>
            </a:ln>
          </p:spPr>
          <p:txBody>
            <a:bodyPr wrap="square">
              <a:spAutoFit/>
            </a:bodyPr>
            <a:p>
              <a:pPr>
                <a:lnSpc>
                  <a:spcPct val="120000"/>
                </a:lnSpc>
              </a:pPr>
              <a:r>
                <a:rPr sz="1600">
                  <a:ea typeface="宋体" panose="02010600030101010101" pitchFamily="2" charset="-122"/>
                </a:rPr>
                <a:t>图3-52 漏极开路与非门</a:t>
              </a:r>
              <a:r>
                <a:rPr lang="zh-CN" sz="1600">
                  <a:ea typeface="宋体" panose="02010600030101010101" pitchFamily="2" charset="-122"/>
                </a:rPr>
                <a:t>结构和逻辑符号</a:t>
              </a:r>
              <a:endParaRPr lang="zh-CN" sz="1600">
                <a:ea typeface="宋体" panose="02010600030101010101" pitchFamily="2" charset="-122"/>
              </a:endParaRPr>
            </a:p>
          </p:txBody>
        </p:sp>
        <p:pic>
          <p:nvPicPr>
            <p:cNvPr id="9276" name="图片 2713"/>
            <p:cNvPicPr>
              <a:picLocks noChangeAspect="1"/>
            </p:cNvPicPr>
            <p:nvPr/>
          </p:nvPicPr>
          <p:blipFill>
            <a:blip r:embed="rId1"/>
            <a:stretch>
              <a:fillRect/>
            </a:stretch>
          </p:blipFill>
          <p:spPr>
            <a:xfrm>
              <a:off x="3000" y="5520"/>
              <a:ext cx="8438" cy="4299"/>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 name="文本框 41"/>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6" name="Rectangle 2"/>
          <p:cNvSpPr>
            <a:spLocks noGrp="1"/>
          </p:cNvSpPr>
          <p:nvPr>
            <p:ph type="title"/>
          </p:nvPr>
        </p:nvSpPr>
        <p:spPr>
          <a:xfrm>
            <a:off x="491490" y="1198880"/>
            <a:ext cx="340106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3.3.7 </a:t>
            </a:r>
            <a:r>
              <a:rPr lang="zh-CN" altLang="en-US" sz="2800" i="0" dirty="0">
                <a:solidFill>
                  <a:srgbClr val="0070C0"/>
                </a:solidFill>
                <a:latin typeface="黑体" panose="02010609060101010101" pitchFamily="49" charset="-122"/>
                <a:ea typeface="黑体" panose="02010609060101010101" pitchFamily="49" charset="-122"/>
              </a:rPr>
              <a:t>CMOS 三态门</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3.3 </a:t>
            </a:r>
            <a:r>
              <a:rPr b="1" dirty="0">
                <a:solidFill>
                  <a:srgbClr val="FF0000"/>
                </a:solidFill>
                <a:latin typeface="黑体" panose="02010609060101010101" pitchFamily="49" charset="-122"/>
                <a:ea typeface="黑体" panose="02010609060101010101" pitchFamily="49" charset="-122"/>
              </a:rPr>
              <a:t>COMS逻辑门电路</a:t>
            </a:r>
            <a:endParaRPr b="1" dirty="0">
              <a:solidFill>
                <a:srgbClr val="FF000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457200" y="1752600"/>
            <a:ext cx="8184515" cy="869315"/>
          </a:xfrm>
        </p:spPr>
        <p:txBody>
          <a:bodyPr vert="horz" wrap="square" lIns="91440" tIns="45720" rIns="91440" bIns="45720" anchor="t" anchorCtr="0"/>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ea typeface="楷体_GB2312" pitchFamily="49" charset="-122"/>
              </a:rPr>
              <a:t>图3-53表示由CMOS电路构成的三态门，图 (a) 和 图 (b) 分别表示低电平和高电平有效的三态门电路结构和逻辑符号。</a:t>
            </a:r>
            <a:endParaRPr sz="2400" b="1" kern="1200" dirty="0">
              <a:solidFill>
                <a:srgbClr val="000066"/>
              </a:solidFill>
              <a:ea typeface="楷体_GB2312" pitchFamily="49" charset="-122"/>
            </a:endParaRPr>
          </a:p>
        </p:txBody>
      </p:sp>
      <p:grpSp>
        <p:nvGrpSpPr>
          <p:cNvPr id="6" name="组合 5"/>
          <p:cNvGrpSpPr/>
          <p:nvPr/>
        </p:nvGrpSpPr>
        <p:grpSpPr>
          <a:xfrm>
            <a:off x="609600" y="2667000"/>
            <a:ext cx="8115300" cy="4225290"/>
            <a:chOff x="960" y="4200"/>
            <a:chExt cx="12780" cy="6654"/>
          </a:xfrm>
        </p:grpSpPr>
        <p:sp>
          <p:nvSpPr>
            <p:cNvPr id="100" name="文本框 99"/>
            <p:cNvSpPr txBox="1"/>
            <p:nvPr/>
          </p:nvSpPr>
          <p:spPr>
            <a:xfrm>
              <a:off x="5640" y="10246"/>
              <a:ext cx="5283" cy="608"/>
            </a:xfrm>
            <a:prstGeom prst="rect">
              <a:avLst/>
            </a:prstGeom>
            <a:noFill/>
            <a:ln w="9525">
              <a:noFill/>
            </a:ln>
          </p:spPr>
          <p:txBody>
            <a:bodyPr wrap="square">
              <a:spAutoFit/>
            </a:bodyPr>
            <a:p>
              <a:pPr>
                <a:lnSpc>
                  <a:spcPct val="120000"/>
                </a:lnSpc>
              </a:pPr>
              <a:r>
                <a:rPr sz="1600">
                  <a:ea typeface="宋体" panose="02010600030101010101" pitchFamily="2" charset="-122"/>
                </a:rPr>
                <a:t>图3-53 三态门电路结构和逻辑符号</a:t>
              </a:r>
              <a:endParaRPr sz="1600">
                <a:ea typeface="宋体" panose="02010600030101010101" pitchFamily="2" charset="-122"/>
              </a:endParaRPr>
            </a:p>
          </p:txBody>
        </p:sp>
        <p:grpSp>
          <p:nvGrpSpPr>
            <p:cNvPr id="5" name="组合 4"/>
            <p:cNvGrpSpPr/>
            <p:nvPr/>
          </p:nvGrpSpPr>
          <p:grpSpPr>
            <a:xfrm>
              <a:off x="960" y="4200"/>
              <a:ext cx="12780" cy="6082"/>
              <a:chOff x="960" y="4320"/>
              <a:chExt cx="12780" cy="6082"/>
            </a:xfrm>
          </p:grpSpPr>
          <p:pic>
            <p:nvPicPr>
              <p:cNvPr id="9277" name="图片 2714"/>
              <p:cNvPicPr>
                <a:picLocks noChangeAspect="1"/>
              </p:cNvPicPr>
              <p:nvPr/>
            </p:nvPicPr>
            <p:blipFill>
              <a:blip r:embed="rId1"/>
              <a:srcRect b="13670"/>
              <a:stretch>
                <a:fillRect/>
              </a:stretch>
            </p:blipFill>
            <p:spPr>
              <a:xfrm>
                <a:off x="960" y="4320"/>
                <a:ext cx="12780" cy="5551"/>
              </a:xfrm>
              <a:prstGeom prst="rect">
                <a:avLst/>
              </a:prstGeom>
              <a:noFill/>
              <a:ln>
                <a:noFill/>
              </a:ln>
            </p:spPr>
          </p:pic>
          <p:pic>
            <p:nvPicPr>
              <p:cNvPr id="4" name="图片 2714"/>
              <p:cNvPicPr>
                <a:picLocks noChangeAspect="1"/>
              </p:cNvPicPr>
              <p:nvPr/>
            </p:nvPicPr>
            <p:blipFill>
              <a:blip r:embed="rId1"/>
              <a:srcRect t="93110"/>
              <a:stretch>
                <a:fillRect/>
              </a:stretch>
            </p:blipFill>
            <p:spPr>
              <a:xfrm>
                <a:off x="960" y="9960"/>
                <a:ext cx="12780" cy="443"/>
              </a:xfrm>
              <a:prstGeom prst="rect">
                <a:avLst/>
              </a:prstGeom>
              <a:noFill/>
              <a:ln>
                <a:noFill/>
              </a:ln>
            </p:spPr>
          </p:pic>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477000"/>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3.3 </a:t>
            </a:r>
            <a:r>
              <a:rPr b="1" dirty="0">
                <a:solidFill>
                  <a:srgbClr val="FF0000"/>
                </a:solidFill>
                <a:latin typeface="黑体" panose="02010609060101010101" pitchFamily="49" charset="-122"/>
                <a:ea typeface="黑体" panose="02010609060101010101" pitchFamily="49" charset="-122"/>
              </a:rPr>
              <a:t>COMS逻辑门电路</a:t>
            </a:r>
            <a:endParaRPr b="1" dirty="0">
              <a:solidFill>
                <a:srgbClr val="FF0000"/>
              </a:solidFill>
              <a:latin typeface="黑体" panose="02010609060101010101" pitchFamily="49" charset="-122"/>
              <a:ea typeface="黑体" panose="02010609060101010101" pitchFamily="49" charset="-122"/>
            </a:endParaRPr>
          </a:p>
        </p:txBody>
      </p:sp>
      <p:pic>
        <p:nvPicPr>
          <p:cNvPr id="9277" name="图片 2714"/>
          <p:cNvPicPr>
            <a:picLocks noChangeAspect="1"/>
          </p:cNvPicPr>
          <p:nvPr/>
        </p:nvPicPr>
        <p:blipFill>
          <a:blip r:embed="rId1"/>
          <a:srcRect r="57121" b="13670"/>
          <a:stretch>
            <a:fillRect/>
          </a:stretch>
        </p:blipFill>
        <p:spPr>
          <a:xfrm>
            <a:off x="457200" y="1600200"/>
            <a:ext cx="3479800" cy="3524885"/>
          </a:xfrm>
          <a:prstGeom prst="rect">
            <a:avLst/>
          </a:prstGeom>
          <a:noFill/>
          <a:ln>
            <a:noFill/>
          </a:ln>
        </p:spPr>
      </p:pic>
      <p:grpSp>
        <p:nvGrpSpPr>
          <p:cNvPr id="16" name="组合 15"/>
          <p:cNvGrpSpPr/>
          <p:nvPr/>
        </p:nvGrpSpPr>
        <p:grpSpPr>
          <a:xfrm>
            <a:off x="4257993" y="2895918"/>
            <a:ext cx="868363" cy="2170112"/>
            <a:chOff x="2481" y="1711"/>
            <a:chExt cx="547" cy="1367"/>
          </a:xfrm>
        </p:grpSpPr>
        <p:sp>
          <p:nvSpPr>
            <p:cNvPr id="17" name="文本框 419936"/>
            <p:cNvSpPr txBox="1"/>
            <p:nvPr/>
          </p:nvSpPr>
          <p:spPr>
            <a:xfrm>
              <a:off x="2481" y="1711"/>
              <a:ext cx="547" cy="290"/>
            </a:xfrm>
            <a:prstGeom prst="rect">
              <a:avLst/>
            </a:prstGeom>
            <a:noFill/>
            <a:ln w="9525">
              <a:noFill/>
            </a:ln>
          </p:spPr>
          <p:txBody>
            <a:bodyPr wrap="none" anchor="t" anchorCtr="0">
              <a:spAutoFit/>
            </a:bodyPr>
            <a:p>
              <a:pPr eaLnBrk="0" hangingPunct="0"/>
              <a:r>
                <a:rPr lang="en-US" altLang="zh-CN" sz="2400" b="1">
                  <a:solidFill>
                    <a:srgbClr val="000066"/>
                  </a:solidFill>
                  <a:latin typeface="Times New Roman" panose="02020603050405020304" charset="0"/>
                  <a:ea typeface="楷体_GB2312" pitchFamily="49" charset="-122"/>
                </a:rPr>
                <a:t>0     0</a:t>
              </a:r>
              <a:endParaRPr lang="en-US" altLang="zh-CN" sz="2400" b="1">
                <a:solidFill>
                  <a:srgbClr val="000066"/>
                </a:solidFill>
                <a:latin typeface="Times New Roman" panose="02020603050405020304" charset="0"/>
                <a:ea typeface="楷体_GB2312" pitchFamily="49" charset="-122"/>
              </a:endParaRPr>
            </a:p>
          </p:txBody>
        </p:sp>
        <p:sp>
          <p:nvSpPr>
            <p:cNvPr id="18" name="文本框 419937"/>
            <p:cNvSpPr txBox="1"/>
            <p:nvPr/>
          </p:nvSpPr>
          <p:spPr>
            <a:xfrm>
              <a:off x="2481" y="2062"/>
              <a:ext cx="547" cy="290"/>
            </a:xfrm>
            <a:prstGeom prst="rect">
              <a:avLst/>
            </a:prstGeom>
            <a:noFill/>
            <a:ln w="9525">
              <a:noFill/>
            </a:ln>
          </p:spPr>
          <p:txBody>
            <a:bodyPr wrap="none" anchor="t" anchorCtr="0">
              <a:spAutoFit/>
            </a:bodyPr>
            <a:p>
              <a:pPr eaLnBrk="0" hangingPunct="0"/>
              <a:r>
                <a:rPr lang="en-US" altLang="zh-CN" sz="2400" b="1">
                  <a:solidFill>
                    <a:srgbClr val="000066"/>
                  </a:solidFill>
                  <a:latin typeface="Times New Roman" panose="02020603050405020304" charset="0"/>
                  <a:ea typeface="楷体_GB2312" pitchFamily="49" charset="-122"/>
                </a:rPr>
                <a:t>0     1</a:t>
              </a:r>
              <a:endParaRPr lang="en-US" altLang="zh-CN" sz="2400" b="1">
                <a:solidFill>
                  <a:srgbClr val="000066"/>
                </a:solidFill>
                <a:latin typeface="Times New Roman" panose="02020603050405020304" charset="0"/>
                <a:ea typeface="楷体_GB2312" pitchFamily="49" charset="-122"/>
              </a:endParaRPr>
            </a:p>
          </p:txBody>
        </p:sp>
        <p:sp>
          <p:nvSpPr>
            <p:cNvPr id="19" name="文本框 419938"/>
            <p:cNvSpPr txBox="1"/>
            <p:nvPr/>
          </p:nvSpPr>
          <p:spPr>
            <a:xfrm>
              <a:off x="2481" y="2431"/>
              <a:ext cx="547" cy="290"/>
            </a:xfrm>
            <a:prstGeom prst="rect">
              <a:avLst/>
            </a:prstGeom>
            <a:noFill/>
            <a:ln w="9525">
              <a:noFill/>
            </a:ln>
          </p:spPr>
          <p:txBody>
            <a:bodyPr wrap="none" anchor="t" anchorCtr="0">
              <a:spAutoFit/>
            </a:bodyPr>
            <a:p>
              <a:pPr eaLnBrk="0" hangingPunct="0"/>
              <a:r>
                <a:rPr lang="en-US" altLang="zh-CN" sz="2400" b="1">
                  <a:solidFill>
                    <a:srgbClr val="000066"/>
                  </a:solidFill>
                  <a:latin typeface="Times New Roman" panose="02020603050405020304" charset="0"/>
                  <a:ea typeface="楷体_GB2312" pitchFamily="49" charset="-122"/>
                </a:rPr>
                <a:t>1     0</a:t>
              </a:r>
              <a:endParaRPr lang="en-US" altLang="zh-CN" sz="2400" b="1">
                <a:solidFill>
                  <a:srgbClr val="000066"/>
                </a:solidFill>
                <a:latin typeface="Times New Roman" panose="02020603050405020304" charset="0"/>
                <a:ea typeface="楷体_GB2312" pitchFamily="49" charset="-122"/>
              </a:endParaRPr>
            </a:p>
          </p:txBody>
        </p:sp>
        <p:sp>
          <p:nvSpPr>
            <p:cNvPr id="20" name="文本框 419939"/>
            <p:cNvSpPr txBox="1"/>
            <p:nvPr/>
          </p:nvSpPr>
          <p:spPr>
            <a:xfrm>
              <a:off x="2481" y="2788"/>
              <a:ext cx="547" cy="290"/>
            </a:xfrm>
            <a:prstGeom prst="rect">
              <a:avLst/>
            </a:prstGeom>
            <a:noFill/>
            <a:ln w="9525">
              <a:noFill/>
            </a:ln>
          </p:spPr>
          <p:txBody>
            <a:bodyPr wrap="none" anchor="t" anchorCtr="0">
              <a:spAutoFit/>
            </a:bodyPr>
            <a:p>
              <a:pPr eaLnBrk="0" hangingPunct="0"/>
              <a:r>
                <a:rPr lang="en-US" altLang="zh-CN" sz="2400" b="1">
                  <a:solidFill>
                    <a:srgbClr val="000066"/>
                  </a:solidFill>
                  <a:latin typeface="Times New Roman" panose="02020603050405020304" charset="0"/>
                  <a:ea typeface="楷体_GB2312" pitchFamily="49" charset="-122"/>
                </a:rPr>
                <a:t>1     1</a:t>
              </a:r>
              <a:endParaRPr lang="en-US" altLang="zh-CN" sz="2400" b="1">
                <a:solidFill>
                  <a:srgbClr val="000066"/>
                </a:solidFill>
                <a:latin typeface="Times New Roman" panose="02020603050405020304" charset="0"/>
                <a:ea typeface="楷体_GB2312" pitchFamily="49" charset="-122"/>
              </a:endParaRPr>
            </a:p>
          </p:txBody>
        </p:sp>
      </p:grpSp>
      <p:sp>
        <p:nvSpPr>
          <p:cNvPr id="22" name="文本框 419940"/>
          <p:cNvSpPr txBox="1"/>
          <p:nvPr/>
        </p:nvSpPr>
        <p:spPr>
          <a:xfrm>
            <a:off x="5248910" y="2898775"/>
            <a:ext cx="795020" cy="460375"/>
          </a:xfrm>
          <a:prstGeom prst="rect">
            <a:avLst/>
          </a:prstGeom>
          <a:noFill/>
          <a:ln w="9525">
            <a:noFill/>
          </a:ln>
        </p:spPr>
        <p:txBody>
          <a:bodyPr wrap="none" anchor="t" anchorCtr="0">
            <a:spAutoFit/>
          </a:bodyPr>
          <a:p>
            <a:pPr eaLnBrk="0" hangingPunct="0"/>
            <a:r>
              <a:rPr lang="zh-CN" altLang="en-US" sz="2400" b="1" dirty="0">
                <a:solidFill>
                  <a:srgbClr val="000066"/>
                </a:solidFill>
                <a:latin typeface="楷体_GB2312" pitchFamily="49" charset="-122"/>
                <a:ea typeface="楷体_GB2312" pitchFamily="49" charset="-122"/>
              </a:rPr>
              <a:t>截止</a:t>
            </a:r>
            <a:endParaRPr lang="zh-CN" altLang="en-US" sz="2400" b="1" dirty="0">
              <a:solidFill>
                <a:srgbClr val="000066"/>
              </a:solidFill>
              <a:latin typeface="楷体_GB2312" pitchFamily="49" charset="-122"/>
              <a:ea typeface="楷体_GB2312" pitchFamily="49" charset="-122"/>
            </a:endParaRPr>
          </a:p>
        </p:txBody>
      </p:sp>
      <p:sp>
        <p:nvSpPr>
          <p:cNvPr id="23" name="文本框 419941"/>
          <p:cNvSpPr txBox="1"/>
          <p:nvPr/>
        </p:nvSpPr>
        <p:spPr>
          <a:xfrm>
            <a:off x="6101080" y="2922905"/>
            <a:ext cx="901065" cy="460375"/>
          </a:xfrm>
          <a:prstGeom prst="rect">
            <a:avLst/>
          </a:prstGeom>
          <a:noFill/>
          <a:ln w="9525">
            <a:noFill/>
          </a:ln>
        </p:spPr>
        <p:txBody>
          <a:bodyPr wrap="square" anchor="t" anchorCtr="0">
            <a:spAutoFit/>
          </a:bodyPr>
          <a:p>
            <a:pPr eaLnBrk="0" hangingPunct="0"/>
            <a:r>
              <a:rPr lang="zh-CN" altLang="en-US" sz="2400" b="1" dirty="0">
                <a:solidFill>
                  <a:srgbClr val="000066"/>
                </a:solidFill>
                <a:latin typeface="楷体_GB2312" pitchFamily="49" charset="-122"/>
                <a:ea typeface="楷体_GB2312" pitchFamily="49" charset="-122"/>
              </a:rPr>
              <a:t>导通</a:t>
            </a:r>
            <a:endParaRPr lang="zh-CN" altLang="en-US" sz="2400" b="1" dirty="0">
              <a:solidFill>
                <a:srgbClr val="000066"/>
              </a:solidFill>
              <a:latin typeface="楷体_GB2312" pitchFamily="49" charset="-122"/>
              <a:ea typeface="楷体_GB2312" pitchFamily="49" charset="-122"/>
            </a:endParaRPr>
          </a:p>
        </p:txBody>
      </p:sp>
      <p:sp>
        <p:nvSpPr>
          <p:cNvPr id="27" name="文本框 419943"/>
          <p:cNvSpPr txBox="1"/>
          <p:nvPr/>
        </p:nvSpPr>
        <p:spPr>
          <a:xfrm>
            <a:off x="6086475" y="3425825"/>
            <a:ext cx="866775" cy="460375"/>
          </a:xfrm>
          <a:prstGeom prst="rect">
            <a:avLst/>
          </a:prstGeom>
          <a:noFill/>
          <a:ln w="9525">
            <a:noFill/>
          </a:ln>
        </p:spPr>
        <p:txBody>
          <a:bodyPr wrap="square" anchor="t" anchorCtr="0">
            <a:spAutoFit/>
          </a:bodyPr>
          <a:p>
            <a:pPr eaLnBrk="0" hangingPunct="0"/>
            <a:r>
              <a:rPr lang="zh-CN" altLang="en-US" sz="2400" b="1" dirty="0">
                <a:solidFill>
                  <a:srgbClr val="000066"/>
                </a:solidFill>
                <a:latin typeface="楷体_GB2312" pitchFamily="49" charset="-122"/>
                <a:ea typeface="楷体_GB2312" pitchFamily="49" charset="-122"/>
              </a:rPr>
              <a:t>截止</a:t>
            </a:r>
            <a:endParaRPr lang="zh-CN" altLang="en-US" sz="2400" b="1" dirty="0">
              <a:solidFill>
                <a:srgbClr val="000066"/>
              </a:solidFill>
              <a:latin typeface="楷体_GB2312" pitchFamily="49" charset="-122"/>
              <a:ea typeface="楷体_GB2312" pitchFamily="49" charset="-122"/>
            </a:endParaRPr>
          </a:p>
        </p:txBody>
      </p:sp>
      <p:sp>
        <p:nvSpPr>
          <p:cNvPr id="29" name="文本框 419950"/>
          <p:cNvSpPr txBox="1"/>
          <p:nvPr/>
        </p:nvSpPr>
        <p:spPr>
          <a:xfrm>
            <a:off x="5276850" y="3456305"/>
            <a:ext cx="795020" cy="460375"/>
          </a:xfrm>
          <a:prstGeom prst="rect">
            <a:avLst/>
          </a:prstGeom>
          <a:noFill/>
          <a:ln w="9525">
            <a:noFill/>
          </a:ln>
        </p:spPr>
        <p:txBody>
          <a:bodyPr wrap="none" anchor="t" anchorCtr="0">
            <a:spAutoFit/>
          </a:bodyPr>
          <a:p>
            <a:pPr eaLnBrk="0" hangingPunct="0"/>
            <a:r>
              <a:rPr lang="zh-CN" altLang="en-US" sz="2400" b="1" dirty="0">
                <a:solidFill>
                  <a:srgbClr val="000066"/>
                </a:solidFill>
                <a:latin typeface="楷体_GB2312" pitchFamily="49" charset="-122"/>
                <a:ea typeface="楷体_GB2312" pitchFamily="49" charset="-122"/>
              </a:rPr>
              <a:t>导通</a:t>
            </a:r>
            <a:endParaRPr lang="zh-CN" altLang="en-US" sz="2400" b="1" dirty="0">
              <a:solidFill>
                <a:srgbClr val="000066"/>
              </a:solidFill>
              <a:latin typeface="楷体_GB2312" pitchFamily="49" charset="-122"/>
              <a:ea typeface="楷体_GB2312" pitchFamily="49" charset="-122"/>
            </a:endParaRPr>
          </a:p>
        </p:txBody>
      </p:sp>
      <p:sp>
        <p:nvSpPr>
          <p:cNvPr id="32" name="文本框 419945"/>
          <p:cNvSpPr txBox="1"/>
          <p:nvPr/>
        </p:nvSpPr>
        <p:spPr>
          <a:xfrm>
            <a:off x="5248910" y="4004310"/>
            <a:ext cx="863600" cy="460375"/>
          </a:xfrm>
          <a:prstGeom prst="rect">
            <a:avLst/>
          </a:prstGeom>
          <a:noFill/>
          <a:ln w="9525">
            <a:noFill/>
          </a:ln>
        </p:spPr>
        <p:txBody>
          <a:bodyPr wrap="square" anchor="t" anchorCtr="0">
            <a:spAutoFit/>
          </a:bodyPr>
          <a:p>
            <a:pPr eaLnBrk="0" hangingPunct="0"/>
            <a:r>
              <a:rPr lang="zh-CN" altLang="en-US" sz="2400" b="1" dirty="0">
                <a:solidFill>
                  <a:srgbClr val="000066"/>
                </a:solidFill>
                <a:latin typeface="楷体_GB2312" pitchFamily="49" charset="-122"/>
                <a:ea typeface="楷体_GB2312" pitchFamily="49" charset="-122"/>
              </a:rPr>
              <a:t>导通</a:t>
            </a:r>
            <a:endParaRPr lang="zh-CN" altLang="en-US" sz="2400" b="1" dirty="0">
              <a:solidFill>
                <a:srgbClr val="000066"/>
              </a:solidFill>
              <a:latin typeface="楷体_GB2312" pitchFamily="49" charset="-122"/>
              <a:ea typeface="楷体_GB2312" pitchFamily="49" charset="-122"/>
            </a:endParaRPr>
          </a:p>
        </p:txBody>
      </p:sp>
      <p:sp>
        <p:nvSpPr>
          <p:cNvPr id="34" name="文本框 419952"/>
          <p:cNvSpPr txBox="1"/>
          <p:nvPr/>
        </p:nvSpPr>
        <p:spPr>
          <a:xfrm>
            <a:off x="6126480" y="4004310"/>
            <a:ext cx="831215" cy="460375"/>
          </a:xfrm>
          <a:prstGeom prst="rect">
            <a:avLst/>
          </a:prstGeom>
          <a:noFill/>
          <a:ln w="9525">
            <a:noFill/>
          </a:ln>
        </p:spPr>
        <p:txBody>
          <a:bodyPr wrap="square" anchor="t" anchorCtr="0">
            <a:spAutoFit/>
          </a:bodyPr>
          <a:p>
            <a:pPr eaLnBrk="0" hangingPunct="0"/>
            <a:r>
              <a:rPr lang="zh-CN" altLang="en-US" sz="2400" b="1" dirty="0">
                <a:solidFill>
                  <a:srgbClr val="000066"/>
                </a:solidFill>
                <a:latin typeface="楷体_GB2312" pitchFamily="49" charset="-122"/>
                <a:ea typeface="楷体_GB2312" pitchFamily="49" charset="-122"/>
              </a:rPr>
              <a:t>导通</a:t>
            </a:r>
            <a:endParaRPr lang="zh-CN" altLang="en-US" sz="2400" b="1" dirty="0">
              <a:solidFill>
                <a:srgbClr val="000066"/>
              </a:solidFill>
              <a:latin typeface="楷体_GB2312" pitchFamily="49" charset="-122"/>
              <a:ea typeface="楷体_GB2312" pitchFamily="49" charset="-122"/>
            </a:endParaRPr>
          </a:p>
        </p:txBody>
      </p:sp>
      <p:sp>
        <p:nvSpPr>
          <p:cNvPr id="33909" name="文本框 419947"/>
          <p:cNvSpPr txBox="1"/>
          <p:nvPr/>
        </p:nvSpPr>
        <p:spPr>
          <a:xfrm>
            <a:off x="6104255" y="4597400"/>
            <a:ext cx="938530" cy="460375"/>
          </a:xfrm>
          <a:prstGeom prst="rect">
            <a:avLst/>
          </a:prstGeom>
          <a:noFill/>
          <a:ln w="9525">
            <a:noFill/>
          </a:ln>
        </p:spPr>
        <p:txBody>
          <a:bodyPr wrap="square" anchor="t" anchorCtr="0">
            <a:spAutoFit/>
          </a:bodyPr>
          <a:p>
            <a:pPr eaLnBrk="0" hangingPunct="0"/>
            <a:r>
              <a:rPr lang="zh-CN" altLang="en-US" sz="2400" b="1" dirty="0">
                <a:solidFill>
                  <a:srgbClr val="000066"/>
                </a:solidFill>
                <a:latin typeface="楷体_GB2312" pitchFamily="49" charset="-122"/>
                <a:ea typeface="楷体_GB2312" pitchFamily="49" charset="-122"/>
              </a:rPr>
              <a:t>截止</a:t>
            </a:r>
            <a:endParaRPr lang="zh-CN" altLang="en-US" sz="2400" b="1" dirty="0">
              <a:solidFill>
                <a:srgbClr val="000066"/>
              </a:solidFill>
              <a:latin typeface="楷体_GB2312" pitchFamily="49" charset="-122"/>
              <a:ea typeface="楷体_GB2312" pitchFamily="49" charset="-122"/>
            </a:endParaRPr>
          </a:p>
        </p:txBody>
      </p:sp>
      <p:sp>
        <p:nvSpPr>
          <p:cNvPr id="33911" name="文本框 419954"/>
          <p:cNvSpPr txBox="1"/>
          <p:nvPr/>
        </p:nvSpPr>
        <p:spPr>
          <a:xfrm>
            <a:off x="5299075" y="4584700"/>
            <a:ext cx="795020" cy="460375"/>
          </a:xfrm>
          <a:prstGeom prst="rect">
            <a:avLst/>
          </a:prstGeom>
          <a:noFill/>
          <a:ln w="9525">
            <a:noFill/>
          </a:ln>
        </p:spPr>
        <p:txBody>
          <a:bodyPr wrap="none" anchor="t" anchorCtr="0">
            <a:spAutoFit/>
          </a:bodyPr>
          <a:p>
            <a:pPr eaLnBrk="0" hangingPunct="0"/>
            <a:r>
              <a:rPr lang="zh-CN" altLang="en-US" sz="2400" b="1" dirty="0">
                <a:solidFill>
                  <a:srgbClr val="000066"/>
                </a:solidFill>
                <a:latin typeface="楷体_GB2312" pitchFamily="49" charset="-122"/>
                <a:ea typeface="楷体_GB2312" pitchFamily="49" charset="-122"/>
              </a:rPr>
              <a:t>导通</a:t>
            </a:r>
            <a:endParaRPr lang="zh-CN" altLang="en-US" sz="2400" b="1" dirty="0">
              <a:solidFill>
                <a:srgbClr val="000066"/>
              </a:solidFill>
              <a:latin typeface="楷体_GB2312" pitchFamily="49" charset="-122"/>
              <a:ea typeface="楷体_GB2312" pitchFamily="49" charset="-122"/>
            </a:endParaRPr>
          </a:p>
        </p:txBody>
      </p:sp>
      <p:sp>
        <p:nvSpPr>
          <p:cNvPr id="36" name="文本框 35"/>
          <p:cNvSpPr txBox="1"/>
          <p:nvPr/>
        </p:nvSpPr>
        <p:spPr>
          <a:xfrm>
            <a:off x="7939405" y="2886393"/>
            <a:ext cx="335280" cy="460375"/>
          </a:xfrm>
          <a:prstGeom prst="rect">
            <a:avLst/>
          </a:prstGeom>
          <a:noFill/>
          <a:ln w="9525">
            <a:noFill/>
          </a:ln>
        </p:spPr>
        <p:txBody>
          <a:bodyPr wrap="none" anchor="t" anchorCtr="0">
            <a:spAutoFit/>
          </a:bodyPr>
          <a:p>
            <a:pPr eaLnBrk="0" hangingPunct="0"/>
            <a:r>
              <a:rPr lang="en-US" altLang="zh-CN" sz="2400" b="1">
                <a:solidFill>
                  <a:srgbClr val="000066"/>
                </a:solidFill>
                <a:latin typeface="Times New Roman" panose="02020603050405020304" charset="0"/>
                <a:ea typeface="楷体_GB2312" pitchFamily="49" charset="-122"/>
              </a:rPr>
              <a:t>0</a:t>
            </a:r>
            <a:endParaRPr lang="en-US" altLang="zh-CN" sz="2400" b="1">
              <a:solidFill>
                <a:srgbClr val="000066"/>
              </a:solidFill>
              <a:latin typeface="Times New Roman" panose="02020603050405020304" charset="0"/>
              <a:ea typeface="楷体_GB2312" pitchFamily="49" charset="-122"/>
            </a:endParaRPr>
          </a:p>
        </p:txBody>
      </p:sp>
      <p:sp>
        <p:nvSpPr>
          <p:cNvPr id="37" name="文本框 36"/>
          <p:cNvSpPr txBox="1"/>
          <p:nvPr/>
        </p:nvSpPr>
        <p:spPr>
          <a:xfrm>
            <a:off x="7620000" y="3428683"/>
            <a:ext cx="948690" cy="398780"/>
          </a:xfrm>
          <a:prstGeom prst="rect">
            <a:avLst/>
          </a:prstGeom>
          <a:noFill/>
          <a:ln w="9525">
            <a:noFill/>
          </a:ln>
        </p:spPr>
        <p:txBody>
          <a:bodyPr wrap="none" anchor="t" anchorCtr="0">
            <a:spAutoFit/>
          </a:bodyPr>
          <a:p>
            <a:pPr eaLnBrk="0" hangingPunct="0"/>
            <a:r>
              <a:rPr lang="zh-CN" altLang="en-US" sz="2000" b="1">
                <a:solidFill>
                  <a:srgbClr val="000066"/>
                </a:solidFill>
                <a:latin typeface="Times New Roman" panose="02020603050405020304" charset="0"/>
                <a:ea typeface="楷体_GB2312" pitchFamily="49" charset="-122"/>
              </a:rPr>
              <a:t>高阻态</a:t>
            </a:r>
            <a:endParaRPr lang="zh-CN" altLang="en-US" sz="2000" b="1">
              <a:solidFill>
                <a:srgbClr val="000066"/>
              </a:solidFill>
              <a:latin typeface="Times New Roman" panose="02020603050405020304" charset="0"/>
              <a:ea typeface="楷体_GB2312" pitchFamily="49" charset="-122"/>
            </a:endParaRPr>
          </a:p>
        </p:txBody>
      </p:sp>
      <p:sp>
        <p:nvSpPr>
          <p:cNvPr id="38" name="文本框 37"/>
          <p:cNvSpPr txBox="1"/>
          <p:nvPr/>
        </p:nvSpPr>
        <p:spPr>
          <a:xfrm>
            <a:off x="7966075" y="4050983"/>
            <a:ext cx="335280" cy="460375"/>
          </a:xfrm>
          <a:prstGeom prst="rect">
            <a:avLst/>
          </a:prstGeom>
          <a:noFill/>
          <a:ln w="9525">
            <a:noFill/>
          </a:ln>
        </p:spPr>
        <p:txBody>
          <a:bodyPr wrap="none" anchor="t" anchorCtr="0">
            <a:spAutoFit/>
          </a:bodyPr>
          <a:p>
            <a:pPr eaLnBrk="0" hangingPunct="0"/>
            <a:r>
              <a:rPr lang="en-US" altLang="zh-CN" sz="2400" b="1">
                <a:solidFill>
                  <a:srgbClr val="000066"/>
                </a:solidFill>
                <a:latin typeface="Times New Roman" panose="02020603050405020304" charset="0"/>
                <a:ea typeface="楷体_GB2312" pitchFamily="49" charset="-122"/>
              </a:rPr>
              <a:t>1</a:t>
            </a:r>
            <a:endParaRPr lang="en-US" altLang="zh-CN" sz="2400" b="1">
              <a:solidFill>
                <a:srgbClr val="000066"/>
              </a:solidFill>
              <a:latin typeface="Times New Roman" panose="02020603050405020304" charset="0"/>
              <a:ea typeface="楷体_GB2312" pitchFamily="49" charset="-122"/>
            </a:endParaRPr>
          </a:p>
        </p:txBody>
      </p:sp>
      <p:sp>
        <p:nvSpPr>
          <p:cNvPr id="39" name="文本框 38"/>
          <p:cNvSpPr txBox="1"/>
          <p:nvPr/>
        </p:nvSpPr>
        <p:spPr>
          <a:xfrm>
            <a:off x="7619683" y="4572000"/>
            <a:ext cx="948690" cy="398780"/>
          </a:xfrm>
          <a:prstGeom prst="rect">
            <a:avLst/>
          </a:prstGeom>
          <a:noFill/>
          <a:ln w="9525">
            <a:noFill/>
          </a:ln>
        </p:spPr>
        <p:txBody>
          <a:bodyPr wrap="none" anchor="t" anchorCtr="0">
            <a:spAutoFit/>
          </a:bodyPr>
          <a:p>
            <a:pPr eaLnBrk="0" hangingPunct="0"/>
            <a:r>
              <a:rPr lang="zh-CN" altLang="en-US" sz="2000" b="1">
                <a:solidFill>
                  <a:srgbClr val="000066"/>
                </a:solidFill>
                <a:latin typeface="Times New Roman" panose="02020603050405020304" charset="0"/>
                <a:ea typeface="楷体_GB2312" pitchFamily="49" charset="-122"/>
              </a:rPr>
              <a:t>高阻态</a:t>
            </a:r>
            <a:endParaRPr lang="zh-CN" altLang="en-US" sz="2000" b="1">
              <a:solidFill>
                <a:srgbClr val="000066"/>
              </a:solidFill>
              <a:latin typeface="Times New Roman" panose="02020603050405020304" charset="0"/>
              <a:ea typeface="楷体_GB2312" pitchFamily="49" charset="-122"/>
            </a:endParaRPr>
          </a:p>
        </p:txBody>
      </p:sp>
      <p:sp>
        <p:nvSpPr>
          <p:cNvPr id="3" name="文本框 419941"/>
          <p:cNvSpPr txBox="1"/>
          <p:nvPr/>
        </p:nvSpPr>
        <p:spPr>
          <a:xfrm>
            <a:off x="6927850" y="2897505"/>
            <a:ext cx="901065" cy="460375"/>
          </a:xfrm>
          <a:prstGeom prst="rect">
            <a:avLst/>
          </a:prstGeom>
          <a:noFill/>
          <a:ln w="9525">
            <a:noFill/>
          </a:ln>
        </p:spPr>
        <p:txBody>
          <a:bodyPr wrap="square" anchor="t" anchorCtr="0">
            <a:spAutoFit/>
          </a:bodyPr>
          <a:p>
            <a:pPr eaLnBrk="0" hangingPunct="0"/>
            <a:r>
              <a:rPr lang="zh-CN" altLang="en-US" sz="2400" b="1" dirty="0">
                <a:solidFill>
                  <a:srgbClr val="000066"/>
                </a:solidFill>
                <a:latin typeface="楷体_GB2312" pitchFamily="49" charset="-122"/>
                <a:ea typeface="楷体_GB2312" pitchFamily="49" charset="-122"/>
              </a:rPr>
              <a:t>导通</a:t>
            </a:r>
            <a:endParaRPr lang="zh-CN" altLang="en-US" sz="2400" b="1" dirty="0">
              <a:solidFill>
                <a:srgbClr val="000066"/>
              </a:solidFill>
              <a:latin typeface="楷体_GB2312" pitchFamily="49" charset="-122"/>
              <a:ea typeface="楷体_GB2312" pitchFamily="49" charset="-122"/>
            </a:endParaRPr>
          </a:p>
        </p:txBody>
      </p:sp>
      <p:sp>
        <p:nvSpPr>
          <p:cNvPr id="4" name="文本框 419943"/>
          <p:cNvSpPr txBox="1"/>
          <p:nvPr/>
        </p:nvSpPr>
        <p:spPr>
          <a:xfrm>
            <a:off x="6913245" y="3400425"/>
            <a:ext cx="866775" cy="460375"/>
          </a:xfrm>
          <a:prstGeom prst="rect">
            <a:avLst/>
          </a:prstGeom>
          <a:noFill/>
          <a:ln w="9525">
            <a:noFill/>
          </a:ln>
        </p:spPr>
        <p:txBody>
          <a:bodyPr wrap="square" anchor="t" anchorCtr="0">
            <a:spAutoFit/>
          </a:bodyPr>
          <a:p>
            <a:pPr eaLnBrk="0" hangingPunct="0"/>
            <a:r>
              <a:rPr lang="zh-CN" altLang="en-US" sz="2400" b="1" dirty="0">
                <a:solidFill>
                  <a:srgbClr val="000066"/>
                </a:solidFill>
                <a:latin typeface="楷体_GB2312" pitchFamily="49" charset="-122"/>
                <a:ea typeface="楷体_GB2312" pitchFamily="49" charset="-122"/>
              </a:rPr>
              <a:t>截止</a:t>
            </a:r>
            <a:endParaRPr lang="zh-CN" altLang="en-US" sz="2400" b="1" dirty="0">
              <a:solidFill>
                <a:srgbClr val="000066"/>
              </a:solidFill>
              <a:latin typeface="楷体_GB2312" pitchFamily="49" charset="-122"/>
              <a:ea typeface="楷体_GB2312" pitchFamily="49" charset="-122"/>
            </a:endParaRPr>
          </a:p>
        </p:txBody>
      </p:sp>
      <p:sp>
        <p:nvSpPr>
          <p:cNvPr id="5" name="文本框 419952"/>
          <p:cNvSpPr txBox="1"/>
          <p:nvPr/>
        </p:nvSpPr>
        <p:spPr>
          <a:xfrm>
            <a:off x="6953250" y="3978910"/>
            <a:ext cx="831215" cy="460375"/>
          </a:xfrm>
          <a:prstGeom prst="rect">
            <a:avLst/>
          </a:prstGeom>
          <a:noFill/>
          <a:ln w="9525">
            <a:noFill/>
          </a:ln>
        </p:spPr>
        <p:txBody>
          <a:bodyPr wrap="square" anchor="t" anchorCtr="0">
            <a:spAutoFit/>
          </a:bodyPr>
          <a:p>
            <a:pPr eaLnBrk="0" hangingPunct="0"/>
            <a:r>
              <a:rPr lang="zh-CN" altLang="en-US" sz="2400" b="1" dirty="0">
                <a:solidFill>
                  <a:srgbClr val="000066"/>
                </a:solidFill>
                <a:latin typeface="楷体_GB2312" pitchFamily="49" charset="-122"/>
                <a:ea typeface="楷体_GB2312" pitchFamily="49" charset="-122"/>
              </a:rPr>
              <a:t>截止</a:t>
            </a:r>
            <a:endParaRPr lang="zh-CN" altLang="en-US" sz="2400" b="1" dirty="0">
              <a:solidFill>
                <a:srgbClr val="000066"/>
              </a:solidFill>
              <a:latin typeface="楷体_GB2312" pitchFamily="49" charset="-122"/>
              <a:ea typeface="楷体_GB2312" pitchFamily="49" charset="-122"/>
            </a:endParaRPr>
          </a:p>
        </p:txBody>
      </p:sp>
      <p:sp>
        <p:nvSpPr>
          <p:cNvPr id="6" name="文本框 419947"/>
          <p:cNvSpPr txBox="1"/>
          <p:nvPr/>
        </p:nvSpPr>
        <p:spPr>
          <a:xfrm>
            <a:off x="6931025" y="4572000"/>
            <a:ext cx="938530" cy="460375"/>
          </a:xfrm>
          <a:prstGeom prst="rect">
            <a:avLst/>
          </a:prstGeom>
          <a:noFill/>
          <a:ln w="9525">
            <a:noFill/>
          </a:ln>
        </p:spPr>
        <p:txBody>
          <a:bodyPr wrap="square" anchor="t" anchorCtr="0">
            <a:spAutoFit/>
          </a:bodyPr>
          <a:p>
            <a:pPr eaLnBrk="0" hangingPunct="0"/>
            <a:r>
              <a:rPr lang="zh-CN" altLang="en-US" sz="2400" b="1" dirty="0">
                <a:solidFill>
                  <a:srgbClr val="000066"/>
                </a:solidFill>
                <a:latin typeface="楷体_GB2312" pitchFamily="49" charset="-122"/>
                <a:ea typeface="楷体_GB2312" pitchFamily="49" charset="-122"/>
              </a:rPr>
              <a:t>截止</a:t>
            </a:r>
            <a:endParaRPr lang="zh-CN" altLang="en-US" sz="2400" b="1" dirty="0">
              <a:solidFill>
                <a:srgbClr val="000066"/>
              </a:solidFill>
              <a:latin typeface="楷体_GB2312" pitchFamily="49" charset="-122"/>
              <a:ea typeface="楷体_GB2312" pitchFamily="49" charset="-122"/>
            </a:endParaRPr>
          </a:p>
        </p:txBody>
      </p:sp>
      <p:grpSp>
        <p:nvGrpSpPr>
          <p:cNvPr id="13" name="组合 12"/>
          <p:cNvGrpSpPr/>
          <p:nvPr/>
        </p:nvGrpSpPr>
        <p:grpSpPr>
          <a:xfrm>
            <a:off x="4170045" y="2209800"/>
            <a:ext cx="4304665" cy="2856230"/>
            <a:chOff x="6567" y="3480"/>
            <a:chExt cx="6779" cy="4498"/>
          </a:xfrm>
        </p:grpSpPr>
        <p:sp>
          <p:nvSpPr>
            <p:cNvPr id="32771" name="文本框 418819"/>
            <p:cNvSpPr txBox="1"/>
            <p:nvPr/>
          </p:nvSpPr>
          <p:spPr>
            <a:xfrm>
              <a:off x="6573" y="3509"/>
              <a:ext cx="1796" cy="822"/>
            </a:xfrm>
            <a:prstGeom prst="rect">
              <a:avLst/>
            </a:prstGeom>
            <a:noFill/>
            <a:ln w="9525">
              <a:noFill/>
            </a:ln>
          </p:spPr>
          <p:txBody>
            <a:bodyPr wrap="none" anchor="t" anchorCtr="0">
              <a:spAutoFit/>
            </a:bodyPr>
            <a:p>
              <a:pPr eaLnBrk="0" hangingPunct="0"/>
              <a:r>
                <a:rPr lang="en-US" altLang="zh-CN" sz="2800" i="1">
                  <a:solidFill>
                    <a:srgbClr val="000066"/>
                  </a:solidFill>
                  <a:latin typeface="Times New Roman" panose="02020603050405020304" charset="0"/>
                  <a:ea typeface="楷体_GB2312" pitchFamily="49" charset="-122"/>
                </a:rPr>
                <a:t>A</a:t>
              </a:r>
              <a:r>
                <a:rPr lang="en-US" altLang="zh-CN" sz="2800">
                  <a:solidFill>
                    <a:srgbClr val="000066"/>
                  </a:solidFill>
                  <a:latin typeface="Times New Roman" panose="02020603050405020304" charset="0"/>
                  <a:ea typeface="楷体_GB2312" pitchFamily="49" charset="-122"/>
                </a:rPr>
                <a:t>   </a:t>
              </a:r>
              <a:r>
                <a:rPr lang="en-US" altLang="zh-CN" sz="2800" i="1">
                  <a:solidFill>
                    <a:srgbClr val="000066"/>
                  </a:solidFill>
                  <a:latin typeface="Times New Roman" panose="02020603050405020304" charset="0"/>
                  <a:ea typeface="楷体_GB2312" pitchFamily="49" charset="-122"/>
                </a:rPr>
                <a:t>EN</a:t>
              </a:r>
              <a:endParaRPr lang="en-US" altLang="zh-CN" sz="2800" i="1">
                <a:solidFill>
                  <a:srgbClr val="000066"/>
                </a:solidFill>
                <a:latin typeface="Times New Roman" panose="02020603050405020304" charset="0"/>
                <a:ea typeface="楷体_GB2312" pitchFamily="49" charset="-122"/>
              </a:endParaRPr>
            </a:p>
          </p:txBody>
        </p:sp>
        <p:sp>
          <p:nvSpPr>
            <p:cNvPr id="32772" name="文本框 418820"/>
            <p:cNvSpPr txBox="1"/>
            <p:nvPr/>
          </p:nvSpPr>
          <p:spPr>
            <a:xfrm>
              <a:off x="8313" y="3524"/>
              <a:ext cx="4064" cy="822"/>
            </a:xfrm>
            <a:prstGeom prst="rect">
              <a:avLst/>
            </a:prstGeom>
            <a:noFill/>
            <a:ln w="9525">
              <a:noFill/>
            </a:ln>
          </p:spPr>
          <p:txBody>
            <a:bodyPr wrap="square" anchor="t" anchorCtr="0">
              <a:spAutoFit/>
            </a:bodyPr>
            <a:p>
              <a:pPr eaLnBrk="0" hangingPunct="0"/>
              <a:r>
                <a:rPr lang="en-US" altLang="zh-CN" sz="2800">
                  <a:solidFill>
                    <a:srgbClr val="000066"/>
                  </a:solidFill>
                  <a:latin typeface="Times New Roman" panose="02020603050405020304" charset="0"/>
                  <a:ea typeface="楷体_GB2312" pitchFamily="49" charset="-122"/>
                </a:rPr>
                <a:t> T</a:t>
              </a:r>
              <a:r>
                <a:rPr lang="en-US" altLang="zh-CN" sz="2800" baseline="-25000">
                  <a:solidFill>
                    <a:srgbClr val="000066"/>
                  </a:solidFill>
                  <a:latin typeface="Times New Roman" panose="02020603050405020304" charset="0"/>
                  <a:ea typeface="楷体_GB2312" pitchFamily="49" charset="-122"/>
                </a:rPr>
                <a:t>P1</a:t>
              </a:r>
              <a:r>
                <a:rPr lang="en-US" altLang="zh-CN" sz="2800">
                  <a:solidFill>
                    <a:srgbClr val="000066"/>
                  </a:solidFill>
                  <a:latin typeface="Times New Roman" panose="02020603050405020304" charset="0"/>
                  <a:ea typeface="楷体_GB2312" pitchFamily="49" charset="-122"/>
                </a:rPr>
                <a:t>    T</a:t>
              </a:r>
              <a:r>
                <a:rPr lang="en-US" altLang="zh-CN" sz="2800" baseline="-25000">
                  <a:solidFill>
                    <a:srgbClr val="000066"/>
                  </a:solidFill>
                  <a:latin typeface="Times New Roman" panose="02020603050405020304" charset="0"/>
                  <a:ea typeface="楷体_GB2312" pitchFamily="49" charset="-122"/>
                </a:rPr>
                <a:t>P2</a:t>
              </a:r>
              <a:r>
                <a:rPr lang="en-US" altLang="zh-CN" sz="2800">
                  <a:solidFill>
                    <a:srgbClr val="000066"/>
                  </a:solidFill>
                  <a:latin typeface="Times New Roman" panose="02020603050405020304" charset="0"/>
                  <a:ea typeface="楷体_GB2312" pitchFamily="49" charset="-122"/>
                </a:rPr>
                <a:t>    </a:t>
              </a:r>
              <a:r>
                <a:rPr lang="en-US" altLang="zh-CN" sz="2800">
                  <a:solidFill>
                    <a:srgbClr val="000066"/>
                  </a:solidFill>
                  <a:latin typeface="Times New Roman" panose="02020603050405020304" charset="0"/>
                  <a:ea typeface="楷体_GB2312" pitchFamily="49" charset="-122"/>
                  <a:sym typeface="+mn-ea"/>
                </a:rPr>
                <a:t>T</a:t>
              </a:r>
              <a:r>
                <a:rPr lang="en-US" altLang="zh-CN" sz="2800" baseline="-25000">
                  <a:solidFill>
                    <a:srgbClr val="000066"/>
                  </a:solidFill>
                  <a:latin typeface="Times New Roman" panose="02020603050405020304" charset="0"/>
                  <a:ea typeface="楷体_GB2312" pitchFamily="49" charset="-122"/>
                  <a:sym typeface="+mn-ea"/>
                </a:rPr>
                <a:t>N1</a:t>
              </a:r>
              <a:r>
                <a:rPr lang="en-US" altLang="zh-CN" sz="2000">
                  <a:solidFill>
                    <a:srgbClr val="000066"/>
                  </a:solidFill>
                  <a:latin typeface="Times New Roman" panose="02020603050405020304" charset="0"/>
                  <a:ea typeface="楷体_GB2312" pitchFamily="49" charset="-122"/>
                  <a:sym typeface="+mn-ea"/>
                </a:rPr>
                <a:t> </a:t>
              </a:r>
              <a:r>
                <a:rPr lang="en-US" altLang="zh-CN" sz="2000">
                  <a:solidFill>
                    <a:srgbClr val="000066"/>
                  </a:solidFill>
                  <a:latin typeface="Times New Roman" panose="02020603050405020304" charset="0"/>
                  <a:ea typeface="楷体_GB2312" pitchFamily="49" charset="-122"/>
                </a:rPr>
                <a:t> </a:t>
              </a:r>
              <a:r>
                <a:rPr lang="en-US" altLang="zh-CN" sz="2800">
                  <a:solidFill>
                    <a:srgbClr val="000066"/>
                  </a:solidFill>
                  <a:latin typeface="Times New Roman" panose="02020603050405020304" charset="0"/>
                  <a:ea typeface="楷体_GB2312" pitchFamily="49" charset="-122"/>
                </a:rPr>
                <a:t>   </a:t>
              </a:r>
              <a:endParaRPr lang="en-US" altLang="zh-CN" sz="2800">
                <a:solidFill>
                  <a:srgbClr val="000066"/>
                </a:solidFill>
                <a:latin typeface="Times New Roman" panose="02020603050405020304" charset="0"/>
                <a:ea typeface="楷体_GB2312" pitchFamily="49" charset="-122"/>
              </a:endParaRPr>
            </a:p>
          </p:txBody>
        </p:sp>
        <p:sp>
          <p:nvSpPr>
            <p:cNvPr id="32779" name="文本框 418827"/>
            <p:cNvSpPr txBox="1"/>
            <p:nvPr/>
          </p:nvSpPr>
          <p:spPr>
            <a:xfrm>
              <a:off x="12501" y="3500"/>
              <a:ext cx="600" cy="823"/>
            </a:xfrm>
            <a:prstGeom prst="rect">
              <a:avLst/>
            </a:prstGeom>
            <a:noFill/>
            <a:ln w="9525">
              <a:noFill/>
            </a:ln>
          </p:spPr>
          <p:txBody>
            <a:bodyPr wrap="none" anchor="t" anchorCtr="0">
              <a:spAutoFit/>
            </a:bodyPr>
            <a:p>
              <a:pPr eaLnBrk="0" hangingPunct="0"/>
              <a:r>
                <a:rPr lang="en-US" altLang="zh-CN" sz="2800" i="1">
                  <a:solidFill>
                    <a:srgbClr val="000066"/>
                  </a:solidFill>
                  <a:latin typeface="Times New Roman" panose="02020603050405020304" charset="0"/>
                  <a:ea typeface="楷体_GB2312" pitchFamily="49" charset="-122"/>
                </a:rPr>
                <a:t>Y</a:t>
              </a:r>
              <a:endParaRPr lang="en-US" altLang="zh-CN" sz="2800" i="1">
                <a:solidFill>
                  <a:srgbClr val="000066"/>
                </a:solidFill>
                <a:latin typeface="Times New Roman" panose="02020603050405020304" charset="0"/>
                <a:ea typeface="楷体_GB2312" pitchFamily="49" charset="-122"/>
              </a:endParaRPr>
            </a:p>
          </p:txBody>
        </p:sp>
        <p:sp>
          <p:nvSpPr>
            <p:cNvPr id="32776" name="直接连接符 418824"/>
            <p:cNvSpPr/>
            <p:nvPr/>
          </p:nvSpPr>
          <p:spPr>
            <a:xfrm>
              <a:off x="6579" y="7964"/>
              <a:ext cx="6746" cy="0"/>
            </a:xfrm>
            <a:prstGeom prst="line">
              <a:avLst/>
            </a:prstGeom>
            <a:ln w="38100" cap="flat" cmpd="sng">
              <a:solidFill>
                <a:schemeClr val="accent6">
                  <a:lumMod val="60000"/>
                  <a:lumOff val="40000"/>
                </a:schemeClr>
              </a:solidFill>
              <a:prstDash val="solid"/>
              <a:round/>
              <a:headEnd type="none" w="med" len="med"/>
              <a:tailEnd type="none" w="med" len="med"/>
            </a:ln>
          </p:spPr>
        </p:sp>
        <p:sp>
          <p:nvSpPr>
            <p:cNvPr id="7" name="直接连接符 418825"/>
            <p:cNvSpPr/>
            <p:nvPr/>
          </p:nvSpPr>
          <p:spPr>
            <a:xfrm>
              <a:off x="13319" y="3500"/>
              <a:ext cx="0" cy="4440"/>
            </a:xfrm>
            <a:prstGeom prst="line">
              <a:avLst/>
            </a:prstGeom>
            <a:ln w="28575" cap="flat" cmpd="sng">
              <a:solidFill>
                <a:schemeClr val="accent6">
                  <a:lumMod val="60000"/>
                  <a:lumOff val="40000"/>
                </a:schemeClr>
              </a:solidFill>
              <a:prstDash val="solid"/>
              <a:round/>
              <a:headEnd type="none" w="med" len="med"/>
              <a:tailEnd type="none" w="med" len="med"/>
            </a:ln>
          </p:spPr>
        </p:sp>
        <p:sp>
          <p:nvSpPr>
            <p:cNvPr id="32777" name="直接连接符 418825"/>
            <p:cNvSpPr/>
            <p:nvPr/>
          </p:nvSpPr>
          <p:spPr>
            <a:xfrm>
              <a:off x="8303" y="3524"/>
              <a:ext cx="0" cy="4440"/>
            </a:xfrm>
            <a:prstGeom prst="line">
              <a:avLst/>
            </a:prstGeom>
            <a:ln w="28575" cap="flat" cmpd="sng">
              <a:solidFill>
                <a:schemeClr val="accent6">
                  <a:lumMod val="60000"/>
                  <a:lumOff val="40000"/>
                </a:schemeClr>
              </a:solidFill>
              <a:prstDash val="solid"/>
              <a:round/>
              <a:headEnd type="none" w="med" len="med"/>
              <a:tailEnd type="none" w="med" len="med"/>
            </a:ln>
          </p:spPr>
        </p:sp>
        <p:sp>
          <p:nvSpPr>
            <p:cNvPr id="32775" name="直接连接符 418823"/>
            <p:cNvSpPr/>
            <p:nvPr/>
          </p:nvSpPr>
          <p:spPr>
            <a:xfrm>
              <a:off x="6579" y="4364"/>
              <a:ext cx="6746" cy="32"/>
            </a:xfrm>
            <a:prstGeom prst="line">
              <a:avLst/>
            </a:prstGeom>
            <a:ln w="28575" cap="flat" cmpd="sng">
              <a:solidFill>
                <a:schemeClr val="accent6">
                  <a:lumMod val="60000"/>
                  <a:lumOff val="40000"/>
                </a:schemeClr>
              </a:solidFill>
              <a:prstDash val="solid"/>
              <a:round/>
              <a:headEnd type="none" w="med" len="med"/>
              <a:tailEnd type="none" w="med" len="med"/>
            </a:ln>
          </p:spPr>
        </p:sp>
        <p:sp>
          <p:nvSpPr>
            <p:cNvPr id="32778" name="直接连接符 418826"/>
            <p:cNvSpPr/>
            <p:nvPr/>
          </p:nvSpPr>
          <p:spPr>
            <a:xfrm>
              <a:off x="10913" y="3524"/>
              <a:ext cx="0" cy="4440"/>
            </a:xfrm>
            <a:prstGeom prst="line">
              <a:avLst/>
            </a:prstGeom>
            <a:ln w="28575" cap="flat" cmpd="sng">
              <a:solidFill>
                <a:schemeClr val="accent6">
                  <a:lumMod val="60000"/>
                  <a:lumOff val="40000"/>
                </a:schemeClr>
              </a:solidFill>
              <a:prstDash val="solid"/>
              <a:round/>
              <a:headEnd type="none" w="med" len="med"/>
              <a:tailEnd type="none" w="med" len="med"/>
            </a:ln>
          </p:spPr>
        </p:sp>
        <p:sp>
          <p:nvSpPr>
            <p:cNvPr id="8" name="直接连接符 418825"/>
            <p:cNvSpPr/>
            <p:nvPr/>
          </p:nvSpPr>
          <p:spPr>
            <a:xfrm>
              <a:off x="6572" y="3521"/>
              <a:ext cx="0" cy="4440"/>
            </a:xfrm>
            <a:prstGeom prst="line">
              <a:avLst/>
            </a:prstGeom>
            <a:ln w="28575" cap="flat" cmpd="sng">
              <a:solidFill>
                <a:schemeClr val="accent6">
                  <a:lumMod val="60000"/>
                  <a:lumOff val="40000"/>
                </a:schemeClr>
              </a:solidFill>
              <a:prstDash val="solid"/>
              <a:round/>
              <a:headEnd type="none" w="med" len="med"/>
              <a:tailEnd type="none" w="med" len="med"/>
            </a:ln>
          </p:spPr>
        </p:sp>
        <p:sp>
          <p:nvSpPr>
            <p:cNvPr id="9" name="直接连接符 418825"/>
            <p:cNvSpPr/>
            <p:nvPr/>
          </p:nvSpPr>
          <p:spPr>
            <a:xfrm>
              <a:off x="7385" y="3500"/>
              <a:ext cx="0" cy="4440"/>
            </a:xfrm>
            <a:prstGeom prst="line">
              <a:avLst/>
            </a:prstGeom>
            <a:ln w="28575" cap="flat" cmpd="sng">
              <a:solidFill>
                <a:schemeClr val="accent6">
                  <a:lumMod val="60000"/>
                  <a:lumOff val="40000"/>
                </a:schemeClr>
              </a:solidFill>
              <a:prstDash val="solid"/>
              <a:round/>
              <a:headEnd type="none" w="med" len="med"/>
              <a:tailEnd type="none" w="med" len="med"/>
            </a:ln>
          </p:spPr>
        </p:sp>
        <p:sp>
          <p:nvSpPr>
            <p:cNvPr id="10" name="直接连接符 418825"/>
            <p:cNvSpPr/>
            <p:nvPr/>
          </p:nvSpPr>
          <p:spPr>
            <a:xfrm>
              <a:off x="9545" y="3500"/>
              <a:ext cx="0" cy="4440"/>
            </a:xfrm>
            <a:prstGeom prst="line">
              <a:avLst/>
            </a:prstGeom>
            <a:ln w="28575" cap="flat" cmpd="sng">
              <a:solidFill>
                <a:schemeClr val="accent6">
                  <a:lumMod val="60000"/>
                  <a:lumOff val="40000"/>
                </a:schemeClr>
              </a:solidFill>
              <a:prstDash val="solid"/>
              <a:round/>
              <a:headEnd type="none" w="med" len="med"/>
              <a:tailEnd type="none" w="med" len="med"/>
            </a:ln>
          </p:spPr>
        </p:sp>
        <p:cxnSp>
          <p:nvCxnSpPr>
            <p:cNvPr id="11" name="直接连接符 10"/>
            <p:cNvCxnSpPr/>
            <p:nvPr/>
          </p:nvCxnSpPr>
          <p:spPr>
            <a:xfrm>
              <a:off x="6567" y="5300"/>
              <a:ext cx="6746" cy="0"/>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6571" y="6210"/>
              <a:ext cx="6746" cy="0"/>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6567" y="7100"/>
              <a:ext cx="6746" cy="0"/>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2774" name="直接连接符 418822"/>
            <p:cNvSpPr/>
            <p:nvPr/>
          </p:nvSpPr>
          <p:spPr>
            <a:xfrm>
              <a:off x="6600" y="3480"/>
              <a:ext cx="6746" cy="32"/>
            </a:xfrm>
            <a:prstGeom prst="line">
              <a:avLst/>
            </a:prstGeom>
            <a:ln w="38100" cap="flat" cmpd="sng">
              <a:solidFill>
                <a:schemeClr val="accent6">
                  <a:lumMod val="60000"/>
                  <a:lumOff val="40000"/>
                </a:schemeClr>
              </a:solidFill>
              <a:prstDash val="solid"/>
              <a:round/>
              <a:headEnd type="none" w="med" len="med"/>
              <a:tailEnd type="none" w="med" len="med"/>
            </a:ln>
          </p:spPr>
        </p:sp>
        <p:sp>
          <p:nvSpPr>
            <p:cNvPr id="2" name="直接连接符 418826"/>
            <p:cNvSpPr/>
            <p:nvPr/>
          </p:nvSpPr>
          <p:spPr>
            <a:xfrm>
              <a:off x="12193" y="3538"/>
              <a:ext cx="0" cy="4440"/>
            </a:xfrm>
            <a:prstGeom prst="line">
              <a:avLst/>
            </a:prstGeom>
            <a:ln w="28575" cap="flat" cmpd="sng">
              <a:solidFill>
                <a:schemeClr val="accent6">
                  <a:lumMod val="60000"/>
                  <a:lumOff val="40000"/>
                </a:schemeClr>
              </a:solidFill>
              <a:prstDash val="solid"/>
              <a:round/>
              <a:headEnd type="none" w="med" len="med"/>
              <a:tailEnd type="none" w="med" len="med"/>
            </a:ln>
          </p:spPr>
        </p:sp>
        <p:cxnSp>
          <p:nvCxnSpPr>
            <p:cNvPr id="12" name="直接连接符 11"/>
            <p:cNvCxnSpPr/>
            <p:nvPr/>
          </p:nvCxnSpPr>
          <p:spPr>
            <a:xfrm>
              <a:off x="7538" y="3600"/>
              <a:ext cx="694" cy="0"/>
            </a:xfrm>
            <a:prstGeom prst="line">
              <a:avLst/>
            </a:prstGeom>
            <a:ln w="28575"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grpSp>
      <p:pic>
        <p:nvPicPr>
          <p:cNvPr id="14" name="图片 2714"/>
          <p:cNvPicPr>
            <a:picLocks noChangeAspect="1"/>
          </p:cNvPicPr>
          <p:nvPr/>
        </p:nvPicPr>
        <p:blipFill>
          <a:blip r:embed="rId1"/>
          <a:srcRect t="93110" r="52113" b="-575"/>
          <a:stretch>
            <a:fillRect/>
          </a:stretch>
        </p:blipFill>
        <p:spPr>
          <a:xfrm>
            <a:off x="304800" y="5257800"/>
            <a:ext cx="3886200" cy="3048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up)">
                                      <p:cBhvr>
                                        <p:cTn id="13" dur="50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1000"/>
                                        <p:tgtEl>
                                          <p:spTgt spid="22"/>
                                        </p:tgtEl>
                                      </p:cBhvr>
                                    </p:animEffect>
                                    <p:anim calcmode="lin" valueType="num">
                                      <p:cBhvr>
                                        <p:cTn id="19" dur="1000" fill="hold"/>
                                        <p:tgtEl>
                                          <p:spTgt spid="22"/>
                                        </p:tgtEl>
                                        <p:attrNameLst>
                                          <p:attrName>ppt_x</p:attrName>
                                        </p:attrNameLst>
                                      </p:cBhvr>
                                      <p:tavLst>
                                        <p:tav tm="0">
                                          <p:val>
                                            <p:strVal val="#ppt_x"/>
                                          </p:val>
                                        </p:tav>
                                        <p:tav tm="100000">
                                          <p:val>
                                            <p:strVal val="#ppt_x"/>
                                          </p:val>
                                        </p:tav>
                                      </p:tavLst>
                                    </p:anim>
                                    <p:anim calcmode="lin" valueType="num">
                                      <p:cBhvr>
                                        <p:cTn id="20"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wipe(up)">
                                      <p:cBhvr>
                                        <p:cTn id="25" dur="500"/>
                                        <p:tgtEl>
                                          <p:spTgt spid="2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wipe(up)">
                                      <p:cBhvr>
                                        <p:cTn id="30" dur="500"/>
                                        <p:tgtEl>
                                          <p:spTgt spid="3"/>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6"/>
                                        </p:tgtEl>
                                        <p:attrNameLst>
                                          <p:attrName>style.visibility</p:attrName>
                                        </p:attrNameLst>
                                      </p:cBhvr>
                                      <p:to>
                                        <p:strVal val="visible"/>
                                      </p:to>
                                    </p:set>
                                    <p:anim calcmode="lin" valueType="num">
                                      <p:cBhvr additive="base">
                                        <p:cTn id="35" dur="500" fill="hold"/>
                                        <p:tgtEl>
                                          <p:spTgt spid="36"/>
                                        </p:tgtEl>
                                        <p:attrNameLst>
                                          <p:attrName>ppt_x</p:attrName>
                                        </p:attrNameLst>
                                      </p:cBhvr>
                                      <p:tavLst>
                                        <p:tav tm="0">
                                          <p:val>
                                            <p:strVal val="#ppt_x"/>
                                          </p:val>
                                        </p:tav>
                                        <p:tav tm="100000">
                                          <p:val>
                                            <p:strVal val="#ppt_x"/>
                                          </p:val>
                                        </p:tav>
                                      </p:tavLst>
                                    </p:anim>
                                    <p:anim calcmode="lin" valueType="num">
                                      <p:cBhvr additive="base">
                                        <p:cTn id="36"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grpId="0" nodeType="click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barn(inVertical)">
                                      <p:cBhvr>
                                        <p:cTn id="41" dur="500"/>
                                        <p:tgtEl>
                                          <p:spTgt spid="29"/>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2" fill="hold" grpId="0" nodeType="click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wipe(right)">
                                      <p:cBhvr>
                                        <p:cTn id="46" dur="500"/>
                                        <p:tgtEl>
                                          <p:spTgt spid="2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2" fill="hold" grpId="0" nodeType="clickEffect">
                                  <p:stCondLst>
                                    <p:cond delay="0"/>
                                  </p:stCondLst>
                                  <p:childTnLst>
                                    <p:set>
                                      <p:cBhvr>
                                        <p:cTn id="50" dur="1" fill="hold">
                                          <p:stCondLst>
                                            <p:cond delay="0"/>
                                          </p:stCondLst>
                                        </p:cTn>
                                        <p:tgtEl>
                                          <p:spTgt spid="4"/>
                                        </p:tgtEl>
                                        <p:attrNameLst>
                                          <p:attrName>style.visibility</p:attrName>
                                        </p:attrNameLst>
                                      </p:cBhvr>
                                      <p:to>
                                        <p:strVal val="visible"/>
                                      </p:to>
                                    </p:set>
                                    <p:animEffect transition="in" filter="wipe(right)">
                                      <p:cBhvr>
                                        <p:cTn id="51" dur="500"/>
                                        <p:tgtEl>
                                          <p:spTgt spid="4"/>
                                        </p:tgtEl>
                                      </p:cBhvr>
                                    </p:animEffect>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37"/>
                                        </p:tgtEl>
                                        <p:attrNameLst>
                                          <p:attrName>style.visibility</p:attrName>
                                        </p:attrNameLst>
                                      </p:cBhvr>
                                      <p:to>
                                        <p:strVal val="visible"/>
                                      </p:to>
                                    </p:set>
                                    <p:anim calcmode="lin" valueType="num">
                                      <p:cBhvr additive="base">
                                        <p:cTn id="56" dur="500" fill="hold"/>
                                        <p:tgtEl>
                                          <p:spTgt spid="37"/>
                                        </p:tgtEl>
                                        <p:attrNameLst>
                                          <p:attrName>ppt_x</p:attrName>
                                        </p:attrNameLst>
                                      </p:cBhvr>
                                      <p:tavLst>
                                        <p:tav tm="0">
                                          <p:val>
                                            <p:strVal val="#ppt_x"/>
                                          </p:val>
                                        </p:tav>
                                        <p:tav tm="100000">
                                          <p:val>
                                            <p:strVal val="#ppt_x"/>
                                          </p:val>
                                        </p:tav>
                                      </p:tavLst>
                                    </p:anim>
                                    <p:anim calcmode="lin" valueType="num">
                                      <p:cBhvr additive="base">
                                        <p:cTn id="57"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1" presetClass="entr" presetSubtype="1" fill="hold" grpId="0" nodeType="clickEffect">
                                  <p:stCondLst>
                                    <p:cond delay="0"/>
                                  </p:stCondLst>
                                  <p:childTnLst>
                                    <p:set>
                                      <p:cBhvr>
                                        <p:cTn id="61" dur="500" fill="hold">
                                          <p:stCondLst>
                                            <p:cond delay="0"/>
                                          </p:stCondLst>
                                        </p:cTn>
                                        <p:tgtEl>
                                          <p:spTgt spid="32"/>
                                        </p:tgtEl>
                                        <p:attrNameLst>
                                          <p:attrName>style.visibility</p:attrName>
                                        </p:attrNameLst>
                                      </p:cBhvr>
                                      <p:to>
                                        <p:strVal val="visible"/>
                                      </p:to>
                                    </p:set>
                                    <p:animEffect transition="in" filter="wheel(1)">
                                      <p:cBhvr>
                                        <p:cTn id="62" dur="500"/>
                                        <p:tgtEl>
                                          <p:spTgt spid="32"/>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21" fill="hold" grpId="0" nodeType="clickEffect">
                                  <p:stCondLst>
                                    <p:cond delay="0"/>
                                  </p:stCondLst>
                                  <p:childTnLst>
                                    <p:set>
                                      <p:cBhvr>
                                        <p:cTn id="66" dur="1" fill="hold">
                                          <p:stCondLst>
                                            <p:cond delay="0"/>
                                          </p:stCondLst>
                                        </p:cTn>
                                        <p:tgtEl>
                                          <p:spTgt spid="34"/>
                                        </p:tgtEl>
                                        <p:attrNameLst>
                                          <p:attrName>style.visibility</p:attrName>
                                        </p:attrNameLst>
                                      </p:cBhvr>
                                      <p:to>
                                        <p:strVal val="visible"/>
                                      </p:to>
                                    </p:set>
                                    <p:animEffect transition="in" filter="barn(inVertical)">
                                      <p:cBhvr>
                                        <p:cTn id="67" dur="500"/>
                                        <p:tgtEl>
                                          <p:spTgt spid="34"/>
                                        </p:tgtEl>
                                      </p:cBhvr>
                                    </p:animEffect>
                                  </p:childTnLst>
                                </p:cTn>
                              </p:par>
                            </p:childTnLst>
                          </p:cTn>
                        </p:par>
                      </p:childTnLst>
                    </p:cTn>
                  </p:par>
                  <p:par>
                    <p:cTn id="68" fill="hold">
                      <p:stCondLst>
                        <p:cond delay="indefinite"/>
                      </p:stCondLst>
                      <p:childTnLst>
                        <p:par>
                          <p:cTn id="69" fill="hold">
                            <p:stCondLst>
                              <p:cond delay="0"/>
                            </p:stCondLst>
                            <p:childTnLst>
                              <p:par>
                                <p:cTn id="70" presetID="16" presetClass="entr" presetSubtype="21" fill="hold" grpId="0" nodeType="clickEffect">
                                  <p:stCondLst>
                                    <p:cond delay="0"/>
                                  </p:stCondLst>
                                  <p:childTnLst>
                                    <p:set>
                                      <p:cBhvr>
                                        <p:cTn id="71" dur="1" fill="hold">
                                          <p:stCondLst>
                                            <p:cond delay="0"/>
                                          </p:stCondLst>
                                        </p:cTn>
                                        <p:tgtEl>
                                          <p:spTgt spid="5"/>
                                        </p:tgtEl>
                                        <p:attrNameLst>
                                          <p:attrName>style.visibility</p:attrName>
                                        </p:attrNameLst>
                                      </p:cBhvr>
                                      <p:to>
                                        <p:strVal val="visible"/>
                                      </p:to>
                                    </p:set>
                                    <p:animEffect transition="in" filter="barn(inVertical)">
                                      <p:cBhvr>
                                        <p:cTn id="72" dur="500"/>
                                        <p:tgtEl>
                                          <p:spTgt spid="5"/>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16" fill="hold" grpId="0" nodeType="clickEffect">
                                  <p:stCondLst>
                                    <p:cond delay="0"/>
                                  </p:stCondLst>
                                  <p:childTnLst>
                                    <p:set>
                                      <p:cBhvr>
                                        <p:cTn id="76" dur="1" fill="hold">
                                          <p:stCondLst>
                                            <p:cond delay="0"/>
                                          </p:stCondLst>
                                        </p:cTn>
                                        <p:tgtEl>
                                          <p:spTgt spid="38"/>
                                        </p:tgtEl>
                                        <p:attrNameLst>
                                          <p:attrName>style.visibility</p:attrName>
                                        </p:attrNameLst>
                                      </p:cBhvr>
                                      <p:to>
                                        <p:strVal val="visible"/>
                                      </p:to>
                                    </p:set>
                                    <p:anim calcmode="lin" valueType="num">
                                      <p:cBhvr>
                                        <p:cTn id="77" dur="500" fill="hold"/>
                                        <p:tgtEl>
                                          <p:spTgt spid="38"/>
                                        </p:tgtEl>
                                        <p:attrNameLst>
                                          <p:attrName>ppt_w</p:attrName>
                                        </p:attrNameLst>
                                      </p:cBhvr>
                                      <p:tavLst>
                                        <p:tav tm="0">
                                          <p:val>
                                            <p:fltVal val="0.000000"/>
                                          </p:val>
                                        </p:tav>
                                        <p:tav tm="100000">
                                          <p:val>
                                            <p:strVal val="#ppt_w"/>
                                          </p:val>
                                        </p:tav>
                                      </p:tavLst>
                                    </p:anim>
                                    <p:anim calcmode="lin" valueType="num">
                                      <p:cBhvr>
                                        <p:cTn id="78" dur="500" fill="hold"/>
                                        <p:tgtEl>
                                          <p:spTgt spid="38"/>
                                        </p:tgtEl>
                                        <p:attrNameLst>
                                          <p:attrName>ppt_h</p:attrName>
                                        </p:attrNameLst>
                                      </p:cBhvr>
                                      <p:tavLst>
                                        <p:tav tm="0">
                                          <p:val>
                                            <p:fltVal val="0.000000"/>
                                          </p:val>
                                        </p:tav>
                                        <p:tav tm="100000">
                                          <p:val>
                                            <p:strVal val="#ppt_h"/>
                                          </p:val>
                                        </p:tav>
                                      </p:tavLst>
                                    </p:anim>
                                    <p:animEffect transition="in" filter="fade">
                                      <p:cBhvr>
                                        <p:cTn id="79" dur="500"/>
                                        <p:tgtEl>
                                          <p:spTgt spid="38"/>
                                        </p:tgtEl>
                                      </p:cBhvr>
                                    </p:animEffect>
                                  </p:childTnLst>
                                </p:cTn>
                              </p:par>
                            </p:childTnLst>
                          </p:cTn>
                        </p:par>
                      </p:childTnLst>
                    </p:cTn>
                  </p:par>
                  <p:par>
                    <p:cTn id="80" fill="hold">
                      <p:stCondLst>
                        <p:cond delay="indefinite"/>
                      </p:stCondLst>
                      <p:childTnLst>
                        <p:par>
                          <p:cTn id="81" fill="hold">
                            <p:stCondLst>
                              <p:cond delay="0"/>
                            </p:stCondLst>
                            <p:childTnLst>
                              <p:par>
                                <p:cTn id="82" presetID="9" presetClass="entr" presetSubtype="0" fill="hold" grpId="0" nodeType="clickEffect">
                                  <p:stCondLst>
                                    <p:cond delay="0"/>
                                  </p:stCondLst>
                                  <p:childTnLst>
                                    <p:set>
                                      <p:cBhvr>
                                        <p:cTn id="83" dur="1" fill="hold">
                                          <p:stCondLst>
                                            <p:cond delay="0"/>
                                          </p:stCondLst>
                                        </p:cTn>
                                        <p:tgtEl>
                                          <p:spTgt spid="33911"/>
                                        </p:tgtEl>
                                        <p:attrNameLst>
                                          <p:attrName>style.visibility</p:attrName>
                                        </p:attrNameLst>
                                      </p:cBhvr>
                                      <p:to>
                                        <p:strVal val="visible"/>
                                      </p:to>
                                    </p:set>
                                    <p:animEffect transition="in" filter="dissolve">
                                      <p:cBhvr>
                                        <p:cTn id="84" dur="500"/>
                                        <p:tgtEl>
                                          <p:spTgt spid="33911"/>
                                        </p:tgtEl>
                                      </p:cBhvr>
                                    </p:animEffect>
                                  </p:childTnLst>
                                </p:cTn>
                              </p:par>
                            </p:childTnLst>
                          </p:cTn>
                        </p:par>
                      </p:childTnLst>
                    </p:cTn>
                  </p:par>
                  <p:par>
                    <p:cTn id="85" fill="hold">
                      <p:stCondLst>
                        <p:cond delay="indefinite"/>
                      </p:stCondLst>
                      <p:childTnLst>
                        <p:par>
                          <p:cTn id="86" fill="hold">
                            <p:stCondLst>
                              <p:cond delay="0"/>
                            </p:stCondLst>
                            <p:childTnLst>
                              <p:par>
                                <p:cTn id="87" presetID="3" presetClass="entr" presetSubtype="10" fill="hold" grpId="0" nodeType="clickEffect">
                                  <p:stCondLst>
                                    <p:cond delay="0"/>
                                  </p:stCondLst>
                                  <p:childTnLst>
                                    <p:set>
                                      <p:cBhvr>
                                        <p:cTn id="88" dur="1" fill="hold">
                                          <p:stCondLst>
                                            <p:cond delay="0"/>
                                          </p:stCondLst>
                                        </p:cTn>
                                        <p:tgtEl>
                                          <p:spTgt spid="33909"/>
                                        </p:tgtEl>
                                        <p:attrNameLst>
                                          <p:attrName>style.visibility</p:attrName>
                                        </p:attrNameLst>
                                      </p:cBhvr>
                                      <p:to>
                                        <p:strVal val="visible"/>
                                      </p:to>
                                    </p:set>
                                    <p:animEffect transition="in" filter="blinds(horizontal)">
                                      <p:cBhvr>
                                        <p:cTn id="89" dur="500"/>
                                        <p:tgtEl>
                                          <p:spTgt spid="33909"/>
                                        </p:tgtEl>
                                      </p:cBhvr>
                                    </p:animEffect>
                                  </p:childTnLst>
                                </p:cTn>
                              </p:par>
                            </p:childTnLst>
                          </p:cTn>
                        </p:par>
                      </p:childTnLst>
                    </p:cTn>
                  </p:par>
                  <p:par>
                    <p:cTn id="90" fill="hold">
                      <p:stCondLst>
                        <p:cond delay="indefinite"/>
                      </p:stCondLst>
                      <p:childTnLst>
                        <p:par>
                          <p:cTn id="91" fill="hold">
                            <p:stCondLst>
                              <p:cond delay="0"/>
                            </p:stCondLst>
                            <p:childTnLst>
                              <p:par>
                                <p:cTn id="92" presetID="3" presetClass="entr" presetSubtype="10" fill="hold" grpId="0" nodeType="clickEffect">
                                  <p:stCondLst>
                                    <p:cond delay="0"/>
                                  </p:stCondLst>
                                  <p:childTnLst>
                                    <p:set>
                                      <p:cBhvr>
                                        <p:cTn id="93" dur="1" fill="hold">
                                          <p:stCondLst>
                                            <p:cond delay="0"/>
                                          </p:stCondLst>
                                        </p:cTn>
                                        <p:tgtEl>
                                          <p:spTgt spid="6"/>
                                        </p:tgtEl>
                                        <p:attrNameLst>
                                          <p:attrName>style.visibility</p:attrName>
                                        </p:attrNameLst>
                                      </p:cBhvr>
                                      <p:to>
                                        <p:strVal val="visible"/>
                                      </p:to>
                                    </p:set>
                                    <p:animEffect transition="in" filter="blinds(horizontal)">
                                      <p:cBhvr>
                                        <p:cTn id="94" dur="500"/>
                                        <p:tgtEl>
                                          <p:spTgt spid="6"/>
                                        </p:tgtEl>
                                      </p:cBhvr>
                                    </p:animEffect>
                                  </p:childTnLst>
                                </p:cTn>
                              </p:par>
                            </p:childTnLst>
                          </p:cTn>
                        </p:par>
                      </p:childTnLst>
                    </p:cTn>
                  </p:par>
                  <p:par>
                    <p:cTn id="95" fill="hold">
                      <p:stCondLst>
                        <p:cond delay="indefinite"/>
                      </p:stCondLst>
                      <p:childTnLst>
                        <p:par>
                          <p:cTn id="96" fill="hold">
                            <p:stCondLst>
                              <p:cond delay="0"/>
                            </p:stCondLst>
                            <p:childTnLst>
                              <p:par>
                                <p:cTn id="97" presetID="2" presetClass="entr" presetSubtype="4" fill="hold" grpId="0" nodeType="clickEffect">
                                  <p:stCondLst>
                                    <p:cond delay="0"/>
                                  </p:stCondLst>
                                  <p:childTnLst>
                                    <p:set>
                                      <p:cBhvr>
                                        <p:cTn id="98" dur="1" fill="hold">
                                          <p:stCondLst>
                                            <p:cond delay="0"/>
                                          </p:stCondLst>
                                        </p:cTn>
                                        <p:tgtEl>
                                          <p:spTgt spid="39"/>
                                        </p:tgtEl>
                                        <p:attrNameLst>
                                          <p:attrName>style.visibility</p:attrName>
                                        </p:attrNameLst>
                                      </p:cBhvr>
                                      <p:to>
                                        <p:strVal val="visible"/>
                                      </p:to>
                                    </p:set>
                                    <p:anim calcmode="lin" valueType="num">
                                      <p:cBhvr additive="base">
                                        <p:cTn id="99" dur="500" fill="hold"/>
                                        <p:tgtEl>
                                          <p:spTgt spid="39"/>
                                        </p:tgtEl>
                                        <p:attrNameLst>
                                          <p:attrName>ppt_x</p:attrName>
                                        </p:attrNameLst>
                                      </p:cBhvr>
                                      <p:tavLst>
                                        <p:tav tm="0">
                                          <p:val>
                                            <p:strVal val="#ppt_x"/>
                                          </p:val>
                                        </p:tav>
                                        <p:tav tm="100000">
                                          <p:val>
                                            <p:strVal val="#ppt_x"/>
                                          </p:val>
                                        </p:tav>
                                      </p:tavLst>
                                    </p:anim>
                                    <p:anim calcmode="lin" valueType="num">
                                      <p:cBhvr additive="base">
                                        <p:cTn id="100"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P spid="38" grpId="0"/>
      <p:bldP spid="39" grpId="0"/>
      <p:bldP spid="22" grpId="0"/>
      <p:bldP spid="23" grpId="0"/>
      <p:bldP spid="27" grpId="0"/>
      <p:bldP spid="32" grpId="0"/>
      <p:bldP spid="34" grpId="0"/>
      <p:bldP spid="33911" grpId="0"/>
      <p:bldP spid="33909" grpId="0"/>
      <p:bldP spid="29" grpId="0"/>
      <p:bldP spid="3" grpId="0"/>
      <p:bldP spid="4" grpId="0"/>
      <p:bldP spid="5" grpId="0"/>
      <p:bldP spid="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 name="文本框 41"/>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25908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3.3 </a:t>
            </a:r>
            <a:r>
              <a:rPr b="1" dirty="0">
                <a:solidFill>
                  <a:srgbClr val="FF0000"/>
                </a:solidFill>
                <a:latin typeface="黑体" panose="02010609060101010101" pitchFamily="49" charset="-122"/>
                <a:ea typeface="黑体" panose="02010609060101010101" pitchFamily="49" charset="-122"/>
              </a:rPr>
              <a:t>COMS逻辑门电路</a:t>
            </a:r>
            <a:endParaRPr b="1" dirty="0">
              <a:solidFill>
                <a:srgbClr val="FF0000"/>
              </a:solidFill>
              <a:latin typeface="黑体" panose="02010609060101010101" pitchFamily="49" charset="-122"/>
              <a:ea typeface="黑体" panose="02010609060101010101" pitchFamily="49" charset="-122"/>
            </a:endParaRPr>
          </a:p>
        </p:txBody>
      </p:sp>
      <p:pic>
        <p:nvPicPr>
          <p:cNvPr id="9277" name="图片 2714"/>
          <p:cNvPicPr>
            <a:picLocks noChangeAspect="1"/>
          </p:cNvPicPr>
          <p:nvPr/>
        </p:nvPicPr>
        <p:blipFill>
          <a:blip r:embed="rId1"/>
          <a:srcRect l="56612" b="13670"/>
          <a:stretch>
            <a:fillRect/>
          </a:stretch>
        </p:blipFill>
        <p:spPr>
          <a:xfrm>
            <a:off x="304800" y="1676400"/>
            <a:ext cx="3521075" cy="3524885"/>
          </a:xfrm>
          <a:prstGeom prst="rect">
            <a:avLst/>
          </a:prstGeom>
          <a:noFill/>
          <a:ln>
            <a:noFill/>
          </a:ln>
        </p:spPr>
      </p:pic>
      <p:pic>
        <p:nvPicPr>
          <p:cNvPr id="4" name="图片 2714"/>
          <p:cNvPicPr>
            <a:picLocks noChangeAspect="1"/>
          </p:cNvPicPr>
          <p:nvPr/>
        </p:nvPicPr>
        <p:blipFill>
          <a:blip r:embed="rId1"/>
          <a:srcRect l="53521" t="93110"/>
          <a:stretch>
            <a:fillRect/>
          </a:stretch>
        </p:blipFill>
        <p:spPr>
          <a:xfrm>
            <a:off x="228600" y="5486400"/>
            <a:ext cx="3771900" cy="281305"/>
          </a:xfrm>
          <a:prstGeom prst="rect">
            <a:avLst/>
          </a:prstGeom>
          <a:noFill/>
          <a:ln>
            <a:noFill/>
          </a:ln>
        </p:spPr>
      </p:pic>
      <p:grpSp>
        <p:nvGrpSpPr>
          <p:cNvPr id="16" name="组合 15"/>
          <p:cNvGrpSpPr/>
          <p:nvPr/>
        </p:nvGrpSpPr>
        <p:grpSpPr>
          <a:xfrm>
            <a:off x="4257993" y="2895918"/>
            <a:ext cx="868363" cy="2170112"/>
            <a:chOff x="2481" y="1711"/>
            <a:chExt cx="547" cy="1367"/>
          </a:xfrm>
        </p:grpSpPr>
        <p:sp>
          <p:nvSpPr>
            <p:cNvPr id="17" name="文本框 419936"/>
            <p:cNvSpPr txBox="1"/>
            <p:nvPr/>
          </p:nvSpPr>
          <p:spPr>
            <a:xfrm>
              <a:off x="2481" y="1711"/>
              <a:ext cx="547" cy="290"/>
            </a:xfrm>
            <a:prstGeom prst="rect">
              <a:avLst/>
            </a:prstGeom>
            <a:noFill/>
            <a:ln w="9525">
              <a:noFill/>
            </a:ln>
          </p:spPr>
          <p:txBody>
            <a:bodyPr wrap="none" anchor="t" anchorCtr="0">
              <a:spAutoFit/>
            </a:bodyPr>
            <a:p>
              <a:pPr eaLnBrk="0" hangingPunct="0"/>
              <a:r>
                <a:rPr lang="en-US" altLang="zh-CN" sz="2400" b="1">
                  <a:solidFill>
                    <a:srgbClr val="000066"/>
                  </a:solidFill>
                  <a:latin typeface="Times New Roman" panose="02020603050405020304" charset="0"/>
                  <a:ea typeface="楷体_GB2312" pitchFamily="49" charset="-122"/>
                </a:rPr>
                <a:t>0     0</a:t>
              </a:r>
              <a:endParaRPr lang="en-US" altLang="zh-CN" sz="2400" b="1">
                <a:solidFill>
                  <a:srgbClr val="000066"/>
                </a:solidFill>
                <a:latin typeface="Times New Roman" panose="02020603050405020304" charset="0"/>
                <a:ea typeface="楷体_GB2312" pitchFamily="49" charset="-122"/>
              </a:endParaRPr>
            </a:p>
          </p:txBody>
        </p:sp>
        <p:sp>
          <p:nvSpPr>
            <p:cNvPr id="18" name="文本框 419937"/>
            <p:cNvSpPr txBox="1"/>
            <p:nvPr/>
          </p:nvSpPr>
          <p:spPr>
            <a:xfrm>
              <a:off x="2481" y="2062"/>
              <a:ext cx="547" cy="290"/>
            </a:xfrm>
            <a:prstGeom prst="rect">
              <a:avLst/>
            </a:prstGeom>
            <a:noFill/>
            <a:ln w="9525">
              <a:noFill/>
            </a:ln>
          </p:spPr>
          <p:txBody>
            <a:bodyPr wrap="none" anchor="t" anchorCtr="0">
              <a:spAutoFit/>
            </a:bodyPr>
            <a:p>
              <a:pPr eaLnBrk="0" hangingPunct="0"/>
              <a:r>
                <a:rPr lang="en-US" altLang="zh-CN" sz="2400" b="1">
                  <a:solidFill>
                    <a:srgbClr val="000066"/>
                  </a:solidFill>
                  <a:latin typeface="Times New Roman" panose="02020603050405020304" charset="0"/>
                  <a:ea typeface="楷体_GB2312" pitchFamily="49" charset="-122"/>
                </a:rPr>
                <a:t>0     1</a:t>
              </a:r>
              <a:endParaRPr lang="en-US" altLang="zh-CN" sz="2400" b="1">
                <a:solidFill>
                  <a:srgbClr val="000066"/>
                </a:solidFill>
                <a:latin typeface="Times New Roman" panose="02020603050405020304" charset="0"/>
                <a:ea typeface="楷体_GB2312" pitchFamily="49" charset="-122"/>
              </a:endParaRPr>
            </a:p>
          </p:txBody>
        </p:sp>
        <p:sp>
          <p:nvSpPr>
            <p:cNvPr id="19" name="文本框 419938"/>
            <p:cNvSpPr txBox="1"/>
            <p:nvPr/>
          </p:nvSpPr>
          <p:spPr>
            <a:xfrm>
              <a:off x="2481" y="2431"/>
              <a:ext cx="547" cy="290"/>
            </a:xfrm>
            <a:prstGeom prst="rect">
              <a:avLst/>
            </a:prstGeom>
            <a:noFill/>
            <a:ln w="9525">
              <a:noFill/>
            </a:ln>
          </p:spPr>
          <p:txBody>
            <a:bodyPr wrap="none" anchor="t" anchorCtr="0">
              <a:spAutoFit/>
            </a:bodyPr>
            <a:p>
              <a:pPr eaLnBrk="0" hangingPunct="0"/>
              <a:r>
                <a:rPr lang="en-US" altLang="zh-CN" sz="2400" b="1">
                  <a:solidFill>
                    <a:srgbClr val="000066"/>
                  </a:solidFill>
                  <a:latin typeface="Times New Roman" panose="02020603050405020304" charset="0"/>
                  <a:ea typeface="楷体_GB2312" pitchFamily="49" charset="-122"/>
                </a:rPr>
                <a:t>1     0</a:t>
              </a:r>
              <a:endParaRPr lang="en-US" altLang="zh-CN" sz="2400" b="1">
                <a:solidFill>
                  <a:srgbClr val="000066"/>
                </a:solidFill>
                <a:latin typeface="Times New Roman" panose="02020603050405020304" charset="0"/>
                <a:ea typeface="楷体_GB2312" pitchFamily="49" charset="-122"/>
              </a:endParaRPr>
            </a:p>
          </p:txBody>
        </p:sp>
        <p:sp>
          <p:nvSpPr>
            <p:cNvPr id="20" name="文本框 419939"/>
            <p:cNvSpPr txBox="1"/>
            <p:nvPr/>
          </p:nvSpPr>
          <p:spPr>
            <a:xfrm>
              <a:off x="2481" y="2788"/>
              <a:ext cx="547" cy="290"/>
            </a:xfrm>
            <a:prstGeom prst="rect">
              <a:avLst/>
            </a:prstGeom>
            <a:noFill/>
            <a:ln w="9525">
              <a:noFill/>
            </a:ln>
          </p:spPr>
          <p:txBody>
            <a:bodyPr wrap="none" anchor="t" anchorCtr="0">
              <a:spAutoFit/>
            </a:bodyPr>
            <a:p>
              <a:pPr eaLnBrk="0" hangingPunct="0"/>
              <a:r>
                <a:rPr lang="en-US" altLang="zh-CN" sz="2400" b="1">
                  <a:solidFill>
                    <a:srgbClr val="000066"/>
                  </a:solidFill>
                  <a:latin typeface="Times New Roman" panose="02020603050405020304" charset="0"/>
                  <a:ea typeface="楷体_GB2312" pitchFamily="49" charset="-122"/>
                </a:rPr>
                <a:t>1     1</a:t>
              </a:r>
              <a:endParaRPr lang="en-US" altLang="zh-CN" sz="2400" b="1">
                <a:solidFill>
                  <a:srgbClr val="000066"/>
                </a:solidFill>
                <a:latin typeface="Times New Roman" panose="02020603050405020304" charset="0"/>
                <a:ea typeface="楷体_GB2312" pitchFamily="49" charset="-122"/>
              </a:endParaRPr>
            </a:p>
          </p:txBody>
        </p:sp>
      </p:grpSp>
      <p:sp>
        <p:nvSpPr>
          <p:cNvPr id="22" name="文本框 419940"/>
          <p:cNvSpPr txBox="1"/>
          <p:nvPr/>
        </p:nvSpPr>
        <p:spPr>
          <a:xfrm>
            <a:off x="5248910" y="2898775"/>
            <a:ext cx="795020" cy="460375"/>
          </a:xfrm>
          <a:prstGeom prst="rect">
            <a:avLst/>
          </a:prstGeom>
          <a:noFill/>
          <a:ln w="9525">
            <a:noFill/>
          </a:ln>
        </p:spPr>
        <p:txBody>
          <a:bodyPr wrap="none" anchor="t" anchorCtr="0">
            <a:spAutoFit/>
          </a:bodyPr>
          <a:p>
            <a:pPr eaLnBrk="0" hangingPunct="0"/>
            <a:r>
              <a:rPr lang="zh-CN" altLang="en-US" sz="2400" b="1" dirty="0">
                <a:solidFill>
                  <a:srgbClr val="000066"/>
                </a:solidFill>
                <a:latin typeface="楷体_GB2312" pitchFamily="49" charset="-122"/>
                <a:ea typeface="楷体_GB2312" pitchFamily="49" charset="-122"/>
              </a:rPr>
              <a:t>截止</a:t>
            </a:r>
            <a:endParaRPr lang="zh-CN" altLang="en-US" sz="2400" b="1" dirty="0">
              <a:solidFill>
                <a:srgbClr val="000066"/>
              </a:solidFill>
              <a:latin typeface="楷体_GB2312" pitchFamily="49" charset="-122"/>
              <a:ea typeface="楷体_GB2312" pitchFamily="49" charset="-122"/>
            </a:endParaRPr>
          </a:p>
        </p:txBody>
      </p:sp>
      <p:sp>
        <p:nvSpPr>
          <p:cNvPr id="23" name="文本框 419941"/>
          <p:cNvSpPr txBox="1"/>
          <p:nvPr/>
        </p:nvSpPr>
        <p:spPr>
          <a:xfrm>
            <a:off x="6101080" y="2922905"/>
            <a:ext cx="901065" cy="460375"/>
          </a:xfrm>
          <a:prstGeom prst="rect">
            <a:avLst/>
          </a:prstGeom>
          <a:noFill/>
          <a:ln w="9525">
            <a:noFill/>
          </a:ln>
        </p:spPr>
        <p:txBody>
          <a:bodyPr wrap="square" anchor="t" anchorCtr="0">
            <a:spAutoFit/>
          </a:bodyPr>
          <a:p>
            <a:pPr eaLnBrk="0" hangingPunct="0"/>
            <a:r>
              <a:rPr lang="zh-CN" altLang="en-US" sz="2400" b="1" dirty="0">
                <a:solidFill>
                  <a:srgbClr val="000066"/>
                </a:solidFill>
                <a:latin typeface="楷体_GB2312" pitchFamily="49" charset="-122"/>
                <a:ea typeface="楷体_GB2312" pitchFamily="49" charset="-122"/>
              </a:rPr>
              <a:t>导通</a:t>
            </a:r>
            <a:endParaRPr lang="zh-CN" altLang="en-US" sz="2400" b="1" dirty="0">
              <a:solidFill>
                <a:srgbClr val="000066"/>
              </a:solidFill>
              <a:latin typeface="楷体_GB2312" pitchFamily="49" charset="-122"/>
              <a:ea typeface="楷体_GB2312" pitchFamily="49" charset="-122"/>
            </a:endParaRPr>
          </a:p>
        </p:txBody>
      </p:sp>
      <p:sp>
        <p:nvSpPr>
          <p:cNvPr id="27" name="文本框 419943"/>
          <p:cNvSpPr txBox="1"/>
          <p:nvPr/>
        </p:nvSpPr>
        <p:spPr>
          <a:xfrm>
            <a:off x="6086475" y="3425825"/>
            <a:ext cx="866775" cy="460375"/>
          </a:xfrm>
          <a:prstGeom prst="rect">
            <a:avLst/>
          </a:prstGeom>
          <a:noFill/>
          <a:ln w="9525">
            <a:noFill/>
          </a:ln>
        </p:spPr>
        <p:txBody>
          <a:bodyPr wrap="square" anchor="t" anchorCtr="0">
            <a:spAutoFit/>
          </a:bodyPr>
          <a:p>
            <a:pPr eaLnBrk="0" hangingPunct="0"/>
            <a:r>
              <a:rPr lang="zh-CN" altLang="en-US" sz="2400" b="1" dirty="0">
                <a:solidFill>
                  <a:srgbClr val="000066"/>
                </a:solidFill>
                <a:latin typeface="楷体_GB2312" pitchFamily="49" charset="-122"/>
                <a:ea typeface="楷体_GB2312" pitchFamily="49" charset="-122"/>
              </a:rPr>
              <a:t>导通</a:t>
            </a:r>
            <a:endParaRPr lang="zh-CN" altLang="en-US" sz="2400" b="1" dirty="0">
              <a:solidFill>
                <a:srgbClr val="000066"/>
              </a:solidFill>
              <a:latin typeface="楷体_GB2312" pitchFamily="49" charset="-122"/>
              <a:ea typeface="楷体_GB2312" pitchFamily="49" charset="-122"/>
            </a:endParaRPr>
          </a:p>
        </p:txBody>
      </p:sp>
      <p:sp>
        <p:nvSpPr>
          <p:cNvPr id="29" name="文本框 419950"/>
          <p:cNvSpPr txBox="1"/>
          <p:nvPr/>
        </p:nvSpPr>
        <p:spPr>
          <a:xfrm>
            <a:off x="5276850" y="3456305"/>
            <a:ext cx="795020" cy="460375"/>
          </a:xfrm>
          <a:prstGeom prst="rect">
            <a:avLst/>
          </a:prstGeom>
          <a:noFill/>
          <a:ln w="9525">
            <a:noFill/>
          </a:ln>
        </p:spPr>
        <p:txBody>
          <a:bodyPr wrap="none" anchor="t" anchorCtr="0">
            <a:spAutoFit/>
          </a:bodyPr>
          <a:p>
            <a:pPr eaLnBrk="0" hangingPunct="0"/>
            <a:r>
              <a:rPr lang="zh-CN" altLang="en-US" sz="2400" b="1" dirty="0">
                <a:solidFill>
                  <a:srgbClr val="000066"/>
                </a:solidFill>
                <a:latin typeface="楷体_GB2312" pitchFamily="49" charset="-122"/>
                <a:ea typeface="楷体_GB2312" pitchFamily="49" charset="-122"/>
              </a:rPr>
              <a:t>导通</a:t>
            </a:r>
            <a:endParaRPr lang="zh-CN" altLang="en-US" sz="2400" b="1" dirty="0">
              <a:solidFill>
                <a:srgbClr val="000066"/>
              </a:solidFill>
              <a:latin typeface="楷体_GB2312" pitchFamily="49" charset="-122"/>
              <a:ea typeface="楷体_GB2312" pitchFamily="49" charset="-122"/>
            </a:endParaRPr>
          </a:p>
        </p:txBody>
      </p:sp>
      <p:sp>
        <p:nvSpPr>
          <p:cNvPr id="32" name="文本框 419945"/>
          <p:cNvSpPr txBox="1"/>
          <p:nvPr/>
        </p:nvSpPr>
        <p:spPr>
          <a:xfrm>
            <a:off x="5248910" y="4004310"/>
            <a:ext cx="863600" cy="460375"/>
          </a:xfrm>
          <a:prstGeom prst="rect">
            <a:avLst/>
          </a:prstGeom>
          <a:noFill/>
          <a:ln w="9525">
            <a:noFill/>
          </a:ln>
        </p:spPr>
        <p:txBody>
          <a:bodyPr wrap="square" anchor="t" anchorCtr="0">
            <a:spAutoFit/>
          </a:bodyPr>
          <a:p>
            <a:pPr eaLnBrk="0" hangingPunct="0"/>
            <a:r>
              <a:rPr lang="zh-CN" altLang="en-US" sz="2400" b="1" dirty="0">
                <a:solidFill>
                  <a:srgbClr val="000066"/>
                </a:solidFill>
                <a:latin typeface="楷体_GB2312" pitchFamily="49" charset="-122"/>
                <a:ea typeface="楷体_GB2312" pitchFamily="49" charset="-122"/>
              </a:rPr>
              <a:t>截止</a:t>
            </a:r>
            <a:endParaRPr lang="zh-CN" altLang="en-US" sz="2400" b="1" dirty="0">
              <a:solidFill>
                <a:srgbClr val="000066"/>
              </a:solidFill>
              <a:latin typeface="楷体_GB2312" pitchFamily="49" charset="-122"/>
              <a:ea typeface="楷体_GB2312" pitchFamily="49" charset="-122"/>
            </a:endParaRPr>
          </a:p>
        </p:txBody>
      </p:sp>
      <p:sp>
        <p:nvSpPr>
          <p:cNvPr id="34" name="文本框 419952"/>
          <p:cNvSpPr txBox="1"/>
          <p:nvPr/>
        </p:nvSpPr>
        <p:spPr>
          <a:xfrm>
            <a:off x="6126480" y="4004310"/>
            <a:ext cx="831215" cy="460375"/>
          </a:xfrm>
          <a:prstGeom prst="rect">
            <a:avLst/>
          </a:prstGeom>
          <a:noFill/>
          <a:ln w="9525">
            <a:noFill/>
          </a:ln>
        </p:spPr>
        <p:txBody>
          <a:bodyPr wrap="square" anchor="t" anchorCtr="0">
            <a:spAutoFit/>
          </a:bodyPr>
          <a:p>
            <a:pPr eaLnBrk="0" hangingPunct="0"/>
            <a:r>
              <a:rPr lang="zh-CN" altLang="en-US" sz="2400" b="1" dirty="0">
                <a:solidFill>
                  <a:srgbClr val="000066"/>
                </a:solidFill>
                <a:latin typeface="楷体_GB2312" pitchFamily="49" charset="-122"/>
                <a:ea typeface="楷体_GB2312" pitchFamily="49" charset="-122"/>
              </a:rPr>
              <a:t>导通</a:t>
            </a:r>
            <a:endParaRPr lang="zh-CN" altLang="en-US" sz="2400" b="1" dirty="0">
              <a:solidFill>
                <a:srgbClr val="000066"/>
              </a:solidFill>
              <a:latin typeface="楷体_GB2312" pitchFamily="49" charset="-122"/>
              <a:ea typeface="楷体_GB2312" pitchFamily="49" charset="-122"/>
            </a:endParaRPr>
          </a:p>
        </p:txBody>
      </p:sp>
      <p:sp>
        <p:nvSpPr>
          <p:cNvPr id="33909" name="文本框 419947"/>
          <p:cNvSpPr txBox="1"/>
          <p:nvPr/>
        </p:nvSpPr>
        <p:spPr>
          <a:xfrm>
            <a:off x="6104255" y="4597400"/>
            <a:ext cx="938530" cy="460375"/>
          </a:xfrm>
          <a:prstGeom prst="rect">
            <a:avLst/>
          </a:prstGeom>
          <a:noFill/>
          <a:ln w="9525">
            <a:noFill/>
          </a:ln>
        </p:spPr>
        <p:txBody>
          <a:bodyPr wrap="square" anchor="t" anchorCtr="0">
            <a:spAutoFit/>
          </a:bodyPr>
          <a:p>
            <a:pPr eaLnBrk="0" hangingPunct="0"/>
            <a:r>
              <a:rPr lang="zh-CN" altLang="en-US" sz="2400" b="1" dirty="0">
                <a:solidFill>
                  <a:srgbClr val="000066"/>
                </a:solidFill>
                <a:latin typeface="楷体_GB2312" pitchFamily="49" charset="-122"/>
                <a:ea typeface="楷体_GB2312" pitchFamily="49" charset="-122"/>
              </a:rPr>
              <a:t>截止</a:t>
            </a:r>
            <a:endParaRPr lang="zh-CN" altLang="en-US" sz="2400" b="1" dirty="0">
              <a:solidFill>
                <a:srgbClr val="000066"/>
              </a:solidFill>
              <a:latin typeface="楷体_GB2312" pitchFamily="49" charset="-122"/>
              <a:ea typeface="楷体_GB2312" pitchFamily="49" charset="-122"/>
            </a:endParaRPr>
          </a:p>
        </p:txBody>
      </p:sp>
      <p:sp>
        <p:nvSpPr>
          <p:cNvPr id="33911" name="文本框 419954"/>
          <p:cNvSpPr txBox="1"/>
          <p:nvPr/>
        </p:nvSpPr>
        <p:spPr>
          <a:xfrm>
            <a:off x="5299075" y="4584700"/>
            <a:ext cx="795020" cy="460375"/>
          </a:xfrm>
          <a:prstGeom prst="rect">
            <a:avLst/>
          </a:prstGeom>
          <a:noFill/>
          <a:ln w="9525">
            <a:noFill/>
          </a:ln>
        </p:spPr>
        <p:txBody>
          <a:bodyPr wrap="none" anchor="t" anchorCtr="0">
            <a:spAutoFit/>
          </a:bodyPr>
          <a:p>
            <a:pPr eaLnBrk="0" hangingPunct="0"/>
            <a:r>
              <a:rPr lang="zh-CN" altLang="en-US" sz="2400" b="1" dirty="0">
                <a:solidFill>
                  <a:srgbClr val="000066"/>
                </a:solidFill>
                <a:latin typeface="楷体_GB2312" pitchFamily="49" charset="-122"/>
                <a:ea typeface="楷体_GB2312" pitchFamily="49" charset="-122"/>
              </a:rPr>
              <a:t>导通</a:t>
            </a:r>
            <a:endParaRPr lang="zh-CN" altLang="en-US" sz="2400" b="1" dirty="0">
              <a:solidFill>
                <a:srgbClr val="000066"/>
              </a:solidFill>
              <a:latin typeface="楷体_GB2312" pitchFamily="49" charset="-122"/>
              <a:ea typeface="楷体_GB2312" pitchFamily="49" charset="-122"/>
            </a:endParaRPr>
          </a:p>
        </p:txBody>
      </p:sp>
      <p:sp>
        <p:nvSpPr>
          <p:cNvPr id="36" name="文本框 35"/>
          <p:cNvSpPr txBox="1"/>
          <p:nvPr/>
        </p:nvSpPr>
        <p:spPr>
          <a:xfrm>
            <a:off x="7620000" y="2937193"/>
            <a:ext cx="948690" cy="398780"/>
          </a:xfrm>
          <a:prstGeom prst="rect">
            <a:avLst/>
          </a:prstGeom>
          <a:noFill/>
          <a:ln w="9525">
            <a:noFill/>
          </a:ln>
        </p:spPr>
        <p:txBody>
          <a:bodyPr wrap="none" anchor="t" anchorCtr="0">
            <a:spAutoFit/>
          </a:bodyPr>
          <a:p>
            <a:pPr eaLnBrk="0" hangingPunct="0"/>
            <a:r>
              <a:rPr lang="zh-CN" altLang="en-US" sz="2000" b="1">
                <a:solidFill>
                  <a:srgbClr val="000066"/>
                </a:solidFill>
                <a:latin typeface="Times New Roman" panose="02020603050405020304" charset="0"/>
                <a:ea typeface="楷体_GB2312" pitchFamily="49" charset="-122"/>
              </a:rPr>
              <a:t>高阻态</a:t>
            </a:r>
            <a:endParaRPr lang="zh-CN" altLang="en-US" sz="2000" b="1">
              <a:solidFill>
                <a:srgbClr val="000066"/>
              </a:solidFill>
              <a:latin typeface="Times New Roman" panose="02020603050405020304" charset="0"/>
              <a:ea typeface="楷体_GB2312" pitchFamily="49" charset="-122"/>
            </a:endParaRPr>
          </a:p>
        </p:txBody>
      </p:sp>
      <p:sp>
        <p:nvSpPr>
          <p:cNvPr id="37" name="文本框 36"/>
          <p:cNvSpPr txBox="1"/>
          <p:nvPr/>
        </p:nvSpPr>
        <p:spPr>
          <a:xfrm>
            <a:off x="7924800" y="3428683"/>
            <a:ext cx="335280" cy="460375"/>
          </a:xfrm>
          <a:prstGeom prst="rect">
            <a:avLst/>
          </a:prstGeom>
          <a:noFill/>
          <a:ln w="9525">
            <a:noFill/>
          </a:ln>
        </p:spPr>
        <p:txBody>
          <a:bodyPr wrap="none" anchor="t" anchorCtr="0">
            <a:spAutoFit/>
          </a:bodyPr>
          <a:p>
            <a:pPr eaLnBrk="0" hangingPunct="0"/>
            <a:r>
              <a:rPr lang="en-US" altLang="zh-CN" sz="2400" b="1">
                <a:solidFill>
                  <a:srgbClr val="000066"/>
                </a:solidFill>
                <a:latin typeface="Times New Roman" panose="02020603050405020304" charset="0"/>
                <a:ea typeface="楷体_GB2312" pitchFamily="49" charset="-122"/>
              </a:rPr>
              <a:t>0</a:t>
            </a:r>
            <a:endParaRPr lang="en-US" altLang="zh-CN" sz="2400" b="1">
              <a:solidFill>
                <a:srgbClr val="000066"/>
              </a:solidFill>
              <a:latin typeface="Times New Roman" panose="02020603050405020304" charset="0"/>
              <a:ea typeface="楷体_GB2312" pitchFamily="49" charset="-122"/>
            </a:endParaRPr>
          </a:p>
        </p:txBody>
      </p:sp>
      <p:sp>
        <p:nvSpPr>
          <p:cNvPr id="38" name="文本框 37"/>
          <p:cNvSpPr txBox="1"/>
          <p:nvPr/>
        </p:nvSpPr>
        <p:spPr>
          <a:xfrm>
            <a:off x="7620000" y="4038283"/>
            <a:ext cx="948690" cy="398780"/>
          </a:xfrm>
          <a:prstGeom prst="rect">
            <a:avLst/>
          </a:prstGeom>
          <a:noFill/>
          <a:ln w="9525">
            <a:noFill/>
          </a:ln>
        </p:spPr>
        <p:txBody>
          <a:bodyPr wrap="none" anchor="t" anchorCtr="0">
            <a:spAutoFit/>
          </a:bodyPr>
          <a:p>
            <a:pPr eaLnBrk="0" hangingPunct="0"/>
            <a:r>
              <a:rPr lang="zh-CN" altLang="en-US" sz="2000" b="1">
                <a:solidFill>
                  <a:srgbClr val="000066"/>
                </a:solidFill>
                <a:latin typeface="Times New Roman" panose="02020603050405020304" charset="0"/>
                <a:ea typeface="楷体_GB2312" pitchFamily="49" charset="-122"/>
              </a:rPr>
              <a:t>高阻态</a:t>
            </a:r>
            <a:endParaRPr lang="zh-CN" altLang="en-US" sz="2000" b="1">
              <a:solidFill>
                <a:srgbClr val="000066"/>
              </a:solidFill>
              <a:latin typeface="Times New Roman" panose="02020603050405020304" charset="0"/>
              <a:ea typeface="楷体_GB2312" pitchFamily="49" charset="-122"/>
            </a:endParaRPr>
          </a:p>
        </p:txBody>
      </p:sp>
      <p:sp>
        <p:nvSpPr>
          <p:cNvPr id="39" name="文本框 38"/>
          <p:cNvSpPr txBox="1"/>
          <p:nvPr/>
        </p:nvSpPr>
        <p:spPr>
          <a:xfrm>
            <a:off x="7924483" y="4572000"/>
            <a:ext cx="335280" cy="460375"/>
          </a:xfrm>
          <a:prstGeom prst="rect">
            <a:avLst/>
          </a:prstGeom>
          <a:noFill/>
          <a:ln w="9525">
            <a:noFill/>
          </a:ln>
        </p:spPr>
        <p:txBody>
          <a:bodyPr wrap="none" anchor="t" anchorCtr="0">
            <a:spAutoFit/>
          </a:bodyPr>
          <a:p>
            <a:pPr eaLnBrk="0" hangingPunct="0"/>
            <a:r>
              <a:rPr lang="en-US" altLang="zh-CN" sz="2400" b="1">
                <a:solidFill>
                  <a:srgbClr val="000066"/>
                </a:solidFill>
                <a:latin typeface="Times New Roman" panose="02020603050405020304" charset="0"/>
                <a:ea typeface="楷体_GB2312" pitchFamily="49" charset="-122"/>
              </a:rPr>
              <a:t>1</a:t>
            </a:r>
            <a:endParaRPr lang="en-US" altLang="zh-CN" sz="2400" b="1">
              <a:solidFill>
                <a:srgbClr val="000066"/>
              </a:solidFill>
              <a:latin typeface="Times New Roman" panose="02020603050405020304" charset="0"/>
              <a:ea typeface="楷体_GB2312" pitchFamily="49" charset="-122"/>
            </a:endParaRPr>
          </a:p>
        </p:txBody>
      </p:sp>
      <p:sp>
        <p:nvSpPr>
          <p:cNvPr id="3" name="文本框 419941"/>
          <p:cNvSpPr txBox="1"/>
          <p:nvPr/>
        </p:nvSpPr>
        <p:spPr>
          <a:xfrm>
            <a:off x="6927850" y="2897505"/>
            <a:ext cx="901065" cy="460375"/>
          </a:xfrm>
          <a:prstGeom prst="rect">
            <a:avLst/>
          </a:prstGeom>
          <a:noFill/>
          <a:ln w="9525">
            <a:noFill/>
          </a:ln>
        </p:spPr>
        <p:txBody>
          <a:bodyPr wrap="square" anchor="t" anchorCtr="0">
            <a:spAutoFit/>
          </a:bodyPr>
          <a:p>
            <a:pPr eaLnBrk="0" hangingPunct="0"/>
            <a:r>
              <a:rPr lang="zh-CN" altLang="en-US" sz="2400" b="1" dirty="0">
                <a:solidFill>
                  <a:srgbClr val="000066"/>
                </a:solidFill>
                <a:latin typeface="楷体_GB2312" pitchFamily="49" charset="-122"/>
                <a:ea typeface="楷体_GB2312" pitchFamily="49" charset="-122"/>
              </a:rPr>
              <a:t>截止</a:t>
            </a:r>
            <a:endParaRPr lang="zh-CN" altLang="en-US" sz="2400" b="1" dirty="0">
              <a:solidFill>
                <a:srgbClr val="000066"/>
              </a:solidFill>
              <a:latin typeface="楷体_GB2312" pitchFamily="49" charset="-122"/>
              <a:ea typeface="楷体_GB2312" pitchFamily="49" charset="-122"/>
            </a:endParaRPr>
          </a:p>
        </p:txBody>
      </p:sp>
      <p:sp>
        <p:nvSpPr>
          <p:cNvPr id="2" name="文本框 419943"/>
          <p:cNvSpPr txBox="1"/>
          <p:nvPr/>
        </p:nvSpPr>
        <p:spPr>
          <a:xfrm>
            <a:off x="6913245" y="3400425"/>
            <a:ext cx="866775" cy="460375"/>
          </a:xfrm>
          <a:prstGeom prst="rect">
            <a:avLst/>
          </a:prstGeom>
          <a:noFill/>
          <a:ln w="9525">
            <a:noFill/>
          </a:ln>
        </p:spPr>
        <p:txBody>
          <a:bodyPr wrap="square" anchor="t" anchorCtr="0">
            <a:spAutoFit/>
          </a:bodyPr>
          <a:p>
            <a:pPr eaLnBrk="0" hangingPunct="0"/>
            <a:r>
              <a:rPr lang="zh-CN" altLang="en-US" sz="2400" b="1" dirty="0">
                <a:solidFill>
                  <a:srgbClr val="000066"/>
                </a:solidFill>
                <a:latin typeface="楷体_GB2312" pitchFamily="49" charset="-122"/>
                <a:ea typeface="楷体_GB2312" pitchFamily="49" charset="-122"/>
              </a:rPr>
              <a:t>导通</a:t>
            </a:r>
            <a:endParaRPr lang="zh-CN" altLang="en-US" sz="2400" b="1" dirty="0">
              <a:solidFill>
                <a:srgbClr val="000066"/>
              </a:solidFill>
              <a:latin typeface="楷体_GB2312" pitchFamily="49" charset="-122"/>
              <a:ea typeface="楷体_GB2312" pitchFamily="49" charset="-122"/>
            </a:endParaRPr>
          </a:p>
        </p:txBody>
      </p:sp>
      <p:sp>
        <p:nvSpPr>
          <p:cNvPr id="6" name="文本框 419952"/>
          <p:cNvSpPr txBox="1"/>
          <p:nvPr/>
        </p:nvSpPr>
        <p:spPr>
          <a:xfrm>
            <a:off x="6953250" y="3978910"/>
            <a:ext cx="831215" cy="460375"/>
          </a:xfrm>
          <a:prstGeom prst="rect">
            <a:avLst/>
          </a:prstGeom>
          <a:noFill/>
          <a:ln w="9525">
            <a:noFill/>
          </a:ln>
        </p:spPr>
        <p:txBody>
          <a:bodyPr wrap="square" anchor="t" anchorCtr="0">
            <a:spAutoFit/>
          </a:bodyPr>
          <a:p>
            <a:pPr eaLnBrk="0" hangingPunct="0"/>
            <a:r>
              <a:rPr lang="zh-CN" altLang="en-US" sz="2400" b="1" dirty="0">
                <a:solidFill>
                  <a:srgbClr val="000066"/>
                </a:solidFill>
                <a:latin typeface="楷体_GB2312" pitchFamily="49" charset="-122"/>
                <a:ea typeface="楷体_GB2312" pitchFamily="49" charset="-122"/>
              </a:rPr>
              <a:t>截止</a:t>
            </a:r>
            <a:endParaRPr lang="zh-CN" altLang="en-US" sz="2400" b="1" dirty="0">
              <a:solidFill>
                <a:srgbClr val="000066"/>
              </a:solidFill>
              <a:latin typeface="楷体_GB2312" pitchFamily="49" charset="-122"/>
              <a:ea typeface="楷体_GB2312" pitchFamily="49" charset="-122"/>
            </a:endParaRPr>
          </a:p>
        </p:txBody>
      </p:sp>
      <p:sp>
        <p:nvSpPr>
          <p:cNvPr id="7" name="文本框 419947"/>
          <p:cNvSpPr txBox="1"/>
          <p:nvPr/>
        </p:nvSpPr>
        <p:spPr>
          <a:xfrm>
            <a:off x="6931025" y="4572000"/>
            <a:ext cx="938530" cy="460375"/>
          </a:xfrm>
          <a:prstGeom prst="rect">
            <a:avLst/>
          </a:prstGeom>
          <a:noFill/>
          <a:ln w="9525">
            <a:noFill/>
          </a:ln>
        </p:spPr>
        <p:txBody>
          <a:bodyPr wrap="square" anchor="t" anchorCtr="0">
            <a:spAutoFit/>
          </a:bodyPr>
          <a:p>
            <a:pPr eaLnBrk="0" hangingPunct="0"/>
            <a:r>
              <a:rPr lang="zh-CN" altLang="en-US" sz="2400" b="1" dirty="0">
                <a:solidFill>
                  <a:srgbClr val="000066"/>
                </a:solidFill>
                <a:latin typeface="楷体_GB2312" pitchFamily="49" charset="-122"/>
                <a:ea typeface="楷体_GB2312" pitchFamily="49" charset="-122"/>
              </a:rPr>
              <a:t>导通</a:t>
            </a:r>
            <a:endParaRPr lang="zh-CN" altLang="en-US" sz="2400" b="1" dirty="0">
              <a:solidFill>
                <a:srgbClr val="000066"/>
              </a:solidFill>
              <a:latin typeface="楷体_GB2312" pitchFamily="49" charset="-122"/>
              <a:ea typeface="楷体_GB2312" pitchFamily="49" charset="-122"/>
            </a:endParaRPr>
          </a:p>
        </p:txBody>
      </p:sp>
      <p:grpSp>
        <p:nvGrpSpPr>
          <p:cNvPr id="13" name="组合 12"/>
          <p:cNvGrpSpPr/>
          <p:nvPr/>
        </p:nvGrpSpPr>
        <p:grpSpPr>
          <a:xfrm>
            <a:off x="4170045" y="2209800"/>
            <a:ext cx="4304665" cy="2856230"/>
            <a:chOff x="6567" y="3480"/>
            <a:chExt cx="6779" cy="4498"/>
          </a:xfrm>
        </p:grpSpPr>
        <p:sp>
          <p:nvSpPr>
            <p:cNvPr id="32771" name="文本框 418819"/>
            <p:cNvSpPr txBox="1"/>
            <p:nvPr/>
          </p:nvSpPr>
          <p:spPr>
            <a:xfrm>
              <a:off x="6573" y="3509"/>
              <a:ext cx="1796" cy="822"/>
            </a:xfrm>
            <a:prstGeom prst="rect">
              <a:avLst/>
            </a:prstGeom>
            <a:noFill/>
            <a:ln w="9525">
              <a:noFill/>
            </a:ln>
          </p:spPr>
          <p:txBody>
            <a:bodyPr wrap="none" anchor="t" anchorCtr="0">
              <a:spAutoFit/>
            </a:bodyPr>
            <a:p>
              <a:pPr eaLnBrk="0" hangingPunct="0"/>
              <a:r>
                <a:rPr lang="en-US" altLang="zh-CN" sz="2800" i="1">
                  <a:solidFill>
                    <a:srgbClr val="000066"/>
                  </a:solidFill>
                  <a:latin typeface="Times New Roman" panose="02020603050405020304" charset="0"/>
                  <a:ea typeface="楷体_GB2312" pitchFamily="49" charset="-122"/>
                </a:rPr>
                <a:t>A</a:t>
              </a:r>
              <a:r>
                <a:rPr lang="en-US" altLang="zh-CN" sz="2800">
                  <a:solidFill>
                    <a:srgbClr val="000066"/>
                  </a:solidFill>
                  <a:latin typeface="Times New Roman" panose="02020603050405020304" charset="0"/>
                  <a:ea typeface="楷体_GB2312" pitchFamily="49" charset="-122"/>
                </a:rPr>
                <a:t>   </a:t>
              </a:r>
              <a:r>
                <a:rPr lang="en-US" altLang="zh-CN" sz="2800" i="1">
                  <a:solidFill>
                    <a:srgbClr val="000066"/>
                  </a:solidFill>
                  <a:latin typeface="Times New Roman" panose="02020603050405020304" charset="0"/>
                  <a:ea typeface="楷体_GB2312" pitchFamily="49" charset="-122"/>
                </a:rPr>
                <a:t>EN</a:t>
              </a:r>
              <a:endParaRPr lang="en-US" altLang="zh-CN" sz="2800" i="1">
                <a:solidFill>
                  <a:srgbClr val="000066"/>
                </a:solidFill>
                <a:latin typeface="Times New Roman" panose="02020603050405020304" charset="0"/>
                <a:ea typeface="楷体_GB2312" pitchFamily="49" charset="-122"/>
              </a:endParaRPr>
            </a:p>
          </p:txBody>
        </p:sp>
        <p:sp>
          <p:nvSpPr>
            <p:cNvPr id="32772" name="文本框 418820"/>
            <p:cNvSpPr txBox="1"/>
            <p:nvPr/>
          </p:nvSpPr>
          <p:spPr>
            <a:xfrm>
              <a:off x="8313" y="3524"/>
              <a:ext cx="4064" cy="822"/>
            </a:xfrm>
            <a:prstGeom prst="rect">
              <a:avLst/>
            </a:prstGeom>
            <a:noFill/>
            <a:ln w="9525">
              <a:noFill/>
            </a:ln>
          </p:spPr>
          <p:txBody>
            <a:bodyPr wrap="square" anchor="t" anchorCtr="0">
              <a:spAutoFit/>
            </a:bodyPr>
            <a:p>
              <a:pPr eaLnBrk="0" hangingPunct="0"/>
              <a:r>
                <a:rPr lang="en-US" altLang="zh-CN" sz="2800">
                  <a:solidFill>
                    <a:srgbClr val="000066"/>
                  </a:solidFill>
                  <a:latin typeface="Times New Roman" panose="02020603050405020304" charset="0"/>
                  <a:ea typeface="楷体_GB2312" pitchFamily="49" charset="-122"/>
                </a:rPr>
                <a:t> T</a:t>
              </a:r>
              <a:r>
                <a:rPr lang="en-US" altLang="zh-CN" sz="2800" baseline="-25000">
                  <a:solidFill>
                    <a:srgbClr val="000066"/>
                  </a:solidFill>
                  <a:latin typeface="Times New Roman" panose="02020603050405020304" charset="0"/>
                  <a:ea typeface="楷体_GB2312" pitchFamily="49" charset="-122"/>
                </a:rPr>
                <a:t>P1</a:t>
              </a:r>
              <a:r>
                <a:rPr lang="en-US" altLang="zh-CN" sz="2800">
                  <a:solidFill>
                    <a:srgbClr val="000066"/>
                  </a:solidFill>
                  <a:latin typeface="Times New Roman" panose="02020603050405020304" charset="0"/>
                  <a:ea typeface="楷体_GB2312" pitchFamily="49" charset="-122"/>
                </a:rPr>
                <a:t>    T</a:t>
              </a:r>
              <a:r>
                <a:rPr lang="en-US" altLang="zh-CN" sz="2800" baseline="-25000">
                  <a:solidFill>
                    <a:srgbClr val="000066"/>
                  </a:solidFill>
                  <a:latin typeface="Times New Roman" panose="02020603050405020304" charset="0"/>
                  <a:ea typeface="楷体_GB2312" pitchFamily="49" charset="-122"/>
                </a:rPr>
                <a:t>N1</a:t>
              </a:r>
              <a:r>
                <a:rPr lang="en-US" altLang="zh-CN" sz="2800">
                  <a:solidFill>
                    <a:srgbClr val="000066"/>
                  </a:solidFill>
                  <a:latin typeface="Times New Roman" panose="02020603050405020304" charset="0"/>
                  <a:ea typeface="楷体_GB2312" pitchFamily="49" charset="-122"/>
                </a:rPr>
                <a:t>    </a:t>
              </a:r>
              <a:r>
                <a:rPr lang="en-US" altLang="zh-CN" sz="2800">
                  <a:solidFill>
                    <a:srgbClr val="000066"/>
                  </a:solidFill>
                  <a:latin typeface="Times New Roman" panose="02020603050405020304" charset="0"/>
                  <a:ea typeface="楷体_GB2312" pitchFamily="49" charset="-122"/>
                  <a:sym typeface="+mn-ea"/>
                </a:rPr>
                <a:t>T</a:t>
              </a:r>
              <a:r>
                <a:rPr lang="en-US" altLang="zh-CN" sz="2800" baseline="-25000">
                  <a:solidFill>
                    <a:srgbClr val="000066"/>
                  </a:solidFill>
                  <a:latin typeface="Times New Roman" panose="02020603050405020304" charset="0"/>
                  <a:ea typeface="楷体_GB2312" pitchFamily="49" charset="-122"/>
                  <a:sym typeface="+mn-ea"/>
                </a:rPr>
                <a:t>N2</a:t>
              </a:r>
              <a:r>
                <a:rPr lang="en-US" altLang="zh-CN" sz="2000">
                  <a:solidFill>
                    <a:srgbClr val="000066"/>
                  </a:solidFill>
                  <a:latin typeface="Times New Roman" panose="02020603050405020304" charset="0"/>
                  <a:ea typeface="楷体_GB2312" pitchFamily="49" charset="-122"/>
                  <a:sym typeface="+mn-ea"/>
                </a:rPr>
                <a:t> </a:t>
              </a:r>
              <a:r>
                <a:rPr lang="en-US" altLang="zh-CN" sz="2000">
                  <a:solidFill>
                    <a:srgbClr val="000066"/>
                  </a:solidFill>
                  <a:latin typeface="Times New Roman" panose="02020603050405020304" charset="0"/>
                  <a:ea typeface="楷体_GB2312" pitchFamily="49" charset="-122"/>
                </a:rPr>
                <a:t> </a:t>
              </a:r>
              <a:r>
                <a:rPr lang="en-US" altLang="zh-CN" sz="2800">
                  <a:solidFill>
                    <a:srgbClr val="000066"/>
                  </a:solidFill>
                  <a:latin typeface="Times New Roman" panose="02020603050405020304" charset="0"/>
                  <a:ea typeface="楷体_GB2312" pitchFamily="49" charset="-122"/>
                </a:rPr>
                <a:t>   </a:t>
              </a:r>
              <a:endParaRPr lang="en-US" altLang="zh-CN" sz="2800">
                <a:solidFill>
                  <a:srgbClr val="000066"/>
                </a:solidFill>
                <a:latin typeface="Times New Roman" panose="02020603050405020304" charset="0"/>
                <a:ea typeface="楷体_GB2312" pitchFamily="49" charset="-122"/>
              </a:endParaRPr>
            </a:p>
          </p:txBody>
        </p:sp>
        <p:sp>
          <p:nvSpPr>
            <p:cNvPr id="32779" name="文本框 418827"/>
            <p:cNvSpPr txBox="1"/>
            <p:nvPr/>
          </p:nvSpPr>
          <p:spPr>
            <a:xfrm>
              <a:off x="12501" y="3500"/>
              <a:ext cx="600" cy="823"/>
            </a:xfrm>
            <a:prstGeom prst="rect">
              <a:avLst/>
            </a:prstGeom>
            <a:noFill/>
            <a:ln w="9525">
              <a:noFill/>
            </a:ln>
          </p:spPr>
          <p:txBody>
            <a:bodyPr wrap="none" anchor="t" anchorCtr="0">
              <a:spAutoFit/>
            </a:bodyPr>
            <a:p>
              <a:pPr eaLnBrk="0" hangingPunct="0"/>
              <a:r>
                <a:rPr lang="en-US" altLang="zh-CN" sz="2800" i="1">
                  <a:solidFill>
                    <a:srgbClr val="000066"/>
                  </a:solidFill>
                  <a:latin typeface="Times New Roman" panose="02020603050405020304" charset="0"/>
                  <a:ea typeface="楷体_GB2312" pitchFamily="49" charset="-122"/>
                </a:rPr>
                <a:t>Y</a:t>
              </a:r>
              <a:endParaRPr lang="en-US" altLang="zh-CN" sz="2800" i="1">
                <a:solidFill>
                  <a:srgbClr val="000066"/>
                </a:solidFill>
                <a:latin typeface="Times New Roman" panose="02020603050405020304" charset="0"/>
                <a:ea typeface="楷体_GB2312" pitchFamily="49" charset="-122"/>
              </a:endParaRPr>
            </a:p>
          </p:txBody>
        </p:sp>
        <p:sp>
          <p:nvSpPr>
            <p:cNvPr id="32776" name="直接连接符 418824"/>
            <p:cNvSpPr/>
            <p:nvPr/>
          </p:nvSpPr>
          <p:spPr>
            <a:xfrm>
              <a:off x="6579" y="7964"/>
              <a:ext cx="6746" cy="0"/>
            </a:xfrm>
            <a:prstGeom prst="line">
              <a:avLst/>
            </a:prstGeom>
            <a:ln w="38100" cap="flat" cmpd="sng">
              <a:solidFill>
                <a:schemeClr val="accent6">
                  <a:lumMod val="60000"/>
                  <a:lumOff val="40000"/>
                </a:schemeClr>
              </a:solidFill>
              <a:prstDash val="solid"/>
              <a:round/>
              <a:headEnd type="none" w="med" len="med"/>
              <a:tailEnd type="none" w="med" len="med"/>
            </a:ln>
          </p:spPr>
        </p:sp>
        <p:sp>
          <p:nvSpPr>
            <p:cNvPr id="8" name="直接连接符 418825"/>
            <p:cNvSpPr/>
            <p:nvPr/>
          </p:nvSpPr>
          <p:spPr>
            <a:xfrm>
              <a:off x="13319" y="3500"/>
              <a:ext cx="0" cy="4440"/>
            </a:xfrm>
            <a:prstGeom prst="line">
              <a:avLst/>
            </a:prstGeom>
            <a:ln w="28575" cap="flat" cmpd="sng">
              <a:solidFill>
                <a:schemeClr val="accent6">
                  <a:lumMod val="60000"/>
                  <a:lumOff val="40000"/>
                </a:schemeClr>
              </a:solidFill>
              <a:prstDash val="solid"/>
              <a:round/>
              <a:headEnd type="none" w="med" len="med"/>
              <a:tailEnd type="none" w="med" len="med"/>
            </a:ln>
          </p:spPr>
        </p:sp>
        <p:sp>
          <p:nvSpPr>
            <p:cNvPr id="32777" name="直接连接符 418825"/>
            <p:cNvSpPr/>
            <p:nvPr/>
          </p:nvSpPr>
          <p:spPr>
            <a:xfrm>
              <a:off x="8303" y="3524"/>
              <a:ext cx="0" cy="4440"/>
            </a:xfrm>
            <a:prstGeom prst="line">
              <a:avLst/>
            </a:prstGeom>
            <a:ln w="28575" cap="flat" cmpd="sng">
              <a:solidFill>
                <a:schemeClr val="accent6">
                  <a:lumMod val="60000"/>
                  <a:lumOff val="40000"/>
                </a:schemeClr>
              </a:solidFill>
              <a:prstDash val="solid"/>
              <a:round/>
              <a:headEnd type="none" w="med" len="med"/>
              <a:tailEnd type="none" w="med" len="med"/>
            </a:ln>
          </p:spPr>
        </p:sp>
        <p:sp>
          <p:nvSpPr>
            <p:cNvPr id="32775" name="直接连接符 418823"/>
            <p:cNvSpPr/>
            <p:nvPr/>
          </p:nvSpPr>
          <p:spPr>
            <a:xfrm>
              <a:off x="6579" y="4364"/>
              <a:ext cx="6746" cy="32"/>
            </a:xfrm>
            <a:prstGeom prst="line">
              <a:avLst/>
            </a:prstGeom>
            <a:ln w="28575" cap="flat" cmpd="sng">
              <a:solidFill>
                <a:schemeClr val="accent6">
                  <a:lumMod val="60000"/>
                  <a:lumOff val="40000"/>
                </a:schemeClr>
              </a:solidFill>
              <a:prstDash val="solid"/>
              <a:round/>
              <a:headEnd type="none" w="med" len="med"/>
              <a:tailEnd type="none" w="med" len="med"/>
            </a:ln>
          </p:spPr>
        </p:sp>
        <p:sp>
          <p:nvSpPr>
            <p:cNvPr id="32778" name="直接连接符 418826"/>
            <p:cNvSpPr/>
            <p:nvPr/>
          </p:nvSpPr>
          <p:spPr>
            <a:xfrm>
              <a:off x="10913" y="3524"/>
              <a:ext cx="0" cy="4440"/>
            </a:xfrm>
            <a:prstGeom prst="line">
              <a:avLst/>
            </a:prstGeom>
            <a:ln w="28575" cap="flat" cmpd="sng">
              <a:solidFill>
                <a:schemeClr val="accent6">
                  <a:lumMod val="60000"/>
                  <a:lumOff val="40000"/>
                </a:schemeClr>
              </a:solidFill>
              <a:prstDash val="solid"/>
              <a:round/>
              <a:headEnd type="none" w="med" len="med"/>
              <a:tailEnd type="none" w="med" len="med"/>
            </a:ln>
          </p:spPr>
        </p:sp>
        <p:sp>
          <p:nvSpPr>
            <p:cNvPr id="9" name="直接连接符 418825"/>
            <p:cNvSpPr/>
            <p:nvPr/>
          </p:nvSpPr>
          <p:spPr>
            <a:xfrm>
              <a:off x="6572" y="3521"/>
              <a:ext cx="0" cy="4440"/>
            </a:xfrm>
            <a:prstGeom prst="line">
              <a:avLst/>
            </a:prstGeom>
            <a:ln w="28575" cap="flat" cmpd="sng">
              <a:solidFill>
                <a:schemeClr val="accent6">
                  <a:lumMod val="60000"/>
                  <a:lumOff val="40000"/>
                </a:schemeClr>
              </a:solidFill>
              <a:prstDash val="solid"/>
              <a:round/>
              <a:headEnd type="none" w="med" len="med"/>
              <a:tailEnd type="none" w="med" len="med"/>
            </a:ln>
          </p:spPr>
        </p:sp>
        <p:sp>
          <p:nvSpPr>
            <p:cNvPr id="10" name="直接连接符 418825"/>
            <p:cNvSpPr/>
            <p:nvPr/>
          </p:nvSpPr>
          <p:spPr>
            <a:xfrm>
              <a:off x="7385" y="3500"/>
              <a:ext cx="0" cy="4440"/>
            </a:xfrm>
            <a:prstGeom prst="line">
              <a:avLst/>
            </a:prstGeom>
            <a:ln w="28575" cap="flat" cmpd="sng">
              <a:solidFill>
                <a:schemeClr val="accent6">
                  <a:lumMod val="60000"/>
                  <a:lumOff val="40000"/>
                </a:schemeClr>
              </a:solidFill>
              <a:prstDash val="solid"/>
              <a:round/>
              <a:headEnd type="none" w="med" len="med"/>
              <a:tailEnd type="none" w="med" len="med"/>
            </a:ln>
          </p:spPr>
        </p:sp>
        <p:sp>
          <p:nvSpPr>
            <p:cNvPr id="11" name="直接连接符 418825"/>
            <p:cNvSpPr/>
            <p:nvPr/>
          </p:nvSpPr>
          <p:spPr>
            <a:xfrm>
              <a:off x="9545" y="3500"/>
              <a:ext cx="0" cy="4440"/>
            </a:xfrm>
            <a:prstGeom prst="line">
              <a:avLst/>
            </a:prstGeom>
            <a:ln w="28575" cap="flat" cmpd="sng">
              <a:solidFill>
                <a:schemeClr val="accent6">
                  <a:lumMod val="60000"/>
                  <a:lumOff val="40000"/>
                </a:schemeClr>
              </a:solidFill>
              <a:prstDash val="solid"/>
              <a:round/>
              <a:headEnd type="none" w="med" len="med"/>
              <a:tailEnd type="none" w="med" len="med"/>
            </a:ln>
          </p:spPr>
        </p:sp>
        <p:cxnSp>
          <p:nvCxnSpPr>
            <p:cNvPr id="12" name="直接连接符 11"/>
            <p:cNvCxnSpPr/>
            <p:nvPr/>
          </p:nvCxnSpPr>
          <p:spPr>
            <a:xfrm>
              <a:off x="6567" y="5300"/>
              <a:ext cx="6746" cy="0"/>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6571" y="6210"/>
              <a:ext cx="6746" cy="0"/>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6567" y="7100"/>
              <a:ext cx="6746" cy="0"/>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2774" name="直接连接符 418822"/>
            <p:cNvSpPr/>
            <p:nvPr/>
          </p:nvSpPr>
          <p:spPr>
            <a:xfrm>
              <a:off x="6600" y="3480"/>
              <a:ext cx="6746" cy="32"/>
            </a:xfrm>
            <a:prstGeom prst="line">
              <a:avLst/>
            </a:prstGeom>
            <a:ln w="38100" cap="flat" cmpd="sng">
              <a:solidFill>
                <a:schemeClr val="accent6">
                  <a:lumMod val="60000"/>
                  <a:lumOff val="40000"/>
                </a:schemeClr>
              </a:solidFill>
              <a:prstDash val="solid"/>
              <a:round/>
              <a:headEnd type="none" w="med" len="med"/>
              <a:tailEnd type="none" w="med" len="med"/>
            </a:ln>
          </p:spPr>
        </p:sp>
        <p:sp>
          <p:nvSpPr>
            <p:cNvPr id="14" name="直接连接符 418826"/>
            <p:cNvSpPr/>
            <p:nvPr/>
          </p:nvSpPr>
          <p:spPr>
            <a:xfrm>
              <a:off x="12193" y="3538"/>
              <a:ext cx="0" cy="4440"/>
            </a:xfrm>
            <a:prstGeom prst="line">
              <a:avLst/>
            </a:prstGeom>
            <a:ln w="28575" cap="flat" cmpd="sng">
              <a:solidFill>
                <a:schemeClr val="accent6">
                  <a:lumMod val="60000"/>
                  <a:lumOff val="40000"/>
                </a:schemeClr>
              </a:solidFill>
              <a:prstDash val="solid"/>
              <a:roun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up)">
                                      <p:cBhvr>
                                        <p:cTn id="13" dur="50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1000"/>
                                        <p:tgtEl>
                                          <p:spTgt spid="22"/>
                                        </p:tgtEl>
                                      </p:cBhvr>
                                    </p:animEffect>
                                    <p:anim calcmode="lin" valueType="num">
                                      <p:cBhvr>
                                        <p:cTn id="19" dur="1000" fill="hold"/>
                                        <p:tgtEl>
                                          <p:spTgt spid="22"/>
                                        </p:tgtEl>
                                        <p:attrNameLst>
                                          <p:attrName>ppt_x</p:attrName>
                                        </p:attrNameLst>
                                      </p:cBhvr>
                                      <p:tavLst>
                                        <p:tav tm="0">
                                          <p:val>
                                            <p:strVal val="#ppt_x"/>
                                          </p:val>
                                        </p:tav>
                                        <p:tav tm="100000">
                                          <p:val>
                                            <p:strVal val="#ppt_x"/>
                                          </p:val>
                                        </p:tav>
                                      </p:tavLst>
                                    </p:anim>
                                    <p:anim calcmode="lin" valueType="num">
                                      <p:cBhvr>
                                        <p:cTn id="20"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wipe(up)">
                                      <p:cBhvr>
                                        <p:cTn id="25" dur="500"/>
                                        <p:tgtEl>
                                          <p:spTgt spid="2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wipe(up)">
                                      <p:cBhvr>
                                        <p:cTn id="30" dur="500"/>
                                        <p:tgtEl>
                                          <p:spTgt spid="3"/>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6"/>
                                        </p:tgtEl>
                                        <p:attrNameLst>
                                          <p:attrName>style.visibility</p:attrName>
                                        </p:attrNameLst>
                                      </p:cBhvr>
                                      <p:to>
                                        <p:strVal val="visible"/>
                                      </p:to>
                                    </p:set>
                                    <p:anim calcmode="lin" valueType="num">
                                      <p:cBhvr additive="base">
                                        <p:cTn id="35" dur="500" fill="hold"/>
                                        <p:tgtEl>
                                          <p:spTgt spid="36"/>
                                        </p:tgtEl>
                                        <p:attrNameLst>
                                          <p:attrName>ppt_x</p:attrName>
                                        </p:attrNameLst>
                                      </p:cBhvr>
                                      <p:tavLst>
                                        <p:tav tm="0">
                                          <p:val>
                                            <p:strVal val="#ppt_x"/>
                                          </p:val>
                                        </p:tav>
                                        <p:tav tm="100000">
                                          <p:val>
                                            <p:strVal val="#ppt_x"/>
                                          </p:val>
                                        </p:tav>
                                      </p:tavLst>
                                    </p:anim>
                                    <p:anim calcmode="lin" valueType="num">
                                      <p:cBhvr additive="base">
                                        <p:cTn id="36"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grpId="0" nodeType="click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barn(inVertical)">
                                      <p:cBhvr>
                                        <p:cTn id="41" dur="500"/>
                                        <p:tgtEl>
                                          <p:spTgt spid="29"/>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2" fill="hold" grpId="0" nodeType="click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wipe(right)">
                                      <p:cBhvr>
                                        <p:cTn id="46" dur="500"/>
                                        <p:tgtEl>
                                          <p:spTgt spid="2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2" fill="hold" grpId="0" nodeType="clickEffect">
                                  <p:stCondLst>
                                    <p:cond delay="0"/>
                                  </p:stCondLst>
                                  <p:childTnLst>
                                    <p:set>
                                      <p:cBhvr>
                                        <p:cTn id="50" dur="1" fill="hold">
                                          <p:stCondLst>
                                            <p:cond delay="0"/>
                                          </p:stCondLst>
                                        </p:cTn>
                                        <p:tgtEl>
                                          <p:spTgt spid="2"/>
                                        </p:tgtEl>
                                        <p:attrNameLst>
                                          <p:attrName>style.visibility</p:attrName>
                                        </p:attrNameLst>
                                      </p:cBhvr>
                                      <p:to>
                                        <p:strVal val="visible"/>
                                      </p:to>
                                    </p:set>
                                    <p:animEffect transition="in" filter="wipe(right)">
                                      <p:cBhvr>
                                        <p:cTn id="51" dur="500"/>
                                        <p:tgtEl>
                                          <p:spTgt spid="2"/>
                                        </p:tgtEl>
                                      </p:cBhvr>
                                    </p:animEffect>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37"/>
                                        </p:tgtEl>
                                        <p:attrNameLst>
                                          <p:attrName>style.visibility</p:attrName>
                                        </p:attrNameLst>
                                      </p:cBhvr>
                                      <p:to>
                                        <p:strVal val="visible"/>
                                      </p:to>
                                    </p:set>
                                    <p:anim calcmode="lin" valueType="num">
                                      <p:cBhvr additive="base">
                                        <p:cTn id="56" dur="500" fill="hold"/>
                                        <p:tgtEl>
                                          <p:spTgt spid="37"/>
                                        </p:tgtEl>
                                        <p:attrNameLst>
                                          <p:attrName>ppt_x</p:attrName>
                                        </p:attrNameLst>
                                      </p:cBhvr>
                                      <p:tavLst>
                                        <p:tav tm="0">
                                          <p:val>
                                            <p:strVal val="#ppt_x"/>
                                          </p:val>
                                        </p:tav>
                                        <p:tav tm="100000">
                                          <p:val>
                                            <p:strVal val="#ppt_x"/>
                                          </p:val>
                                        </p:tav>
                                      </p:tavLst>
                                    </p:anim>
                                    <p:anim calcmode="lin" valueType="num">
                                      <p:cBhvr additive="base">
                                        <p:cTn id="57"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1" presetClass="entr" presetSubtype="1" fill="hold" grpId="0" nodeType="clickEffect">
                                  <p:stCondLst>
                                    <p:cond delay="0"/>
                                  </p:stCondLst>
                                  <p:childTnLst>
                                    <p:set>
                                      <p:cBhvr>
                                        <p:cTn id="61" dur="500" fill="hold">
                                          <p:stCondLst>
                                            <p:cond delay="0"/>
                                          </p:stCondLst>
                                        </p:cTn>
                                        <p:tgtEl>
                                          <p:spTgt spid="32"/>
                                        </p:tgtEl>
                                        <p:attrNameLst>
                                          <p:attrName>style.visibility</p:attrName>
                                        </p:attrNameLst>
                                      </p:cBhvr>
                                      <p:to>
                                        <p:strVal val="visible"/>
                                      </p:to>
                                    </p:set>
                                    <p:animEffect transition="in" filter="wheel(1)">
                                      <p:cBhvr>
                                        <p:cTn id="62" dur="500"/>
                                        <p:tgtEl>
                                          <p:spTgt spid="32"/>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21" fill="hold" grpId="0" nodeType="clickEffect">
                                  <p:stCondLst>
                                    <p:cond delay="0"/>
                                  </p:stCondLst>
                                  <p:childTnLst>
                                    <p:set>
                                      <p:cBhvr>
                                        <p:cTn id="66" dur="1" fill="hold">
                                          <p:stCondLst>
                                            <p:cond delay="0"/>
                                          </p:stCondLst>
                                        </p:cTn>
                                        <p:tgtEl>
                                          <p:spTgt spid="34"/>
                                        </p:tgtEl>
                                        <p:attrNameLst>
                                          <p:attrName>style.visibility</p:attrName>
                                        </p:attrNameLst>
                                      </p:cBhvr>
                                      <p:to>
                                        <p:strVal val="visible"/>
                                      </p:to>
                                    </p:set>
                                    <p:animEffect transition="in" filter="barn(inVertical)">
                                      <p:cBhvr>
                                        <p:cTn id="67" dur="500"/>
                                        <p:tgtEl>
                                          <p:spTgt spid="34"/>
                                        </p:tgtEl>
                                      </p:cBhvr>
                                    </p:animEffect>
                                  </p:childTnLst>
                                </p:cTn>
                              </p:par>
                            </p:childTnLst>
                          </p:cTn>
                        </p:par>
                      </p:childTnLst>
                    </p:cTn>
                  </p:par>
                  <p:par>
                    <p:cTn id="68" fill="hold">
                      <p:stCondLst>
                        <p:cond delay="indefinite"/>
                      </p:stCondLst>
                      <p:childTnLst>
                        <p:par>
                          <p:cTn id="69" fill="hold">
                            <p:stCondLst>
                              <p:cond delay="0"/>
                            </p:stCondLst>
                            <p:childTnLst>
                              <p:par>
                                <p:cTn id="70" presetID="16" presetClass="entr" presetSubtype="21" fill="hold" grpId="0" nodeType="clickEffect">
                                  <p:stCondLst>
                                    <p:cond delay="0"/>
                                  </p:stCondLst>
                                  <p:childTnLst>
                                    <p:set>
                                      <p:cBhvr>
                                        <p:cTn id="71" dur="1" fill="hold">
                                          <p:stCondLst>
                                            <p:cond delay="0"/>
                                          </p:stCondLst>
                                        </p:cTn>
                                        <p:tgtEl>
                                          <p:spTgt spid="6"/>
                                        </p:tgtEl>
                                        <p:attrNameLst>
                                          <p:attrName>style.visibility</p:attrName>
                                        </p:attrNameLst>
                                      </p:cBhvr>
                                      <p:to>
                                        <p:strVal val="visible"/>
                                      </p:to>
                                    </p:set>
                                    <p:animEffect transition="in" filter="barn(inVertical)">
                                      <p:cBhvr>
                                        <p:cTn id="72" dur="500"/>
                                        <p:tgtEl>
                                          <p:spTgt spid="6"/>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16" fill="hold" grpId="0" nodeType="clickEffect">
                                  <p:stCondLst>
                                    <p:cond delay="0"/>
                                  </p:stCondLst>
                                  <p:childTnLst>
                                    <p:set>
                                      <p:cBhvr>
                                        <p:cTn id="76" dur="1" fill="hold">
                                          <p:stCondLst>
                                            <p:cond delay="0"/>
                                          </p:stCondLst>
                                        </p:cTn>
                                        <p:tgtEl>
                                          <p:spTgt spid="38"/>
                                        </p:tgtEl>
                                        <p:attrNameLst>
                                          <p:attrName>style.visibility</p:attrName>
                                        </p:attrNameLst>
                                      </p:cBhvr>
                                      <p:to>
                                        <p:strVal val="visible"/>
                                      </p:to>
                                    </p:set>
                                    <p:anim calcmode="lin" valueType="num">
                                      <p:cBhvr>
                                        <p:cTn id="77" dur="500" fill="hold"/>
                                        <p:tgtEl>
                                          <p:spTgt spid="38"/>
                                        </p:tgtEl>
                                        <p:attrNameLst>
                                          <p:attrName>ppt_w</p:attrName>
                                        </p:attrNameLst>
                                      </p:cBhvr>
                                      <p:tavLst>
                                        <p:tav tm="0">
                                          <p:val>
                                            <p:fltVal val="0.000000"/>
                                          </p:val>
                                        </p:tav>
                                        <p:tav tm="100000">
                                          <p:val>
                                            <p:strVal val="#ppt_w"/>
                                          </p:val>
                                        </p:tav>
                                      </p:tavLst>
                                    </p:anim>
                                    <p:anim calcmode="lin" valueType="num">
                                      <p:cBhvr>
                                        <p:cTn id="78" dur="500" fill="hold"/>
                                        <p:tgtEl>
                                          <p:spTgt spid="38"/>
                                        </p:tgtEl>
                                        <p:attrNameLst>
                                          <p:attrName>ppt_h</p:attrName>
                                        </p:attrNameLst>
                                      </p:cBhvr>
                                      <p:tavLst>
                                        <p:tav tm="0">
                                          <p:val>
                                            <p:fltVal val="0.000000"/>
                                          </p:val>
                                        </p:tav>
                                        <p:tav tm="100000">
                                          <p:val>
                                            <p:strVal val="#ppt_h"/>
                                          </p:val>
                                        </p:tav>
                                      </p:tavLst>
                                    </p:anim>
                                    <p:animEffect transition="in" filter="fade">
                                      <p:cBhvr>
                                        <p:cTn id="79" dur="500"/>
                                        <p:tgtEl>
                                          <p:spTgt spid="38"/>
                                        </p:tgtEl>
                                      </p:cBhvr>
                                    </p:animEffect>
                                  </p:childTnLst>
                                </p:cTn>
                              </p:par>
                            </p:childTnLst>
                          </p:cTn>
                        </p:par>
                      </p:childTnLst>
                    </p:cTn>
                  </p:par>
                  <p:par>
                    <p:cTn id="80" fill="hold">
                      <p:stCondLst>
                        <p:cond delay="indefinite"/>
                      </p:stCondLst>
                      <p:childTnLst>
                        <p:par>
                          <p:cTn id="81" fill="hold">
                            <p:stCondLst>
                              <p:cond delay="0"/>
                            </p:stCondLst>
                            <p:childTnLst>
                              <p:par>
                                <p:cTn id="82" presetID="9" presetClass="entr" presetSubtype="0" fill="hold" grpId="0" nodeType="clickEffect">
                                  <p:stCondLst>
                                    <p:cond delay="0"/>
                                  </p:stCondLst>
                                  <p:childTnLst>
                                    <p:set>
                                      <p:cBhvr>
                                        <p:cTn id="83" dur="1" fill="hold">
                                          <p:stCondLst>
                                            <p:cond delay="0"/>
                                          </p:stCondLst>
                                        </p:cTn>
                                        <p:tgtEl>
                                          <p:spTgt spid="33911"/>
                                        </p:tgtEl>
                                        <p:attrNameLst>
                                          <p:attrName>style.visibility</p:attrName>
                                        </p:attrNameLst>
                                      </p:cBhvr>
                                      <p:to>
                                        <p:strVal val="visible"/>
                                      </p:to>
                                    </p:set>
                                    <p:animEffect transition="in" filter="dissolve">
                                      <p:cBhvr>
                                        <p:cTn id="84" dur="500"/>
                                        <p:tgtEl>
                                          <p:spTgt spid="33911"/>
                                        </p:tgtEl>
                                      </p:cBhvr>
                                    </p:animEffect>
                                  </p:childTnLst>
                                </p:cTn>
                              </p:par>
                            </p:childTnLst>
                          </p:cTn>
                        </p:par>
                      </p:childTnLst>
                    </p:cTn>
                  </p:par>
                  <p:par>
                    <p:cTn id="85" fill="hold">
                      <p:stCondLst>
                        <p:cond delay="indefinite"/>
                      </p:stCondLst>
                      <p:childTnLst>
                        <p:par>
                          <p:cTn id="86" fill="hold">
                            <p:stCondLst>
                              <p:cond delay="0"/>
                            </p:stCondLst>
                            <p:childTnLst>
                              <p:par>
                                <p:cTn id="87" presetID="3" presetClass="entr" presetSubtype="10" fill="hold" grpId="0" nodeType="clickEffect">
                                  <p:stCondLst>
                                    <p:cond delay="0"/>
                                  </p:stCondLst>
                                  <p:childTnLst>
                                    <p:set>
                                      <p:cBhvr>
                                        <p:cTn id="88" dur="1" fill="hold">
                                          <p:stCondLst>
                                            <p:cond delay="0"/>
                                          </p:stCondLst>
                                        </p:cTn>
                                        <p:tgtEl>
                                          <p:spTgt spid="33909"/>
                                        </p:tgtEl>
                                        <p:attrNameLst>
                                          <p:attrName>style.visibility</p:attrName>
                                        </p:attrNameLst>
                                      </p:cBhvr>
                                      <p:to>
                                        <p:strVal val="visible"/>
                                      </p:to>
                                    </p:set>
                                    <p:animEffect transition="in" filter="blinds(horizontal)">
                                      <p:cBhvr>
                                        <p:cTn id="89" dur="500"/>
                                        <p:tgtEl>
                                          <p:spTgt spid="33909"/>
                                        </p:tgtEl>
                                      </p:cBhvr>
                                    </p:animEffect>
                                  </p:childTnLst>
                                </p:cTn>
                              </p:par>
                            </p:childTnLst>
                          </p:cTn>
                        </p:par>
                      </p:childTnLst>
                    </p:cTn>
                  </p:par>
                  <p:par>
                    <p:cTn id="90" fill="hold">
                      <p:stCondLst>
                        <p:cond delay="indefinite"/>
                      </p:stCondLst>
                      <p:childTnLst>
                        <p:par>
                          <p:cTn id="91" fill="hold">
                            <p:stCondLst>
                              <p:cond delay="0"/>
                            </p:stCondLst>
                            <p:childTnLst>
                              <p:par>
                                <p:cTn id="92" presetID="3" presetClass="entr" presetSubtype="10" fill="hold" grpId="0" nodeType="clickEffect">
                                  <p:stCondLst>
                                    <p:cond delay="0"/>
                                  </p:stCondLst>
                                  <p:childTnLst>
                                    <p:set>
                                      <p:cBhvr>
                                        <p:cTn id="93" dur="1" fill="hold">
                                          <p:stCondLst>
                                            <p:cond delay="0"/>
                                          </p:stCondLst>
                                        </p:cTn>
                                        <p:tgtEl>
                                          <p:spTgt spid="7"/>
                                        </p:tgtEl>
                                        <p:attrNameLst>
                                          <p:attrName>style.visibility</p:attrName>
                                        </p:attrNameLst>
                                      </p:cBhvr>
                                      <p:to>
                                        <p:strVal val="visible"/>
                                      </p:to>
                                    </p:set>
                                    <p:animEffect transition="in" filter="blinds(horizontal)">
                                      <p:cBhvr>
                                        <p:cTn id="94" dur="500"/>
                                        <p:tgtEl>
                                          <p:spTgt spid="7"/>
                                        </p:tgtEl>
                                      </p:cBhvr>
                                    </p:animEffect>
                                  </p:childTnLst>
                                </p:cTn>
                              </p:par>
                            </p:childTnLst>
                          </p:cTn>
                        </p:par>
                      </p:childTnLst>
                    </p:cTn>
                  </p:par>
                  <p:par>
                    <p:cTn id="95" fill="hold">
                      <p:stCondLst>
                        <p:cond delay="indefinite"/>
                      </p:stCondLst>
                      <p:childTnLst>
                        <p:par>
                          <p:cTn id="96" fill="hold">
                            <p:stCondLst>
                              <p:cond delay="0"/>
                            </p:stCondLst>
                            <p:childTnLst>
                              <p:par>
                                <p:cTn id="97" presetID="2" presetClass="entr" presetSubtype="4" fill="hold" grpId="0" nodeType="clickEffect">
                                  <p:stCondLst>
                                    <p:cond delay="0"/>
                                  </p:stCondLst>
                                  <p:childTnLst>
                                    <p:set>
                                      <p:cBhvr>
                                        <p:cTn id="98" dur="1" fill="hold">
                                          <p:stCondLst>
                                            <p:cond delay="0"/>
                                          </p:stCondLst>
                                        </p:cTn>
                                        <p:tgtEl>
                                          <p:spTgt spid="39"/>
                                        </p:tgtEl>
                                        <p:attrNameLst>
                                          <p:attrName>style.visibility</p:attrName>
                                        </p:attrNameLst>
                                      </p:cBhvr>
                                      <p:to>
                                        <p:strVal val="visible"/>
                                      </p:to>
                                    </p:set>
                                    <p:anim calcmode="lin" valueType="num">
                                      <p:cBhvr additive="base">
                                        <p:cTn id="99" dur="500" fill="hold"/>
                                        <p:tgtEl>
                                          <p:spTgt spid="39"/>
                                        </p:tgtEl>
                                        <p:attrNameLst>
                                          <p:attrName>ppt_x</p:attrName>
                                        </p:attrNameLst>
                                      </p:cBhvr>
                                      <p:tavLst>
                                        <p:tav tm="0">
                                          <p:val>
                                            <p:strVal val="#ppt_x"/>
                                          </p:val>
                                        </p:tav>
                                        <p:tav tm="100000">
                                          <p:val>
                                            <p:strVal val="#ppt_x"/>
                                          </p:val>
                                        </p:tav>
                                      </p:tavLst>
                                    </p:anim>
                                    <p:anim calcmode="lin" valueType="num">
                                      <p:cBhvr additive="base">
                                        <p:cTn id="100"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P spid="38" grpId="0"/>
      <p:bldP spid="39" grpId="0"/>
      <p:bldP spid="22" grpId="0"/>
      <p:bldP spid="23" grpId="0"/>
      <p:bldP spid="27" grpId="0"/>
      <p:bldP spid="32" grpId="0"/>
      <p:bldP spid="34" grpId="0"/>
      <p:bldP spid="33911" grpId="0"/>
      <p:bldP spid="33909" grpId="0"/>
      <p:bldP spid="29" grpId="0"/>
      <p:bldP spid="3" grpId="0"/>
      <p:bldP spid="2" grpId="0"/>
      <p:bldP spid="6" grpId="0"/>
      <p:bldP spid="7" grpId="0"/>
    </p:bldLst>
  </p:timing>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2" name="文本框 41"/>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6" name="Rectangle 2"/>
          <p:cNvSpPr>
            <a:spLocks noGrp="1"/>
          </p:cNvSpPr>
          <p:nvPr>
            <p:ph type="title"/>
          </p:nvPr>
        </p:nvSpPr>
        <p:spPr>
          <a:xfrm>
            <a:off x="491490" y="132080"/>
            <a:ext cx="7359015"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3.3.8 </a:t>
            </a:r>
            <a:r>
              <a:rPr lang="zh-CN" altLang="en-US" sz="2800" i="0" dirty="0">
                <a:solidFill>
                  <a:srgbClr val="0070C0"/>
                </a:solidFill>
                <a:latin typeface="黑体" panose="02010609060101010101" pitchFamily="49" charset="-122"/>
                <a:ea typeface="黑体" panose="02010609060101010101" pitchFamily="49" charset="-122"/>
              </a:rPr>
              <a:t>CMOS 逻辑门使用注意事项</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7" name="Rectangle 3"/>
          <p:cNvSpPr>
            <a:spLocks noGrp="1"/>
          </p:cNvSpPr>
          <p:nvPr>
            <p:ph idx="1"/>
          </p:nvPr>
        </p:nvSpPr>
        <p:spPr>
          <a:xfrm>
            <a:off x="457200" y="685800"/>
            <a:ext cx="8184515" cy="1601470"/>
          </a:xfrm>
        </p:spPr>
        <p:txBody>
          <a:bodyPr vert="horz" wrap="square" lIns="91440" tIns="45720" rIns="91440" bIns="45720" anchor="t" anchorCtr="0"/>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en-US" sz="2400" b="1" kern="1200" dirty="0">
                <a:solidFill>
                  <a:srgbClr val="FE09D6"/>
                </a:solidFill>
                <a:latin typeface="Times New Roman" panose="02020603050405020304" charset="0"/>
                <a:ea typeface="楷体_GB2312" pitchFamily="49" charset="-122"/>
                <a:cs typeface="Times New Roman" panose="02020603050405020304" charset="0"/>
              </a:rPr>
              <a:t>1. 电源电压</a:t>
            </a:r>
            <a:endParaRPr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en-US" sz="2400" b="1" kern="1200" dirty="0">
                <a:solidFill>
                  <a:srgbClr val="000066"/>
                </a:solidFill>
                <a:ea typeface="楷体_GB2312" pitchFamily="49" charset="-122"/>
              </a:rPr>
              <a:t>      </a:t>
            </a:r>
            <a:r>
              <a:rPr sz="2400" b="1" kern="1200" dirty="0">
                <a:solidFill>
                  <a:srgbClr val="000066"/>
                </a:solidFill>
                <a:ea typeface="楷体_GB2312" pitchFamily="49" charset="-122"/>
              </a:rPr>
              <a:t>CMOS电路电源电压的极性不能接反，且电压不允许超过其极限值。工作时，应先接通直流电源，再接信号源。结束时，应先关信号源，再关直流电源。</a:t>
            </a:r>
            <a:endParaRPr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en-US" sz="2400" b="1" kern="1200" dirty="0">
                <a:solidFill>
                  <a:srgbClr val="000066"/>
                </a:solidFill>
                <a:ea typeface="楷体_GB2312" pitchFamily="49" charset="-122"/>
              </a:rPr>
              <a:t>  </a:t>
            </a:r>
            <a:endParaRPr sz="2400" b="1" kern="1200" dirty="0">
              <a:solidFill>
                <a:srgbClr val="000066"/>
              </a:solidFill>
              <a:ea typeface="楷体_GB2312" pitchFamily="49" charset="-122"/>
            </a:endParaRPr>
          </a:p>
        </p:txBody>
      </p:sp>
      <p:sp>
        <p:nvSpPr>
          <p:cNvPr id="2" name="Rectangle 3"/>
          <p:cNvSpPr>
            <a:spLocks noGrp="1"/>
          </p:cNvSpPr>
          <p:nvPr/>
        </p:nvSpPr>
        <p:spPr>
          <a:xfrm>
            <a:off x="457200" y="2286000"/>
            <a:ext cx="8184515" cy="199961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05000"/>
              </a:lnSpc>
              <a:spcBef>
                <a:spcPts val="0"/>
              </a:spcBef>
              <a:buNone/>
            </a:pPr>
            <a:r>
              <a:rPr lang="en-US" sz="2400" b="1" kern="1200" dirty="0">
                <a:solidFill>
                  <a:srgbClr val="000066"/>
                </a:solidFill>
                <a:ea typeface="楷体_GB2312" pitchFamily="49" charset="-122"/>
              </a:rPr>
              <a:t>      </a:t>
            </a:r>
            <a:r>
              <a:rPr lang="en-US" sz="2400" b="1" kern="1200" dirty="0">
                <a:solidFill>
                  <a:srgbClr val="FE09D6"/>
                </a:solidFill>
                <a:latin typeface="Times New Roman" panose="02020603050405020304" charset="0"/>
                <a:ea typeface="楷体_GB2312" pitchFamily="49" charset="-122"/>
                <a:cs typeface="Times New Roman" panose="02020603050405020304" charset="0"/>
              </a:rPr>
              <a:t>2. 多余输入端的处理</a:t>
            </a:r>
            <a:endParaRPr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en-US" sz="2400" b="1" kern="1200" dirty="0">
                <a:solidFill>
                  <a:srgbClr val="000066"/>
                </a:solidFill>
                <a:ea typeface="楷体_GB2312" pitchFamily="49" charset="-122"/>
              </a:rPr>
              <a:t>     </a:t>
            </a:r>
            <a:r>
              <a:rPr sz="2400" b="1" kern="1200" dirty="0">
                <a:solidFill>
                  <a:srgbClr val="000066"/>
                </a:solidFill>
                <a:ea typeface="楷体_GB2312" pitchFamily="49" charset="-122"/>
              </a:rPr>
              <a:t>多余输入端不允许悬空，且应以不改变电路的逻辑状态为原则，将其接入正电源 (高电平)或者接地 (低电平)。工作速度较</a:t>
            </a:r>
            <a:r>
              <a:rPr lang="zh-CN" sz="2400" b="1" kern="1200" dirty="0">
                <a:solidFill>
                  <a:srgbClr val="000066"/>
                </a:solidFill>
                <a:ea typeface="楷体_GB2312" pitchFamily="49" charset="-122"/>
              </a:rPr>
              <a:t>快</a:t>
            </a:r>
            <a:r>
              <a:rPr sz="2400" b="1" kern="1200" dirty="0">
                <a:solidFill>
                  <a:srgbClr val="000066"/>
                </a:solidFill>
                <a:ea typeface="楷体_GB2312" pitchFamily="49" charset="-122"/>
              </a:rPr>
              <a:t>时，输入端不允许并联使用，这样会导致输入电容增大。</a:t>
            </a:r>
            <a:endParaRPr sz="2400" b="1" kern="1200" dirty="0">
              <a:solidFill>
                <a:srgbClr val="000066"/>
              </a:solidFill>
              <a:ea typeface="楷体_GB2312" pitchFamily="49" charset="-122"/>
            </a:endParaRPr>
          </a:p>
        </p:txBody>
      </p:sp>
      <p:sp>
        <p:nvSpPr>
          <p:cNvPr id="3" name="Rectangle 3"/>
          <p:cNvSpPr>
            <a:spLocks noGrp="1"/>
          </p:cNvSpPr>
          <p:nvPr/>
        </p:nvSpPr>
        <p:spPr>
          <a:xfrm>
            <a:off x="457200" y="4267200"/>
            <a:ext cx="8184515" cy="230124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05000"/>
              </a:lnSpc>
              <a:spcBef>
                <a:spcPts val="0"/>
              </a:spcBef>
              <a:buNone/>
            </a:pPr>
            <a:r>
              <a:rPr lang="en-US" sz="2400" b="1" kern="1200" dirty="0">
                <a:solidFill>
                  <a:srgbClr val="000066"/>
                </a:solidFill>
                <a:ea typeface="楷体_GB2312" pitchFamily="49" charset="-122"/>
              </a:rPr>
              <a:t>      </a:t>
            </a:r>
            <a:r>
              <a:rPr lang="en-US" sz="2400" b="1" kern="1200" dirty="0">
                <a:solidFill>
                  <a:srgbClr val="FE09D6"/>
                </a:solidFill>
                <a:latin typeface="Times New Roman" panose="02020603050405020304" charset="0"/>
                <a:ea typeface="楷体_GB2312" pitchFamily="49" charset="-122"/>
                <a:cs typeface="Times New Roman" panose="02020603050405020304" charset="0"/>
              </a:rPr>
              <a:t>3. 输出端的连接</a:t>
            </a:r>
            <a:endParaRPr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en-US" sz="2400" b="1" kern="1200" dirty="0">
                <a:solidFill>
                  <a:srgbClr val="000066"/>
                </a:solidFill>
                <a:ea typeface="楷体_GB2312" pitchFamily="49" charset="-122"/>
              </a:rPr>
              <a:t>      </a:t>
            </a:r>
            <a:r>
              <a:rPr sz="2400" b="1" kern="1200" dirty="0">
                <a:solidFill>
                  <a:srgbClr val="000066"/>
                </a:solidFill>
                <a:ea typeface="楷体_GB2312" pitchFamily="49" charset="-122"/>
              </a:rPr>
              <a:t>输出端不允许直接与电源或地相连</a:t>
            </a:r>
            <a:r>
              <a:rPr lang="zh-CN" sz="2400" b="1" kern="1200" dirty="0">
                <a:solidFill>
                  <a:srgbClr val="000066"/>
                </a:solidFill>
                <a:ea typeface="楷体_GB2312" pitchFamily="49" charset="-122"/>
              </a:rPr>
              <a:t>，</a:t>
            </a:r>
            <a:r>
              <a:rPr sz="2400" b="1" kern="1200" dirty="0">
                <a:solidFill>
                  <a:srgbClr val="000066"/>
                </a:solidFill>
                <a:ea typeface="楷体_GB2312" pitchFamily="49" charset="-122"/>
              </a:rPr>
              <a:t>因为COMS电路的输出级通常为NMOS和PMOS构成的反相器，直接接电源或地会造成过大的电流流过NMOS或PMOS而损坏。漏极开路的门电路输出端可以连接在一起，但输出端需要接正电源和上拉电阻。</a:t>
            </a:r>
            <a:endParaRPr sz="2400" b="1" kern="1200" dirty="0">
              <a:solidFill>
                <a:srgbClr val="000066"/>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3"/>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48" presetClass="entr" presetSubtype="0" accel="5000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1000" fill="hold"/>
                                        <p:tgtEl>
                                          <p:spTgt spid="3"/>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5" dur="1000" fill="hold"/>
                                        <p:tgtEl>
                                          <p:spTgt spid="3"/>
                                        </p:tgtEl>
                                        <p:attrNameLst>
                                          <p:attrName>ppt_x</p:attrName>
                                        </p:attrNameLst>
                                      </p:cBhvr>
                                      <p:tavLst>
                                        <p:tav tm="0">
                                          <p:val>
                                            <p:fltVal val="-1"/>
                                          </p:val>
                                        </p:tav>
                                        <p:tav tm="50000">
                                          <p:val>
                                            <p:fltVal val="0.95"/>
                                          </p:val>
                                        </p:tav>
                                        <p:tav tm="100000">
                                          <p:val>
                                            <p:strVal val="#ppt_x"/>
                                          </p:val>
                                        </p:tav>
                                      </p:tavLst>
                                    </p:anim>
                                    <p:anim calcmode="lin" valueType="num">
                                      <p:cBhvr>
                                        <p:cTn id="16" dur="1000" fill="hold"/>
                                        <p:tgtEl>
                                          <p:spTgt spid="3"/>
                                        </p:tgtEl>
                                        <p:attrNameLst>
                                          <p:attrName>ppt_y</p:attrName>
                                        </p:attrNameLst>
                                      </p:cBhvr>
                                      <p:tavLst>
                                        <p:tav tm="0">
                                          <p:val>
                                            <p:strVal val="#ppt_y"/>
                                          </p:val>
                                        </p:tav>
                                        <p:tav tm="100000">
                                          <p:val>
                                            <p:strVal val="#ppt_y"/>
                                          </p:val>
                                        </p:tav>
                                      </p:tavLst>
                                    </p:anim>
                                    <p:animEffect transition="in" filter="fade">
                                      <p:cBhvr>
                                        <p:cTn id="1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 name="文本框 41"/>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6" name="Rectangle 2"/>
          <p:cNvSpPr>
            <a:spLocks noGrp="1"/>
          </p:cNvSpPr>
          <p:nvPr>
            <p:ph type="title"/>
          </p:nvPr>
        </p:nvSpPr>
        <p:spPr>
          <a:xfrm>
            <a:off x="491490" y="1198880"/>
            <a:ext cx="542798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3.4.1 </a:t>
            </a:r>
            <a:r>
              <a:rPr lang="zh-CN" altLang="en-US" sz="2800" i="0" dirty="0">
                <a:solidFill>
                  <a:srgbClr val="0070C0"/>
                </a:solidFill>
                <a:latin typeface="黑体" panose="02010609060101010101" pitchFamily="49" charset="-122"/>
                <a:ea typeface="黑体" panose="02010609060101010101" pitchFamily="49" charset="-122"/>
              </a:rPr>
              <a:t>正负逻辑之间的等效关系</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122045" y="533400"/>
            <a:ext cx="724281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3.4 </a:t>
            </a:r>
            <a:r>
              <a:rPr b="1" dirty="0">
                <a:solidFill>
                  <a:srgbClr val="FF0000"/>
                </a:solidFill>
                <a:latin typeface="黑体" panose="02010609060101010101" pitchFamily="49" charset="-122"/>
                <a:ea typeface="黑体" panose="02010609060101010101" pitchFamily="49" charset="-122"/>
              </a:rPr>
              <a:t>逻辑描述及逻辑门符号的等效变换</a:t>
            </a:r>
            <a:endParaRPr b="1" dirty="0">
              <a:solidFill>
                <a:srgbClr val="FF000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457200" y="1752600"/>
            <a:ext cx="8184515" cy="2042795"/>
          </a:xfrm>
        </p:spPr>
        <p:txBody>
          <a:bodyPr vert="horz" wrap="square" lIns="91440" tIns="45720" rIns="91440" bIns="45720" anchor="t" anchorCtr="0"/>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ea typeface="楷体_GB2312" pitchFamily="49" charset="-122"/>
              </a:rPr>
              <a:t>用高电平H表示逻辑1，用低电平L表示逻辑0，这种表示方法称为正逻辑</a:t>
            </a:r>
            <a:r>
              <a:rPr lang="zh-CN" sz="2400" b="1" kern="1200" dirty="0">
                <a:solidFill>
                  <a:srgbClr val="000066"/>
                </a:solidFill>
                <a:ea typeface="楷体_GB2312" pitchFamily="49" charset="-122"/>
              </a:rPr>
              <a:t>，</a:t>
            </a:r>
            <a:r>
              <a:rPr sz="2400" b="1" kern="1200" dirty="0">
                <a:solidFill>
                  <a:srgbClr val="000066"/>
                </a:solidFill>
                <a:ea typeface="楷体_GB2312" pitchFamily="49" charset="-122"/>
              </a:rPr>
              <a:t>反之为负逻辑。对于一个逻辑电路的输入与输出关系，可用正逻辑</a:t>
            </a:r>
            <a:r>
              <a:rPr lang="zh-CN" sz="2400" b="1" kern="1200" dirty="0">
                <a:solidFill>
                  <a:srgbClr val="000066"/>
                </a:solidFill>
                <a:ea typeface="楷体_GB2312" pitchFamily="49" charset="-122"/>
              </a:rPr>
              <a:t>或</a:t>
            </a:r>
            <a:r>
              <a:rPr sz="2400" b="1" kern="1200" dirty="0">
                <a:solidFill>
                  <a:srgbClr val="000066"/>
                </a:solidFill>
                <a:ea typeface="楷体_GB2312" pitchFamily="49" charset="-122"/>
              </a:rPr>
              <a:t>负逻辑来描述。两输入变量的或门输入和输出逻辑电平如表3-11所示，用正逻辑表示，真值表如表3-12所示；用负逻辑表示真值表如表3-13所示。</a:t>
            </a:r>
            <a:endParaRPr sz="2400" b="1" kern="1200" dirty="0">
              <a:solidFill>
                <a:srgbClr val="000066"/>
              </a:solidFill>
              <a:ea typeface="楷体_GB2312" pitchFamily="49" charset="-122"/>
            </a:endParaRPr>
          </a:p>
        </p:txBody>
      </p:sp>
      <p:pic>
        <p:nvPicPr>
          <p:cNvPr id="2" name="图片 1" descr="5L]~WN`SW_L8Q4PJQN(JD63"/>
          <p:cNvPicPr>
            <a:picLocks noChangeAspect="1"/>
          </p:cNvPicPr>
          <p:nvPr/>
        </p:nvPicPr>
        <p:blipFill>
          <a:blip r:embed="rId1"/>
          <a:stretch>
            <a:fillRect/>
          </a:stretch>
        </p:blipFill>
        <p:spPr>
          <a:xfrm>
            <a:off x="807720" y="3810000"/>
            <a:ext cx="2612390" cy="2104390"/>
          </a:xfrm>
          <a:prstGeom prst="rect">
            <a:avLst/>
          </a:prstGeom>
        </p:spPr>
      </p:pic>
      <p:pic>
        <p:nvPicPr>
          <p:cNvPr id="3" name="图片 2" descr="O]VUL_%1[Z}9IHG~D@GGWYW"/>
          <p:cNvPicPr>
            <a:picLocks noChangeAspect="1"/>
          </p:cNvPicPr>
          <p:nvPr/>
        </p:nvPicPr>
        <p:blipFill>
          <a:blip r:embed="rId2"/>
          <a:stretch>
            <a:fillRect/>
          </a:stretch>
        </p:blipFill>
        <p:spPr>
          <a:xfrm>
            <a:off x="3378835" y="3780790"/>
            <a:ext cx="2596515" cy="2150110"/>
          </a:xfrm>
          <a:prstGeom prst="rect">
            <a:avLst/>
          </a:prstGeom>
        </p:spPr>
      </p:pic>
      <p:pic>
        <p:nvPicPr>
          <p:cNvPr id="7" name="图片 6" descr="@H3U6M3SUS5N[JFGI7K}`V7"/>
          <p:cNvPicPr>
            <a:picLocks noChangeAspect="1"/>
          </p:cNvPicPr>
          <p:nvPr/>
        </p:nvPicPr>
        <p:blipFill>
          <a:blip r:embed="rId3"/>
          <a:stretch>
            <a:fillRect/>
          </a:stretch>
        </p:blipFill>
        <p:spPr>
          <a:xfrm>
            <a:off x="5895340" y="3810000"/>
            <a:ext cx="2515870" cy="2055495"/>
          </a:xfrm>
          <a:prstGeom prst="rect">
            <a:avLst/>
          </a:prstGeom>
        </p:spPr>
      </p:pic>
      <p:sp>
        <p:nvSpPr>
          <p:cNvPr id="8" name="Rectangle 3"/>
          <p:cNvSpPr>
            <a:spLocks noGrp="1"/>
          </p:cNvSpPr>
          <p:nvPr/>
        </p:nvSpPr>
        <p:spPr>
          <a:xfrm>
            <a:off x="466090" y="5842000"/>
            <a:ext cx="8184515" cy="81089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ea typeface="楷体_GB2312" pitchFamily="49" charset="-122"/>
              </a:rPr>
              <a:t>正逻辑或门逻辑表达式为</a:t>
            </a:r>
            <a:r>
              <a:rPr lang="en-US" sz="2400" b="1" u="sng" kern="1200" dirty="0">
                <a:solidFill>
                  <a:srgbClr val="000066"/>
                </a:solidFill>
                <a:ea typeface="楷体_GB2312" pitchFamily="49" charset="-122"/>
              </a:rPr>
              <a:t>              </a:t>
            </a:r>
            <a:r>
              <a:rPr sz="2400" b="1" kern="1200" dirty="0">
                <a:solidFill>
                  <a:srgbClr val="000066"/>
                </a:solidFill>
                <a:ea typeface="楷体_GB2312" pitchFamily="49" charset="-122"/>
              </a:rPr>
              <a:t>，负逻辑或门逻辑表达式为</a:t>
            </a:r>
            <a:r>
              <a:rPr lang="en-US" sz="2400" b="1" kern="1200" dirty="0">
                <a:solidFill>
                  <a:srgbClr val="000066"/>
                </a:solidFill>
                <a:ea typeface="楷体_GB2312" pitchFamily="49" charset="-122"/>
              </a:rPr>
              <a:t> </a:t>
            </a:r>
            <a:r>
              <a:rPr lang="en-US" sz="2400" b="1" u="sng" kern="1200" dirty="0">
                <a:solidFill>
                  <a:srgbClr val="000066"/>
                </a:solidFill>
                <a:ea typeface="楷体_GB2312" pitchFamily="49" charset="-122"/>
              </a:rPr>
              <a:t>              </a:t>
            </a:r>
            <a:r>
              <a:rPr lang="zh-CN" altLang="en-US" sz="2400" b="1" kern="1200" dirty="0">
                <a:solidFill>
                  <a:srgbClr val="000066"/>
                </a:solidFill>
                <a:ea typeface="楷体_GB2312" pitchFamily="49" charset="-122"/>
              </a:rPr>
              <a:t>。</a:t>
            </a:r>
            <a:endParaRPr sz="2400" b="1" kern="1200" dirty="0">
              <a:solidFill>
                <a:srgbClr val="000066"/>
              </a:solidFill>
              <a:ea typeface="楷体_GB2312" pitchFamily="49" charset="-122"/>
            </a:endParaRPr>
          </a:p>
        </p:txBody>
      </p:sp>
      <p:graphicFrame>
        <p:nvGraphicFramePr>
          <p:cNvPr id="4" name="对象 656"/>
          <p:cNvGraphicFramePr>
            <a:graphicFrameLocks noChangeAspect="1"/>
          </p:cNvGraphicFramePr>
          <p:nvPr/>
        </p:nvGraphicFramePr>
        <p:xfrm>
          <a:off x="4530090" y="5914390"/>
          <a:ext cx="1273810" cy="326390"/>
        </p:xfrm>
        <a:graphic>
          <a:graphicData uri="http://schemas.openxmlformats.org/presentationml/2006/ole">
            <mc:AlternateContent xmlns:mc="http://schemas.openxmlformats.org/markup-compatibility/2006">
              <mc:Choice xmlns:v="urn:schemas-microsoft-com:vml" Requires="v">
                <p:oleObj spid="_x0000_s3076" name="" r:id="rId4" imgW="546100" imgH="139700" progId="Equation.DSMT4">
                  <p:embed/>
                </p:oleObj>
              </mc:Choice>
              <mc:Fallback>
                <p:oleObj name="" r:id="rId4" imgW="546100" imgH="139700" progId="Equation.DSMT4">
                  <p:embed/>
                  <p:pic>
                    <p:nvPicPr>
                      <p:cNvPr id="0" name="图片 3075"/>
                      <p:cNvPicPr/>
                      <p:nvPr/>
                    </p:nvPicPr>
                    <p:blipFill>
                      <a:blip r:embed="rId5"/>
                      <a:stretch>
                        <a:fillRect/>
                      </a:stretch>
                    </p:blipFill>
                    <p:spPr>
                      <a:xfrm>
                        <a:off x="4530090" y="5914390"/>
                        <a:ext cx="1273810" cy="326390"/>
                      </a:xfrm>
                      <a:prstGeom prst="rect">
                        <a:avLst/>
                      </a:prstGeom>
                      <a:noFill/>
                      <a:ln w="38100">
                        <a:noFill/>
                        <a:miter/>
                      </a:ln>
                    </p:spPr>
                  </p:pic>
                </p:oleObj>
              </mc:Fallback>
            </mc:AlternateContent>
          </a:graphicData>
        </a:graphic>
      </p:graphicFrame>
      <p:graphicFrame>
        <p:nvGraphicFramePr>
          <p:cNvPr id="5" name="对象 657"/>
          <p:cNvGraphicFramePr>
            <a:graphicFrameLocks noChangeAspect="1"/>
          </p:cNvGraphicFramePr>
          <p:nvPr/>
        </p:nvGraphicFramePr>
        <p:xfrm>
          <a:off x="1524000" y="6324600"/>
          <a:ext cx="1203325" cy="339725"/>
        </p:xfrm>
        <a:graphic>
          <a:graphicData uri="http://schemas.openxmlformats.org/presentationml/2006/ole">
            <mc:AlternateContent xmlns:mc="http://schemas.openxmlformats.org/markup-compatibility/2006">
              <mc:Choice xmlns:v="urn:schemas-microsoft-com:vml" Requires="v">
                <p:oleObj spid="_x0000_s9" name="" r:id="rId6" imgW="495300" imgH="139700" progId="Equation.DSMT4">
                  <p:embed/>
                </p:oleObj>
              </mc:Choice>
              <mc:Fallback>
                <p:oleObj name="" r:id="rId6" imgW="495300" imgH="139700" progId="Equation.DSMT4">
                  <p:embed/>
                  <p:pic>
                    <p:nvPicPr>
                      <p:cNvPr id="0" name="图片 8"/>
                      <p:cNvPicPr/>
                      <p:nvPr/>
                    </p:nvPicPr>
                    <p:blipFill>
                      <a:blip r:embed="rId7"/>
                      <a:stretch>
                        <a:fillRect/>
                      </a:stretch>
                    </p:blipFill>
                    <p:spPr>
                      <a:xfrm>
                        <a:off x="1524000" y="6324600"/>
                        <a:ext cx="1203325" cy="339725"/>
                      </a:xfrm>
                      <a:prstGeom prst="rect">
                        <a:avLst/>
                      </a:prstGeom>
                      <a:noFill/>
                      <a:ln w="38100">
                        <a:noFill/>
                        <a:miter/>
                      </a:ln>
                    </p:spPr>
                  </p:pic>
                </p:oleObj>
              </mc:Fallback>
            </mc:AlternateContent>
          </a:graphicData>
        </a:graphic>
      </p:graphicFrame>
      <p:sp>
        <p:nvSpPr>
          <p:cNvPr id="10" name="Rectangle 3"/>
          <p:cNvSpPr>
            <a:spLocks noGrp="1"/>
          </p:cNvSpPr>
          <p:nvPr/>
        </p:nvSpPr>
        <p:spPr>
          <a:xfrm>
            <a:off x="3200400" y="6248400"/>
            <a:ext cx="5325745" cy="44259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05000"/>
              </a:lnSpc>
              <a:spcBef>
                <a:spcPts val="0"/>
              </a:spcBef>
              <a:buNone/>
            </a:pPr>
            <a:r>
              <a:rPr sz="2400" b="1" kern="1200" dirty="0">
                <a:solidFill>
                  <a:srgbClr val="000066"/>
                </a:solidFill>
                <a:ea typeface="楷体_GB2312" pitchFamily="49" charset="-122"/>
              </a:rPr>
              <a:t>因此，正逻辑或门等效于负逻辑与门。</a:t>
            </a:r>
            <a:endParaRPr sz="2400" b="1" kern="1200" dirty="0">
              <a:solidFill>
                <a:srgbClr val="000066"/>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0" presetClass="entr" presetSubtype="0" decel="10000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1000" fill="hold"/>
                                        <p:tgtEl>
                                          <p:spTgt spid="3"/>
                                        </p:tgtEl>
                                        <p:attrNameLst>
                                          <p:attrName>ppt_w</p:attrName>
                                        </p:attrNameLst>
                                      </p:cBhvr>
                                      <p:tavLst>
                                        <p:tav tm="0">
                                          <p:val>
                                            <p:strVal val="#ppt_w+.3"/>
                                          </p:val>
                                        </p:tav>
                                        <p:tav tm="100000">
                                          <p:val>
                                            <p:strVal val="#ppt_w"/>
                                          </p:val>
                                        </p:tav>
                                      </p:tavLst>
                                    </p:anim>
                                    <p:anim calcmode="lin" valueType="num">
                                      <p:cBhvr>
                                        <p:cTn id="13" dur="1000" fill="hold"/>
                                        <p:tgtEl>
                                          <p:spTgt spid="3"/>
                                        </p:tgtEl>
                                        <p:attrNameLst>
                                          <p:attrName>ppt_h</p:attrName>
                                        </p:attrNameLst>
                                      </p:cBhvr>
                                      <p:tavLst>
                                        <p:tav tm="0">
                                          <p:val>
                                            <p:strVal val="#ppt_h"/>
                                          </p:val>
                                        </p:tav>
                                        <p:tav tm="100000">
                                          <p:val>
                                            <p:strVal val="#ppt_h"/>
                                          </p:val>
                                        </p:tav>
                                      </p:tavLst>
                                    </p:anim>
                                    <p:animEffect transition="in" filter="fade">
                                      <p:cBhvr>
                                        <p:cTn id="14" dur="10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grpId="0" nodeType="clickEffect">
                                  <p:stCondLst>
                                    <p:cond delay="0"/>
                                  </p:stCondLst>
                                  <p:childTnLst>
                                    <p:set>
                                      <p:cBhvr>
                                        <p:cTn id="25" dur="500" fill="hold">
                                          <p:stCondLst>
                                            <p:cond delay="0"/>
                                          </p:stCondLst>
                                        </p:cTn>
                                        <p:tgtEl>
                                          <p:spTgt spid="8"/>
                                        </p:tgtEl>
                                        <p:attrNameLst>
                                          <p:attrName>style.visibility</p:attrName>
                                        </p:attrNameLst>
                                      </p:cBhvr>
                                      <p:to>
                                        <p:strVal val="visible"/>
                                      </p:to>
                                    </p:set>
                                    <p:animEffect transition="in" filter="box(in)">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wipe(up)">
                                      <p:cBhvr>
                                        <p:cTn id="31" dur="500"/>
                                        <p:tgtEl>
                                          <p:spTgt spid="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wipe(up)">
                                      <p:cBhvr>
                                        <p:cTn id="36" dur="500"/>
                                        <p:tgtEl>
                                          <p:spTgt spid="5"/>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16" fill="hold" grpId="0" nodeType="clickEffect">
                                  <p:stCondLst>
                                    <p:cond delay="0"/>
                                  </p:stCondLst>
                                  <p:childTnLst>
                                    <p:set>
                                      <p:cBhvr>
                                        <p:cTn id="40" dur="500" fill="hold">
                                          <p:stCondLst>
                                            <p:cond delay="0"/>
                                          </p:stCondLst>
                                        </p:cTn>
                                        <p:tgtEl>
                                          <p:spTgt spid="10"/>
                                        </p:tgtEl>
                                        <p:attrNameLst>
                                          <p:attrName>style.visibility</p:attrName>
                                        </p:attrNameLst>
                                      </p:cBhvr>
                                      <p:to>
                                        <p:strVal val="visible"/>
                                      </p:to>
                                    </p:set>
                                    <p:animEffect transition="in" filter="box(in)">
                                      <p:cBhvr>
                                        <p:cTn id="4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 name="文本框 41"/>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122045" y="533400"/>
            <a:ext cx="724281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3.4 </a:t>
            </a:r>
            <a:r>
              <a:rPr b="1" dirty="0">
                <a:solidFill>
                  <a:srgbClr val="FF0000"/>
                </a:solidFill>
                <a:latin typeface="黑体" panose="02010609060101010101" pitchFamily="49" charset="-122"/>
                <a:ea typeface="黑体" panose="02010609060101010101" pitchFamily="49" charset="-122"/>
              </a:rPr>
              <a:t>逻辑描述及逻辑门符号的等效变换</a:t>
            </a:r>
            <a:endParaRPr b="1" dirty="0">
              <a:solidFill>
                <a:srgbClr val="FF0000"/>
              </a:solidFill>
              <a:latin typeface="黑体" panose="02010609060101010101" pitchFamily="49" charset="-122"/>
              <a:ea typeface="黑体" panose="02010609060101010101" pitchFamily="49" charset="-122"/>
            </a:endParaRPr>
          </a:p>
        </p:txBody>
      </p:sp>
      <p:sp>
        <p:nvSpPr>
          <p:cNvPr id="8" name="Rectangle 3"/>
          <p:cNvSpPr>
            <a:spLocks noGrp="1"/>
          </p:cNvSpPr>
          <p:nvPr/>
        </p:nvSpPr>
        <p:spPr>
          <a:xfrm>
            <a:off x="457200" y="4421505"/>
            <a:ext cx="8336915" cy="80899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ea typeface="楷体_GB2312" pitchFamily="49" charset="-122"/>
              </a:rPr>
              <a:t>正逻辑或非门逻辑表达式为</a:t>
            </a:r>
            <a:r>
              <a:rPr lang="en-US" sz="2400" b="1" u="sng" kern="1200" dirty="0">
                <a:solidFill>
                  <a:srgbClr val="000066"/>
                </a:solidFill>
                <a:ea typeface="楷体_GB2312" pitchFamily="49" charset="-122"/>
              </a:rPr>
              <a:t>              </a:t>
            </a:r>
            <a:r>
              <a:rPr sz="2400" b="1" kern="1200" dirty="0">
                <a:solidFill>
                  <a:srgbClr val="000066"/>
                </a:solidFill>
                <a:ea typeface="楷体_GB2312" pitchFamily="49" charset="-122"/>
              </a:rPr>
              <a:t>，负逻辑或非门逻辑表达式为</a:t>
            </a:r>
            <a:r>
              <a:rPr lang="en-US" sz="2400" b="1" u="sng" kern="1200" dirty="0">
                <a:solidFill>
                  <a:srgbClr val="000066"/>
                </a:solidFill>
                <a:ea typeface="楷体_GB2312" pitchFamily="49" charset="-122"/>
              </a:rPr>
              <a:t>             </a:t>
            </a:r>
            <a:r>
              <a:rPr lang="zh-CN" altLang="en-US" sz="2400" b="1" kern="1200" dirty="0">
                <a:solidFill>
                  <a:srgbClr val="000066"/>
                </a:solidFill>
                <a:ea typeface="楷体_GB2312" pitchFamily="49" charset="-122"/>
              </a:rPr>
              <a:t>。</a:t>
            </a:r>
            <a:endParaRPr lang="zh-CN" altLang="en-US" sz="2400" b="1" kern="1200" dirty="0">
              <a:solidFill>
                <a:srgbClr val="000066"/>
              </a:solidFill>
              <a:ea typeface="楷体_GB2312" pitchFamily="49" charset="-122"/>
            </a:endParaRPr>
          </a:p>
        </p:txBody>
      </p:sp>
      <p:sp>
        <p:nvSpPr>
          <p:cNvPr id="10" name="Rectangle 3"/>
          <p:cNvSpPr>
            <a:spLocks noGrp="1"/>
          </p:cNvSpPr>
          <p:nvPr/>
        </p:nvSpPr>
        <p:spPr>
          <a:xfrm>
            <a:off x="3034030" y="4800600"/>
            <a:ext cx="6052185" cy="44259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05000"/>
              </a:lnSpc>
              <a:spcBef>
                <a:spcPts val="0"/>
              </a:spcBef>
              <a:buNone/>
            </a:pPr>
            <a:r>
              <a:rPr sz="2400" b="1" kern="1200" dirty="0">
                <a:solidFill>
                  <a:srgbClr val="000066"/>
                </a:solidFill>
                <a:ea typeface="楷体_GB2312" pitchFamily="49" charset="-122"/>
              </a:rPr>
              <a:t>因此，正逻辑或非门等效于负逻辑与非门</a:t>
            </a:r>
            <a:r>
              <a:rPr lang="zh-CN" sz="2400" b="1" kern="1200" dirty="0">
                <a:solidFill>
                  <a:srgbClr val="000066"/>
                </a:solidFill>
                <a:ea typeface="楷体_GB2312" pitchFamily="49" charset="-122"/>
              </a:rPr>
              <a:t>。</a:t>
            </a:r>
            <a:endParaRPr lang="zh-CN" sz="2400" b="1" kern="1200" dirty="0">
              <a:solidFill>
                <a:srgbClr val="000066"/>
              </a:solidFill>
              <a:ea typeface="楷体_GB2312" pitchFamily="49" charset="-122"/>
            </a:endParaRPr>
          </a:p>
        </p:txBody>
      </p:sp>
      <p:pic>
        <p:nvPicPr>
          <p:cNvPr id="11" name="图片 10" descr="M[H69$)B8NI@2M)BKR4@VOS"/>
          <p:cNvPicPr>
            <a:picLocks noChangeAspect="1"/>
          </p:cNvPicPr>
          <p:nvPr/>
        </p:nvPicPr>
        <p:blipFill>
          <a:blip r:embed="rId1"/>
          <a:stretch>
            <a:fillRect/>
          </a:stretch>
        </p:blipFill>
        <p:spPr>
          <a:xfrm>
            <a:off x="838200" y="2057400"/>
            <a:ext cx="7421245" cy="2444115"/>
          </a:xfrm>
          <a:prstGeom prst="rect">
            <a:avLst/>
          </a:prstGeom>
        </p:spPr>
      </p:pic>
      <p:graphicFrame>
        <p:nvGraphicFramePr>
          <p:cNvPr id="2" name="对象 658"/>
          <p:cNvGraphicFramePr>
            <a:graphicFrameLocks noChangeAspect="1"/>
          </p:cNvGraphicFramePr>
          <p:nvPr/>
        </p:nvGraphicFramePr>
        <p:xfrm>
          <a:off x="4800600" y="4463415"/>
          <a:ext cx="1139190" cy="370205"/>
        </p:xfrm>
        <a:graphic>
          <a:graphicData uri="http://schemas.openxmlformats.org/presentationml/2006/ole">
            <mc:AlternateContent xmlns:mc="http://schemas.openxmlformats.org/markup-compatibility/2006">
              <mc:Choice xmlns:v="urn:schemas-microsoft-com:vml" Requires="v">
                <p:oleObj spid="_x0000_s12" name="" r:id="rId2" imgW="545465" imgH="177800" progId="Equation.DSMT4">
                  <p:embed/>
                </p:oleObj>
              </mc:Choice>
              <mc:Fallback>
                <p:oleObj name="" r:id="rId2" imgW="545465" imgH="177800" progId="Equation.DSMT4">
                  <p:embed/>
                  <p:pic>
                    <p:nvPicPr>
                      <p:cNvPr id="0" name="图片 11"/>
                      <p:cNvPicPr/>
                      <p:nvPr/>
                    </p:nvPicPr>
                    <p:blipFill>
                      <a:blip r:embed="rId3"/>
                      <a:stretch>
                        <a:fillRect/>
                      </a:stretch>
                    </p:blipFill>
                    <p:spPr>
                      <a:xfrm>
                        <a:off x="4800600" y="4463415"/>
                        <a:ext cx="1139190" cy="370205"/>
                      </a:xfrm>
                      <a:prstGeom prst="rect">
                        <a:avLst/>
                      </a:prstGeom>
                      <a:noFill/>
                      <a:ln w="38100">
                        <a:noFill/>
                        <a:miter/>
                      </a:ln>
                    </p:spPr>
                  </p:pic>
                </p:oleObj>
              </mc:Fallback>
            </mc:AlternateContent>
          </a:graphicData>
        </a:graphic>
      </p:graphicFrame>
      <p:graphicFrame>
        <p:nvGraphicFramePr>
          <p:cNvPr id="3" name="对象 659"/>
          <p:cNvGraphicFramePr>
            <a:graphicFrameLocks noChangeAspect="1"/>
          </p:cNvGraphicFramePr>
          <p:nvPr/>
        </p:nvGraphicFramePr>
        <p:xfrm>
          <a:off x="1897380" y="4815205"/>
          <a:ext cx="1027430" cy="367665"/>
        </p:xfrm>
        <a:graphic>
          <a:graphicData uri="http://schemas.openxmlformats.org/presentationml/2006/ole">
            <mc:AlternateContent xmlns:mc="http://schemas.openxmlformats.org/markup-compatibility/2006">
              <mc:Choice xmlns:v="urn:schemas-microsoft-com:vml" Requires="v">
                <p:oleObj spid="_x0000_s13" name="" r:id="rId4" imgW="494665" imgH="177800" progId="Equation.DSMT4">
                  <p:embed/>
                </p:oleObj>
              </mc:Choice>
              <mc:Fallback>
                <p:oleObj name="" r:id="rId4" imgW="494665" imgH="177800" progId="Equation.DSMT4">
                  <p:embed/>
                  <p:pic>
                    <p:nvPicPr>
                      <p:cNvPr id="0" name="图片 12"/>
                      <p:cNvPicPr/>
                      <p:nvPr/>
                    </p:nvPicPr>
                    <p:blipFill>
                      <a:blip r:embed="rId5"/>
                      <a:stretch>
                        <a:fillRect/>
                      </a:stretch>
                    </p:blipFill>
                    <p:spPr>
                      <a:xfrm>
                        <a:off x="1897380" y="4815205"/>
                        <a:ext cx="1027430" cy="367665"/>
                      </a:xfrm>
                      <a:prstGeom prst="rect">
                        <a:avLst/>
                      </a:prstGeom>
                      <a:noFill/>
                      <a:ln w="38100">
                        <a:noFill/>
                        <a:miter/>
                      </a:ln>
                    </p:spPr>
                  </p:pic>
                </p:oleObj>
              </mc:Fallback>
            </mc:AlternateContent>
          </a:graphicData>
        </a:graphic>
      </p:graphicFrame>
      <p:sp>
        <p:nvSpPr>
          <p:cNvPr id="6147" name="Rectangle 3"/>
          <p:cNvSpPr>
            <a:spLocks noGrp="1"/>
          </p:cNvSpPr>
          <p:nvPr>
            <p:ph idx="1"/>
          </p:nvPr>
        </p:nvSpPr>
        <p:spPr>
          <a:xfrm>
            <a:off x="457200" y="1295400"/>
            <a:ext cx="8184515" cy="803910"/>
          </a:xfrm>
        </p:spPr>
        <p:txBody>
          <a:bodyPr vert="horz" wrap="square" lIns="91440" tIns="45720" rIns="91440" bIns="45720" anchor="t" anchorCtr="0"/>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ea typeface="楷体_GB2312" pitchFamily="49" charset="-122"/>
              </a:rPr>
              <a:t>两输入变量或非门逻辑电平如表3-14所示，用正逻辑表示真值表如表3-15所示；用负逻辑表示真值表如表3-16所示。</a:t>
            </a:r>
            <a:endParaRPr sz="2400" b="1" kern="1200" dirty="0">
              <a:solidFill>
                <a:srgbClr val="000066"/>
              </a:solidFill>
              <a:ea typeface="楷体_GB2312" pitchFamily="49" charset="-122"/>
            </a:endParaRPr>
          </a:p>
        </p:txBody>
      </p:sp>
      <p:sp>
        <p:nvSpPr>
          <p:cNvPr id="14" name="Rectangle 3"/>
          <p:cNvSpPr>
            <a:spLocks noGrp="1"/>
          </p:cNvSpPr>
          <p:nvPr/>
        </p:nvSpPr>
        <p:spPr>
          <a:xfrm>
            <a:off x="459740" y="5158105"/>
            <a:ext cx="8336915" cy="43751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ea typeface="楷体_GB2312" pitchFamily="49" charset="-122"/>
              </a:rPr>
              <a:t>正逻辑和负逻辑的等效关系可以按以下方式进行互换：</a:t>
            </a:r>
            <a:endParaRPr sz="2400" b="1" kern="1200" dirty="0">
              <a:solidFill>
                <a:srgbClr val="000066"/>
              </a:solidFill>
              <a:ea typeface="楷体_GB2312" pitchFamily="49" charset="-122"/>
            </a:endParaRPr>
          </a:p>
        </p:txBody>
      </p:sp>
      <p:pic>
        <p:nvPicPr>
          <p:cNvPr id="15" name="图片 14" descr="7(34W3LISCYM7SGAMPSO)W6"/>
          <p:cNvPicPr>
            <a:picLocks noChangeAspect="1"/>
          </p:cNvPicPr>
          <p:nvPr/>
        </p:nvPicPr>
        <p:blipFill>
          <a:blip r:embed="rId6"/>
          <a:stretch>
            <a:fillRect/>
          </a:stretch>
        </p:blipFill>
        <p:spPr>
          <a:xfrm>
            <a:off x="3352800" y="5638800"/>
            <a:ext cx="1423670" cy="10471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500" fill="hold">
                                          <p:stCondLst>
                                            <p:cond delay="0"/>
                                          </p:stCondLst>
                                        </p:cTn>
                                        <p:tgtEl>
                                          <p:spTgt spid="11"/>
                                        </p:tgtEl>
                                        <p:attrNameLst>
                                          <p:attrName>style.visibility</p:attrName>
                                        </p:attrNameLst>
                                      </p:cBhvr>
                                      <p:to>
                                        <p:strVal val="visible"/>
                                      </p:to>
                                    </p:set>
                                    <p:animEffect transition="in" filter="diamond(i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500" fill="hold">
                                          <p:stCondLst>
                                            <p:cond delay="0"/>
                                          </p:stCondLst>
                                        </p:cTn>
                                        <p:tgtEl>
                                          <p:spTgt spid="8"/>
                                        </p:tgtEl>
                                        <p:attrNameLst>
                                          <p:attrName>style.visibility</p:attrName>
                                        </p:attrNameLst>
                                      </p:cBhvr>
                                      <p:to>
                                        <p:strVal val="visible"/>
                                      </p:to>
                                    </p:set>
                                    <p:animEffect transition="in" filter="box(i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500" fill="hold">
                                          <p:stCondLst>
                                            <p:cond delay="0"/>
                                          </p:stCondLst>
                                        </p:cTn>
                                        <p:tgtEl>
                                          <p:spTgt spid="10"/>
                                        </p:tgtEl>
                                        <p:attrNameLst>
                                          <p:attrName>style.visibility</p:attrName>
                                        </p:attrNameLst>
                                      </p:cBhvr>
                                      <p:to>
                                        <p:strVal val="visible"/>
                                      </p:to>
                                    </p:set>
                                    <p:animEffect transition="in" filter="box(in)">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1000"/>
                                        <p:tgtEl>
                                          <p:spTgt spid="14"/>
                                        </p:tgtEl>
                                      </p:cBhvr>
                                    </p:animEffect>
                                    <p:anim calcmode="lin" valueType="num">
                                      <p:cBhvr>
                                        <p:cTn id="33" dur="1000" fill="hold"/>
                                        <p:tgtEl>
                                          <p:spTgt spid="14"/>
                                        </p:tgtEl>
                                        <p:attrNameLst>
                                          <p:attrName>ppt_x</p:attrName>
                                        </p:attrNameLst>
                                      </p:cBhvr>
                                      <p:tavLst>
                                        <p:tav tm="0">
                                          <p:val>
                                            <p:strVal val="#ppt_x"/>
                                          </p:val>
                                        </p:tav>
                                        <p:tav tm="100000">
                                          <p:val>
                                            <p:strVal val="#ppt_x"/>
                                          </p:val>
                                        </p:tav>
                                      </p:tavLst>
                                    </p:anim>
                                    <p:anim calcmode="lin" valueType="num">
                                      <p:cBhvr>
                                        <p:cTn id="3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52" presetClass="entr" presetSubtype="0"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animScale>
                                      <p:cBhvr>
                                        <p:cTn id="39" dur="1000" decel="50000" fill="hold">
                                          <p:stCondLst>
                                            <p:cond delay="0"/>
                                          </p:stCondLst>
                                        </p:cTn>
                                        <p:tgtEl>
                                          <p:spTgt spid="1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0" dur="1000" decel="50000" fill="hold">
                                          <p:stCondLst>
                                            <p:cond delay="0"/>
                                          </p:stCondLst>
                                        </p:cTn>
                                        <p:tgtEl>
                                          <p:spTgt spid="15"/>
                                        </p:tgtEl>
                                        <p:attrNameLst>
                                          <p:attrName>ppt_x</p:attrName>
                                          <p:attrName>ppt_y</p:attrName>
                                        </p:attrNameLst>
                                      </p:cBhvr>
                                    </p:animMotion>
                                    <p:animEffect transition="in" filter="fade">
                                      <p:cBhvr>
                                        <p:cTn id="41"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4"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p:nvPr>
        </p:nvSpPr>
        <p:spPr>
          <a:xfrm>
            <a:off x="491490" y="1427480"/>
            <a:ext cx="542798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3.4.2 </a:t>
            </a:r>
            <a:r>
              <a:rPr lang="zh-CN" altLang="en-US" sz="2800" i="0" dirty="0">
                <a:solidFill>
                  <a:srgbClr val="0070C0"/>
                </a:solidFill>
                <a:latin typeface="黑体" panose="02010609060101010101" pitchFamily="49" charset="-122"/>
                <a:ea typeface="黑体" panose="02010609060101010101" pitchFamily="49" charset="-122"/>
              </a:rPr>
              <a:t>逻辑门符号的等效变换</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122045" y="533400"/>
            <a:ext cx="724281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3.4 </a:t>
            </a:r>
            <a:r>
              <a:rPr b="1" dirty="0">
                <a:solidFill>
                  <a:srgbClr val="FF0000"/>
                </a:solidFill>
                <a:latin typeface="黑体" panose="02010609060101010101" pitchFamily="49" charset="-122"/>
                <a:ea typeface="黑体" panose="02010609060101010101" pitchFamily="49" charset="-122"/>
              </a:rPr>
              <a:t>逻辑描述及逻辑门符号的等效变换</a:t>
            </a:r>
            <a:endParaRPr b="1" dirty="0">
              <a:solidFill>
                <a:srgbClr val="FF000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457200" y="2133600"/>
            <a:ext cx="8184515" cy="852805"/>
          </a:xfrm>
        </p:spPr>
        <p:txBody>
          <a:bodyPr vert="horz" wrap="square" lIns="91440" tIns="45720" rIns="91440" bIns="45720" anchor="t" anchorCtr="0"/>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ea typeface="楷体_GB2312" pitchFamily="49" charset="-122"/>
              </a:rPr>
              <a:t>根据摩根定律有：</a:t>
            </a:r>
            <a:r>
              <a:rPr lang="en-US" sz="2400" b="1" kern="1200" dirty="0">
                <a:solidFill>
                  <a:srgbClr val="000066"/>
                </a:solidFill>
                <a:ea typeface="楷体_GB2312" pitchFamily="49" charset="-122"/>
              </a:rPr>
              <a:t>                     </a:t>
            </a:r>
            <a:r>
              <a:rPr sz="2400" b="1" kern="1200" dirty="0">
                <a:solidFill>
                  <a:srgbClr val="000066"/>
                </a:solidFill>
                <a:ea typeface="楷体_GB2312" pitchFamily="49" charset="-122"/>
              </a:rPr>
              <a:t>和</a:t>
            </a:r>
            <a:r>
              <a:rPr lang="en-US" sz="2400" b="1" kern="1200" dirty="0">
                <a:solidFill>
                  <a:srgbClr val="000066"/>
                </a:solidFill>
                <a:ea typeface="楷体_GB2312" pitchFamily="49" charset="-122"/>
              </a:rPr>
              <a:t>                     </a:t>
            </a:r>
            <a:r>
              <a:rPr sz="2400" b="1" kern="1200" dirty="0">
                <a:solidFill>
                  <a:srgbClr val="000066"/>
                </a:solidFill>
                <a:ea typeface="楷体_GB2312" pitchFamily="49" charset="-122"/>
              </a:rPr>
              <a:t>，因此，与非门和或非门等效逻辑门符号分别如图3-54和图3-55所示。</a:t>
            </a:r>
            <a:endParaRPr sz="2400" b="1" kern="1200" dirty="0">
              <a:solidFill>
                <a:srgbClr val="000066"/>
              </a:solidFill>
              <a:ea typeface="楷体_GB2312" pitchFamily="49" charset="-122"/>
            </a:endParaRPr>
          </a:p>
        </p:txBody>
      </p:sp>
      <p:graphicFrame>
        <p:nvGraphicFramePr>
          <p:cNvPr id="2" name="对象 660"/>
          <p:cNvGraphicFramePr>
            <a:graphicFrameLocks noChangeAspect="1"/>
          </p:cNvGraphicFramePr>
          <p:nvPr/>
        </p:nvGraphicFramePr>
        <p:xfrm>
          <a:off x="3359150" y="2148205"/>
          <a:ext cx="1921510" cy="372110"/>
        </p:xfrm>
        <a:graphic>
          <a:graphicData uri="http://schemas.openxmlformats.org/presentationml/2006/ole">
            <mc:AlternateContent xmlns:mc="http://schemas.openxmlformats.org/markup-compatibility/2006">
              <mc:Choice xmlns:v="urn:schemas-microsoft-com:vml" Requires="v">
                <p:oleObj spid="_x0000_s6" name="" r:id="rId1" imgW="913130" imgH="177800" progId="Equation.DSMT4">
                  <p:embed/>
                </p:oleObj>
              </mc:Choice>
              <mc:Fallback>
                <p:oleObj name="" r:id="rId1" imgW="913130" imgH="177800" progId="Equation.DSMT4">
                  <p:embed/>
                  <p:pic>
                    <p:nvPicPr>
                      <p:cNvPr id="0" name="图片 5"/>
                      <p:cNvPicPr/>
                      <p:nvPr/>
                    </p:nvPicPr>
                    <p:blipFill>
                      <a:blip r:embed="rId2"/>
                      <a:stretch>
                        <a:fillRect/>
                      </a:stretch>
                    </p:blipFill>
                    <p:spPr>
                      <a:xfrm>
                        <a:off x="3359150" y="2148205"/>
                        <a:ext cx="1921510" cy="372110"/>
                      </a:xfrm>
                      <a:prstGeom prst="rect">
                        <a:avLst/>
                      </a:prstGeom>
                      <a:noFill/>
                      <a:ln w="38100">
                        <a:noFill/>
                        <a:miter/>
                      </a:ln>
                    </p:spPr>
                  </p:pic>
                </p:oleObj>
              </mc:Fallback>
            </mc:AlternateContent>
          </a:graphicData>
        </a:graphic>
      </p:graphicFrame>
      <p:graphicFrame>
        <p:nvGraphicFramePr>
          <p:cNvPr id="3" name="对象 661"/>
          <p:cNvGraphicFramePr>
            <a:graphicFrameLocks noChangeAspect="1"/>
          </p:cNvGraphicFramePr>
          <p:nvPr/>
        </p:nvGraphicFramePr>
        <p:xfrm>
          <a:off x="5562600" y="2162810"/>
          <a:ext cx="1809115" cy="350520"/>
        </p:xfrm>
        <a:graphic>
          <a:graphicData uri="http://schemas.openxmlformats.org/presentationml/2006/ole">
            <mc:AlternateContent xmlns:mc="http://schemas.openxmlformats.org/markup-compatibility/2006">
              <mc:Choice xmlns:v="urn:schemas-microsoft-com:vml" Requires="v">
                <p:oleObj spid="_x0000_s11" name="" r:id="rId3" imgW="913130" imgH="177800" progId="Equation.DSMT4">
                  <p:embed/>
                </p:oleObj>
              </mc:Choice>
              <mc:Fallback>
                <p:oleObj name="" r:id="rId3" imgW="913130" imgH="177800" progId="Equation.DSMT4">
                  <p:embed/>
                  <p:pic>
                    <p:nvPicPr>
                      <p:cNvPr id="0" name="图片 10"/>
                      <p:cNvPicPr/>
                      <p:nvPr/>
                    </p:nvPicPr>
                    <p:blipFill>
                      <a:blip r:embed="rId4"/>
                      <a:stretch>
                        <a:fillRect/>
                      </a:stretch>
                    </p:blipFill>
                    <p:spPr>
                      <a:xfrm>
                        <a:off x="5562600" y="2162810"/>
                        <a:ext cx="1809115" cy="350520"/>
                      </a:xfrm>
                      <a:prstGeom prst="rect">
                        <a:avLst/>
                      </a:prstGeom>
                      <a:noFill/>
                      <a:ln w="38100">
                        <a:noFill/>
                        <a:miter/>
                      </a:ln>
                    </p:spPr>
                  </p:pic>
                </p:oleObj>
              </mc:Fallback>
            </mc:AlternateContent>
          </a:graphicData>
        </a:graphic>
      </p:graphicFrame>
      <p:grpSp>
        <p:nvGrpSpPr>
          <p:cNvPr id="13" name="组合 12"/>
          <p:cNvGrpSpPr/>
          <p:nvPr/>
        </p:nvGrpSpPr>
        <p:grpSpPr>
          <a:xfrm>
            <a:off x="1371600" y="3200400"/>
            <a:ext cx="6456680" cy="1204595"/>
            <a:chOff x="2160" y="5040"/>
            <a:chExt cx="10168" cy="1897"/>
          </a:xfrm>
        </p:grpSpPr>
        <p:pic>
          <p:nvPicPr>
            <p:cNvPr id="9278" name="图片 2715"/>
            <p:cNvPicPr>
              <a:picLocks noChangeAspect="1"/>
            </p:cNvPicPr>
            <p:nvPr/>
          </p:nvPicPr>
          <p:blipFill>
            <a:blip r:embed="rId5"/>
            <a:stretch>
              <a:fillRect/>
            </a:stretch>
          </p:blipFill>
          <p:spPr>
            <a:xfrm>
              <a:off x="2160" y="5040"/>
              <a:ext cx="10169" cy="1134"/>
            </a:xfrm>
            <a:prstGeom prst="rect">
              <a:avLst/>
            </a:prstGeom>
            <a:noFill/>
            <a:ln>
              <a:noFill/>
            </a:ln>
          </p:spPr>
        </p:pic>
        <p:sp>
          <p:nvSpPr>
            <p:cNvPr id="100" name="文本框 99"/>
            <p:cNvSpPr txBox="1"/>
            <p:nvPr/>
          </p:nvSpPr>
          <p:spPr>
            <a:xfrm>
              <a:off x="4320" y="6407"/>
              <a:ext cx="5791" cy="531"/>
            </a:xfrm>
            <a:prstGeom prst="rect">
              <a:avLst/>
            </a:prstGeom>
            <a:noFill/>
            <a:ln w="9525">
              <a:noFill/>
            </a:ln>
          </p:spPr>
          <p:txBody>
            <a:bodyPr wrap="square">
              <a:spAutoFit/>
            </a:bodyPr>
            <a:p>
              <a:r>
                <a:rPr lang="zh-CN" sz="1600">
                  <a:ea typeface="宋体" panose="02010600030101010101" pitchFamily="2" charset="-122"/>
                </a:rPr>
                <a:t>图</a:t>
              </a:r>
              <a:r>
                <a:rPr lang="en-US" sz="1600">
                  <a:latin typeface="Times New Roman" panose="02020603050405020304" charset="0"/>
                  <a:ea typeface="宋体" panose="02010600030101010101" pitchFamily="2" charset="-122"/>
                </a:rPr>
                <a:t>3-54 </a:t>
              </a:r>
              <a:r>
                <a:rPr lang="zh-CN" sz="1600">
                  <a:ea typeface="宋体" panose="02010600030101010101" pitchFamily="2" charset="-122"/>
                </a:rPr>
                <a:t>与非门及其等效逻辑门符号</a:t>
              </a:r>
              <a:endParaRPr lang="zh-CN" altLang="en-US" sz="1600"/>
            </a:p>
          </p:txBody>
        </p:sp>
      </p:grpSp>
      <p:grpSp>
        <p:nvGrpSpPr>
          <p:cNvPr id="14" name="组合 13"/>
          <p:cNvGrpSpPr/>
          <p:nvPr/>
        </p:nvGrpSpPr>
        <p:grpSpPr>
          <a:xfrm>
            <a:off x="1295400" y="4648200"/>
            <a:ext cx="6694170" cy="1179195"/>
            <a:chOff x="2040" y="7320"/>
            <a:chExt cx="10542" cy="1857"/>
          </a:xfrm>
        </p:grpSpPr>
        <p:pic>
          <p:nvPicPr>
            <p:cNvPr id="9279" name="图片 2716"/>
            <p:cNvPicPr>
              <a:picLocks noChangeAspect="1"/>
            </p:cNvPicPr>
            <p:nvPr/>
          </p:nvPicPr>
          <p:blipFill>
            <a:blip r:embed="rId6"/>
            <a:stretch>
              <a:fillRect/>
            </a:stretch>
          </p:blipFill>
          <p:spPr>
            <a:xfrm>
              <a:off x="2040" y="7320"/>
              <a:ext cx="10543" cy="1165"/>
            </a:xfrm>
            <a:prstGeom prst="rect">
              <a:avLst/>
            </a:prstGeom>
            <a:noFill/>
            <a:ln>
              <a:noFill/>
            </a:ln>
          </p:spPr>
        </p:pic>
        <p:sp>
          <p:nvSpPr>
            <p:cNvPr id="12" name="文本框 11"/>
            <p:cNvSpPr txBox="1"/>
            <p:nvPr/>
          </p:nvSpPr>
          <p:spPr>
            <a:xfrm>
              <a:off x="4324" y="8647"/>
              <a:ext cx="5791" cy="531"/>
            </a:xfrm>
            <a:prstGeom prst="rect">
              <a:avLst/>
            </a:prstGeom>
            <a:noFill/>
            <a:ln w="9525">
              <a:noFill/>
            </a:ln>
          </p:spPr>
          <p:txBody>
            <a:bodyPr wrap="square">
              <a:spAutoFit/>
            </a:bodyPr>
            <a:p>
              <a:r>
                <a:rPr sz="1600">
                  <a:ea typeface="宋体" panose="02010600030101010101" pitchFamily="2" charset="-122"/>
                </a:rPr>
                <a:t>图3-55 或非门及其等效逻辑门符号</a:t>
              </a:r>
              <a:endParaRPr sz="160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500" fill="hold">
                                          <p:stCondLst>
                                            <p:cond delay="0"/>
                                          </p:stCondLst>
                                        </p:cTn>
                                        <p:tgtEl>
                                          <p:spTgt spid="13"/>
                                        </p:tgtEl>
                                        <p:attrNameLst>
                                          <p:attrName>style.visibility</p:attrName>
                                        </p:attrNameLst>
                                      </p:cBhvr>
                                      <p:to>
                                        <p:strVal val="visible"/>
                                      </p:to>
                                    </p:set>
                                    <p:animEffect transition="in" filter="wedg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7" presetClass="entr" presetSubtype="4" fill="hold" nodeType="clickEffect">
                                  <p:stCondLst>
                                    <p:cond delay="0"/>
                                  </p:stCondLst>
                                  <p:childTnLst>
                                    <p:set>
                                      <p:cBhvr>
                                        <p:cTn id="11" dur="500" fill="hold">
                                          <p:stCondLst>
                                            <p:cond delay="0"/>
                                          </p:stCondLst>
                                        </p:cTn>
                                        <p:tgtEl>
                                          <p:spTgt spid="14"/>
                                        </p:tgtEl>
                                        <p:attrNameLst>
                                          <p:attrName>style.visibility</p:attrName>
                                        </p:attrNameLst>
                                      </p:cBhvr>
                                      <p:to>
                                        <p:strVal val="visible"/>
                                      </p:to>
                                    </p:set>
                                    <p:anim calcmode="lin" valueType="num">
                                      <p:cBhvr additive="base">
                                        <p:cTn id="12" dur="500" fill="hold"/>
                                        <p:tgtEl>
                                          <p:spTgt spid="14"/>
                                        </p:tgtEl>
                                        <p:attrNameLst>
                                          <p:attrName>ppt_x</p:attrName>
                                        </p:attrNameLst>
                                      </p:cBhvr>
                                      <p:tavLst>
                                        <p:tav tm="0">
                                          <p:val>
                                            <p:strVal val="#ppt_x"/>
                                          </p:val>
                                        </p:tav>
                                        <p:tav tm="100000">
                                          <p:val>
                                            <p:strVal val="#ppt_x"/>
                                          </p:val>
                                        </p:tav>
                                      </p:tavLst>
                                    </p:anim>
                                    <p:anim calcmode="lin" valueType="num">
                                      <p:cBhvr additive="base">
                                        <p:cTn id="13"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 name="文本框 41"/>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122045" y="533400"/>
            <a:ext cx="724281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3.4 </a:t>
            </a:r>
            <a:r>
              <a:rPr b="1" dirty="0">
                <a:solidFill>
                  <a:srgbClr val="FF0000"/>
                </a:solidFill>
                <a:latin typeface="黑体" panose="02010609060101010101" pitchFamily="49" charset="-122"/>
                <a:ea typeface="黑体" panose="02010609060101010101" pitchFamily="49" charset="-122"/>
              </a:rPr>
              <a:t>逻辑描述及逻辑门符号的等效变换</a:t>
            </a:r>
            <a:endParaRPr b="1" dirty="0">
              <a:solidFill>
                <a:srgbClr val="FF000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381000" y="1295400"/>
            <a:ext cx="8453755" cy="852805"/>
          </a:xfrm>
        </p:spPr>
        <p:txBody>
          <a:bodyPr vert="horz" wrap="square" lIns="91440" tIns="45720" rIns="91440" bIns="45720" anchor="t" anchorCtr="0"/>
          <a:p>
            <a:pPr marL="0" indent="0" algn="l"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由</a:t>
            </a:r>
            <a:r>
              <a:rPr sz="2400" b="1" kern="1200" dirty="0">
                <a:solidFill>
                  <a:srgbClr val="000066"/>
                </a:solidFill>
                <a:ea typeface="楷体_GB2312" pitchFamily="49" charset="-122"/>
                <a:sym typeface="+mn-ea"/>
              </a:rPr>
              <a:t>摩根定律</a:t>
            </a:r>
            <a:r>
              <a:rPr sz="2400" b="1" kern="1200" dirty="0">
                <a:solidFill>
                  <a:srgbClr val="000066"/>
                </a:solidFill>
                <a:ea typeface="楷体_GB2312" pitchFamily="49" charset="-122"/>
              </a:rPr>
              <a:t>与门和或门</a:t>
            </a:r>
            <a:r>
              <a:rPr lang="zh-CN" sz="2400" b="1" kern="1200" dirty="0">
                <a:solidFill>
                  <a:srgbClr val="000066"/>
                </a:solidFill>
                <a:ea typeface="楷体_GB2312" pitchFamily="49" charset="-122"/>
              </a:rPr>
              <a:t>的</a:t>
            </a:r>
            <a:r>
              <a:rPr sz="2400" b="1" kern="1200" dirty="0">
                <a:solidFill>
                  <a:srgbClr val="000066"/>
                </a:solidFill>
                <a:ea typeface="楷体_GB2312" pitchFamily="49" charset="-122"/>
              </a:rPr>
              <a:t>逻辑表达式有：</a:t>
            </a:r>
            <a:r>
              <a:rPr lang="en-US" sz="2400" b="1" kern="1200" dirty="0">
                <a:solidFill>
                  <a:srgbClr val="000066"/>
                </a:solidFill>
                <a:ea typeface="楷体_GB2312" pitchFamily="49" charset="-122"/>
              </a:rPr>
              <a:t>                       </a:t>
            </a:r>
            <a:r>
              <a:rPr sz="2400" b="1" kern="1200" dirty="0">
                <a:solidFill>
                  <a:srgbClr val="000066"/>
                </a:solidFill>
                <a:ea typeface="楷体_GB2312" pitchFamily="49" charset="-122"/>
              </a:rPr>
              <a:t>和</a:t>
            </a:r>
            <a:endParaRPr sz="2400" b="1" kern="1200" dirty="0">
              <a:solidFill>
                <a:srgbClr val="000066"/>
              </a:solidFill>
              <a:ea typeface="楷体_GB2312" pitchFamily="49" charset="-122"/>
            </a:endParaRPr>
          </a:p>
          <a:p>
            <a:pPr marL="0" indent="0" algn="l" eaLnBrk="1" latinLnBrk="0" hangingPunct="1">
              <a:lnSpc>
                <a:spcPct val="105000"/>
              </a:lnSpc>
              <a:spcBef>
                <a:spcPts val="0"/>
              </a:spcBef>
              <a:buNone/>
            </a:pPr>
            <a:r>
              <a:rPr sz="2400" b="1" kern="1200" dirty="0">
                <a:solidFill>
                  <a:srgbClr val="000066"/>
                </a:solidFill>
                <a:ea typeface="楷体_GB2312" pitchFamily="49" charset="-122"/>
              </a:rPr>
              <a:t> </a:t>
            </a:r>
            <a:r>
              <a:rPr lang="en-US" sz="2400" b="1" kern="1200" dirty="0">
                <a:solidFill>
                  <a:srgbClr val="000066"/>
                </a:solidFill>
                <a:ea typeface="楷体_GB2312" pitchFamily="49" charset="-122"/>
              </a:rPr>
              <a:t>                      </a:t>
            </a:r>
            <a:r>
              <a:rPr sz="2400" b="1" kern="1200" dirty="0">
                <a:solidFill>
                  <a:srgbClr val="000066"/>
                </a:solidFill>
                <a:ea typeface="楷体_GB2312" pitchFamily="49" charset="-122"/>
              </a:rPr>
              <a:t>，</a:t>
            </a:r>
            <a:r>
              <a:rPr lang="zh-CN" sz="2400" b="1" kern="1200" dirty="0">
                <a:solidFill>
                  <a:srgbClr val="000066"/>
                </a:solidFill>
                <a:ea typeface="楷体_GB2312" pitchFamily="49" charset="-122"/>
              </a:rPr>
              <a:t>它们</a:t>
            </a:r>
            <a:r>
              <a:rPr sz="2400" b="1" kern="1200" dirty="0">
                <a:solidFill>
                  <a:srgbClr val="000066"/>
                </a:solidFill>
                <a:ea typeface="楷体_GB2312" pitchFamily="49" charset="-122"/>
              </a:rPr>
              <a:t>等效逻辑门符号如图3-56和图3-57所示。</a:t>
            </a:r>
            <a:endParaRPr sz="2400" b="1" kern="1200" dirty="0">
              <a:solidFill>
                <a:srgbClr val="000066"/>
              </a:solidFill>
              <a:ea typeface="楷体_GB2312" pitchFamily="49" charset="-122"/>
            </a:endParaRPr>
          </a:p>
        </p:txBody>
      </p:sp>
      <p:sp>
        <p:nvSpPr>
          <p:cNvPr id="10" name="Rectangle 3"/>
          <p:cNvSpPr>
            <a:spLocks noGrp="1"/>
          </p:cNvSpPr>
          <p:nvPr/>
        </p:nvSpPr>
        <p:spPr>
          <a:xfrm>
            <a:off x="431165" y="4724400"/>
            <a:ext cx="8268970" cy="213868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05000"/>
              </a:lnSpc>
              <a:spcBef>
                <a:spcPts val="0"/>
              </a:spcBef>
              <a:buNone/>
            </a:pPr>
            <a:r>
              <a:rPr lang="en-US" sz="2400" b="1" kern="1200" dirty="0">
                <a:solidFill>
                  <a:srgbClr val="000066"/>
                </a:solidFill>
                <a:ea typeface="楷体_GB2312" pitchFamily="49" charset="-122"/>
              </a:rPr>
              <a:t>        </a:t>
            </a:r>
            <a:r>
              <a:rPr sz="2400" b="1" kern="1200" dirty="0">
                <a:solidFill>
                  <a:srgbClr val="000066"/>
                </a:solidFill>
                <a:ea typeface="楷体_GB2312" pitchFamily="49" charset="-122"/>
              </a:rPr>
              <a:t>基本逻辑门符号到等效逻辑门符号的变换规则</a:t>
            </a:r>
            <a:r>
              <a:rPr lang="zh-CN" sz="2400" b="1" kern="1200" dirty="0">
                <a:solidFill>
                  <a:srgbClr val="000066"/>
                </a:solidFill>
                <a:ea typeface="楷体_GB2312" pitchFamily="49" charset="-122"/>
              </a:rPr>
              <a:t>如下</a:t>
            </a:r>
            <a:r>
              <a:rPr sz="2400" b="1" kern="1200" dirty="0">
                <a:solidFill>
                  <a:srgbClr val="000066"/>
                </a:solidFill>
                <a:ea typeface="楷体_GB2312" pitchFamily="49" charset="-122"/>
              </a:rPr>
              <a:t>：</a:t>
            </a:r>
            <a:endParaRPr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en-US" sz="2400" b="1" kern="1200" dirty="0">
                <a:solidFill>
                  <a:srgbClr val="000066"/>
                </a:solidFill>
                <a:ea typeface="楷体_GB2312" pitchFamily="49" charset="-122"/>
              </a:rPr>
              <a:t>        </a:t>
            </a:r>
            <a:r>
              <a:rPr sz="2400" b="1" kern="1200" dirty="0">
                <a:solidFill>
                  <a:srgbClr val="000066"/>
                </a:solidFill>
                <a:ea typeface="楷体_GB2312" pitchFamily="49" charset="-122"/>
              </a:rPr>
              <a:t>(1) 在输入、输出线上没有小圆圈的加小圆圈，有小圆圈的将其去除。</a:t>
            </a:r>
            <a:endParaRPr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en-US" sz="2400" b="1" kern="1200" dirty="0">
                <a:solidFill>
                  <a:srgbClr val="000066"/>
                </a:solidFill>
                <a:ea typeface="楷体_GB2312" pitchFamily="49" charset="-122"/>
              </a:rPr>
              <a:t>        </a:t>
            </a:r>
            <a:r>
              <a:rPr sz="2400" b="1" kern="1200" dirty="0">
                <a:solidFill>
                  <a:srgbClr val="000066"/>
                </a:solidFill>
                <a:ea typeface="楷体_GB2312" pitchFamily="49" charset="-122"/>
              </a:rPr>
              <a:t>(2) 将与门变为或门，将或门变为与门。</a:t>
            </a:r>
            <a:endParaRPr sz="2400" b="1" kern="1200" dirty="0">
              <a:solidFill>
                <a:srgbClr val="000066"/>
              </a:solidFill>
              <a:ea typeface="楷体_GB2312" pitchFamily="49" charset="-122"/>
            </a:endParaRPr>
          </a:p>
          <a:p>
            <a:pPr marL="0" indent="0" algn="just" eaLnBrk="1" latinLnBrk="0" hangingPunct="1">
              <a:lnSpc>
                <a:spcPct val="105000"/>
              </a:lnSpc>
              <a:spcBef>
                <a:spcPts val="0"/>
              </a:spcBef>
              <a:buNone/>
            </a:pPr>
            <a:r>
              <a:rPr lang="en-US" sz="2400" b="1" kern="1200" dirty="0">
                <a:solidFill>
                  <a:srgbClr val="000066"/>
                </a:solidFill>
                <a:ea typeface="楷体_GB2312" pitchFamily="49" charset="-122"/>
              </a:rPr>
              <a:t>        </a:t>
            </a:r>
            <a:r>
              <a:rPr sz="2400" b="1" kern="1200" dirty="0">
                <a:solidFill>
                  <a:srgbClr val="000066"/>
                </a:solidFill>
                <a:ea typeface="楷体_GB2312" pitchFamily="49" charset="-122"/>
              </a:rPr>
              <a:t>(3) 非门符号保留不变。</a:t>
            </a:r>
            <a:endParaRPr sz="2400" b="1" kern="1200" dirty="0">
              <a:solidFill>
                <a:srgbClr val="000066"/>
              </a:solidFill>
              <a:ea typeface="楷体_GB2312" pitchFamily="49" charset="-122"/>
            </a:endParaRPr>
          </a:p>
        </p:txBody>
      </p:sp>
      <p:graphicFrame>
        <p:nvGraphicFramePr>
          <p:cNvPr id="2" name="对象 662"/>
          <p:cNvGraphicFramePr>
            <a:graphicFrameLocks noChangeAspect="1"/>
          </p:cNvGraphicFramePr>
          <p:nvPr/>
        </p:nvGraphicFramePr>
        <p:xfrm>
          <a:off x="6400800" y="1177290"/>
          <a:ext cx="2077720" cy="490220"/>
        </p:xfrm>
        <a:graphic>
          <a:graphicData uri="http://schemas.openxmlformats.org/presentationml/2006/ole">
            <mc:AlternateContent xmlns:mc="http://schemas.openxmlformats.org/markup-compatibility/2006">
              <mc:Choice xmlns:v="urn:schemas-microsoft-com:vml" Requires="v">
                <p:oleObj spid="_x0000_s3076" name="" r:id="rId1" imgW="913130" imgH="215900" progId="Equation.DSMT4">
                  <p:embed/>
                </p:oleObj>
              </mc:Choice>
              <mc:Fallback>
                <p:oleObj name="" r:id="rId1" imgW="913130" imgH="215900" progId="Equation.DSMT4">
                  <p:embed/>
                  <p:pic>
                    <p:nvPicPr>
                      <p:cNvPr id="0" name="图片 3075"/>
                      <p:cNvPicPr/>
                      <p:nvPr/>
                    </p:nvPicPr>
                    <p:blipFill>
                      <a:blip r:embed="rId2"/>
                      <a:stretch>
                        <a:fillRect/>
                      </a:stretch>
                    </p:blipFill>
                    <p:spPr>
                      <a:xfrm>
                        <a:off x="6400800" y="1177290"/>
                        <a:ext cx="2077720" cy="490220"/>
                      </a:xfrm>
                      <a:prstGeom prst="rect">
                        <a:avLst/>
                      </a:prstGeom>
                      <a:noFill/>
                      <a:ln w="38100">
                        <a:noFill/>
                        <a:miter/>
                      </a:ln>
                    </p:spPr>
                  </p:pic>
                </p:oleObj>
              </mc:Fallback>
            </mc:AlternateContent>
          </a:graphicData>
        </a:graphic>
      </p:graphicFrame>
      <p:graphicFrame>
        <p:nvGraphicFramePr>
          <p:cNvPr id="3" name="对象 663"/>
          <p:cNvGraphicFramePr>
            <a:graphicFrameLocks noChangeAspect="1"/>
          </p:cNvGraphicFramePr>
          <p:nvPr/>
        </p:nvGraphicFramePr>
        <p:xfrm>
          <a:off x="533400" y="1634490"/>
          <a:ext cx="1834515" cy="433070"/>
        </p:xfrm>
        <a:graphic>
          <a:graphicData uri="http://schemas.openxmlformats.org/presentationml/2006/ole">
            <mc:AlternateContent xmlns:mc="http://schemas.openxmlformats.org/markup-compatibility/2006">
              <mc:Choice xmlns:v="urn:schemas-microsoft-com:vml" Requires="v">
                <p:oleObj spid="_x0000_s5" name="" r:id="rId3" imgW="913130" imgH="215900" progId="Equation.DSMT4">
                  <p:embed/>
                </p:oleObj>
              </mc:Choice>
              <mc:Fallback>
                <p:oleObj name="" r:id="rId3" imgW="913130" imgH="215900" progId="Equation.DSMT4">
                  <p:embed/>
                  <p:pic>
                    <p:nvPicPr>
                      <p:cNvPr id="0" name="图片 4"/>
                      <p:cNvPicPr/>
                      <p:nvPr/>
                    </p:nvPicPr>
                    <p:blipFill>
                      <a:blip r:embed="rId4"/>
                      <a:stretch>
                        <a:fillRect/>
                      </a:stretch>
                    </p:blipFill>
                    <p:spPr>
                      <a:xfrm>
                        <a:off x="533400" y="1634490"/>
                        <a:ext cx="1834515" cy="433070"/>
                      </a:xfrm>
                      <a:prstGeom prst="rect">
                        <a:avLst/>
                      </a:prstGeom>
                      <a:noFill/>
                      <a:ln w="38100">
                        <a:noFill/>
                        <a:miter/>
                      </a:ln>
                    </p:spPr>
                  </p:pic>
                </p:oleObj>
              </mc:Fallback>
            </mc:AlternateContent>
          </a:graphicData>
        </a:graphic>
      </p:graphicFrame>
      <p:grpSp>
        <p:nvGrpSpPr>
          <p:cNvPr id="7" name="组合 6"/>
          <p:cNvGrpSpPr/>
          <p:nvPr/>
        </p:nvGrpSpPr>
        <p:grpSpPr>
          <a:xfrm>
            <a:off x="1371600" y="2286000"/>
            <a:ext cx="6689090" cy="1128395"/>
            <a:chOff x="2160" y="3600"/>
            <a:chExt cx="10534" cy="1777"/>
          </a:xfrm>
        </p:grpSpPr>
        <p:sp>
          <p:nvSpPr>
            <p:cNvPr id="100" name="文本框 99"/>
            <p:cNvSpPr txBox="1"/>
            <p:nvPr/>
          </p:nvSpPr>
          <p:spPr>
            <a:xfrm>
              <a:off x="4320" y="4847"/>
              <a:ext cx="5791" cy="531"/>
            </a:xfrm>
            <a:prstGeom prst="rect">
              <a:avLst/>
            </a:prstGeom>
            <a:noFill/>
            <a:ln w="9525">
              <a:noFill/>
            </a:ln>
          </p:spPr>
          <p:txBody>
            <a:bodyPr wrap="square">
              <a:spAutoFit/>
            </a:bodyPr>
            <a:p>
              <a:r>
                <a:rPr sz="1600">
                  <a:ea typeface="宋体" panose="02010600030101010101" pitchFamily="2" charset="-122"/>
                </a:rPr>
                <a:t>图3-56 与门及其等效逻辑门符号</a:t>
              </a:r>
              <a:endParaRPr sz="1600">
                <a:ea typeface="宋体" panose="02010600030101010101" pitchFamily="2" charset="-122"/>
              </a:endParaRPr>
            </a:p>
          </p:txBody>
        </p:sp>
        <p:pic>
          <p:nvPicPr>
            <p:cNvPr id="9280" name="图片 2717"/>
            <p:cNvPicPr>
              <a:picLocks noChangeAspect="1"/>
            </p:cNvPicPr>
            <p:nvPr/>
          </p:nvPicPr>
          <p:blipFill>
            <a:blip r:embed="rId5"/>
            <a:stretch>
              <a:fillRect/>
            </a:stretch>
          </p:blipFill>
          <p:spPr>
            <a:xfrm>
              <a:off x="2160" y="3600"/>
              <a:ext cx="10535" cy="1172"/>
            </a:xfrm>
            <a:prstGeom prst="rect">
              <a:avLst/>
            </a:prstGeom>
            <a:noFill/>
            <a:ln>
              <a:noFill/>
            </a:ln>
          </p:spPr>
        </p:pic>
      </p:grpSp>
      <p:grpSp>
        <p:nvGrpSpPr>
          <p:cNvPr id="8" name="组合 7"/>
          <p:cNvGrpSpPr/>
          <p:nvPr/>
        </p:nvGrpSpPr>
        <p:grpSpPr>
          <a:xfrm>
            <a:off x="1371600" y="3505200"/>
            <a:ext cx="6798310" cy="1179195"/>
            <a:chOff x="2160" y="5520"/>
            <a:chExt cx="10706" cy="1857"/>
          </a:xfrm>
        </p:grpSpPr>
        <p:sp>
          <p:nvSpPr>
            <p:cNvPr id="12" name="文本框 11"/>
            <p:cNvSpPr txBox="1"/>
            <p:nvPr/>
          </p:nvSpPr>
          <p:spPr>
            <a:xfrm>
              <a:off x="4324" y="6847"/>
              <a:ext cx="5791" cy="531"/>
            </a:xfrm>
            <a:prstGeom prst="rect">
              <a:avLst/>
            </a:prstGeom>
            <a:noFill/>
            <a:ln w="9525">
              <a:noFill/>
            </a:ln>
          </p:spPr>
          <p:txBody>
            <a:bodyPr wrap="square">
              <a:spAutoFit/>
            </a:bodyPr>
            <a:p>
              <a:r>
                <a:rPr sz="1600">
                  <a:ea typeface="宋体" panose="02010600030101010101" pitchFamily="2" charset="-122"/>
                </a:rPr>
                <a:t>图3-57 或门及其等效逻辑门符号</a:t>
              </a:r>
              <a:endParaRPr sz="1600">
                <a:ea typeface="宋体" panose="02010600030101010101" pitchFamily="2" charset="-122"/>
              </a:endParaRPr>
            </a:p>
          </p:txBody>
        </p:sp>
        <p:pic>
          <p:nvPicPr>
            <p:cNvPr id="9281" name="图片 2718"/>
            <p:cNvPicPr>
              <a:picLocks noChangeAspect="1"/>
            </p:cNvPicPr>
            <p:nvPr/>
          </p:nvPicPr>
          <p:blipFill>
            <a:blip r:embed="rId6"/>
            <a:stretch>
              <a:fillRect/>
            </a:stretch>
          </p:blipFill>
          <p:spPr>
            <a:xfrm>
              <a:off x="2160" y="5520"/>
              <a:ext cx="10707" cy="1181"/>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500" fill="hold">
                                          <p:stCondLst>
                                            <p:cond delay="0"/>
                                          </p:stCondLst>
                                        </p:cTn>
                                        <p:tgtEl>
                                          <p:spTgt spid="7"/>
                                        </p:tgtEl>
                                        <p:attrNameLst>
                                          <p:attrName>style.visibility</p:attrName>
                                        </p:attrNameLst>
                                      </p:cBhvr>
                                      <p:to>
                                        <p:strVal val="visible"/>
                                      </p:to>
                                    </p:set>
                                    <p:animEffect transition="in" filter="wedg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50" presetClass="entr" presetSubtype="0" decel="10000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1000" fill="hold"/>
                                        <p:tgtEl>
                                          <p:spTgt spid="8"/>
                                        </p:tgtEl>
                                        <p:attrNameLst>
                                          <p:attrName>ppt_w</p:attrName>
                                        </p:attrNameLst>
                                      </p:cBhvr>
                                      <p:tavLst>
                                        <p:tav tm="0">
                                          <p:val>
                                            <p:strVal val="#ppt_w+.3"/>
                                          </p:val>
                                        </p:tav>
                                        <p:tav tm="100000">
                                          <p:val>
                                            <p:strVal val="#ppt_w"/>
                                          </p:val>
                                        </p:tav>
                                      </p:tavLst>
                                    </p:anim>
                                    <p:anim calcmode="lin" valueType="num">
                                      <p:cBhvr>
                                        <p:cTn id="13" dur="1000" fill="hold"/>
                                        <p:tgtEl>
                                          <p:spTgt spid="8"/>
                                        </p:tgtEl>
                                        <p:attrNameLst>
                                          <p:attrName>ppt_h</p:attrName>
                                        </p:attrNameLst>
                                      </p:cBhvr>
                                      <p:tavLst>
                                        <p:tav tm="0">
                                          <p:val>
                                            <p:strVal val="#ppt_h"/>
                                          </p:val>
                                        </p:tav>
                                        <p:tav tm="100000">
                                          <p:val>
                                            <p:strVal val="#ppt_h"/>
                                          </p:val>
                                        </p:tav>
                                      </p:tavLst>
                                    </p:anim>
                                    <p:animEffect transition="in" filter="fade">
                                      <p:cBhvr>
                                        <p:cTn id="14" dur="10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grpId="0" nodeType="clickEffect">
                                  <p:stCondLst>
                                    <p:cond delay="0"/>
                                  </p:stCondLst>
                                  <p:childTnLst>
                                    <p:set>
                                      <p:cBhvr>
                                        <p:cTn id="18" dur="500" fill="hold">
                                          <p:stCondLst>
                                            <p:cond delay="0"/>
                                          </p:stCondLst>
                                        </p:cTn>
                                        <p:tgtEl>
                                          <p:spTgt spid="10"/>
                                        </p:tgtEl>
                                        <p:attrNameLst>
                                          <p:attrName>style.visibility</p:attrName>
                                        </p:attrNameLst>
                                      </p:cBhvr>
                                      <p:to>
                                        <p:strVal val="visible"/>
                                      </p:to>
                                    </p:set>
                                    <p:animEffect transition="in" filter="box(in)">
                                      <p:cBhvr>
                                        <p:cTn id="1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 name="文本框 41"/>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122045" y="533400"/>
            <a:ext cx="724281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3.4 </a:t>
            </a:r>
            <a:r>
              <a:rPr b="1" dirty="0">
                <a:solidFill>
                  <a:srgbClr val="FF0000"/>
                </a:solidFill>
                <a:latin typeface="黑体" panose="02010609060101010101" pitchFamily="49" charset="-122"/>
                <a:ea typeface="黑体" panose="02010609060101010101" pitchFamily="49" charset="-122"/>
              </a:rPr>
              <a:t>逻辑描述及逻辑门符号的等效变换</a:t>
            </a:r>
            <a:endParaRPr b="1" dirty="0">
              <a:solidFill>
                <a:srgbClr val="FF000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381000" y="1295400"/>
            <a:ext cx="8453755" cy="852805"/>
          </a:xfrm>
        </p:spPr>
        <p:txBody>
          <a:bodyPr vert="horz" wrap="square" lIns="91440" tIns="45720" rIns="91440" bIns="45720" anchor="t" anchorCtr="0"/>
          <a:p>
            <a:pPr marL="0" indent="0" algn="l"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【例3-5】将下列逻辑图变换成仅用2输入或非门实现的逻辑图。</a:t>
            </a:r>
            <a:endParaRPr sz="2400" b="1" kern="1200" dirty="0">
              <a:solidFill>
                <a:srgbClr val="000066"/>
              </a:solidFill>
              <a:latin typeface="Arial" panose="020B0604020202020204" pitchFamily="34" charset="0"/>
              <a:ea typeface="楷体_GB2312" pitchFamily="49" charset="-122"/>
            </a:endParaRPr>
          </a:p>
        </p:txBody>
      </p:sp>
      <p:sp>
        <p:nvSpPr>
          <p:cNvPr id="10" name="Rectangle 3"/>
          <p:cNvSpPr>
            <a:spLocks noGrp="1"/>
          </p:cNvSpPr>
          <p:nvPr/>
        </p:nvSpPr>
        <p:spPr>
          <a:xfrm>
            <a:off x="431165" y="2057400"/>
            <a:ext cx="8268970" cy="213868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05000"/>
              </a:lnSpc>
              <a:spcBef>
                <a:spcPts val="0"/>
              </a:spcBef>
              <a:buNone/>
            </a:pPr>
            <a:r>
              <a:rPr lang="en-US" sz="2400" b="1" kern="1200" dirty="0">
                <a:solidFill>
                  <a:srgbClr val="000066"/>
                </a:solidFill>
                <a:ea typeface="楷体_GB2312" pitchFamily="49" charset="-122"/>
              </a:rPr>
              <a:t>        </a:t>
            </a:r>
            <a:r>
              <a:rPr sz="2400" b="1" kern="1200" dirty="0">
                <a:solidFill>
                  <a:srgbClr val="000066"/>
                </a:solidFill>
                <a:ea typeface="楷体_GB2312" pitchFamily="49" charset="-122"/>
              </a:rPr>
              <a:t>解：由于G</a:t>
            </a:r>
            <a:r>
              <a:rPr sz="2400" b="1" kern="1200" baseline="-25000" dirty="0">
                <a:solidFill>
                  <a:srgbClr val="000066"/>
                </a:solidFill>
                <a:ea typeface="楷体_GB2312" pitchFamily="49" charset="-122"/>
              </a:rPr>
              <a:t>1</a:t>
            </a:r>
            <a:r>
              <a:rPr sz="2400" b="1" kern="1200" dirty="0">
                <a:solidFill>
                  <a:srgbClr val="000066"/>
                </a:solidFill>
                <a:ea typeface="楷体_GB2312" pitchFamily="49" charset="-122"/>
              </a:rPr>
              <a:t>和G</a:t>
            </a:r>
            <a:r>
              <a:rPr sz="2400" b="1" kern="1200" baseline="-25000" dirty="0">
                <a:solidFill>
                  <a:srgbClr val="000066"/>
                </a:solidFill>
                <a:ea typeface="楷体_GB2312" pitchFamily="49" charset="-122"/>
              </a:rPr>
              <a:t>2</a:t>
            </a:r>
            <a:r>
              <a:rPr sz="2400" b="1" kern="1200" dirty="0">
                <a:solidFill>
                  <a:srgbClr val="000066"/>
                </a:solidFill>
                <a:ea typeface="楷体_GB2312" pitchFamily="49" charset="-122"/>
              </a:rPr>
              <a:t>都是或门，因此，要在G</a:t>
            </a:r>
            <a:r>
              <a:rPr sz="2400" b="1" kern="1200" baseline="-25000" dirty="0">
                <a:solidFill>
                  <a:srgbClr val="000066"/>
                </a:solidFill>
                <a:ea typeface="楷体_GB2312" pitchFamily="49" charset="-122"/>
              </a:rPr>
              <a:t>1</a:t>
            </a:r>
            <a:r>
              <a:rPr sz="2400" b="1" kern="1200" dirty="0">
                <a:solidFill>
                  <a:srgbClr val="000066"/>
                </a:solidFill>
                <a:ea typeface="楷体_GB2312" pitchFamily="49" charset="-122"/>
              </a:rPr>
              <a:t>和G</a:t>
            </a:r>
            <a:r>
              <a:rPr sz="2400" b="1" kern="1200" baseline="-25000" dirty="0">
                <a:solidFill>
                  <a:srgbClr val="000066"/>
                </a:solidFill>
                <a:ea typeface="楷体_GB2312" pitchFamily="49" charset="-122"/>
              </a:rPr>
              <a:t>2</a:t>
            </a:r>
            <a:r>
              <a:rPr sz="2400" b="1" kern="1200" dirty="0">
                <a:solidFill>
                  <a:srgbClr val="000066"/>
                </a:solidFill>
                <a:ea typeface="楷体_GB2312" pitchFamily="49" charset="-122"/>
              </a:rPr>
              <a:t>的输出加上小圆圈才能成为或非门，为了不改变逻辑关系，必须在G</a:t>
            </a:r>
            <a:r>
              <a:rPr sz="2400" b="1" kern="1200" baseline="-25000" dirty="0">
                <a:solidFill>
                  <a:srgbClr val="000066"/>
                </a:solidFill>
                <a:ea typeface="楷体_GB2312" pitchFamily="49" charset="-122"/>
              </a:rPr>
              <a:t>3</a:t>
            </a:r>
            <a:r>
              <a:rPr sz="2400" b="1" kern="1200" dirty="0">
                <a:solidFill>
                  <a:srgbClr val="000066"/>
                </a:solidFill>
                <a:ea typeface="楷体_GB2312" pitchFamily="49" charset="-122"/>
              </a:rPr>
              <a:t>的两个输入端也加上小圆圈，如图3-59所示。利用基本逻辑门符号到等效逻辑门符号的变换规则 (1) 和 (2) 将图3-59中的G</a:t>
            </a:r>
            <a:r>
              <a:rPr sz="2400" b="1" kern="1200" baseline="-25000" dirty="0">
                <a:solidFill>
                  <a:srgbClr val="000066"/>
                </a:solidFill>
                <a:ea typeface="楷体_GB2312" pitchFamily="49" charset="-122"/>
              </a:rPr>
              <a:t>3</a:t>
            </a:r>
            <a:r>
              <a:rPr sz="2400" b="1" kern="1200" dirty="0">
                <a:solidFill>
                  <a:srgbClr val="000066"/>
                </a:solidFill>
                <a:ea typeface="楷体_GB2312" pitchFamily="49" charset="-122"/>
              </a:rPr>
              <a:t>变为或非门就得到了结果，如图3-60所示。</a:t>
            </a:r>
            <a:endParaRPr sz="2400" b="1" kern="1200" dirty="0">
              <a:solidFill>
                <a:srgbClr val="000066"/>
              </a:solidFill>
              <a:ea typeface="楷体_GB2312" pitchFamily="49" charset="-122"/>
            </a:endParaRPr>
          </a:p>
        </p:txBody>
      </p:sp>
      <p:grpSp>
        <p:nvGrpSpPr>
          <p:cNvPr id="13" name="组合 12"/>
          <p:cNvGrpSpPr/>
          <p:nvPr/>
        </p:nvGrpSpPr>
        <p:grpSpPr>
          <a:xfrm>
            <a:off x="457200" y="4191000"/>
            <a:ext cx="2921000" cy="2499995"/>
            <a:chOff x="720" y="6600"/>
            <a:chExt cx="4600" cy="3937"/>
          </a:xfrm>
        </p:grpSpPr>
        <p:sp>
          <p:nvSpPr>
            <p:cNvPr id="100" name="文本框 99"/>
            <p:cNvSpPr txBox="1"/>
            <p:nvPr/>
          </p:nvSpPr>
          <p:spPr>
            <a:xfrm>
              <a:off x="1080" y="10007"/>
              <a:ext cx="3141" cy="531"/>
            </a:xfrm>
            <a:prstGeom prst="rect">
              <a:avLst/>
            </a:prstGeom>
            <a:noFill/>
            <a:ln w="9525">
              <a:noFill/>
            </a:ln>
          </p:spPr>
          <p:txBody>
            <a:bodyPr wrap="square">
              <a:spAutoFit/>
            </a:bodyPr>
            <a:p>
              <a:r>
                <a:rPr sz="1600">
                  <a:ea typeface="宋体" panose="02010600030101010101" pitchFamily="2" charset="-122"/>
                </a:rPr>
                <a:t>图3-58 例3-5逻辑图</a:t>
              </a:r>
              <a:endParaRPr sz="1600">
                <a:ea typeface="宋体" panose="02010600030101010101" pitchFamily="2" charset="-122"/>
              </a:endParaRPr>
            </a:p>
          </p:txBody>
        </p:sp>
        <p:pic>
          <p:nvPicPr>
            <p:cNvPr id="9282" name="图片 2719"/>
            <p:cNvPicPr>
              <a:picLocks noChangeAspect="1"/>
            </p:cNvPicPr>
            <p:nvPr/>
          </p:nvPicPr>
          <p:blipFill>
            <a:blip r:embed="rId1"/>
            <a:stretch>
              <a:fillRect/>
            </a:stretch>
          </p:blipFill>
          <p:spPr>
            <a:xfrm>
              <a:off x="720" y="6600"/>
              <a:ext cx="4601" cy="3142"/>
            </a:xfrm>
            <a:prstGeom prst="rect">
              <a:avLst/>
            </a:prstGeom>
            <a:noFill/>
            <a:ln>
              <a:noFill/>
            </a:ln>
          </p:spPr>
        </p:pic>
      </p:grpSp>
      <p:grpSp>
        <p:nvGrpSpPr>
          <p:cNvPr id="11" name="组合 10"/>
          <p:cNvGrpSpPr/>
          <p:nvPr/>
        </p:nvGrpSpPr>
        <p:grpSpPr>
          <a:xfrm>
            <a:off x="3048000" y="4227195"/>
            <a:ext cx="2999740" cy="2487930"/>
            <a:chOff x="4800" y="6657"/>
            <a:chExt cx="4724" cy="3918"/>
          </a:xfrm>
        </p:grpSpPr>
        <p:pic>
          <p:nvPicPr>
            <p:cNvPr id="9283" name="图片 2720"/>
            <p:cNvPicPr>
              <a:picLocks noChangeAspect="1"/>
            </p:cNvPicPr>
            <p:nvPr/>
          </p:nvPicPr>
          <p:blipFill>
            <a:blip r:embed="rId2"/>
            <a:stretch>
              <a:fillRect/>
            </a:stretch>
          </p:blipFill>
          <p:spPr>
            <a:xfrm>
              <a:off x="5400" y="6657"/>
              <a:ext cx="4124" cy="3020"/>
            </a:xfrm>
            <a:prstGeom prst="rect">
              <a:avLst/>
            </a:prstGeom>
            <a:noFill/>
            <a:ln>
              <a:noFill/>
            </a:ln>
          </p:spPr>
        </p:pic>
        <p:sp>
          <p:nvSpPr>
            <p:cNvPr id="6" name="文本框 5"/>
            <p:cNvSpPr txBox="1"/>
            <p:nvPr/>
          </p:nvSpPr>
          <p:spPr>
            <a:xfrm>
              <a:off x="4800" y="10045"/>
              <a:ext cx="4317" cy="531"/>
            </a:xfrm>
            <a:prstGeom prst="rect">
              <a:avLst/>
            </a:prstGeom>
            <a:noFill/>
            <a:ln w="9525">
              <a:noFill/>
            </a:ln>
          </p:spPr>
          <p:txBody>
            <a:bodyPr wrap="square">
              <a:spAutoFit/>
            </a:bodyPr>
            <a:p>
              <a:r>
                <a:rPr lang="zh-CN" sz="1600">
                  <a:ea typeface="宋体" panose="02010600030101010101" pitchFamily="2" charset="-122"/>
                </a:rPr>
                <a:t>图</a:t>
              </a:r>
              <a:r>
                <a:rPr lang="en-US" sz="1600">
                  <a:latin typeface="Times New Roman" panose="02020603050405020304" charset="0"/>
                  <a:ea typeface="宋体" panose="02010600030101010101" pitchFamily="2" charset="-122"/>
                </a:rPr>
                <a:t>3-59 </a:t>
              </a:r>
              <a:r>
                <a:rPr lang="zh-CN" sz="1600">
                  <a:ea typeface="宋体" panose="02010600030101010101" pitchFamily="2" charset="-122"/>
                </a:rPr>
                <a:t>例</a:t>
              </a:r>
              <a:r>
                <a:rPr lang="en-US" sz="1600">
                  <a:latin typeface="Times New Roman" panose="02020603050405020304" charset="0"/>
                  <a:ea typeface="宋体" panose="02010600030101010101" pitchFamily="2" charset="-122"/>
                </a:rPr>
                <a:t>3-5</a:t>
              </a:r>
              <a:r>
                <a:rPr lang="zh-CN" sz="1600">
                  <a:ea typeface="宋体" panose="02010600030101010101" pitchFamily="2" charset="-122"/>
                </a:rPr>
                <a:t>等效变换逻辑图</a:t>
              </a:r>
              <a:endParaRPr lang="zh-CN" altLang="en-US" sz="1600"/>
            </a:p>
          </p:txBody>
        </p:sp>
      </p:grpSp>
      <p:grpSp>
        <p:nvGrpSpPr>
          <p:cNvPr id="14" name="组合 13"/>
          <p:cNvGrpSpPr/>
          <p:nvPr/>
        </p:nvGrpSpPr>
        <p:grpSpPr>
          <a:xfrm>
            <a:off x="5915660" y="4191000"/>
            <a:ext cx="3209290" cy="2536825"/>
            <a:chOff x="9316" y="6600"/>
            <a:chExt cx="5054" cy="3995"/>
          </a:xfrm>
        </p:grpSpPr>
        <p:pic>
          <p:nvPicPr>
            <p:cNvPr id="9284" name="图片 2721"/>
            <p:cNvPicPr>
              <a:picLocks noChangeAspect="1"/>
            </p:cNvPicPr>
            <p:nvPr/>
          </p:nvPicPr>
          <p:blipFill>
            <a:blip r:embed="rId3"/>
            <a:stretch>
              <a:fillRect/>
            </a:stretch>
          </p:blipFill>
          <p:spPr>
            <a:xfrm>
              <a:off x="9600" y="6600"/>
              <a:ext cx="4276" cy="3107"/>
            </a:xfrm>
            <a:prstGeom prst="rect">
              <a:avLst/>
            </a:prstGeom>
            <a:noFill/>
            <a:ln>
              <a:noFill/>
            </a:ln>
          </p:spPr>
        </p:pic>
        <p:sp>
          <p:nvSpPr>
            <p:cNvPr id="9" name="文本框 8"/>
            <p:cNvSpPr txBox="1"/>
            <p:nvPr/>
          </p:nvSpPr>
          <p:spPr>
            <a:xfrm>
              <a:off x="9316" y="10065"/>
              <a:ext cx="5054" cy="531"/>
            </a:xfrm>
            <a:prstGeom prst="rect">
              <a:avLst/>
            </a:prstGeom>
            <a:noFill/>
            <a:ln w="9525">
              <a:noFill/>
            </a:ln>
          </p:spPr>
          <p:txBody>
            <a:bodyPr wrap="square">
              <a:spAutoFit/>
            </a:bodyPr>
            <a:p>
              <a:r>
                <a:rPr lang="zh-CN" sz="1600">
                  <a:ea typeface="宋体" panose="02010600030101010101" pitchFamily="2" charset="-122"/>
                </a:rPr>
                <a:t>图</a:t>
              </a:r>
              <a:r>
                <a:rPr lang="en-US" sz="1600">
                  <a:latin typeface="Times New Roman" panose="02020603050405020304" charset="0"/>
                  <a:ea typeface="宋体" panose="02010600030101010101" pitchFamily="2" charset="-122"/>
                </a:rPr>
                <a:t>3-60 </a:t>
              </a:r>
              <a:r>
                <a:rPr lang="zh-CN" sz="1600">
                  <a:ea typeface="宋体" panose="02010600030101010101" pitchFamily="2" charset="-122"/>
                </a:rPr>
                <a:t>例</a:t>
              </a:r>
              <a:r>
                <a:rPr lang="en-US" sz="1600">
                  <a:latin typeface="Times New Roman" panose="02020603050405020304" charset="0"/>
                  <a:ea typeface="宋体" panose="02010600030101010101" pitchFamily="2" charset="-122"/>
                </a:rPr>
                <a:t>3-5</a:t>
              </a:r>
              <a:r>
                <a:rPr lang="zh-CN" sz="1600">
                  <a:ea typeface="宋体" panose="02010600030101010101" pitchFamily="2" charset="-122"/>
                </a:rPr>
                <a:t>或非门实现的逻辑图</a:t>
              </a:r>
              <a:endParaRPr lang="zh-CN" altLang="en-US" sz="16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500" fill="hold">
                                          <p:stCondLst>
                                            <p:cond delay="0"/>
                                          </p:stCondLst>
                                        </p:cTn>
                                        <p:tgtEl>
                                          <p:spTgt spid="10"/>
                                        </p:tgtEl>
                                        <p:attrNameLst>
                                          <p:attrName>style.visibility</p:attrName>
                                        </p:attrNameLst>
                                      </p:cBhvr>
                                      <p:to>
                                        <p:strVal val="visible"/>
                                      </p:to>
                                    </p:set>
                                    <p:animEffect transition="in" filter="box(i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arn(inVertical)">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linds(horizontal)">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nodeType="clickEffect">
                                  <p:stCondLst>
                                    <p:cond delay="0"/>
                                  </p:stCondLst>
                                  <p:childTnLst>
                                    <p:set>
                                      <p:cBhvr>
                                        <p:cTn id="21" dur="500" fill="hold">
                                          <p:stCondLst>
                                            <p:cond delay="0"/>
                                          </p:stCondLst>
                                        </p:cTn>
                                        <p:tgtEl>
                                          <p:spTgt spid="14"/>
                                        </p:tgtEl>
                                        <p:attrNameLst>
                                          <p:attrName>style.visibility</p:attrName>
                                        </p:attrNameLst>
                                      </p:cBhvr>
                                      <p:to>
                                        <p:strVal val="visible"/>
                                      </p:to>
                                    </p:set>
                                    <p:animEffect transition="in" filter="diamond(in)">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 name="文本框 41"/>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6" name="Rectangle 2"/>
          <p:cNvSpPr>
            <a:spLocks noGrp="1"/>
          </p:cNvSpPr>
          <p:nvPr>
            <p:ph type="title"/>
          </p:nvPr>
        </p:nvSpPr>
        <p:spPr>
          <a:xfrm>
            <a:off x="457200" y="1143000"/>
            <a:ext cx="542798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3.4.3 </a:t>
            </a:r>
            <a:r>
              <a:rPr lang="zh-CN" altLang="en-US" sz="2800" i="0" dirty="0">
                <a:solidFill>
                  <a:srgbClr val="0070C0"/>
                </a:solidFill>
                <a:latin typeface="黑体" panose="02010609060101010101" pitchFamily="49" charset="-122"/>
                <a:ea typeface="黑体" panose="02010609060101010101" pitchFamily="49" charset="-122"/>
              </a:rPr>
              <a:t>有效逻辑电平的概念</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122045" y="533400"/>
            <a:ext cx="724281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3.4 </a:t>
            </a:r>
            <a:r>
              <a:rPr b="1" dirty="0">
                <a:solidFill>
                  <a:srgbClr val="FF0000"/>
                </a:solidFill>
                <a:latin typeface="黑体" panose="02010609060101010101" pitchFamily="49" charset="-122"/>
                <a:ea typeface="黑体" panose="02010609060101010101" pitchFamily="49" charset="-122"/>
              </a:rPr>
              <a:t>逻辑描述及逻辑门符号的等效变换</a:t>
            </a:r>
            <a:endParaRPr b="1" dirty="0">
              <a:solidFill>
                <a:srgbClr val="FF000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457200" y="1676400"/>
            <a:ext cx="8184515" cy="2701290"/>
          </a:xfrm>
        </p:spPr>
        <p:txBody>
          <a:bodyPr vert="horz" wrap="square" lIns="91440" tIns="45720" rIns="91440" bIns="45720" anchor="t" anchorCtr="0"/>
          <a:p>
            <a:pPr marL="0" indent="0" algn="just" eaLnBrk="1" latinLnBrk="0" hangingPunct="1">
              <a:lnSpc>
                <a:spcPct val="105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ea typeface="楷体_GB2312" pitchFamily="49" charset="-122"/>
              </a:rPr>
              <a:t>实际电路中，有些信号要求高电平才能完成规定的操作</a:t>
            </a:r>
            <a:r>
              <a:rPr lang="zh-CN" sz="2400" b="1" kern="1200" dirty="0">
                <a:solidFill>
                  <a:srgbClr val="000066"/>
                </a:solidFill>
                <a:ea typeface="楷体_GB2312" pitchFamily="49" charset="-122"/>
              </a:rPr>
              <a:t>，</a:t>
            </a:r>
            <a:r>
              <a:rPr sz="2400" b="1" kern="1200" dirty="0">
                <a:solidFill>
                  <a:srgbClr val="000066"/>
                </a:solidFill>
                <a:ea typeface="楷体_GB2312" pitchFamily="49" charset="-122"/>
              </a:rPr>
              <a:t>有些信号要求低电平才能完成规定的操作，前者为高电平有效，后者为低电平有效。低电平有效的信号通常在信号名称上方加横线 (如</a:t>
            </a:r>
            <a:r>
              <a:rPr lang="en-US" sz="2400" b="1" kern="1200" dirty="0">
                <a:solidFill>
                  <a:srgbClr val="000066"/>
                </a:solidFill>
                <a:ea typeface="楷体_GB2312" pitchFamily="49" charset="-122"/>
              </a:rPr>
              <a:t>      </a:t>
            </a:r>
            <a:r>
              <a:rPr sz="2400" b="1" kern="1200" dirty="0">
                <a:solidFill>
                  <a:srgbClr val="000066"/>
                </a:solidFill>
                <a:ea typeface="楷体_GB2312" pitchFamily="49" charset="-122"/>
              </a:rPr>
              <a:t>)，并且该信号线</a:t>
            </a:r>
            <a:r>
              <a:rPr lang="zh-CN" sz="2400" b="1" kern="1200" dirty="0">
                <a:solidFill>
                  <a:srgbClr val="000066"/>
                </a:solidFill>
                <a:ea typeface="楷体_GB2312" pitchFamily="49" charset="-122"/>
              </a:rPr>
              <a:t>在</a:t>
            </a:r>
            <a:r>
              <a:rPr sz="2400" b="1" kern="1200" dirty="0">
                <a:solidFill>
                  <a:srgbClr val="000066"/>
                </a:solidFill>
                <a:ea typeface="楷体_GB2312" pitchFamily="49" charset="-122"/>
              </a:rPr>
              <a:t>逻辑符号的一端还用一个小圆圈表示。图3-61是三个使能信号产生一个总的使能信号控制电路，</a:t>
            </a:r>
            <a:r>
              <a:rPr lang="en-US" sz="2400" b="1" kern="1200" dirty="0">
                <a:solidFill>
                  <a:srgbClr val="000066"/>
                </a:solidFill>
                <a:ea typeface="楷体_GB2312" pitchFamily="49" charset="-122"/>
              </a:rPr>
              <a:t>  </a:t>
            </a:r>
            <a:r>
              <a:rPr sz="2400" b="1" kern="1200" dirty="0">
                <a:solidFill>
                  <a:srgbClr val="000066"/>
                </a:solidFill>
                <a:ea typeface="楷体_GB2312" pitchFamily="49" charset="-122"/>
              </a:rPr>
              <a:t>、</a:t>
            </a:r>
            <a:r>
              <a:rPr lang="en-US" sz="2400" b="1" kern="1200" dirty="0">
                <a:solidFill>
                  <a:srgbClr val="000066"/>
                </a:solidFill>
                <a:ea typeface="楷体_GB2312" pitchFamily="49" charset="-122"/>
              </a:rPr>
              <a:t>   </a:t>
            </a:r>
            <a:r>
              <a:rPr sz="2400" b="1" kern="1200" dirty="0">
                <a:solidFill>
                  <a:srgbClr val="000066"/>
                </a:solidFill>
                <a:ea typeface="楷体_GB2312" pitchFamily="49" charset="-122"/>
              </a:rPr>
              <a:t>为低电平有效，</a:t>
            </a:r>
            <a:r>
              <a:rPr lang="en-US" sz="2400" b="1" kern="1200" dirty="0">
                <a:solidFill>
                  <a:srgbClr val="000066"/>
                </a:solidFill>
                <a:ea typeface="楷体_GB2312" pitchFamily="49" charset="-122"/>
              </a:rPr>
              <a:t>   </a:t>
            </a:r>
            <a:r>
              <a:rPr sz="2400" b="1" kern="1200" dirty="0">
                <a:solidFill>
                  <a:srgbClr val="000066"/>
                </a:solidFill>
                <a:ea typeface="楷体_GB2312" pitchFamily="49" charset="-122"/>
              </a:rPr>
              <a:t>为高电平有效，总的使能信号为高电平有效，则输出与输入之间的逻辑关系为：</a:t>
            </a:r>
            <a:endParaRPr sz="2400" b="1" kern="1200" dirty="0">
              <a:solidFill>
                <a:srgbClr val="000066"/>
              </a:solidFill>
              <a:ea typeface="楷体_GB2312" pitchFamily="49" charset="-122"/>
            </a:endParaRPr>
          </a:p>
        </p:txBody>
      </p:sp>
      <p:graphicFrame>
        <p:nvGraphicFramePr>
          <p:cNvPr id="2" name="对象 664"/>
          <p:cNvGraphicFramePr>
            <a:graphicFrameLocks noChangeAspect="1"/>
          </p:cNvGraphicFramePr>
          <p:nvPr/>
        </p:nvGraphicFramePr>
        <p:xfrm>
          <a:off x="2590800" y="2901950"/>
          <a:ext cx="471805" cy="393700"/>
        </p:xfrm>
        <a:graphic>
          <a:graphicData uri="http://schemas.openxmlformats.org/presentationml/2006/ole">
            <mc:AlternateContent xmlns:mc="http://schemas.openxmlformats.org/markup-compatibility/2006">
              <mc:Choice xmlns:v="urn:schemas-microsoft-com:vml" Requires="v">
                <p:oleObj spid="_x0000_s3076" name="" r:id="rId1" imgW="228600" imgH="190500" progId="Equation.DSMT4">
                  <p:embed/>
                </p:oleObj>
              </mc:Choice>
              <mc:Fallback>
                <p:oleObj name="" r:id="rId1" imgW="228600" imgH="190500" progId="Equation.DSMT4">
                  <p:embed/>
                  <p:pic>
                    <p:nvPicPr>
                      <p:cNvPr id="0" name="图片 3075"/>
                      <p:cNvPicPr/>
                      <p:nvPr/>
                    </p:nvPicPr>
                    <p:blipFill>
                      <a:blip r:embed="rId2"/>
                      <a:stretch>
                        <a:fillRect/>
                      </a:stretch>
                    </p:blipFill>
                    <p:spPr>
                      <a:xfrm>
                        <a:off x="2590800" y="2901950"/>
                        <a:ext cx="471805" cy="393700"/>
                      </a:xfrm>
                      <a:prstGeom prst="rect">
                        <a:avLst/>
                      </a:prstGeom>
                      <a:noFill/>
                      <a:ln w="38100">
                        <a:noFill/>
                        <a:miter/>
                      </a:ln>
                    </p:spPr>
                  </p:pic>
                </p:oleObj>
              </mc:Fallback>
            </mc:AlternateContent>
          </a:graphicData>
        </a:graphic>
      </p:graphicFrame>
      <p:graphicFrame>
        <p:nvGraphicFramePr>
          <p:cNvPr id="3" name="对象 665"/>
          <p:cNvGraphicFramePr>
            <a:graphicFrameLocks noChangeAspect="1"/>
          </p:cNvGraphicFramePr>
          <p:nvPr/>
        </p:nvGraphicFramePr>
        <p:xfrm>
          <a:off x="2514600" y="3581400"/>
          <a:ext cx="335280" cy="438785"/>
        </p:xfrm>
        <a:graphic>
          <a:graphicData uri="http://schemas.openxmlformats.org/presentationml/2006/ole">
            <mc:AlternateContent xmlns:mc="http://schemas.openxmlformats.org/markup-compatibility/2006">
              <mc:Choice xmlns:v="urn:schemas-microsoft-com:vml" Requires="v">
                <p:oleObj spid="_x0000_s4" name="" r:id="rId3" imgW="165100" imgH="215900" progId="Equation.DSMT4">
                  <p:embed/>
                </p:oleObj>
              </mc:Choice>
              <mc:Fallback>
                <p:oleObj name="" r:id="rId3" imgW="165100" imgH="215900" progId="Equation.DSMT4">
                  <p:embed/>
                  <p:pic>
                    <p:nvPicPr>
                      <p:cNvPr id="0" name="图片 3"/>
                      <p:cNvPicPr/>
                      <p:nvPr/>
                    </p:nvPicPr>
                    <p:blipFill>
                      <a:blip r:embed="rId4"/>
                      <a:stretch>
                        <a:fillRect/>
                      </a:stretch>
                    </p:blipFill>
                    <p:spPr>
                      <a:xfrm>
                        <a:off x="2514600" y="3581400"/>
                        <a:ext cx="335280" cy="438785"/>
                      </a:xfrm>
                      <a:prstGeom prst="rect">
                        <a:avLst/>
                      </a:prstGeom>
                      <a:noFill/>
                      <a:ln w="38100">
                        <a:noFill/>
                        <a:miter/>
                      </a:ln>
                    </p:spPr>
                  </p:pic>
                </p:oleObj>
              </mc:Fallback>
            </mc:AlternateContent>
          </a:graphicData>
        </a:graphic>
      </p:graphicFrame>
      <p:graphicFrame>
        <p:nvGraphicFramePr>
          <p:cNvPr id="5" name="对象 666"/>
          <p:cNvGraphicFramePr>
            <a:graphicFrameLocks noChangeAspect="1"/>
          </p:cNvGraphicFramePr>
          <p:nvPr/>
        </p:nvGraphicFramePr>
        <p:xfrm>
          <a:off x="3124200" y="3581400"/>
          <a:ext cx="393700" cy="480695"/>
        </p:xfrm>
        <a:graphic>
          <a:graphicData uri="http://schemas.openxmlformats.org/presentationml/2006/ole">
            <mc:AlternateContent xmlns:mc="http://schemas.openxmlformats.org/markup-compatibility/2006">
              <mc:Choice xmlns:v="urn:schemas-microsoft-com:vml" Requires="v">
                <p:oleObj spid="_x0000_s6" name="" r:id="rId5" imgW="177800" imgH="215265" progId="Equation.DSMT4">
                  <p:embed/>
                </p:oleObj>
              </mc:Choice>
              <mc:Fallback>
                <p:oleObj name="" r:id="rId5" imgW="177800" imgH="215265" progId="Equation.DSMT4">
                  <p:embed/>
                  <p:pic>
                    <p:nvPicPr>
                      <p:cNvPr id="0" name="图片 4"/>
                      <p:cNvPicPr/>
                      <p:nvPr/>
                    </p:nvPicPr>
                    <p:blipFill>
                      <a:blip r:embed="rId6"/>
                      <a:stretch>
                        <a:fillRect/>
                      </a:stretch>
                    </p:blipFill>
                    <p:spPr>
                      <a:xfrm>
                        <a:off x="3124200" y="3581400"/>
                        <a:ext cx="393700" cy="480695"/>
                      </a:xfrm>
                      <a:prstGeom prst="rect">
                        <a:avLst/>
                      </a:prstGeom>
                      <a:noFill/>
                      <a:ln w="38100">
                        <a:noFill/>
                        <a:miter/>
                      </a:ln>
                    </p:spPr>
                  </p:pic>
                </p:oleObj>
              </mc:Fallback>
            </mc:AlternateContent>
          </a:graphicData>
        </a:graphic>
      </p:graphicFrame>
      <p:graphicFrame>
        <p:nvGraphicFramePr>
          <p:cNvPr id="7" name="对象 667"/>
          <p:cNvGraphicFramePr>
            <a:graphicFrameLocks noChangeAspect="1"/>
          </p:cNvGraphicFramePr>
          <p:nvPr/>
        </p:nvGraphicFramePr>
        <p:xfrm>
          <a:off x="5624830" y="3657600"/>
          <a:ext cx="365760" cy="422275"/>
        </p:xfrm>
        <a:graphic>
          <a:graphicData uri="http://schemas.openxmlformats.org/presentationml/2006/ole">
            <mc:AlternateContent xmlns:mc="http://schemas.openxmlformats.org/markup-compatibility/2006">
              <mc:Choice xmlns:v="urn:schemas-microsoft-com:vml" Requires="v">
                <p:oleObj spid="_x0000_s8" name="" r:id="rId7" imgW="165100" imgH="190500" progId="Equation.DSMT4">
                  <p:embed/>
                </p:oleObj>
              </mc:Choice>
              <mc:Fallback>
                <p:oleObj name="" r:id="rId7" imgW="165100" imgH="190500" progId="Equation.DSMT4">
                  <p:embed/>
                  <p:pic>
                    <p:nvPicPr>
                      <p:cNvPr id="0" name="图片 6"/>
                      <p:cNvPicPr/>
                      <p:nvPr/>
                    </p:nvPicPr>
                    <p:blipFill>
                      <a:blip r:embed="rId8"/>
                      <a:stretch>
                        <a:fillRect/>
                      </a:stretch>
                    </p:blipFill>
                    <p:spPr>
                      <a:xfrm>
                        <a:off x="5624830" y="3657600"/>
                        <a:ext cx="365760" cy="422275"/>
                      </a:xfrm>
                      <a:prstGeom prst="rect">
                        <a:avLst/>
                      </a:prstGeom>
                      <a:noFill/>
                      <a:ln w="38100">
                        <a:noFill/>
                        <a:miter/>
                      </a:ln>
                    </p:spPr>
                  </p:pic>
                </p:oleObj>
              </mc:Fallback>
            </mc:AlternateContent>
          </a:graphicData>
        </a:graphic>
      </p:graphicFrame>
      <p:graphicFrame>
        <p:nvGraphicFramePr>
          <p:cNvPr id="9" name="对象 669"/>
          <p:cNvGraphicFramePr>
            <a:graphicFrameLocks noChangeAspect="1"/>
          </p:cNvGraphicFramePr>
          <p:nvPr/>
        </p:nvGraphicFramePr>
        <p:xfrm>
          <a:off x="4953000" y="4495800"/>
          <a:ext cx="3119120" cy="561975"/>
        </p:xfrm>
        <a:graphic>
          <a:graphicData uri="http://schemas.openxmlformats.org/presentationml/2006/ole">
            <mc:AlternateContent xmlns:mc="http://schemas.openxmlformats.org/markup-compatibility/2006">
              <mc:Choice xmlns:v="urn:schemas-microsoft-com:vml" Requires="v">
                <p:oleObj spid="_x0000_s10" name="" r:id="rId9" imgW="1408430" imgH="254000" progId="Equation.DSMT4">
                  <p:embed/>
                </p:oleObj>
              </mc:Choice>
              <mc:Fallback>
                <p:oleObj name="" r:id="rId9" imgW="1408430" imgH="254000" progId="Equation.DSMT4">
                  <p:embed/>
                  <p:pic>
                    <p:nvPicPr>
                      <p:cNvPr id="0" name="图片 7"/>
                      <p:cNvPicPr/>
                      <p:nvPr/>
                    </p:nvPicPr>
                    <p:blipFill>
                      <a:blip r:embed="rId10"/>
                      <a:stretch>
                        <a:fillRect/>
                      </a:stretch>
                    </p:blipFill>
                    <p:spPr>
                      <a:xfrm>
                        <a:off x="4953000" y="4495800"/>
                        <a:ext cx="3119120" cy="561975"/>
                      </a:xfrm>
                      <a:prstGeom prst="rect">
                        <a:avLst/>
                      </a:prstGeom>
                      <a:noFill/>
                      <a:ln w="38100">
                        <a:noFill/>
                        <a:miter/>
                      </a:ln>
                    </p:spPr>
                  </p:pic>
                </p:oleObj>
              </mc:Fallback>
            </mc:AlternateContent>
          </a:graphicData>
        </a:graphic>
      </p:graphicFrame>
      <p:grpSp>
        <p:nvGrpSpPr>
          <p:cNvPr id="11" name="组合 10"/>
          <p:cNvGrpSpPr/>
          <p:nvPr/>
        </p:nvGrpSpPr>
        <p:grpSpPr>
          <a:xfrm>
            <a:off x="609600" y="4572000"/>
            <a:ext cx="3458210" cy="2165350"/>
            <a:chOff x="7680" y="7080"/>
            <a:chExt cx="5446" cy="3410"/>
          </a:xfrm>
        </p:grpSpPr>
        <p:sp>
          <p:nvSpPr>
            <p:cNvPr id="12" name="文本框 11"/>
            <p:cNvSpPr txBox="1"/>
            <p:nvPr/>
          </p:nvSpPr>
          <p:spPr>
            <a:xfrm>
              <a:off x="8160" y="9960"/>
              <a:ext cx="4291" cy="531"/>
            </a:xfrm>
            <a:prstGeom prst="rect">
              <a:avLst/>
            </a:prstGeom>
            <a:noFill/>
            <a:ln w="9525">
              <a:noFill/>
            </a:ln>
          </p:spPr>
          <p:txBody>
            <a:bodyPr wrap="square">
              <a:spAutoFit/>
            </a:bodyPr>
            <a:p>
              <a:r>
                <a:rPr sz="1600">
                  <a:ea typeface="宋体" panose="02010600030101010101" pitchFamily="2" charset="-122"/>
                </a:rPr>
                <a:t>图3-61 使能信号产生逻辑图</a:t>
              </a:r>
              <a:endParaRPr sz="1600">
                <a:ea typeface="宋体" panose="02010600030101010101" pitchFamily="2" charset="-122"/>
              </a:endParaRPr>
            </a:p>
          </p:txBody>
        </p:sp>
        <p:pic>
          <p:nvPicPr>
            <p:cNvPr id="9285" name="图片 2722"/>
            <p:cNvPicPr>
              <a:picLocks noChangeAspect="1"/>
            </p:cNvPicPr>
            <p:nvPr/>
          </p:nvPicPr>
          <p:blipFill>
            <a:blip r:embed="rId11"/>
            <a:stretch>
              <a:fillRect/>
            </a:stretch>
          </p:blipFill>
          <p:spPr>
            <a:xfrm>
              <a:off x="7680" y="7080"/>
              <a:ext cx="5446" cy="2823"/>
            </a:xfrm>
            <a:prstGeom prst="rect">
              <a:avLst/>
            </a:prstGeom>
            <a:noFill/>
            <a:ln>
              <a:noFill/>
            </a:ln>
          </p:spPr>
        </p:pic>
      </p:grpSp>
      <p:grpSp>
        <p:nvGrpSpPr>
          <p:cNvPr id="20" name="组合 19"/>
          <p:cNvGrpSpPr/>
          <p:nvPr/>
        </p:nvGrpSpPr>
        <p:grpSpPr>
          <a:xfrm>
            <a:off x="3886200" y="5181600"/>
            <a:ext cx="4546600" cy="1176020"/>
            <a:chOff x="6120" y="8160"/>
            <a:chExt cx="7160" cy="1852"/>
          </a:xfrm>
        </p:grpSpPr>
        <p:sp>
          <p:nvSpPr>
            <p:cNvPr id="14" name="Rectangle 3"/>
            <p:cNvSpPr>
              <a:spLocks noGrp="1"/>
            </p:cNvSpPr>
            <p:nvPr/>
          </p:nvSpPr>
          <p:spPr>
            <a:xfrm>
              <a:off x="6120" y="8160"/>
              <a:ext cx="7161" cy="1852"/>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进行逻辑运算时，应该将</a:t>
              </a:r>
              <a:endParaRPr lang="zh-CN" altLang="en-US" sz="2400" b="1" kern="1200" dirty="0">
                <a:solidFill>
                  <a:srgbClr val="000066"/>
                </a:solidFill>
                <a:latin typeface="Arial" panose="020B0604020202020204" pitchFamily="34" charset="0"/>
                <a:ea typeface="楷体_GB2312" pitchFamily="49" charset="-122"/>
              </a:endParaRPr>
            </a:p>
            <a:p>
              <a:pPr marL="0" indent="0"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看作一个整体符号。</a:t>
              </a:r>
              <a:endParaRPr lang="zh-CN" altLang="en-US" sz="2400" b="1" kern="1200" dirty="0">
                <a:solidFill>
                  <a:srgbClr val="000066"/>
                </a:solidFill>
                <a:latin typeface="Arial" panose="020B0604020202020204" pitchFamily="34" charset="0"/>
                <a:ea typeface="楷体_GB2312" pitchFamily="49" charset="-122"/>
              </a:endParaRPr>
            </a:p>
          </p:txBody>
        </p:sp>
        <p:graphicFrame>
          <p:nvGraphicFramePr>
            <p:cNvPr id="16" name="对象 665"/>
            <p:cNvGraphicFramePr>
              <a:graphicFrameLocks noChangeAspect="1"/>
            </p:cNvGraphicFramePr>
            <p:nvPr/>
          </p:nvGraphicFramePr>
          <p:xfrm>
            <a:off x="6840" y="9000"/>
            <a:ext cx="528" cy="691"/>
          </p:xfrm>
          <a:graphic>
            <a:graphicData uri="http://schemas.openxmlformats.org/presentationml/2006/ole">
              <mc:AlternateContent xmlns:mc="http://schemas.openxmlformats.org/markup-compatibility/2006">
                <mc:Choice xmlns:v="urn:schemas-microsoft-com:vml" Requires="v">
                  <p:oleObj spid="_x0000_s17" name="" r:id="rId12" imgW="165100" imgH="215900" progId="Equation.DSMT4">
                    <p:embed/>
                  </p:oleObj>
                </mc:Choice>
                <mc:Fallback>
                  <p:oleObj name="" r:id="rId12" imgW="165100" imgH="215900" progId="Equation.DSMT4">
                    <p:embed/>
                    <p:pic>
                      <p:nvPicPr>
                        <p:cNvPr id="0" name="图片 3"/>
                        <p:cNvPicPr/>
                        <p:nvPr/>
                      </p:nvPicPr>
                      <p:blipFill>
                        <a:blip r:embed="rId4"/>
                        <a:stretch>
                          <a:fillRect/>
                        </a:stretch>
                      </p:blipFill>
                      <p:spPr>
                        <a:xfrm>
                          <a:off x="6840" y="9000"/>
                          <a:ext cx="528" cy="691"/>
                        </a:xfrm>
                        <a:prstGeom prst="rect">
                          <a:avLst/>
                        </a:prstGeom>
                        <a:noFill/>
                        <a:ln w="38100">
                          <a:noFill/>
                          <a:miter/>
                        </a:ln>
                      </p:spPr>
                    </p:pic>
                  </p:oleObj>
                </mc:Fallback>
              </mc:AlternateContent>
            </a:graphicData>
          </a:graphic>
        </p:graphicFrame>
        <p:graphicFrame>
          <p:nvGraphicFramePr>
            <p:cNvPr id="18" name="对象 666"/>
            <p:cNvGraphicFramePr>
              <a:graphicFrameLocks noChangeAspect="1"/>
            </p:cNvGraphicFramePr>
            <p:nvPr/>
          </p:nvGraphicFramePr>
          <p:xfrm>
            <a:off x="7800" y="8968"/>
            <a:ext cx="620" cy="757"/>
          </p:xfrm>
          <a:graphic>
            <a:graphicData uri="http://schemas.openxmlformats.org/presentationml/2006/ole">
              <mc:AlternateContent xmlns:mc="http://schemas.openxmlformats.org/markup-compatibility/2006">
                <mc:Choice xmlns:v="urn:schemas-microsoft-com:vml" Requires="v">
                  <p:oleObj spid="_x0000_s19" name="" r:id="rId13" imgW="177800" imgH="215265" progId="Equation.DSMT4">
                    <p:embed/>
                  </p:oleObj>
                </mc:Choice>
                <mc:Fallback>
                  <p:oleObj name="" r:id="rId13" imgW="177800" imgH="215265" progId="Equation.DSMT4">
                    <p:embed/>
                    <p:pic>
                      <p:nvPicPr>
                        <p:cNvPr id="0" name="图片 4"/>
                        <p:cNvPicPr/>
                        <p:nvPr/>
                      </p:nvPicPr>
                      <p:blipFill>
                        <a:blip r:embed="rId6"/>
                        <a:stretch>
                          <a:fillRect/>
                        </a:stretch>
                      </p:blipFill>
                      <p:spPr>
                        <a:xfrm>
                          <a:off x="7800" y="8968"/>
                          <a:ext cx="620" cy="757"/>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685800" y="1524000"/>
            <a:ext cx="8003540" cy="4817745"/>
          </a:xfrm>
        </p:spPr>
        <p:txBody>
          <a:bodyPr vert="horz" wrap="square" lIns="91440" tIns="45720" rIns="91440" bIns="45720" anchor="t" anchorCtr="0"/>
          <a:p>
            <a:pPr marL="0" indent="0"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1. 逻辑门是构成数字电路中组合逻辑电路的基本单元电路。逻辑门包括分立元件门电路和集成逻辑门电路两大类。分立元件门电路又分为二极管门电路、三极管门电路、二极管和三极管的组合门电路。二极管门电路是以半导体二极管为核心构成的电路，主要原理是通过在门电路的输入端施加高电平和低电平两种不同电压信号，利用二极管工作在导通或截止状态，使输出端产生高电平或低电平信号，从而实现输出信号与输入信号之间的某种逻辑关系。同理，三极管门电路是以三极管为核心构成的电路，它是根据三极管工作在饱和导通</a:t>
            </a:r>
            <a:r>
              <a:rPr lang="zh-CN" altLang="en-US" sz="2400" b="1" kern="1200" dirty="0">
                <a:solidFill>
                  <a:srgbClr val="000066"/>
                </a:solidFill>
                <a:latin typeface="Arial" panose="020B0604020202020204" pitchFamily="34" charset="0"/>
                <a:ea typeface="楷体_GB2312" pitchFamily="49" charset="-122"/>
                <a:sym typeface="+mn-ea"/>
              </a:rPr>
              <a:t>状态下还是工作在</a:t>
            </a:r>
            <a:r>
              <a:rPr lang="zh-CN" altLang="en-US" sz="2400" b="1" kern="1200" dirty="0">
                <a:solidFill>
                  <a:srgbClr val="000066"/>
                </a:solidFill>
                <a:latin typeface="Arial" panose="020B0604020202020204" pitchFamily="34" charset="0"/>
                <a:ea typeface="楷体_GB2312" pitchFamily="49" charset="-122"/>
              </a:rPr>
              <a:t>截止状态下来确定输出电平与输入电平之间的逻辑关系的。</a:t>
            </a:r>
            <a:endParaRPr lang="zh-CN" altLang="en-US"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3657600" y="533400"/>
            <a:ext cx="187579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zh-CN" altLang="en-US" b="1" dirty="0">
                <a:solidFill>
                  <a:srgbClr val="FF0000"/>
                </a:solidFill>
                <a:latin typeface="黑体" panose="02010609060101010101" pitchFamily="49" charset="-122"/>
                <a:ea typeface="黑体" panose="02010609060101010101" pitchFamily="49" charset="-122"/>
              </a:rPr>
              <a:t>本章小结</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685800" y="1600200"/>
            <a:ext cx="8003540" cy="2352675"/>
          </a:xfrm>
        </p:spPr>
        <p:txBody>
          <a:bodyPr vert="horz" wrap="square" lIns="91440" tIns="45720" rIns="91440" bIns="45720" anchor="t" anchorCtr="0"/>
          <a:p>
            <a:pPr marL="0" indent="0"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2. 集成逻辑门电路又分为TTL集成门电路和CMOS集成门电路两类。TTL门电路主要是晶体三极管构成的电路，其中输入级使用的三极管通常是多发射极三极管，这样可以提高门电路的开关速度。CMOS门电路是由NMOS管和PMOS管两种管子组成的电路。</a:t>
            </a:r>
            <a:endParaRPr lang="zh-CN" altLang="en-US" sz="2400" b="1" kern="1200" dirty="0">
              <a:solidFill>
                <a:srgbClr val="000066"/>
              </a:solidFill>
              <a:latin typeface="Arial" panose="020B0604020202020204" pitchFamily="34" charset="0"/>
              <a:ea typeface="楷体_GB2312" pitchFamily="49" charset="-122"/>
            </a:endParaRPr>
          </a:p>
          <a:p>
            <a:pPr marL="0" indent="0" eaLnBrk="1" latinLnBrk="0" hangingPunct="1">
              <a:lnSpc>
                <a:spcPct val="120000"/>
              </a:lnSpc>
              <a:spcBef>
                <a:spcPts val="0"/>
              </a:spcBef>
              <a:buNone/>
            </a:pPr>
            <a:endParaRPr lang="zh-CN" altLang="en-US"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3657600" y="533400"/>
            <a:ext cx="187579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zh-CN" altLang="en-US" b="1" dirty="0">
                <a:solidFill>
                  <a:srgbClr val="FF0000"/>
                </a:solidFill>
                <a:latin typeface="黑体" panose="02010609060101010101" pitchFamily="49" charset="-122"/>
                <a:ea typeface="黑体" panose="02010609060101010101" pitchFamily="49" charset="-122"/>
              </a:rPr>
              <a:t>本章小结</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685800" y="3886200"/>
            <a:ext cx="8003540" cy="183642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3. 相同逻辑功能的TTL和CMOS门电路的逻辑符号相同，但由于是不同类型的器件，使用时也有不同的特点，例如TTL与非门多余的输入端可以悬空，但CMOS与非门多余的输入端却不能悬空。</a:t>
            </a:r>
            <a:endParaRPr lang="zh-CN" altLang="en-US" sz="2400" b="1" kern="1200" dirty="0">
              <a:solidFill>
                <a:srgbClr val="000066"/>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688340" y="1193800"/>
            <a:ext cx="8003540" cy="1846580"/>
          </a:xfrm>
        </p:spPr>
        <p:txBody>
          <a:bodyPr vert="horz" wrap="square" lIns="91440" tIns="45720" rIns="91440" bIns="45720" anchor="t" anchorCtr="0"/>
          <a:p>
            <a:pPr marL="0" indent="0"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4. TTL集成门电路和CMOS集成门电路的输出端都不能直接并联在一起使用，如果需要将输出端并联实现线与功能，TTL集成门电路和CMOS集成门电路分别要用集电极开路和漏极开路的结构，而且输出端需要接正电源和负载电阻 (上拉电阻)。</a:t>
            </a:r>
            <a:endParaRPr lang="zh-CN" altLang="en-US"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3657600" y="533400"/>
            <a:ext cx="187579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zh-CN" altLang="en-US" b="1" dirty="0">
                <a:solidFill>
                  <a:srgbClr val="FF0000"/>
                </a:solidFill>
                <a:latin typeface="黑体" panose="02010609060101010101" pitchFamily="49" charset="-122"/>
                <a:ea typeface="黑体" panose="02010609060101010101" pitchFamily="49" charset="-122"/>
              </a:rPr>
              <a:t>本章小结</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680720" y="3355340"/>
            <a:ext cx="8003540" cy="89598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5. 与TTL集成门电路相比，CMOS集成门电路具有静态功耗低、噪声容限大等特点。</a:t>
            </a:r>
            <a:endParaRPr lang="zh-CN" altLang="en-US" sz="2400" b="1" kern="1200" dirty="0">
              <a:solidFill>
                <a:srgbClr val="000066"/>
              </a:solidFill>
              <a:latin typeface="Arial" panose="020B0604020202020204" pitchFamily="34" charset="0"/>
              <a:ea typeface="楷体_GB2312" pitchFamily="49" charset="-122"/>
            </a:endParaRPr>
          </a:p>
        </p:txBody>
      </p:sp>
      <p:sp>
        <p:nvSpPr>
          <p:cNvPr id="3" name="Rectangle 3"/>
          <p:cNvSpPr>
            <a:spLocks noGrp="1"/>
          </p:cNvSpPr>
          <p:nvPr/>
        </p:nvSpPr>
        <p:spPr>
          <a:xfrm>
            <a:off x="685800" y="4191000"/>
            <a:ext cx="8003540" cy="223837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6</a:t>
            </a:r>
            <a:r>
              <a:rPr lang="zh-CN" altLang="en-US" sz="2400" b="1" kern="1200" dirty="0">
                <a:solidFill>
                  <a:srgbClr val="000066"/>
                </a:solidFill>
                <a:latin typeface="Arial" panose="020B0604020202020204" pitchFamily="34" charset="0"/>
                <a:ea typeface="楷体_GB2312" pitchFamily="49" charset="-122"/>
              </a:rPr>
              <a:t>. 逻辑电路既可以用正逻辑表示，也可以用负逻辑表示，正逻辑和负逻辑是可以相互转换的。基本的逻辑门符号也可以通过变换得到等效逻辑门符号。逻辑电路中的信号可以是低电平有效也可以是高电平有效，低电平有效的信号一般在信号的名称上方加横线表示。</a:t>
            </a:r>
            <a:endParaRPr lang="zh-CN" altLang="en-US" sz="2400" b="1" kern="1200" dirty="0">
              <a:solidFill>
                <a:srgbClr val="000066"/>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45" presetClass="entr" presetSubtype="0" fill="hold" grpId="0" nodeType="clickEffect">
                                  <p:stCondLst>
                                    <p:cond delay="0"/>
                                  </p:stCondLst>
                                  <p:childTnLst>
                                    <p:set>
                                      <p:cBhvr>
                                        <p:cTn id="14" dur="1000" fill="hold">
                                          <p:stCondLst>
                                            <p:cond delay="0"/>
                                          </p:stCondLst>
                                        </p:cTn>
                                        <p:tgtEl>
                                          <p:spTgt spid="3"/>
                                        </p:tgtEl>
                                        <p:attrNameLst>
                                          <p:attrName>style.visibility</p:attrName>
                                        </p:attrNameLst>
                                      </p:cBhvr>
                                      <p:to>
                                        <p:strVal val="visible"/>
                                      </p:to>
                                    </p:set>
                                    <p:animEffect transition="in" filter="fade">
                                      <p:cBhvr>
                                        <p:cTn id="15" dur="1000"/>
                                        <p:tgtEl>
                                          <p:spTgt spid="3"/>
                                        </p:tgtEl>
                                      </p:cBhvr>
                                    </p:animEffect>
                                    <p:anim calcmode="lin" valueType="num">
                                      <p:cBhvr>
                                        <p:cTn id="16" dur="1000" fill="hold"/>
                                        <p:tgtEl>
                                          <p:spTgt spid="3"/>
                                        </p:tgtEl>
                                        <p:attrNameLst>
                                          <p:attrName>ppt_w</p:attrName>
                                        </p:attrNameLst>
                                      </p:cBhvr>
                                      <p:tavLst>
                                        <p:tav tm="0" fmla="#ppt_w*sin(2.5*pi*$)">
                                          <p:val>
                                            <p:fltVal val="0"/>
                                          </p:val>
                                        </p:tav>
                                        <p:tav tm="100000">
                                          <p:val>
                                            <p:fltVal val="1"/>
                                          </p:val>
                                        </p:tav>
                                      </p:tavLst>
                                    </p:anim>
                                    <p:anim calcmode="lin" valueType="num">
                                      <p:cBhvr>
                                        <p:cTn id="17" dur="1000" fill="hold"/>
                                        <p:tgtEl>
                                          <p:spTgt spid="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533400" y="1981200"/>
            <a:ext cx="8003540" cy="3556000"/>
          </a:xfrm>
        </p:spPr>
        <p:txBody>
          <a:bodyPr vert="horz" wrap="square" lIns="91440" tIns="45720" rIns="91440" bIns="45720" anchor="t" anchorCtr="0"/>
          <a:p>
            <a:pPr marL="0" indent="0" algn="ctr" eaLnBrk="1" latinLnBrk="0" hangingPunct="1">
              <a:lnSpc>
                <a:spcPct val="120000"/>
              </a:lnSpc>
              <a:spcBef>
                <a:spcPts val="0"/>
              </a:spcBef>
              <a:buNone/>
            </a:pPr>
            <a:r>
              <a:rPr lang="en-US" altLang="zh-CN" b="1" kern="1200" dirty="0">
                <a:solidFill>
                  <a:srgbClr val="000066"/>
                </a:solidFill>
                <a:latin typeface="Arial" panose="020B0604020202020204" pitchFamily="34" charset="0"/>
                <a:ea typeface="楷体_GB2312" pitchFamily="49" charset="-122"/>
              </a:rPr>
              <a:t>P70-73</a:t>
            </a:r>
            <a:endParaRPr lang="en-US" altLang="zh-CN" b="1" kern="1200" dirty="0">
              <a:solidFill>
                <a:srgbClr val="000066"/>
              </a:solidFill>
              <a:latin typeface="Arial" panose="020B0604020202020204" pitchFamily="34" charset="0"/>
              <a:ea typeface="楷体_GB2312" pitchFamily="49" charset="-122"/>
            </a:endParaRPr>
          </a:p>
          <a:p>
            <a:pPr marL="0" indent="0" eaLnBrk="1" latinLnBrk="0" hangingPunct="1">
              <a:lnSpc>
                <a:spcPct val="120000"/>
              </a:lnSpc>
              <a:spcBef>
                <a:spcPts val="0"/>
              </a:spcBef>
              <a:spcAft>
                <a:spcPts val="600"/>
              </a:spcAft>
              <a:buNone/>
            </a:pPr>
            <a:r>
              <a:rPr lang="en-US" altLang="zh-CN" sz="2400" b="1" kern="1200" dirty="0">
                <a:solidFill>
                  <a:srgbClr val="000066"/>
                </a:solidFill>
                <a:latin typeface="Arial" panose="020B0604020202020204" pitchFamily="34" charset="0"/>
                <a:ea typeface="楷体_GB2312" pitchFamily="49" charset="-122"/>
              </a:rPr>
              <a:t>         </a:t>
            </a:r>
            <a:r>
              <a:rPr lang="en-US" altLang="zh-CN" sz="2800" b="1" kern="1200" dirty="0">
                <a:solidFill>
                  <a:srgbClr val="000066"/>
                </a:solidFill>
                <a:latin typeface="Arial" panose="020B0604020202020204" pitchFamily="34" charset="0"/>
                <a:ea typeface="楷体_GB2312" pitchFamily="49" charset="-122"/>
              </a:rPr>
              <a:t> </a:t>
            </a:r>
            <a:r>
              <a:rPr lang="zh-CN" altLang="en-US" sz="2800" b="1" kern="1200" dirty="0">
                <a:solidFill>
                  <a:srgbClr val="000066"/>
                </a:solidFill>
                <a:latin typeface="Arial" panose="020B0604020202020204" pitchFamily="34" charset="0"/>
                <a:ea typeface="楷体_GB2312" pitchFamily="49" charset="-122"/>
              </a:rPr>
              <a:t>题</a:t>
            </a:r>
            <a:r>
              <a:rPr lang="en-US" altLang="zh-CN" sz="2800" b="1" kern="1200" dirty="0">
                <a:solidFill>
                  <a:srgbClr val="000066"/>
                </a:solidFill>
                <a:latin typeface="Arial" panose="020B0604020202020204" pitchFamily="34" charset="0"/>
                <a:ea typeface="楷体_GB2312" pitchFamily="49" charset="-122"/>
              </a:rPr>
              <a:t>3-9 </a:t>
            </a:r>
            <a:r>
              <a:rPr lang="zh-CN" altLang="en-US" sz="2800" b="1" kern="1200" dirty="0">
                <a:solidFill>
                  <a:srgbClr val="000066"/>
                </a:solidFill>
                <a:latin typeface="Arial" panose="020B0604020202020204" pitchFamily="34" charset="0"/>
                <a:ea typeface="楷体_GB2312" pitchFamily="49" charset="-122"/>
              </a:rPr>
              <a:t>（</a:t>
            </a:r>
            <a:r>
              <a:rPr lang="en-US" altLang="zh-CN" sz="2800" b="1" kern="1200" dirty="0">
                <a:solidFill>
                  <a:srgbClr val="000066"/>
                </a:solidFill>
                <a:latin typeface="Arial" panose="020B0604020202020204" pitchFamily="34" charset="0"/>
                <a:ea typeface="楷体_GB2312" pitchFamily="49" charset="-122"/>
              </a:rPr>
              <a:t>d</a:t>
            </a:r>
            <a:r>
              <a:rPr lang="zh-CN" altLang="en-US" sz="2800" b="1" kern="1200" dirty="0">
                <a:solidFill>
                  <a:srgbClr val="000066"/>
                </a:solidFill>
                <a:latin typeface="Arial" panose="020B0604020202020204" pitchFamily="34" charset="0"/>
                <a:ea typeface="楷体_GB2312" pitchFamily="49" charset="-122"/>
              </a:rPr>
              <a:t>）、</a:t>
            </a:r>
            <a:r>
              <a:rPr lang="zh-CN" altLang="en-US" sz="2800" b="1" kern="1200" dirty="0">
                <a:solidFill>
                  <a:srgbClr val="000066"/>
                </a:solidFill>
                <a:latin typeface="Arial" panose="020B0604020202020204" pitchFamily="34" charset="0"/>
                <a:ea typeface="楷体_GB2312" pitchFamily="49" charset="-122"/>
                <a:sym typeface="+mn-ea"/>
              </a:rPr>
              <a:t>（</a:t>
            </a:r>
            <a:r>
              <a:rPr lang="en-US" altLang="zh-CN" sz="2800" b="1" kern="1200" dirty="0">
                <a:solidFill>
                  <a:srgbClr val="000066"/>
                </a:solidFill>
                <a:latin typeface="Arial" panose="020B0604020202020204" pitchFamily="34" charset="0"/>
                <a:ea typeface="楷体_GB2312" pitchFamily="49" charset="-122"/>
                <a:sym typeface="+mn-ea"/>
              </a:rPr>
              <a:t>f</a:t>
            </a:r>
            <a:r>
              <a:rPr lang="zh-CN" altLang="en-US" sz="2800" b="1" kern="1200" dirty="0">
                <a:solidFill>
                  <a:srgbClr val="000066"/>
                </a:solidFill>
                <a:latin typeface="Arial" panose="020B0604020202020204" pitchFamily="34" charset="0"/>
                <a:ea typeface="楷体_GB2312" pitchFamily="49" charset="-122"/>
                <a:sym typeface="+mn-ea"/>
              </a:rPr>
              <a:t>）、</a:t>
            </a:r>
            <a:r>
              <a:rPr lang="zh-CN" altLang="en-US" sz="2800" b="1" kern="1200" dirty="0">
                <a:solidFill>
                  <a:srgbClr val="000066"/>
                </a:solidFill>
                <a:latin typeface="Arial" panose="020B0604020202020204" pitchFamily="34" charset="0"/>
                <a:ea typeface="楷体_GB2312" pitchFamily="49" charset="-122"/>
              </a:rPr>
              <a:t>（</a:t>
            </a:r>
            <a:r>
              <a:rPr lang="en-US" altLang="zh-CN" sz="2800" b="1" kern="1200" dirty="0">
                <a:solidFill>
                  <a:srgbClr val="000066"/>
                </a:solidFill>
                <a:latin typeface="Arial" panose="020B0604020202020204" pitchFamily="34" charset="0"/>
                <a:ea typeface="楷体_GB2312" pitchFamily="49" charset="-122"/>
                <a:sym typeface="+mn-ea"/>
              </a:rPr>
              <a:t>h</a:t>
            </a:r>
            <a:r>
              <a:rPr lang="zh-CN" altLang="en-US" sz="2800" b="1" kern="1200" dirty="0">
                <a:solidFill>
                  <a:srgbClr val="000066"/>
                </a:solidFill>
                <a:latin typeface="Arial" panose="020B0604020202020204" pitchFamily="34" charset="0"/>
                <a:ea typeface="楷体_GB2312" pitchFamily="49" charset="-122"/>
              </a:rPr>
              <a:t>）、</a:t>
            </a:r>
            <a:r>
              <a:rPr lang="zh-CN" altLang="en-US" sz="2800" b="1" kern="1200" dirty="0">
                <a:solidFill>
                  <a:srgbClr val="000066"/>
                </a:solidFill>
                <a:latin typeface="Arial" panose="020B0604020202020204" pitchFamily="34" charset="0"/>
                <a:ea typeface="楷体_GB2312" pitchFamily="49" charset="-122"/>
                <a:sym typeface="+mn-ea"/>
              </a:rPr>
              <a:t>（</a:t>
            </a:r>
            <a:r>
              <a:rPr lang="en-US" altLang="zh-CN" sz="2800" b="1" kern="1200" dirty="0">
                <a:solidFill>
                  <a:srgbClr val="000066"/>
                </a:solidFill>
                <a:latin typeface="Arial" panose="020B0604020202020204" pitchFamily="34" charset="0"/>
                <a:ea typeface="楷体_GB2312" pitchFamily="49" charset="-122"/>
                <a:sym typeface="+mn-ea"/>
              </a:rPr>
              <a:t>i</a:t>
            </a:r>
            <a:r>
              <a:rPr lang="zh-CN" altLang="en-US" sz="2800" b="1" kern="1200" dirty="0">
                <a:solidFill>
                  <a:srgbClr val="000066"/>
                </a:solidFill>
                <a:latin typeface="Arial" panose="020B0604020202020204" pitchFamily="34" charset="0"/>
                <a:ea typeface="楷体_GB2312" pitchFamily="49" charset="-122"/>
                <a:sym typeface="+mn-ea"/>
              </a:rPr>
              <a:t>）</a:t>
            </a:r>
            <a:r>
              <a:rPr lang="zh-CN" altLang="en-US" sz="2800" b="1" kern="1200" dirty="0">
                <a:solidFill>
                  <a:srgbClr val="000066"/>
                </a:solidFill>
                <a:latin typeface="Arial" panose="020B0604020202020204" pitchFamily="34" charset="0"/>
                <a:ea typeface="楷体_GB2312" pitchFamily="49" charset="-122"/>
              </a:rPr>
              <a:t>；</a:t>
            </a:r>
            <a:endParaRPr lang="zh-CN" altLang="en-US" sz="2800" b="1" kern="1200" dirty="0">
              <a:solidFill>
                <a:srgbClr val="000066"/>
              </a:solidFill>
              <a:latin typeface="Arial" panose="020B0604020202020204" pitchFamily="34" charset="0"/>
              <a:ea typeface="楷体_GB2312" pitchFamily="49" charset="-122"/>
            </a:endParaRPr>
          </a:p>
          <a:p>
            <a:pPr marL="0" indent="0" eaLnBrk="1" latinLnBrk="0" hangingPunct="1">
              <a:lnSpc>
                <a:spcPct val="120000"/>
              </a:lnSpc>
              <a:spcBef>
                <a:spcPts val="0"/>
              </a:spcBef>
              <a:spcAft>
                <a:spcPts val="600"/>
              </a:spcAft>
              <a:buNone/>
            </a:pPr>
            <a:r>
              <a:rPr lang="zh-CN" altLang="en-US" sz="2800" b="1" kern="1200" dirty="0">
                <a:solidFill>
                  <a:srgbClr val="000066"/>
                </a:solidFill>
                <a:latin typeface="Arial" panose="020B0604020202020204" pitchFamily="34" charset="0"/>
                <a:ea typeface="楷体_GB2312" pitchFamily="49" charset="-122"/>
              </a:rPr>
              <a:t> </a:t>
            </a:r>
            <a:r>
              <a:rPr lang="en-US" altLang="zh-CN" sz="2800" b="1" kern="1200" dirty="0">
                <a:solidFill>
                  <a:srgbClr val="000066"/>
                </a:solidFill>
                <a:latin typeface="Arial" panose="020B0604020202020204" pitchFamily="34" charset="0"/>
                <a:ea typeface="楷体_GB2312" pitchFamily="49" charset="-122"/>
              </a:rPr>
              <a:t>        </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3-</a:t>
            </a:r>
            <a:r>
              <a:rPr lang="en-US" sz="2800" b="1" kern="1200" dirty="0">
                <a:solidFill>
                  <a:srgbClr val="000066"/>
                </a:solidFill>
                <a:latin typeface="Arial" panose="020B0604020202020204" pitchFamily="34" charset="0"/>
                <a:ea typeface="楷体_GB2312" pitchFamily="49" charset="-122"/>
                <a:sym typeface="+mn-ea"/>
              </a:rPr>
              <a:t>10</a:t>
            </a:r>
            <a:r>
              <a:rPr lang="zh-CN" altLang="en-US" sz="2800" b="1" kern="1200" dirty="0">
                <a:solidFill>
                  <a:srgbClr val="000066"/>
                </a:solidFill>
                <a:latin typeface="Arial" panose="020B0604020202020204" pitchFamily="34" charset="0"/>
                <a:ea typeface="楷体_GB2312" pitchFamily="49" charset="-122"/>
                <a:sym typeface="+mn-ea"/>
              </a:rPr>
              <a:t>；</a:t>
            </a:r>
            <a:r>
              <a:rPr lang="en-US" altLang="zh-CN" sz="2800" b="1" kern="1200" dirty="0">
                <a:solidFill>
                  <a:srgbClr val="000066"/>
                </a:solidFill>
                <a:latin typeface="Arial" panose="020B0604020202020204" pitchFamily="34" charset="0"/>
                <a:ea typeface="楷体_GB2312" pitchFamily="49" charset="-122"/>
                <a:sym typeface="+mn-ea"/>
              </a:rPr>
              <a:t>       </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3-1</a:t>
            </a:r>
            <a:r>
              <a:rPr lang="en-US" sz="2800" b="1" kern="1200" dirty="0">
                <a:solidFill>
                  <a:srgbClr val="000066"/>
                </a:solidFill>
                <a:latin typeface="Arial" panose="020B0604020202020204" pitchFamily="34" charset="0"/>
                <a:ea typeface="楷体_GB2312" pitchFamily="49" charset="-122"/>
                <a:sym typeface="+mn-ea"/>
              </a:rPr>
              <a:t>1</a:t>
            </a:r>
            <a:r>
              <a:rPr lang="zh-CN" altLang="en-US" sz="2800" b="1" kern="1200" dirty="0">
                <a:solidFill>
                  <a:srgbClr val="000066"/>
                </a:solidFill>
                <a:latin typeface="Arial" panose="020B0604020202020204" pitchFamily="34" charset="0"/>
                <a:ea typeface="楷体_GB2312" pitchFamily="49" charset="-122"/>
                <a:sym typeface="+mn-ea"/>
              </a:rPr>
              <a:t>；</a:t>
            </a:r>
            <a:endParaRPr lang="zh-CN" altLang="en-US" sz="2800" b="1" kern="1200" dirty="0">
              <a:solidFill>
                <a:srgbClr val="000066"/>
              </a:solidFill>
              <a:latin typeface="Arial" panose="020B0604020202020204" pitchFamily="34" charset="0"/>
              <a:ea typeface="楷体_GB2312" pitchFamily="49" charset="-122"/>
              <a:sym typeface="+mn-ea"/>
            </a:endParaRPr>
          </a:p>
          <a:p>
            <a:pPr marL="0" indent="0" eaLnBrk="1" latinLnBrk="0" hangingPunct="1">
              <a:lnSpc>
                <a:spcPct val="120000"/>
              </a:lnSpc>
              <a:spcBef>
                <a:spcPts val="0"/>
              </a:spcBef>
              <a:spcAft>
                <a:spcPts val="600"/>
              </a:spcAft>
              <a:buNone/>
            </a:pPr>
            <a:r>
              <a:rPr lang="en-US" altLang="zh-CN" sz="2800" b="1" kern="1200" dirty="0">
                <a:solidFill>
                  <a:srgbClr val="000066"/>
                </a:solidFill>
                <a:latin typeface="Arial" panose="020B0604020202020204" pitchFamily="34" charset="0"/>
                <a:ea typeface="楷体_GB2312" pitchFamily="49" charset="-122"/>
                <a:sym typeface="+mn-ea"/>
              </a:rPr>
              <a:t>         </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3-1</a:t>
            </a:r>
            <a:r>
              <a:rPr lang="en-US" sz="2800" b="1" kern="1200" dirty="0">
                <a:solidFill>
                  <a:srgbClr val="000066"/>
                </a:solidFill>
                <a:latin typeface="Arial" panose="020B0604020202020204" pitchFamily="34" charset="0"/>
                <a:ea typeface="楷体_GB2312" pitchFamily="49" charset="-122"/>
                <a:sym typeface="+mn-ea"/>
              </a:rPr>
              <a:t>3</a:t>
            </a:r>
            <a:r>
              <a:rPr lang="zh-CN" altLang="en-US" sz="2800" b="1" kern="1200" dirty="0">
                <a:solidFill>
                  <a:srgbClr val="000066"/>
                </a:solidFill>
                <a:latin typeface="Arial" panose="020B0604020202020204" pitchFamily="34" charset="0"/>
                <a:ea typeface="楷体_GB2312" pitchFamily="49" charset="-122"/>
                <a:sym typeface="+mn-ea"/>
              </a:rPr>
              <a:t>；</a:t>
            </a:r>
            <a:r>
              <a:rPr lang="en-US" altLang="zh-CN" sz="2800" b="1" kern="1200" dirty="0">
                <a:solidFill>
                  <a:srgbClr val="000066"/>
                </a:solidFill>
                <a:latin typeface="Arial" panose="020B0604020202020204" pitchFamily="34" charset="0"/>
                <a:ea typeface="楷体_GB2312" pitchFamily="49" charset="-122"/>
                <a:sym typeface="+mn-ea"/>
              </a:rPr>
              <a:t>       </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3-16</a:t>
            </a:r>
            <a:r>
              <a:rPr lang="zh-CN" altLang="en-US" sz="2800" b="1" kern="1200" dirty="0">
                <a:solidFill>
                  <a:srgbClr val="000066"/>
                </a:solidFill>
                <a:latin typeface="Arial" panose="020B0604020202020204" pitchFamily="34" charset="0"/>
                <a:ea typeface="楷体_GB2312" pitchFamily="49" charset="-122"/>
                <a:sym typeface="+mn-ea"/>
              </a:rPr>
              <a:t>（</a:t>
            </a:r>
            <a:r>
              <a:rPr lang="en-US" altLang="zh-CN" sz="2800" b="1" kern="1200" dirty="0">
                <a:solidFill>
                  <a:srgbClr val="000066"/>
                </a:solidFill>
                <a:latin typeface="Arial" panose="020B0604020202020204" pitchFamily="34" charset="0"/>
                <a:ea typeface="楷体_GB2312" pitchFamily="49" charset="-122"/>
                <a:sym typeface="+mn-ea"/>
              </a:rPr>
              <a:t>b</a:t>
            </a:r>
            <a:r>
              <a:rPr lang="zh-CN" altLang="en-US" sz="2800" b="1" kern="1200" dirty="0">
                <a:solidFill>
                  <a:srgbClr val="000066"/>
                </a:solidFill>
                <a:latin typeface="Arial" panose="020B0604020202020204" pitchFamily="34" charset="0"/>
                <a:ea typeface="楷体_GB2312" pitchFamily="49" charset="-122"/>
                <a:sym typeface="+mn-ea"/>
              </a:rPr>
              <a:t>）</a:t>
            </a:r>
            <a:r>
              <a:rPr lang="en-US" altLang="zh-CN" sz="2800" b="1" kern="1200" dirty="0">
                <a:solidFill>
                  <a:srgbClr val="000066"/>
                </a:solidFill>
                <a:latin typeface="Arial" panose="020B0604020202020204" pitchFamily="34" charset="0"/>
                <a:ea typeface="楷体_GB2312" pitchFamily="49" charset="-122"/>
                <a:sym typeface="+mn-ea"/>
              </a:rPr>
              <a:t>;</a:t>
            </a:r>
            <a:endParaRPr lang="zh-CN" altLang="en-US" sz="2800" b="1" kern="1200" dirty="0">
              <a:solidFill>
                <a:srgbClr val="000066"/>
              </a:solidFill>
              <a:latin typeface="Arial" panose="020B0604020202020204" pitchFamily="34" charset="0"/>
              <a:ea typeface="楷体_GB2312" pitchFamily="49" charset="-122"/>
              <a:sym typeface="+mn-ea"/>
            </a:endParaRPr>
          </a:p>
          <a:p>
            <a:pPr marL="0" indent="0" eaLnBrk="1" latinLnBrk="0" hangingPunct="1">
              <a:lnSpc>
                <a:spcPct val="120000"/>
              </a:lnSpc>
              <a:spcBef>
                <a:spcPts val="0"/>
              </a:spcBef>
              <a:spcAft>
                <a:spcPts val="600"/>
              </a:spcAft>
              <a:buNone/>
            </a:pPr>
            <a:r>
              <a:rPr lang="zh-CN" altLang="en-US" sz="2800" b="1" kern="1200" dirty="0">
                <a:solidFill>
                  <a:srgbClr val="000066"/>
                </a:solidFill>
                <a:latin typeface="Arial" panose="020B0604020202020204" pitchFamily="34" charset="0"/>
                <a:ea typeface="楷体_GB2312" pitchFamily="49" charset="-122"/>
                <a:sym typeface="+mn-ea"/>
              </a:rPr>
              <a:t> </a:t>
            </a:r>
            <a:r>
              <a:rPr lang="en-US" altLang="zh-CN" sz="2800" b="1" kern="1200" dirty="0">
                <a:solidFill>
                  <a:srgbClr val="000066"/>
                </a:solidFill>
                <a:latin typeface="Arial" panose="020B0604020202020204" pitchFamily="34" charset="0"/>
                <a:ea typeface="楷体_GB2312" pitchFamily="49" charset="-122"/>
                <a:sym typeface="+mn-ea"/>
              </a:rPr>
              <a:t>        </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3</a:t>
            </a:r>
            <a:r>
              <a:rPr lang="en-US" altLang="zh-CN" sz="2800" b="1" kern="1200" dirty="0">
                <a:solidFill>
                  <a:srgbClr val="000066"/>
                </a:solidFill>
                <a:latin typeface="Arial" panose="020B0604020202020204" pitchFamily="34" charset="0"/>
                <a:ea typeface="楷体_GB2312" pitchFamily="49" charset="-122"/>
                <a:sym typeface="+mn-ea"/>
              </a:rPr>
              <a:t>-17</a:t>
            </a:r>
            <a:r>
              <a:rPr lang="zh-CN" altLang="en-US" sz="2800" b="1" kern="1200" dirty="0">
                <a:solidFill>
                  <a:srgbClr val="000066"/>
                </a:solidFill>
                <a:latin typeface="Arial" panose="020B0604020202020204" pitchFamily="34" charset="0"/>
                <a:ea typeface="楷体_GB2312" pitchFamily="49" charset="-122"/>
                <a:sym typeface="+mn-ea"/>
              </a:rPr>
              <a:t>（</a:t>
            </a:r>
            <a:r>
              <a:rPr lang="en-US" altLang="zh-CN" sz="2800" b="1" kern="1200" dirty="0">
                <a:solidFill>
                  <a:srgbClr val="000066"/>
                </a:solidFill>
                <a:latin typeface="Arial" panose="020B0604020202020204" pitchFamily="34" charset="0"/>
                <a:ea typeface="楷体_GB2312" pitchFamily="49" charset="-122"/>
                <a:sym typeface="+mn-ea"/>
              </a:rPr>
              <a:t>b</a:t>
            </a:r>
            <a:r>
              <a:rPr lang="zh-CN" altLang="en-US" sz="2800" b="1" kern="1200" dirty="0">
                <a:solidFill>
                  <a:srgbClr val="000066"/>
                </a:solidFill>
                <a:latin typeface="Arial" panose="020B0604020202020204" pitchFamily="34" charset="0"/>
                <a:ea typeface="楷体_GB2312" pitchFamily="49" charset="-122"/>
                <a:sym typeface="+mn-ea"/>
              </a:rPr>
              <a:t>）；</a:t>
            </a:r>
            <a:endParaRPr lang="zh-CN" altLang="en-US" sz="2800" b="1" kern="1200" dirty="0">
              <a:solidFill>
                <a:srgbClr val="000066"/>
              </a:solidFill>
              <a:latin typeface="Arial" panose="020B0604020202020204" pitchFamily="34" charset="0"/>
              <a:ea typeface="楷体_GB2312" pitchFamily="49" charset="-122"/>
              <a:sym typeface="+mn-ea"/>
            </a:endParaRPr>
          </a:p>
          <a:p>
            <a:pPr marL="0" indent="0" eaLnBrk="1" latinLnBrk="0" hangingPunct="1">
              <a:lnSpc>
                <a:spcPct val="120000"/>
              </a:lnSpc>
              <a:spcBef>
                <a:spcPts val="0"/>
              </a:spcBef>
              <a:spcAft>
                <a:spcPts val="600"/>
              </a:spcAft>
              <a:buNone/>
            </a:pPr>
            <a:r>
              <a:rPr lang="en-US" altLang="zh-CN" sz="2800" b="1" kern="1200" dirty="0">
                <a:solidFill>
                  <a:srgbClr val="000066"/>
                </a:solidFill>
                <a:latin typeface="Arial" panose="020B0604020202020204" pitchFamily="34" charset="0"/>
                <a:ea typeface="楷体_GB2312" pitchFamily="49" charset="-122"/>
                <a:sym typeface="+mn-ea"/>
              </a:rPr>
              <a:t>         </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3</a:t>
            </a:r>
            <a:r>
              <a:rPr lang="en-US" altLang="zh-CN" sz="2800" b="1" kern="1200" dirty="0">
                <a:solidFill>
                  <a:srgbClr val="000066"/>
                </a:solidFill>
                <a:latin typeface="Arial" panose="020B0604020202020204" pitchFamily="34" charset="0"/>
                <a:ea typeface="楷体_GB2312" pitchFamily="49" charset="-122"/>
                <a:sym typeface="+mn-ea"/>
              </a:rPr>
              <a:t>-18 </a:t>
            </a:r>
            <a:endParaRPr lang="zh-CN" altLang="en-US" sz="2800" b="1" kern="1200" dirty="0">
              <a:solidFill>
                <a:srgbClr val="000066"/>
              </a:solidFill>
              <a:latin typeface="Arial" panose="020B0604020202020204" pitchFamily="34" charset="0"/>
              <a:ea typeface="楷体_GB2312" pitchFamily="49" charset="-122"/>
            </a:endParaRPr>
          </a:p>
          <a:p>
            <a:pPr marL="0" indent="0" eaLnBrk="1" latinLnBrk="0" hangingPunct="1">
              <a:lnSpc>
                <a:spcPct val="120000"/>
              </a:lnSpc>
              <a:spcBef>
                <a:spcPts val="0"/>
              </a:spcBef>
              <a:buNone/>
            </a:pPr>
            <a:endParaRPr lang="zh-CN" altLang="en-US" sz="2400" b="1" kern="1200" dirty="0">
              <a:solidFill>
                <a:srgbClr val="000066"/>
              </a:solidFill>
              <a:latin typeface="Arial" panose="020B0604020202020204" pitchFamily="34" charset="0"/>
              <a:ea typeface="楷体_GB2312" pitchFamily="49" charset="-122"/>
            </a:endParaRPr>
          </a:p>
          <a:p>
            <a:pPr marL="0" indent="0" eaLnBrk="1" latinLnBrk="0" hangingPunct="1">
              <a:lnSpc>
                <a:spcPct val="120000"/>
              </a:lnSpc>
              <a:spcBef>
                <a:spcPts val="0"/>
              </a:spcBef>
              <a:buNone/>
            </a:pPr>
            <a:endParaRPr lang="zh-CN" altLang="en-US"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3657600" y="533400"/>
            <a:ext cx="187579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zh-CN" altLang="en-US" b="1" dirty="0">
                <a:solidFill>
                  <a:srgbClr val="FF0000"/>
                </a:solidFill>
                <a:latin typeface="黑体" panose="02010609060101010101" pitchFamily="49" charset="-122"/>
                <a:ea typeface="黑体" panose="02010609060101010101" pitchFamily="49" charset="-122"/>
              </a:rPr>
              <a:t>本章作业</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PLACING_PICTURE_USER_VIEWPORT" val="{&quot;height&quot;:2867,&quot;width&quot;:2121}"/>
</p:tagLst>
</file>

<file path=ppt/tags/tag2.xml><?xml version="1.0" encoding="utf-8"?>
<p:tagLst xmlns:p="http://schemas.openxmlformats.org/presentationml/2006/main">
  <p:tag name="KSO_WM_UNIT_PLACING_PICTURE_USER_VIEWPORT" val="{&quot;height&quot;:2470,&quot;width&quot;:10748}"/>
</p:tagLst>
</file>

<file path=ppt/tags/tag3.xml><?xml version="1.0" encoding="utf-8"?>
<p:tagLst xmlns:p="http://schemas.openxmlformats.org/presentationml/2006/main">
  <p:tag name="KSO_WM_UNIT_PLACING_PICTURE_USER_VIEWPORT" val="{&quot;height&quot;:2470,&quot;width&quot;:10748}"/>
</p:tagLst>
</file>

<file path=ppt/tags/tag4.xml><?xml version="1.0" encoding="utf-8"?>
<p:tagLst xmlns:p="http://schemas.openxmlformats.org/presentationml/2006/main">
  <p:tag name="KSO_WM_UNIT_PLACING_PICTURE_USER_VIEWPORT" val="{&quot;height&quot;:3053,&quot;width&quot;:3412}"/>
</p:tagLst>
</file>

<file path=ppt/theme/theme1.xml><?xml version="1.0" encoding="utf-8"?>
<a:theme xmlns:a="http://schemas.openxmlformats.org/drawingml/2006/main" name="Default Design">
  <a:themeElements>
    <a:clrScheme name="Default Design 3">
      <a:dk1>
        <a:srgbClr val="080808"/>
      </a:dk1>
      <a:lt1>
        <a:srgbClr val="FFFFFF"/>
      </a:lt1>
      <a:dk2>
        <a:srgbClr val="A59A55"/>
      </a:dk2>
      <a:lt2>
        <a:srgbClr val="DDDDDD"/>
      </a:lt2>
      <a:accent1>
        <a:srgbClr val="4AB1E4"/>
      </a:accent1>
      <a:accent2>
        <a:srgbClr val="8F038F"/>
      </a:accent2>
      <a:accent3>
        <a:srgbClr val="FFFFFF"/>
      </a:accent3>
      <a:accent4>
        <a:srgbClr val="060606"/>
      </a:accent4>
      <a:accent5>
        <a:srgbClr val="B1D5EF"/>
      </a:accent5>
      <a:accent6>
        <a:srgbClr val="810281"/>
      </a:accent6>
      <a:hlink>
        <a:srgbClr val="F77A1D"/>
      </a:hlink>
      <a:folHlink>
        <a:srgbClr val="5BBE4E"/>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Default Design 1">
        <a:dk1>
          <a:srgbClr val="5F5F5F"/>
        </a:dk1>
        <a:lt1>
          <a:srgbClr val="FFFFFF"/>
        </a:lt1>
        <a:dk2>
          <a:srgbClr val="C36609"/>
        </a:dk2>
        <a:lt2>
          <a:srgbClr val="DDDDDD"/>
        </a:lt2>
        <a:accent1>
          <a:srgbClr val="D2B94E"/>
        </a:accent1>
        <a:accent2>
          <a:srgbClr val="2395B9"/>
        </a:accent2>
        <a:accent3>
          <a:srgbClr val="FFFFFF"/>
        </a:accent3>
        <a:accent4>
          <a:srgbClr val="505050"/>
        </a:accent4>
        <a:accent5>
          <a:srgbClr val="E5D9B2"/>
        </a:accent5>
        <a:accent6>
          <a:srgbClr val="1F87A7"/>
        </a:accent6>
        <a:hlink>
          <a:srgbClr val="5C984E"/>
        </a:hlink>
        <a:folHlink>
          <a:srgbClr val="B5C77B"/>
        </a:folHlink>
      </a:clrScheme>
      <a:clrMap bg1="lt1" tx1="dk1" bg2="lt2" tx2="dk2" accent1="accent1" accent2="accent2" accent3="accent3" accent4="accent4" accent5="accent5" accent6="accent6" hlink="hlink" folHlink="folHlink"/>
    </a:extraClrScheme>
    <a:extraClrScheme>
      <a:clrScheme name="Default Design 2">
        <a:dk1>
          <a:srgbClr val="5F5F5F"/>
        </a:dk1>
        <a:lt1>
          <a:srgbClr val="FFFFFF"/>
        </a:lt1>
        <a:dk2>
          <a:srgbClr val="9FC591"/>
        </a:dk2>
        <a:lt2>
          <a:srgbClr val="DDDDDD"/>
        </a:lt2>
        <a:accent1>
          <a:srgbClr val="7B82B7"/>
        </a:accent1>
        <a:accent2>
          <a:srgbClr val="8D337C"/>
        </a:accent2>
        <a:accent3>
          <a:srgbClr val="FFFFFF"/>
        </a:accent3>
        <a:accent4>
          <a:srgbClr val="505050"/>
        </a:accent4>
        <a:accent5>
          <a:srgbClr val="BFC1D8"/>
        </a:accent5>
        <a:accent6>
          <a:srgbClr val="7F2D70"/>
        </a:accent6>
        <a:hlink>
          <a:srgbClr val="CC87E1"/>
        </a:hlink>
        <a:folHlink>
          <a:srgbClr val="76C5D0"/>
        </a:folHlink>
      </a:clrScheme>
      <a:clrMap bg1="lt1" tx1="dk1" bg2="lt2" tx2="dk2" accent1="accent1" accent2="accent2" accent3="accent3" accent4="accent4" accent5="accent5" accent6="accent6" hlink="hlink" folHlink="folHlink"/>
    </a:extraClrScheme>
    <a:extraClrScheme>
      <a:clrScheme name="Default Design 3">
        <a:dk1>
          <a:srgbClr val="080808"/>
        </a:dk1>
        <a:lt1>
          <a:srgbClr val="FFFFFF"/>
        </a:lt1>
        <a:dk2>
          <a:srgbClr val="A59A55"/>
        </a:dk2>
        <a:lt2>
          <a:srgbClr val="DDDDDD"/>
        </a:lt2>
        <a:accent1>
          <a:srgbClr val="4AB1E4"/>
        </a:accent1>
        <a:accent2>
          <a:srgbClr val="8F038F"/>
        </a:accent2>
        <a:accent3>
          <a:srgbClr val="FFFFFF"/>
        </a:accent3>
        <a:accent4>
          <a:srgbClr val="060606"/>
        </a:accent4>
        <a:accent5>
          <a:srgbClr val="B1D5EF"/>
        </a:accent5>
        <a:accent6>
          <a:srgbClr val="810281"/>
        </a:accent6>
        <a:hlink>
          <a:srgbClr val="F77A1D"/>
        </a:hlink>
        <a:folHlink>
          <a:srgbClr val="5BBE4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18448</Words>
  <Application>WPS 演示</Application>
  <PresentationFormat>全屏显示(4:3)</PresentationFormat>
  <Paragraphs>1396</Paragraphs>
  <Slides>77</Slides>
  <Notes>8</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106</vt:i4>
      </vt:variant>
      <vt:variant>
        <vt:lpstr>幻灯片标题</vt:lpstr>
      </vt:variant>
      <vt:variant>
        <vt:i4>77</vt:i4>
      </vt:variant>
    </vt:vector>
  </HeadingPairs>
  <TitlesOfParts>
    <vt:vector size="195" baseType="lpstr">
      <vt:lpstr>Arial</vt:lpstr>
      <vt:lpstr>宋体</vt:lpstr>
      <vt:lpstr>Wingdings</vt:lpstr>
      <vt:lpstr>Calibri</vt:lpstr>
      <vt:lpstr>微软雅黑</vt:lpstr>
      <vt:lpstr>黑体</vt:lpstr>
      <vt:lpstr>楷体_GB2312</vt:lpstr>
      <vt:lpstr>新宋体</vt:lpstr>
      <vt:lpstr>Times New Roman</vt:lpstr>
      <vt:lpstr>Arial Unicode MS</vt:lpstr>
      <vt:lpstr>Symbol</vt:lpstr>
      <vt:lpstr>Default Design</vt:lpstr>
      <vt:lpstr>Equation.KSEE3</vt:lpstr>
      <vt:lpstr>Equation.KSEE3</vt:lpstr>
      <vt:lpstr>Equation.DSMT4</vt:lpstr>
      <vt:lpstr>Equation.DSMT4</vt:lpstr>
      <vt:lpstr>Equation.DSMT4</vt:lpstr>
      <vt:lpstr>Equation.DSMT4</vt:lpstr>
      <vt:lpstr>Equation.DSMT4</vt:lpstr>
      <vt:lpstr>Equation.DSMT4</vt:lpstr>
      <vt:lpstr>Equation.DSMT4</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Equation.DSMT4</vt:lpstr>
      <vt:lpstr>Equation.KSEE3</vt:lpstr>
      <vt:lpstr>Equation.DSMT4</vt:lpstr>
      <vt:lpstr>Equation.DSMT4</vt:lpstr>
      <vt:lpstr>Equation.DSMT4</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Equation.DSMT4</vt:lpstr>
      <vt:lpstr>Equation.DSMT4</vt:lpstr>
      <vt:lpstr>Equation.KSEE3</vt:lpstr>
      <vt:lpstr>Equation.KSEE3</vt:lpstr>
      <vt:lpstr>Equation.KSEE3</vt:lpstr>
      <vt:lpstr>Equation.KSEE3</vt:lpstr>
      <vt:lpstr>Equation.KSEE3</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Equation.KSEE3</vt:lpstr>
      <vt:lpstr>Equation.KSEE3</vt:lpstr>
      <vt:lpstr>Equation.KSEE3</vt:lpstr>
      <vt:lpstr>Equation.KSEE3</vt:lpstr>
      <vt:lpstr>Equation.DSMT4</vt:lpstr>
      <vt:lpstr>Equation.DSMT4</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第3章 逻辑门电路</vt:lpstr>
      <vt:lpstr>PowerPoint 演示文稿</vt:lpstr>
      <vt:lpstr>3.1.1 二极管开关特性及门电路</vt:lpstr>
      <vt:lpstr>PowerPoint 演示文稿</vt:lpstr>
      <vt:lpstr>PowerPoint 演示文稿</vt:lpstr>
      <vt:lpstr>PowerPoint 演示文稿</vt:lpstr>
      <vt:lpstr>PowerPoint 演示文稿</vt:lpstr>
      <vt:lpstr>3.1.2 三极管开关特性及门电路</vt:lpstr>
      <vt:lpstr>PowerPoint 演示文稿</vt:lpstr>
      <vt:lpstr>PowerPoint 演示文稿</vt:lpstr>
      <vt:lpstr>PowerPoint 演示文稿</vt:lpstr>
      <vt:lpstr>3.1.3 二极管和三极管的组合门电路</vt:lpstr>
      <vt:lpstr>PowerPoint 演示文稿</vt:lpstr>
      <vt:lpstr>PowerPoint 演示文稿</vt:lpstr>
      <vt:lpstr>3.2.1 TTL与非门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3.2.2 TTL或非门</vt:lpstr>
      <vt:lpstr>3.2.3 集电极开路与非门</vt:lpstr>
      <vt:lpstr>PowerPoint 演示文稿</vt:lpstr>
      <vt:lpstr>PowerPoint 演示文稿</vt:lpstr>
      <vt:lpstr>PowerPoint 演示文稿</vt:lpstr>
      <vt:lpstr>PowerPoint 演示文稿</vt:lpstr>
      <vt:lpstr>PowerPoint 演示文稿</vt:lpstr>
      <vt:lpstr>3.2.4 三态输出门</vt:lpstr>
      <vt:lpstr>PowerPoint 演示文稿</vt:lpstr>
      <vt:lpstr>PowerPoint 演示文稿</vt:lpstr>
      <vt:lpstr>PowerPoint 演示文稿</vt:lpstr>
      <vt:lpstr>PowerPoint 演示文稿</vt:lpstr>
      <vt:lpstr>3.2.5 TTL集成逻辑门使用注意事项</vt:lpstr>
      <vt:lpstr>PowerPoint 演示文稿</vt:lpstr>
      <vt:lpstr>3.3.1  MOS管开关特性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3.3.2 CMOS 反相器</vt:lpstr>
      <vt:lpstr>PowerPoint 演示文稿</vt:lpstr>
      <vt:lpstr>PowerPoint 演示文稿</vt:lpstr>
      <vt:lpstr>PowerPoint 演示文稿</vt:lpstr>
      <vt:lpstr>PowerPoint 演示文稿</vt:lpstr>
      <vt:lpstr>3.3.3 CMOS 与非门</vt:lpstr>
      <vt:lpstr>3.3.4 CMOS 或非门</vt:lpstr>
      <vt:lpstr>PowerPoint 演示文稿</vt:lpstr>
      <vt:lpstr>3.3.5  CMOS 传输门</vt:lpstr>
      <vt:lpstr>PowerPoint 演示文稿</vt:lpstr>
      <vt:lpstr>PowerPoint 演示文稿</vt:lpstr>
      <vt:lpstr>3.3.6  CMOS漏极开路 (Open Drain，OD) 门</vt:lpstr>
      <vt:lpstr>PowerPoint 演示文稿</vt:lpstr>
      <vt:lpstr>3.3.7 CMOS 三态门</vt:lpstr>
      <vt:lpstr>PowerPoint 演示文稿</vt:lpstr>
      <vt:lpstr>PowerPoint 演示文稿</vt:lpstr>
      <vt:lpstr>3.3.8 CMOS 逻辑门使用注意事项</vt:lpstr>
      <vt:lpstr>3.4.1 正负逻辑之间的等效关系</vt:lpstr>
      <vt:lpstr>PowerPoint 演示文稿</vt:lpstr>
      <vt:lpstr>3.4.2 逻辑门符号的等效变换</vt:lpstr>
      <vt:lpstr>PowerPoint 演示文稿</vt:lpstr>
      <vt:lpstr>PowerPoint 演示文稿</vt:lpstr>
      <vt:lpstr>3.4.3 有效逻辑电平的概念</vt:lpstr>
      <vt:lpstr>PowerPoint 演示文稿</vt:lpstr>
      <vt:lpstr>PowerPoint 演示文稿</vt:lpstr>
      <vt:lpstr>PowerPoint 演示文稿</vt:lpstr>
      <vt:lpstr>PowerPoint 演示文稿</vt:lpstr>
    </vt:vector>
  </TitlesOfParts>
  <Company>Guild Design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ThemeGallery PowerTemplate</dc:title>
  <dc:creator>www.themegallery.com</dc:creator>
  <cp:lastModifiedBy>WPS_1632966238</cp:lastModifiedBy>
  <cp:revision>291</cp:revision>
  <dcterms:created xsi:type="dcterms:W3CDTF">2007-02-20T07:59:00Z</dcterms:created>
  <dcterms:modified xsi:type="dcterms:W3CDTF">2022-03-21T03:57:41Z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D7810DE3FFD04D61A08384750A2B3197</vt:lpwstr>
  </property>
  <property fmtid="{D5CDD505-2E9C-101B-9397-08002B2CF9AE}" pid="3" name="KSOProductBuildVer">
    <vt:lpwstr>2052-11.1.0.11365</vt:lpwstr>
  </property>
</Properties>
</file>
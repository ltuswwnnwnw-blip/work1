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handoutMasterIdLst>
    <p:handoutMasterId r:id="rId66"/>
  </p:handoutMasterIdLst>
  <p:sldIdLst>
    <p:sldId id="261" r:id="rId3"/>
    <p:sldId id="267" r:id="rId4"/>
    <p:sldId id="268" r:id="rId5"/>
    <p:sldId id="259" r:id="rId6"/>
    <p:sldId id="264" r:id="rId7"/>
    <p:sldId id="266" r:id="rId8"/>
    <p:sldId id="274" r:id="rId9"/>
    <p:sldId id="273" r:id="rId10"/>
    <p:sldId id="275" r:id="rId11"/>
    <p:sldId id="272" r:id="rId12"/>
    <p:sldId id="277" r:id="rId13"/>
    <p:sldId id="278" r:id="rId14"/>
    <p:sldId id="279" r:id="rId15"/>
    <p:sldId id="280" r:id="rId16"/>
    <p:sldId id="281" r:id="rId17"/>
    <p:sldId id="276" r:id="rId18"/>
    <p:sldId id="284" r:id="rId19"/>
    <p:sldId id="285" r:id="rId20"/>
    <p:sldId id="286" r:id="rId21"/>
    <p:sldId id="287" r:id="rId22"/>
    <p:sldId id="288" r:id="rId23"/>
    <p:sldId id="289" r:id="rId24"/>
    <p:sldId id="290" r:id="rId25"/>
    <p:sldId id="291" r:id="rId26"/>
    <p:sldId id="292" r:id="rId27"/>
    <p:sldId id="295" r:id="rId28"/>
    <p:sldId id="302" r:id="rId29"/>
    <p:sldId id="303" r:id="rId30"/>
    <p:sldId id="296" r:id="rId31"/>
    <p:sldId id="297" r:id="rId32"/>
    <p:sldId id="298" r:id="rId33"/>
    <p:sldId id="299" r:id="rId34"/>
    <p:sldId id="310" r:id="rId35"/>
    <p:sldId id="313" r:id="rId36"/>
    <p:sldId id="317" r:id="rId37"/>
    <p:sldId id="318" r:id="rId38"/>
    <p:sldId id="314" r:id="rId39"/>
    <p:sldId id="322" r:id="rId40"/>
    <p:sldId id="323" r:id="rId41"/>
    <p:sldId id="324" r:id="rId42"/>
    <p:sldId id="293" r:id="rId43"/>
    <p:sldId id="325" r:id="rId44"/>
    <p:sldId id="328" r:id="rId45"/>
    <p:sldId id="329" r:id="rId46"/>
    <p:sldId id="294" r:id="rId47"/>
    <p:sldId id="330" r:id="rId48"/>
    <p:sldId id="332" r:id="rId49"/>
    <p:sldId id="333" r:id="rId50"/>
    <p:sldId id="334" r:id="rId51"/>
    <p:sldId id="335" r:id="rId52"/>
    <p:sldId id="337" r:id="rId53"/>
    <p:sldId id="338" r:id="rId54"/>
    <p:sldId id="336" r:id="rId55"/>
    <p:sldId id="341" r:id="rId56"/>
    <p:sldId id="342" r:id="rId57"/>
    <p:sldId id="343" r:id="rId58"/>
    <p:sldId id="344" r:id="rId59"/>
    <p:sldId id="347" r:id="rId60"/>
    <p:sldId id="348" r:id="rId61"/>
    <p:sldId id="349" r:id="rId62"/>
    <p:sldId id="352" r:id="rId63"/>
    <p:sldId id="345" r:id="rId64"/>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6D7"/>
    <a:srgbClr val="FFFFFF"/>
    <a:srgbClr val="FF9900"/>
    <a:srgbClr val="92D0E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756" y="-90"/>
      </p:cViewPr>
      <p:guideLst>
        <p:guide orient="horz" pos="2127"/>
        <p:guide pos="2880"/>
      </p:guideLst>
    </p:cSldViewPr>
  </p:slideViewPr>
  <p:notesTextViewPr>
    <p:cViewPr>
      <p:scale>
        <a:sx n="100" d="100"/>
        <a:sy n="100" d="100"/>
      </p:scale>
      <p:origin x="0" y="0"/>
    </p:cViewPr>
  </p:notesTextViewPr>
  <p:sorterViewPr showFormatting="0">
    <p:cViewPr>
      <p:scale>
        <a:sx n="66" d="100"/>
        <a:sy n="66" d="100"/>
      </p:scale>
      <p:origin x="0" y="69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handoutMaster" Target="handoutMasters/handoutMaster1.xml"/><Relationship Id="rId65" Type="http://schemas.openxmlformats.org/officeDocument/2006/relationships/notesMaster" Target="notesMasters/notesMaster1.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4CE3B78-4C24-40AA-B3C7-9D99C1C50D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BB3A8F-C92E-4D35-9C30-EEB82B447B3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1" name="Group 15"/>
          <p:cNvGrpSpPr/>
          <p:nvPr/>
        </p:nvGrpSpPr>
        <p:grpSpPr>
          <a:xfrm>
            <a:off x="152400" y="381000"/>
            <a:ext cx="6838950" cy="3365500"/>
            <a:chOff x="664" y="1951"/>
            <a:chExt cx="4308" cy="2120"/>
          </a:xfrm>
        </p:grpSpPr>
        <p:sp>
          <p:nvSpPr>
            <p:cNvPr id="2066" name="Freeform 16"/>
            <p:cNvSpPr/>
            <p:nvPr/>
          </p:nvSpPr>
          <p:spPr>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w="12700">
              <a:noFill/>
            </a:ln>
          </p:spPr>
          <p:txBody>
            <a:bodyPr/>
            <a:p>
              <a:endParaRPr lang="zh-CN" altLang="en-US"/>
            </a:p>
          </p:txBody>
        </p:sp>
        <p:sp>
          <p:nvSpPr>
            <p:cNvPr id="2067" name="Freeform 17"/>
            <p:cNvSpPr/>
            <p:nvPr/>
          </p:nvSpPr>
          <p:spPr>
            <a:xfrm>
              <a:off x="703" y="2230"/>
              <a:ext cx="34" cy="28"/>
            </a:xfrm>
            <a:custGeom>
              <a:avLst/>
              <a:gdLst/>
              <a:ahLst/>
              <a:cxnLst>
                <a:cxn ang="0">
                  <a:pos x="16" y="4"/>
                </a:cxn>
                <a:cxn ang="0">
                  <a:pos x="0" y="22"/>
                </a:cxn>
                <a:cxn ang="0">
                  <a:pos x="22" y="38"/>
                </a:cxn>
                <a:cxn ang="0">
                  <a:pos x="46" y="26"/>
                </a:cxn>
                <a:cxn ang="0">
                  <a:pos x="30" y="0"/>
                </a:cxn>
                <a:cxn ang="0">
                  <a:pos x="16" y="4"/>
                </a:cxn>
              </a:cxnLst>
              <a:pathLst>
                <a:path w="46" h="38">
                  <a:moveTo>
                    <a:pt x="16" y="4"/>
                  </a:moveTo>
                  <a:lnTo>
                    <a:pt x="0" y="22"/>
                  </a:lnTo>
                  <a:lnTo>
                    <a:pt x="22" y="38"/>
                  </a:lnTo>
                  <a:lnTo>
                    <a:pt x="46" y="26"/>
                  </a:lnTo>
                  <a:lnTo>
                    <a:pt x="30" y="0"/>
                  </a:lnTo>
                  <a:lnTo>
                    <a:pt x="16" y="4"/>
                  </a:lnTo>
                  <a:close/>
                </a:path>
              </a:pathLst>
            </a:custGeom>
            <a:solidFill>
              <a:srgbClr val="FEFEFE">
                <a:alpha val="30196"/>
              </a:srgbClr>
            </a:solidFill>
            <a:ln w="12700">
              <a:noFill/>
            </a:ln>
          </p:spPr>
          <p:txBody>
            <a:bodyPr/>
            <a:p>
              <a:endParaRPr lang="zh-CN" altLang="en-US"/>
            </a:p>
          </p:txBody>
        </p:sp>
        <p:sp>
          <p:nvSpPr>
            <p:cNvPr id="2068" name="Freeform 18"/>
            <p:cNvSpPr/>
            <p:nvPr/>
          </p:nvSpPr>
          <p:spPr>
            <a:xfrm>
              <a:off x="1010" y="2353"/>
              <a:ext cx="39" cy="32"/>
            </a:xfrm>
            <a:custGeom>
              <a:avLst/>
              <a:gdLst/>
              <a:ahLst/>
              <a:cxnLst>
                <a:cxn ang="0">
                  <a:pos x="12" y="0"/>
                </a:cxn>
                <a:cxn ang="0">
                  <a:pos x="26" y="44"/>
                </a:cxn>
                <a:cxn ang="0">
                  <a:pos x="42" y="42"/>
                </a:cxn>
                <a:cxn ang="0">
                  <a:pos x="38" y="16"/>
                </a:cxn>
                <a:cxn ang="0">
                  <a:pos x="26" y="2"/>
                </a:cxn>
                <a:cxn ang="0">
                  <a:pos x="12" y="0"/>
                </a:cxn>
              </a:cxnLst>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w="12700">
              <a:noFill/>
            </a:ln>
          </p:spPr>
          <p:txBody>
            <a:bodyPr/>
            <a:p>
              <a:endParaRPr lang="zh-CN" altLang="en-US"/>
            </a:p>
          </p:txBody>
        </p:sp>
        <p:sp>
          <p:nvSpPr>
            <p:cNvPr id="2069" name="Freeform 19"/>
            <p:cNvSpPr/>
            <p:nvPr/>
          </p:nvSpPr>
          <p:spPr>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w="12700">
              <a:noFill/>
            </a:ln>
          </p:spPr>
          <p:txBody>
            <a:bodyPr/>
            <a:p>
              <a:endParaRPr lang="zh-CN" altLang="en-US"/>
            </a:p>
          </p:txBody>
        </p:sp>
        <p:sp>
          <p:nvSpPr>
            <p:cNvPr id="2070" name="Freeform 20"/>
            <p:cNvSpPr/>
            <p:nvPr/>
          </p:nvSpPr>
          <p:spPr>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w="12700">
              <a:noFill/>
            </a:ln>
          </p:spPr>
          <p:txBody>
            <a:bodyPr/>
            <a:p>
              <a:endParaRPr lang="zh-CN" altLang="en-US"/>
            </a:p>
          </p:txBody>
        </p:sp>
        <p:sp>
          <p:nvSpPr>
            <p:cNvPr id="2071" name="Freeform 21"/>
            <p:cNvSpPr/>
            <p:nvPr/>
          </p:nvSpPr>
          <p:spPr>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w="12700">
              <a:noFill/>
            </a:ln>
          </p:spPr>
          <p:txBody>
            <a:bodyPr/>
            <a:p>
              <a:endParaRPr lang="zh-CN" altLang="en-US"/>
            </a:p>
          </p:txBody>
        </p:sp>
        <p:sp>
          <p:nvSpPr>
            <p:cNvPr id="2072" name="Freeform 22"/>
            <p:cNvSpPr/>
            <p:nvPr/>
          </p:nvSpPr>
          <p:spPr>
            <a:xfrm>
              <a:off x="1553" y="288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73" name="Freeform 23"/>
            <p:cNvSpPr/>
            <p:nvPr/>
          </p:nvSpPr>
          <p:spPr>
            <a:xfrm>
              <a:off x="1609" y="2886"/>
              <a:ext cx="12" cy="25"/>
            </a:xfrm>
            <a:custGeom>
              <a:avLst/>
              <a:gdLst/>
              <a:ahLst/>
              <a:cxnLst>
                <a:cxn ang="0">
                  <a:pos x="14" y="0"/>
                </a:cxn>
                <a:cxn ang="0">
                  <a:pos x="0" y="14"/>
                </a:cxn>
                <a:cxn ang="0">
                  <a:pos x="16" y="34"/>
                </a:cxn>
                <a:cxn ang="0">
                  <a:pos x="12" y="18"/>
                </a:cxn>
                <a:cxn ang="0">
                  <a:pos x="16" y="6"/>
                </a:cxn>
                <a:cxn ang="0">
                  <a:pos x="14" y="0"/>
                </a:cxn>
              </a:cxnLst>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w="12700">
              <a:noFill/>
            </a:ln>
          </p:spPr>
          <p:txBody>
            <a:bodyPr/>
            <a:p>
              <a:endParaRPr lang="zh-CN" altLang="en-US"/>
            </a:p>
          </p:txBody>
        </p:sp>
        <p:sp>
          <p:nvSpPr>
            <p:cNvPr id="2074" name="Freeform 24"/>
            <p:cNvSpPr/>
            <p:nvPr/>
          </p:nvSpPr>
          <p:spPr>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w="12700">
              <a:noFill/>
            </a:ln>
          </p:spPr>
          <p:txBody>
            <a:bodyPr/>
            <a:p>
              <a:endParaRPr lang="zh-CN" altLang="en-US"/>
            </a:p>
          </p:txBody>
        </p:sp>
        <p:sp>
          <p:nvSpPr>
            <p:cNvPr id="2075" name="Freeform 25"/>
            <p:cNvSpPr/>
            <p:nvPr/>
          </p:nvSpPr>
          <p:spPr>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w="12700">
              <a:noFill/>
            </a:ln>
          </p:spPr>
          <p:txBody>
            <a:bodyPr/>
            <a:p>
              <a:endParaRPr lang="zh-CN" altLang="en-US"/>
            </a:p>
          </p:txBody>
        </p:sp>
        <p:sp>
          <p:nvSpPr>
            <p:cNvPr id="2076" name="Freeform 26"/>
            <p:cNvSpPr/>
            <p:nvPr/>
          </p:nvSpPr>
          <p:spPr>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w="12700">
              <a:noFill/>
            </a:ln>
          </p:spPr>
          <p:txBody>
            <a:bodyPr/>
            <a:p>
              <a:endParaRPr lang="zh-CN" altLang="en-US"/>
            </a:p>
          </p:txBody>
        </p:sp>
        <p:sp>
          <p:nvSpPr>
            <p:cNvPr id="2077" name="Freeform 27"/>
            <p:cNvSpPr/>
            <p:nvPr/>
          </p:nvSpPr>
          <p:spPr>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w="12700">
              <a:noFill/>
            </a:ln>
          </p:spPr>
          <p:txBody>
            <a:bodyPr/>
            <a:p>
              <a:endParaRPr lang="zh-CN" altLang="en-US"/>
            </a:p>
          </p:txBody>
        </p:sp>
        <p:sp>
          <p:nvSpPr>
            <p:cNvPr id="2078" name="Freeform 28"/>
            <p:cNvSpPr/>
            <p:nvPr/>
          </p:nvSpPr>
          <p:spPr>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w="12700">
              <a:noFill/>
            </a:ln>
          </p:spPr>
          <p:txBody>
            <a:bodyPr/>
            <a:p>
              <a:endParaRPr lang="zh-CN" altLang="en-US"/>
            </a:p>
          </p:txBody>
        </p:sp>
        <p:sp>
          <p:nvSpPr>
            <p:cNvPr id="2079" name="Freeform 29"/>
            <p:cNvSpPr/>
            <p:nvPr/>
          </p:nvSpPr>
          <p:spPr>
            <a:xfrm>
              <a:off x="1693" y="2065"/>
              <a:ext cx="54" cy="25"/>
            </a:xfrm>
            <a:custGeom>
              <a:avLst/>
              <a:gdLst/>
              <a:ahLst/>
              <a:cxnLst>
                <a:cxn ang="0">
                  <a:pos x="40" y="0"/>
                </a:cxn>
                <a:cxn ang="0">
                  <a:pos x="10" y="16"/>
                </a:cxn>
                <a:cxn ang="0">
                  <a:pos x="24" y="34"/>
                </a:cxn>
                <a:cxn ang="0">
                  <a:pos x="52" y="28"/>
                </a:cxn>
                <a:cxn ang="0">
                  <a:pos x="64" y="20"/>
                </a:cxn>
                <a:cxn ang="0">
                  <a:pos x="40" y="0"/>
                </a:cxn>
              </a:cxnLst>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w="12700">
              <a:noFill/>
            </a:ln>
          </p:spPr>
          <p:txBody>
            <a:bodyPr/>
            <a:p>
              <a:endParaRPr lang="zh-CN" altLang="en-US"/>
            </a:p>
          </p:txBody>
        </p:sp>
        <p:sp>
          <p:nvSpPr>
            <p:cNvPr id="2080" name="Freeform 30"/>
            <p:cNvSpPr/>
            <p:nvPr/>
          </p:nvSpPr>
          <p:spPr>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w="12700">
              <a:noFill/>
            </a:ln>
          </p:spPr>
          <p:txBody>
            <a:bodyPr/>
            <a:p>
              <a:endParaRPr lang="zh-CN" altLang="en-US"/>
            </a:p>
          </p:txBody>
        </p:sp>
        <p:sp>
          <p:nvSpPr>
            <p:cNvPr id="2081" name="Freeform 31"/>
            <p:cNvSpPr/>
            <p:nvPr/>
          </p:nvSpPr>
          <p:spPr>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w="12700">
              <a:noFill/>
            </a:ln>
          </p:spPr>
          <p:txBody>
            <a:bodyPr/>
            <a:p>
              <a:endParaRPr lang="zh-CN" altLang="en-US"/>
            </a:p>
          </p:txBody>
        </p:sp>
        <p:sp>
          <p:nvSpPr>
            <p:cNvPr id="2082" name="Freeform 32"/>
            <p:cNvSpPr/>
            <p:nvPr/>
          </p:nvSpPr>
          <p:spPr>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w="12700">
              <a:noFill/>
            </a:ln>
          </p:spPr>
          <p:txBody>
            <a:bodyPr/>
            <a:p>
              <a:endParaRPr lang="zh-CN" altLang="en-US"/>
            </a:p>
          </p:txBody>
        </p:sp>
        <p:sp>
          <p:nvSpPr>
            <p:cNvPr id="2083" name="Freeform 33"/>
            <p:cNvSpPr/>
            <p:nvPr/>
          </p:nvSpPr>
          <p:spPr>
            <a:xfrm>
              <a:off x="664" y="2245"/>
              <a:ext cx="25" cy="15"/>
            </a:xfrm>
            <a:custGeom>
              <a:avLst/>
              <a:gdLst/>
              <a:ahLst/>
              <a:cxnLst>
                <a:cxn ang="0">
                  <a:pos x="34" y="0"/>
                </a:cxn>
                <a:cxn ang="0">
                  <a:pos x="24" y="20"/>
                </a:cxn>
                <a:cxn ang="0">
                  <a:pos x="4" y="18"/>
                </a:cxn>
                <a:cxn ang="0">
                  <a:pos x="4" y="6"/>
                </a:cxn>
                <a:cxn ang="0">
                  <a:pos x="34" y="0"/>
                </a:cxn>
              </a:cxnLst>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w="12700">
              <a:noFill/>
            </a:ln>
          </p:spPr>
          <p:txBody>
            <a:bodyPr/>
            <a:p>
              <a:endParaRPr lang="zh-CN" altLang="en-US"/>
            </a:p>
          </p:txBody>
        </p:sp>
        <p:sp>
          <p:nvSpPr>
            <p:cNvPr id="2084" name="Freeform 34"/>
            <p:cNvSpPr/>
            <p:nvPr/>
          </p:nvSpPr>
          <p:spPr>
            <a:xfrm>
              <a:off x="1421" y="2756"/>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5" name="Freeform 35"/>
            <p:cNvSpPr/>
            <p:nvPr/>
          </p:nvSpPr>
          <p:spPr>
            <a:xfrm>
              <a:off x="1424" y="2781"/>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6" name="Freeform 36"/>
            <p:cNvSpPr/>
            <p:nvPr/>
          </p:nvSpPr>
          <p:spPr>
            <a:xfrm>
              <a:off x="1628" y="2913"/>
              <a:ext cx="15"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7" name="Freeform 37"/>
            <p:cNvSpPr/>
            <p:nvPr/>
          </p:nvSpPr>
          <p:spPr>
            <a:xfrm>
              <a:off x="1752" y="2429"/>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8" name="Freeform 38"/>
            <p:cNvSpPr/>
            <p:nvPr/>
          </p:nvSpPr>
          <p:spPr>
            <a:xfrm>
              <a:off x="1652" y="2224"/>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9" name="Freeform 39"/>
            <p:cNvSpPr/>
            <p:nvPr/>
          </p:nvSpPr>
          <p:spPr>
            <a:xfrm>
              <a:off x="1717" y="2045"/>
              <a:ext cx="39"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0" name="Freeform 40"/>
            <p:cNvSpPr/>
            <p:nvPr/>
          </p:nvSpPr>
          <p:spPr>
            <a:xfrm>
              <a:off x="1780" y="215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1" name="Freeform 41"/>
            <p:cNvSpPr/>
            <p:nvPr/>
          </p:nvSpPr>
          <p:spPr>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w="12700">
              <a:noFill/>
            </a:ln>
          </p:spPr>
          <p:txBody>
            <a:bodyPr/>
            <a:p>
              <a:endParaRPr lang="zh-CN" altLang="en-US"/>
            </a:p>
          </p:txBody>
        </p:sp>
        <p:sp>
          <p:nvSpPr>
            <p:cNvPr id="2092" name="Freeform 42"/>
            <p:cNvSpPr/>
            <p:nvPr/>
          </p:nvSpPr>
          <p:spPr>
            <a:xfrm>
              <a:off x="2009" y="2135"/>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3" name="Freeform 43"/>
            <p:cNvSpPr/>
            <p:nvPr/>
          </p:nvSpPr>
          <p:spPr>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w="12700">
              <a:noFill/>
            </a:ln>
          </p:spPr>
          <p:txBody>
            <a:bodyPr/>
            <a:p>
              <a:endParaRPr lang="zh-CN" altLang="en-US"/>
            </a:p>
          </p:txBody>
        </p:sp>
        <p:sp>
          <p:nvSpPr>
            <p:cNvPr id="2094" name="Freeform 44"/>
            <p:cNvSpPr/>
            <p:nvPr/>
          </p:nvSpPr>
          <p:spPr>
            <a:xfrm>
              <a:off x="2393" y="2038"/>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5" name="Freeform 45"/>
            <p:cNvSpPr/>
            <p:nvPr/>
          </p:nvSpPr>
          <p:spPr>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w="12700">
              <a:noFill/>
            </a:ln>
          </p:spPr>
          <p:txBody>
            <a:bodyPr/>
            <a:p>
              <a:endParaRPr lang="zh-CN" altLang="en-US"/>
            </a:p>
          </p:txBody>
        </p:sp>
        <p:sp>
          <p:nvSpPr>
            <p:cNvPr id="2096" name="Freeform 46"/>
            <p:cNvSpPr/>
            <p:nvPr/>
          </p:nvSpPr>
          <p:spPr>
            <a:xfrm>
              <a:off x="2759" y="2039"/>
              <a:ext cx="48" cy="21"/>
            </a:xfrm>
            <a:custGeom>
              <a:avLst/>
              <a:gdLst/>
              <a:ahLst/>
              <a:cxnLst>
                <a:cxn ang="0">
                  <a:pos x="36" y="6"/>
                </a:cxn>
                <a:cxn ang="0">
                  <a:pos x="8" y="4"/>
                </a:cxn>
                <a:cxn ang="0">
                  <a:pos x="24" y="28"/>
                </a:cxn>
                <a:cxn ang="0">
                  <a:pos x="54" y="14"/>
                </a:cxn>
                <a:cxn ang="0">
                  <a:pos x="36" y="6"/>
                </a:cxn>
              </a:cxnLst>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w="12700">
              <a:noFill/>
            </a:ln>
          </p:spPr>
          <p:txBody>
            <a:bodyPr/>
            <a:p>
              <a:endParaRPr lang="zh-CN" altLang="en-US"/>
            </a:p>
          </p:txBody>
        </p:sp>
        <p:sp>
          <p:nvSpPr>
            <p:cNvPr id="2097" name="Freeform 47"/>
            <p:cNvSpPr/>
            <p:nvPr/>
          </p:nvSpPr>
          <p:spPr>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w="12700">
              <a:noFill/>
            </a:ln>
          </p:spPr>
          <p:txBody>
            <a:bodyPr/>
            <a:p>
              <a:endParaRPr lang="zh-CN" altLang="en-US"/>
            </a:p>
          </p:txBody>
        </p:sp>
        <p:sp>
          <p:nvSpPr>
            <p:cNvPr id="2098" name="Freeform 48"/>
            <p:cNvSpPr/>
            <p:nvPr/>
          </p:nvSpPr>
          <p:spPr>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w="12700">
              <a:noFill/>
            </a:ln>
          </p:spPr>
          <p:txBody>
            <a:bodyPr/>
            <a:p>
              <a:endParaRPr lang="zh-CN" altLang="en-US"/>
            </a:p>
          </p:txBody>
        </p:sp>
        <p:sp>
          <p:nvSpPr>
            <p:cNvPr id="2099" name="Freeform 49"/>
            <p:cNvSpPr/>
            <p:nvPr/>
          </p:nvSpPr>
          <p:spPr>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w="12700">
              <a:noFill/>
            </a:ln>
          </p:spPr>
          <p:txBody>
            <a:bodyPr/>
            <a:p>
              <a:endParaRPr lang="zh-CN" altLang="en-US"/>
            </a:p>
          </p:txBody>
        </p:sp>
        <p:sp>
          <p:nvSpPr>
            <p:cNvPr id="2100" name="Freeform 50"/>
            <p:cNvSpPr/>
            <p:nvPr/>
          </p:nvSpPr>
          <p:spPr>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w="12700">
              <a:noFill/>
            </a:ln>
          </p:spPr>
          <p:txBody>
            <a:bodyPr/>
            <a:p>
              <a:endParaRPr lang="zh-CN" altLang="en-US"/>
            </a:p>
          </p:txBody>
        </p:sp>
        <p:sp>
          <p:nvSpPr>
            <p:cNvPr id="2101" name="Freeform 51"/>
            <p:cNvSpPr/>
            <p:nvPr/>
          </p:nvSpPr>
          <p:spPr>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w="12700">
              <a:noFill/>
            </a:ln>
          </p:spPr>
          <p:txBody>
            <a:bodyPr/>
            <a:p>
              <a:endParaRPr lang="zh-CN" altLang="en-US"/>
            </a:p>
          </p:txBody>
        </p:sp>
        <p:sp>
          <p:nvSpPr>
            <p:cNvPr id="2102" name="Freeform 52"/>
            <p:cNvSpPr/>
            <p:nvPr/>
          </p:nvSpPr>
          <p:spPr>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w="12700">
              <a:noFill/>
            </a:ln>
          </p:spPr>
          <p:txBody>
            <a:bodyPr/>
            <a:p>
              <a:endParaRPr lang="zh-CN" altLang="en-US"/>
            </a:p>
          </p:txBody>
        </p:sp>
        <p:sp>
          <p:nvSpPr>
            <p:cNvPr id="2103" name="Freeform 53"/>
            <p:cNvSpPr/>
            <p:nvPr/>
          </p:nvSpPr>
          <p:spPr>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w="12700">
              <a:noFill/>
            </a:ln>
          </p:spPr>
          <p:txBody>
            <a:bodyPr/>
            <a:p>
              <a:endParaRPr lang="zh-CN" altLang="en-US"/>
            </a:p>
          </p:txBody>
        </p:sp>
        <p:sp>
          <p:nvSpPr>
            <p:cNvPr id="2104" name="Freeform 54"/>
            <p:cNvSpPr/>
            <p:nvPr/>
          </p:nvSpPr>
          <p:spPr>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w="12700">
              <a:noFill/>
            </a:ln>
          </p:spPr>
          <p:txBody>
            <a:bodyPr/>
            <a:p>
              <a:endParaRPr lang="zh-CN" altLang="en-US"/>
            </a:p>
          </p:txBody>
        </p:sp>
        <p:sp>
          <p:nvSpPr>
            <p:cNvPr id="2105" name="Freeform 55"/>
            <p:cNvSpPr/>
            <p:nvPr/>
          </p:nvSpPr>
          <p:spPr>
            <a:xfrm>
              <a:off x="4846" y="3832"/>
              <a:ext cx="37" cy="26"/>
            </a:xfrm>
            <a:custGeom>
              <a:avLst/>
              <a:gdLst/>
              <a:ahLst/>
              <a:cxnLst>
                <a:cxn ang="0">
                  <a:pos x="29" y="0"/>
                </a:cxn>
                <a:cxn ang="0">
                  <a:pos x="8" y="11"/>
                </a:cxn>
                <a:cxn ang="0">
                  <a:pos x="24" y="35"/>
                </a:cxn>
                <a:cxn ang="0">
                  <a:pos x="39" y="26"/>
                </a:cxn>
                <a:cxn ang="0">
                  <a:pos x="29" y="0"/>
                </a:cxn>
              </a:cxnLst>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w="12700">
              <a:noFill/>
            </a:ln>
          </p:spPr>
          <p:txBody>
            <a:bodyPr/>
            <a:p>
              <a:endParaRPr lang="zh-CN" altLang="en-US"/>
            </a:p>
          </p:txBody>
        </p:sp>
        <p:sp>
          <p:nvSpPr>
            <p:cNvPr id="2106" name="Freeform 56"/>
            <p:cNvSpPr/>
            <p:nvPr/>
          </p:nvSpPr>
          <p:spPr>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w="12700">
              <a:noFill/>
            </a:ln>
          </p:spPr>
          <p:txBody>
            <a:bodyPr/>
            <a:p>
              <a:endParaRPr lang="zh-CN" altLang="en-US"/>
            </a:p>
          </p:txBody>
        </p:sp>
        <p:sp>
          <p:nvSpPr>
            <p:cNvPr id="2107" name="Freeform 57"/>
            <p:cNvSpPr/>
            <p:nvPr/>
          </p:nvSpPr>
          <p:spPr>
            <a:xfrm>
              <a:off x="3655" y="3034"/>
              <a:ext cx="49" cy="61"/>
            </a:xfrm>
            <a:custGeom>
              <a:avLst/>
              <a:gdLst/>
              <a:ahLst/>
              <a:cxnLst>
                <a:cxn ang="0">
                  <a:pos x="29" y="0"/>
                </a:cxn>
                <a:cxn ang="0">
                  <a:pos x="25" y="60"/>
                </a:cxn>
                <a:cxn ang="0">
                  <a:pos x="29" y="76"/>
                </a:cxn>
                <a:cxn ang="0">
                  <a:pos x="41" y="80"/>
                </a:cxn>
                <a:cxn ang="0">
                  <a:pos x="57" y="76"/>
                </a:cxn>
                <a:cxn ang="0">
                  <a:pos x="29" y="0"/>
                </a:cxn>
              </a:cxnLst>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w="12700">
              <a:noFill/>
            </a:ln>
          </p:spPr>
          <p:txBody>
            <a:bodyPr/>
            <a:p>
              <a:endParaRPr lang="zh-CN" altLang="en-US"/>
            </a:p>
          </p:txBody>
        </p:sp>
        <p:sp>
          <p:nvSpPr>
            <p:cNvPr id="2108" name="Freeform 58"/>
            <p:cNvSpPr/>
            <p:nvPr/>
          </p:nvSpPr>
          <p:spPr>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w="12700">
              <a:noFill/>
            </a:ln>
          </p:spPr>
          <p:txBody>
            <a:bodyPr/>
            <a:p>
              <a:endParaRPr lang="zh-CN" altLang="en-US"/>
            </a:p>
          </p:txBody>
        </p:sp>
        <p:sp>
          <p:nvSpPr>
            <p:cNvPr id="2109" name="Freeform 59"/>
            <p:cNvSpPr/>
            <p:nvPr/>
          </p:nvSpPr>
          <p:spPr>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w="12700">
              <a:noFill/>
            </a:ln>
          </p:spPr>
          <p:txBody>
            <a:bodyPr/>
            <a:p>
              <a:endParaRPr lang="zh-CN" altLang="en-US"/>
            </a:p>
          </p:txBody>
        </p:sp>
        <p:sp>
          <p:nvSpPr>
            <p:cNvPr id="2110" name="Freeform 60"/>
            <p:cNvSpPr/>
            <p:nvPr/>
          </p:nvSpPr>
          <p:spPr>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w="12700">
              <a:noFill/>
            </a:ln>
          </p:spPr>
          <p:txBody>
            <a:bodyPr/>
            <a:p>
              <a:endParaRPr lang="zh-CN" altLang="en-US"/>
            </a:p>
          </p:txBody>
        </p:sp>
        <p:sp>
          <p:nvSpPr>
            <p:cNvPr id="2111" name="Freeform 61"/>
            <p:cNvSpPr/>
            <p:nvPr/>
          </p:nvSpPr>
          <p:spPr>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w="12700">
              <a:noFill/>
            </a:ln>
          </p:spPr>
          <p:txBody>
            <a:bodyPr/>
            <a:p>
              <a:endParaRPr lang="zh-CN" altLang="en-US"/>
            </a:p>
          </p:txBody>
        </p:sp>
        <p:sp>
          <p:nvSpPr>
            <p:cNvPr id="2112" name="Freeform 62"/>
            <p:cNvSpPr/>
            <p:nvPr/>
          </p:nvSpPr>
          <p:spPr>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w="12700">
              <a:noFill/>
            </a:ln>
          </p:spPr>
          <p:txBody>
            <a:bodyPr/>
            <a:p>
              <a:endParaRPr lang="zh-CN" altLang="en-US"/>
            </a:p>
          </p:txBody>
        </p:sp>
        <p:sp>
          <p:nvSpPr>
            <p:cNvPr id="2113" name="Freeform 63"/>
            <p:cNvSpPr/>
            <p:nvPr/>
          </p:nvSpPr>
          <p:spPr>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w="12700">
              <a:noFill/>
            </a:ln>
          </p:spPr>
          <p:txBody>
            <a:bodyPr/>
            <a:p>
              <a:endParaRPr lang="zh-CN" altLang="en-US"/>
            </a:p>
          </p:txBody>
        </p:sp>
        <p:sp>
          <p:nvSpPr>
            <p:cNvPr id="2114" name="Freeform 64"/>
            <p:cNvSpPr/>
            <p:nvPr/>
          </p:nvSpPr>
          <p:spPr>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w="12700">
              <a:noFill/>
            </a:ln>
          </p:spPr>
          <p:txBody>
            <a:bodyPr/>
            <a:p>
              <a:endParaRPr lang="zh-CN" altLang="en-US"/>
            </a:p>
          </p:txBody>
        </p:sp>
        <p:sp>
          <p:nvSpPr>
            <p:cNvPr id="2115" name="Freeform 65"/>
            <p:cNvSpPr/>
            <p:nvPr/>
          </p:nvSpPr>
          <p:spPr>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w="12700">
              <a:noFill/>
            </a:ln>
          </p:spPr>
          <p:txBody>
            <a:bodyPr/>
            <a:p>
              <a:endParaRPr lang="zh-CN" altLang="en-US"/>
            </a:p>
          </p:txBody>
        </p:sp>
        <p:sp>
          <p:nvSpPr>
            <p:cNvPr id="2116" name="Freeform 66"/>
            <p:cNvSpPr/>
            <p:nvPr/>
          </p:nvSpPr>
          <p:spPr>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w="12700">
              <a:noFill/>
            </a:ln>
          </p:spPr>
          <p:txBody>
            <a:bodyPr/>
            <a:p>
              <a:endParaRPr lang="zh-CN" altLang="en-US"/>
            </a:p>
          </p:txBody>
        </p:sp>
        <p:sp>
          <p:nvSpPr>
            <p:cNvPr id="2117" name="Freeform 67"/>
            <p:cNvSpPr/>
            <p:nvPr/>
          </p:nvSpPr>
          <p:spPr>
            <a:xfrm>
              <a:off x="4181" y="3275"/>
              <a:ext cx="18" cy="17"/>
            </a:xfrm>
            <a:custGeom>
              <a:avLst/>
              <a:gdLst/>
              <a:ahLst/>
              <a:cxnLst>
                <a:cxn ang="0">
                  <a:pos x="0" y="0"/>
                </a:cxn>
                <a:cxn ang="0">
                  <a:pos x="6" y="23"/>
                </a:cxn>
                <a:cxn ang="0">
                  <a:pos x="24" y="11"/>
                </a:cxn>
                <a:cxn ang="0">
                  <a:pos x="0" y="0"/>
                </a:cxn>
              </a:cxnLst>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w="12700">
              <a:noFill/>
            </a:ln>
          </p:spPr>
          <p:txBody>
            <a:bodyPr/>
            <a:p>
              <a:endParaRPr lang="zh-CN" altLang="en-US"/>
            </a:p>
          </p:txBody>
        </p:sp>
        <p:sp>
          <p:nvSpPr>
            <p:cNvPr id="2118" name="Freeform 68"/>
            <p:cNvSpPr/>
            <p:nvPr/>
          </p:nvSpPr>
          <p:spPr>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w="12700">
              <a:noFill/>
            </a:ln>
          </p:spPr>
          <p:txBody>
            <a:bodyPr/>
            <a:p>
              <a:endParaRPr lang="zh-CN" altLang="en-US"/>
            </a:p>
          </p:txBody>
        </p:sp>
        <p:sp>
          <p:nvSpPr>
            <p:cNvPr id="2119" name="Freeform 69"/>
            <p:cNvSpPr/>
            <p:nvPr/>
          </p:nvSpPr>
          <p:spPr>
            <a:xfrm>
              <a:off x="4277" y="3335"/>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20" name="Freeform 70"/>
            <p:cNvSpPr/>
            <p:nvPr/>
          </p:nvSpPr>
          <p:spPr>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w="12700">
              <a:noFill/>
            </a:ln>
          </p:spPr>
          <p:txBody>
            <a:bodyPr/>
            <a:p>
              <a:endParaRPr lang="zh-CN" altLang="en-US"/>
            </a:p>
          </p:txBody>
        </p:sp>
        <p:sp>
          <p:nvSpPr>
            <p:cNvPr id="2121" name="Freeform 71"/>
            <p:cNvSpPr/>
            <p:nvPr/>
          </p:nvSpPr>
          <p:spPr>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w="12700">
              <a:noFill/>
            </a:ln>
          </p:spPr>
          <p:txBody>
            <a:bodyPr/>
            <a:p>
              <a:endParaRPr lang="zh-CN" altLang="en-US"/>
            </a:p>
          </p:txBody>
        </p:sp>
        <p:sp>
          <p:nvSpPr>
            <p:cNvPr id="2122" name="Freeform 72"/>
            <p:cNvSpPr/>
            <p:nvPr/>
          </p:nvSpPr>
          <p:spPr>
            <a:xfrm>
              <a:off x="4098" y="3371"/>
              <a:ext cx="32" cy="27"/>
            </a:xfrm>
            <a:custGeom>
              <a:avLst/>
              <a:gdLst/>
              <a:ahLst/>
              <a:cxnLst>
                <a:cxn ang="0">
                  <a:pos x="21" y="3"/>
                </a:cxn>
                <a:cxn ang="0">
                  <a:pos x="6" y="6"/>
                </a:cxn>
                <a:cxn ang="0">
                  <a:pos x="33" y="36"/>
                </a:cxn>
                <a:cxn ang="0">
                  <a:pos x="42" y="30"/>
                </a:cxn>
                <a:cxn ang="0">
                  <a:pos x="21" y="3"/>
                </a:cxn>
              </a:cxnLst>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w="12700">
              <a:noFill/>
            </a:ln>
          </p:spPr>
          <p:txBody>
            <a:bodyPr/>
            <a:p>
              <a:endParaRPr lang="zh-CN" altLang="en-US"/>
            </a:p>
          </p:txBody>
        </p:sp>
        <p:sp>
          <p:nvSpPr>
            <p:cNvPr id="2123" name="Freeform 73"/>
            <p:cNvSpPr/>
            <p:nvPr/>
          </p:nvSpPr>
          <p:spPr>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w="12700">
              <a:noFill/>
            </a:ln>
          </p:spPr>
          <p:txBody>
            <a:bodyPr/>
            <a:p>
              <a:endParaRPr lang="zh-CN" altLang="en-US"/>
            </a:p>
          </p:txBody>
        </p:sp>
        <p:sp>
          <p:nvSpPr>
            <p:cNvPr id="2124" name="Freeform 74"/>
            <p:cNvSpPr/>
            <p:nvPr/>
          </p:nvSpPr>
          <p:spPr>
            <a:xfrm>
              <a:off x="4111" y="3353"/>
              <a:ext cx="34" cy="24"/>
            </a:xfrm>
            <a:custGeom>
              <a:avLst/>
              <a:gdLst/>
              <a:ahLst/>
              <a:cxnLst>
                <a:cxn ang="0">
                  <a:pos x="21" y="0"/>
                </a:cxn>
                <a:cxn ang="0">
                  <a:pos x="0" y="7"/>
                </a:cxn>
                <a:cxn ang="0">
                  <a:pos x="27" y="31"/>
                </a:cxn>
                <a:cxn ang="0">
                  <a:pos x="45" y="24"/>
                </a:cxn>
                <a:cxn ang="0">
                  <a:pos x="22" y="10"/>
                </a:cxn>
                <a:cxn ang="0">
                  <a:pos x="21" y="0"/>
                </a:cxn>
              </a:cxnLst>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w="12700">
              <a:noFill/>
            </a:ln>
          </p:spPr>
          <p:txBody>
            <a:bodyPr/>
            <a:p>
              <a:endParaRPr lang="zh-CN" altLang="en-US"/>
            </a:p>
          </p:txBody>
        </p:sp>
        <p:sp>
          <p:nvSpPr>
            <p:cNvPr id="2125" name="Freeform 75"/>
            <p:cNvSpPr/>
            <p:nvPr/>
          </p:nvSpPr>
          <p:spPr>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w="12700">
              <a:noFill/>
            </a:ln>
          </p:spPr>
          <p:txBody>
            <a:bodyPr/>
            <a:p>
              <a:endParaRPr lang="zh-CN" altLang="en-US"/>
            </a:p>
          </p:txBody>
        </p:sp>
        <p:sp>
          <p:nvSpPr>
            <p:cNvPr id="2126" name="Freeform 76"/>
            <p:cNvSpPr/>
            <p:nvPr/>
          </p:nvSpPr>
          <p:spPr>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w="12700">
              <a:noFill/>
            </a:ln>
          </p:spPr>
          <p:txBody>
            <a:bodyPr/>
            <a:p>
              <a:endParaRPr lang="zh-CN" altLang="en-US"/>
            </a:p>
          </p:txBody>
        </p:sp>
        <p:sp>
          <p:nvSpPr>
            <p:cNvPr id="2127" name="Freeform 77"/>
            <p:cNvSpPr/>
            <p:nvPr/>
          </p:nvSpPr>
          <p:spPr>
            <a:xfrm>
              <a:off x="4135" y="2995"/>
              <a:ext cx="10" cy="25"/>
            </a:xfrm>
            <a:custGeom>
              <a:avLst/>
              <a:gdLst/>
              <a:ahLst/>
              <a:cxnLst>
                <a:cxn ang="0">
                  <a:pos x="11" y="0"/>
                </a:cxn>
                <a:cxn ang="0">
                  <a:pos x="1" y="10"/>
                </a:cxn>
                <a:cxn ang="0">
                  <a:pos x="11" y="25"/>
                </a:cxn>
                <a:cxn ang="0">
                  <a:pos x="11" y="0"/>
                </a:cxn>
              </a:cxnLst>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w="12700">
              <a:noFill/>
            </a:ln>
          </p:spPr>
          <p:txBody>
            <a:bodyPr/>
            <a:p>
              <a:endParaRPr lang="zh-CN" altLang="en-US"/>
            </a:p>
          </p:txBody>
        </p:sp>
        <p:sp>
          <p:nvSpPr>
            <p:cNvPr id="2128" name="Freeform 78"/>
            <p:cNvSpPr/>
            <p:nvPr/>
          </p:nvSpPr>
          <p:spPr>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w="12700">
              <a:noFill/>
            </a:ln>
          </p:spPr>
          <p:txBody>
            <a:bodyPr/>
            <a:p>
              <a:endParaRPr lang="zh-CN" altLang="en-US"/>
            </a:p>
          </p:txBody>
        </p:sp>
        <p:sp>
          <p:nvSpPr>
            <p:cNvPr id="2129" name="Freeform 79"/>
            <p:cNvSpPr/>
            <p:nvPr/>
          </p:nvSpPr>
          <p:spPr>
            <a:xfrm>
              <a:off x="3876" y="3076"/>
              <a:ext cx="12" cy="27"/>
            </a:xfrm>
            <a:custGeom>
              <a:avLst/>
              <a:gdLst/>
              <a:ahLst/>
              <a:cxnLst>
                <a:cxn ang="0">
                  <a:pos x="14" y="3"/>
                </a:cxn>
                <a:cxn ang="0">
                  <a:pos x="0" y="7"/>
                </a:cxn>
                <a:cxn ang="0">
                  <a:pos x="8" y="22"/>
                </a:cxn>
                <a:cxn ang="0">
                  <a:pos x="14" y="3"/>
                </a:cxn>
              </a:cxnLst>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w="12700">
              <a:noFill/>
            </a:ln>
          </p:spPr>
          <p:txBody>
            <a:bodyPr/>
            <a:p>
              <a:endParaRPr lang="zh-CN" altLang="en-US"/>
            </a:p>
          </p:txBody>
        </p:sp>
        <p:sp>
          <p:nvSpPr>
            <p:cNvPr id="2130" name="Freeform 80"/>
            <p:cNvSpPr/>
            <p:nvPr/>
          </p:nvSpPr>
          <p:spPr>
            <a:xfrm>
              <a:off x="3866" y="305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31" name="Freeform 81"/>
            <p:cNvSpPr/>
            <p:nvPr/>
          </p:nvSpPr>
          <p:spPr>
            <a:xfrm>
              <a:off x="3862" y="3035"/>
              <a:ext cx="12" cy="14"/>
            </a:xfrm>
            <a:custGeom>
              <a:avLst/>
              <a:gdLst/>
              <a:ahLst/>
              <a:cxnLst>
                <a:cxn ang="0">
                  <a:pos x="10" y="5"/>
                </a:cxn>
                <a:cxn ang="0">
                  <a:pos x="0" y="10"/>
                </a:cxn>
                <a:cxn ang="0">
                  <a:pos x="12" y="19"/>
                </a:cxn>
                <a:cxn ang="0">
                  <a:pos x="10" y="5"/>
                </a:cxn>
              </a:cxnLst>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w="12700">
              <a:noFill/>
            </a:ln>
          </p:spPr>
          <p:txBody>
            <a:bodyPr/>
            <a:p>
              <a:endParaRPr lang="zh-CN" altLang="en-US"/>
            </a:p>
          </p:txBody>
        </p:sp>
        <p:sp>
          <p:nvSpPr>
            <p:cNvPr id="2132" name="Freeform 82"/>
            <p:cNvSpPr/>
            <p:nvPr/>
          </p:nvSpPr>
          <p:spPr>
            <a:xfrm>
              <a:off x="3850" y="2995"/>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33" name="Freeform 83"/>
            <p:cNvSpPr/>
            <p:nvPr/>
          </p:nvSpPr>
          <p:spPr>
            <a:xfrm>
              <a:off x="3852" y="3020"/>
              <a:ext cx="16" cy="13"/>
            </a:xfrm>
            <a:custGeom>
              <a:avLst/>
              <a:gdLst/>
              <a:ahLst/>
              <a:cxnLst>
                <a:cxn ang="0">
                  <a:pos x="13" y="0"/>
                </a:cxn>
                <a:cxn ang="0">
                  <a:pos x="19" y="18"/>
                </a:cxn>
                <a:cxn ang="0">
                  <a:pos x="14" y="6"/>
                </a:cxn>
                <a:cxn ang="0">
                  <a:pos x="13" y="0"/>
                </a:cxn>
              </a:cxnLst>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w="12700">
              <a:noFill/>
            </a:ln>
          </p:spPr>
          <p:txBody>
            <a:bodyPr/>
            <a:p>
              <a:endParaRPr lang="zh-CN" altLang="en-US"/>
            </a:p>
          </p:txBody>
        </p:sp>
        <p:sp>
          <p:nvSpPr>
            <p:cNvPr id="2134" name="Freeform 84"/>
            <p:cNvSpPr/>
            <p:nvPr/>
          </p:nvSpPr>
          <p:spPr>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w="12700">
              <a:noFill/>
            </a:ln>
          </p:spPr>
          <p:txBody>
            <a:bodyPr/>
            <a:p>
              <a:endParaRPr lang="zh-CN" altLang="en-US"/>
            </a:p>
          </p:txBody>
        </p:sp>
        <p:sp>
          <p:nvSpPr>
            <p:cNvPr id="2135" name="Freeform 85"/>
            <p:cNvSpPr/>
            <p:nvPr/>
          </p:nvSpPr>
          <p:spPr>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w="12700">
              <a:noFill/>
            </a:ln>
          </p:spPr>
          <p:txBody>
            <a:bodyPr/>
            <a:p>
              <a:endParaRPr lang="zh-CN" altLang="en-US"/>
            </a:p>
          </p:txBody>
        </p:sp>
        <p:sp>
          <p:nvSpPr>
            <p:cNvPr id="2136" name="Freeform 86"/>
            <p:cNvSpPr/>
            <p:nvPr/>
          </p:nvSpPr>
          <p:spPr>
            <a:xfrm>
              <a:off x="4759" y="3569"/>
              <a:ext cx="17" cy="23"/>
            </a:xfrm>
            <a:custGeom>
              <a:avLst/>
              <a:gdLst/>
              <a:ahLst/>
              <a:cxnLst>
                <a:cxn ang="0">
                  <a:pos x="9" y="0"/>
                </a:cxn>
                <a:cxn ang="0">
                  <a:pos x="0" y="14"/>
                </a:cxn>
                <a:cxn ang="0">
                  <a:pos x="12" y="30"/>
                </a:cxn>
                <a:cxn ang="0">
                  <a:pos x="9" y="0"/>
                </a:cxn>
              </a:cxnLst>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w="12700">
              <a:noFill/>
            </a:ln>
          </p:spPr>
          <p:txBody>
            <a:bodyPr/>
            <a:p>
              <a:endParaRPr lang="zh-CN" altLang="en-US"/>
            </a:p>
          </p:txBody>
        </p:sp>
        <p:sp>
          <p:nvSpPr>
            <p:cNvPr id="2137" name="Freeform 87"/>
            <p:cNvSpPr/>
            <p:nvPr/>
          </p:nvSpPr>
          <p:spPr>
            <a:xfrm>
              <a:off x="4751" y="3547"/>
              <a:ext cx="20" cy="17"/>
            </a:xfrm>
            <a:custGeom>
              <a:avLst/>
              <a:gdLst/>
              <a:ahLst/>
              <a:cxnLst>
                <a:cxn ang="0">
                  <a:pos x="19" y="0"/>
                </a:cxn>
                <a:cxn ang="0">
                  <a:pos x="0" y="14"/>
                </a:cxn>
                <a:cxn ang="0">
                  <a:pos x="21" y="20"/>
                </a:cxn>
                <a:cxn ang="0">
                  <a:pos x="19" y="0"/>
                </a:cxn>
              </a:cxnLst>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w="12700">
              <a:noFill/>
            </a:ln>
          </p:spPr>
          <p:txBody>
            <a:bodyPr/>
            <a:p>
              <a:endParaRPr lang="zh-CN" altLang="en-US"/>
            </a:p>
          </p:txBody>
        </p:sp>
        <p:sp>
          <p:nvSpPr>
            <p:cNvPr id="2138" name="Freeform 88"/>
            <p:cNvSpPr/>
            <p:nvPr/>
          </p:nvSpPr>
          <p:spPr>
            <a:xfrm>
              <a:off x="4598" y="3353"/>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39" name="Freeform 89"/>
            <p:cNvSpPr/>
            <p:nvPr/>
          </p:nvSpPr>
          <p:spPr>
            <a:xfrm>
              <a:off x="4632" y="3396"/>
              <a:ext cx="26" cy="33"/>
            </a:xfrm>
            <a:custGeom>
              <a:avLst/>
              <a:gdLst/>
              <a:ahLst/>
              <a:cxnLst>
                <a:cxn ang="0">
                  <a:pos x="30" y="0"/>
                </a:cxn>
                <a:cxn ang="0">
                  <a:pos x="10" y="9"/>
                </a:cxn>
                <a:cxn ang="0">
                  <a:pos x="14" y="32"/>
                </a:cxn>
                <a:cxn ang="0">
                  <a:pos x="26" y="36"/>
                </a:cxn>
                <a:cxn ang="0">
                  <a:pos x="30" y="0"/>
                </a:cxn>
              </a:cxnLst>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w="12700">
              <a:noFill/>
            </a:ln>
          </p:spPr>
          <p:txBody>
            <a:bodyPr/>
            <a:p>
              <a:endParaRPr lang="zh-CN" altLang="en-US"/>
            </a:p>
          </p:txBody>
        </p:sp>
        <p:sp>
          <p:nvSpPr>
            <p:cNvPr id="2140" name="Freeform 90"/>
            <p:cNvSpPr/>
            <p:nvPr/>
          </p:nvSpPr>
          <p:spPr>
            <a:xfrm>
              <a:off x="4659" y="3459"/>
              <a:ext cx="28" cy="28"/>
            </a:xfrm>
            <a:custGeom>
              <a:avLst/>
              <a:gdLst/>
              <a:ahLst/>
              <a:cxnLst>
                <a:cxn ang="0">
                  <a:pos x="34" y="2"/>
                </a:cxn>
                <a:cxn ang="0">
                  <a:pos x="10" y="2"/>
                </a:cxn>
                <a:cxn ang="0">
                  <a:pos x="14" y="25"/>
                </a:cxn>
                <a:cxn ang="0">
                  <a:pos x="26" y="29"/>
                </a:cxn>
                <a:cxn ang="0">
                  <a:pos x="34" y="2"/>
                </a:cxn>
              </a:cxnLst>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w="12700">
              <a:noFill/>
            </a:ln>
          </p:spPr>
          <p:txBody>
            <a:bodyPr/>
            <a:p>
              <a:endParaRPr lang="zh-CN" altLang="en-US"/>
            </a:p>
          </p:txBody>
        </p:sp>
        <p:sp>
          <p:nvSpPr>
            <p:cNvPr id="2141" name="Freeform 91"/>
            <p:cNvSpPr/>
            <p:nvPr/>
          </p:nvSpPr>
          <p:spPr>
            <a:xfrm>
              <a:off x="4693" y="3449"/>
              <a:ext cx="28" cy="26"/>
            </a:xfrm>
            <a:custGeom>
              <a:avLst/>
              <a:gdLst/>
              <a:ahLst/>
              <a:cxnLst>
                <a:cxn ang="0">
                  <a:pos x="34" y="2"/>
                </a:cxn>
                <a:cxn ang="0">
                  <a:pos x="10" y="2"/>
                </a:cxn>
                <a:cxn ang="0">
                  <a:pos x="16" y="22"/>
                </a:cxn>
                <a:cxn ang="0">
                  <a:pos x="27" y="22"/>
                </a:cxn>
                <a:cxn ang="0">
                  <a:pos x="34" y="2"/>
                </a:cxn>
              </a:cxnLst>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w="12700">
              <a:noFill/>
            </a:ln>
          </p:spPr>
          <p:txBody>
            <a:bodyPr/>
            <a:p>
              <a:endParaRPr lang="zh-CN" altLang="en-US"/>
            </a:p>
          </p:txBody>
        </p:sp>
        <p:sp>
          <p:nvSpPr>
            <p:cNvPr id="2142" name="Freeform 92"/>
            <p:cNvSpPr/>
            <p:nvPr/>
          </p:nvSpPr>
          <p:spPr>
            <a:xfrm>
              <a:off x="4683" y="3413"/>
              <a:ext cx="26" cy="20"/>
            </a:xfrm>
            <a:custGeom>
              <a:avLst/>
              <a:gdLst/>
              <a:ahLst/>
              <a:cxnLst>
                <a:cxn ang="0">
                  <a:pos x="31" y="1"/>
                </a:cxn>
                <a:cxn ang="0">
                  <a:pos x="10" y="2"/>
                </a:cxn>
                <a:cxn ang="0">
                  <a:pos x="13" y="15"/>
                </a:cxn>
                <a:cxn ang="0">
                  <a:pos x="25" y="19"/>
                </a:cxn>
                <a:cxn ang="0">
                  <a:pos x="31" y="1"/>
                </a:cxn>
              </a:cxnLst>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w="12700">
              <a:noFill/>
            </a:ln>
          </p:spPr>
          <p:txBody>
            <a:bodyPr/>
            <a:p>
              <a:endParaRPr lang="zh-CN" altLang="en-US"/>
            </a:p>
          </p:txBody>
        </p:sp>
        <p:sp>
          <p:nvSpPr>
            <p:cNvPr id="2143" name="Freeform 93"/>
            <p:cNvSpPr/>
            <p:nvPr/>
          </p:nvSpPr>
          <p:spPr>
            <a:xfrm>
              <a:off x="4657" y="3388"/>
              <a:ext cx="26" cy="35"/>
            </a:xfrm>
            <a:custGeom>
              <a:avLst/>
              <a:gdLst/>
              <a:ahLst/>
              <a:cxnLst>
                <a:cxn ang="0">
                  <a:pos x="28" y="16"/>
                </a:cxn>
                <a:cxn ang="0">
                  <a:pos x="19" y="2"/>
                </a:cxn>
                <a:cxn ang="0">
                  <a:pos x="10" y="25"/>
                </a:cxn>
                <a:cxn ang="0">
                  <a:pos x="19" y="35"/>
                </a:cxn>
                <a:cxn ang="0">
                  <a:pos x="27" y="29"/>
                </a:cxn>
                <a:cxn ang="0">
                  <a:pos x="28" y="16"/>
                </a:cxn>
              </a:cxnLst>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w="12700">
              <a:noFill/>
            </a:ln>
          </p:spPr>
          <p:txBody>
            <a:bodyPr/>
            <a:p>
              <a:endParaRPr lang="zh-CN" altLang="en-US"/>
            </a:p>
          </p:txBody>
        </p:sp>
        <p:sp>
          <p:nvSpPr>
            <p:cNvPr id="2144" name="Freeform 94"/>
            <p:cNvSpPr/>
            <p:nvPr/>
          </p:nvSpPr>
          <p:spPr>
            <a:xfrm>
              <a:off x="4625" y="3372"/>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5" name="Freeform 95"/>
            <p:cNvSpPr/>
            <p:nvPr/>
          </p:nvSpPr>
          <p:spPr>
            <a:xfrm>
              <a:off x="4665" y="3425"/>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6" name="Freeform 96"/>
            <p:cNvSpPr/>
            <p:nvPr/>
          </p:nvSpPr>
          <p:spPr>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w="12700">
              <a:noFill/>
            </a:ln>
          </p:spPr>
          <p:txBody>
            <a:bodyPr/>
            <a:p>
              <a:endParaRPr lang="zh-CN" altLang="en-US"/>
            </a:p>
          </p:txBody>
        </p:sp>
        <p:sp>
          <p:nvSpPr>
            <p:cNvPr id="2147" name="Freeform 97"/>
            <p:cNvSpPr/>
            <p:nvPr/>
          </p:nvSpPr>
          <p:spPr>
            <a:xfrm>
              <a:off x="3139" y="2155"/>
              <a:ext cx="40" cy="12"/>
            </a:xfrm>
            <a:custGeom>
              <a:avLst/>
              <a:gdLst/>
              <a:ahLst/>
              <a:cxnLst>
                <a:cxn ang="0">
                  <a:pos x="24" y="0"/>
                </a:cxn>
                <a:cxn ang="0">
                  <a:pos x="12" y="2"/>
                </a:cxn>
                <a:cxn ang="0">
                  <a:pos x="32" y="16"/>
                </a:cxn>
                <a:cxn ang="0">
                  <a:pos x="44" y="14"/>
                </a:cxn>
                <a:cxn ang="0">
                  <a:pos x="24" y="0"/>
                </a:cxn>
              </a:cxnLst>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w="12700">
              <a:noFill/>
            </a:ln>
          </p:spPr>
          <p:txBody>
            <a:bodyPr/>
            <a:p>
              <a:endParaRPr lang="zh-CN" altLang="en-US"/>
            </a:p>
          </p:txBody>
        </p:sp>
        <p:sp>
          <p:nvSpPr>
            <p:cNvPr id="2148" name="Freeform 98"/>
            <p:cNvSpPr/>
            <p:nvPr/>
          </p:nvSpPr>
          <p:spPr>
            <a:xfrm>
              <a:off x="3344" y="1999"/>
              <a:ext cx="42" cy="28"/>
            </a:xfrm>
            <a:custGeom>
              <a:avLst/>
              <a:gdLst/>
              <a:ahLst/>
              <a:cxnLst>
                <a:cxn ang="0">
                  <a:pos x="57" y="4"/>
                </a:cxn>
                <a:cxn ang="0">
                  <a:pos x="25" y="24"/>
                </a:cxn>
                <a:cxn ang="0">
                  <a:pos x="11" y="34"/>
                </a:cxn>
                <a:cxn ang="0">
                  <a:pos x="9" y="4"/>
                </a:cxn>
                <a:cxn ang="0">
                  <a:pos x="21" y="0"/>
                </a:cxn>
                <a:cxn ang="0">
                  <a:pos x="57" y="4"/>
                </a:cxn>
              </a:cxnLst>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w="12700">
              <a:noFill/>
            </a:ln>
          </p:spPr>
          <p:txBody>
            <a:bodyPr/>
            <a:p>
              <a:endParaRPr lang="zh-CN" altLang="en-US"/>
            </a:p>
          </p:txBody>
        </p:sp>
        <p:sp>
          <p:nvSpPr>
            <p:cNvPr id="2149" name="Freeform 99"/>
            <p:cNvSpPr/>
            <p:nvPr/>
          </p:nvSpPr>
          <p:spPr>
            <a:xfrm>
              <a:off x="3374" y="2012"/>
              <a:ext cx="50" cy="20"/>
            </a:xfrm>
            <a:custGeom>
              <a:avLst/>
              <a:gdLst/>
              <a:ahLst/>
              <a:cxnLst>
                <a:cxn ang="0">
                  <a:pos x="29" y="0"/>
                </a:cxn>
                <a:cxn ang="0">
                  <a:pos x="11" y="6"/>
                </a:cxn>
                <a:cxn ang="0">
                  <a:pos x="57" y="26"/>
                </a:cxn>
                <a:cxn ang="0">
                  <a:pos x="63" y="24"/>
                </a:cxn>
                <a:cxn ang="0">
                  <a:pos x="29" y="0"/>
                </a:cxn>
              </a:cxnLst>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w="12700">
              <a:noFill/>
            </a:ln>
          </p:spPr>
          <p:txBody>
            <a:bodyPr/>
            <a:p>
              <a:endParaRPr lang="zh-CN" altLang="en-US"/>
            </a:p>
          </p:txBody>
        </p:sp>
        <p:sp>
          <p:nvSpPr>
            <p:cNvPr id="2150" name="Freeform 100"/>
            <p:cNvSpPr/>
            <p:nvPr/>
          </p:nvSpPr>
          <p:spPr>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w="12700">
              <a:noFill/>
            </a:ln>
          </p:spPr>
          <p:txBody>
            <a:bodyPr/>
            <a:p>
              <a:endParaRPr lang="zh-CN" altLang="en-US"/>
            </a:p>
          </p:txBody>
        </p:sp>
        <p:sp>
          <p:nvSpPr>
            <p:cNvPr id="2151" name="Freeform 101"/>
            <p:cNvSpPr/>
            <p:nvPr/>
          </p:nvSpPr>
          <p:spPr>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w="12700">
              <a:noFill/>
            </a:ln>
          </p:spPr>
          <p:txBody>
            <a:bodyPr/>
            <a:p>
              <a:endParaRPr lang="zh-CN" altLang="en-US"/>
            </a:p>
          </p:txBody>
        </p:sp>
        <p:sp>
          <p:nvSpPr>
            <p:cNvPr id="2152" name="Freeform 102"/>
            <p:cNvSpPr/>
            <p:nvPr/>
          </p:nvSpPr>
          <p:spPr>
            <a:xfrm>
              <a:off x="3867" y="2041"/>
              <a:ext cx="46" cy="24"/>
            </a:xfrm>
            <a:custGeom>
              <a:avLst/>
              <a:gdLst/>
              <a:ahLst/>
              <a:cxnLst>
                <a:cxn ang="0">
                  <a:pos x="32" y="4"/>
                </a:cxn>
                <a:cxn ang="0">
                  <a:pos x="62" y="10"/>
                </a:cxn>
                <a:cxn ang="0">
                  <a:pos x="30" y="32"/>
                </a:cxn>
                <a:cxn ang="0">
                  <a:pos x="6" y="22"/>
                </a:cxn>
                <a:cxn ang="0">
                  <a:pos x="32" y="4"/>
                </a:cxn>
              </a:cxnLst>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w="12700">
              <a:noFill/>
            </a:ln>
          </p:spPr>
          <p:txBody>
            <a:bodyPr/>
            <a:p>
              <a:endParaRPr lang="zh-CN" altLang="en-US"/>
            </a:p>
          </p:txBody>
        </p:sp>
        <p:sp>
          <p:nvSpPr>
            <p:cNvPr id="2153" name="Freeform 103"/>
            <p:cNvSpPr/>
            <p:nvPr/>
          </p:nvSpPr>
          <p:spPr>
            <a:xfrm>
              <a:off x="3846" y="2070"/>
              <a:ext cx="37" cy="17"/>
            </a:xfrm>
            <a:custGeom>
              <a:avLst/>
              <a:gdLst/>
              <a:ahLst/>
              <a:cxnLst>
                <a:cxn ang="0">
                  <a:pos x="20" y="1"/>
                </a:cxn>
                <a:cxn ang="0">
                  <a:pos x="6" y="5"/>
                </a:cxn>
                <a:cxn ang="0">
                  <a:pos x="38" y="23"/>
                </a:cxn>
                <a:cxn ang="0">
                  <a:pos x="20" y="1"/>
                </a:cxn>
              </a:cxnLst>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w="12700">
              <a:noFill/>
            </a:ln>
          </p:spPr>
          <p:txBody>
            <a:bodyPr/>
            <a:p>
              <a:endParaRPr lang="zh-CN" altLang="en-US"/>
            </a:p>
          </p:txBody>
        </p:sp>
        <p:sp>
          <p:nvSpPr>
            <p:cNvPr id="2154" name="Freeform 104"/>
            <p:cNvSpPr/>
            <p:nvPr/>
          </p:nvSpPr>
          <p:spPr>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w="12700">
              <a:noFill/>
            </a:ln>
          </p:spPr>
          <p:txBody>
            <a:bodyPr/>
            <a:p>
              <a:endParaRPr lang="zh-CN" altLang="en-US"/>
            </a:p>
          </p:txBody>
        </p:sp>
        <p:sp>
          <p:nvSpPr>
            <p:cNvPr id="2155" name="Freeform 105"/>
            <p:cNvSpPr/>
            <p:nvPr/>
          </p:nvSpPr>
          <p:spPr>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w="12700">
              <a:noFill/>
            </a:ln>
          </p:spPr>
          <p:txBody>
            <a:bodyPr/>
            <a:p>
              <a:endParaRPr lang="zh-CN" altLang="en-US"/>
            </a:p>
          </p:txBody>
        </p:sp>
        <p:sp>
          <p:nvSpPr>
            <p:cNvPr id="2156" name="Freeform 106"/>
            <p:cNvSpPr/>
            <p:nvPr/>
          </p:nvSpPr>
          <p:spPr>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w="12700">
              <a:noFill/>
            </a:ln>
          </p:spPr>
          <p:txBody>
            <a:bodyPr/>
            <a:p>
              <a:endParaRPr lang="zh-CN" altLang="en-US"/>
            </a:p>
          </p:txBody>
        </p:sp>
        <p:sp>
          <p:nvSpPr>
            <p:cNvPr id="2157" name="Freeform 107"/>
            <p:cNvSpPr/>
            <p:nvPr/>
          </p:nvSpPr>
          <p:spPr>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w="12700">
              <a:noFill/>
            </a:ln>
          </p:spPr>
          <p:txBody>
            <a:bodyPr/>
            <a:p>
              <a:endParaRPr lang="zh-CN" altLang="en-US"/>
            </a:p>
          </p:txBody>
        </p:sp>
        <p:sp>
          <p:nvSpPr>
            <p:cNvPr id="2158" name="Freeform 108"/>
            <p:cNvSpPr/>
            <p:nvPr/>
          </p:nvSpPr>
          <p:spPr>
            <a:xfrm>
              <a:off x="2955" y="1997"/>
              <a:ext cx="19" cy="22"/>
            </a:xfrm>
            <a:custGeom>
              <a:avLst/>
              <a:gdLst/>
              <a:ahLst/>
              <a:cxnLst>
                <a:cxn ang="0">
                  <a:pos x="18" y="0"/>
                </a:cxn>
                <a:cxn ang="0">
                  <a:pos x="0" y="18"/>
                </a:cxn>
                <a:cxn ang="0">
                  <a:pos x="18" y="26"/>
                </a:cxn>
                <a:cxn ang="0">
                  <a:pos x="18" y="0"/>
                </a:cxn>
              </a:cxnLst>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w="12700">
              <a:noFill/>
            </a:ln>
          </p:spPr>
          <p:txBody>
            <a:bodyPr/>
            <a:p>
              <a:endParaRPr lang="zh-CN" altLang="en-US"/>
            </a:p>
          </p:txBody>
        </p:sp>
        <p:sp>
          <p:nvSpPr>
            <p:cNvPr id="2159" name="Freeform 109"/>
            <p:cNvSpPr/>
            <p:nvPr/>
          </p:nvSpPr>
          <p:spPr>
            <a:xfrm>
              <a:off x="2979" y="1996"/>
              <a:ext cx="37" cy="27"/>
            </a:xfrm>
            <a:custGeom>
              <a:avLst/>
              <a:gdLst/>
              <a:ahLst/>
              <a:cxnLst>
                <a:cxn ang="0">
                  <a:pos x="14" y="6"/>
                </a:cxn>
                <a:cxn ang="0">
                  <a:pos x="0" y="18"/>
                </a:cxn>
                <a:cxn ang="0">
                  <a:pos x="6" y="32"/>
                </a:cxn>
                <a:cxn ang="0">
                  <a:pos x="18" y="36"/>
                </a:cxn>
                <a:cxn ang="0">
                  <a:pos x="40" y="26"/>
                </a:cxn>
                <a:cxn ang="0">
                  <a:pos x="14" y="6"/>
                </a:cxn>
              </a:cxnLst>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w="12700">
              <a:noFill/>
            </a:ln>
          </p:spPr>
          <p:txBody>
            <a:bodyPr/>
            <a:p>
              <a:endParaRPr lang="zh-CN" altLang="en-US"/>
            </a:p>
          </p:txBody>
        </p:sp>
        <p:sp>
          <p:nvSpPr>
            <p:cNvPr id="2160" name="Freeform 110"/>
            <p:cNvSpPr/>
            <p:nvPr/>
          </p:nvSpPr>
          <p:spPr>
            <a:xfrm>
              <a:off x="3040" y="1987"/>
              <a:ext cx="20" cy="16"/>
            </a:xfrm>
            <a:custGeom>
              <a:avLst/>
              <a:gdLst/>
              <a:ahLst/>
              <a:cxnLst>
                <a:cxn ang="0">
                  <a:pos x="11" y="0"/>
                </a:cxn>
                <a:cxn ang="0">
                  <a:pos x="3" y="12"/>
                </a:cxn>
                <a:cxn ang="0">
                  <a:pos x="19" y="22"/>
                </a:cxn>
                <a:cxn ang="0">
                  <a:pos x="11" y="0"/>
                </a:cxn>
              </a:cxnLst>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w="12700">
              <a:noFill/>
            </a:ln>
          </p:spPr>
          <p:txBody>
            <a:bodyPr/>
            <a:p>
              <a:endParaRPr lang="zh-CN" altLang="en-US"/>
            </a:p>
          </p:txBody>
        </p:sp>
        <p:sp>
          <p:nvSpPr>
            <p:cNvPr id="2161" name="Freeform 111"/>
            <p:cNvSpPr/>
            <p:nvPr/>
          </p:nvSpPr>
          <p:spPr>
            <a:xfrm>
              <a:off x="3022" y="2005"/>
              <a:ext cx="15" cy="13"/>
            </a:xfrm>
            <a:custGeom>
              <a:avLst/>
              <a:gdLst/>
              <a:ahLst/>
              <a:cxnLst>
                <a:cxn ang="0">
                  <a:pos x="11" y="0"/>
                </a:cxn>
                <a:cxn ang="0">
                  <a:pos x="9" y="18"/>
                </a:cxn>
                <a:cxn ang="0">
                  <a:pos x="11" y="0"/>
                </a:cxn>
              </a:cxnLst>
              <a:pathLst>
                <a:path w="20" h="18">
                  <a:moveTo>
                    <a:pt x="11" y="0"/>
                  </a:moveTo>
                  <a:cubicBezTo>
                    <a:pt x="1" y="14"/>
                    <a:pt x="0" y="9"/>
                    <a:pt x="9" y="18"/>
                  </a:cubicBezTo>
                  <a:cubicBezTo>
                    <a:pt x="20" y="14"/>
                    <a:pt x="16" y="18"/>
                    <a:pt x="11" y="0"/>
                  </a:cubicBezTo>
                  <a:close/>
                </a:path>
              </a:pathLst>
            </a:custGeom>
            <a:solidFill>
              <a:srgbClr val="FEFEFE">
                <a:alpha val="30196"/>
              </a:srgbClr>
            </a:solidFill>
            <a:ln w="12700">
              <a:noFill/>
            </a:ln>
          </p:spPr>
          <p:txBody>
            <a:bodyPr/>
            <a:p>
              <a:endParaRPr lang="zh-CN" altLang="en-US"/>
            </a:p>
          </p:txBody>
        </p:sp>
        <p:sp>
          <p:nvSpPr>
            <p:cNvPr id="2162" name="Freeform 112"/>
            <p:cNvSpPr/>
            <p:nvPr/>
          </p:nvSpPr>
          <p:spPr>
            <a:xfrm>
              <a:off x="4162" y="2021"/>
              <a:ext cx="18" cy="33"/>
            </a:xfrm>
            <a:custGeom>
              <a:avLst/>
              <a:gdLst/>
              <a:ahLst/>
              <a:cxnLst>
                <a:cxn ang="0">
                  <a:pos x="24" y="0"/>
                </a:cxn>
                <a:cxn ang="0">
                  <a:pos x="8" y="16"/>
                </a:cxn>
                <a:cxn ang="0">
                  <a:pos x="0" y="34"/>
                </a:cxn>
                <a:cxn ang="0">
                  <a:pos x="16" y="40"/>
                </a:cxn>
                <a:cxn ang="0">
                  <a:pos x="24" y="0"/>
                </a:cxn>
              </a:cxnLst>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w="12700">
              <a:noFill/>
            </a:ln>
          </p:spPr>
          <p:txBody>
            <a:bodyPr/>
            <a:p>
              <a:endParaRPr lang="zh-CN" altLang="en-US"/>
            </a:p>
          </p:txBody>
        </p:sp>
        <p:sp>
          <p:nvSpPr>
            <p:cNvPr id="2163" name="Freeform 113"/>
            <p:cNvSpPr/>
            <p:nvPr/>
          </p:nvSpPr>
          <p:spPr>
            <a:xfrm>
              <a:off x="3278" y="3473"/>
              <a:ext cx="31" cy="18"/>
            </a:xfrm>
            <a:custGeom>
              <a:avLst/>
              <a:gdLst/>
              <a:ahLst/>
              <a:cxnLst>
                <a:cxn ang="0">
                  <a:pos x="30" y="0"/>
                </a:cxn>
                <a:cxn ang="0">
                  <a:pos x="26" y="24"/>
                </a:cxn>
                <a:cxn ang="0">
                  <a:pos x="30" y="0"/>
                </a:cxn>
              </a:cxnLst>
              <a:pathLst>
                <a:path w="41" h="24">
                  <a:moveTo>
                    <a:pt x="30" y="0"/>
                  </a:moveTo>
                  <a:cubicBezTo>
                    <a:pt x="4" y="4"/>
                    <a:pt x="0" y="17"/>
                    <a:pt x="26" y="24"/>
                  </a:cubicBezTo>
                  <a:cubicBezTo>
                    <a:pt x="41" y="19"/>
                    <a:pt x="38" y="10"/>
                    <a:pt x="30" y="0"/>
                  </a:cubicBezTo>
                  <a:close/>
                </a:path>
              </a:pathLst>
            </a:custGeom>
            <a:solidFill>
              <a:srgbClr val="FEFEFE">
                <a:alpha val="30196"/>
              </a:srgbClr>
            </a:solidFill>
            <a:ln w="12700">
              <a:noFill/>
            </a:ln>
          </p:spPr>
          <p:txBody>
            <a:bodyPr/>
            <a:p>
              <a:endParaRPr lang="zh-CN" altLang="en-US"/>
            </a:p>
          </p:txBody>
        </p:sp>
        <p:sp>
          <p:nvSpPr>
            <p:cNvPr id="2164" name="Freeform 114"/>
            <p:cNvSpPr/>
            <p:nvPr/>
          </p:nvSpPr>
          <p:spPr>
            <a:xfrm>
              <a:off x="3318" y="3466"/>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5" name="Freeform 115"/>
            <p:cNvSpPr/>
            <p:nvPr/>
          </p:nvSpPr>
          <p:spPr>
            <a:xfrm>
              <a:off x="3251" y="3312"/>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6" name="Freeform 116"/>
            <p:cNvSpPr/>
            <p:nvPr/>
          </p:nvSpPr>
          <p:spPr>
            <a:xfrm>
              <a:off x="3311" y="3239"/>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7" name="Freeform 117"/>
            <p:cNvSpPr/>
            <p:nvPr/>
          </p:nvSpPr>
          <p:spPr>
            <a:xfrm>
              <a:off x="3287" y="3238"/>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8" name="Freeform 118"/>
            <p:cNvSpPr/>
            <p:nvPr/>
          </p:nvSpPr>
          <p:spPr>
            <a:xfrm>
              <a:off x="3276" y="3260"/>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9" name="Freeform 119"/>
            <p:cNvSpPr/>
            <p:nvPr/>
          </p:nvSpPr>
          <p:spPr>
            <a:xfrm>
              <a:off x="3251" y="3294"/>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0" name="Freeform 120"/>
            <p:cNvSpPr/>
            <p:nvPr/>
          </p:nvSpPr>
          <p:spPr>
            <a:xfrm>
              <a:off x="3270" y="3281"/>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1" name="Freeform 121"/>
            <p:cNvSpPr/>
            <p:nvPr/>
          </p:nvSpPr>
          <p:spPr>
            <a:xfrm>
              <a:off x="2537" y="229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2" name="Freeform 122"/>
            <p:cNvSpPr/>
            <p:nvPr/>
          </p:nvSpPr>
          <p:spPr>
            <a:xfrm>
              <a:off x="2476" y="2259"/>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3" name="Freeform 123"/>
            <p:cNvSpPr/>
            <p:nvPr/>
          </p:nvSpPr>
          <p:spPr>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w="12700">
              <a:noFill/>
            </a:ln>
          </p:spPr>
          <p:txBody>
            <a:bodyPr/>
            <a:p>
              <a:endParaRPr lang="zh-CN" altLang="en-US"/>
            </a:p>
          </p:txBody>
        </p:sp>
      </p:grpSp>
      <p:pic>
        <p:nvPicPr>
          <p:cNvPr id="2052" name="Picture 7" descr="artplus_nature_naturalcity42_a"/>
          <p:cNvPicPr>
            <a:picLocks noChangeAspect="1"/>
          </p:cNvPicPr>
          <p:nvPr/>
        </p:nvPicPr>
        <p:blipFill>
          <a:blip r:embed="rId3"/>
          <a:stretch>
            <a:fillRect/>
          </a:stretch>
        </p:blipFill>
        <p:spPr>
          <a:xfrm>
            <a:off x="4870450" y="3167063"/>
            <a:ext cx="4425950" cy="2989262"/>
          </a:xfrm>
          <a:prstGeom prst="rect">
            <a:avLst/>
          </a:prstGeom>
          <a:noFill/>
          <a:ln w="9525">
            <a:noFill/>
          </a:ln>
        </p:spPr>
      </p:pic>
      <p:pic>
        <p:nvPicPr>
          <p:cNvPr id="2053" name="Picture 12" descr="artplus_nature_naturalcity42_i"/>
          <p:cNvPicPr>
            <a:picLocks noChangeAspect="1"/>
          </p:cNvPicPr>
          <p:nvPr/>
        </p:nvPicPr>
        <p:blipFill>
          <a:blip r:embed="rId4"/>
          <a:stretch>
            <a:fillRect/>
          </a:stretch>
        </p:blipFill>
        <p:spPr>
          <a:xfrm>
            <a:off x="6956425" y="3352800"/>
            <a:ext cx="1654175" cy="877888"/>
          </a:xfrm>
          <a:prstGeom prst="rect">
            <a:avLst/>
          </a:prstGeom>
          <a:noFill/>
          <a:ln w="9525">
            <a:noFill/>
          </a:ln>
        </p:spPr>
      </p:pic>
      <p:pic>
        <p:nvPicPr>
          <p:cNvPr id="2054" name="Picture 10" descr="artplus_nature_naturalcity42_c"/>
          <p:cNvPicPr>
            <a:picLocks noChangeAspect="1"/>
          </p:cNvPicPr>
          <p:nvPr/>
        </p:nvPicPr>
        <p:blipFill>
          <a:blip r:embed="rId5"/>
          <a:stretch>
            <a:fillRect/>
          </a:stretch>
        </p:blipFill>
        <p:spPr>
          <a:xfrm>
            <a:off x="7315200" y="3429000"/>
            <a:ext cx="1112838" cy="866775"/>
          </a:xfrm>
          <a:prstGeom prst="rect">
            <a:avLst/>
          </a:prstGeom>
          <a:noFill/>
          <a:ln w="9525">
            <a:noFill/>
          </a:ln>
        </p:spPr>
      </p:pic>
      <p:pic>
        <p:nvPicPr>
          <p:cNvPr id="2055" name="Picture 13" descr="artplus_nature_naturalcity42_f"/>
          <p:cNvPicPr>
            <a:picLocks noChangeAspect="1"/>
          </p:cNvPicPr>
          <p:nvPr/>
        </p:nvPicPr>
        <p:blipFill>
          <a:blip r:embed="rId6"/>
          <a:stretch>
            <a:fillRect/>
          </a:stretch>
        </p:blipFill>
        <p:spPr>
          <a:xfrm>
            <a:off x="4994275" y="4594225"/>
            <a:ext cx="4911725" cy="1882775"/>
          </a:xfrm>
          <a:prstGeom prst="rect">
            <a:avLst/>
          </a:prstGeom>
          <a:noFill/>
          <a:ln w="9525">
            <a:noFill/>
          </a:ln>
        </p:spPr>
      </p:pic>
      <p:pic>
        <p:nvPicPr>
          <p:cNvPr id="2056" name="Picture 9" descr="artplus_nature_naturalcity42_b"/>
          <p:cNvPicPr>
            <a:picLocks noChangeAspect="1"/>
          </p:cNvPicPr>
          <p:nvPr/>
        </p:nvPicPr>
        <p:blipFill>
          <a:blip r:embed="rId7"/>
          <a:stretch>
            <a:fillRect/>
          </a:stretch>
        </p:blipFill>
        <p:spPr>
          <a:xfrm>
            <a:off x="5195888" y="3097213"/>
            <a:ext cx="2971800" cy="571500"/>
          </a:xfrm>
          <a:prstGeom prst="rect">
            <a:avLst/>
          </a:prstGeom>
          <a:noFill/>
          <a:ln w="9525">
            <a:noFill/>
          </a:ln>
        </p:spPr>
      </p:pic>
      <p:pic>
        <p:nvPicPr>
          <p:cNvPr id="2057" name="Picture 8" descr="artplus_nature_naturalcity42_e"/>
          <p:cNvPicPr>
            <a:picLocks noChangeAspect="1"/>
          </p:cNvPicPr>
          <p:nvPr/>
        </p:nvPicPr>
        <p:blipFill>
          <a:blip r:embed="rId8"/>
          <a:stretch>
            <a:fillRect/>
          </a:stretch>
        </p:blipFill>
        <p:spPr>
          <a:xfrm>
            <a:off x="5943600" y="1993900"/>
            <a:ext cx="1546225" cy="1663700"/>
          </a:xfrm>
          <a:prstGeom prst="rect">
            <a:avLst/>
          </a:prstGeom>
          <a:noFill/>
          <a:ln w="9525">
            <a:noFill/>
          </a:ln>
        </p:spPr>
      </p:pic>
      <p:pic>
        <p:nvPicPr>
          <p:cNvPr id="2058" name="Picture 11" descr="artplus_nature_naturalcity42_d"/>
          <p:cNvPicPr>
            <a:picLocks noChangeAspect="1"/>
          </p:cNvPicPr>
          <p:nvPr/>
        </p:nvPicPr>
        <p:blipFill>
          <a:blip r:embed="rId9"/>
          <a:stretch>
            <a:fillRect/>
          </a:stretch>
        </p:blipFill>
        <p:spPr>
          <a:xfrm>
            <a:off x="5626100" y="2862263"/>
            <a:ext cx="623888" cy="579437"/>
          </a:xfrm>
          <a:prstGeom prst="rect">
            <a:avLst/>
          </a:prstGeom>
          <a:noFill/>
          <a:ln w="9525">
            <a:noFill/>
          </a:ln>
        </p:spPr>
      </p:pic>
      <p:pic>
        <p:nvPicPr>
          <p:cNvPr id="2059" name="Picture 128" descr="a1"/>
          <p:cNvPicPr>
            <a:picLocks noChangeAspect="1"/>
          </p:cNvPicPr>
          <p:nvPr userDrawn="1"/>
        </p:nvPicPr>
        <p:blipFill>
          <a:blip r:embed="rId10"/>
          <a:stretch>
            <a:fillRect/>
          </a:stretch>
        </p:blipFill>
        <p:spPr>
          <a:xfrm>
            <a:off x="914400" y="2286000"/>
            <a:ext cx="1803400" cy="2070100"/>
          </a:xfrm>
          <a:prstGeom prst="rect">
            <a:avLst/>
          </a:prstGeom>
          <a:noFill/>
          <a:ln w="9525">
            <a:noFill/>
          </a:ln>
        </p:spPr>
      </p:pic>
      <p:pic>
        <p:nvPicPr>
          <p:cNvPr id="2060" name="Picture 129" descr="b_1"/>
          <p:cNvPicPr>
            <a:picLocks noChangeAspect="1"/>
          </p:cNvPicPr>
          <p:nvPr userDrawn="1"/>
        </p:nvPicPr>
        <p:blipFill>
          <a:blip r:embed="rId11"/>
          <a:stretch>
            <a:fillRect/>
          </a:stretch>
        </p:blipFill>
        <p:spPr>
          <a:xfrm>
            <a:off x="2286000" y="3581400"/>
            <a:ext cx="1079500" cy="469900"/>
          </a:xfrm>
          <a:prstGeom prst="rect">
            <a:avLst/>
          </a:prstGeom>
          <a:noFill/>
          <a:ln w="9525">
            <a:noFill/>
          </a:ln>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endParaRPr lang="en-US" altLang="zh-CN"/>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anose="05000000000000000000" pitchFamily="2" charset="2"/>
              <a:buNone/>
              <a:defRPr sz="1800" b="1" i="1">
                <a:solidFill>
                  <a:schemeClr val="bg1"/>
                </a:solidFill>
              </a:defRPr>
            </a:lvl1pPr>
          </a:lstStyle>
          <a:p>
            <a:r>
              <a:rPr lang="en-US" altLang="zh-CN"/>
              <a:t>Click to edit Master subtitle style</a:t>
            </a:r>
            <a:endParaRPr lang="en-US" altLang="zh-CN"/>
          </a:p>
        </p:txBody>
      </p:sp>
      <p:sp>
        <p:nvSpPr>
          <p:cNvPr id="137" name="Rectangle 4"/>
          <p:cNvSpPr>
            <a:spLocks noGrp="1" noChangeArrowheads="1"/>
          </p:cNvSpPr>
          <p:nvPr>
            <p:ph type="dt" sz="half" idx="2"/>
          </p:nvPr>
        </p:nvSpPr>
        <p:spPr bwMode="auto">
          <a:xfrm>
            <a:off x="304800" y="6477000"/>
            <a:ext cx="2133600" cy="168275"/>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8" name="Rectangle 5"/>
          <p:cNvSpPr>
            <a:spLocks noGrp="1" noChangeArrowheads="1"/>
          </p:cNvSpPr>
          <p:nvPr>
            <p:ph type="ftr" sz="quarter" idx="3"/>
          </p:nvPr>
        </p:nvSpPr>
        <p:spPr bwMode="auto">
          <a:xfrm>
            <a:off x="6705600" y="6477000"/>
            <a:ext cx="2286000" cy="168275"/>
          </a:xfrm>
          <a:prstGeom prst="rect">
            <a:avLst/>
          </a:prstGeom>
          <a:ln>
            <a:miter lim="800000"/>
          </a:ln>
        </p:spPr>
        <p:txBody>
          <a:bodyPr vert="horz" wrap="square" lIns="91440" tIns="45720" rIns="91440" bIns="45720" numCol="1" anchor="t" anchorCtr="0" compatLnSpc="1"/>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9" name="Rectangle 6"/>
          <p:cNvSpPr>
            <a:spLocks noGrp="1" noChangeArrowheads="1"/>
          </p:cNvSpPr>
          <p:nvPr>
            <p:ph type="sldNum" sz="quarter" idx="4"/>
          </p:nvPr>
        </p:nvSpPr>
        <p:spPr bwMode="auto">
          <a:xfrm>
            <a:off x="3657600" y="6477000"/>
            <a:ext cx="2133600" cy="168275"/>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ChangeArrowheads="1"/>
          </p:cNvSpPr>
          <p:nvPr userDrawn="1"/>
        </p:nvSpPr>
        <p:spPr bwMode="ltGray">
          <a:xfrm>
            <a:off x="581343" y="942975"/>
            <a:ext cx="396000" cy="396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3" name="Rectangle 7"/>
          <p:cNvSpPr>
            <a:spLocks noChangeArrowheads="1"/>
          </p:cNvSpPr>
          <p:nvPr userDrawn="1"/>
        </p:nvSpPr>
        <p:spPr bwMode="gray">
          <a:xfrm>
            <a:off x="762000" y="803275"/>
            <a:ext cx="31750" cy="68400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4" name="Rectangle 8"/>
          <p:cNvSpPr>
            <a:spLocks noChangeArrowheads="1"/>
          </p:cNvSpPr>
          <p:nvPr userDrawn="1"/>
        </p:nvSpPr>
        <p:spPr bwMode="gray">
          <a:xfrm>
            <a:off x="442913" y="1136650"/>
            <a:ext cx="8352000" cy="3175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Char char="v"/>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1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9" descr="1"/>
          <p:cNvPicPr>
            <a:picLocks noChangeAspect="1"/>
          </p:cNvPicPr>
          <p:nvPr userDrawn="1"/>
        </p:nvPicPr>
        <p:blipFill>
          <a:blip r:embed="rId13"/>
          <a:srcRect b="38461"/>
          <a:stretch>
            <a:fillRect/>
          </a:stretch>
        </p:blipFill>
        <p:spPr>
          <a:xfrm>
            <a:off x="0" y="6324600"/>
            <a:ext cx="9144000" cy="542925"/>
          </a:xfrm>
          <a:prstGeom prst="rect">
            <a:avLst/>
          </a:prstGeom>
          <a:noFill/>
          <a:ln w="9525">
            <a:noFill/>
          </a:ln>
        </p:spPr>
      </p:pic>
      <p:sp>
        <p:nvSpPr>
          <p:cNvPr id="1041" name="Rectangle 17"/>
          <p:cNvSpPr>
            <a:spLocks noChangeArrowheads="1"/>
          </p:cNvSpPr>
          <p:nvPr userDrawn="1"/>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p:cNvSpPr>
          <p:nvPr>
            <p:ph type="body" idx="1"/>
          </p:nvPr>
        </p:nvSpPr>
        <p:spPr>
          <a:xfrm>
            <a:off x="457200" y="1295400"/>
            <a:ext cx="8229600" cy="5029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9" name="Rectangle 2"/>
          <p:cNvSpPr>
            <a:spLocks noGrp="1"/>
          </p:cNvSpPr>
          <p:nvPr>
            <p:ph type="title"/>
          </p:nvPr>
        </p:nvSpPr>
        <p:spPr>
          <a:xfrm>
            <a:off x="457200" y="228600"/>
            <a:ext cx="8229600" cy="8683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40" name="Picture 20" descr="a1"/>
          <p:cNvPicPr>
            <a:picLocks noChangeAspect="1"/>
          </p:cNvPicPr>
          <p:nvPr userDrawn="1"/>
        </p:nvPicPr>
        <p:blipFill>
          <a:blip r:embed="rId14"/>
          <a:stretch>
            <a:fillRect/>
          </a:stretch>
        </p:blipFill>
        <p:spPr>
          <a:xfrm>
            <a:off x="152400" y="0"/>
            <a:ext cx="942975" cy="1082675"/>
          </a:xfrm>
          <a:prstGeom prst="rect">
            <a:avLst/>
          </a:prstGeom>
          <a:noFill/>
          <a:ln w="9525">
            <a:noFill/>
          </a:ln>
        </p:spPr>
      </p:pic>
      <p:pic>
        <p:nvPicPr>
          <p:cNvPr id="3" name="Picture 21" descr="b_1"/>
          <p:cNvPicPr>
            <a:picLocks noChangeAspect="1"/>
          </p:cNvPicPr>
          <p:nvPr userDrawn="1"/>
        </p:nvPicPr>
        <p:blipFill>
          <a:blip r:embed="rId15"/>
          <a:stretch>
            <a:fillRect/>
          </a:stretch>
        </p:blipFill>
        <p:spPr>
          <a:xfrm>
            <a:off x="7848600" y="152400"/>
            <a:ext cx="1234440" cy="536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panose="020B0604020202020204" pitchFamily="34" charset="0"/>
        </a:defRPr>
      </a:lvl2pPr>
      <a:lvl3pPr algn="ctr" rtl="0" eaLnBrk="0" fontAlgn="base" hangingPunct="0">
        <a:spcBef>
          <a:spcPct val="0"/>
        </a:spcBef>
        <a:spcAft>
          <a:spcPct val="0"/>
        </a:spcAft>
        <a:defRPr sz="4200" b="1" i="1">
          <a:solidFill>
            <a:schemeClr val="tx1"/>
          </a:solidFill>
          <a:latin typeface="Arial" panose="020B0604020202020204" pitchFamily="34" charset="0"/>
        </a:defRPr>
      </a:lvl3pPr>
      <a:lvl4pPr algn="ctr" rtl="0" eaLnBrk="0" fontAlgn="base" hangingPunct="0">
        <a:spcBef>
          <a:spcPct val="0"/>
        </a:spcBef>
        <a:spcAft>
          <a:spcPct val="0"/>
        </a:spcAft>
        <a:defRPr sz="4200" b="1" i="1">
          <a:solidFill>
            <a:schemeClr val="tx1"/>
          </a:solidFill>
          <a:latin typeface="Arial" panose="020B0604020202020204" pitchFamily="34" charset="0"/>
        </a:defRPr>
      </a:lvl4pPr>
      <a:lvl5pPr algn="ctr" rtl="0" eaLnBrk="0" fontAlgn="base" hangingPunct="0">
        <a:spcBef>
          <a:spcPct val="0"/>
        </a:spcBef>
        <a:spcAft>
          <a:spcPct val="0"/>
        </a:spcAft>
        <a:defRPr sz="4200" b="1" i="1">
          <a:solidFill>
            <a:schemeClr val="tx1"/>
          </a:solidFill>
          <a:latin typeface="Arial" panose="020B0604020202020204" pitchFamily="34" charset="0"/>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slide" Target="slide53.xml"/><Relationship Id="rId3" Type="http://schemas.openxmlformats.org/officeDocument/2006/relationships/slide" Target="slide45.xml"/><Relationship Id="rId2" Type="http://schemas.openxmlformats.org/officeDocument/2006/relationships/slide" Target="slide25.xml"/><Relationship Id="rId1"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14.wmf"/><Relationship Id="rId3" Type="http://schemas.openxmlformats.org/officeDocument/2006/relationships/oleObject" Target="../embeddings/oleObject2.bin"/><Relationship Id="rId2" Type="http://schemas.openxmlformats.org/officeDocument/2006/relationships/image" Target="../media/image13.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16.wmf"/><Relationship Id="rId2" Type="http://schemas.openxmlformats.org/officeDocument/2006/relationships/oleObject" Target="../embeddings/oleObject3.bin"/><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17.wmf"/><Relationship Id="rId2" Type="http://schemas.openxmlformats.org/officeDocument/2006/relationships/oleObject" Target="../embeddings/oleObject4.bin"/><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8.wmf"/><Relationship Id="rId2" Type="http://schemas.openxmlformats.org/officeDocument/2006/relationships/oleObject" Target="../embeddings/oleObject5.bin"/><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9" Type="http://schemas.openxmlformats.org/officeDocument/2006/relationships/image" Target="../media/image22.wmf"/><Relationship Id="rId8" Type="http://schemas.openxmlformats.org/officeDocument/2006/relationships/oleObject" Target="../embeddings/oleObject9.bin"/><Relationship Id="rId7" Type="http://schemas.openxmlformats.org/officeDocument/2006/relationships/image" Target="../media/image21.wmf"/><Relationship Id="rId6" Type="http://schemas.openxmlformats.org/officeDocument/2006/relationships/oleObject" Target="../embeddings/oleObject8.bin"/><Relationship Id="rId5" Type="http://schemas.openxmlformats.org/officeDocument/2006/relationships/image" Target="../media/image20.wmf"/><Relationship Id="rId4" Type="http://schemas.openxmlformats.org/officeDocument/2006/relationships/oleObject" Target="../embeddings/oleObject7.bin"/><Relationship Id="rId3" Type="http://schemas.openxmlformats.org/officeDocument/2006/relationships/image" Target="../media/image19.wmf"/><Relationship Id="rId2" Type="http://schemas.openxmlformats.org/officeDocument/2006/relationships/oleObject" Target="../embeddings/oleObject6.bin"/><Relationship Id="rId13" Type="http://schemas.openxmlformats.org/officeDocument/2006/relationships/vmlDrawing" Target="../drawings/vmlDrawing5.vml"/><Relationship Id="rId12" Type="http://schemas.openxmlformats.org/officeDocument/2006/relationships/slideLayout" Target="../slideLayouts/slideLayout2.xml"/><Relationship Id="rId11" Type="http://schemas.openxmlformats.org/officeDocument/2006/relationships/image" Target="../media/image23.wmf"/><Relationship Id="rId10" Type="http://schemas.openxmlformats.org/officeDocument/2006/relationships/oleObject" Target="../embeddings/oleObject10.bin"/><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30.wmf"/><Relationship Id="rId7" Type="http://schemas.openxmlformats.org/officeDocument/2006/relationships/oleObject" Target="../embeddings/oleObject12.bin"/><Relationship Id="rId6" Type="http://schemas.openxmlformats.org/officeDocument/2006/relationships/image" Target="../media/image29.png"/><Relationship Id="rId5" Type="http://schemas.openxmlformats.org/officeDocument/2006/relationships/image" Target="../media/image28.wmf"/><Relationship Id="rId4" Type="http://schemas.openxmlformats.org/officeDocument/2006/relationships/oleObject" Target="../embeddings/oleObject11.bin"/><Relationship Id="rId3" Type="http://schemas.openxmlformats.org/officeDocument/2006/relationships/image" Target="../media/image27.png"/><Relationship Id="rId2" Type="http://schemas.openxmlformats.org/officeDocument/2006/relationships/image" Target="../media/image26.png"/><Relationship Id="rId16" Type="http://schemas.openxmlformats.org/officeDocument/2006/relationships/vmlDrawing" Target="../drawings/vmlDrawing6.vml"/><Relationship Id="rId15" Type="http://schemas.openxmlformats.org/officeDocument/2006/relationships/slideLayout" Target="../slideLayouts/slideLayout2.xml"/><Relationship Id="rId14" Type="http://schemas.openxmlformats.org/officeDocument/2006/relationships/image" Target="../media/image33.wmf"/><Relationship Id="rId13" Type="http://schemas.openxmlformats.org/officeDocument/2006/relationships/oleObject" Target="../embeddings/oleObject15.bin"/><Relationship Id="rId12" Type="http://schemas.openxmlformats.org/officeDocument/2006/relationships/image" Target="../media/image32.wmf"/><Relationship Id="rId11" Type="http://schemas.openxmlformats.org/officeDocument/2006/relationships/oleObject" Target="../embeddings/oleObject14.bin"/><Relationship Id="rId10" Type="http://schemas.openxmlformats.org/officeDocument/2006/relationships/image" Target="../media/image31.wmf"/><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image" Target="../media/image21.wmf"/><Relationship Id="rId4" Type="http://schemas.openxmlformats.org/officeDocument/2006/relationships/oleObject" Target="../embeddings/oleObject17.bin"/><Relationship Id="rId3" Type="http://schemas.openxmlformats.org/officeDocument/2006/relationships/image" Target="../media/image20.wmf"/><Relationship Id="rId2" Type="http://schemas.openxmlformats.org/officeDocument/2006/relationships/oleObject" Target="../embeddings/oleObject16.bin"/><Relationship Id="rId1" Type="http://schemas.openxmlformats.org/officeDocument/2006/relationships/image" Target="../media/image3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wmf"/><Relationship Id="rId1"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wmf"/><Relationship Id="rId1"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wmf"/><Relationship Id="rId1"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1.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2.xml"/><Relationship Id="rId7" Type="http://schemas.openxmlformats.org/officeDocument/2006/relationships/oleObject" Target="../embeddings/oleObject21.bin"/><Relationship Id="rId6" Type="http://schemas.openxmlformats.org/officeDocument/2006/relationships/oleObject" Target="../embeddings/oleObject20.bin"/><Relationship Id="rId5" Type="http://schemas.openxmlformats.org/officeDocument/2006/relationships/image" Target="../media/image50.wmf"/><Relationship Id="rId4" Type="http://schemas.openxmlformats.org/officeDocument/2006/relationships/oleObject" Target="../embeddings/oleObject19.bin"/><Relationship Id="rId3" Type="http://schemas.openxmlformats.org/officeDocument/2006/relationships/image" Target="../media/image49.wmf"/><Relationship Id="rId2" Type="http://schemas.openxmlformats.org/officeDocument/2006/relationships/oleObject" Target="../embeddings/oleObject18.bin"/><Relationship Id="rId1" Type="http://schemas.openxmlformats.org/officeDocument/2006/relationships/image" Target="../media/image48.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48.png"/></Relationships>
</file>

<file path=ppt/slides/_rels/slide35.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53.wmf"/><Relationship Id="rId3" Type="http://schemas.openxmlformats.org/officeDocument/2006/relationships/oleObject" Target="../embeddings/oleObject22.bin"/><Relationship Id="rId2" Type="http://schemas.openxmlformats.org/officeDocument/2006/relationships/image" Target="../media/image27.png"/><Relationship Id="rId1"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wmf"/><Relationship Id="rId1"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wmf"/><Relationship Id="rId1"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58.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wmf"/><Relationship Id="rId1" Type="http://schemas.openxmlformats.org/officeDocument/2006/relationships/oleObject" Target="../embeddings/oleObject23.bin"/></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67.png"/><Relationship Id="rId3" Type="http://schemas.openxmlformats.org/officeDocument/2006/relationships/image" Target="../media/image66.wmf"/><Relationship Id="rId2" Type="http://schemas.openxmlformats.org/officeDocument/2006/relationships/oleObject" Target="../embeddings/oleObject24.bin"/><Relationship Id="rId1" Type="http://schemas.openxmlformats.org/officeDocument/2006/relationships/image" Target="../media/image6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image" Target="../media/image69.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2.png"/><Relationship Id="rId1" Type="http://schemas.openxmlformats.org/officeDocument/2006/relationships/image" Target="../media/image71.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5.png"/><Relationship Id="rId2" Type="http://schemas.openxmlformats.org/officeDocument/2006/relationships/image" Target="../media/image74.wmf"/><Relationship Id="rId1" Type="http://schemas.openxmlformats.org/officeDocument/2006/relationships/image" Target="../media/image73.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5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wmf"/></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png"/><Relationship Id="rId1" Type="http://schemas.openxmlformats.org/officeDocument/2006/relationships/image" Target="../media/image86.wmf"/></Relationships>
</file>

<file path=ppt/slides/_rels/slide5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90.wmf"/><Relationship Id="rId4" Type="http://schemas.openxmlformats.org/officeDocument/2006/relationships/image" Target="../media/image89.wmf"/><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0.wmf"/></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4.png"/><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6.wmf"/><Relationship Id="rId3" Type="http://schemas.openxmlformats.org/officeDocument/2006/relationships/image" Target="../media/image91.wmf"/><Relationship Id="rId2" Type="http://schemas.openxmlformats.org/officeDocument/2006/relationships/image" Target="../media/image95.wmf"/><Relationship Id="rId1" Type="http://schemas.openxmlformats.org/officeDocument/2006/relationships/image" Target="../media/image94.pn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9.wmf"/><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Line 3"/>
          <p:cNvSpPr/>
          <p:nvPr/>
        </p:nvSpPr>
        <p:spPr>
          <a:xfrm>
            <a:off x="2835910" y="3657600"/>
            <a:ext cx="463550" cy="612775"/>
          </a:xfrm>
          <a:prstGeom prst="line">
            <a:avLst/>
          </a:prstGeom>
          <a:ln w="12700" cap="rnd" cmpd="sng">
            <a:solidFill>
              <a:srgbClr val="003366"/>
            </a:solidFill>
            <a:prstDash val="sysDot"/>
            <a:headEnd type="none" w="med" len="med"/>
            <a:tailEnd type="none" w="med" len="med"/>
          </a:ln>
        </p:spPr>
      </p:sp>
      <p:sp>
        <p:nvSpPr>
          <p:cNvPr id="5123" name="Line 2"/>
          <p:cNvSpPr/>
          <p:nvPr/>
        </p:nvSpPr>
        <p:spPr>
          <a:xfrm flipV="1">
            <a:off x="2671763" y="1948180"/>
            <a:ext cx="531812" cy="838200"/>
          </a:xfrm>
          <a:prstGeom prst="line">
            <a:avLst/>
          </a:prstGeom>
          <a:ln w="12700" cap="rnd" cmpd="sng">
            <a:solidFill>
              <a:srgbClr val="003366"/>
            </a:solidFill>
            <a:prstDash val="sysDot"/>
            <a:headEnd type="none" w="med" len="med"/>
            <a:tailEnd type="none" w="med" len="med"/>
          </a:ln>
        </p:spPr>
      </p:sp>
      <p:sp>
        <p:nvSpPr>
          <p:cNvPr id="5124" name="Line 2"/>
          <p:cNvSpPr/>
          <p:nvPr/>
        </p:nvSpPr>
        <p:spPr>
          <a:xfrm flipV="1">
            <a:off x="2895600" y="2681605"/>
            <a:ext cx="447040" cy="399415"/>
          </a:xfrm>
          <a:prstGeom prst="line">
            <a:avLst/>
          </a:prstGeom>
          <a:ln w="12700" cap="rnd" cmpd="sng">
            <a:solidFill>
              <a:srgbClr val="003366"/>
            </a:solidFill>
            <a:prstDash val="sysDot"/>
            <a:headEnd type="none" w="med" len="med"/>
            <a:tailEnd type="none" w="med" len="med"/>
          </a:ln>
        </p:spPr>
      </p:sp>
      <p:sp>
        <p:nvSpPr>
          <p:cNvPr id="5125" name="Line 3"/>
          <p:cNvSpPr/>
          <p:nvPr/>
        </p:nvSpPr>
        <p:spPr>
          <a:xfrm>
            <a:off x="2738120" y="4436110"/>
            <a:ext cx="463550" cy="612775"/>
          </a:xfrm>
          <a:prstGeom prst="line">
            <a:avLst/>
          </a:prstGeom>
          <a:ln w="12700" cap="rnd" cmpd="sng">
            <a:solidFill>
              <a:srgbClr val="003366"/>
            </a:solidFill>
            <a:prstDash val="sysDot"/>
            <a:headEnd type="none" w="med" len="med"/>
            <a:tailEnd type="none" w="med" len="med"/>
          </a:ln>
        </p:spPr>
      </p:sp>
      <p:sp>
        <p:nvSpPr>
          <p:cNvPr id="5126" name="Line 4"/>
          <p:cNvSpPr/>
          <p:nvPr/>
        </p:nvSpPr>
        <p:spPr>
          <a:xfrm>
            <a:off x="3203575" y="1948180"/>
            <a:ext cx="609600" cy="0"/>
          </a:xfrm>
          <a:prstGeom prst="line">
            <a:avLst/>
          </a:prstGeom>
          <a:ln w="12700" cap="rnd" cmpd="sng">
            <a:solidFill>
              <a:srgbClr val="003366"/>
            </a:solidFill>
            <a:prstDash val="sysDot"/>
            <a:headEnd type="none" w="med" len="med"/>
            <a:tailEnd type="none" w="med" len="med"/>
          </a:ln>
        </p:spPr>
      </p:sp>
      <p:sp>
        <p:nvSpPr>
          <p:cNvPr id="5127" name="Line 5"/>
          <p:cNvSpPr/>
          <p:nvPr/>
        </p:nvSpPr>
        <p:spPr>
          <a:xfrm>
            <a:off x="3201670" y="5048885"/>
            <a:ext cx="609600" cy="0"/>
          </a:xfrm>
          <a:prstGeom prst="line">
            <a:avLst/>
          </a:prstGeom>
          <a:ln w="12700" cap="rnd" cmpd="sng">
            <a:solidFill>
              <a:srgbClr val="003366"/>
            </a:solidFill>
            <a:prstDash val="sysDot"/>
            <a:headEnd type="none" w="med" len="med"/>
            <a:tailEnd type="none" w="med" len="med"/>
          </a:ln>
        </p:spPr>
      </p:sp>
      <p:sp>
        <p:nvSpPr>
          <p:cNvPr id="5129" name="Line 7"/>
          <p:cNvSpPr/>
          <p:nvPr/>
        </p:nvSpPr>
        <p:spPr>
          <a:xfrm>
            <a:off x="3185160" y="3460750"/>
            <a:ext cx="609600" cy="0"/>
          </a:xfrm>
          <a:prstGeom prst="line">
            <a:avLst/>
          </a:prstGeom>
          <a:ln w="12700" cap="rnd" cmpd="sng">
            <a:solidFill>
              <a:srgbClr val="003366"/>
            </a:solidFill>
            <a:prstDash val="sysDot"/>
            <a:headEnd type="none" w="med" len="med"/>
            <a:tailEnd type="none" w="med" len="med"/>
          </a:ln>
        </p:spPr>
      </p:sp>
      <p:sp>
        <p:nvSpPr>
          <p:cNvPr id="5131" name="Rectangle 9"/>
          <p:cNvSpPr>
            <a:spLocks noGrp="1"/>
          </p:cNvSpPr>
          <p:nvPr>
            <p:ph type="title"/>
          </p:nvPr>
        </p:nvSpPr>
        <p:spPr>
          <a:xfrm>
            <a:off x="457200" y="381000"/>
            <a:ext cx="8229600" cy="868363"/>
          </a:xfrm>
        </p:spPr>
        <p:txBody>
          <a:bodyPr vert="horz" wrap="square" lIns="91440" tIns="45720" rIns="91440" bIns="45720" anchor="ctr" anchorCtr="0"/>
          <a:p>
            <a:pPr eaLnBrk="1" hangingPunct="1"/>
            <a:r>
              <a:rPr lang="zh-CN" altLang="en-US" sz="3200" i="0" kern="1200" dirty="0">
                <a:solidFill>
                  <a:srgbClr val="FF0000"/>
                </a:solidFill>
                <a:latin typeface="黑体" panose="02010609060101010101" pitchFamily="49" charset="-122"/>
                <a:ea typeface="黑体" panose="02010609060101010101" pitchFamily="49" charset="-122"/>
                <a:cs typeface="+mn-cs"/>
              </a:rPr>
              <a:t>第</a:t>
            </a:r>
            <a:r>
              <a:rPr lang="en-US" altLang="zh-CN" sz="3200" i="0" kern="1200" dirty="0">
                <a:solidFill>
                  <a:srgbClr val="FF0000"/>
                </a:solidFill>
                <a:latin typeface="黑体" panose="02010609060101010101" pitchFamily="49" charset="-122"/>
                <a:ea typeface="黑体" panose="02010609060101010101" pitchFamily="49" charset="-122"/>
                <a:cs typeface="+mn-cs"/>
              </a:rPr>
              <a:t>5</a:t>
            </a:r>
            <a:r>
              <a:rPr lang="zh-CN" altLang="en-US" sz="3200" i="0" kern="1200" dirty="0">
                <a:solidFill>
                  <a:srgbClr val="FF0000"/>
                </a:solidFill>
                <a:latin typeface="黑体" panose="02010609060101010101" pitchFamily="49" charset="-122"/>
                <a:ea typeface="黑体" panose="02010609060101010101" pitchFamily="49" charset="-122"/>
                <a:cs typeface="+mn-cs"/>
              </a:rPr>
              <a:t>章</a:t>
            </a:r>
            <a:r>
              <a:rPr lang="en-US" altLang="zh-CN" sz="3200" i="0" kern="1200" dirty="0">
                <a:solidFill>
                  <a:srgbClr val="FF0000"/>
                </a:solidFill>
                <a:latin typeface="黑体" panose="02010609060101010101" pitchFamily="49" charset="-122"/>
                <a:ea typeface="黑体" panose="02010609060101010101" pitchFamily="49" charset="-122"/>
                <a:cs typeface="+mn-cs"/>
              </a:rPr>
              <a:t> </a:t>
            </a:r>
            <a:r>
              <a:rPr lang="zh-CN" altLang="en-US" sz="3200" i="0" kern="1200" dirty="0">
                <a:solidFill>
                  <a:srgbClr val="FF0000"/>
                </a:solidFill>
                <a:latin typeface="黑体" panose="02010609060101010101" pitchFamily="49" charset="-122"/>
                <a:ea typeface="黑体" panose="02010609060101010101" pitchFamily="49" charset="-122"/>
                <a:cs typeface="+mn-cs"/>
              </a:rPr>
              <a:t>锁存器和触发器</a:t>
            </a:r>
            <a:endParaRPr lang="zh-CN" altLang="en-US" sz="3200" i="0" kern="1200" dirty="0">
              <a:solidFill>
                <a:srgbClr val="FF0000"/>
              </a:solidFill>
              <a:latin typeface="黑体" panose="02010609060101010101" pitchFamily="49" charset="-122"/>
              <a:ea typeface="黑体" panose="02010609060101010101" pitchFamily="49" charset="-122"/>
              <a:cs typeface="+mn-cs"/>
            </a:endParaRPr>
          </a:p>
        </p:txBody>
      </p:sp>
      <p:grpSp>
        <p:nvGrpSpPr>
          <p:cNvPr id="5132" name="Group 10"/>
          <p:cNvGrpSpPr/>
          <p:nvPr/>
        </p:nvGrpSpPr>
        <p:grpSpPr>
          <a:xfrm>
            <a:off x="682625" y="2128838"/>
            <a:ext cx="2673350" cy="2671762"/>
            <a:chOff x="140" y="1419"/>
            <a:chExt cx="1684" cy="1683"/>
          </a:xfrm>
        </p:grpSpPr>
        <p:sp>
          <p:nvSpPr>
            <p:cNvPr id="7179"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0"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1"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60" name="Oval 14"/>
            <p:cNvSpPr/>
            <p:nvPr/>
          </p:nvSpPr>
          <p:spPr>
            <a:xfrm>
              <a:off x="323" y="1602"/>
              <a:ext cx="1317" cy="1316"/>
            </a:xfrm>
            <a:prstGeom prst="ellipse">
              <a:avLst/>
            </a:prstGeom>
            <a:solidFill>
              <a:srgbClr val="000000"/>
            </a:solidFill>
            <a:ln w="38100">
              <a:noFill/>
            </a:ln>
          </p:spPr>
          <p:txBody>
            <a:bodyPr anchor="ctr" anchorCtr="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1" name="Oval 15"/>
            <p:cNvSpPr/>
            <p:nvPr/>
          </p:nvSpPr>
          <p:spPr>
            <a:xfrm>
              <a:off x="344" y="1623"/>
              <a:ext cx="1276" cy="1277"/>
            </a:xfrm>
            <a:prstGeom prst="ellipse">
              <a:avLst/>
            </a:prstGeom>
            <a:gradFill rotWithShape="1">
              <a:gsLst>
                <a:gs pos="0">
                  <a:srgbClr val="636869"/>
                </a:gs>
                <a:gs pos="100000">
                  <a:srgbClr val="D6E1E2"/>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2" name="Oval 16"/>
            <p:cNvSpPr/>
            <p:nvPr/>
          </p:nvSpPr>
          <p:spPr>
            <a:xfrm>
              <a:off x="360" y="1630"/>
              <a:ext cx="1246" cy="1246"/>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3" name="Oval 17"/>
            <p:cNvSpPr/>
            <p:nvPr/>
          </p:nvSpPr>
          <p:spPr>
            <a:xfrm>
              <a:off x="374" y="1642"/>
              <a:ext cx="1184" cy="1164"/>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4" name="Oval 18"/>
            <p:cNvSpPr/>
            <p:nvPr/>
          </p:nvSpPr>
          <p:spPr>
            <a:xfrm>
              <a:off x="443" y="1675"/>
              <a:ext cx="1053" cy="945"/>
            </a:xfrm>
            <a:prstGeom prst="ellipse">
              <a:avLst/>
            </a:prstGeom>
            <a:gradFill rotWithShape="1">
              <a:gsLst>
                <a:gs pos="0">
                  <a:srgbClr val="FFFFFF"/>
                </a:gs>
                <a:gs pos="100000">
                  <a:srgbClr val="D6E1E2">
                    <a:alpha val="37999"/>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pic>
          <p:nvPicPr>
            <p:cNvPr id="5165" name="Picture 19" descr="mark"/>
            <p:cNvPicPr>
              <a:picLocks noChangeAspect="1"/>
            </p:cNvPicPr>
            <p:nvPr/>
          </p:nvPicPr>
          <p:blipFill>
            <a:blip r:embed="rId1"/>
            <a:stretch>
              <a:fillRect/>
            </a:stretch>
          </p:blipFill>
          <p:spPr>
            <a:xfrm>
              <a:off x="452" y="1773"/>
              <a:ext cx="1011" cy="1003"/>
            </a:xfrm>
            <a:prstGeom prst="rect">
              <a:avLst/>
            </a:prstGeom>
            <a:noFill/>
            <a:ln w="9525">
              <a:noFill/>
            </a:ln>
          </p:spPr>
        </p:pic>
      </p:grpSp>
      <p:sp>
        <p:nvSpPr>
          <p:cNvPr id="5133" name="AutoShape 20"/>
          <p:cNvSpPr/>
          <p:nvPr/>
        </p:nvSpPr>
        <p:spPr>
          <a:xfrm>
            <a:off x="3806825" y="1676400"/>
            <a:ext cx="227711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4" name="Rectangle 21">
            <a:hlinkClick r:id="" action="ppaction://hlinkshowjump?jump=nextslide"/>
          </p:cNvPr>
          <p:cNvSpPr/>
          <p:nvPr/>
        </p:nvSpPr>
        <p:spPr>
          <a:xfrm>
            <a:off x="4121150" y="1676400"/>
            <a:ext cx="14097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5.1 </a:t>
            </a:r>
            <a:r>
              <a:rPr lang="zh-CN" altLang="en-US" sz="2400" b="1" dirty="0">
                <a:solidFill>
                  <a:srgbClr val="000000"/>
                </a:solidFill>
                <a:latin typeface="黑体" panose="02010609060101010101" pitchFamily="49" charset="-122"/>
                <a:ea typeface="黑体" panose="02010609060101010101" pitchFamily="49" charset="-122"/>
              </a:rPr>
              <a:t>概述</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5" name="AutoShape 22"/>
          <p:cNvSpPr/>
          <p:nvPr/>
        </p:nvSpPr>
        <p:spPr>
          <a:xfrm>
            <a:off x="3787775" y="3222625"/>
            <a:ext cx="360934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6" name="Rectangle 23">
            <a:hlinkClick r:id="rId2" action="ppaction://hlinksldjump"/>
          </p:cNvPr>
          <p:cNvSpPr/>
          <p:nvPr/>
        </p:nvSpPr>
        <p:spPr>
          <a:xfrm>
            <a:off x="4121150" y="3222625"/>
            <a:ext cx="179197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5.3 触发器</a:t>
            </a:r>
            <a:endParaRPr lang="en-US" altLang="zh-CN" sz="2400" b="1" dirty="0">
              <a:solidFill>
                <a:srgbClr val="000000"/>
              </a:solidFill>
              <a:latin typeface="黑体" panose="02010609060101010101" pitchFamily="49" charset="-122"/>
              <a:ea typeface="黑体" panose="02010609060101010101" pitchFamily="49" charset="-122"/>
            </a:endParaRPr>
          </a:p>
        </p:txBody>
      </p:sp>
      <p:sp>
        <p:nvSpPr>
          <p:cNvPr id="5137" name="AutoShape 24"/>
          <p:cNvSpPr/>
          <p:nvPr/>
        </p:nvSpPr>
        <p:spPr>
          <a:xfrm>
            <a:off x="3810000" y="4011930"/>
            <a:ext cx="451294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8" name="Rectangle 25">
            <a:hlinkClick r:id="rId3" action="ppaction://hlinksldjump"/>
          </p:cNvPr>
          <p:cNvSpPr/>
          <p:nvPr/>
        </p:nvSpPr>
        <p:spPr>
          <a:xfrm>
            <a:off x="4117975" y="4011930"/>
            <a:ext cx="4295775"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5.4 触发器逻辑功能表示方法</a:t>
            </a:r>
            <a:endParaRPr lang="en-US" altLang="zh-CN" sz="2400" b="1" dirty="0">
              <a:solidFill>
                <a:srgbClr val="000000"/>
              </a:solidFill>
              <a:latin typeface="黑体" panose="02010609060101010101" pitchFamily="49" charset="-122"/>
              <a:ea typeface="黑体" panose="02010609060101010101" pitchFamily="49" charset="-122"/>
            </a:endParaRPr>
          </a:p>
        </p:txBody>
      </p:sp>
      <p:sp>
        <p:nvSpPr>
          <p:cNvPr id="5139" name="Oval 26"/>
          <p:cNvSpPr/>
          <p:nvPr/>
        </p:nvSpPr>
        <p:spPr>
          <a:xfrm>
            <a:off x="3598545" y="1837055"/>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7196" name="Oval 28"/>
          <p:cNvSpPr>
            <a:spLocks noChangeArrowheads="1"/>
          </p:cNvSpPr>
          <p:nvPr/>
        </p:nvSpPr>
        <p:spPr bwMode="gray">
          <a:xfrm>
            <a:off x="3569335" y="335280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42" name="AutoShape 29"/>
          <p:cNvSpPr/>
          <p:nvPr/>
        </p:nvSpPr>
        <p:spPr>
          <a:xfrm>
            <a:off x="3806825" y="4817110"/>
            <a:ext cx="497141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3" name="Rectangle 30">
            <a:hlinkClick r:id="rId4" action="ppaction://hlinksldjump"/>
          </p:cNvPr>
          <p:cNvSpPr/>
          <p:nvPr/>
        </p:nvSpPr>
        <p:spPr>
          <a:xfrm>
            <a:off x="4121150" y="4817110"/>
            <a:ext cx="397764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5.5 触发器逻辑功能的转换</a:t>
            </a:r>
            <a:endParaRPr lang="en-US" altLang="zh-CN" sz="2400" b="1" dirty="0">
              <a:solidFill>
                <a:srgbClr val="000000"/>
              </a:solidFill>
              <a:latin typeface="黑体" panose="02010609060101010101" pitchFamily="49" charset="-122"/>
              <a:ea typeface="黑体" panose="02010609060101010101" pitchFamily="49" charset="-122"/>
            </a:endParaRPr>
          </a:p>
        </p:txBody>
      </p:sp>
      <p:sp>
        <p:nvSpPr>
          <p:cNvPr id="5147" name="Oval 34"/>
          <p:cNvSpPr/>
          <p:nvPr/>
        </p:nvSpPr>
        <p:spPr>
          <a:xfrm>
            <a:off x="3594100" y="494728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8" name="Line 6"/>
          <p:cNvSpPr/>
          <p:nvPr/>
        </p:nvSpPr>
        <p:spPr>
          <a:xfrm flipV="1">
            <a:off x="3352800" y="2680653"/>
            <a:ext cx="533400" cy="0"/>
          </a:xfrm>
          <a:prstGeom prst="line">
            <a:avLst/>
          </a:prstGeom>
          <a:ln w="12700" cap="rnd" cmpd="sng">
            <a:solidFill>
              <a:srgbClr val="003366"/>
            </a:solidFill>
            <a:prstDash val="sysDot"/>
            <a:headEnd type="none" w="med" len="med"/>
            <a:tailEnd type="none" w="med" len="med"/>
          </a:ln>
        </p:spPr>
      </p:sp>
      <p:sp>
        <p:nvSpPr>
          <p:cNvPr id="5149" name="AutoShape 22"/>
          <p:cNvSpPr/>
          <p:nvPr/>
        </p:nvSpPr>
        <p:spPr>
          <a:xfrm>
            <a:off x="3800475" y="2438400"/>
            <a:ext cx="299275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50" name="Rectangle 23">
            <a:hlinkClick r:id="rId5" action="ppaction://hlinksldjump"/>
          </p:cNvPr>
          <p:cNvSpPr/>
          <p:nvPr/>
        </p:nvSpPr>
        <p:spPr>
          <a:xfrm>
            <a:off x="4114800" y="2438400"/>
            <a:ext cx="171577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5.2 锁存器</a:t>
            </a:r>
            <a:endParaRPr lang="en-US" altLang="zh-CN" sz="2400" b="1" dirty="0">
              <a:solidFill>
                <a:srgbClr val="000000"/>
              </a:solidFill>
              <a:latin typeface="黑体" panose="02010609060101010101" pitchFamily="49" charset="-122"/>
              <a:ea typeface="黑体" panose="02010609060101010101" pitchFamily="49" charset="-122"/>
            </a:endParaRPr>
          </a:p>
        </p:txBody>
      </p:sp>
      <p:sp>
        <p:nvSpPr>
          <p:cNvPr id="5155" name="Line 6"/>
          <p:cNvSpPr/>
          <p:nvPr/>
        </p:nvSpPr>
        <p:spPr>
          <a:xfrm flipV="1">
            <a:off x="3293110" y="4294188"/>
            <a:ext cx="533400" cy="0"/>
          </a:xfrm>
          <a:prstGeom prst="line">
            <a:avLst/>
          </a:prstGeom>
          <a:ln w="12700" cap="rnd" cmpd="sng">
            <a:solidFill>
              <a:srgbClr val="003366"/>
            </a:solidFill>
            <a:prstDash val="sysDot"/>
            <a:headEnd type="none" w="med" len="med"/>
            <a:tailEnd type="none" w="med" len="med"/>
          </a:ln>
        </p:spPr>
      </p:sp>
      <p:sp>
        <p:nvSpPr>
          <p:cNvPr id="5156" name="灯片编号占位符 4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r>
              <a:rPr lang="en-US" altLang="zh-CN" sz="1200" dirty="0">
                <a:solidFill>
                  <a:schemeClr val="bg1"/>
                </a:solidFill>
                <a:ea typeface="宋体" panose="02010600030101010101" pitchFamily="2" charset="-122"/>
              </a:rPr>
              <a:t>1</a:t>
            </a:r>
            <a:endParaRPr lang="en-US" altLang="zh-CN" sz="1200" dirty="0">
              <a:solidFill>
                <a:schemeClr val="bg1"/>
              </a:solidFill>
              <a:ea typeface="宋体" panose="02010600030101010101" pitchFamily="2" charset="-122"/>
            </a:endParaRPr>
          </a:p>
        </p:txBody>
      </p:sp>
      <p:sp>
        <p:nvSpPr>
          <p:cNvPr id="5140" name="Oval 27"/>
          <p:cNvSpPr/>
          <p:nvPr/>
        </p:nvSpPr>
        <p:spPr>
          <a:xfrm>
            <a:off x="3582035" y="256857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4" name="Oval 31"/>
          <p:cNvSpPr/>
          <p:nvPr/>
        </p:nvSpPr>
        <p:spPr>
          <a:xfrm>
            <a:off x="3582035" y="4176713"/>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5.1 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89480" name="矩形 489479"/>
          <p:cNvSpPr/>
          <p:nvPr/>
        </p:nvSpPr>
        <p:spPr>
          <a:xfrm>
            <a:off x="938530" y="4308158"/>
            <a:ext cx="4826000" cy="460375"/>
          </a:xfrm>
          <a:prstGeom prst="rect">
            <a:avLst/>
          </a:prstGeom>
          <a:noFill/>
          <a:ln w="9525">
            <a:noFill/>
          </a:ln>
        </p:spPr>
        <p:txBody>
          <a:bodyPr anchor="ctr">
            <a:spAutoFit/>
          </a:bodyPr>
          <a:p>
            <a:pPr algn="l"/>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Q</a:t>
            </a:r>
            <a:r>
              <a:rPr lang="zh-CN" altLang="en-US" sz="2400" b="1" dirty="0">
                <a:solidFill>
                  <a:srgbClr val="000066"/>
                </a:solidFill>
                <a:ea typeface="楷体_GB2312" pitchFamily="49" charset="-122"/>
              </a:rPr>
              <a:t>端的状态定义为电路输出状态</a:t>
            </a:r>
            <a:r>
              <a:rPr lang="zh-CN" altLang="en-US" sz="2400" dirty="0">
                <a:solidFill>
                  <a:srgbClr val="000066"/>
                </a:solidFill>
                <a:latin typeface="Times New Roman" panose="02020603050405020304" charset="0"/>
                <a:ea typeface="楷体_GB2312" pitchFamily="49" charset="-122"/>
              </a:rPr>
              <a:t>。</a:t>
            </a:r>
            <a:endParaRPr lang="zh-CN" altLang="en-US" sz="2400" dirty="0">
              <a:solidFill>
                <a:srgbClr val="000066"/>
              </a:solidFill>
              <a:latin typeface="Times New Roman" panose="02020603050405020304" charset="0"/>
              <a:ea typeface="楷体_GB2312" pitchFamily="49" charset="-122"/>
            </a:endParaRPr>
          </a:p>
        </p:txBody>
      </p:sp>
      <p:grpSp>
        <p:nvGrpSpPr>
          <p:cNvPr id="9" name="组合 8"/>
          <p:cNvGrpSpPr/>
          <p:nvPr/>
        </p:nvGrpSpPr>
        <p:grpSpPr>
          <a:xfrm>
            <a:off x="938530" y="3757930"/>
            <a:ext cx="3854450" cy="460375"/>
            <a:chOff x="-1928" y="5945"/>
            <a:chExt cx="6070" cy="725"/>
          </a:xfrm>
        </p:grpSpPr>
        <p:sp>
          <p:nvSpPr>
            <p:cNvPr id="489481" name="矩形 489480"/>
            <p:cNvSpPr/>
            <p:nvPr/>
          </p:nvSpPr>
          <p:spPr>
            <a:xfrm>
              <a:off x="-1928" y="5945"/>
              <a:ext cx="6070" cy="725"/>
            </a:xfrm>
            <a:prstGeom prst="rect">
              <a:avLst/>
            </a:prstGeom>
            <a:noFill/>
            <a:ln w="9525">
              <a:noFill/>
            </a:ln>
          </p:spPr>
          <p:txBody>
            <a:bodyPr wrap="square" anchor="ctr">
              <a:spAutoFit/>
            </a:bodyPr>
            <a:p>
              <a:pPr algn="l"/>
              <a:r>
                <a:rPr lang="zh-CN" altLang="en-US" sz="2400" b="1" dirty="0">
                  <a:solidFill>
                    <a:srgbClr val="000066"/>
                  </a:solidFill>
                  <a:ea typeface="楷体_GB2312" pitchFamily="49" charset="-122"/>
                </a:rPr>
                <a:t>有两个互补的输出端</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Q</a:t>
              </a:r>
              <a:r>
                <a:rPr lang="zh-CN" altLang="en-US" sz="2400" b="1" dirty="0">
                  <a:solidFill>
                    <a:srgbClr val="000066"/>
                  </a:solidFill>
                  <a:ea typeface="楷体_GB2312" pitchFamily="49" charset="-122"/>
                </a:rPr>
                <a:t>、</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Q</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a:t>
              </a:r>
              <a:endParaRPr lang="zh-CN" altLang="en-US" sz="2400" b="1" dirty="0">
                <a:solidFill>
                  <a:srgbClr val="000066"/>
                </a:solidFill>
                <a:latin typeface="Times New Roman" panose="02020603050405020304" charset="0"/>
                <a:ea typeface="楷体_GB2312" pitchFamily="49" charset="-122"/>
                <a:cs typeface="Times New Roman" panose="02020603050405020304" charset="0"/>
              </a:endParaRPr>
            </a:p>
          </p:txBody>
        </p:sp>
        <p:cxnSp>
          <p:nvCxnSpPr>
            <p:cNvPr id="7" name="直接连接符 6"/>
            <p:cNvCxnSpPr/>
            <p:nvPr/>
          </p:nvCxnSpPr>
          <p:spPr>
            <a:xfrm>
              <a:off x="3397" y="6080"/>
              <a:ext cx="433" cy="0"/>
            </a:xfrm>
            <a:prstGeom prst="line">
              <a:avLst/>
            </a:prstGeom>
          </p:spPr>
          <p:style>
            <a:lnRef idx="1">
              <a:schemeClr val="dk1"/>
            </a:lnRef>
            <a:fillRef idx="0">
              <a:schemeClr val="dk1"/>
            </a:fillRef>
            <a:effectRef idx="0">
              <a:schemeClr val="dk1"/>
            </a:effectRef>
            <a:fontRef idx="minor">
              <a:schemeClr val="tx1"/>
            </a:fontRef>
          </p:style>
        </p:cxnSp>
      </p:grpSp>
      <p:sp>
        <p:nvSpPr>
          <p:cNvPr id="395269" name="矩形 395268"/>
          <p:cNvSpPr/>
          <p:nvPr/>
        </p:nvSpPr>
        <p:spPr>
          <a:xfrm>
            <a:off x="887095" y="1359218"/>
            <a:ext cx="7921625" cy="645160"/>
          </a:xfrm>
          <a:prstGeom prst="rect">
            <a:avLst/>
          </a:prstGeom>
          <a:noFill/>
          <a:ln w="9525">
            <a:noFill/>
          </a:ln>
        </p:spPr>
        <p:txBody>
          <a:bodyPr>
            <a:spAutoFit/>
          </a:bodyPr>
          <a:p>
            <a:pPr algn="l">
              <a:lnSpc>
                <a:spcPct val="150000"/>
              </a:lnSpc>
            </a:pPr>
            <a:r>
              <a:rPr lang="zh-CN" altLang="en-US" sz="2400" b="1" dirty="0">
                <a:solidFill>
                  <a:srgbClr val="FF0000"/>
                </a:solidFill>
                <a:latin typeface="楷体_GB2312" pitchFamily="49" charset="-122"/>
                <a:ea typeface="楷体_GB2312" pitchFamily="49" charset="-122"/>
              </a:rPr>
              <a:t>锁存器和触发器</a:t>
            </a:r>
            <a:r>
              <a:rPr lang="zh-CN" altLang="en-US" sz="2400" b="1" dirty="0">
                <a:solidFill>
                  <a:srgbClr val="000066"/>
                </a:solidFill>
                <a:ea typeface="楷体_GB2312" pitchFamily="49" charset="-122"/>
              </a:rPr>
              <a:t>是构成时序逻辑电路的基本逻辑单元</a:t>
            </a:r>
            <a:r>
              <a:rPr lang="zh-CN" altLang="en-US" sz="2400" dirty="0">
                <a:solidFill>
                  <a:srgbClr val="000066"/>
                </a:solidFill>
                <a:latin typeface="楷体_GB2312" pitchFamily="49" charset="-122"/>
                <a:ea typeface="楷体_GB2312" pitchFamily="49" charset="-122"/>
              </a:rPr>
              <a:t> 。</a:t>
            </a:r>
            <a:endParaRPr lang="en-GB" altLang="zh-CN" sz="2400">
              <a:solidFill>
                <a:srgbClr val="000066"/>
              </a:solidFill>
              <a:latin typeface="楷体_GB2312" pitchFamily="49" charset="-122"/>
              <a:ea typeface="楷体_GB2312" pitchFamily="49" charset="-122"/>
            </a:endParaRPr>
          </a:p>
        </p:txBody>
      </p:sp>
      <p:sp>
        <p:nvSpPr>
          <p:cNvPr id="464901" name="矩形 464900"/>
          <p:cNvSpPr/>
          <p:nvPr/>
        </p:nvSpPr>
        <p:spPr>
          <a:xfrm>
            <a:off x="887095" y="2004695"/>
            <a:ext cx="7920990" cy="1753235"/>
          </a:xfrm>
          <a:prstGeom prst="rect">
            <a:avLst/>
          </a:prstGeom>
          <a:noFill/>
          <a:ln w="9525">
            <a:noFill/>
          </a:ln>
        </p:spPr>
        <p:txBody>
          <a:bodyPr wrap="square">
            <a:spAutoFit/>
          </a:bodyPr>
          <a:p>
            <a:pPr algn="l">
              <a:lnSpc>
                <a:spcPct val="150000"/>
              </a:lnSpc>
            </a:pPr>
            <a:r>
              <a:rPr lang="zh-CN" altLang="en-US" sz="2400" b="1" dirty="0">
                <a:solidFill>
                  <a:srgbClr val="FF0000"/>
                </a:solidFill>
                <a:latin typeface="楷体_GB2312" pitchFamily="49" charset="-122"/>
                <a:ea typeface="楷体_GB2312" pitchFamily="49" charset="-122"/>
              </a:rPr>
              <a:t>共同点：</a:t>
            </a:r>
            <a:endParaRPr lang="zh-CN" altLang="en-US" sz="2400" dirty="0">
              <a:solidFill>
                <a:srgbClr val="000066"/>
              </a:solidFill>
              <a:latin typeface="楷体_GB2312" pitchFamily="49" charset="-122"/>
              <a:ea typeface="楷体_GB2312" pitchFamily="49" charset="-122"/>
            </a:endParaRPr>
          </a:p>
          <a:p>
            <a:pPr algn="l">
              <a:lnSpc>
                <a:spcPct val="150000"/>
              </a:lnSpc>
            </a:pPr>
            <a:r>
              <a:rPr lang="zh-CN" altLang="en-US" sz="2400" b="1" dirty="0">
                <a:solidFill>
                  <a:srgbClr val="000066"/>
                </a:solidFill>
                <a:ea typeface="楷体_GB2312" pitchFamily="49" charset="-122"/>
              </a:rPr>
              <a:t>具有0 和1两个稳定状态，一旦状态被确定，就能自行保持。一个锁存器或触发器能存储一位二进制码。</a:t>
            </a:r>
            <a:endParaRPr lang="zh-CN" altLang="en-US" sz="2400" dirty="0">
              <a:solidFill>
                <a:srgbClr val="000066"/>
              </a:solidFill>
              <a:latin typeface="Times New Roman" panose="0202060305040502030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95269"/>
                                        </p:tgtEl>
                                        <p:attrNameLst>
                                          <p:attrName>style.visibility</p:attrName>
                                        </p:attrNameLst>
                                      </p:cBhvr>
                                      <p:to>
                                        <p:strVal val="visible"/>
                                      </p:to>
                                    </p:set>
                                    <p:animEffect transition="in" filter="strips(downRight)">
                                      <p:cBhvr>
                                        <p:cTn id="7" dur="500"/>
                                        <p:tgtEl>
                                          <p:spTgt spid="39526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64901"/>
                                        </p:tgtEl>
                                        <p:attrNameLst>
                                          <p:attrName>style.visibility</p:attrName>
                                        </p:attrNameLst>
                                      </p:cBhvr>
                                      <p:to>
                                        <p:strVal val="visible"/>
                                      </p:to>
                                    </p:set>
                                    <p:animEffect transition="in" filter="strips(downRight)">
                                      <p:cBhvr>
                                        <p:cTn id="12" dur="500"/>
                                        <p:tgtEl>
                                          <p:spTgt spid="46490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489480"/>
                                        </p:tgtEl>
                                        <p:attrNameLst>
                                          <p:attrName>style.visibility</p:attrName>
                                        </p:attrNameLst>
                                      </p:cBhvr>
                                      <p:to>
                                        <p:strVal val="visible"/>
                                      </p:to>
                                    </p:set>
                                    <p:animEffect transition="in" filter="strips(downRight)">
                                      <p:cBhvr>
                                        <p:cTn id="21" dur="500"/>
                                        <p:tgtEl>
                                          <p:spTgt spid="489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80" grpId="0"/>
      <p:bldP spid="395269" grpId="0"/>
      <p:bldP spid="46490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5.1 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64902" name="矩形 464901"/>
          <p:cNvSpPr/>
          <p:nvPr/>
        </p:nvSpPr>
        <p:spPr>
          <a:xfrm>
            <a:off x="440373" y="1547178"/>
            <a:ext cx="2195512" cy="460375"/>
          </a:xfrm>
          <a:prstGeom prst="rect">
            <a:avLst/>
          </a:prstGeom>
          <a:noFill/>
          <a:ln w="9525">
            <a:noFill/>
          </a:ln>
        </p:spPr>
        <p:txBody>
          <a:bodyPr>
            <a:spAutoFit/>
          </a:bodyPr>
          <a:p>
            <a:pPr algn="l"/>
            <a:r>
              <a:rPr lang="en-US" altLang="zh-CN" sz="2400" b="0" dirty="0">
                <a:solidFill>
                  <a:srgbClr val="FF0000"/>
                </a:solidFill>
                <a:latin typeface="Tahoma" panose="020B0604030504040204" pitchFamily="34" charset="0"/>
                <a:ea typeface="楷体_GB2312" pitchFamily="49" charset="-122"/>
              </a:rPr>
              <a:t> </a:t>
            </a:r>
            <a:r>
              <a:rPr lang="zh-CN" altLang="en-US" sz="2400" b="1" dirty="0">
                <a:solidFill>
                  <a:srgbClr val="FF0000"/>
                </a:solidFill>
                <a:latin typeface="Tahoma" panose="020B0604030504040204" pitchFamily="34" charset="0"/>
                <a:ea typeface="楷体_GB2312" pitchFamily="49" charset="-122"/>
              </a:rPr>
              <a:t>不同点：</a:t>
            </a:r>
            <a:endParaRPr lang="zh-CN" altLang="en-US" sz="2400" b="1" dirty="0">
              <a:solidFill>
                <a:srgbClr val="FF0000"/>
              </a:solidFill>
              <a:latin typeface="Tahoma" panose="020B0604030504040204" pitchFamily="34" charset="0"/>
              <a:ea typeface="楷体_GB2312" pitchFamily="49" charset="-122"/>
            </a:endParaRPr>
          </a:p>
        </p:txBody>
      </p:sp>
      <p:sp>
        <p:nvSpPr>
          <p:cNvPr id="464903" name="矩形 464902"/>
          <p:cNvSpPr/>
          <p:nvPr/>
        </p:nvSpPr>
        <p:spPr>
          <a:xfrm>
            <a:off x="535623" y="2083753"/>
            <a:ext cx="4787900" cy="1420495"/>
          </a:xfrm>
          <a:prstGeom prst="rect">
            <a:avLst/>
          </a:prstGeom>
          <a:noFill/>
          <a:ln w="9525">
            <a:noFill/>
          </a:ln>
        </p:spPr>
        <p:txBody>
          <a:bodyPr>
            <a:spAutoFit/>
          </a:bodyPr>
          <a:p>
            <a:pPr algn="l">
              <a:lnSpc>
                <a:spcPct val="120000"/>
              </a:lnSpc>
            </a:pPr>
            <a:r>
              <a:rPr lang="zh-CN" altLang="en-US" sz="2400" b="1" dirty="0">
                <a:solidFill>
                  <a:srgbClr val="000066"/>
                </a:solidFill>
                <a:ea typeface="楷体_GB2312" pitchFamily="49" charset="-122"/>
              </a:rPr>
              <a:t>锁存器---在整个高电平时间内或者整个低电平时间内都能够改变输出状态。</a:t>
            </a:r>
            <a:endParaRPr lang="zh-CN" altLang="en-US" sz="2400" b="1" dirty="0">
              <a:solidFill>
                <a:srgbClr val="000066"/>
              </a:solidFill>
              <a:ea typeface="楷体_GB2312" pitchFamily="49" charset="-122"/>
            </a:endParaRPr>
          </a:p>
        </p:txBody>
      </p:sp>
      <p:sp>
        <p:nvSpPr>
          <p:cNvPr id="464904" name="矩形 464903"/>
          <p:cNvSpPr/>
          <p:nvPr/>
        </p:nvSpPr>
        <p:spPr>
          <a:xfrm>
            <a:off x="604520" y="3857943"/>
            <a:ext cx="4967288" cy="1420495"/>
          </a:xfrm>
          <a:prstGeom prst="rect">
            <a:avLst/>
          </a:prstGeom>
          <a:noFill/>
          <a:ln w="9525">
            <a:noFill/>
          </a:ln>
        </p:spPr>
        <p:txBody>
          <a:bodyPr>
            <a:spAutoFit/>
          </a:bodyPr>
          <a:p>
            <a:pPr algn="l">
              <a:lnSpc>
                <a:spcPct val="120000"/>
              </a:lnSpc>
            </a:pPr>
            <a:r>
              <a:rPr lang="zh-CN" altLang="en-US" sz="2400" b="1" dirty="0">
                <a:solidFill>
                  <a:srgbClr val="000066"/>
                </a:solidFill>
                <a:ea typeface="楷体_GB2312" pitchFamily="49" charset="-122"/>
              </a:rPr>
              <a:t>触发器---对脉冲边沿敏感的存储电路，在时钟脉冲的上升沿或下降沿的变化瞬间改变状态。</a:t>
            </a:r>
            <a:endParaRPr lang="zh-CN" altLang="en-US" sz="2400" b="1" dirty="0">
              <a:solidFill>
                <a:srgbClr val="000066"/>
              </a:solidFill>
              <a:ea typeface="楷体_GB2312" pitchFamily="49" charset="-122"/>
            </a:endParaRPr>
          </a:p>
        </p:txBody>
      </p:sp>
      <p:grpSp>
        <p:nvGrpSpPr>
          <p:cNvPr id="464905" name="组合 464904"/>
          <p:cNvGrpSpPr/>
          <p:nvPr/>
        </p:nvGrpSpPr>
        <p:grpSpPr>
          <a:xfrm>
            <a:off x="5323840" y="2178050"/>
            <a:ext cx="3635375" cy="1117600"/>
            <a:chOff x="3334" y="1902"/>
            <a:chExt cx="2268" cy="780"/>
          </a:xfrm>
        </p:grpSpPr>
        <p:graphicFrame>
          <p:nvGraphicFramePr>
            <p:cNvPr id="464906" name="对象 464905"/>
            <p:cNvGraphicFramePr/>
            <p:nvPr/>
          </p:nvGraphicFramePr>
          <p:xfrm>
            <a:off x="3334" y="2356"/>
            <a:ext cx="2245" cy="326"/>
          </p:xfrm>
          <a:graphic>
            <a:graphicData uri="http://schemas.openxmlformats.org/presentationml/2006/ole">
              <mc:AlternateContent xmlns:mc="http://schemas.openxmlformats.org/markup-compatibility/2006">
                <mc:Choice xmlns:v="urn:schemas-microsoft-com:vml" Requires="v">
                  <p:oleObj spid="_x0000_s3077" name="" r:id="rId1" imgW="1627505" imgH="237490" progId="Word.Picture.8">
                    <p:embed/>
                  </p:oleObj>
                </mc:Choice>
                <mc:Fallback>
                  <p:oleObj name="" r:id="rId1" imgW="1627505" imgH="237490" progId="Word.Picture.8">
                    <p:embed/>
                    <p:pic>
                      <p:nvPicPr>
                        <p:cNvPr id="0" name="图片 3076"/>
                        <p:cNvPicPr/>
                        <p:nvPr/>
                      </p:nvPicPr>
                      <p:blipFill>
                        <a:blip r:embed="rId2"/>
                        <a:stretch>
                          <a:fillRect/>
                        </a:stretch>
                      </p:blipFill>
                      <p:spPr>
                        <a:xfrm>
                          <a:off x="3334" y="2356"/>
                          <a:ext cx="2245" cy="326"/>
                        </a:xfrm>
                        <a:prstGeom prst="rect">
                          <a:avLst/>
                        </a:prstGeom>
                        <a:noFill/>
                        <a:ln w="38100">
                          <a:noFill/>
                          <a:miter/>
                        </a:ln>
                      </p:spPr>
                    </p:pic>
                  </p:oleObj>
                </mc:Fallback>
              </mc:AlternateContent>
            </a:graphicData>
          </a:graphic>
        </p:graphicFrame>
        <p:graphicFrame>
          <p:nvGraphicFramePr>
            <p:cNvPr id="464907" name="对象 464906"/>
            <p:cNvGraphicFramePr/>
            <p:nvPr/>
          </p:nvGraphicFramePr>
          <p:xfrm>
            <a:off x="3357" y="1902"/>
            <a:ext cx="2245" cy="326"/>
          </p:xfrm>
          <a:graphic>
            <a:graphicData uri="http://schemas.openxmlformats.org/presentationml/2006/ole">
              <mc:AlternateContent xmlns:mc="http://schemas.openxmlformats.org/markup-compatibility/2006">
                <mc:Choice xmlns:v="urn:schemas-microsoft-com:vml" Requires="v">
                  <p:oleObj spid="_x0000_s3078" name="" r:id="rId3" imgW="1627505" imgH="237490" progId="Word.Picture.8">
                    <p:embed/>
                  </p:oleObj>
                </mc:Choice>
                <mc:Fallback>
                  <p:oleObj name="" r:id="rId3" imgW="1627505" imgH="237490" progId="Word.Picture.8">
                    <p:embed/>
                    <p:pic>
                      <p:nvPicPr>
                        <p:cNvPr id="0" name="图片 3077"/>
                        <p:cNvPicPr/>
                        <p:nvPr/>
                      </p:nvPicPr>
                      <p:blipFill>
                        <a:blip r:embed="rId4"/>
                        <a:stretch>
                          <a:fillRect/>
                        </a:stretch>
                      </p:blipFill>
                      <p:spPr>
                        <a:xfrm>
                          <a:off x="3357" y="1902"/>
                          <a:ext cx="2245" cy="326"/>
                        </a:xfrm>
                        <a:prstGeom prst="rect">
                          <a:avLst/>
                        </a:prstGeom>
                        <a:noFill/>
                        <a:ln w="38100">
                          <a:noFill/>
                          <a:miter/>
                        </a:ln>
                      </p:spPr>
                    </p:pic>
                  </p:oleObj>
                </mc:Fallback>
              </mc:AlternateContent>
            </a:graphicData>
          </a:graphic>
        </p:graphicFrame>
      </p:grpSp>
      <p:grpSp>
        <p:nvGrpSpPr>
          <p:cNvPr id="464908" name="组合 464907"/>
          <p:cNvGrpSpPr/>
          <p:nvPr/>
        </p:nvGrpSpPr>
        <p:grpSpPr>
          <a:xfrm>
            <a:off x="5502275" y="3857943"/>
            <a:ext cx="3419475" cy="1195387"/>
            <a:chOff x="3424" y="2898"/>
            <a:chExt cx="2154" cy="753"/>
          </a:xfrm>
        </p:grpSpPr>
        <p:sp>
          <p:nvSpPr>
            <p:cNvPr id="464909" name="矩形 464908"/>
            <p:cNvSpPr/>
            <p:nvPr/>
          </p:nvSpPr>
          <p:spPr>
            <a:xfrm>
              <a:off x="3424" y="2918"/>
              <a:ext cx="44" cy="211"/>
            </a:xfrm>
            <a:prstGeom prst="rect">
              <a:avLst/>
            </a:prstGeom>
            <a:noFill/>
            <a:ln w="9525">
              <a:noFill/>
            </a:ln>
          </p:spPr>
          <p:txBody>
            <a:bodyPr wrap="none" lIns="0" tIns="0" rIns="0" bIns="0">
              <a:spAutoFit/>
            </a:bodyPr>
            <a:p>
              <a:pPr algn="l"/>
              <a:r>
                <a:rPr lang="en-US" altLang="zh-CN" sz="2200" b="0" dirty="0">
                  <a:solidFill>
                    <a:srgbClr val="000000"/>
                  </a:solidFill>
                  <a:latin typeface="Times New Roman" panose="02020603050405020304" charset="0"/>
                </a:rPr>
                <a:t> </a:t>
              </a:r>
              <a:endParaRPr lang="en-US" altLang="zh-CN" sz="2400" b="0" dirty="0">
                <a:latin typeface="Verdana" panose="020B0604030504040204" pitchFamily="34" charset="0"/>
              </a:endParaRPr>
            </a:p>
          </p:txBody>
        </p:sp>
        <p:sp>
          <p:nvSpPr>
            <p:cNvPr id="464910" name="任意多边形 464909"/>
            <p:cNvSpPr/>
            <p:nvPr/>
          </p:nvSpPr>
          <p:spPr>
            <a:xfrm>
              <a:off x="3637" y="2898"/>
              <a:ext cx="1941" cy="259"/>
            </a:xfrm>
            <a:custGeom>
              <a:avLst/>
              <a:gdLst/>
              <a:ahLst/>
              <a:cxnLst/>
              <a:pathLst>
                <a:path w="1941" h="259">
                  <a:moveTo>
                    <a:pt x="0" y="259"/>
                  </a:moveTo>
                  <a:lnTo>
                    <a:pt x="254" y="259"/>
                  </a:lnTo>
                  <a:lnTo>
                    <a:pt x="254" y="4"/>
                  </a:lnTo>
                  <a:lnTo>
                    <a:pt x="536" y="4"/>
                  </a:lnTo>
                  <a:lnTo>
                    <a:pt x="536" y="251"/>
                  </a:lnTo>
                  <a:lnTo>
                    <a:pt x="822" y="251"/>
                  </a:lnTo>
                  <a:lnTo>
                    <a:pt x="822" y="4"/>
                  </a:lnTo>
                  <a:lnTo>
                    <a:pt x="1095" y="4"/>
                  </a:lnTo>
                  <a:lnTo>
                    <a:pt x="1095" y="251"/>
                  </a:lnTo>
                  <a:lnTo>
                    <a:pt x="1377" y="251"/>
                  </a:lnTo>
                  <a:lnTo>
                    <a:pt x="1377" y="0"/>
                  </a:lnTo>
                  <a:lnTo>
                    <a:pt x="1655" y="0"/>
                  </a:lnTo>
                  <a:lnTo>
                    <a:pt x="1655" y="251"/>
                  </a:lnTo>
                  <a:lnTo>
                    <a:pt x="1941" y="251"/>
                  </a:lnTo>
                </a:path>
              </a:pathLst>
            </a:custGeom>
            <a:noFill/>
            <a:ln w="25400" cap="flat" cmpd="sng">
              <a:solidFill>
                <a:srgbClr val="000000"/>
              </a:solidFill>
              <a:prstDash val="solid"/>
              <a:headEnd type="none" w="med" len="med"/>
              <a:tailEnd type="none" w="med" len="med"/>
            </a:ln>
          </p:spPr>
          <p:txBody>
            <a:bodyPr/>
            <a:p>
              <a:endParaRPr lang="zh-CN" altLang="en-US"/>
            </a:p>
          </p:txBody>
        </p:sp>
        <p:sp>
          <p:nvSpPr>
            <p:cNvPr id="464911" name="任意多边形 464910"/>
            <p:cNvSpPr/>
            <p:nvPr/>
          </p:nvSpPr>
          <p:spPr>
            <a:xfrm>
              <a:off x="3871" y="2935"/>
              <a:ext cx="36" cy="121"/>
            </a:xfrm>
            <a:custGeom>
              <a:avLst/>
              <a:gdLst/>
              <a:ahLst/>
              <a:cxnLst/>
              <a:pathLst>
                <a:path w="36" h="121">
                  <a:moveTo>
                    <a:pt x="16" y="0"/>
                  </a:moveTo>
                  <a:lnTo>
                    <a:pt x="0" y="121"/>
                  </a:lnTo>
                  <a:lnTo>
                    <a:pt x="36" y="121"/>
                  </a:lnTo>
                  <a:lnTo>
                    <a:pt x="16" y="0"/>
                  </a:lnTo>
                  <a:close/>
                </a:path>
              </a:pathLst>
            </a:custGeom>
            <a:solidFill>
              <a:srgbClr val="CC0000"/>
            </a:solidFill>
            <a:ln w="9525">
              <a:noFill/>
            </a:ln>
          </p:spPr>
          <p:txBody>
            <a:bodyPr/>
            <a:p>
              <a:endParaRPr lang="zh-CN" altLang="en-US"/>
            </a:p>
          </p:txBody>
        </p:sp>
        <p:sp>
          <p:nvSpPr>
            <p:cNvPr id="464912" name="任意多边形 464911"/>
            <p:cNvSpPr/>
            <p:nvPr/>
          </p:nvSpPr>
          <p:spPr>
            <a:xfrm>
              <a:off x="3871" y="2935"/>
              <a:ext cx="36" cy="121"/>
            </a:xfrm>
            <a:custGeom>
              <a:avLst/>
              <a:gdLst/>
              <a:ahLst/>
              <a:cxnLst/>
              <a:pathLst>
                <a:path w="36" h="121">
                  <a:moveTo>
                    <a:pt x="16" y="0"/>
                  </a:moveTo>
                  <a:lnTo>
                    <a:pt x="0" y="121"/>
                  </a:lnTo>
                  <a:lnTo>
                    <a:pt x="36" y="121"/>
                  </a:lnTo>
                  <a:lnTo>
                    <a:pt x="16" y="0"/>
                  </a:lnTo>
                  <a:close/>
                </a:path>
              </a:pathLst>
            </a:custGeom>
            <a:noFill/>
            <a:ln w="19050" cap="flat" cmpd="sng">
              <a:solidFill>
                <a:srgbClr val="CC0000"/>
              </a:solidFill>
              <a:prstDash val="solid"/>
              <a:headEnd type="none" w="med" len="med"/>
              <a:tailEnd type="none" w="med" len="med"/>
            </a:ln>
          </p:spPr>
          <p:txBody>
            <a:bodyPr/>
            <a:p>
              <a:endParaRPr lang="zh-CN" altLang="en-US"/>
            </a:p>
          </p:txBody>
        </p:sp>
        <p:sp>
          <p:nvSpPr>
            <p:cNvPr id="464913" name="任意多边形 464912"/>
            <p:cNvSpPr/>
            <p:nvPr/>
          </p:nvSpPr>
          <p:spPr>
            <a:xfrm>
              <a:off x="4439" y="2939"/>
              <a:ext cx="36" cy="117"/>
            </a:xfrm>
            <a:custGeom>
              <a:avLst/>
              <a:gdLst/>
              <a:ahLst/>
              <a:cxnLst/>
              <a:pathLst>
                <a:path w="36" h="117">
                  <a:moveTo>
                    <a:pt x="20" y="0"/>
                  </a:moveTo>
                  <a:lnTo>
                    <a:pt x="0" y="117"/>
                  </a:lnTo>
                  <a:lnTo>
                    <a:pt x="36" y="117"/>
                  </a:lnTo>
                  <a:lnTo>
                    <a:pt x="20" y="0"/>
                  </a:lnTo>
                  <a:close/>
                </a:path>
              </a:pathLst>
            </a:custGeom>
            <a:solidFill>
              <a:srgbClr val="CC0000"/>
            </a:solidFill>
            <a:ln w="9525">
              <a:noFill/>
            </a:ln>
          </p:spPr>
          <p:txBody>
            <a:bodyPr/>
            <a:p>
              <a:endParaRPr lang="zh-CN" altLang="en-US"/>
            </a:p>
          </p:txBody>
        </p:sp>
        <p:sp>
          <p:nvSpPr>
            <p:cNvPr id="464914" name="任意多边形 464913"/>
            <p:cNvSpPr/>
            <p:nvPr/>
          </p:nvSpPr>
          <p:spPr>
            <a:xfrm>
              <a:off x="4439" y="2939"/>
              <a:ext cx="36" cy="117"/>
            </a:xfrm>
            <a:custGeom>
              <a:avLst/>
              <a:gdLst/>
              <a:ahLst/>
              <a:cxnLst/>
              <a:pathLst>
                <a:path w="36" h="117">
                  <a:moveTo>
                    <a:pt x="20" y="0"/>
                  </a:moveTo>
                  <a:lnTo>
                    <a:pt x="0" y="117"/>
                  </a:lnTo>
                  <a:lnTo>
                    <a:pt x="36" y="117"/>
                  </a:lnTo>
                  <a:lnTo>
                    <a:pt x="20" y="0"/>
                  </a:lnTo>
                  <a:close/>
                </a:path>
              </a:pathLst>
            </a:custGeom>
            <a:noFill/>
            <a:ln w="19050" cap="flat" cmpd="sng">
              <a:solidFill>
                <a:srgbClr val="CC0000"/>
              </a:solidFill>
              <a:prstDash val="solid"/>
              <a:headEnd type="none" w="med" len="med"/>
              <a:tailEnd type="none" w="med" len="med"/>
            </a:ln>
          </p:spPr>
          <p:txBody>
            <a:bodyPr/>
            <a:p>
              <a:endParaRPr lang="zh-CN" altLang="en-US"/>
            </a:p>
          </p:txBody>
        </p:sp>
        <p:sp>
          <p:nvSpPr>
            <p:cNvPr id="464915" name="任意多边形 464914"/>
            <p:cNvSpPr/>
            <p:nvPr/>
          </p:nvSpPr>
          <p:spPr>
            <a:xfrm>
              <a:off x="4994" y="2939"/>
              <a:ext cx="40" cy="117"/>
            </a:xfrm>
            <a:custGeom>
              <a:avLst/>
              <a:gdLst/>
              <a:ahLst/>
              <a:cxnLst/>
              <a:pathLst>
                <a:path w="40" h="117">
                  <a:moveTo>
                    <a:pt x="20" y="0"/>
                  </a:moveTo>
                  <a:lnTo>
                    <a:pt x="0" y="117"/>
                  </a:lnTo>
                  <a:lnTo>
                    <a:pt x="40" y="117"/>
                  </a:lnTo>
                  <a:lnTo>
                    <a:pt x="20" y="0"/>
                  </a:lnTo>
                  <a:close/>
                </a:path>
              </a:pathLst>
            </a:custGeom>
            <a:solidFill>
              <a:srgbClr val="CC0000"/>
            </a:solidFill>
            <a:ln w="9525">
              <a:noFill/>
            </a:ln>
          </p:spPr>
          <p:txBody>
            <a:bodyPr/>
            <a:p>
              <a:endParaRPr lang="zh-CN" altLang="en-US"/>
            </a:p>
          </p:txBody>
        </p:sp>
        <p:sp>
          <p:nvSpPr>
            <p:cNvPr id="464916" name="任意多边形 464915"/>
            <p:cNvSpPr/>
            <p:nvPr/>
          </p:nvSpPr>
          <p:spPr>
            <a:xfrm>
              <a:off x="4994" y="2939"/>
              <a:ext cx="40" cy="117"/>
            </a:xfrm>
            <a:custGeom>
              <a:avLst/>
              <a:gdLst/>
              <a:ahLst/>
              <a:cxnLst/>
              <a:pathLst>
                <a:path w="40" h="117">
                  <a:moveTo>
                    <a:pt x="20" y="0"/>
                  </a:moveTo>
                  <a:lnTo>
                    <a:pt x="0" y="117"/>
                  </a:lnTo>
                  <a:lnTo>
                    <a:pt x="40" y="117"/>
                  </a:lnTo>
                  <a:lnTo>
                    <a:pt x="20" y="0"/>
                  </a:lnTo>
                  <a:close/>
                </a:path>
              </a:pathLst>
            </a:custGeom>
            <a:noFill/>
            <a:ln w="19050" cap="flat" cmpd="sng">
              <a:solidFill>
                <a:srgbClr val="CC0000"/>
              </a:solidFill>
              <a:prstDash val="solid"/>
              <a:headEnd type="none" w="med" len="med"/>
              <a:tailEnd type="none" w="med" len="med"/>
            </a:ln>
          </p:spPr>
          <p:txBody>
            <a:bodyPr/>
            <a:p>
              <a:endParaRPr lang="zh-CN" altLang="en-US"/>
            </a:p>
          </p:txBody>
        </p:sp>
        <p:sp>
          <p:nvSpPr>
            <p:cNvPr id="464917" name="任意多边形 464916"/>
            <p:cNvSpPr/>
            <p:nvPr/>
          </p:nvSpPr>
          <p:spPr>
            <a:xfrm>
              <a:off x="3637" y="3385"/>
              <a:ext cx="1941" cy="259"/>
            </a:xfrm>
            <a:custGeom>
              <a:avLst/>
              <a:gdLst/>
              <a:ahLst/>
              <a:cxnLst/>
              <a:pathLst>
                <a:path w="1941" h="259">
                  <a:moveTo>
                    <a:pt x="0" y="259"/>
                  </a:moveTo>
                  <a:lnTo>
                    <a:pt x="254" y="259"/>
                  </a:lnTo>
                  <a:lnTo>
                    <a:pt x="254" y="4"/>
                  </a:lnTo>
                  <a:lnTo>
                    <a:pt x="536" y="4"/>
                  </a:lnTo>
                  <a:lnTo>
                    <a:pt x="536" y="251"/>
                  </a:lnTo>
                  <a:lnTo>
                    <a:pt x="822" y="251"/>
                  </a:lnTo>
                  <a:lnTo>
                    <a:pt x="822" y="4"/>
                  </a:lnTo>
                  <a:lnTo>
                    <a:pt x="1095" y="4"/>
                  </a:lnTo>
                  <a:lnTo>
                    <a:pt x="1095" y="251"/>
                  </a:lnTo>
                  <a:lnTo>
                    <a:pt x="1377" y="251"/>
                  </a:lnTo>
                  <a:lnTo>
                    <a:pt x="1377" y="0"/>
                  </a:lnTo>
                  <a:lnTo>
                    <a:pt x="1655" y="0"/>
                  </a:lnTo>
                  <a:lnTo>
                    <a:pt x="1655" y="251"/>
                  </a:lnTo>
                  <a:lnTo>
                    <a:pt x="1941" y="251"/>
                  </a:lnTo>
                </a:path>
              </a:pathLst>
            </a:custGeom>
            <a:noFill/>
            <a:ln w="25400" cap="flat" cmpd="sng">
              <a:solidFill>
                <a:srgbClr val="000000"/>
              </a:solidFill>
              <a:prstDash val="solid"/>
              <a:headEnd type="none" w="med" len="med"/>
              <a:tailEnd type="none" w="med" len="med"/>
            </a:ln>
          </p:spPr>
          <p:txBody>
            <a:bodyPr/>
            <a:p>
              <a:endParaRPr lang="zh-CN" altLang="en-US"/>
            </a:p>
          </p:txBody>
        </p:sp>
        <p:sp>
          <p:nvSpPr>
            <p:cNvPr id="464918" name="任意多边形 464917"/>
            <p:cNvSpPr/>
            <p:nvPr/>
          </p:nvSpPr>
          <p:spPr>
            <a:xfrm>
              <a:off x="4153" y="3478"/>
              <a:ext cx="40" cy="117"/>
            </a:xfrm>
            <a:custGeom>
              <a:avLst/>
              <a:gdLst/>
              <a:ahLst/>
              <a:cxnLst/>
              <a:pathLst>
                <a:path w="40" h="117">
                  <a:moveTo>
                    <a:pt x="20" y="117"/>
                  </a:moveTo>
                  <a:lnTo>
                    <a:pt x="0" y="0"/>
                  </a:lnTo>
                  <a:lnTo>
                    <a:pt x="40" y="0"/>
                  </a:lnTo>
                  <a:lnTo>
                    <a:pt x="20" y="117"/>
                  </a:lnTo>
                  <a:close/>
                </a:path>
              </a:pathLst>
            </a:custGeom>
            <a:solidFill>
              <a:srgbClr val="CC0000"/>
            </a:solidFill>
            <a:ln w="9525">
              <a:noFill/>
            </a:ln>
          </p:spPr>
          <p:txBody>
            <a:bodyPr/>
            <a:p>
              <a:endParaRPr lang="zh-CN" altLang="en-US"/>
            </a:p>
          </p:txBody>
        </p:sp>
        <p:sp>
          <p:nvSpPr>
            <p:cNvPr id="464919" name="任意多边形 464918"/>
            <p:cNvSpPr/>
            <p:nvPr/>
          </p:nvSpPr>
          <p:spPr>
            <a:xfrm>
              <a:off x="4153" y="3478"/>
              <a:ext cx="40" cy="117"/>
            </a:xfrm>
            <a:custGeom>
              <a:avLst/>
              <a:gdLst/>
              <a:ahLst/>
              <a:cxnLst/>
              <a:pathLst>
                <a:path w="40" h="117">
                  <a:moveTo>
                    <a:pt x="20" y="117"/>
                  </a:moveTo>
                  <a:lnTo>
                    <a:pt x="0" y="0"/>
                  </a:lnTo>
                  <a:lnTo>
                    <a:pt x="40" y="0"/>
                  </a:lnTo>
                  <a:lnTo>
                    <a:pt x="20" y="117"/>
                  </a:lnTo>
                  <a:close/>
                </a:path>
              </a:pathLst>
            </a:custGeom>
            <a:noFill/>
            <a:ln w="19050" cap="flat" cmpd="sng">
              <a:solidFill>
                <a:srgbClr val="CC0000"/>
              </a:solidFill>
              <a:prstDash val="solid"/>
              <a:headEnd type="none" w="med" len="med"/>
              <a:tailEnd type="none" w="med" len="med"/>
            </a:ln>
          </p:spPr>
          <p:txBody>
            <a:bodyPr/>
            <a:p>
              <a:endParaRPr lang="zh-CN" altLang="en-US"/>
            </a:p>
          </p:txBody>
        </p:sp>
        <p:sp>
          <p:nvSpPr>
            <p:cNvPr id="464920" name="任意多边形 464919"/>
            <p:cNvSpPr/>
            <p:nvPr/>
          </p:nvSpPr>
          <p:spPr>
            <a:xfrm>
              <a:off x="4712" y="3478"/>
              <a:ext cx="37" cy="117"/>
            </a:xfrm>
            <a:custGeom>
              <a:avLst/>
              <a:gdLst/>
              <a:ahLst/>
              <a:cxnLst/>
              <a:pathLst>
                <a:path w="37" h="117">
                  <a:moveTo>
                    <a:pt x="16" y="117"/>
                  </a:moveTo>
                  <a:lnTo>
                    <a:pt x="0" y="0"/>
                  </a:lnTo>
                  <a:lnTo>
                    <a:pt x="37" y="0"/>
                  </a:lnTo>
                  <a:lnTo>
                    <a:pt x="16" y="117"/>
                  </a:lnTo>
                  <a:close/>
                </a:path>
              </a:pathLst>
            </a:custGeom>
            <a:solidFill>
              <a:srgbClr val="CC0000"/>
            </a:solidFill>
            <a:ln w="9525">
              <a:noFill/>
            </a:ln>
          </p:spPr>
          <p:txBody>
            <a:bodyPr/>
            <a:p>
              <a:endParaRPr lang="zh-CN" altLang="en-US"/>
            </a:p>
          </p:txBody>
        </p:sp>
        <p:sp>
          <p:nvSpPr>
            <p:cNvPr id="464921" name="任意多边形 464920"/>
            <p:cNvSpPr/>
            <p:nvPr/>
          </p:nvSpPr>
          <p:spPr>
            <a:xfrm>
              <a:off x="4712" y="3478"/>
              <a:ext cx="37" cy="117"/>
            </a:xfrm>
            <a:custGeom>
              <a:avLst/>
              <a:gdLst/>
              <a:ahLst/>
              <a:cxnLst/>
              <a:pathLst>
                <a:path w="37" h="117">
                  <a:moveTo>
                    <a:pt x="16" y="117"/>
                  </a:moveTo>
                  <a:lnTo>
                    <a:pt x="0" y="0"/>
                  </a:lnTo>
                  <a:lnTo>
                    <a:pt x="37" y="0"/>
                  </a:lnTo>
                  <a:lnTo>
                    <a:pt x="16" y="117"/>
                  </a:lnTo>
                  <a:close/>
                </a:path>
              </a:pathLst>
            </a:custGeom>
            <a:noFill/>
            <a:ln w="19050" cap="flat" cmpd="sng">
              <a:solidFill>
                <a:srgbClr val="CC0000"/>
              </a:solidFill>
              <a:prstDash val="solid"/>
              <a:headEnd type="none" w="med" len="med"/>
              <a:tailEnd type="none" w="med" len="med"/>
            </a:ln>
          </p:spPr>
          <p:txBody>
            <a:bodyPr/>
            <a:p>
              <a:endParaRPr lang="zh-CN" altLang="en-US"/>
            </a:p>
          </p:txBody>
        </p:sp>
        <p:sp>
          <p:nvSpPr>
            <p:cNvPr id="464922" name="任意多边形 464921"/>
            <p:cNvSpPr/>
            <p:nvPr/>
          </p:nvSpPr>
          <p:spPr>
            <a:xfrm>
              <a:off x="5276" y="3478"/>
              <a:ext cx="36" cy="117"/>
            </a:xfrm>
            <a:custGeom>
              <a:avLst/>
              <a:gdLst/>
              <a:ahLst/>
              <a:cxnLst/>
              <a:pathLst>
                <a:path w="36" h="117">
                  <a:moveTo>
                    <a:pt x="16" y="117"/>
                  </a:moveTo>
                  <a:lnTo>
                    <a:pt x="0" y="0"/>
                  </a:lnTo>
                  <a:lnTo>
                    <a:pt x="36" y="0"/>
                  </a:lnTo>
                  <a:lnTo>
                    <a:pt x="16" y="117"/>
                  </a:lnTo>
                  <a:close/>
                </a:path>
              </a:pathLst>
            </a:custGeom>
            <a:solidFill>
              <a:srgbClr val="CC0000"/>
            </a:solidFill>
            <a:ln w="9525">
              <a:noFill/>
            </a:ln>
          </p:spPr>
          <p:txBody>
            <a:bodyPr/>
            <a:p>
              <a:endParaRPr lang="zh-CN" altLang="en-US"/>
            </a:p>
          </p:txBody>
        </p:sp>
        <p:sp>
          <p:nvSpPr>
            <p:cNvPr id="464923" name="任意多边形 464922"/>
            <p:cNvSpPr/>
            <p:nvPr/>
          </p:nvSpPr>
          <p:spPr>
            <a:xfrm>
              <a:off x="5276" y="3478"/>
              <a:ext cx="36" cy="117"/>
            </a:xfrm>
            <a:custGeom>
              <a:avLst/>
              <a:gdLst/>
              <a:ahLst/>
              <a:cxnLst/>
              <a:pathLst>
                <a:path w="36" h="117">
                  <a:moveTo>
                    <a:pt x="16" y="117"/>
                  </a:moveTo>
                  <a:lnTo>
                    <a:pt x="0" y="0"/>
                  </a:lnTo>
                  <a:lnTo>
                    <a:pt x="36" y="0"/>
                  </a:lnTo>
                  <a:lnTo>
                    <a:pt x="16" y="117"/>
                  </a:lnTo>
                  <a:close/>
                </a:path>
              </a:pathLst>
            </a:custGeom>
            <a:noFill/>
            <a:ln w="19050" cap="flat" cmpd="sng">
              <a:solidFill>
                <a:srgbClr val="CC0000"/>
              </a:solidFill>
              <a:prstDash val="solid"/>
              <a:headEnd type="none" w="med" len="med"/>
              <a:tailEnd type="none" w="med" len="med"/>
            </a:ln>
          </p:spPr>
          <p:txBody>
            <a:bodyPr/>
            <a:p>
              <a:endParaRPr lang="zh-CN" altLang="en-US"/>
            </a:p>
          </p:txBody>
        </p:sp>
        <p:sp>
          <p:nvSpPr>
            <p:cNvPr id="464924" name="矩形 464923"/>
            <p:cNvSpPr/>
            <p:nvPr/>
          </p:nvSpPr>
          <p:spPr>
            <a:xfrm>
              <a:off x="3424" y="2995"/>
              <a:ext cx="232" cy="182"/>
            </a:xfrm>
            <a:prstGeom prst="rect">
              <a:avLst/>
            </a:prstGeom>
            <a:noFill/>
            <a:ln w="9525">
              <a:noFill/>
            </a:ln>
          </p:spPr>
          <p:txBody>
            <a:bodyPr wrap="none" lIns="0" tIns="0" rIns="0" bIns="0">
              <a:spAutoFit/>
            </a:bodyPr>
            <a:p>
              <a:pPr algn="l"/>
              <a:r>
                <a:rPr lang="en-US" altLang="zh-CN" sz="1900" i="1">
                  <a:solidFill>
                    <a:srgbClr val="000000"/>
                  </a:solidFill>
                  <a:latin typeface="Times New Roman" panose="02020603050405020304" charset="0"/>
                </a:rPr>
                <a:t>CP</a:t>
              </a:r>
              <a:r>
                <a:rPr lang="en-US" altLang="zh-CN" sz="1900" b="0" i="1">
                  <a:solidFill>
                    <a:srgbClr val="000000"/>
                  </a:solidFill>
                  <a:latin typeface="Times New Roman" panose="02020603050405020304" charset="0"/>
                </a:rPr>
                <a:t> </a:t>
              </a:r>
              <a:endParaRPr lang="en-US" altLang="zh-CN" sz="2400" b="0">
                <a:latin typeface="Verdana" panose="020B0604030504040204" pitchFamily="34" charset="0"/>
              </a:endParaRPr>
            </a:p>
          </p:txBody>
        </p:sp>
        <p:sp>
          <p:nvSpPr>
            <p:cNvPr id="464925" name="矩形 464924"/>
            <p:cNvSpPr/>
            <p:nvPr/>
          </p:nvSpPr>
          <p:spPr>
            <a:xfrm>
              <a:off x="3686" y="2995"/>
              <a:ext cx="38" cy="182"/>
            </a:xfrm>
            <a:prstGeom prst="rect">
              <a:avLst/>
            </a:prstGeom>
            <a:noFill/>
            <a:ln w="9525">
              <a:noFill/>
            </a:ln>
          </p:spPr>
          <p:txBody>
            <a:bodyPr wrap="none" lIns="0" tIns="0" rIns="0" bIns="0">
              <a:spAutoFit/>
            </a:bodyPr>
            <a:p>
              <a:pPr algn="l"/>
              <a:r>
                <a:rPr lang="en-US" altLang="zh-CN" sz="1900" b="0" i="1" dirty="0">
                  <a:solidFill>
                    <a:srgbClr val="000000"/>
                  </a:solidFill>
                  <a:latin typeface="Times New Roman" panose="02020603050405020304" charset="0"/>
                </a:rPr>
                <a:t> </a:t>
              </a:r>
              <a:endParaRPr lang="en-US" altLang="zh-CN" sz="2400" b="0" dirty="0">
                <a:latin typeface="Verdana" panose="020B0604030504040204" pitchFamily="34" charset="0"/>
              </a:endParaRPr>
            </a:p>
          </p:txBody>
        </p:sp>
        <p:sp>
          <p:nvSpPr>
            <p:cNvPr id="464926" name="矩形 464925"/>
            <p:cNvSpPr/>
            <p:nvPr/>
          </p:nvSpPr>
          <p:spPr>
            <a:xfrm>
              <a:off x="3424" y="3469"/>
              <a:ext cx="232" cy="182"/>
            </a:xfrm>
            <a:prstGeom prst="rect">
              <a:avLst/>
            </a:prstGeom>
            <a:noFill/>
            <a:ln w="9525">
              <a:noFill/>
            </a:ln>
          </p:spPr>
          <p:txBody>
            <a:bodyPr wrap="none" lIns="0" tIns="0" rIns="0" bIns="0">
              <a:spAutoFit/>
            </a:bodyPr>
            <a:p>
              <a:pPr algn="l"/>
              <a:r>
                <a:rPr lang="en-US" altLang="zh-CN" sz="1900" i="1">
                  <a:solidFill>
                    <a:srgbClr val="000000"/>
                  </a:solidFill>
                  <a:latin typeface="Times New Roman" panose="02020603050405020304" charset="0"/>
                </a:rPr>
                <a:t>CP</a:t>
              </a:r>
              <a:r>
                <a:rPr lang="en-US" altLang="zh-CN" sz="1900" b="0" i="1">
                  <a:solidFill>
                    <a:srgbClr val="000000"/>
                  </a:solidFill>
                  <a:latin typeface="Times New Roman" panose="02020603050405020304" charset="0"/>
                </a:rPr>
                <a:t> </a:t>
              </a:r>
              <a:endParaRPr lang="en-US" altLang="zh-CN" sz="2400" b="0">
                <a:latin typeface="Verdana" panose="020B0604030504040204" pitchFamily="34" charset="0"/>
              </a:endParaRPr>
            </a:p>
          </p:txBody>
        </p:sp>
        <p:sp>
          <p:nvSpPr>
            <p:cNvPr id="464927" name="矩形 464926"/>
            <p:cNvSpPr/>
            <p:nvPr/>
          </p:nvSpPr>
          <p:spPr>
            <a:xfrm>
              <a:off x="3686" y="3469"/>
              <a:ext cx="38" cy="182"/>
            </a:xfrm>
            <a:prstGeom prst="rect">
              <a:avLst/>
            </a:prstGeom>
            <a:noFill/>
            <a:ln w="9525">
              <a:noFill/>
            </a:ln>
          </p:spPr>
          <p:txBody>
            <a:bodyPr wrap="none" lIns="0" tIns="0" rIns="0" bIns="0">
              <a:spAutoFit/>
            </a:bodyPr>
            <a:p>
              <a:pPr algn="l"/>
              <a:r>
                <a:rPr lang="en-US" altLang="zh-CN" sz="1900" b="0" i="1" dirty="0">
                  <a:solidFill>
                    <a:srgbClr val="000000"/>
                  </a:solidFill>
                  <a:latin typeface="Times New Roman" panose="02020603050405020304" charset="0"/>
                </a:rPr>
                <a:t> </a:t>
              </a:r>
              <a:endParaRPr lang="en-US" altLang="zh-CN" sz="2400" b="0" dirty="0">
                <a:latin typeface="Verdana" panose="020B0604030504040204" pitchFamily="34" charset="0"/>
              </a:endParaRPr>
            </a:p>
          </p:txBody>
        </p:sp>
        <p:sp>
          <p:nvSpPr>
            <p:cNvPr id="464928" name="直接连接符 464927"/>
            <p:cNvSpPr/>
            <p:nvPr/>
          </p:nvSpPr>
          <p:spPr>
            <a:xfrm>
              <a:off x="3452" y="3462"/>
              <a:ext cx="157" cy="1"/>
            </a:xfrm>
            <a:prstGeom prst="line">
              <a:avLst/>
            </a:prstGeom>
            <a:ln w="12700" cap="flat" cmpd="sng">
              <a:solidFill>
                <a:srgbClr val="000000"/>
              </a:solidFill>
              <a:prstDash val="solid"/>
              <a:headEnd type="none" w="med" len="med"/>
              <a:tailEnd type="none" w="med" len="med"/>
            </a:ln>
          </p:spPr>
        </p:sp>
      </p:gr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4903"/>
                                        </p:tgtEl>
                                        <p:attrNameLst>
                                          <p:attrName>style.visibility</p:attrName>
                                        </p:attrNameLst>
                                      </p:cBhvr>
                                      <p:to>
                                        <p:strVal val="visible"/>
                                      </p:to>
                                    </p:set>
                                    <p:animEffect transition="in" filter="wipe(up)">
                                      <p:cBhvr>
                                        <p:cTn id="7" dur="500"/>
                                        <p:tgtEl>
                                          <p:spTgt spid="464903"/>
                                        </p:tgtEl>
                                      </p:cBhvr>
                                    </p:animEffect>
                                  </p:childTnLst>
                                </p:cTn>
                              </p:par>
                            </p:childTnLst>
                          </p:cTn>
                        </p:par>
                        <p:par>
                          <p:cTn id="8" fill="hold">
                            <p:stCondLst>
                              <p:cond delay="500"/>
                            </p:stCondLst>
                            <p:childTnLst>
                              <p:par>
                                <p:cTn id="9" presetID="22" presetClass="entr" presetSubtype="8" fill="hold" nodeType="afterEffect">
                                  <p:stCondLst>
                                    <p:cond delay="1000"/>
                                  </p:stCondLst>
                                  <p:childTnLst>
                                    <p:set>
                                      <p:cBhvr>
                                        <p:cTn id="10" dur="1" fill="hold">
                                          <p:stCondLst>
                                            <p:cond delay="0"/>
                                          </p:stCondLst>
                                        </p:cTn>
                                        <p:tgtEl>
                                          <p:spTgt spid="464905"/>
                                        </p:tgtEl>
                                        <p:attrNameLst>
                                          <p:attrName>style.visibility</p:attrName>
                                        </p:attrNameLst>
                                      </p:cBhvr>
                                      <p:to>
                                        <p:strVal val="visible"/>
                                      </p:to>
                                    </p:set>
                                    <p:animEffect transition="in" filter="wipe(left)">
                                      <p:cBhvr>
                                        <p:cTn id="11" dur="500"/>
                                        <p:tgtEl>
                                          <p:spTgt spid="46490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64904"/>
                                        </p:tgtEl>
                                        <p:attrNameLst>
                                          <p:attrName>style.visibility</p:attrName>
                                        </p:attrNameLst>
                                      </p:cBhvr>
                                      <p:to>
                                        <p:strVal val="visible"/>
                                      </p:to>
                                    </p:set>
                                    <p:animEffect transition="in" filter="wipe(up)">
                                      <p:cBhvr>
                                        <p:cTn id="16" dur="500"/>
                                        <p:tgtEl>
                                          <p:spTgt spid="464904"/>
                                        </p:tgtEl>
                                      </p:cBhvr>
                                    </p:animEffect>
                                  </p:childTnLst>
                                </p:cTn>
                              </p:par>
                            </p:childTnLst>
                          </p:cTn>
                        </p:par>
                        <p:par>
                          <p:cTn id="17" fill="hold">
                            <p:stCondLst>
                              <p:cond delay="500"/>
                            </p:stCondLst>
                            <p:childTnLst>
                              <p:par>
                                <p:cTn id="18" presetID="22" presetClass="entr" presetSubtype="8" fill="hold" nodeType="afterEffect">
                                  <p:stCondLst>
                                    <p:cond delay="1000"/>
                                  </p:stCondLst>
                                  <p:childTnLst>
                                    <p:set>
                                      <p:cBhvr>
                                        <p:cTn id="19" dur="1" fill="hold">
                                          <p:stCondLst>
                                            <p:cond delay="0"/>
                                          </p:stCondLst>
                                        </p:cTn>
                                        <p:tgtEl>
                                          <p:spTgt spid="464908"/>
                                        </p:tgtEl>
                                        <p:attrNameLst>
                                          <p:attrName>style.visibility</p:attrName>
                                        </p:attrNameLst>
                                      </p:cBhvr>
                                      <p:to>
                                        <p:strVal val="visible"/>
                                      </p:to>
                                    </p:set>
                                    <p:animEffect transition="in" filter="wipe(left)">
                                      <p:cBhvr>
                                        <p:cTn id="20" dur="500"/>
                                        <p:tgtEl>
                                          <p:spTgt spid="464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3" grpId="0"/>
      <p:bldP spid="46490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5.1 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98355" name="矩形 398354"/>
          <p:cNvSpPr/>
          <p:nvPr/>
        </p:nvSpPr>
        <p:spPr>
          <a:xfrm>
            <a:off x="1235075" y="1711960"/>
            <a:ext cx="7678420" cy="460375"/>
          </a:xfrm>
          <a:prstGeom prst="rect">
            <a:avLst/>
          </a:prstGeom>
          <a:noFill/>
          <a:ln w="9525">
            <a:noFill/>
          </a:ln>
        </p:spPr>
        <p:txBody>
          <a:bodyPr wrap="square">
            <a:spAutoFit/>
          </a:bodyPr>
          <a:p>
            <a:pPr algn="l"/>
            <a:r>
              <a:rPr lang="zh-CN" altLang="en-US" sz="2400" b="1" dirty="0">
                <a:solidFill>
                  <a:srgbClr val="000066"/>
                </a:solidFill>
                <a:ea typeface="楷体_GB2312" pitchFamily="49" charset="-122"/>
                <a:sym typeface="+mn-ea"/>
              </a:rPr>
              <a:t>锁存器</a:t>
            </a:r>
            <a:r>
              <a:rPr lang="zh-CN" altLang="en-US" sz="2400" b="1" dirty="0">
                <a:solidFill>
                  <a:srgbClr val="000066"/>
                </a:solidFill>
                <a:ea typeface="楷体_GB2312" pitchFamily="49" charset="-122"/>
              </a:rPr>
              <a:t>分为基本</a:t>
            </a:r>
            <a:r>
              <a:rPr lang="zh-CN" altLang="en-US" sz="2400" b="1" i="1" dirty="0">
                <a:solidFill>
                  <a:srgbClr val="000066"/>
                </a:solidFill>
                <a:ea typeface="楷体_GB2312" pitchFamily="49" charset="-122"/>
              </a:rPr>
              <a:t>RS</a:t>
            </a:r>
            <a:r>
              <a:rPr lang="zh-CN" altLang="en-US" sz="2400" b="1" dirty="0">
                <a:solidFill>
                  <a:srgbClr val="000066"/>
                </a:solidFill>
                <a:ea typeface="楷体_GB2312" pitchFamily="49" charset="-122"/>
              </a:rPr>
              <a:t>锁存器、钟控锁存器。 </a:t>
            </a:r>
            <a:endParaRPr lang="zh-CN" altLang="en-US" sz="2400" b="0" dirty="0">
              <a:solidFill>
                <a:srgbClr val="000066"/>
              </a:solidFill>
              <a:latin typeface="楷体_GB2312" pitchFamily="49" charset="-122"/>
              <a:ea typeface="楷体_GB2312" pitchFamily="49" charset="-122"/>
            </a:endParaRPr>
          </a:p>
        </p:txBody>
      </p:sp>
      <p:sp>
        <p:nvSpPr>
          <p:cNvPr id="10" name="文本框 9"/>
          <p:cNvSpPr txBox="1"/>
          <p:nvPr/>
        </p:nvSpPr>
        <p:spPr>
          <a:xfrm>
            <a:off x="603885" y="2331085"/>
            <a:ext cx="8167370" cy="1198880"/>
          </a:xfrm>
          <a:prstGeom prst="rect">
            <a:avLst/>
          </a:prstGeom>
          <a:noFill/>
        </p:spPr>
        <p:txBody>
          <a:bodyPr wrap="square" rtlCol="0">
            <a:spAutoFit/>
          </a:bodyPr>
          <a:p>
            <a:pPr>
              <a:lnSpc>
                <a:spcPct val="150000"/>
              </a:lnSpc>
            </a:pPr>
            <a:r>
              <a:rPr lang="en-US" altLang="zh-CN" sz="2400" b="1" dirty="0">
                <a:solidFill>
                  <a:srgbClr val="000066"/>
                </a:solidFill>
                <a:latin typeface="Times New Roman" panose="02020603050405020304" charset="0"/>
                <a:ea typeface="楷体_GB2312" pitchFamily="49" charset="-122"/>
                <a:cs typeface="Times New Roman" panose="02020603050405020304" charset="0"/>
              </a:rPr>
              <a:t>       </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触发器可以分为</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RS</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触发器、</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JK</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触发器、</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D</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触发器、</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T</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触发器和</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T'</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 触发器。</a:t>
            </a:r>
            <a:endParaRPr lang="zh-CN" altLang="en-US" sz="2400" b="1" dirty="0">
              <a:solidFill>
                <a:srgbClr val="000066"/>
              </a:solidFill>
              <a:latin typeface="Times New Roman" panose="02020603050405020304" charset="0"/>
              <a:ea typeface="楷体_GB2312" pitchFamily="49" charset="-122"/>
              <a:cs typeface="Times New Roman" panose="02020603050405020304" charset="0"/>
            </a:endParaRPr>
          </a:p>
        </p:txBody>
      </p:sp>
      <p:sp>
        <p:nvSpPr>
          <p:cNvPr id="100" name="文本框 99"/>
          <p:cNvSpPr txBox="1"/>
          <p:nvPr/>
        </p:nvSpPr>
        <p:spPr>
          <a:xfrm>
            <a:off x="661035" y="3586480"/>
            <a:ext cx="8053070" cy="1124585"/>
          </a:xfrm>
          <a:prstGeom prst="rect">
            <a:avLst/>
          </a:prstGeom>
          <a:noFill/>
          <a:ln w="9525">
            <a:noFill/>
          </a:ln>
        </p:spPr>
        <p:txBody>
          <a:bodyPr wrap="square">
            <a:spAutoFit/>
          </a:bodyPr>
          <a:p>
            <a:pPr indent="266700">
              <a:lnSpc>
                <a:spcPct val="140000"/>
              </a:lnSpc>
            </a:pPr>
            <a:r>
              <a:rPr lang="en-US" altLang="zh-CN" sz="2400" b="1" dirty="0">
                <a:solidFill>
                  <a:srgbClr val="000066"/>
                </a:solidFill>
                <a:latin typeface="Times New Roman" panose="02020603050405020304" charset="0"/>
                <a:ea typeface="楷体_GB2312" pitchFamily="49" charset="-122"/>
                <a:cs typeface="Times New Roman" panose="02020603050405020304" charset="0"/>
              </a:rPr>
              <a:t>    </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触发器逻辑功能的描述方法有：功能表、特性方程、激励表、状态图和波形图。</a:t>
            </a:r>
            <a:endParaRPr lang="zh-CN" altLang="en-US" sz="2400" b="1" dirty="0">
              <a:solidFill>
                <a:srgbClr val="000066"/>
              </a:solidFill>
              <a:latin typeface="Times New Roman" panose="02020603050405020304" charset="0"/>
              <a:ea typeface="楷体_GB2312" pitchFamily="49" charset="-122"/>
              <a:cs typeface="Times New Roman" panose="02020603050405020304" charset="0"/>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000"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142683"/>
            <a:ext cx="5257800" cy="868362"/>
          </a:xfrm>
        </p:spPr>
        <p:txBody>
          <a:bodyPr vert="horz" wrap="square" lIns="91440" tIns="45720" rIns="91440" bIns="45720" anchor="ctr" anchorCtr="0"/>
          <a:p>
            <a:pPr algn="l" eaLnBrk="1" hangingPunct="1"/>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5.2.1</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基本</a:t>
            </a:r>
            <a:r>
              <a:rPr lang="zh-CN" altLang="en-US" sz="2800" dirty="0">
                <a:solidFill>
                  <a:srgbClr val="0070C0"/>
                </a:solidFill>
                <a:latin typeface="Times New Roman" panose="02020603050405020304" charset="0"/>
                <a:ea typeface="黑体" panose="02010609060101010101" pitchFamily="49" charset="-122"/>
                <a:cs typeface="Times New Roman" panose="02020603050405020304" charset="0"/>
              </a:rPr>
              <a:t>RS</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锁存器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6148"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762000" y="1905000"/>
            <a:ext cx="8003540" cy="7899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a:t>
            </a:r>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用与非门组成的基本</a:t>
            </a:r>
            <a:r>
              <a:rPr lang="en-US" sz="2400" b="1" i="1" dirty="0">
                <a:solidFill>
                  <a:srgbClr val="FE09D6"/>
                </a:solidFill>
                <a:latin typeface="Times New Roman" panose="02020603050405020304" charset="0"/>
                <a:ea typeface="楷体_GB2312" pitchFamily="49" charset="-122"/>
                <a:cs typeface="Times New Roman" panose="02020603050405020304" charset="0"/>
                <a:sym typeface="+mn-ea"/>
              </a:rPr>
              <a:t>RS</a:t>
            </a:r>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锁存器</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pic>
        <p:nvPicPr>
          <p:cNvPr id="9339" name="图片 2776"/>
          <p:cNvPicPr>
            <a:picLocks noChangeAspect="1"/>
          </p:cNvPicPr>
          <p:nvPr/>
        </p:nvPicPr>
        <p:blipFill>
          <a:blip r:embed="rId1"/>
          <a:stretch>
            <a:fillRect/>
          </a:stretch>
        </p:blipFill>
        <p:spPr>
          <a:xfrm>
            <a:off x="577850" y="3089910"/>
            <a:ext cx="4601210" cy="2708275"/>
          </a:xfrm>
          <a:prstGeom prst="rect">
            <a:avLst/>
          </a:prstGeom>
          <a:noFill/>
          <a:ln>
            <a:noFill/>
          </a:ln>
        </p:spPr>
      </p:pic>
      <p:sp>
        <p:nvSpPr>
          <p:cNvPr id="5" name="文本框 4"/>
          <p:cNvSpPr txBox="1"/>
          <p:nvPr/>
        </p:nvSpPr>
        <p:spPr>
          <a:xfrm>
            <a:off x="1312545" y="5880735"/>
            <a:ext cx="3284220" cy="337185"/>
          </a:xfrm>
          <a:prstGeom prst="rect">
            <a:avLst/>
          </a:prstGeom>
          <a:noFill/>
          <a:ln w="9525">
            <a:noFill/>
          </a:ln>
        </p:spPr>
        <p:txBody>
          <a:bodyPr wrap="square">
            <a:spAutoFit/>
          </a:bodyPr>
          <a:p>
            <a:r>
              <a:rPr sz="1600">
                <a:ea typeface="宋体" panose="02010600030101010101" pitchFamily="2" charset="-122"/>
              </a:rPr>
              <a:t>图5-1 与非门组成的基本RS锁存器</a:t>
            </a:r>
            <a:endParaRPr sz="1600"/>
          </a:p>
        </p:txBody>
      </p:sp>
      <p:sp>
        <p:nvSpPr>
          <p:cNvPr id="490503" name="矩形 490502"/>
          <p:cNvSpPr/>
          <p:nvPr/>
        </p:nvSpPr>
        <p:spPr>
          <a:xfrm>
            <a:off x="5357495" y="2440305"/>
            <a:ext cx="3735070" cy="1050290"/>
          </a:xfrm>
          <a:prstGeom prst="rect">
            <a:avLst/>
          </a:prstGeom>
          <a:noFill/>
          <a:ln w="9525">
            <a:noFill/>
          </a:ln>
        </p:spPr>
        <p:txBody>
          <a:bodyPr wrap="square" anchor="ctr">
            <a:spAutoFit/>
          </a:bodyPr>
          <a:p>
            <a:pPr algn="l" defTabSz="914400">
              <a:lnSpc>
                <a:spcPct val="130000"/>
              </a:lnSpc>
              <a:tabLst>
                <a:tab pos="5256530" algn="r"/>
              </a:tabLst>
            </a:pPr>
            <a:r>
              <a:rPr lang="zh-CN" altLang="en-US" sz="2400"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初态</a:t>
            </a:r>
            <a:r>
              <a:rPr lang="zh-CN" altLang="en-US" sz="2400" dirty="0">
                <a:solidFill>
                  <a:srgbClr val="000066"/>
                </a:solidFill>
                <a:latin typeface="楷体_GB2312" pitchFamily="49" charset="-122"/>
                <a:ea typeface="楷体_GB2312" pitchFamily="49" charset="-122"/>
              </a:rPr>
              <a:t>：</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R</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S</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信号作用前</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Q</a:t>
            </a:r>
            <a:r>
              <a:rPr lang="zh-CN" altLang="en-US" sz="2400" b="1" dirty="0">
                <a:solidFill>
                  <a:srgbClr val="000066"/>
                </a:solidFill>
                <a:latin typeface="Times New Roman" panose="02020603050405020304" charset="0"/>
                <a:ea typeface="楷体_GB2312" pitchFamily="49" charset="-122"/>
                <a:cs typeface="Times New Roman" panose="02020603050405020304" charset="0"/>
                <a:sym typeface="+mn-ea"/>
              </a:rPr>
              <a:t>端</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的状态,初态用</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Q</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 </a:t>
            </a:r>
            <a:r>
              <a:rPr lang="zh-CN" altLang="en-US" sz="2400" b="1" i="1" baseline="30000" dirty="0">
                <a:solidFill>
                  <a:srgbClr val="000066"/>
                </a:solidFill>
                <a:latin typeface="Times New Roman" panose="02020603050405020304" charset="0"/>
                <a:ea typeface="楷体_GB2312" pitchFamily="49" charset="-122"/>
                <a:cs typeface="Times New Roman" panose="02020603050405020304" charset="0"/>
              </a:rPr>
              <a:t>n</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表示</a:t>
            </a:r>
            <a:endParaRPr lang="zh-CN" altLang="en-US" sz="2400" dirty="0">
              <a:solidFill>
                <a:srgbClr val="000066"/>
              </a:solidFill>
              <a:latin typeface="Times New Roman" panose="02020603050405020304" charset="0"/>
              <a:ea typeface="楷体_GB2312" pitchFamily="49" charset="-122"/>
              <a:cs typeface="Times New Roman" panose="02020603050405020304" charset="0"/>
            </a:endParaRPr>
          </a:p>
        </p:txBody>
      </p:sp>
      <p:sp>
        <p:nvSpPr>
          <p:cNvPr id="490504" name="矩形 490503"/>
          <p:cNvSpPr/>
          <p:nvPr/>
        </p:nvSpPr>
        <p:spPr>
          <a:xfrm>
            <a:off x="5461635" y="3919220"/>
            <a:ext cx="3704590" cy="1050290"/>
          </a:xfrm>
          <a:prstGeom prst="rect">
            <a:avLst/>
          </a:prstGeom>
          <a:noFill/>
          <a:ln w="9525">
            <a:noFill/>
          </a:ln>
        </p:spPr>
        <p:txBody>
          <a:bodyPr wrap="square" anchor="ctr">
            <a:spAutoFit/>
          </a:bodyPr>
          <a:p>
            <a:pPr algn="l" defTabSz="914400">
              <a:lnSpc>
                <a:spcPct val="130000"/>
              </a:lnSpc>
              <a:tabLst>
                <a:tab pos="5256530" algn="r"/>
              </a:tabLst>
            </a:pPr>
            <a:r>
              <a:rPr lang="zh-CN" altLang="en-US" sz="2400" dirty="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cs typeface="Times New Roman" panose="02020603050405020304" charset="0"/>
              </a:rPr>
              <a:t>次态</a:t>
            </a:r>
            <a:r>
              <a:rPr lang="zh-CN" altLang="en-US" sz="2400" dirty="0">
                <a:solidFill>
                  <a:srgbClr val="000066"/>
                </a:solidFill>
                <a:latin typeface="Times New Roman" panose="02020603050405020304" charset="0"/>
                <a:ea typeface="楷体_GB2312" pitchFamily="49" charset="-122"/>
                <a:cs typeface="Times New Roman" panose="02020603050405020304" charset="0"/>
              </a:rPr>
              <a:t>：</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R</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S</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信号作用后</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Q</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端的状态,次态用</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Q </a:t>
            </a:r>
            <a:r>
              <a:rPr lang="zh-CN" altLang="en-US" sz="2400" b="1" i="1" baseline="30000" dirty="0">
                <a:solidFill>
                  <a:srgbClr val="000066"/>
                </a:solidFill>
                <a:latin typeface="Times New Roman" panose="02020603050405020304" charset="0"/>
                <a:ea typeface="楷体_GB2312" pitchFamily="49" charset="-122"/>
                <a:cs typeface="Times New Roman" panose="02020603050405020304" charset="0"/>
              </a:rPr>
              <a:t>n</a:t>
            </a:r>
            <a:r>
              <a:rPr lang="zh-CN" altLang="en-US" sz="2400" b="1" baseline="30000" dirty="0">
                <a:solidFill>
                  <a:srgbClr val="000066"/>
                </a:solidFill>
                <a:latin typeface="Times New Roman" panose="02020603050405020304" charset="0"/>
                <a:ea typeface="楷体_GB2312" pitchFamily="49" charset="-122"/>
                <a:cs typeface="Times New Roman" panose="02020603050405020304" charset="0"/>
              </a:rPr>
              <a:t>+1</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表示</a:t>
            </a:r>
            <a:endParaRPr lang="zh-CN" altLang="en-US" sz="2400" b="1" dirty="0">
              <a:solidFill>
                <a:srgbClr val="000066"/>
              </a:solidFill>
              <a:latin typeface="Times New Roman" panose="02020603050405020304" charset="0"/>
              <a:ea typeface="楷体_GB2312" pitchFamily="49" charset="-122"/>
              <a:cs typeface="Times New Roman" panose="02020603050405020304" charset="0"/>
            </a:endParaRPr>
          </a:p>
        </p:txBody>
      </p:sp>
      <p:sp>
        <p:nvSpPr>
          <p:cNvPr id="4098" name="Rectangle 2"/>
          <p:cNvSpPr/>
          <p:nvPr/>
        </p:nvSpPr>
        <p:spPr>
          <a:xfrm>
            <a:off x="22225" y="6326505"/>
            <a:ext cx="9144000" cy="513080"/>
          </a:xfrm>
          <a:prstGeom prst="rect">
            <a:avLst/>
          </a:prstGeom>
          <a:gradFill rotWithShape="1">
            <a:gsLst>
              <a:gs pos="0">
                <a:schemeClr val="bg1"/>
              </a:gs>
              <a:gs pos="100000">
                <a:srgbClr val="99CCFF"/>
              </a:gs>
            </a:gsLst>
            <a:path path="shape">
              <a:fillToRect l="50000" t="50000" r="50000" b="50000"/>
            </a:path>
            <a:tileRect/>
          </a:gradFill>
          <a:ln w="9525">
            <a:noFill/>
          </a:ln>
        </p:spPr>
        <p:txBody>
          <a:bodyPr wrap="none" anchor="ctr"/>
          <a:p>
            <a:r>
              <a:rPr lang="en-US" altLang="zh-CN" sz="3600" dirty="0">
                <a:solidFill>
                  <a:srgbClr val="E2C9B6"/>
                </a:solidFill>
                <a:latin typeface="Arial" panose="020B0604020202020204" pitchFamily="34" charset="0"/>
              </a:rPr>
              <a:t>   </a:t>
            </a:r>
            <a:br>
              <a:rPr lang="en-US" altLang="zh-CN" sz="4400" dirty="0">
                <a:solidFill>
                  <a:srgbClr val="000000"/>
                </a:solidFill>
                <a:latin typeface="Arial" panose="020B0604020202020204" pitchFamily="34" charset="0"/>
              </a:rPr>
            </a:br>
            <a:endParaRPr lang="en-US" altLang="zh-CN" sz="4400" dirty="0">
              <a:solidFill>
                <a:srgbClr val="000000"/>
              </a:solidFill>
              <a:latin typeface="Arial" panose="020B0604020202020204" pitchFamily="34" charset="0"/>
            </a:endParaRPr>
          </a:p>
        </p:txBody>
      </p:sp>
      <p:sp>
        <p:nvSpPr>
          <p:cNvPr id="492588" name="矩形 492587"/>
          <p:cNvSpPr/>
          <p:nvPr/>
        </p:nvSpPr>
        <p:spPr>
          <a:xfrm>
            <a:off x="635" y="6378575"/>
            <a:ext cx="9144000" cy="460375"/>
          </a:xfrm>
          <a:prstGeom prst="rect">
            <a:avLst/>
          </a:prstGeom>
          <a:noFill/>
          <a:ln w="9525">
            <a:noFill/>
          </a:ln>
        </p:spPr>
        <p:txBody>
          <a:bodyPr wrap="square">
            <a:spAutoFit/>
          </a:bodyPr>
          <a:p>
            <a:pPr algn="l"/>
            <a:r>
              <a:rPr lang="zh-CN" sz="2400" dirty="0">
                <a:solidFill>
                  <a:srgbClr val="FF0000"/>
                </a:solidFill>
                <a:effectLst>
                  <a:outerShdw blurRad="38100" dist="38100" dir="2700000" algn="tl">
                    <a:srgbClr val="000000">
                      <a:alpha val="43137"/>
                    </a:srgbClr>
                  </a:outerShdw>
                </a:effectLst>
                <a:latin typeface="Tahoma" panose="020B0604030504040204" pitchFamily="34" charset="0"/>
                <a:ea typeface="楷体_GB2312" pitchFamily="49" charset="-122"/>
              </a:rPr>
              <a:t>注意：</a:t>
            </a:r>
            <a:r>
              <a:rPr lang="en-US" altLang="zh-CN" sz="2400" i="1">
                <a:solidFill>
                  <a:schemeClr val="tx1"/>
                </a:solidFill>
                <a:effectLst>
                  <a:outerShdw blurRad="38100" dist="38100" dir="2700000" algn="tl">
                    <a:srgbClr val="000000">
                      <a:alpha val="43137"/>
                    </a:srgbClr>
                  </a:outerShdw>
                </a:effectLst>
                <a:latin typeface="Times New Roman" panose="02020603050405020304" charset="0"/>
                <a:sym typeface="+mn-ea"/>
              </a:rPr>
              <a:t>Q </a:t>
            </a:r>
            <a:r>
              <a:rPr lang="en-US" altLang="zh-CN" sz="2400" i="1" baseline="30000">
                <a:solidFill>
                  <a:schemeClr val="tx1"/>
                </a:solidFill>
                <a:effectLst>
                  <a:outerShdw blurRad="38100" dist="38100" dir="2700000" algn="tl">
                    <a:srgbClr val="000000">
                      <a:alpha val="43137"/>
                    </a:srgbClr>
                  </a:outerShdw>
                </a:effectLst>
                <a:latin typeface="Times New Roman" panose="02020603050405020304" charset="0"/>
                <a:sym typeface="+mn-ea"/>
              </a:rPr>
              <a:t>n</a:t>
            </a:r>
            <a:r>
              <a:rPr lang="zh-CN" altLang="en-US" sz="2400"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sym typeface="+mn-ea"/>
              </a:rPr>
              <a:t>和</a:t>
            </a:r>
            <a:r>
              <a:rPr lang="en-US" altLang="zh-CN" sz="2400" i="1">
                <a:solidFill>
                  <a:schemeClr val="tx1"/>
                </a:solidFill>
                <a:effectLst>
                  <a:outerShdw blurRad="38100" dist="38100" dir="2700000" algn="tl">
                    <a:srgbClr val="000000">
                      <a:alpha val="43137"/>
                    </a:srgbClr>
                  </a:outerShdw>
                </a:effectLst>
                <a:latin typeface="Times New Roman" panose="02020603050405020304" charset="0"/>
                <a:sym typeface="+mn-ea"/>
              </a:rPr>
              <a:t>Q </a:t>
            </a:r>
            <a:r>
              <a:rPr lang="en-US" altLang="zh-CN" sz="2400" i="1" baseline="30000">
                <a:solidFill>
                  <a:schemeClr val="tx1"/>
                </a:solidFill>
                <a:effectLst>
                  <a:outerShdw blurRad="38100" dist="38100" dir="2700000" algn="tl">
                    <a:srgbClr val="000000">
                      <a:alpha val="43137"/>
                    </a:srgbClr>
                  </a:outerShdw>
                </a:effectLst>
                <a:latin typeface="Times New Roman" panose="02020603050405020304" charset="0"/>
                <a:sym typeface="+mn-ea"/>
              </a:rPr>
              <a:t>n</a:t>
            </a:r>
            <a:r>
              <a:rPr lang="en-US" altLang="zh-CN" sz="2400" baseline="30000">
                <a:solidFill>
                  <a:schemeClr val="tx1"/>
                </a:solidFill>
                <a:effectLst>
                  <a:outerShdw blurRad="38100" dist="38100" dir="2700000" algn="tl">
                    <a:srgbClr val="000000">
                      <a:alpha val="43137"/>
                    </a:srgbClr>
                  </a:outerShdw>
                </a:effectLst>
                <a:latin typeface="Times New Roman" panose="02020603050405020304" charset="0"/>
                <a:sym typeface="+mn-ea"/>
              </a:rPr>
              <a:t>+1</a:t>
            </a:r>
            <a:r>
              <a:rPr lang="zh-CN" altLang="en-US" sz="2400"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sym typeface="+mn-ea"/>
              </a:rPr>
              <a:t>是</a:t>
            </a:r>
            <a:r>
              <a:rPr lang="zh-CN" altLang="en-US" sz="2400" dirty="0">
                <a:solidFill>
                  <a:srgbClr val="000066"/>
                </a:solidFill>
                <a:latin typeface="楷体_GB2312" pitchFamily="49" charset="-122"/>
                <a:ea typeface="楷体_GB2312" pitchFamily="49" charset="-122"/>
                <a:sym typeface="+mn-ea"/>
              </a:rPr>
              <a:t>信号作用前和信号作用后同一个输出</a:t>
            </a:r>
            <a:r>
              <a:rPr lang="en-US" altLang="zh-CN" sz="2400" i="1">
                <a:solidFill>
                  <a:srgbClr val="000066"/>
                </a:solidFill>
                <a:latin typeface="Times New Roman" panose="02020603050405020304" charset="0"/>
                <a:ea typeface="楷体_GB2312" pitchFamily="49" charset="-122"/>
                <a:sym typeface="+mn-ea"/>
              </a:rPr>
              <a:t>Q</a:t>
            </a:r>
            <a:r>
              <a:rPr lang="zh-CN" altLang="en-US" sz="2400" dirty="0">
                <a:solidFill>
                  <a:srgbClr val="000066"/>
                </a:solidFill>
                <a:latin typeface="Times New Roman" panose="02020603050405020304" charset="0"/>
                <a:ea typeface="楷体_GB2312" pitchFamily="49" charset="-122"/>
                <a:sym typeface="+mn-ea"/>
              </a:rPr>
              <a:t>端的状态</a:t>
            </a:r>
            <a:endParaRPr lang="en-US" altLang="zh-CN" sz="2400"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sym typeface="+mn-ea"/>
            </a:endParaRPr>
          </a:p>
        </p:txBody>
      </p:sp>
      <p:sp>
        <p:nvSpPr>
          <p:cNvPr id="3" name="文本框 2"/>
          <p:cNvSpPr txBox="1"/>
          <p:nvPr/>
        </p:nvSpPr>
        <p:spPr>
          <a:xfrm>
            <a:off x="843280" y="253174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a:t>
            </a:r>
            <a:r>
              <a:rPr lang="zh-CN" altLang="en-US" sz="2400" b="1"/>
              <a:t>１) 电路结构</a:t>
            </a: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90503"/>
                                        </p:tgtEl>
                                        <p:attrNameLst>
                                          <p:attrName>style.visibility</p:attrName>
                                        </p:attrNameLst>
                                      </p:cBhvr>
                                      <p:to>
                                        <p:strVal val="visible"/>
                                      </p:to>
                                    </p:set>
                                    <p:animEffect transition="in" filter="strips(downRight)">
                                      <p:cBhvr>
                                        <p:cTn id="7" dur="500"/>
                                        <p:tgtEl>
                                          <p:spTgt spid="49050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90504"/>
                                        </p:tgtEl>
                                        <p:attrNameLst>
                                          <p:attrName>style.visibility</p:attrName>
                                        </p:attrNameLst>
                                      </p:cBhvr>
                                      <p:to>
                                        <p:strVal val="visible"/>
                                      </p:to>
                                    </p:set>
                                    <p:animEffect transition="in" filter="strips(downRight)">
                                      <p:cBhvr>
                                        <p:cTn id="12" dur="500"/>
                                        <p:tgtEl>
                                          <p:spTgt spid="49050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9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92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503" grpId="0"/>
      <p:bldP spid="490504" grpId="0"/>
      <p:bldP spid="492588" grpId="0"/>
      <p:bldP spid="4098"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39" name="图片 2776"/>
          <p:cNvPicPr>
            <a:picLocks noChangeAspect="1"/>
          </p:cNvPicPr>
          <p:nvPr/>
        </p:nvPicPr>
        <p:blipFill>
          <a:blip r:embed="rId1"/>
          <a:srcRect r="41747" b="15615"/>
          <a:stretch>
            <a:fillRect/>
          </a:stretch>
        </p:blipFill>
        <p:spPr>
          <a:xfrm>
            <a:off x="797560" y="3068955"/>
            <a:ext cx="2680335" cy="2285365"/>
          </a:xfrm>
          <a:prstGeom prst="rect">
            <a:avLst/>
          </a:prstGeom>
          <a:noFill/>
          <a:ln>
            <a:noFill/>
          </a:ln>
        </p:spPr>
      </p:pic>
      <p:sp>
        <p:nvSpPr>
          <p:cNvPr id="7" name="文本框 6"/>
          <p:cNvSpPr txBox="1"/>
          <p:nvPr/>
        </p:nvSpPr>
        <p:spPr>
          <a:xfrm>
            <a:off x="1049655" y="1276350"/>
            <a:ext cx="2540000" cy="460375"/>
          </a:xfrm>
          <a:prstGeom prst="rect">
            <a:avLst/>
          </a:prstGeom>
          <a:noFill/>
        </p:spPr>
        <p:txBody>
          <a:bodyPr wrap="square" rtlCol="0" anchor="t">
            <a:spAutoFit/>
          </a:bodyPr>
          <a:p>
            <a:r>
              <a:rPr lang="zh-CN" altLang="en-US" sz="2400" b="1"/>
              <a:t>(２) 逻辑功能</a:t>
            </a:r>
            <a:endParaRPr lang="zh-CN" altLang="en-US" sz="2400" b="1"/>
          </a:p>
        </p:txBody>
      </p:sp>
      <p:sp>
        <p:nvSpPr>
          <p:cNvPr id="491541" name="椭圆 491540"/>
          <p:cNvSpPr/>
          <p:nvPr/>
        </p:nvSpPr>
        <p:spPr>
          <a:xfrm>
            <a:off x="2682558" y="265430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35" name="椭圆 491534"/>
          <p:cNvSpPr/>
          <p:nvPr/>
        </p:nvSpPr>
        <p:spPr>
          <a:xfrm>
            <a:off x="1253808" y="265398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2" name="对象 -2147482392"/>
          <p:cNvGraphicFramePr>
            <a:graphicFrameLocks noChangeAspect="1"/>
          </p:cNvGraphicFramePr>
          <p:nvPr/>
        </p:nvGraphicFramePr>
        <p:xfrm>
          <a:off x="865188" y="1736725"/>
          <a:ext cx="2090420" cy="480060"/>
        </p:xfrm>
        <a:graphic>
          <a:graphicData uri="http://schemas.openxmlformats.org/presentationml/2006/ole">
            <mc:AlternateContent xmlns:mc="http://schemas.openxmlformats.org/markup-compatibility/2006">
              <mc:Choice xmlns:v="urn:schemas-microsoft-com:vml" Requires="v">
                <p:oleObj spid="_x0000_s3076" name="" r:id="rId2" imgW="939800" imgH="215900" progId="Equation.KSEE3">
                  <p:embed/>
                </p:oleObj>
              </mc:Choice>
              <mc:Fallback>
                <p:oleObj name="" r:id="rId2" imgW="939800" imgH="215900" progId="Equation.KSEE3">
                  <p:embed/>
                  <p:pic>
                    <p:nvPicPr>
                      <p:cNvPr id="0" name="图片 3075"/>
                      <p:cNvPicPr/>
                      <p:nvPr/>
                    </p:nvPicPr>
                    <p:blipFill>
                      <a:blip r:embed="rId3"/>
                      <a:stretch>
                        <a:fillRect/>
                      </a:stretch>
                    </p:blipFill>
                    <p:spPr>
                      <a:xfrm>
                        <a:off x="865188" y="1736725"/>
                        <a:ext cx="2090420" cy="480060"/>
                      </a:xfrm>
                      <a:prstGeom prst="rect">
                        <a:avLst/>
                      </a:prstGeom>
                      <a:noFill/>
                      <a:ln w="38100">
                        <a:noFill/>
                        <a:miter/>
                      </a:ln>
                    </p:spPr>
                  </p:pic>
                </p:oleObj>
              </mc:Fallback>
            </mc:AlternateContent>
          </a:graphicData>
        </a:graphic>
      </p:graphicFrame>
      <p:sp>
        <p:nvSpPr>
          <p:cNvPr id="8" name="椭圆 7"/>
          <p:cNvSpPr/>
          <p:nvPr/>
        </p:nvSpPr>
        <p:spPr>
          <a:xfrm>
            <a:off x="1049338" y="5354003"/>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9" name="椭圆 8"/>
          <p:cNvSpPr/>
          <p:nvPr/>
        </p:nvSpPr>
        <p:spPr>
          <a:xfrm>
            <a:off x="2743836" y="535432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cxnSp>
        <p:nvCxnSpPr>
          <p:cNvPr id="16" name="直接连接符 15"/>
          <p:cNvCxnSpPr/>
          <p:nvPr/>
        </p:nvCxnSpPr>
        <p:spPr>
          <a:xfrm flipV="1">
            <a:off x="2947035" y="4322445"/>
            <a:ext cx="0" cy="67881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92588" name="矩形 492587"/>
          <p:cNvSpPr/>
          <p:nvPr/>
        </p:nvSpPr>
        <p:spPr>
          <a:xfrm>
            <a:off x="3176588" y="1736408"/>
            <a:ext cx="1409700" cy="521970"/>
          </a:xfrm>
          <a:prstGeom prst="rect">
            <a:avLst/>
          </a:prstGeom>
          <a:noFill/>
          <a:ln w="9525">
            <a:noFill/>
          </a:ln>
        </p:spPr>
        <p:txBody>
          <a:bodyPr>
            <a:spAutoFit/>
          </a:bodyPr>
          <a:p>
            <a:pPr algn="l"/>
            <a:r>
              <a:rPr lang="zh-CN" altLang="en-US" sz="2800" dirty="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置</a:t>
            </a:r>
            <a:r>
              <a:rPr lang="en-US" altLang="zh-CN"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1</a:t>
            </a:r>
            <a:endParaRPr lang="en-US" altLang="zh-CN"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endParaRPr>
          </a:p>
        </p:txBody>
      </p:sp>
      <p:sp>
        <p:nvSpPr>
          <p:cNvPr id="492546" name="矩形 492545"/>
          <p:cNvSpPr/>
          <p:nvPr/>
        </p:nvSpPr>
        <p:spPr>
          <a:xfrm>
            <a:off x="4274820" y="2957830"/>
            <a:ext cx="4605020" cy="1420495"/>
          </a:xfrm>
          <a:prstGeom prst="rect">
            <a:avLst/>
          </a:prstGeom>
          <a:noFill/>
          <a:ln w="9525">
            <a:noFill/>
          </a:ln>
        </p:spPr>
        <p:txBody>
          <a:bodyPr wrap="square" anchor="ctr">
            <a:spAutoFit/>
          </a:bodyPr>
          <a:p>
            <a:pPr algn="l">
              <a:lnSpc>
                <a:spcPct val="120000"/>
              </a:lnSpc>
            </a:pPr>
            <a:r>
              <a:rPr lang="zh-CN" altLang="en-US" sz="2400" b="1" dirty="0">
                <a:solidFill>
                  <a:srgbClr val="000066"/>
                </a:solidFill>
                <a:latin typeface="Times New Roman" panose="02020603050405020304" charset="0"/>
                <a:ea typeface="楷体_GB2312" pitchFamily="49" charset="-122"/>
              </a:rPr>
              <a:t>无论初态</a:t>
            </a:r>
            <a:r>
              <a:rPr lang="en-US" altLang="zh-CN" sz="2400" b="1" i="1">
                <a:solidFill>
                  <a:srgbClr val="000066"/>
                </a:solidFill>
                <a:latin typeface="Times New Roman" panose="02020603050405020304" charset="0"/>
                <a:ea typeface="楷体_GB2312" pitchFamily="49" charset="-122"/>
              </a:rPr>
              <a:t>Q </a:t>
            </a:r>
            <a:r>
              <a:rPr lang="en-US" altLang="zh-CN" sz="2400" b="1" i="1" baseline="30000">
                <a:solidFill>
                  <a:srgbClr val="000066"/>
                </a:solidFill>
                <a:latin typeface="Times New Roman" panose="02020603050405020304" charset="0"/>
                <a:ea typeface="楷体_GB2312" pitchFamily="49" charset="-122"/>
              </a:rPr>
              <a:t>n</a:t>
            </a:r>
            <a:r>
              <a:rPr lang="zh-CN" altLang="en-US" sz="2400" b="1" dirty="0">
                <a:solidFill>
                  <a:srgbClr val="000066"/>
                </a:solidFill>
                <a:latin typeface="Times New Roman" panose="02020603050405020304" charset="0"/>
                <a:ea typeface="楷体_GB2312" pitchFamily="49" charset="-122"/>
              </a:rPr>
              <a:t>为</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或</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，锁存器的次态为</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态。 信号消失后新的状态将被记忆下来。</a:t>
            </a:r>
            <a:endParaRPr lang="zh-CN" altLang="en-US" sz="2400" b="1" dirty="0">
              <a:solidFill>
                <a:srgbClr val="000066"/>
              </a:solidFill>
              <a:latin typeface="Times New Roman" panose="02020603050405020304" charset="0"/>
              <a:ea typeface="楷体_GB2312" pitchFamily="49" charset="-122"/>
            </a:endParaRPr>
          </a:p>
        </p:txBody>
      </p:sp>
      <p:grpSp>
        <p:nvGrpSpPr>
          <p:cNvPr id="3" name="组合 2"/>
          <p:cNvGrpSpPr/>
          <p:nvPr/>
        </p:nvGrpSpPr>
        <p:grpSpPr>
          <a:xfrm flipH="1">
            <a:off x="1463040" y="3549650"/>
            <a:ext cx="1237615" cy="1109980"/>
            <a:chOff x="2455" y="5589"/>
            <a:chExt cx="1949" cy="1748"/>
          </a:xfrm>
        </p:grpSpPr>
        <p:cxnSp>
          <p:nvCxnSpPr>
            <p:cNvPr id="4" name="直接连接符 3"/>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2455" y="7337"/>
              <a:ext cx="5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p:cNvCxnSpPr/>
          <p:nvPr/>
        </p:nvCxnSpPr>
        <p:spPr>
          <a:xfrm flipV="1">
            <a:off x="2700655" y="4339590"/>
            <a:ext cx="0" cy="3092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000" fill="hold">
                                          <p:stCondLst>
                                            <p:cond delay="0"/>
                                          </p:stCondLst>
                                        </p:cTn>
                                        <p:tgtEl>
                                          <p:spTgt spid="16"/>
                                        </p:tgtEl>
                                        <p:attrNameLst>
                                          <p:attrName>style.visibility</p:attrName>
                                        </p:attrNameLst>
                                      </p:cBhvr>
                                      <p:to>
                                        <p:strVal val="visible"/>
                                      </p:to>
                                    </p:set>
                                    <p:animEffect transition="in" filter="wipe(down)">
                                      <p:cBhvr>
                                        <p:cTn id="7" dur="1000"/>
                                        <p:tgtEl>
                                          <p:spTgt spid="16"/>
                                        </p:tgtEl>
                                      </p:cBhvr>
                                    </p:animEffect>
                                  </p:childTnLst>
                                </p:cTn>
                              </p:par>
                            </p:childTnLst>
                          </p:cTn>
                        </p:par>
                        <p:par>
                          <p:cTn id="8" fill="hold">
                            <p:stCondLst>
                              <p:cond delay="1000"/>
                            </p:stCondLst>
                            <p:childTnLst>
                              <p:par>
                                <p:cTn id="9" presetID="1" presetClass="entr" presetSubtype="0" fill="hold" grpId="0" nodeType="afterEffect">
                                  <p:stCondLst>
                                    <p:cond delay="1000"/>
                                  </p:stCondLst>
                                  <p:childTnLst>
                                    <p:set>
                                      <p:cBhvr>
                                        <p:cTn id="10" dur="1" fill="hold">
                                          <p:stCondLst>
                                            <p:cond delay="0"/>
                                          </p:stCondLst>
                                        </p:cTn>
                                        <p:tgtEl>
                                          <p:spTgt spid="491541"/>
                                        </p:tgtEl>
                                        <p:attrNameLst>
                                          <p:attrName>style.visibility</p:attrName>
                                        </p:attrNameLst>
                                      </p:cBhvr>
                                      <p:to>
                                        <p:strVal val="visible"/>
                                      </p:to>
                                    </p:set>
                                  </p:childTnLst>
                                </p:cTn>
                              </p:par>
                            </p:childTnLst>
                          </p:cTn>
                        </p:par>
                        <p:par>
                          <p:cTn id="11" fill="hold">
                            <p:stCondLst>
                              <p:cond delay="2000"/>
                            </p:stCondLst>
                            <p:childTnLst>
                              <p:par>
                                <p:cTn id="12" presetID="1" presetClass="entr" presetSubtype="0" fill="hold" grpId="0" nodeType="afterEffect">
                                  <p:stCondLst>
                                    <p:cond delay="1000"/>
                                  </p:stCondLst>
                                  <p:childTnLst>
                                    <p:set>
                                      <p:cBhvr>
                                        <p:cTn id="13" dur="1" fill="hold">
                                          <p:stCondLst>
                                            <p:cond delay="0"/>
                                          </p:stCondLst>
                                        </p:cTn>
                                        <p:tgtEl>
                                          <p:spTgt spid="49153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9258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92546"/>
                                        </p:tgtEl>
                                        <p:attrNameLst>
                                          <p:attrName>style.visibility</p:attrName>
                                        </p:attrNameLst>
                                      </p:cBhvr>
                                      <p:to>
                                        <p:strVal val="visible"/>
                                      </p:to>
                                    </p:set>
                                    <p:animEffect transition="in" filter="blinds(horizontal)">
                                      <p:cBhvr>
                                        <p:cTn id="22" dur="500"/>
                                        <p:tgtEl>
                                          <p:spTgt spid="492546"/>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000" fill="hold">
                                          <p:stCondLst>
                                            <p:cond delay="0"/>
                                          </p:stCondLst>
                                        </p:cTn>
                                        <p:tgtEl>
                                          <p:spTgt spid="3"/>
                                        </p:tgtEl>
                                        <p:attrNameLst>
                                          <p:attrName>style.visibility</p:attrName>
                                        </p:attrNameLst>
                                      </p:cBhvr>
                                      <p:to>
                                        <p:strVal val="visible"/>
                                      </p:to>
                                    </p:set>
                                    <p:animEffect transition="in" filter="wipe(up)">
                                      <p:cBhvr>
                                        <p:cTn id="26" dur="1000"/>
                                        <p:tgtEl>
                                          <p:spTgt spid="3"/>
                                        </p:tgtEl>
                                      </p:cBhvr>
                                    </p:animEffect>
                                  </p:childTnLst>
                                </p:cTn>
                              </p:par>
                            </p:childTnLst>
                          </p:cTn>
                        </p:par>
                        <p:par>
                          <p:cTn id="27" fill="hold">
                            <p:stCondLst>
                              <p:cond delay="1500"/>
                            </p:stCondLst>
                            <p:childTnLst>
                              <p:par>
                                <p:cTn id="28" presetID="22" presetClass="entr" presetSubtype="4" fill="hold" nodeType="afterEffect">
                                  <p:stCondLst>
                                    <p:cond delay="0"/>
                                  </p:stCondLst>
                                  <p:childTnLst>
                                    <p:set>
                                      <p:cBhvr>
                                        <p:cTn id="29" dur="1000" fill="hold">
                                          <p:stCondLst>
                                            <p:cond delay="0"/>
                                          </p:stCondLst>
                                        </p:cTn>
                                        <p:tgtEl>
                                          <p:spTgt spid="11"/>
                                        </p:tgtEl>
                                        <p:attrNameLst>
                                          <p:attrName>style.visibility</p:attrName>
                                        </p:attrNameLst>
                                      </p:cBhvr>
                                      <p:to>
                                        <p:strVal val="visible"/>
                                      </p:to>
                                    </p:set>
                                    <p:animEffect transition="in" filter="wipe(down)">
                                      <p:cBhvr>
                                        <p:cTn id="3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1" grpId="0" animBg="1"/>
      <p:bldP spid="491535" grpId="0" animBg="1"/>
      <p:bldP spid="492588" grpId="0"/>
      <p:bldP spid="4925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39" name="图片 2776"/>
          <p:cNvPicPr>
            <a:picLocks noChangeAspect="1"/>
          </p:cNvPicPr>
          <p:nvPr/>
        </p:nvPicPr>
        <p:blipFill>
          <a:blip r:embed="rId1"/>
          <a:srcRect r="41747" b="15615"/>
          <a:stretch>
            <a:fillRect/>
          </a:stretch>
        </p:blipFill>
        <p:spPr>
          <a:xfrm>
            <a:off x="797560" y="3068955"/>
            <a:ext cx="2680335" cy="2285365"/>
          </a:xfrm>
          <a:prstGeom prst="rect">
            <a:avLst/>
          </a:prstGeom>
          <a:noFill/>
          <a:ln>
            <a:noFill/>
          </a:ln>
        </p:spPr>
      </p:pic>
      <p:sp>
        <p:nvSpPr>
          <p:cNvPr id="7" name="文本框 6"/>
          <p:cNvSpPr txBox="1"/>
          <p:nvPr/>
        </p:nvSpPr>
        <p:spPr>
          <a:xfrm>
            <a:off x="1049655" y="1276350"/>
            <a:ext cx="2540000" cy="460375"/>
          </a:xfrm>
          <a:prstGeom prst="rect">
            <a:avLst/>
          </a:prstGeom>
          <a:noFill/>
        </p:spPr>
        <p:txBody>
          <a:bodyPr wrap="square" rtlCol="0" anchor="t">
            <a:spAutoFit/>
          </a:bodyPr>
          <a:p>
            <a:r>
              <a:rPr lang="zh-CN" altLang="en-US" sz="2400" b="1"/>
              <a:t>(２) 逻辑功能</a:t>
            </a:r>
            <a:endParaRPr lang="zh-CN" altLang="en-US" sz="2400" b="1"/>
          </a:p>
        </p:txBody>
      </p:sp>
      <p:sp>
        <p:nvSpPr>
          <p:cNvPr id="491541" name="椭圆 491540"/>
          <p:cNvSpPr/>
          <p:nvPr/>
        </p:nvSpPr>
        <p:spPr>
          <a:xfrm>
            <a:off x="1221423" y="265430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35" name="椭圆 491534"/>
          <p:cNvSpPr/>
          <p:nvPr/>
        </p:nvSpPr>
        <p:spPr>
          <a:xfrm>
            <a:off x="2609533" y="265398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2" name="对象 -2147482392"/>
          <p:cNvGraphicFramePr>
            <a:graphicFrameLocks noChangeAspect="1"/>
          </p:cNvGraphicFramePr>
          <p:nvPr/>
        </p:nvGraphicFramePr>
        <p:xfrm>
          <a:off x="865188" y="1736725"/>
          <a:ext cx="2090420" cy="480060"/>
        </p:xfrm>
        <a:graphic>
          <a:graphicData uri="http://schemas.openxmlformats.org/presentationml/2006/ole">
            <mc:AlternateContent xmlns:mc="http://schemas.openxmlformats.org/markup-compatibility/2006">
              <mc:Choice xmlns:v="urn:schemas-microsoft-com:vml" Requires="v">
                <p:oleObj spid="_x0000_s3076" name="" r:id="rId2" imgW="939800" imgH="215900" progId="Equation.KSEE3">
                  <p:embed/>
                </p:oleObj>
              </mc:Choice>
              <mc:Fallback>
                <p:oleObj name="" r:id="rId2" imgW="939800" imgH="215900" progId="Equation.KSEE3">
                  <p:embed/>
                  <p:pic>
                    <p:nvPicPr>
                      <p:cNvPr id="0" name="图片 3075"/>
                      <p:cNvPicPr/>
                      <p:nvPr/>
                    </p:nvPicPr>
                    <p:blipFill>
                      <a:blip r:embed="rId3"/>
                      <a:stretch>
                        <a:fillRect/>
                      </a:stretch>
                    </p:blipFill>
                    <p:spPr>
                      <a:xfrm>
                        <a:off x="865188" y="1736725"/>
                        <a:ext cx="2090420" cy="480060"/>
                      </a:xfrm>
                      <a:prstGeom prst="rect">
                        <a:avLst/>
                      </a:prstGeom>
                      <a:noFill/>
                      <a:ln w="38100">
                        <a:noFill/>
                        <a:miter/>
                      </a:ln>
                    </p:spPr>
                  </p:pic>
                </p:oleObj>
              </mc:Fallback>
            </mc:AlternateContent>
          </a:graphicData>
        </a:graphic>
      </p:graphicFrame>
      <p:sp>
        <p:nvSpPr>
          <p:cNvPr id="8" name="椭圆 7"/>
          <p:cNvSpPr/>
          <p:nvPr/>
        </p:nvSpPr>
        <p:spPr>
          <a:xfrm>
            <a:off x="2770188" y="5285423"/>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9" name="椭圆 8"/>
          <p:cNvSpPr/>
          <p:nvPr/>
        </p:nvSpPr>
        <p:spPr>
          <a:xfrm>
            <a:off x="1049656" y="528574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cxnSp>
        <p:nvCxnSpPr>
          <p:cNvPr id="16" name="直接连接符 15"/>
          <p:cNvCxnSpPr/>
          <p:nvPr/>
        </p:nvCxnSpPr>
        <p:spPr>
          <a:xfrm flipV="1">
            <a:off x="1280795" y="4339590"/>
            <a:ext cx="0" cy="67881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92588" name="矩形 492587"/>
          <p:cNvSpPr/>
          <p:nvPr/>
        </p:nvSpPr>
        <p:spPr>
          <a:xfrm>
            <a:off x="3176588" y="1736408"/>
            <a:ext cx="1409700" cy="521970"/>
          </a:xfrm>
          <a:prstGeom prst="rect">
            <a:avLst/>
          </a:prstGeom>
          <a:noFill/>
          <a:ln w="9525">
            <a:noFill/>
          </a:ln>
        </p:spPr>
        <p:txBody>
          <a:bodyPr>
            <a:spAutoFit/>
          </a:bodyPr>
          <a:p>
            <a:pPr algn="l"/>
            <a:r>
              <a:rPr lang="zh-CN" altLang="en-US" sz="2800" dirty="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置</a:t>
            </a:r>
            <a:r>
              <a:rPr lang="en-US" altLang="zh-CN"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0</a:t>
            </a:r>
            <a:endParaRPr lang="en-US" altLang="zh-CN"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endParaRPr>
          </a:p>
        </p:txBody>
      </p:sp>
      <p:sp>
        <p:nvSpPr>
          <p:cNvPr id="492546" name="矩形 492545"/>
          <p:cNvSpPr/>
          <p:nvPr/>
        </p:nvSpPr>
        <p:spPr>
          <a:xfrm>
            <a:off x="4274820" y="2957830"/>
            <a:ext cx="4605020" cy="1420495"/>
          </a:xfrm>
          <a:prstGeom prst="rect">
            <a:avLst/>
          </a:prstGeom>
          <a:noFill/>
          <a:ln w="9525">
            <a:noFill/>
          </a:ln>
        </p:spPr>
        <p:txBody>
          <a:bodyPr wrap="square" anchor="ctr">
            <a:spAutoFit/>
          </a:bodyPr>
          <a:p>
            <a:pPr algn="l">
              <a:lnSpc>
                <a:spcPct val="120000"/>
              </a:lnSpc>
            </a:pPr>
            <a:r>
              <a:rPr lang="zh-CN" altLang="en-US" sz="2400" b="1" dirty="0">
                <a:solidFill>
                  <a:srgbClr val="000066"/>
                </a:solidFill>
                <a:latin typeface="Times New Roman" panose="02020603050405020304" charset="0"/>
                <a:ea typeface="楷体_GB2312" pitchFamily="49" charset="-122"/>
              </a:rPr>
              <a:t>无论初态</a:t>
            </a:r>
            <a:r>
              <a:rPr lang="en-US" altLang="zh-CN" sz="2400" b="1" i="1">
                <a:solidFill>
                  <a:srgbClr val="000066"/>
                </a:solidFill>
                <a:latin typeface="Times New Roman" panose="02020603050405020304" charset="0"/>
                <a:ea typeface="楷体_GB2312" pitchFamily="49" charset="-122"/>
              </a:rPr>
              <a:t>Q </a:t>
            </a:r>
            <a:r>
              <a:rPr lang="en-US" altLang="zh-CN" sz="2400" b="1" i="1" baseline="30000">
                <a:solidFill>
                  <a:srgbClr val="000066"/>
                </a:solidFill>
                <a:latin typeface="Times New Roman" panose="02020603050405020304" charset="0"/>
                <a:ea typeface="楷体_GB2312" pitchFamily="49" charset="-122"/>
              </a:rPr>
              <a:t>n</a:t>
            </a:r>
            <a:r>
              <a:rPr lang="zh-CN" altLang="en-US" sz="2400" b="1" dirty="0">
                <a:solidFill>
                  <a:srgbClr val="000066"/>
                </a:solidFill>
                <a:latin typeface="Times New Roman" panose="02020603050405020304" charset="0"/>
                <a:ea typeface="楷体_GB2312" pitchFamily="49" charset="-122"/>
              </a:rPr>
              <a:t>为</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或</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，锁存器的次态为</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态。 信号消失后新的状态将被记忆下来。</a:t>
            </a:r>
            <a:endParaRPr lang="zh-CN" altLang="en-US" sz="2400" b="1" dirty="0">
              <a:solidFill>
                <a:srgbClr val="000066"/>
              </a:solidFill>
              <a:latin typeface="Times New Roman" panose="02020603050405020304" charset="0"/>
              <a:ea typeface="楷体_GB2312" pitchFamily="49" charset="-122"/>
            </a:endParaRPr>
          </a:p>
        </p:txBody>
      </p:sp>
      <p:grpSp>
        <p:nvGrpSpPr>
          <p:cNvPr id="3" name="组合 2"/>
          <p:cNvGrpSpPr/>
          <p:nvPr/>
        </p:nvGrpSpPr>
        <p:grpSpPr>
          <a:xfrm>
            <a:off x="1558925" y="3549015"/>
            <a:ext cx="1237615" cy="1109980"/>
            <a:chOff x="2455" y="5589"/>
            <a:chExt cx="1949" cy="1748"/>
          </a:xfrm>
        </p:grpSpPr>
        <p:cxnSp>
          <p:nvCxnSpPr>
            <p:cNvPr id="4" name="直接连接符 3"/>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2455" y="7337"/>
              <a:ext cx="5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p:cNvCxnSpPr/>
          <p:nvPr/>
        </p:nvCxnSpPr>
        <p:spPr>
          <a:xfrm flipV="1">
            <a:off x="1533525" y="4339590"/>
            <a:ext cx="0" cy="3092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000" fill="hold">
                                          <p:stCondLst>
                                            <p:cond delay="0"/>
                                          </p:stCondLst>
                                        </p:cTn>
                                        <p:tgtEl>
                                          <p:spTgt spid="16"/>
                                        </p:tgtEl>
                                        <p:attrNameLst>
                                          <p:attrName>style.visibility</p:attrName>
                                        </p:attrNameLst>
                                      </p:cBhvr>
                                      <p:to>
                                        <p:strVal val="visible"/>
                                      </p:to>
                                    </p:set>
                                    <p:animEffect transition="in" filter="wipe(down)">
                                      <p:cBhvr>
                                        <p:cTn id="7" dur="1000"/>
                                        <p:tgtEl>
                                          <p:spTgt spid="16"/>
                                        </p:tgtEl>
                                      </p:cBhvr>
                                    </p:animEffect>
                                  </p:childTnLst>
                                </p:cTn>
                              </p:par>
                            </p:childTnLst>
                          </p:cTn>
                        </p:par>
                        <p:par>
                          <p:cTn id="8" fill="hold">
                            <p:stCondLst>
                              <p:cond delay="1000"/>
                            </p:stCondLst>
                            <p:childTnLst>
                              <p:par>
                                <p:cTn id="9" presetID="1" presetClass="entr" presetSubtype="0" fill="hold" grpId="0" nodeType="afterEffect">
                                  <p:stCondLst>
                                    <p:cond delay="1000"/>
                                  </p:stCondLst>
                                  <p:childTnLst>
                                    <p:set>
                                      <p:cBhvr>
                                        <p:cTn id="10" dur="1" fill="hold">
                                          <p:stCondLst>
                                            <p:cond delay="0"/>
                                          </p:stCondLst>
                                        </p:cTn>
                                        <p:tgtEl>
                                          <p:spTgt spid="491541"/>
                                        </p:tgtEl>
                                        <p:attrNameLst>
                                          <p:attrName>style.visibility</p:attrName>
                                        </p:attrNameLst>
                                      </p:cBhvr>
                                      <p:to>
                                        <p:strVal val="visible"/>
                                      </p:to>
                                    </p:set>
                                  </p:childTnLst>
                                </p:cTn>
                              </p:par>
                            </p:childTnLst>
                          </p:cTn>
                        </p:par>
                        <p:par>
                          <p:cTn id="11" fill="hold">
                            <p:stCondLst>
                              <p:cond delay="2000"/>
                            </p:stCondLst>
                            <p:childTnLst>
                              <p:par>
                                <p:cTn id="12" presetID="1" presetClass="entr" presetSubtype="0" fill="hold" grpId="0" nodeType="afterEffect">
                                  <p:stCondLst>
                                    <p:cond delay="500"/>
                                  </p:stCondLst>
                                  <p:childTnLst>
                                    <p:set>
                                      <p:cBhvr>
                                        <p:cTn id="13" dur="1" fill="hold">
                                          <p:stCondLst>
                                            <p:cond delay="0"/>
                                          </p:stCondLst>
                                        </p:cTn>
                                        <p:tgtEl>
                                          <p:spTgt spid="49153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9258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92546"/>
                                        </p:tgtEl>
                                        <p:attrNameLst>
                                          <p:attrName>style.visibility</p:attrName>
                                        </p:attrNameLst>
                                      </p:cBhvr>
                                      <p:to>
                                        <p:strVal val="visible"/>
                                      </p:to>
                                    </p:set>
                                    <p:animEffect transition="in" filter="blinds(horizontal)">
                                      <p:cBhvr>
                                        <p:cTn id="22" dur="500"/>
                                        <p:tgtEl>
                                          <p:spTgt spid="492546"/>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000" fill="hold">
                                          <p:stCondLst>
                                            <p:cond delay="0"/>
                                          </p:stCondLst>
                                        </p:cTn>
                                        <p:tgtEl>
                                          <p:spTgt spid="3"/>
                                        </p:tgtEl>
                                        <p:attrNameLst>
                                          <p:attrName>style.visibility</p:attrName>
                                        </p:attrNameLst>
                                      </p:cBhvr>
                                      <p:to>
                                        <p:strVal val="visible"/>
                                      </p:to>
                                    </p:set>
                                    <p:animEffect transition="in" filter="wipe(up)">
                                      <p:cBhvr>
                                        <p:cTn id="26" dur="1000"/>
                                        <p:tgtEl>
                                          <p:spTgt spid="3"/>
                                        </p:tgtEl>
                                      </p:cBhvr>
                                    </p:animEffect>
                                  </p:childTnLst>
                                </p:cTn>
                              </p:par>
                            </p:childTnLst>
                          </p:cTn>
                        </p:par>
                        <p:par>
                          <p:cTn id="27" fill="hold">
                            <p:stCondLst>
                              <p:cond delay="1500"/>
                            </p:stCondLst>
                            <p:childTnLst>
                              <p:par>
                                <p:cTn id="28" presetID="22" presetClass="entr" presetSubtype="4" fill="hold" nodeType="afterEffect">
                                  <p:stCondLst>
                                    <p:cond delay="0"/>
                                  </p:stCondLst>
                                  <p:childTnLst>
                                    <p:set>
                                      <p:cBhvr>
                                        <p:cTn id="29" dur="1000" fill="hold">
                                          <p:stCondLst>
                                            <p:cond delay="0"/>
                                          </p:stCondLst>
                                        </p:cTn>
                                        <p:tgtEl>
                                          <p:spTgt spid="11"/>
                                        </p:tgtEl>
                                        <p:attrNameLst>
                                          <p:attrName>style.visibility</p:attrName>
                                        </p:attrNameLst>
                                      </p:cBhvr>
                                      <p:to>
                                        <p:strVal val="visible"/>
                                      </p:to>
                                    </p:set>
                                    <p:animEffect transition="in" filter="wipe(down)">
                                      <p:cBhvr>
                                        <p:cTn id="3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1" grpId="0" bldLvl="0" animBg="1"/>
      <p:bldP spid="491535" grpId="0" bldLvl="0" animBg="1"/>
      <p:bldP spid="492588" grpId="0"/>
      <p:bldP spid="4925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39" name="图片 2776"/>
          <p:cNvPicPr>
            <a:picLocks noChangeAspect="1"/>
          </p:cNvPicPr>
          <p:nvPr/>
        </p:nvPicPr>
        <p:blipFill>
          <a:blip r:embed="rId1"/>
          <a:srcRect r="41747" b="15615"/>
          <a:stretch>
            <a:fillRect/>
          </a:stretch>
        </p:blipFill>
        <p:spPr>
          <a:xfrm>
            <a:off x="797560" y="3068955"/>
            <a:ext cx="2680335" cy="2285365"/>
          </a:xfrm>
          <a:prstGeom prst="rect">
            <a:avLst/>
          </a:prstGeom>
          <a:noFill/>
          <a:ln>
            <a:noFill/>
          </a:ln>
        </p:spPr>
      </p:pic>
      <p:sp>
        <p:nvSpPr>
          <p:cNvPr id="7" name="文本框 6"/>
          <p:cNvSpPr txBox="1"/>
          <p:nvPr/>
        </p:nvSpPr>
        <p:spPr>
          <a:xfrm>
            <a:off x="1049655" y="1276350"/>
            <a:ext cx="2540000" cy="460375"/>
          </a:xfrm>
          <a:prstGeom prst="rect">
            <a:avLst/>
          </a:prstGeom>
          <a:noFill/>
        </p:spPr>
        <p:txBody>
          <a:bodyPr wrap="square" rtlCol="0" anchor="t">
            <a:spAutoFit/>
          </a:bodyPr>
          <a:p>
            <a:r>
              <a:rPr lang="zh-CN" altLang="en-US" sz="2400" b="1"/>
              <a:t>(２) 逻辑功能</a:t>
            </a:r>
            <a:endParaRPr lang="zh-CN" altLang="en-US" sz="2400" b="1"/>
          </a:p>
        </p:txBody>
      </p:sp>
      <p:sp>
        <p:nvSpPr>
          <p:cNvPr id="491526" name="椭圆 491525"/>
          <p:cNvSpPr/>
          <p:nvPr/>
        </p:nvSpPr>
        <p:spPr>
          <a:xfrm>
            <a:off x="2645411" y="265430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91541" name="椭圆 491540"/>
          <p:cNvSpPr/>
          <p:nvPr/>
        </p:nvSpPr>
        <p:spPr>
          <a:xfrm>
            <a:off x="3309938" y="265430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29" name="椭圆 491528"/>
          <p:cNvSpPr/>
          <p:nvPr/>
        </p:nvSpPr>
        <p:spPr>
          <a:xfrm>
            <a:off x="1227138" y="2617788"/>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91535" name="椭圆 491534"/>
          <p:cNvSpPr/>
          <p:nvPr/>
        </p:nvSpPr>
        <p:spPr>
          <a:xfrm>
            <a:off x="1872298" y="2584768"/>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28" name="矩形 491527"/>
          <p:cNvSpPr/>
          <p:nvPr/>
        </p:nvSpPr>
        <p:spPr>
          <a:xfrm>
            <a:off x="5526088" y="5548630"/>
            <a:ext cx="2520950" cy="457200"/>
          </a:xfrm>
          <a:prstGeom prst="rect">
            <a:avLst/>
          </a:prstGeom>
          <a:noFill/>
          <a:ln w="9525">
            <a:noFill/>
          </a:ln>
        </p:spPr>
        <p:txBody>
          <a:bodyPr>
            <a:spAutoFit/>
          </a:bodyPr>
          <a:p>
            <a:pPr algn="l"/>
            <a:r>
              <a:rPr lang="zh-CN" altLang="en-US" sz="2400" dirty="0">
                <a:solidFill>
                  <a:srgbClr val="000099"/>
                </a:solidFill>
                <a:latin typeface="Times New Roman" panose="02020603050405020304" charset="0"/>
                <a:ea typeface="楷体_GB2312" pitchFamily="49" charset="-122"/>
              </a:rPr>
              <a:t>若初态 </a:t>
            </a:r>
            <a:r>
              <a:rPr lang="en-US" altLang="zh-CN" sz="2400" i="1">
                <a:solidFill>
                  <a:srgbClr val="000099"/>
                </a:solidFill>
                <a:latin typeface="Times New Roman" panose="02020603050405020304" charset="0"/>
                <a:ea typeface="楷体_GB2312" pitchFamily="49" charset="-122"/>
              </a:rPr>
              <a:t>Q </a:t>
            </a:r>
            <a:r>
              <a:rPr lang="en-US" altLang="zh-CN" sz="2400" i="1" baseline="30000">
                <a:solidFill>
                  <a:srgbClr val="000099"/>
                </a:solidFill>
                <a:latin typeface="Times New Roman" panose="02020603050405020304" charset="0"/>
                <a:ea typeface="楷体_GB2312" pitchFamily="49" charset="-122"/>
              </a:rPr>
              <a:t>n</a:t>
            </a:r>
            <a:r>
              <a:rPr lang="en-US" altLang="zh-CN" sz="2400" baseline="30000">
                <a:solidFill>
                  <a:srgbClr val="000099"/>
                </a:solidFill>
                <a:latin typeface="Times New Roman" panose="02020603050405020304" charset="0"/>
                <a:ea typeface="楷体_GB2312" pitchFamily="49" charset="-122"/>
              </a:rPr>
              <a:t> </a:t>
            </a:r>
            <a:r>
              <a:rPr lang="en-US" altLang="zh-CN" sz="2400">
                <a:solidFill>
                  <a:srgbClr val="000099"/>
                </a:solidFill>
                <a:latin typeface="Times New Roman" panose="02020603050405020304" charset="0"/>
                <a:ea typeface="楷体_GB2312" pitchFamily="49" charset="-122"/>
              </a:rPr>
              <a:t>= 1</a:t>
            </a:r>
            <a:endParaRPr lang="en-US" altLang="zh-CN" sz="2400">
              <a:solidFill>
                <a:srgbClr val="000099"/>
              </a:solidFill>
              <a:latin typeface="Times New Roman" panose="02020603050405020304" charset="0"/>
              <a:ea typeface="楷体_GB2312" pitchFamily="49" charset="-122"/>
            </a:endParaRPr>
          </a:p>
        </p:txBody>
      </p:sp>
      <p:sp>
        <p:nvSpPr>
          <p:cNvPr id="491544" name="矩形 491543"/>
          <p:cNvSpPr/>
          <p:nvPr/>
        </p:nvSpPr>
        <p:spPr>
          <a:xfrm>
            <a:off x="1110298" y="5687378"/>
            <a:ext cx="3003550" cy="457200"/>
          </a:xfrm>
          <a:prstGeom prst="rect">
            <a:avLst/>
          </a:prstGeom>
          <a:noFill/>
          <a:ln w="9525">
            <a:noFill/>
          </a:ln>
        </p:spPr>
        <p:txBody>
          <a:bodyPr>
            <a:spAutoFit/>
          </a:bodyPr>
          <a:p>
            <a:pPr algn="l"/>
            <a:r>
              <a:rPr lang="zh-CN" altLang="en-US" sz="2400" dirty="0">
                <a:solidFill>
                  <a:srgbClr val="000099"/>
                </a:solidFill>
                <a:latin typeface="Times New Roman" panose="02020603050405020304" charset="0"/>
                <a:ea typeface="楷体_GB2312" pitchFamily="49" charset="-122"/>
              </a:rPr>
              <a:t>若初态</a:t>
            </a:r>
            <a:r>
              <a:rPr lang="zh-CN" altLang="en-US" sz="2400" dirty="0">
                <a:latin typeface="Times New Roman" panose="02020603050405020304" charset="0"/>
                <a:ea typeface="楷体_GB2312" pitchFamily="49" charset="-122"/>
              </a:rPr>
              <a:t> </a:t>
            </a:r>
            <a:r>
              <a:rPr lang="en-US" altLang="zh-CN" sz="2400" i="1">
                <a:solidFill>
                  <a:srgbClr val="000099"/>
                </a:solidFill>
                <a:latin typeface="Times New Roman" panose="02020603050405020304" charset="0"/>
                <a:ea typeface="楷体_GB2312" pitchFamily="49" charset="-122"/>
              </a:rPr>
              <a:t>Q </a:t>
            </a:r>
            <a:r>
              <a:rPr lang="en-US" altLang="zh-CN" sz="2400" i="1" baseline="30000">
                <a:solidFill>
                  <a:srgbClr val="000099"/>
                </a:solidFill>
                <a:latin typeface="Times New Roman" panose="02020603050405020304" charset="0"/>
                <a:ea typeface="楷体_GB2312" pitchFamily="49" charset="-122"/>
              </a:rPr>
              <a:t>n</a:t>
            </a:r>
            <a:r>
              <a:rPr lang="en-US" altLang="zh-CN" sz="2400" baseline="30000">
                <a:solidFill>
                  <a:srgbClr val="000099"/>
                </a:solidFill>
                <a:latin typeface="Times New Roman" panose="02020603050405020304" charset="0"/>
                <a:ea typeface="楷体_GB2312" pitchFamily="49" charset="-122"/>
              </a:rPr>
              <a:t> </a:t>
            </a:r>
            <a:r>
              <a:rPr lang="en-US" altLang="zh-CN" sz="2400">
                <a:solidFill>
                  <a:srgbClr val="000099"/>
                </a:solidFill>
                <a:latin typeface="Times New Roman" panose="02020603050405020304" charset="0"/>
                <a:ea typeface="楷体_GB2312" pitchFamily="49" charset="-122"/>
              </a:rPr>
              <a:t>= 0</a:t>
            </a:r>
            <a:endParaRPr lang="en-US" altLang="zh-CN" sz="2400">
              <a:solidFill>
                <a:srgbClr val="000099"/>
              </a:solidFill>
              <a:latin typeface="Times New Roman" panose="02020603050405020304" charset="0"/>
              <a:ea typeface="楷体_GB2312" pitchFamily="49" charset="-122"/>
            </a:endParaRPr>
          </a:p>
        </p:txBody>
      </p:sp>
      <p:sp>
        <p:nvSpPr>
          <p:cNvPr id="8" name="椭圆 7"/>
          <p:cNvSpPr/>
          <p:nvPr/>
        </p:nvSpPr>
        <p:spPr>
          <a:xfrm>
            <a:off x="1110298" y="5272723"/>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9" name="椭圆 8"/>
          <p:cNvSpPr/>
          <p:nvPr/>
        </p:nvSpPr>
        <p:spPr>
          <a:xfrm>
            <a:off x="2770506" y="527304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cxnSp>
        <p:nvCxnSpPr>
          <p:cNvPr id="10" name="直接箭头连接符 9"/>
          <p:cNvCxnSpPr>
            <a:stCxn id="491529" idx="6"/>
          </p:cNvCxnSpPr>
          <p:nvPr/>
        </p:nvCxnSpPr>
        <p:spPr>
          <a:xfrm>
            <a:off x="1633855" y="2825115"/>
            <a:ext cx="238760" cy="0"/>
          </a:xfrm>
          <a:prstGeom prst="straightConnector1">
            <a:avLst/>
          </a:prstGeom>
          <a:ln>
            <a:tailEnd type="arrow" w="med" len="med"/>
          </a:ln>
        </p:spPr>
        <p:style>
          <a:lnRef idx="2">
            <a:schemeClr val="accent2"/>
          </a:lnRef>
          <a:fillRef idx="0">
            <a:schemeClr val="accent2"/>
          </a:fillRef>
          <a:effectRef idx="1">
            <a:schemeClr val="accent2"/>
          </a:effectRef>
          <a:fontRef idx="minor">
            <a:schemeClr val="tx1"/>
          </a:fontRef>
        </p:style>
      </p:cxnSp>
      <p:cxnSp>
        <p:nvCxnSpPr>
          <p:cNvPr id="11" name="直接箭头连接符 10"/>
          <p:cNvCxnSpPr/>
          <p:nvPr/>
        </p:nvCxnSpPr>
        <p:spPr>
          <a:xfrm>
            <a:off x="3071495" y="2861310"/>
            <a:ext cx="238760" cy="0"/>
          </a:xfrm>
          <a:prstGeom prst="straightConnector1">
            <a:avLst/>
          </a:prstGeom>
          <a:ln>
            <a:tailEnd type="arrow" w="med" len="med"/>
          </a:ln>
        </p:spPr>
        <p:style>
          <a:lnRef idx="2">
            <a:schemeClr val="accent2"/>
          </a:lnRef>
          <a:fillRef idx="0">
            <a:schemeClr val="accent2"/>
          </a:fillRef>
          <a:effectRef idx="1">
            <a:schemeClr val="accent2"/>
          </a:effectRef>
          <a:fontRef idx="minor">
            <a:schemeClr val="tx1"/>
          </a:fontRef>
        </p:style>
      </p:cxnSp>
      <p:grpSp>
        <p:nvGrpSpPr>
          <p:cNvPr id="30" name="组合 29"/>
          <p:cNvGrpSpPr/>
          <p:nvPr/>
        </p:nvGrpSpPr>
        <p:grpSpPr>
          <a:xfrm>
            <a:off x="5302250" y="2521585"/>
            <a:ext cx="2679700" cy="3026410"/>
            <a:chOff x="8350" y="3971"/>
            <a:chExt cx="4220" cy="4766"/>
          </a:xfrm>
        </p:grpSpPr>
        <p:pic>
          <p:nvPicPr>
            <p:cNvPr id="6" name="图片 2776"/>
            <p:cNvPicPr>
              <a:picLocks noChangeAspect="1"/>
            </p:cNvPicPr>
            <p:nvPr/>
          </p:nvPicPr>
          <p:blipFill>
            <a:blip r:embed="rId1"/>
            <a:srcRect r="41747" b="15615"/>
            <a:stretch>
              <a:fillRect/>
            </a:stretch>
          </p:blipFill>
          <p:spPr>
            <a:xfrm>
              <a:off x="8350" y="4624"/>
              <a:ext cx="4221" cy="3599"/>
            </a:xfrm>
            <a:prstGeom prst="rect">
              <a:avLst/>
            </a:prstGeom>
            <a:noFill/>
            <a:ln>
              <a:noFill/>
            </a:ln>
          </p:spPr>
        </p:pic>
        <p:sp>
          <p:nvSpPr>
            <p:cNvPr id="12" name="椭圆 11"/>
            <p:cNvSpPr/>
            <p:nvPr/>
          </p:nvSpPr>
          <p:spPr>
            <a:xfrm>
              <a:off x="8703" y="8085"/>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3" name="椭圆 12"/>
            <p:cNvSpPr/>
            <p:nvPr/>
          </p:nvSpPr>
          <p:spPr>
            <a:xfrm>
              <a:off x="11317" y="8085"/>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4" name="椭圆 13"/>
            <p:cNvSpPr/>
            <p:nvPr/>
          </p:nvSpPr>
          <p:spPr>
            <a:xfrm>
              <a:off x="11228" y="3971"/>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5" name="椭圆 14"/>
            <p:cNvSpPr/>
            <p:nvPr/>
          </p:nvSpPr>
          <p:spPr>
            <a:xfrm>
              <a:off x="9049" y="3971"/>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grpSp>
      <p:graphicFrame>
        <p:nvGraphicFramePr>
          <p:cNvPr id="3" name="对象 -2147482392"/>
          <p:cNvGraphicFramePr>
            <a:graphicFrameLocks noChangeAspect="1"/>
          </p:cNvGraphicFramePr>
          <p:nvPr/>
        </p:nvGraphicFramePr>
        <p:xfrm>
          <a:off x="893128" y="1736725"/>
          <a:ext cx="2034540" cy="480060"/>
        </p:xfrm>
        <a:graphic>
          <a:graphicData uri="http://schemas.openxmlformats.org/presentationml/2006/ole">
            <mc:AlternateContent xmlns:mc="http://schemas.openxmlformats.org/markup-compatibility/2006">
              <mc:Choice xmlns:v="urn:schemas-microsoft-com:vml" Requires="v">
                <p:oleObj spid="_x0000_s4" name="" r:id="rId2" imgW="914400" imgH="215900" progId="Equation.KSEE3">
                  <p:embed/>
                </p:oleObj>
              </mc:Choice>
              <mc:Fallback>
                <p:oleObj name="" r:id="rId2" imgW="914400" imgH="215900" progId="Equation.KSEE3">
                  <p:embed/>
                  <p:pic>
                    <p:nvPicPr>
                      <p:cNvPr id="0" name="图片 3075"/>
                      <p:cNvPicPr/>
                      <p:nvPr/>
                    </p:nvPicPr>
                    <p:blipFill>
                      <a:blip r:embed="rId3"/>
                      <a:stretch>
                        <a:fillRect/>
                      </a:stretch>
                    </p:blipFill>
                    <p:spPr>
                      <a:xfrm>
                        <a:off x="893128" y="1736725"/>
                        <a:ext cx="2034540" cy="480060"/>
                      </a:xfrm>
                      <a:prstGeom prst="rect">
                        <a:avLst/>
                      </a:prstGeom>
                      <a:noFill/>
                      <a:ln w="38100">
                        <a:noFill/>
                        <a:miter/>
                      </a:ln>
                    </p:spPr>
                  </p:pic>
                </p:oleObj>
              </mc:Fallback>
            </mc:AlternateContent>
          </a:graphicData>
        </a:graphic>
      </p:graphicFrame>
      <p:grpSp>
        <p:nvGrpSpPr>
          <p:cNvPr id="24" name="组合 23"/>
          <p:cNvGrpSpPr/>
          <p:nvPr/>
        </p:nvGrpSpPr>
        <p:grpSpPr>
          <a:xfrm>
            <a:off x="1558925" y="3549015"/>
            <a:ext cx="1237615" cy="1109980"/>
            <a:chOff x="2455" y="5589"/>
            <a:chExt cx="1949" cy="1748"/>
          </a:xfrm>
        </p:grpSpPr>
        <p:cxnSp>
          <p:nvCxnSpPr>
            <p:cNvPr id="19" name="直接连接符 18"/>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2455" y="7337"/>
              <a:ext cx="5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2" name="直接连接符 21"/>
          <p:cNvCxnSpPr/>
          <p:nvPr/>
        </p:nvCxnSpPr>
        <p:spPr>
          <a:xfrm flipV="1">
            <a:off x="1533525" y="4339590"/>
            <a:ext cx="0" cy="3092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flipH="1">
            <a:off x="5950585" y="3440430"/>
            <a:ext cx="1237615" cy="1109980"/>
            <a:chOff x="2455" y="5589"/>
            <a:chExt cx="1949" cy="1748"/>
          </a:xfrm>
        </p:grpSpPr>
        <p:cxnSp>
          <p:nvCxnSpPr>
            <p:cNvPr id="17" name="直接连接符 16"/>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2455" y="7337"/>
              <a:ext cx="5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5" name="直接连接符 24"/>
          <p:cNvCxnSpPr/>
          <p:nvPr/>
        </p:nvCxnSpPr>
        <p:spPr>
          <a:xfrm flipV="1">
            <a:off x="7188200" y="4230370"/>
            <a:ext cx="0" cy="3092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7790498" y="2483168"/>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27" name="直接箭头连接符 26"/>
          <p:cNvCxnSpPr/>
          <p:nvPr/>
        </p:nvCxnSpPr>
        <p:spPr>
          <a:xfrm>
            <a:off x="7552055" y="2723515"/>
            <a:ext cx="238760" cy="0"/>
          </a:xfrm>
          <a:prstGeom prst="straightConnector1">
            <a:avLst/>
          </a:prstGeom>
          <a:noFill/>
          <a:ln w="25400" cap="flat" cmpd="sng" algn="ctr">
            <a:solidFill>
              <a:srgbClr val="8F038F"/>
            </a:solidFill>
            <a:prstDash val="solid"/>
            <a:tailEnd type="arrow" w="med" len="med"/>
          </a:ln>
          <a:effectLst>
            <a:outerShdw blurRad="40000" dist="20000" dir="5400000" rotWithShape="0">
              <a:srgbClr val="000000">
                <a:alpha val="38000"/>
              </a:srgbClr>
            </a:outerShdw>
          </a:effectLst>
        </p:spPr>
        <p:style>
          <a:lnRef idx="2">
            <a:schemeClr val="accent2"/>
          </a:lnRef>
          <a:fillRef idx="0">
            <a:schemeClr val="accent2"/>
          </a:fillRef>
          <a:effectRef idx="1">
            <a:schemeClr val="accent2"/>
          </a:effectRef>
          <a:fontRef idx="minor">
            <a:schemeClr val="tx1"/>
          </a:fontRef>
        </p:style>
      </p:cxnSp>
      <p:sp>
        <p:nvSpPr>
          <p:cNvPr id="28" name="椭圆 27"/>
          <p:cNvSpPr/>
          <p:nvPr/>
        </p:nvSpPr>
        <p:spPr>
          <a:xfrm>
            <a:off x="6415088" y="2544445"/>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29" name="直接箭头连接符 28"/>
          <p:cNvCxnSpPr/>
          <p:nvPr/>
        </p:nvCxnSpPr>
        <p:spPr>
          <a:xfrm>
            <a:off x="6176645" y="2751455"/>
            <a:ext cx="238760" cy="0"/>
          </a:xfrm>
          <a:prstGeom prst="straightConnector1">
            <a:avLst/>
          </a:prstGeom>
          <a:noFill/>
          <a:ln w="25400" cap="flat" cmpd="sng" algn="ctr">
            <a:solidFill>
              <a:srgbClr val="8F038F"/>
            </a:solidFill>
            <a:prstDash val="solid"/>
            <a:tailEnd type="arrow" w="med" len="med"/>
          </a:ln>
          <a:effectLst>
            <a:outerShdw blurRad="40000" dist="20000" dir="5400000" rotWithShape="0">
              <a:srgbClr val="000000">
                <a:alpha val="38000"/>
              </a:srgbClr>
            </a:outerShdw>
          </a:effectLst>
        </p:spPr>
        <p:style>
          <a:lnRef idx="2">
            <a:schemeClr val="accent2"/>
          </a:lnRef>
          <a:fillRef idx="0">
            <a:schemeClr val="accent2"/>
          </a:fillRef>
          <a:effectRef idx="1">
            <a:schemeClr val="accent2"/>
          </a:effectRef>
          <a:fontRef idx="minor">
            <a:schemeClr val="tx1"/>
          </a:fontRef>
        </p:style>
      </p:cxnSp>
      <p:sp>
        <p:nvSpPr>
          <p:cNvPr id="491524" name="矩形 491523"/>
          <p:cNvSpPr/>
          <p:nvPr/>
        </p:nvSpPr>
        <p:spPr>
          <a:xfrm>
            <a:off x="3176588" y="1736408"/>
            <a:ext cx="1943100" cy="521970"/>
          </a:xfrm>
          <a:prstGeom prst="rect">
            <a:avLst/>
          </a:prstGeom>
          <a:noFill/>
          <a:ln w="9525">
            <a:noFill/>
          </a:ln>
        </p:spPr>
        <p:txBody>
          <a:bodyPr>
            <a:spAutoFit/>
            <a:scene3d>
              <a:camera prst="orthographicFront"/>
              <a:lightRig rig="threePt" dir="t"/>
            </a:scene3d>
          </a:bodyPr>
          <a:p>
            <a:pPr algn="l"/>
            <a:r>
              <a:rPr lang="zh-CN" altLang="en-US" sz="2800" dirty="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保持</a:t>
            </a:r>
            <a:endParaRPr lang="zh-CN" altLang="en-US" sz="2800" dirty="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000" fill="hold">
                                          <p:stCondLst>
                                            <p:cond delay="0"/>
                                          </p:stCondLst>
                                        </p:cTn>
                                        <p:tgtEl>
                                          <p:spTgt spid="24"/>
                                        </p:tgtEl>
                                        <p:attrNameLst>
                                          <p:attrName>style.visibility</p:attrName>
                                        </p:attrNameLst>
                                      </p:cBhvr>
                                      <p:to>
                                        <p:strVal val="visible"/>
                                      </p:to>
                                    </p:set>
                                    <p:animEffect transition="in" filter="wipe(up)">
                                      <p:cBhvr>
                                        <p:cTn id="7" dur="1000"/>
                                        <p:tgtEl>
                                          <p:spTgt spid="24"/>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000" fill="hold">
                                          <p:stCondLst>
                                            <p:cond delay="0"/>
                                          </p:stCondLst>
                                        </p:cTn>
                                        <p:tgtEl>
                                          <p:spTgt spid="22"/>
                                        </p:tgtEl>
                                        <p:attrNameLst>
                                          <p:attrName>style.visibility</p:attrName>
                                        </p:attrNameLst>
                                      </p:cBhvr>
                                      <p:to>
                                        <p:strVal val="visible"/>
                                      </p:to>
                                    </p:set>
                                    <p:animEffect transition="in" filter="wipe(down)">
                                      <p:cBhvr>
                                        <p:cTn id="11" dur="1000"/>
                                        <p:tgtEl>
                                          <p:spTgt spid="22"/>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000" fill="hold">
                                          <p:stCondLst>
                                            <p:cond delay="0"/>
                                          </p:stCondLst>
                                        </p:cTn>
                                        <p:tgtEl>
                                          <p:spTgt spid="10"/>
                                        </p:tgtEl>
                                        <p:attrNameLst>
                                          <p:attrName>style.visibility</p:attrName>
                                        </p:attrNameLst>
                                      </p:cBhvr>
                                      <p:to>
                                        <p:strVal val="visible"/>
                                      </p:to>
                                    </p:set>
                                    <p:animEffect transition="in" filter="wipe(left)">
                                      <p:cBhvr>
                                        <p:cTn id="15" dur="1000"/>
                                        <p:tgtEl>
                                          <p:spTgt spid="10"/>
                                        </p:tgtEl>
                                      </p:cBhvr>
                                    </p:animEffect>
                                  </p:childTnLst>
                                </p:cTn>
                              </p:par>
                            </p:childTnLst>
                          </p:cTn>
                        </p:par>
                        <p:par>
                          <p:cTn id="16" fill="hold">
                            <p:stCondLst>
                              <p:cond delay="3000"/>
                            </p:stCondLst>
                            <p:childTnLst>
                              <p:par>
                                <p:cTn id="17" presetID="1" presetClass="entr" presetSubtype="0" fill="hold" grpId="0" nodeType="afterEffect">
                                  <p:stCondLst>
                                    <p:cond delay="0"/>
                                  </p:stCondLst>
                                  <p:childTnLst>
                                    <p:set>
                                      <p:cBhvr>
                                        <p:cTn id="18" dur="1" fill="hold">
                                          <p:stCondLst>
                                            <p:cond delay="0"/>
                                          </p:stCondLst>
                                        </p:cTn>
                                        <p:tgtEl>
                                          <p:spTgt spid="491535"/>
                                        </p:tgtEl>
                                        <p:attrNameLst>
                                          <p:attrName>style.visibility</p:attrName>
                                        </p:attrNameLst>
                                      </p:cBhvr>
                                      <p:to>
                                        <p:strVal val="visible"/>
                                      </p:to>
                                    </p:set>
                                  </p:childTnLst>
                                </p:cTn>
                              </p:par>
                            </p:childTnLst>
                          </p:cTn>
                        </p:par>
                        <p:par>
                          <p:cTn id="19" fill="hold">
                            <p:stCondLst>
                              <p:cond delay="3000"/>
                            </p:stCondLst>
                            <p:childTnLst>
                              <p:par>
                                <p:cTn id="20" presetID="22" presetClass="entr" presetSubtype="8" fill="hold" nodeType="afterEffect">
                                  <p:stCondLst>
                                    <p:cond delay="0"/>
                                  </p:stCondLst>
                                  <p:childTnLst>
                                    <p:set>
                                      <p:cBhvr>
                                        <p:cTn id="21" dur="1000" fill="hold">
                                          <p:stCondLst>
                                            <p:cond delay="0"/>
                                          </p:stCondLst>
                                        </p:cTn>
                                        <p:tgtEl>
                                          <p:spTgt spid="11"/>
                                        </p:tgtEl>
                                        <p:attrNameLst>
                                          <p:attrName>style.visibility</p:attrName>
                                        </p:attrNameLst>
                                      </p:cBhvr>
                                      <p:to>
                                        <p:strVal val="visible"/>
                                      </p:to>
                                    </p:set>
                                    <p:animEffect transition="in" filter="wipe(left)">
                                      <p:cBhvr>
                                        <p:cTn id="22" dur="1000"/>
                                        <p:tgtEl>
                                          <p:spTgt spid="11"/>
                                        </p:tgtEl>
                                      </p:cBhvr>
                                    </p:animEffect>
                                  </p:childTnLst>
                                </p:cTn>
                              </p:par>
                            </p:childTnLst>
                          </p:cTn>
                        </p:par>
                        <p:par>
                          <p:cTn id="23" fill="hold">
                            <p:stCondLst>
                              <p:cond delay="4000"/>
                            </p:stCondLst>
                            <p:childTnLst>
                              <p:par>
                                <p:cTn id="24" presetID="1" presetClass="entr" presetSubtype="0" fill="hold" grpId="0" nodeType="afterEffect">
                                  <p:stCondLst>
                                    <p:cond delay="0"/>
                                  </p:stCondLst>
                                  <p:childTnLst>
                                    <p:set>
                                      <p:cBhvr>
                                        <p:cTn id="25" dur="1" fill="hold">
                                          <p:stCondLst>
                                            <p:cond delay="0"/>
                                          </p:stCondLst>
                                        </p:cTn>
                                        <p:tgtEl>
                                          <p:spTgt spid="49154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9152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childTnLst>
                                </p:cTn>
                              </p:par>
                            </p:childTnLst>
                          </p:cTn>
                        </p:par>
                        <p:par>
                          <p:cTn id="34" fill="hold">
                            <p:stCondLst>
                              <p:cond delay="0"/>
                            </p:stCondLst>
                            <p:childTnLst>
                              <p:par>
                                <p:cTn id="35" presetID="22" presetClass="entr" presetSubtype="1" fill="hold" nodeType="afterEffect">
                                  <p:stCondLst>
                                    <p:cond delay="0"/>
                                  </p:stCondLst>
                                  <p:childTnLst>
                                    <p:set>
                                      <p:cBhvr>
                                        <p:cTn id="36" dur="2000" fill="hold">
                                          <p:stCondLst>
                                            <p:cond delay="0"/>
                                          </p:stCondLst>
                                        </p:cTn>
                                        <p:tgtEl>
                                          <p:spTgt spid="16"/>
                                        </p:tgtEl>
                                        <p:attrNameLst>
                                          <p:attrName>style.visibility</p:attrName>
                                        </p:attrNameLst>
                                      </p:cBhvr>
                                      <p:to>
                                        <p:strVal val="visible"/>
                                      </p:to>
                                    </p:set>
                                    <p:animEffect transition="in" filter="wipe(up)">
                                      <p:cBhvr>
                                        <p:cTn id="37" dur="2000"/>
                                        <p:tgtEl>
                                          <p:spTgt spid="16"/>
                                        </p:tgtEl>
                                      </p:cBhvr>
                                    </p:animEffect>
                                  </p:childTnLst>
                                </p:cTn>
                              </p:par>
                            </p:childTnLst>
                          </p:cTn>
                        </p:par>
                        <p:par>
                          <p:cTn id="38" fill="hold">
                            <p:stCondLst>
                              <p:cond delay="2000"/>
                            </p:stCondLst>
                            <p:childTnLst>
                              <p:par>
                                <p:cTn id="39" presetID="22" presetClass="entr" presetSubtype="4" fill="hold" nodeType="afterEffect">
                                  <p:stCondLst>
                                    <p:cond delay="0"/>
                                  </p:stCondLst>
                                  <p:childTnLst>
                                    <p:set>
                                      <p:cBhvr>
                                        <p:cTn id="40" dur="2000" fill="hold">
                                          <p:stCondLst>
                                            <p:cond delay="0"/>
                                          </p:stCondLst>
                                        </p:cTn>
                                        <p:tgtEl>
                                          <p:spTgt spid="25"/>
                                        </p:tgtEl>
                                        <p:attrNameLst>
                                          <p:attrName>style.visibility</p:attrName>
                                        </p:attrNameLst>
                                      </p:cBhvr>
                                      <p:to>
                                        <p:strVal val="visible"/>
                                      </p:to>
                                    </p:set>
                                    <p:animEffect transition="in" filter="wipe(down)">
                                      <p:cBhvr>
                                        <p:cTn id="41" dur="2000"/>
                                        <p:tgtEl>
                                          <p:spTgt spid="25"/>
                                        </p:tgtEl>
                                      </p:cBhvr>
                                    </p:animEffect>
                                  </p:childTnLst>
                                </p:cTn>
                              </p:par>
                            </p:childTnLst>
                          </p:cTn>
                        </p:par>
                        <p:par>
                          <p:cTn id="42" fill="hold">
                            <p:stCondLst>
                              <p:cond delay="4000"/>
                            </p:stCondLst>
                            <p:childTnLst>
                              <p:par>
                                <p:cTn id="43" presetID="22" presetClass="entr" presetSubtype="8" fill="hold" nodeType="afterEffect">
                                  <p:stCondLst>
                                    <p:cond delay="0"/>
                                  </p:stCondLst>
                                  <p:childTnLst>
                                    <p:set>
                                      <p:cBhvr>
                                        <p:cTn id="44" dur="1000" fill="hold">
                                          <p:stCondLst>
                                            <p:cond delay="0"/>
                                          </p:stCondLst>
                                        </p:cTn>
                                        <p:tgtEl>
                                          <p:spTgt spid="27"/>
                                        </p:tgtEl>
                                        <p:attrNameLst>
                                          <p:attrName>style.visibility</p:attrName>
                                        </p:attrNameLst>
                                      </p:cBhvr>
                                      <p:to>
                                        <p:strVal val="visible"/>
                                      </p:to>
                                    </p:set>
                                    <p:animEffect transition="in" filter="wipe(left)">
                                      <p:cBhvr>
                                        <p:cTn id="45" dur="1000"/>
                                        <p:tgtEl>
                                          <p:spTgt spid="27"/>
                                        </p:tgtEl>
                                      </p:cBhvr>
                                    </p:animEffect>
                                  </p:childTnLst>
                                </p:cTn>
                              </p:par>
                            </p:childTnLst>
                          </p:cTn>
                        </p:par>
                        <p:par>
                          <p:cTn id="46" fill="hold">
                            <p:stCondLst>
                              <p:cond delay="5000"/>
                            </p:stCondLst>
                            <p:childTnLst>
                              <p:par>
                                <p:cTn id="47" presetID="1" presetClass="entr" presetSubtype="0"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par>
                          <p:cTn id="49" fill="hold">
                            <p:stCondLst>
                              <p:cond delay="5000"/>
                            </p:stCondLst>
                            <p:childTnLst>
                              <p:par>
                                <p:cTn id="50" presetID="22" presetClass="entr" presetSubtype="8" fill="hold" nodeType="afterEffect">
                                  <p:stCondLst>
                                    <p:cond delay="0"/>
                                  </p:stCondLst>
                                  <p:childTnLst>
                                    <p:set>
                                      <p:cBhvr>
                                        <p:cTn id="51" dur="1000" fill="hold">
                                          <p:stCondLst>
                                            <p:cond delay="0"/>
                                          </p:stCondLst>
                                        </p:cTn>
                                        <p:tgtEl>
                                          <p:spTgt spid="29"/>
                                        </p:tgtEl>
                                        <p:attrNameLst>
                                          <p:attrName>style.visibility</p:attrName>
                                        </p:attrNameLst>
                                      </p:cBhvr>
                                      <p:to>
                                        <p:strVal val="visible"/>
                                      </p:to>
                                    </p:set>
                                    <p:animEffect transition="in" filter="wipe(left)">
                                      <p:cBhvr>
                                        <p:cTn id="52" dur="1000"/>
                                        <p:tgtEl>
                                          <p:spTgt spid="29"/>
                                        </p:tgtEl>
                                      </p:cBhvr>
                                    </p:animEffect>
                                  </p:childTnLst>
                                </p:cTn>
                              </p:par>
                            </p:childTnLst>
                          </p:cTn>
                        </p:par>
                        <p:par>
                          <p:cTn id="53" fill="hold">
                            <p:stCondLst>
                              <p:cond delay="6000"/>
                            </p:stCondLst>
                            <p:childTnLst>
                              <p:par>
                                <p:cTn id="54" presetID="1" presetClass="entr" presetSubtype="0" fill="hold" grpId="0" nodeType="afterEffect">
                                  <p:stCondLst>
                                    <p:cond delay="0"/>
                                  </p:stCondLst>
                                  <p:childTnLst>
                                    <p:set>
                                      <p:cBhvr>
                                        <p:cTn id="55" dur="1" fill="hold">
                                          <p:stCondLst>
                                            <p:cond delay="0"/>
                                          </p:stCondLst>
                                        </p:cTn>
                                        <p:tgtEl>
                                          <p:spTgt spid="2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8" presetClass="entr" presetSubtype="6" fill="hold" grpId="0" nodeType="clickEffect">
                                  <p:stCondLst>
                                    <p:cond delay="0"/>
                                  </p:stCondLst>
                                  <p:childTnLst>
                                    <p:set>
                                      <p:cBhvr>
                                        <p:cTn id="59" dur="1" fill="hold">
                                          <p:stCondLst>
                                            <p:cond delay="0"/>
                                          </p:stCondLst>
                                        </p:cTn>
                                        <p:tgtEl>
                                          <p:spTgt spid="491524"/>
                                        </p:tgtEl>
                                        <p:attrNameLst>
                                          <p:attrName>style.visibility</p:attrName>
                                        </p:attrNameLst>
                                      </p:cBhvr>
                                      <p:to>
                                        <p:strVal val="visible"/>
                                      </p:to>
                                    </p:set>
                                    <p:animEffect transition="in" filter="strips(downRight)">
                                      <p:cBhvr>
                                        <p:cTn id="60" dur="500"/>
                                        <p:tgtEl>
                                          <p:spTgt spid="491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35" grpId="0" animBg="1"/>
      <p:bldP spid="491541" grpId="0" animBg="1"/>
      <p:bldP spid="26" grpId="0" bldLvl="0" animBg="1"/>
      <p:bldP spid="28" grpId="0" bldLvl="0" animBg="1"/>
      <p:bldP spid="491524" grpId="0"/>
      <p:bldP spid="4915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39" name="图片 2776"/>
          <p:cNvPicPr>
            <a:picLocks noChangeAspect="1"/>
          </p:cNvPicPr>
          <p:nvPr/>
        </p:nvPicPr>
        <p:blipFill>
          <a:blip r:embed="rId1"/>
          <a:srcRect r="41747" b="15615"/>
          <a:stretch>
            <a:fillRect/>
          </a:stretch>
        </p:blipFill>
        <p:spPr>
          <a:xfrm>
            <a:off x="797560" y="3068955"/>
            <a:ext cx="2680335" cy="2285365"/>
          </a:xfrm>
          <a:prstGeom prst="rect">
            <a:avLst/>
          </a:prstGeom>
          <a:noFill/>
          <a:ln>
            <a:noFill/>
          </a:ln>
        </p:spPr>
      </p:pic>
      <p:sp>
        <p:nvSpPr>
          <p:cNvPr id="7" name="文本框 6"/>
          <p:cNvSpPr txBox="1"/>
          <p:nvPr/>
        </p:nvSpPr>
        <p:spPr>
          <a:xfrm>
            <a:off x="1049655" y="1276350"/>
            <a:ext cx="2540000" cy="460375"/>
          </a:xfrm>
          <a:prstGeom prst="rect">
            <a:avLst/>
          </a:prstGeom>
          <a:noFill/>
        </p:spPr>
        <p:txBody>
          <a:bodyPr wrap="square" rtlCol="0" anchor="t">
            <a:spAutoFit/>
          </a:bodyPr>
          <a:p>
            <a:r>
              <a:rPr lang="zh-CN" altLang="en-US" sz="2400" b="1"/>
              <a:t>(２) 逻辑功能</a:t>
            </a:r>
            <a:endParaRPr lang="zh-CN" altLang="en-US" sz="2400" b="1"/>
          </a:p>
        </p:txBody>
      </p:sp>
      <p:sp>
        <p:nvSpPr>
          <p:cNvPr id="491541" name="椭圆 491540"/>
          <p:cNvSpPr/>
          <p:nvPr/>
        </p:nvSpPr>
        <p:spPr>
          <a:xfrm>
            <a:off x="1221423" y="265430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35" name="椭圆 491534"/>
          <p:cNvSpPr/>
          <p:nvPr/>
        </p:nvSpPr>
        <p:spPr>
          <a:xfrm>
            <a:off x="2609533" y="265398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2" name="对象 -2147482392"/>
          <p:cNvGraphicFramePr>
            <a:graphicFrameLocks noChangeAspect="1"/>
          </p:cNvGraphicFramePr>
          <p:nvPr/>
        </p:nvGraphicFramePr>
        <p:xfrm>
          <a:off x="836930" y="1736725"/>
          <a:ext cx="2146935" cy="480060"/>
        </p:xfrm>
        <a:graphic>
          <a:graphicData uri="http://schemas.openxmlformats.org/presentationml/2006/ole">
            <mc:AlternateContent xmlns:mc="http://schemas.openxmlformats.org/markup-compatibility/2006">
              <mc:Choice xmlns:v="urn:schemas-microsoft-com:vml" Requires="v">
                <p:oleObj spid="_x0000_s3076" name="" r:id="rId2" imgW="965200" imgH="215900" progId="Equation.KSEE3">
                  <p:embed/>
                </p:oleObj>
              </mc:Choice>
              <mc:Fallback>
                <p:oleObj name="" r:id="rId2" imgW="965200" imgH="215900" progId="Equation.KSEE3">
                  <p:embed/>
                  <p:pic>
                    <p:nvPicPr>
                      <p:cNvPr id="0" name="图片 3075"/>
                      <p:cNvPicPr/>
                      <p:nvPr/>
                    </p:nvPicPr>
                    <p:blipFill>
                      <a:blip r:embed="rId3"/>
                      <a:stretch>
                        <a:fillRect/>
                      </a:stretch>
                    </p:blipFill>
                    <p:spPr>
                      <a:xfrm>
                        <a:off x="836930" y="1736725"/>
                        <a:ext cx="2146935" cy="480060"/>
                      </a:xfrm>
                      <a:prstGeom prst="rect">
                        <a:avLst/>
                      </a:prstGeom>
                      <a:noFill/>
                      <a:ln w="38100">
                        <a:noFill/>
                        <a:miter/>
                      </a:ln>
                    </p:spPr>
                  </p:pic>
                </p:oleObj>
              </mc:Fallback>
            </mc:AlternateContent>
          </a:graphicData>
        </a:graphic>
      </p:graphicFrame>
      <p:sp>
        <p:nvSpPr>
          <p:cNvPr id="8" name="椭圆 7"/>
          <p:cNvSpPr/>
          <p:nvPr/>
        </p:nvSpPr>
        <p:spPr>
          <a:xfrm>
            <a:off x="2770188" y="5285423"/>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9" name="椭圆 8"/>
          <p:cNvSpPr/>
          <p:nvPr/>
        </p:nvSpPr>
        <p:spPr>
          <a:xfrm>
            <a:off x="1049656" y="528574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cxnSp>
        <p:nvCxnSpPr>
          <p:cNvPr id="16" name="直接连接符 15"/>
          <p:cNvCxnSpPr/>
          <p:nvPr/>
        </p:nvCxnSpPr>
        <p:spPr>
          <a:xfrm flipV="1">
            <a:off x="1280795" y="4339590"/>
            <a:ext cx="0" cy="67881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92588" name="矩形 492587"/>
          <p:cNvSpPr/>
          <p:nvPr/>
        </p:nvSpPr>
        <p:spPr>
          <a:xfrm>
            <a:off x="3176905" y="1736725"/>
            <a:ext cx="2012315" cy="521970"/>
          </a:xfrm>
          <a:prstGeom prst="rect">
            <a:avLst/>
          </a:prstGeom>
          <a:noFill/>
          <a:ln w="9525">
            <a:noFill/>
          </a:ln>
        </p:spPr>
        <p:txBody>
          <a:bodyPr wrap="square">
            <a:spAutoFit/>
          </a:bodyPr>
          <a:p>
            <a:pPr algn="l"/>
            <a:r>
              <a:rPr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非定义状态</a:t>
            </a:r>
            <a:endParaRPr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endParaRPr>
          </a:p>
        </p:txBody>
      </p:sp>
      <p:cxnSp>
        <p:nvCxnSpPr>
          <p:cNvPr id="3" name="直接连接符 2"/>
          <p:cNvCxnSpPr/>
          <p:nvPr/>
        </p:nvCxnSpPr>
        <p:spPr>
          <a:xfrm flipV="1">
            <a:off x="2973705" y="4339590"/>
            <a:ext cx="0" cy="67881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4069715" y="2336165"/>
            <a:ext cx="4757420" cy="1050290"/>
            <a:chOff x="6409" y="3679"/>
            <a:chExt cx="7492" cy="1654"/>
          </a:xfrm>
        </p:grpSpPr>
        <p:sp>
          <p:nvSpPr>
            <p:cNvPr id="494603" name="矩形 494602"/>
            <p:cNvSpPr/>
            <p:nvPr/>
          </p:nvSpPr>
          <p:spPr>
            <a:xfrm>
              <a:off x="6409" y="3679"/>
              <a:ext cx="7492" cy="1654"/>
            </a:xfrm>
            <a:prstGeom prst="rect">
              <a:avLst/>
            </a:prstGeom>
            <a:noFill/>
            <a:ln w="9525">
              <a:noFill/>
            </a:ln>
          </p:spPr>
          <p:txBody>
            <a:bodyPr wrap="square" anchor="ctr">
              <a:spAutoFit/>
            </a:bodyPr>
            <a:p>
              <a:pPr algn="l">
                <a:lnSpc>
                  <a:spcPct val="130000"/>
                </a:lnSpc>
              </a:pPr>
              <a:r>
                <a:rPr lang="zh-CN" altLang="en-US" sz="2400" b="1" dirty="0">
                  <a:solidFill>
                    <a:srgbClr val="000066"/>
                  </a:solidFill>
                  <a:latin typeface="Times New Roman" panose="02020603050405020304" charset="0"/>
                  <a:ea typeface="楷体_GB2312" pitchFamily="49" charset="-122"/>
                </a:rPr>
                <a:t>无论初态</a:t>
              </a:r>
              <a:r>
                <a:rPr lang="en-US" altLang="zh-CN" sz="2400" b="1" i="1">
                  <a:solidFill>
                    <a:srgbClr val="000066"/>
                  </a:solidFill>
                  <a:latin typeface="Times New Roman" panose="02020603050405020304" charset="0"/>
                  <a:ea typeface="楷体_GB2312" pitchFamily="49" charset="-122"/>
                </a:rPr>
                <a:t>Q</a:t>
              </a:r>
              <a:r>
                <a:rPr lang="en-US" altLang="zh-CN" sz="2400" b="1" i="1" baseline="30000">
                  <a:solidFill>
                    <a:srgbClr val="000066"/>
                  </a:solidFill>
                  <a:latin typeface="Times New Roman" panose="02020603050405020304" charset="0"/>
                  <a:ea typeface="楷体_GB2312" pitchFamily="49" charset="-122"/>
                </a:rPr>
                <a:t>n</a:t>
              </a:r>
              <a:r>
                <a:rPr lang="zh-CN" altLang="en-US" sz="2400" b="1" dirty="0">
                  <a:solidFill>
                    <a:srgbClr val="000066"/>
                  </a:solidFill>
                  <a:latin typeface="Times New Roman" panose="02020603050405020304" charset="0"/>
                  <a:ea typeface="楷体_GB2312" pitchFamily="49" charset="-122"/>
                </a:rPr>
                <a:t>为</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或</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，触发器的次态       、      都为</a:t>
              </a:r>
              <a:r>
                <a:rPr lang="en-US" altLang="zh-CN" sz="2400" b="1" dirty="0">
                  <a:solidFill>
                    <a:srgbClr val="000066"/>
                  </a:solidFill>
                  <a:latin typeface="Times New Roman" panose="02020603050405020304" charset="0"/>
                  <a:ea typeface="楷体_GB2312" pitchFamily="49" charset="-122"/>
                </a:rPr>
                <a:t>1</a:t>
              </a:r>
              <a:r>
                <a:rPr lang="en-US" altLang="zh-CN" sz="2400" b="1" dirty="0">
                  <a:solidFill>
                    <a:srgbClr val="000066"/>
                  </a:solidFill>
                  <a:latin typeface="Times New Roman" panose="02020603050405020304" charset="0"/>
                  <a:ea typeface="楷体_GB2312" pitchFamily="49" charset="-122"/>
                </a:rPr>
                <a:t> </a:t>
              </a:r>
              <a:r>
                <a:rPr lang="zh-CN" altLang="en-US" sz="2400" b="1" dirty="0">
                  <a:solidFill>
                    <a:srgbClr val="000066"/>
                  </a:solidFill>
                  <a:latin typeface="Times New Roman" panose="02020603050405020304" charset="0"/>
                  <a:ea typeface="楷体_GB2312" pitchFamily="49" charset="-122"/>
                </a:rPr>
                <a:t>。</a:t>
              </a:r>
              <a:endParaRPr lang="zh-CN" altLang="en-US" sz="2400" b="1" dirty="0">
                <a:solidFill>
                  <a:srgbClr val="000066"/>
                </a:solidFill>
                <a:latin typeface="Times New Roman" panose="02020603050405020304" charset="0"/>
                <a:ea typeface="楷体_GB2312" pitchFamily="49" charset="-122"/>
              </a:endParaRPr>
            </a:p>
          </p:txBody>
        </p:sp>
        <p:graphicFrame>
          <p:nvGraphicFramePr>
            <p:cNvPr id="494604" name="对象 494603"/>
            <p:cNvGraphicFramePr/>
            <p:nvPr/>
          </p:nvGraphicFramePr>
          <p:xfrm>
            <a:off x="7055" y="4495"/>
            <a:ext cx="952" cy="738"/>
          </p:xfrm>
          <a:graphic>
            <a:graphicData uri="http://schemas.openxmlformats.org/presentationml/2006/ole">
              <mc:AlternateContent xmlns:mc="http://schemas.openxmlformats.org/markup-compatibility/2006">
                <mc:Choice xmlns:v="urn:schemas-microsoft-com:vml" Requires="v">
                  <p:oleObj spid="_x0000_s3123" name="" r:id="rId4" imgW="304800" imgH="228600" progId="Equation.3">
                    <p:embed/>
                  </p:oleObj>
                </mc:Choice>
                <mc:Fallback>
                  <p:oleObj name="" r:id="rId4" imgW="304800" imgH="228600" progId="Equation.3">
                    <p:embed/>
                    <p:pic>
                      <p:nvPicPr>
                        <p:cNvPr id="0" name="图片 3122"/>
                        <p:cNvPicPr/>
                        <p:nvPr/>
                      </p:nvPicPr>
                      <p:blipFill>
                        <a:blip r:embed="rId5"/>
                        <a:stretch>
                          <a:fillRect/>
                        </a:stretch>
                      </p:blipFill>
                      <p:spPr>
                        <a:xfrm>
                          <a:off x="7055" y="4495"/>
                          <a:ext cx="952" cy="738"/>
                        </a:xfrm>
                        <a:prstGeom prst="rect">
                          <a:avLst/>
                        </a:prstGeom>
                        <a:noFill/>
                        <a:ln w="38100">
                          <a:noFill/>
                          <a:miter/>
                        </a:ln>
                      </p:spPr>
                    </p:pic>
                  </p:oleObj>
                </mc:Fallback>
              </mc:AlternateContent>
            </a:graphicData>
          </a:graphic>
        </p:graphicFrame>
        <p:graphicFrame>
          <p:nvGraphicFramePr>
            <p:cNvPr id="494606" name="对象 494605"/>
            <p:cNvGraphicFramePr/>
            <p:nvPr/>
          </p:nvGraphicFramePr>
          <p:xfrm>
            <a:off x="8172" y="4423"/>
            <a:ext cx="969" cy="882"/>
          </p:xfrm>
          <a:graphic>
            <a:graphicData uri="http://schemas.openxmlformats.org/presentationml/2006/ole">
              <mc:AlternateContent xmlns:mc="http://schemas.openxmlformats.org/markup-compatibility/2006">
                <mc:Choice xmlns:v="urn:schemas-microsoft-com:vml" Requires="v">
                  <p:oleObj spid="_x0000_s3124" name="" r:id="rId6" imgW="316865" imgH="254000" progId="Equation.3">
                    <p:embed/>
                  </p:oleObj>
                </mc:Choice>
                <mc:Fallback>
                  <p:oleObj name="" r:id="rId6" imgW="316865" imgH="254000" progId="Equation.3">
                    <p:embed/>
                    <p:pic>
                      <p:nvPicPr>
                        <p:cNvPr id="0" name="图片 3123"/>
                        <p:cNvPicPr/>
                        <p:nvPr/>
                      </p:nvPicPr>
                      <p:blipFill>
                        <a:blip r:embed="rId7"/>
                        <a:stretch>
                          <a:fillRect/>
                        </a:stretch>
                      </p:blipFill>
                      <p:spPr>
                        <a:xfrm>
                          <a:off x="8172" y="4423"/>
                          <a:ext cx="969" cy="882"/>
                        </a:xfrm>
                        <a:prstGeom prst="rect">
                          <a:avLst/>
                        </a:prstGeom>
                        <a:noFill/>
                        <a:ln w="38100">
                          <a:noFill/>
                          <a:miter/>
                        </a:ln>
                      </p:spPr>
                    </p:pic>
                  </p:oleObj>
                </mc:Fallback>
              </mc:AlternateContent>
            </a:graphicData>
          </a:graphic>
        </p:graphicFrame>
      </p:grpSp>
      <p:sp>
        <p:nvSpPr>
          <p:cNvPr id="494611" name="矩形 494610"/>
          <p:cNvSpPr/>
          <p:nvPr/>
        </p:nvSpPr>
        <p:spPr>
          <a:xfrm>
            <a:off x="4000183" y="3387090"/>
            <a:ext cx="5059680" cy="460375"/>
          </a:xfrm>
          <a:prstGeom prst="rect">
            <a:avLst/>
          </a:prstGeom>
          <a:noFill/>
          <a:ln w="9525">
            <a:noFill/>
          </a:ln>
        </p:spPr>
        <p:txBody>
          <a:bodyPr wrap="none" anchor="t">
            <a:spAutoFit/>
          </a:bodyPr>
          <a:p>
            <a:pPr algn="l"/>
            <a:r>
              <a:rPr lang="zh-CN" altLang="en-US" sz="2400" b="1" dirty="0">
                <a:solidFill>
                  <a:srgbClr val="000066"/>
                </a:solidFill>
                <a:latin typeface="Times New Roman" panose="02020603050405020304" charset="0"/>
                <a:ea typeface="楷体_GB2312" pitchFamily="49" charset="-122"/>
              </a:rPr>
              <a:t>触发器的输出既不是0态，也不是1态</a:t>
            </a:r>
            <a:endParaRPr lang="zh-CN" altLang="en-US" sz="2400" dirty="0">
              <a:solidFill>
                <a:schemeClr val="folHlink"/>
              </a:solidFill>
              <a:latin typeface="Times New Roman" panose="02020603050405020304" charset="0"/>
              <a:ea typeface="楷体_GB2312" pitchFamily="49" charset="-122"/>
            </a:endParaRPr>
          </a:p>
        </p:txBody>
      </p:sp>
      <p:grpSp>
        <p:nvGrpSpPr>
          <p:cNvPr id="11" name="组合 10"/>
          <p:cNvGrpSpPr/>
          <p:nvPr/>
        </p:nvGrpSpPr>
        <p:grpSpPr>
          <a:xfrm>
            <a:off x="4000500" y="3847465"/>
            <a:ext cx="5184140" cy="1640840"/>
            <a:chOff x="6300" y="6059"/>
            <a:chExt cx="8164" cy="2584"/>
          </a:xfrm>
        </p:grpSpPr>
        <p:sp>
          <p:nvSpPr>
            <p:cNvPr id="494610" name="矩形 494609"/>
            <p:cNvSpPr/>
            <p:nvPr/>
          </p:nvSpPr>
          <p:spPr>
            <a:xfrm>
              <a:off x="6300" y="6059"/>
              <a:ext cx="8165" cy="2585"/>
            </a:xfrm>
            <a:prstGeom prst="rect">
              <a:avLst/>
            </a:prstGeom>
            <a:noFill/>
            <a:ln w="9525">
              <a:noFill/>
            </a:ln>
          </p:spPr>
          <p:txBody>
            <a:bodyPr>
              <a:spAutoFit/>
            </a:bodyPr>
            <a:p>
              <a:pPr algn="l">
                <a:lnSpc>
                  <a:spcPct val="140000"/>
                </a:lnSpc>
              </a:pPr>
              <a:r>
                <a:rPr lang="zh-CN" altLang="en-US" sz="2400" b="1" dirty="0">
                  <a:solidFill>
                    <a:srgbClr val="000066"/>
                  </a:solidFill>
                  <a:latin typeface="Times New Roman" panose="02020603050405020304" charset="0"/>
                  <a:ea typeface="楷体_GB2312" pitchFamily="49" charset="-122"/>
                </a:rPr>
                <a:t>当     、  同时回到</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时，由于两个与非门的延迟时间无法确定，使得触发器最终稳定状态也不能确定。</a:t>
              </a:r>
              <a:endParaRPr lang="zh-CN" altLang="en-US" sz="2400" b="1" dirty="0">
                <a:solidFill>
                  <a:srgbClr val="000066"/>
                </a:solidFill>
                <a:latin typeface="Times New Roman" panose="02020603050405020304" charset="0"/>
                <a:ea typeface="楷体_GB2312" pitchFamily="49" charset="-122"/>
              </a:endParaRPr>
            </a:p>
          </p:txBody>
        </p:sp>
        <p:graphicFrame>
          <p:nvGraphicFramePr>
            <p:cNvPr id="4" name="对象 -2147482508"/>
            <p:cNvGraphicFramePr>
              <a:graphicFrameLocks noChangeAspect="1"/>
            </p:cNvGraphicFramePr>
            <p:nvPr/>
          </p:nvGraphicFramePr>
          <p:xfrm>
            <a:off x="6963" y="6202"/>
            <a:ext cx="474" cy="632"/>
          </p:xfrm>
          <a:graphic>
            <a:graphicData uri="http://schemas.openxmlformats.org/presentationml/2006/ole">
              <mc:AlternateContent xmlns:mc="http://schemas.openxmlformats.org/markup-compatibility/2006">
                <mc:Choice xmlns:v="urn:schemas-microsoft-com:vml" Requires="v">
                  <p:oleObj spid="_x0000_s6" name="" r:id="rId8" imgW="152400" imgH="203200" progId="Equation.KSEE3">
                    <p:embed/>
                  </p:oleObj>
                </mc:Choice>
                <mc:Fallback>
                  <p:oleObj name="" r:id="rId8" imgW="152400" imgH="203200" progId="Equation.KSEE3">
                    <p:embed/>
                    <p:pic>
                      <p:nvPicPr>
                        <p:cNvPr id="0" name="图片 5"/>
                        <p:cNvPicPr/>
                        <p:nvPr/>
                      </p:nvPicPr>
                      <p:blipFill>
                        <a:blip r:embed="rId9"/>
                        <a:stretch>
                          <a:fillRect/>
                        </a:stretch>
                      </p:blipFill>
                      <p:spPr>
                        <a:xfrm>
                          <a:off x="6963" y="6202"/>
                          <a:ext cx="474" cy="632"/>
                        </a:xfrm>
                        <a:prstGeom prst="rect">
                          <a:avLst/>
                        </a:prstGeom>
                        <a:noFill/>
                        <a:ln w="38100">
                          <a:noFill/>
                          <a:miter/>
                        </a:ln>
                      </p:spPr>
                    </p:pic>
                  </p:oleObj>
                </mc:Fallback>
              </mc:AlternateContent>
            </a:graphicData>
          </a:graphic>
        </p:graphicFrame>
        <p:graphicFrame>
          <p:nvGraphicFramePr>
            <p:cNvPr id="10" name="对象 -2147482504"/>
            <p:cNvGraphicFramePr>
              <a:graphicFrameLocks noChangeAspect="1"/>
            </p:cNvGraphicFramePr>
            <p:nvPr/>
          </p:nvGraphicFramePr>
          <p:xfrm>
            <a:off x="7756" y="6202"/>
            <a:ext cx="416" cy="644"/>
          </p:xfrm>
          <a:graphic>
            <a:graphicData uri="http://schemas.openxmlformats.org/presentationml/2006/ole">
              <mc:AlternateContent xmlns:mc="http://schemas.openxmlformats.org/markup-compatibility/2006">
                <mc:Choice xmlns:v="urn:schemas-microsoft-com:vml" Requires="v">
                  <p:oleObj spid="_x0000_s13" name="" r:id="rId10" imgW="139700" imgH="215900" progId="Equation.KSEE3">
                    <p:embed/>
                  </p:oleObj>
                </mc:Choice>
                <mc:Fallback>
                  <p:oleObj name="" r:id="rId10" imgW="139700" imgH="215900" progId="Equation.KSEE3">
                    <p:embed/>
                    <p:pic>
                      <p:nvPicPr>
                        <p:cNvPr id="0" name="图片 9"/>
                        <p:cNvPicPr/>
                        <p:nvPr/>
                      </p:nvPicPr>
                      <p:blipFill>
                        <a:blip r:embed="rId11"/>
                        <a:stretch>
                          <a:fillRect/>
                        </a:stretch>
                      </p:blipFill>
                      <p:spPr>
                        <a:xfrm>
                          <a:off x="7756" y="6202"/>
                          <a:ext cx="416" cy="644"/>
                        </a:xfrm>
                        <a:prstGeom prst="rect">
                          <a:avLst/>
                        </a:prstGeom>
                        <a:noFill/>
                        <a:ln w="38100">
                          <a:noFill/>
                          <a:miter/>
                        </a:ln>
                      </p:spPr>
                    </p:pic>
                  </p:oleObj>
                </mc:Fallback>
              </mc:AlternateContent>
            </a:graphicData>
          </a:graphic>
        </p:graphicFrame>
      </p:grpSp>
      <p:grpSp>
        <p:nvGrpSpPr>
          <p:cNvPr id="17" name="组合 16"/>
          <p:cNvGrpSpPr/>
          <p:nvPr/>
        </p:nvGrpSpPr>
        <p:grpSpPr>
          <a:xfrm>
            <a:off x="4069715" y="5594985"/>
            <a:ext cx="4464050" cy="457200"/>
            <a:chOff x="6409" y="8811"/>
            <a:chExt cx="7030" cy="720"/>
          </a:xfrm>
        </p:grpSpPr>
        <p:sp>
          <p:nvSpPr>
            <p:cNvPr id="496686" name="矩形 496685"/>
            <p:cNvSpPr/>
            <p:nvPr/>
          </p:nvSpPr>
          <p:spPr>
            <a:xfrm>
              <a:off x="6409" y="8811"/>
              <a:ext cx="7030" cy="720"/>
            </a:xfrm>
            <a:prstGeom prst="rect">
              <a:avLst/>
            </a:prstGeom>
            <a:noFill/>
            <a:ln w="9525">
              <a:noFill/>
            </a:ln>
          </p:spPr>
          <p:txBody>
            <a:bodyPr>
              <a:spAutoFit/>
            </a:bodyPr>
            <a:p>
              <a:pPr algn="l"/>
              <a:r>
                <a:rPr lang="zh-CN" altLang="en-US" sz="2400" dirty="0">
                  <a:solidFill>
                    <a:srgbClr val="FF0000"/>
                  </a:solidFill>
                  <a:effectLst>
                    <a:outerShdw blurRad="38100" dist="38100" dir="2700000" algn="tl">
                      <a:srgbClr val="000000">
                        <a:alpha val="43137"/>
                      </a:srgbClr>
                    </a:outerShdw>
                  </a:effectLst>
                  <a:latin typeface="Tahoma" panose="020B0604030504040204" pitchFamily="34" charset="0"/>
                  <a:ea typeface="楷体_GB2312" pitchFamily="49" charset="-122"/>
                </a:rPr>
                <a:t>约束条件</a:t>
              </a:r>
              <a:r>
                <a:rPr lang="en-US" altLang="zh-CN" sz="2400">
                  <a:solidFill>
                    <a:srgbClr val="FF0000"/>
                  </a:solidFill>
                  <a:effectLst>
                    <a:outerShdw blurRad="38100" dist="38100" dir="2700000" algn="tl">
                      <a:srgbClr val="000000">
                        <a:alpha val="43137"/>
                      </a:srgbClr>
                    </a:outerShdw>
                  </a:effectLst>
                  <a:latin typeface="Tahoma" panose="020B0604030504040204" pitchFamily="34" charset="0"/>
                  <a:ea typeface="楷体_GB2312" pitchFamily="49" charset="-122"/>
                </a:rPr>
                <a:t>:     </a:t>
              </a:r>
              <a:r>
                <a:rPr lang="en-US" altLang="zh-CN" sz="2400" i="1">
                  <a:solidFill>
                    <a:srgbClr val="FF0000"/>
                  </a:solidFill>
                  <a:effectLst>
                    <a:outerShdw blurRad="38100" dist="38100" dir="2700000" algn="tl">
                      <a:srgbClr val="000000">
                        <a:alpha val="43137"/>
                      </a:srgbClr>
                    </a:outerShdw>
                  </a:effectLst>
                  <a:latin typeface="Tahoma" panose="020B0604030504040204" pitchFamily="34" charset="0"/>
                  <a:ea typeface="楷体_GB2312" pitchFamily="49" charset="-122"/>
                </a:rPr>
                <a:t>  </a:t>
              </a:r>
              <a:r>
                <a:rPr lang="en-US" altLang="zh-CN" sz="2400" i="1">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S </a:t>
              </a:r>
              <a:r>
                <a:rPr lang="en-US" altLang="zh-CN" sz="240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a:t>
              </a:r>
              <a:r>
                <a:rPr lang="en-US" altLang="zh-CN" sz="2400" i="1">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R = </a:t>
              </a:r>
              <a:r>
                <a:rPr lang="en-US" altLang="zh-CN" sz="2400" dirty="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1</a:t>
              </a:r>
              <a:endParaRPr lang="en-US" altLang="zh-CN" sz="2400" dirty="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cxnSp>
          <p:nvCxnSpPr>
            <p:cNvPr id="14" name="直接连接符 13"/>
            <p:cNvCxnSpPr/>
            <p:nvPr/>
          </p:nvCxnSpPr>
          <p:spPr>
            <a:xfrm>
              <a:off x="9674" y="8945"/>
              <a:ext cx="352"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5" name="直接连接符 14"/>
            <p:cNvCxnSpPr/>
            <p:nvPr/>
          </p:nvCxnSpPr>
          <p:spPr>
            <a:xfrm>
              <a:off x="10320" y="8945"/>
              <a:ext cx="352" cy="0"/>
            </a:xfrm>
            <a:prstGeom prst="line">
              <a:avLst/>
            </a:prstGeom>
            <a:noFill/>
            <a:ln w="9525" cap="flat" cmpd="sng" algn="ctr">
              <a:solidFill>
                <a:srgbClr val="FF0000"/>
              </a:solidFill>
              <a:prstDash val="solid"/>
            </a:ln>
            <a:effectLst/>
          </p:spPr>
          <p:style>
            <a:lnRef idx="1">
              <a:schemeClr val="accent4"/>
            </a:lnRef>
            <a:fillRef idx="0">
              <a:schemeClr val="accent4"/>
            </a:fillRef>
            <a:effectRef idx="0">
              <a:schemeClr val="accent4"/>
            </a:effectRef>
            <a:fontRef idx="minor">
              <a:schemeClr val="tx1"/>
            </a:fontRef>
          </p:style>
        </p:cxnSp>
      </p:gr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000" fill="hold">
                                          <p:stCondLst>
                                            <p:cond delay="0"/>
                                          </p:stCondLst>
                                        </p:cTn>
                                        <p:tgtEl>
                                          <p:spTgt spid="16"/>
                                        </p:tgtEl>
                                        <p:attrNameLst>
                                          <p:attrName>style.visibility</p:attrName>
                                        </p:attrNameLst>
                                      </p:cBhvr>
                                      <p:to>
                                        <p:strVal val="visible"/>
                                      </p:to>
                                    </p:set>
                                    <p:animEffect transition="in" filter="wipe(down)">
                                      <p:cBhvr>
                                        <p:cTn id="7" dur="1000"/>
                                        <p:tgtEl>
                                          <p:spTgt spid="16"/>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491541"/>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4" fill="hold" nodeType="afterEffect">
                                  <p:stCondLst>
                                    <p:cond delay="0"/>
                                  </p:stCondLst>
                                  <p:childTnLst>
                                    <p:set>
                                      <p:cBhvr>
                                        <p:cTn id="13" dur="1000" fill="hold">
                                          <p:stCondLst>
                                            <p:cond delay="0"/>
                                          </p:stCondLst>
                                        </p:cTn>
                                        <p:tgtEl>
                                          <p:spTgt spid="3"/>
                                        </p:tgtEl>
                                        <p:attrNameLst>
                                          <p:attrName>style.visibility</p:attrName>
                                        </p:attrNameLst>
                                      </p:cBhvr>
                                      <p:to>
                                        <p:strVal val="visible"/>
                                      </p:to>
                                    </p:set>
                                    <p:animEffect transition="in" filter="wipe(down)">
                                      <p:cBhvr>
                                        <p:cTn id="14" dur="1000"/>
                                        <p:tgtEl>
                                          <p:spTgt spid="3"/>
                                        </p:tgtEl>
                                      </p:cBhvr>
                                    </p:animEffect>
                                  </p:childTnLst>
                                </p:cTn>
                              </p:par>
                            </p:childTnLst>
                          </p:cTn>
                        </p:par>
                        <p:par>
                          <p:cTn id="15" fill="hold">
                            <p:stCondLst>
                              <p:cond delay="2000"/>
                            </p:stCondLst>
                            <p:childTnLst>
                              <p:par>
                                <p:cTn id="16" presetID="1" presetClass="entr" presetSubtype="0" fill="hold" grpId="0" nodeType="afterEffect">
                                  <p:stCondLst>
                                    <p:cond delay="0"/>
                                  </p:stCondLst>
                                  <p:childTnLst>
                                    <p:set>
                                      <p:cBhvr>
                                        <p:cTn id="17" dur="1" fill="hold">
                                          <p:stCondLst>
                                            <p:cond delay="0"/>
                                          </p:stCondLst>
                                        </p:cTn>
                                        <p:tgtEl>
                                          <p:spTgt spid="49153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9258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par>
                          <p:cTn id="26" fill="hold">
                            <p:stCondLst>
                              <p:cond delay="0"/>
                            </p:stCondLst>
                            <p:childTnLst>
                              <p:par>
                                <p:cTn id="27" presetID="18" presetClass="entr" presetSubtype="6" fill="hold" grpId="0" nodeType="afterEffect">
                                  <p:stCondLst>
                                    <p:cond delay="1500"/>
                                  </p:stCondLst>
                                  <p:childTnLst>
                                    <p:set>
                                      <p:cBhvr>
                                        <p:cTn id="28" dur="1" fill="hold">
                                          <p:stCondLst>
                                            <p:cond delay="0"/>
                                          </p:stCondLst>
                                        </p:cTn>
                                        <p:tgtEl>
                                          <p:spTgt spid="494611"/>
                                        </p:tgtEl>
                                        <p:attrNameLst>
                                          <p:attrName>style.visibility</p:attrName>
                                        </p:attrNameLst>
                                      </p:cBhvr>
                                      <p:to>
                                        <p:strVal val="visible"/>
                                      </p:to>
                                    </p:set>
                                    <p:animEffect transition="in" filter="strips(downRight)">
                                      <p:cBhvr>
                                        <p:cTn id="29" dur="500"/>
                                        <p:tgtEl>
                                          <p:spTgt spid="494611"/>
                                        </p:tgtEl>
                                      </p:cBhvr>
                                    </p:animEffect>
                                  </p:childTnLst>
                                </p:cTn>
                              </p:par>
                            </p:childTnLst>
                          </p:cTn>
                        </p:par>
                        <p:par>
                          <p:cTn id="30" fill="hold">
                            <p:stCondLst>
                              <p:cond delay="2000"/>
                            </p:stCondLst>
                            <p:childTnLst>
                              <p:par>
                                <p:cTn id="31" presetID="1" presetClass="entr" presetSubtype="0" fill="hold" nodeType="afterEffect">
                                  <p:stCondLst>
                                    <p:cond delay="150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1" grpId="0" bldLvl="0" animBg="1"/>
      <p:bldP spid="491535" grpId="0" bldLvl="0" animBg="1"/>
      <p:bldP spid="492588" grpId="0"/>
      <p:bldP spid="4946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333375" y="1619250"/>
            <a:ext cx="8477250" cy="3619500"/>
          </a:xfrm>
          <a:prstGeom prst="rect">
            <a:avLst/>
          </a:prstGeom>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2" name="文本框 101"/>
          <p:cNvSpPr txBox="1"/>
          <p:nvPr/>
        </p:nvSpPr>
        <p:spPr>
          <a:xfrm>
            <a:off x="168910" y="1381125"/>
            <a:ext cx="8679815" cy="829945"/>
          </a:xfrm>
          <a:prstGeom prst="rect">
            <a:avLst/>
          </a:prstGeom>
          <a:noFill/>
          <a:ln w="9525">
            <a:noFill/>
          </a:ln>
        </p:spPr>
        <p:txBody>
          <a:bodyPr wrap="square">
            <a:spAutoFit/>
          </a:bodyPr>
          <a:p>
            <a:pPr indent="267970"/>
            <a:r>
              <a:rPr lang="zh-CN" sz="2400" b="1">
                <a:solidFill>
                  <a:srgbClr val="000000"/>
                </a:solidFill>
                <a:ea typeface="宋体" panose="02010600030101010101" pitchFamily="2" charset="-122"/>
              </a:rPr>
              <a:t>【例</a:t>
            </a:r>
            <a:r>
              <a:rPr lang="en-US" sz="2400" b="1">
                <a:solidFill>
                  <a:srgbClr val="000000"/>
                </a:solidFill>
                <a:latin typeface="Times New Roman" panose="02020603050405020304" charset="0"/>
              </a:rPr>
              <a:t>5-1</a:t>
            </a:r>
            <a:r>
              <a:rPr lang="zh-CN" sz="2400" b="1">
                <a:solidFill>
                  <a:srgbClr val="000000"/>
                </a:solidFill>
                <a:ea typeface="宋体" panose="02010600030101010101" pitchFamily="2" charset="-122"/>
              </a:rPr>
              <a:t>】</a:t>
            </a:r>
            <a:r>
              <a:rPr lang="en-US" sz="2400" b="1">
                <a:solidFill>
                  <a:srgbClr val="000000"/>
                </a:solidFill>
                <a:latin typeface="Times New Roman" panose="02020603050405020304" charset="0"/>
              </a:rPr>
              <a:t> </a:t>
            </a:r>
            <a:r>
              <a:rPr lang="zh-CN" sz="2400" b="1">
                <a:solidFill>
                  <a:srgbClr val="000000"/>
                </a:solidFill>
                <a:ea typeface="宋体" panose="02010600030101010101" pitchFamily="2" charset="-122"/>
              </a:rPr>
              <a:t>在用与非门组成的基本</a:t>
            </a:r>
            <a:r>
              <a:rPr lang="en-US" sz="2400" b="1" i="1">
                <a:solidFill>
                  <a:srgbClr val="000000"/>
                </a:solidFill>
                <a:latin typeface="Times New Roman" panose="02020603050405020304" charset="0"/>
              </a:rPr>
              <a:t>RS</a:t>
            </a:r>
            <a:r>
              <a:rPr lang="zh-CN" sz="2400" b="1">
                <a:solidFill>
                  <a:srgbClr val="000000"/>
                </a:solidFill>
                <a:ea typeface="宋体" panose="02010600030101010101" pitchFamily="2" charset="-122"/>
              </a:rPr>
              <a:t>锁存器中，设初始状态为</a:t>
            </a:r>
            <a:r>
              <a:rPr lang="en-US" sz="2400" b="1">
                <a:solidFill>
                  <a:srgbClr val="000000"/>
                </a:solidFill>
                <a:latin typeface="Times New Roman" panose="02020603050405020304" charset="0"/>
              </a:rPr>
              <a:t>0</a:t>
            </a:r>
            <a:r>
              <a:rPr lang="zh-CN" sz="2400" b="1">
                <a:solidFill>
                  <a:srgbClr val="000000"/>
                </a:solidFill>
                <a:ea typeface="宋体" panose="02010600030101010101" pitchFamily="2" charset="-122"/>
              </a:rPr>
              <a:t>，已知输入   、  </a:t>
            </a:r>
            <a:r>
              <a:rPr lang="zh-CN" sz="2400" b="1">
                <a:solidFill>
                  <a:srgbClr val="000000"/>
                </a:solidFill>
                <a:sym typeface="+mn-ea"/>
              </a:rPr>
              <a:t>的波形图，画出输出端</a:t>
            </a:r>
            <a:r>
              <a:rPr lang="en-US" sz="2400" b="1" i="1">
                <a:solidFill>
                  <a:srgbClr val="000000"/>
                </a:solidFill>
                <a:latin typeface="Times New Roman" panose="02020603050405020304" charset="0"/>
                <a:sym typeface="+mn-ea"/>
              </a:rPr>
              <a:t>Q</a:t>
            </a:r>
            <a:r>
              <a:rPr lang="zh-CN" sz="2400" b="1">
                <a:solidFill>
                  <a:srgbClr val="000000"/>
                </a:solidFill>
                <a:sym typeface="+mn-ea"/>
              </a:rPr>
              <a:t>和    的波形图。</a:t>
            </a:r>
            <a:endParaRPr lang="zh-CN" altLang="en-US" sz="2400" b="1">
              <a:solidFill>
                <a:srgbClr val="000000"/>
              </a:solidFill>
              <a:sym typeface="+mn-ea"/>
            </a:endParaRPr>
          </a:p>
        </p:txBody>
      </p:sp>
      <p:pic>
        <p:nvPicPr>
          <p:cNvPr id="4" name="图片 3"/>
          <p:cNvPicPr/>
          <p:nvPr/>
        </p:nvPicPr>
        <p:blipFill>
          <a:blip r:embed="rId1"/>
          <a:stretch>
            <a:fillRect/>
          </a:stretch>
        </p:blipFill>
        <p:spPr>
          <a:xfrm>
            <a:off x="1851660" y="1762125"/>
            <a:ext cx="358775" cy="354330"/>
          </a:xfrm>
          <a:prstGeom prst="rect">
            <a:avLst/>
          </a:prstGeom>
          <a:noFill/>
          <a:ln w="9525">
            <a:noFill/>
          </a:ln>
        </p:spPr>
      </p:pic>
      <p:pic>
        <p:nvPicPr>
          <p:cNvPr id="6" name="图片 5"/>
          <p:cNvPicPr/>
          <p:nvPr/>
        </p:nvPicPr>
        <p:blipFill>
          <a:blip r:embed="rId2"/>
          <a:stretch>
            <a:fillRect/>
          </a:stretch>
        </p:blipFill>
        <p:spPr>
          <a:xfrm>
            <a:off x="2341245" y="1763395"/>
            <a:ext cx="391160" cy="353060"/>
          </a:xfrm>
          <a:prstGeom prst="rect">
            <a:avLst/>
          </a:prstGeom>
          <a:noFill/>
          <a:ln w="9525">
            <a:noFill/>
          </a:ln>
        </p:spPr>
      </p:pic>
      <p:pic>
        <p:nvPicPr>
          <p:cNvPr id="7" name="图片 6"/>
          <p:cNvPicPr/>
          <p:nvPr/>
        </p:nvPicPr>
        <p:blipFill>
          <a:blip r:embed="rId3"/>
          <a:stretch>
            <a:fillRect/>
          </a:stretch>
        </p:blipFill>
        <p:spPr>
          <a:xfrm>
            <a:off x="6196330" y="1763395"/>
            <a:ext cx="356870" cy="367665"/>
          </a:xfrm>
          <a:prstGeom prst="rect">
            <a:avLst/>
          </a:prstGeom>
          <a:noFill/>
          <a:ln w="9525">
            <a:noFill/>
          </a:ln>
        </p:spPr>
      </p:pic>
      <p:sp>
        <p:nvSpPr>
          <p:cNvPr id="8" name="文本框 7"/>
          <p:cNvSpPr txBox="1"/>
          <p:nvPr/>
        </p:nvSpPr>
        <p:spPr>
          <a:xfrm>
            <a:off x="294640" y="2207895"/>
            <a:ext cx="4225290" cy="4078605"/>
          </a:xfrm>
          <a:prstGeom prst="rect">
            <a:avLst/>
          </a:prstGeom>
          <a:noFill/>
        </p:spPr>
        <p:txBody>
          <a:bodyPr wrap="square" rtlCol="0">
            <a:spAutoFit/>
          </a:bodyPr>
          <a:p>
            <a:pPr>
              <a:lnSpc>
                <a:spcPct val="120000"/>
              </a:lnSpc>
            </a:pPr>
            <a:r>
              <a:rPr lang="zh-CN" altLang="en-US" sz="2400" b="1"/>
              <a:t>解：①           ，维持原态0；</a:t>
            </a:r>
            <a:endParaRPr lang="zh-CN" altLang="en-US" sz="2400" b="1"/>
          </a:p>
          <a:p>
            <a:pPr>
              <a:lnSpc>
                <a:spcPct val="120000"/>
              </a:lnSpc>
            </a:pPr>
            <a:r>
              <a:rPr lang="zh-CN" altLang="en-US" sz="2400" b="1"/>
              <a:t>②            ，置1；</a:t>
            </a:r>
            <a:endParaRPr lang="zh-CN" altLang="en-US" sz="2400" b="1"/>
          </a:p>
          <a:p>
            <a:pPr>
              <a:lnSpc>
                <a:spcPct val="120000"/>
              </a:lnSpc>
            </a:pPr>
            <a:r>
              <a:rPr lang="zh-CN" altLang="en-US" sz="2400" b="1"/>
              <a:t>③            ，置0；</a:t>
            </a:r>
            <a:endParaRPr lang="zh-CN" altLang="en-US" sz="2400" b="1"/>
          </a:p>
          <a:p>
            <a:pPr>
              <a:lnSpc>
                <a:spcPct val="120000"/>
              </a:lnSpc>
            </a:pPr>
            <a:r>
              <a:rPr lang="zh-CN" altLang="en-US" sz="2400" b="1"/>
              <a:t>④            ，锁存器的</a:t>
            </a:r>
            <a:r>
              <a:rPr lang="zh-CN" altLang="en-US" sz="2400" b="1" i="1">
                <a:latin typeface="Times New Roman" panose="02020603050405020304" charset="0"/>
                <a:cs typeface="Times New Roman" panose="02020603050405020304" charset="0"/>
              </a:rPr>
              <a:t>Q</a:t>
            </a:r>
            <a:r>
              <a:rPr lang="zh-CN" altLang="en-US" sz="2400" b="1"/>
              <a:t>和  端</a:t>
            </a:r>
            <a:endParaRPr lang="zh-CN" altLang="en-US" sz="2400" b="1"/>
          </a:p>
          <a:p>
            <a:pPr>
              <a:lnSpc>
                <a:spcPct val="120000"/>
              </a:lnSpc>
            </a:pPr>
            <a:r>
              <a:rPr lang="zh-CN" altLang="en-US" sz="2400" b="1"/>
              <a:t>同时为1，当    和    的低电平信号同时消失后，由于逻辑门传输延迟时间不可能完全相同，使得输出状态不定。图中用剖面线表示输出状态不定。</a:t>
            </a:r>
            <a:endParaRPr lang="zh-CN" altLang="en-US" sz="2400" b="1"/>
          </a:p>
        </p:txBody>
      </p:sp>
      <p:graphicFrame>
        <p:nvGraphicFramePr>
          <p:cNvPr id="2" name="对象 -2147482492"/>
          <p:cNvGraphicFramePr>
            <a:graphicFrameLocks noChangeAspect="1"/>
          </p:cNvGraphicFramePr>
          <p:nvPr/>
        </p:nvGraphicFramePr>
        <p:xfrm>
          <a:off x="1270000" y="2277110"/>
          <a:ext cx="940435" cy="397510"/>
        </p:xfrm>
        <a:graphic>
          <a:graphicData uri="http://schemas.openxmlformats.org/presentationml/2006/ole">
            <mc:AlternateContent xmlns:mc="http://schemas.openxmlformats.org/markup-compatibility/2006">
              <mc:Choice xmlns:v="urn:schemas-microsoft-com:vml" Requires="v">
                <p:oleObj spid="_x0000_s10" name="" r:id="rId4" imgW="545465" imgH="215900" progId="Equation.KSEE3">
                  <p:embed/>
                </p:oleObj>
              </mc:Choice>
              <mc:Fallback>
                <p:oleObj name="" r:id="rId4" imgW="545465" imgH="215900" progId="Equation.KSEE3">
                  <p:embed/>
                  <p:pic>
                    <p:nvPicPr>
                      <p:cNvPr id="0" name="图片 9"/>
                      <p:cNvPicPr/>
                      <p:nvPr/>
                    </p:nvPicPr>
                    <p:blipFill>
                      <a:blip r:embed="rId5"/>
                      <a:stretch>
                        <a:fillRect/>
                      </a:stretch>
                    </p:blipFill>
                    <p:spPr>
                      <a:xfrm>
                        <a:off x="1270000" y="2277110"/>
                        <a:ext cx="940435" cy="397510"/>
                      </a:xfrm>
                      <a:prstGeom prst="rect">
                        <a:avLst/>
                      </a:prstGeom>
                      <a:noFill/>
                      <a:ln w="38100">
                        <a:noFill/>
                        <a:miter/>
                      </a:ln>
                    </p:spPr>
                  </p:pic>
                </p:oleObj>
              </mc:Fallback>
            </mc:AlternateContent>
          </a:graphicData>
        </a:graphic>
      </p:graphicFrame>
      <p:pic>
        <p:nvPicPr>
          <p:cNvPr id="9340" name="图片 2777"/>
          <p:cNvPicPr>
            <a:picLocks noChangeAspect="1"/>
          </p:cNvPicPr>
          <p:nvPr/>
        </p:nvPicPr>
        <p:blipFill>
          <a:blip r:embed="rId6"/>
          <a:stretch>
            <a:fillRect/>
          </a:stretch>
        </p:blipFill>
        <p:spPr>
          <a:xfrm>
            <a:off x="4674235" y="2618105"/>
            <a:ext cx="4285615" cy="2152650"/>
          </a:xfrm>
          <a:prstGeom prst="rect">
            <a:avLst/>
          </a:prstGeom>
          <a:noFill/>
          <a:ln>
            <a:noFill/>
          </a:ln>
        </p:spPr>
      </p:pic>
      <p:sp>
        <p:nvSpPr>
          <p:cNvPr id="11" name="文本框 10"/>
          <p:cNvSpPr txBox="1"/>
          <p:nvPr/>
        </p:nvSpPr>
        <p:spPr>
          <a:xfrm>
            <a:off x="5574030" y="4918075"/>
            <a:ext cx="3042920" cy="398780"/>
          </a:xfrm>
          <a:prstGeom prst="rect">
            <a:avLst/>
          </a:prstGeom>
          <a:noFill/>
          <a:ln w="9525">
            <a:noFill/>
          </a:ln>
        </p:spPr>
        <p:txBody>
          <a:bodyPr wrap="square">
            <a:spAutoFit/>
          </a:bodyPr>
          <a:p>
            <a:r>
              <a:rPr lang="zh-CN" sz="2000">
                <a:solidFill>
                  <a:srgbClr val="000000"/>
                </a:solidFill>
                <a:ea typeface="宋体" panose="02010600030101010101" pitchFamily="2" charset="-122"/>
              </a:rPr>
              <a:t>图</a:t>
            </a:r>
            <a:r>
              <a:rPr lang="en-US" sz="2000">
                <a:solidFill>
                  <a:srgbClr val="000000"/>
                </a:solidFill>
                <a:latin typeface="Times New Roman" panose="02020603050405020304" charset="0"/>
                <a:ea typeface="宋体" panose="02010600030101010101" pitchFamily="2" charset="-122"/>
                <a:cs typeface="Times New Roman" panose="02020603050405020304" charset="0"/>
              </a:rPr>
              <a:t>5-</a:t>
            </a:r>
            <a:r>
              <a:rPr lang="en-US" sz="2000">
                <a:solidFill>
                  <a:srgbClr val="000000"/>
                </a:solidFill>
                <a:latin typeface="Times New Roman" panose="02020603050405020304" charset="0"/>
                <a:ea typeface="宋体" panose="02010600030101010101" pitchFamily="2" charset="-122"/>
              </a:rPr>
              <a:t>2</a:t>
            </a:r>
            <a:r>
              <a:rPr lang="zh-CN" sz="2000">
                <a:solidFill>
                  <a:srgbClr val="000000"/>
                </a:solidFill>
                <a:ea typeface="宋体" panose="02010600030101010101" pitchFamily="2" charset="-122"/>
              </a:rPr>
              <a:t>例</a:t>
            </a:r>
            <a:r>
              <a:rPr lang="en-US" sz="2000">
                <a:solidFill>
                  <a:srgbClr val="000000"/>
                </a:solidFill>
                <a:latin typeface="Times New Roman" panose="02020603050405020304" charset="0"/>
                <a:ea typeface="宋体" panose="02010600030101010101" pitchFamily="2" charset="-122"/>
                <a:cs typeface="Times New Roman" panose="02020603050405020304" charset="0"/>
              </a:rPr>
              <a:t>5-</a:t>
            </a:r>
            <a:r>
              <a:rPr lang="en-US" sz="2000">
                <a:solidFill>
                  <a:srgbClr val="000000"/>
                </a:solidFill>
                <a:latin typeface="Times New Roman" panose="02020603050405020304" charset="0"/>
                <a:ea typeface="宋体" panose="02010600030101010101" pitchFamily="2" charset="-122"/>
              </a:rPr>
              <a:t>1</a:t>
            </a:r>
            <a:r>
              <a:rPr lang="zh-CN" sz="2000">
                <a:solidFill>
                  <a:srgbClr val="000000"/>
                </a:solidFill>
                <a:ea typeface="宋体" panose="02010600030101010101" pitchFamily="2" charset="-122"/>
              </a:rPr>
              <a:t>输出波形图</a:t>
            </a:r>
            <a:endParaRPr lang="zh-CN" altLang="en-US" sz="2000"/>
          </a:p>
        </p:txBody>
      </p:sp>
      <p:graphicFrame>
        <p:nvGraphicFramePr>
          <p:cNvPr id="3" name="对象 -2147482491"/>
          <p:cNvGraphicFramePr>
            <a:graphicFrameLocks noChangeAspect="1"/>
          </p:cNvGraphicFramePr>
          <p:nvPr/>
        </p:nvGraphicFramePr>
        <p:xfrm>
          <a:off x="749300" y="2733040"/>
          <a:ext cx="951865" cy="367030"/>
        </p:xfrm>
        <a:graphic>
          <a:graphicData uri="http://schemas.openxmlformats.org/presentationml/2006/ole">
            <mc:AlternateContent xmlns:mc="http://schemas.openxmlformats.org/markup-compatibility/2006">
              <mc:Choice xmlns:v="urn:schemas-microsoft-com:vml" Requires="v">
                <p:oleObj spid="_x0000_s12" name="" r:id="rId7" imgW="558800" imgH="215900" progId="Equation.KSEE3">
                  <p:embed/>
                </p:oleObj>
              </mc:Choice>
              <mc:Fallback>
                <p:oleObj name="" r:id="rId7" imgW="558800" imgH="215900" progId="Equation.KSEE3">
                  <p:embed/>
                  <p:pic>
                    <p:nvPicPr>
                      <p:cNvPr id="0" name="图片 11"/>
                      <p:cNvPicPr/>
                      <p:nvPr/>
                    </p:nvPicPr>
                    <p:blipFill>
                      <a:blip r:embed="rId8"/>
                      <a:stretch>
                        <a:fillRect/>
                      </a:stretch>
                    </p:blipFill>
                    <p:spPr>
                      <a:xfrm>
                        <a:off x="749300" y="2733040"/>
                        <a:ext cx="951865" cy="367030"/>
                      </a:xfrm>
                      <a:prstGeom prst="rect">
                        <a:avLst/>
                      </a:prstGeom>
                      <a:noFill/>
                      <a:ln w="38100">
                        <a:noFill/>
                        <a:miter/>
                      </a:ln>
                    </p:spPr>
                  </p:pic>
                </p:oleObj>
              </mc:Fallback>
            </mc:AlternateContent>
          </a:graphicData>
        </a:graphic>
      </p:graphicFrame>
      <p:graphicFrame>
        <p:nvGraphicFramePr>
          <p:cNvPr id="9" name="对象 -2147482490"/>
          <p:cNvGraphicFramePr>
            <a:graphicFrameLocks noChangeAspect="1"/>
          </p:cNvGraphicFramePr>
          <p:nvPr/>
        </p:nvGraphicFramePr>
        <p:xfrm>
          <a:off x="711200" y="3178810"/>
          <a:ext cx="1028065" cy="396875"/>
        </p:xfrm>
        <a:graphic>
          <a:graphicData uri="http://schemas.openxmlformats.org/presentationml/2006/ole">
            <mc:AlternateContent xmlns:mc="http://schemas.openxmlformats.org/markup-compatibility/2006">
              <mc:Choice xmlns:v="urn:schemas-microsoft-com:vml" Requires="v">
                <p:oleObj spid="_x0000_s13" name="" r:id="rId9" imgW="558800" imgH="215900" progId="Equation.KSEE3">
                  <p:embed/>
                </p:oleObj>
              </mc:Choice>
              <mc:Fallback>
                <p:oleObj name="" r:id="rId9" imgW="558800" imgH="215900" progId="Equation.KSEE3">
                  <p:embed/>
                  <p:pic>
                    <p:nvPicPr>
                      <p:cNvPr id="0" name="图片 12"/>
                      <p:cNvPicPr/>
                      <p:nvPr/>
                    </p:nvPicPr>
                    <p:blipFill>
                      <a:blip r:embed="rId10"/>
                      <a:stretch>
                        <a:fillRect/>
                      </a:stretch>
                    </p:blipFill>
                    <p:spPr>
                      <a:xfrm>
                        <a:off x="711200" y="3178810"/>
                        <a:ext cx="1028065" cy="396875"/>
                      </a:xfrm>
                      <a:prstGeom prst="rect">
                        <a:avLst/>
                      </a:prstGeom>
                      <a:noFill/>
                      <a:ln w="38100">
                        <a:noFill/>
                        <a:miter/>
                      </a:ln>
                    </p:spPr>
                  </p:pic>
                </p:oleObj>
              </mc:Fallback>
            </mc:AlternateContent>
          </a:graphicData>
        </a:graphic>
      </p:graphicFrame>
      <p:graphicFrame>
        <p:nvGraphicFramePr>
          <p:cNvPr id="14" name="对象 -2147482489"/>
          <p:cNvGraphicFramePr>
            <a:graphicFrameLocks noChangeAspect="1"/>
          </p:cNvGraphicFramePr>
          <p:nvPr/>
        </p:nvGraphicFramePr>
        <p:xfrm>
          <a:off x="749300" y="3627120"/>
          <a:ext cx="1016635" cy="383540"/>
        </p:xfrm>
        <a:graphic>
          <a:graphicData uri="http://schemas.openxmlformats.org/presentationml/2006/ole">
            <mc:AlternateContent xmlns:mc="http://schemas.openxmlformats.org/markup-compatibility/2006">
              <mc:Choice xmlns:v="urn:schemas-microsoft-com:vml" Requires="v">
                <p:oleObj spid="_x0000_s15" name="" r:id="rId11" imgW="571500" imgH="215900" progId="Equation.KSEE3">
                  <p:embed/>
                </p:oleObj>
              </mc:Choice>
              <mc:Fallback>
                <p:oleObj name="" r:id="rId11" imgW="571500" imgH="215900" progId="Equation.KSEE3">
                  <p:embed/>
                  <p:pic>
                    <p:nvPicPr>
                      <p:cNvPr id="0" name="图片 13"/>
                      <p:cNvPicPr/>
                      <p:nvPr/>
                    </p:nvPicPr>
                    <p:blipFill>
                      <a:blip r:embed="rId12"/>
                      <a:stretch>
                        <a:fillRect/>
                      </a:stretch>
                    </p:blipFill>
                    <p:spPr>
                      <a:xfrm>
                        <a:off x="749300" y="3627120"/>
                        <a:ext cx="1016635" cy="383540"/>
                      </a:xfrm>
                      <a:prstGeom prst="rect">
                        <a:avLst/>
                      </a:prstGeom>
                      <a:noFill/>
                      <a:ln w="38100">
                        <a:noFill/>
                        <a:miter/>
                      </a:ln>
                    </p:spPr>
                  </p:pic>
                </p:oleObj>
              </mc:Fallback>
            </mc:AlternateContent>
          </a:graphicData>
        </a:graphic>
      </p:graphicFrame>
      <p:graphicFrame>
        <p:nvGraphicFramePr>
          <p:cNvPr id="16" name="对象 -2147482400"/>
          <p:cNvGraphicFramePr>
            <a:graphicFrameLocks noChangeAspect="1"/>
          </p:cNvGraphicFramePr>
          <p:nvPr/>
        </p:nvGraphicFramePr>
        <p:xfrm>
          <a:off x="3733165" y="3575685"/>
          <a:ext cx="231140" cy="378460"/>
        </p:xfrm>
        <a:graphic>
          <a:graphicData uri="http://schemas.openxmlformats.org/presentationml/2006/ole">
            <mc:AlternateContent xmlns:mc="http://schemas.openxmlformats.org/markup-compatibility/2006">
              <mc:Choice xmlns:v="urn:schemas-microsoft-com:vml" Requires="v">
                <p:oleObj spid="_x0000_s17" name="" r:id="rId13" imgW="139700" imgH="228600" progId="Equation.3">
                  <p:embed/>
                </p:oleObj>
              </mc:Choice>
              <mc:Fallback>
                <p:oleObj name="" r:id="rId13" imgW="139700" imgH="228600" progId="Equation.3">
                  <p:embed/>
                  <p:pic>
                    <p:nvPicPr>
                      <p:cNvPr id="0" name="图片 14"/>
                      <p:cNvPicPr/>
                      <p:nvPr/>
                    </p:nvPicPr>
                    <p:blipFill>
                      <a:blip r:embed="rId14"/>
                      <a:stretch>
                        <a:fillRect/>
                      </a:stretch>
                    </p:blipFill>
                    <p:spPr>
                      <a:xfrm>
                        <a:off x="3733165" y="3575685"/>
                        <a:ext cx="231140" cy="378460"/>
                      </a:xfrm>
                      <a:prstGeom prst="rect">
                        <a:avLst/>
                      </a:prstGeom>
                      <a:noFill/>
                      <a:ln w="38100">
                        <a:noFill/>
                        <a:miter/>
                      </a:ln>
                    </p:spPr>
                  </p:pic>
                </p:oleObj>
              </mc:Fallback>
            </mc:AlternateContent>
          </a:graphicData>
        </a:graphic>
      </p:graphicFrame>
      <p:pic>
        <p:nvPicPr>
          <p:cNvPr id="18" name="图片 17"/>
          <p:cNvPicPr/>
          <p:nvPr/>
        </p:nvPicPr>
        <p:blipFill>
          <a:blip r:embed="rId1"/>
          <a:stretch>
            <a:fillRect/>
          </a:stretch>
        </p:blipFill>
        <p:spPr>
          <a:xfrm>
            <a:off x="2051050" y="4068445"/>
            <a:ext cx="358775" cy="354330"/>
          </a:xfrm>
          <a:prstGeom prst="rect">
            <a:avLst/>
          </a:prstGeom>
          <a:noFill/>
          <a:ln w="9525">
            <a:noFill/>
          </a:ln>
        </p:spPr>
      </p:pic>
      <p:pic>
        <p:nvPicPr>
          <p:cNvPr id="19" name="图片 18"/>
          <p:cNvPicPr/>
          <p:nvPr/>
        </p:nvPicPr>
        <p:blipFill>
          <a:blip r:embed="rId2"/>
          <a:stretch>
            <a:fillRect/>
          </a:stretch>
        </p:blipFill>
        <p:spPr>
          <a:xfrm>
            <a:off x="2732405" y="4068445"/>
            <a:ext cx="391160" cy="353060"/>
          </a:xfrm>
          <a:prstGeom prst="rect">
            <a:avLst/>
          </a:prstGeom>
          <a:noFill/>
          <a:ln w="9525">
            <a:noFill/>
          </a:ln>
        </p:spPr>
      </p:pic>
      <p:sp>
        <p:nvSpPr>
          <p:cNvPr id="576708" name="文本框 576707"/>
          <p:cNvSpPr txBox="1"/>
          <p:nvPr/>
        </p:nvSpPr>
        <p:spPr>
          <a:xfrm>
            <a:off x="8191500" y="4140518"/>
            <a:ext cx="952500" cy="215265"/>
          </a:xfrm>
          <a:prstGeom prst="rect">
            <a:avLst/>
          </a:prstGeom>
          <a:noFill/>
          <a:ln w="9525">
            <a:noFill/>
          </a:ln>
        </p:spPr>
        <p:txBody>
          <a:bodyPr lIns="0" tIns="0" rIns="0" bIns="0">
            <a:spAutoFit/>
          </a:bodyPr>
          <a:p>
            <a:pPr algn="l">
              <a:spcBef>
                <a:spcPct val="50000"/>
              </a:spcBef>
            </a:pPr>
            <a:r>
              <a:rPr lang="zh-CN" altLang="en-US" sz="1400" b="1" dirty="0">
                <a:solidFill>
                  <a:srgbClr val="FF0000"/>
                </a:solidFill>
                <a:latin typeface="Arial Narrow" panose="020B0606020202030204" pitchFamily="34" charset="0"/>
              </a:rPr>
              <a:t>状态不确定</a:t>
            </a:r>
            <a:endParaRPr lang="zh-CN" altLang="en-US" sz="1400" b="1" dirty="0">
              <a:solidFill>
                <a:srgbClr val="FF0000"/>
              </a:solidFill>
              <a:latin typeface="Arial Narrow" panose="020B0606020202030204" pitchFamily="34" charset="0"/>
            </a:endParaRPr>
          </a:p>
        </p:txBody>
      </p:sp>
      <p:sp>
        <p:nvSpPr>
          <p:cNvPr id="20" name="矩形 19"/>
          <p:cNvSpPr/>
          <p:nvPr/>
        </p:nvSpPr>
        <p:spPr>
          <a:xfrm>
            <a:off x="4902835" y="2618105"/>
            <a:ext cx="595630" cy="2152650"/>
          </a:xfrm>
          <a:prstGeom prst="rect">
            <a:avLst/>
          </a:pr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矩形 20"/>
          <p:cNvSpPr/>
          <p:nvPr/>
        </p:nvSpPr>
        <p:spPr>
          <a:xfrm>
            <a:off x="5498465" y="2618105"/>
            <a:ext cx="307340" cy="2152650"/>
          </a:xfrm>
          <a:prstGeom prst="rect">
            <a:avLst/>
          </a:prstGeom>
          <a:solidFill>
            <a:schemeClr val="accent6">
              <a:lumMod val="40000"/>
              <a:lumOff val="6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矩形 21"/>
          <p:cNvSpPr/>
          <p:nvPr/>
        </p:nvSpPr>
        <p:spPr>
          <a:xfrm>
            <a:off x="5805805" y="2631440"/>
            <a:ext cx="390525" cy="2152650"/>
          </a:xfrm>
          <a:prstGeom prst="rect">
            <a:avLst/>
          </a:pr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矩形 22"/>
          <p:cNvSpPr/>
          <p:nvPr/>
        </p:nvSpPr>
        <p:spPr>
          <a:xfrm>
            <a:off x="6170930" y="2625090"/>
            <a:ext cx="357505" cy="2152650"/>
          </a:xfrm>
          <a:prstGeom prst="rect">
            <a:avLst/>
          </a:prstGeom>
          <a:solidFill>
            <a:schemeClr val="accent6">
              <a:lumMod val="40000"/>
              <a:lumOff val="6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矩形 23"/>
          <p:cNvSpPr/>
          <p:nvPr/>
        </p:nvSpPr>
        <p:spPr>
          <a:xfrm>
            <a:off x="6528435" y="2625090"/>
            <a:ext cx="390525" cy="2152650"/>
          </a:xfrm>
          <a:prstGeom prst="rect">
            <a:avLst/>
          </a:pr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nvSpPr>
        <p:spPr>
          <a:xfrm>
            <a:off x="6918960" y="2598420"/>
            <a:ext cx="301625" cy="2172970"/>
          </a:xfrm>
          <a:prstGeom prst="rect">
            <a:avLst/>
          </a:prstGeom>
          <a:solidFill>
            <a:srgbClr val="0B36D7">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矩形 25"/>
          <p:cNvSpPr/>
          <p:nvPr/>
        </p:nvSpPr>
        <p:spPr>
          <a:xfrm>
            <a:off x="7220585" y="2598420"/>
            <a:ext cx="441325" cy="2152650"/>
          </a:xfrm>
          <a:prstGeom prst="rect">
            <a:avLst/>
          </a:pr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矩形 26"/>
          <p:cNvSpPr/>
          <p:nvPr/>
        </p:nvSpPr>
        <p:spPr>
          <a:xfrm>
            <a:off x="7661910" y="2578100"/>
            <a:ext cx="164465" cy="2172970"/>
          </a:xfrm>
          <a:prstGeom prst="rect">
            <a:avLst/>
          </a:prstGeom>
          <a:solidFill>
            <a:srgbClr val="0B36D7">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矩形 27"/>
          <p:cNvSpPr/>
          <p:nvPr/>
        </p:nvSpPr>
        <p:spPr>
          <a:xfrm>
            <a:off x="7849870" y="2614930"/>
            <a:ext cx="341630" cy="2119630"/>
          </a:xfrm>
          <a:prstGeom prst="rect">
            <a:avLst/>
          </a:prstGeom>
          <a:solidFill>
            <a:srgbClr val="FFC0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矩形 28"/>
          <p:cNvSpPr/>
          <p:nvPr/>
        </p:nvSpPr>
        <p:spPr>
          <a:xfrm>
            <a:off x="8191500" y="2578100"/>
            <a:ext cx="768350" cy="2146300"/>
          </a:xfrm>
          <a:prstGeom prst="rect">
            <a:avLst/>
          </a:prstGeom>
          <a:solidFill>
            <a:srgbClr val="C00000">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nodeType="afterEffect">
                                  <p:stCondLst>
                                    <p:cond delay="0"/>
                                  </p:stCondLst>
                                  <p:childTnLst>
                                    <p:set>
                                      <p:cBhvr>
                                        <p:cTn id="51" dur="1" fill="hold">
                                          <p:stCondLst>
                                            <p:cond delay="0"/>
                                          </p:stCondLst>
                                        </p:cTn>
                                        <p:tgtEl>
                                          <p:spTgt spid="8">
                                            <p:txEl>
                                              <p:pRg st="3" end="3"/>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8">
                                            <p:txEl>
                                              <p:pRg st="4" end="4"/>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1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576708"/>
                                        </p:tgtEl>
                                        <p:attrNameLst>
                                          <p:attrName>style.visibility</p:attrName>
                                        </p:attrNameLst>
                                      </p:cBhvr>
                                      <p:to>
                                        <p:strVal val="visible"/>
                                      </p:to>
                                    </p:set>
                                    <p:anim calcmode="lin" valueType="num">
                                      <p:cBhvr additive="base">
                                        <p:cTn id="72" dur="500" fill="hold"/>
                                        <p:tgtEl>
                                          <p:spTgt spid="576708"/>
                                        </p:tgtEl>
                                        <p:attrNameLst>
                                          <p:attrName>ppt_x</p:attrName>
                                        </p:attrNameLst>
                                      </p:cBhvr>
                                      <p:tavLst>
                                        <p:tav tm="0">
                                          <p:val>
                                            <p:strVal val="#ppt_x"/>
                                          </p:val>
                                        </p:tav>
                                        <p:tav tm="100000">
                                          <p:val>
                                            <p:strVal val="#ppt_x"/>
                                          </p:val>
                                        </p:tav>
                                      </p:tavLst>
                                    </p:anim>
                                    <p:anim calcmode="lin" valueType="num">
                                      <p:cBhvr additive="base">
                                        <p:cTn id="73" dur="500" fill="hold"/>
                                        <p:tgtEl>
                                          <p:spTgt spid="5767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708" grpId="0"/>
      <p:bldP spid="20" grpId="0" bldLvl="0" animBg="1"/>
      <p:bldP spid="21" grpId="0" bldLvl="0" animBg="1"/>
      <p:bldP spid="22" grpId="0" bldLvl="0" animBg="1"/>
      <p:bldP spid="23" grpId="0" bldLvl="0" animBg="1"/>
      <p:bldP spid="24" grpId="0" bldLvl="0" animBg="1"/>
      <p:bldP spid="25" grpId="0" bldLvl="0" animBg="1"/>
      <p:bldP spid="26" grpId="0" bldLvl="0" animBg="1"/>
      <p:bldP spid="27" grpId="0" bldLvl="0" animBg="1"/>
      <p:bldP spid="28" grpId="0" bldLvl="0" animBg="1"/>
      <p:bldP spid="29"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Rectangle 3"/>
          <p:cNvSpPr>
            <a:spLocks noGrp="1"/>
          </p:cNvSpPr>
          <p:nvPr/>
        </p:nvSpPr>
        <p:spPr>
          <a:xfrm>
            <a:off x="753110" y="1217930"/>
            <a:ext cx="8003540" cy="7899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a:t>
            </a:r>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用</a:t>
            </a:r>
            <a:r>
              <a:rPr lang="zh-CN" altLang="en-US" sz="2400" b="1" dirty="0">
                <a:solidFill>
                  <a:srgbClr val="FE09D6"/>
                </a:solidFill>
                <a:latin typeface="Times New Roman" panose="02020603050405020304" charset="0"/>
                <a:ea typeface="楷体_GB2312" pitchFamily="49" charset="-122"/>
                <a:cs typeface="Times New Roman" panose="02020603050405020304" charset="0"/>
                <a:sym typeface="+mn-ea"/>
              </a:rPr>
              <a:t>或</a:t>
            </a:r>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非门组成的基本</a:t>
            </a:r>
            <a:r>
              <a:rPr lang="en-US" sz="2400" b="1" i="1" dirty="0">
                <a:solidFill>
                  <a:srgbClr val="FE09D6"/>
                </a:solidFill>
                <a:latin typeface="Times New Roman" panose="02020603050405020304" charset="0"/>
                <a:ea typeface="楷体_GB2312" pitchFamily="49" charset="-122"/>
                <a:cs typeface="Times New Roman" panose="02020603050405020304" charset="0"/>
                <a:sym typeface="+mn-ea"/>
              </a:rPr>
              <a:t>RS</a:t>
            </a:r>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锁存器</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文本框 2"/>
          <p:cNvSpPr txBox="1"/>
          <p:nvPr/>
        </p:nvSpPr>
        <p:spPr>
          <a:xfrm>
            <a:off x="753110" y="1715770"/>
            <a:ext cx="2540000" cy="460375"/>
          </a:xfrm>
          <a:prstGeom prst="rect">
            <a:avLst/>
          </a:prstGeom>
          <a:noFill/>
        </p:spPr>
        <p:txBody>
          <a:bodyPr wrap="square" rtlCol="0" anchor="t">
            <a:spAutoFit/>
          </a:bodyPr>
          <a:p>
            <a:r>
              <a:rPr lang="zh-CN" altLang="en-US" sz="2400" b="1"/>
              <a:t>(１) 电路结构</a:t>
            </a:r>
            <a:endParaRPr lang="zh-CN" altLang="en-US" sz="2400" b="1"/>
          </a:p>
        </p:txBody>
      </p:sp>
      <p:pic>
        <p:nvPicPr>
          <p:cNvPr id="9341" name="图片 2778"/>
          <p:cNvPicPr>
            <a:picLocks noChangeAspect="1"/>
          </p:cNvPicPr>
          <p:nvPr/>
        </p:nvPicPr>
        <p:blipFill>
          <a:blip r:embed="rId1"/>
          <a:stretch>
            <a:fillRect/>
          </a:stretch>
        </p:blipFill>
        <p:spPr>
          <a:xfrm>
            <a:off x="1703070" y="2176145"/>
            <a:ext cx="5452745" cy="3209925"/>
          </a:xfrm>
          <a:prstGeom prst="rect">
            <a:avLst/>
          </a:prstGeom>
          <a:noFill/>
          <a:ln>
            <a:noFill/>
          </a:ln>
        </p:spPr>
      </p:pic>
      <p:sp>
        <p:nvSpPr>
          <p:cNvPr id="105" name="文本框 104"/>
          <p:cNvSpPr txBox="1"/>
          <p:nvPr/>
        </p:nvSpPr>
        <p:spPr>
          <a:xfrm>
            <a:off x="2506980" y="5597525"/>
            <a:ext cx="4940935" cy="398780"/>
          </a:xfrm>
          <a:prstGeom prst="rect">
            <a:avLst/>
          </a:prstGeom>
          <a:noFill/>
          <a:ln w="9525">
            <a:noFill/>
          </a:ln>
        </p:spPr>
        <p:txBody>
          <a:bodyPr wrap="square">
            <a:spAutoFit/>
          </a:bodyPr>
          <a:p>
            <a:r>
              <a:rPr lang="zh-CN" sz="2000">
                <a:solidFill>
                  <a:srgbClr val="000000"/>
                </a:solidFill>
                <a:ea typeface="宋体" panose="02010600030101010101" pitchFamily="2" charset="-122"/>
              </a:rPr>
              <a:t>图</a:t>
            </a:r>
            <a:r>
              <a:rPr lang="en-US" sz="2000">
                <a:solidFill>
                  <a:srgbClr val="000000"/>
                </a:solidFill>
                <a:latin typeface="Times New Roman" panose="02020603050405020304" charset="0"/>
                <a:ea typeface="宋体" panose="02010600030101010101" pitchFamily="2" charset="-122"/>
                <a:cs typeface="Times New Roman" panose="02020603050405020304" charset="0"/>
              </a:rPr>
              <a:t>5-</a:t>
            </a:r>
            <a:r>
              <a:rPr lang="en-US" sz="2000">
                <a:solidFill>
                  <a:srgbClr val="000000"/>
                </a:solidFill>
                <a:latin typeface="Times New Roman" panose="02020603050405020304" charset="0"/>
                <a:ea typeface="宋体" panose="02010600030101010101" pitchFamily="2" charset="-122"/>
              </a:rPr>
              <a:t>3 </a:t>
            </a:r>
            <a:r>
              <a:rPr lang="zh-CN" sz="2000">
                <a:solidFill>
                  <a:srgbClr val="000000"/>
                </a:solidFill>
                <a:ea typeface="宋体" panose="02010600030101010101" pitchFamily="2" charset="-122"/>
              </a:rPr>
              <a:t>或非门组成的基本</a:t>
            </a:r>
            <a:r>
              <a:rPr lang="en-US" sz="2000" i="1">
                <a:solidFill>
                  <a:srgbClr val="000000"/>
                </a:solidFill>
                <a:latin typeface="Times New Roman" panose="02020603050405020304" charset="0"/>
                <a:ea typeface="宋体" panose="02010600030101010101" pitchFamily="2" charset="-122"/>
              </a:rPr>
              <a:t>RS</a:t>
            </a:r>
            <a:r>
              <a:rPr lang="zh-CN" sz="2000">
                <a:solidFill>
                  <a:srgbClr val="000000"/>
                </a:solidFill>
                <a:ea typeface="宋体" panose="02010600030101010101" pitchFamily="2" charset="-122"/>
              </a:rPr>
              <a:t>锁存器</a:t>
            </a:r>
            <a:endParaRPr lang="zh-CN" altLang="en-US" sz="2000"/>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1049655" y="1276350"/>
            <a:ext cx="2540000" cy="460375"/>
          </a:xfrm>
          <a:prstGeom prst="rect">
            <a:avLst/>
          </a:prstGeom>
          <a:noFill/>
        </p:spPr>
        <p:txBody>
          <a:bodyPr wrap="square" rtlCol="0" anchor="t">
            <a:spAutoFit/>
          </a:bodyPr>
          <a:p>
            <a:r>
              <a:rPr lang="zh-CN" altLang="en-US" sz="2400" b="1"/>
              <a:t>(２) 逻辑功能</a:t>
            </a:r>
            <a:endParaRPr lang="zh-CN" altLang="en-US" sz="2400" b="1"/>
          </a:p>
        </p:txBody>
      </p:sp>
      <p:pic>
        <p:nvPicPr>
          <p:cNvPr id="9341" name="图片 2778"/>
          <p:cNvPicPr>
            <a:picLocks noChangeAspect="1"/>
          </p:cNvPicPr>
          <p:nvPr/>
        </p:nvPicPr>
        <p:blipFill>
          <a:blip r:embed="rId1"/>
          <a:srcRect r="42844" b="17765"/>
          <a:stretch>
            <a:fillRect/>
          </a:stretch>
        </p:blipFill>
        <p:spPr>
          <a:xfrm>
            <a:off x="787400" y="2992755"/>
            <a:ext cx="2687955" cy="2277745"/>
          </a:xfrm>
          <a:prstGeom prst="rect">
            <a:avLst/>
          </a:prstGeom>
          <a:noFill/>
          <a:ln>
            <a:noFill/>
          </a:ln>
        </p:spPr>
      </p:pic>
      <p:sp>
        <p:nvSpPr>
          <p:cNvPr id="491523" name="矩形 491522"/>
          <p:cNvSpPr/>
          <p:nvPr/>
        </p:nvSpPr>
        <p:spPr>
          <a:xfrm>
            <a:off x="950278" y="1824038"/>
            <a:ext cx="2016125" cy="521970"/>
          </a:xfrm>
          <a:prstGeom prst="rect">
            <a:avLst/>
          </a:prstGeom>
          <a:noFill/>
          <a:ln w="9525">
            <a:noFill/>
          </a:ln>
        </p:spPr>
        <p:txBody>
          <a:bodyPr>
            <a:spAutoFit/>
          </a:bodyPr>
          <a:p>
            <a:pPr algn="l"/>
            <a:r>
              <a:rPr lang="en-US" altLang="zh-CN" sz="2800" i="1">
                <a:solidFill>
                  <a:srgbClr val="FF0000"/>
                </a:solidFill>
                <a:effectLst>
                  <a:outerShdw blurRad="38100" dist="38100" dir="2700000" algn="tl">
                    <a:srgbClr val="000000">
                      <a:alpha val="43137"/>
                    </a:srgbClr>
                  </a:outerShdw>
                </a:effectLst>
                <a:latin typeface="Times New Roman" panose="02020603050405020304" charset="0"/>
              </a:rPr>
              <a:t>R</a:t>
            </a:r>
            <a:r>
              <a:rPr lang="en-US" altLang="zh-CN" sz="2800" dirty="0">
                <a:solidFill>
                  <a:srgbClr val="FF0000"/>
                </a:solidFill>
                <a:effectLst>
                  <a:outerShdw blurRad="38100" dist="38100" dir="2700000" algn="tl">
                    <a:srgbClr val="000000">
                      <a:alpha val="43137"/>
                    </a:srgbClr>
                  </a:outerShdw>
                </a:effectLst>
                <a:latin typeface="Times New Roman" panose="02020603050405020304" charset="0"/>
              </a:rPr>
              <a:t>=0</a:t>
            </a:r>
            <a:r>
              <a:rPr lang="zh-CN" altLang="en-US" sz="2800" dirty="0">
                <a:solidFill>
                  <a:srgbClr val="FF0000"/>
                </a:solidFill>
                <a:effectLst>
                  <a:outerShdw blurRad="38100" dist="38100" dir="2700000" algn="tl">
                    <a:srgbClr val="000000">
                      <a:alpha val="43137"/>
                    </a:srgbClr>
                  </a:outerShdw>
                </a:effectLst>
                <a:latin typeface="Times New Roman" panose="02020603050405020304" charset="0"/>
              </a:rPr>
              <a:t>、</a:t>
            </a:r>
            <a:r>
              <a:rPr lang="en-US" altLang="zh-CN" sz="2800" i="1">
                <a:solidFill>
                  <a:srgbClr val="FF0000"/>
                </a:solidFill>
                <a:effectLst>
                  <a:outerShdw blurRad="38100" dist="38100" dir="2700000" algn="tl">
                    <a:srgbClr val="000000">
                      <a:alpha val="43137"/>
                    </a:srgbClr>
                  </a:outerShdw>
                </a:effectLst>
                <a:latin typeface="Times New Roman" panose="02020603050405020304" charset="0"/>
              </a:rPr>
              <a:t>S</a:t>
            </a:r>
            <a:r>
              <a:rPr lang="en-US" altLang="zh-CN" sz="2800">
                <a:solidFill>
                  <a:srgbClr val="FF0000"/>
                </a:solidFill>
                <a:effectLst>
                  <a:outerShdw blurRad="38100" dist="38100" dir="2700000" algn="tl">
                    <a:srgbClr val="000000">
                      <a:alpha val="43137"/>
                    </a:srgbClr>
                  </a:outerShdw>
                </a:effectLst>
                <a:latin typeface="Times New Roman" panose="02020603050405020304" charset="0"/>
              </a:rPr>
              <a:t>=0</a:t>
            </a:r>
            <a:endParaRPr lang="en-US" altLang="zh-CN" sz="2800">
              <a:solidFill>
                <a:srgbClr val="FF0000"/>
              </a:solidFill>
              <a:effectLst>
                <a:outerShdw blurRad="38100" dist="38100" dir="2700000" algn="tl">
                  <a:srgbClr val="000000">
                    <a:alpha val="43137"/>
                  </a:srgbClr>
                </a:outerShdw>
              </a:effectLst>
              <a:latin typeface="Times New Roman" panose="02020603050405020304" charset="0"/>
            </a:endParaRPr>
          </a:p>
        </p:txBody>
      </p:sp>
      <p:sp>
        <p:nvSpPr>
          <p:cNvPr id="491544" name="矩形 491543"/>
          <p:cNvSpPr/>
          <p:nvPr/>
        </p:nvSpPr>
        <p:spPr>
          <a:xfrm>
            <a:off x="1110298" y="5797868"/>
            <a:ext cx="3003550" cy="457200"/>
          </a:xfrm>
          <a:prstGeom prst="rect">
            <a:avLst/>
          </a:prstGeom>
          <a:noFill/>
          <a:ln w="9525">
            <a:noFill/>
          </a:ln>
        </p:spPr>
        <p:txBody>
          <a:bodyPr>
            <a:spAutoFit/>
          </a:bodyPr>
          <a:p>
            <a:pPr algn="l"/>
            <a:r>
              <a:rPr lang="zh-CN" altLang="en-US" sz="2400" dirty="0">
                <a:solidFill>
                  <a:srgbClr val="000099"/>
                </a:solidFill>
                <a:latin typeface="Times New Roman" panose="02020603050405020304" charset="0"/>
                <a:ea typeface="楷体_GB2312" pitchFamily="49" charset="-122"/>
              </a:rPr>
              <a:t>若初态</a:t>
            </a:r>
            <a:r>
              <a:rPr lang="zh-CN" altLang="en-US" sz="2400" dirty="0">
                <a:latin typeface="Times New Roman" panose="02020603050405020304" charset="0"/>
                <a:ea typeface="楷体_GB2312" pitchFamily="49" charset="-122"/>
              </a:rPr>
              <a:t> </a:t>
            </a:r>
            <a:r>
              <a:rPr lang="en-US" altLang="zh-CN" sz="2400" i="1">
                <a:solidFill>
                  <a:srgbClr val="000099"/>
                </a:solidFill>
                <a:latin typeface="Times New Roman" panose="02020603050405020304" charset="0"/>
                <a:ea typeface="楷体_GB2312" pitchFamily="49" charset="-122"/>
              </a:rPr>
              <a:t>Q </a:t>
            </a:r>
            <a:r>
              <a:rPr lang="en-US" altLang="zh-CN" sz="2400" i="1" baseline="30000">
                <a:solidFill>
                  <a:srgbClr val="000099"/>
                </a:solidFill>
                <a:latin typeface="Times New Roman" panose="02020603050405020304" charset="0"/>
                <a:ea typeface="楷体_GB2312" pitchFamily="49" charset="-122"/>
              </a:rPr>
              <a:t>n</a:t>
            </a:r>
            <a:r>
              <a:rPr lang="en-US" altLang="zh-CN" sz="2400" baseline="30000">
                <a:solidFill>
                  <a:srgbClr val="000099"/>
                </a:solidFill>
                <a:latin typeface="Times New Roman" panose="02020603050405020304" charset="0"/>
                <a:ea typeface="楷体_GB2312" pitchFamily="49" charset="-122"/>
              </a:rPr>
              <a:t> </a:t>
            </a:r>
            <a:r>
              <a:rPr lang="en-US" altLang="zh-CN" sz="2400">
                <a:solidFill>
                  <a:srgbClr val="000099"/>
                </a:solidFill>
                <a:latin typeface="Times New Roman" panose="02020603050405020304" charset="0"/>
                <a:ea typeface="楷体_GB2312" pitchFamily="49" charset="-122"/>
              </a:rPr>
              <a:t>= 0</a:t>
            </a:r>
            <a:endParaRPr lang="en-US" altLang="zh-CN" sz="2400">
              <a:solidFill>
                <a:srgbClr val="000099"/>
              </a:solidFill>
              <a:latin typeface="Times New Roman" panose="02020603050405020304" charset="0"/>
              <a:ea typeface="楷体_GB2312" pitchFamily="49" charset="-122"/>
            </a:endParaRPr>
          </a:p>
        </p:txBody>
      </p:sp>
      <p:sp>
        <p:nvSpPr>
          <p:cNvPr id="491526" name="椭圆 491525"/>
          <p:cNvSpPr/>
          <p:nvPr/>
        </p:nvSpPr>
        <p:spPr>
          <a:xfrm>
            <a:off x="2797811" y="250190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91541" name="椭圆 491540"/>
          <p:cNvSpPr/>
          <p:nvPr/>
        </p:nvSpPr>
        <p:spPr>
          <a:xfrm>
            <a:off x="3462338" y="250190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29" name="椭圆 491528"/>
          <p:cNvSpPr/>
          <p:nvPr/>
        </p:nvSpPr>
        <p:spPr>
          <a:xfrm>
            <a:off x="1227138" y="2465388"/>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91535" name="椭圆 491534"/>
          <p:cNvSpPr/>
          <p:nvPr/>
        </p:nvSpPr>
        <p:spPr>
          <a:xfrm>
            <a:off x="1872298" y="2432368"/>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8" name="椭圆 7"/>
          <p:cNvSpPr/>
          <p:nvPr/>
        </p:nvSpPr>
        <p:spPr>
          <a:xfrm>
            <a:off x="1110298" y="5383213"/>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9" name="椭圆 8"/>
          <p:cNvSpPr/>
          <p:nvPr/>
        </p:nvSpPr>
        <p:spPr>
          <a:xfrm>
            <a:off x="2903856" y="538353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cxnSp>
        <p:nvCxnSpPr>
          <p:cNvPr id="10" name="直接箭头连接符 9"/>
          <p:cNvCxnSpPr>
            <a:stCxn id="491529" idx="6"/>
          </p:cNvCxnSpPr>
          <p:nvPr/>
        </p:nvCxnSpPr>
        <p:spPr>
          <a:xfrm>
            <a:off x="1633855" y="2597150"/>
            <a:ext cx="238760" cy="0"/>
          </a:xfrm>
          <a:prstGeom prst="straightConnector1">
            <a:avLst/>
          </a:prstGeom>
          <a:noFill/>
          <a:ln w="25400" cap="flat" cmpd="sng" algn="ctr">
            <a:solidFill>
              <a:srgbClr val="8F038F"/>
            </a:solidFill>
            <a:prstDash val="solid"/>
            <a:tailEnd type="arrow" w="med" len="med"/>
          </a:ln>
          <a:effectLst>
            <a:outerShdw blurRad="40000" dist="20000" dir="5400000" rotWithShape="0">
              <a:srgbClr val="000000">
                <a:alpha val="38000"/>
              </a:srgbClr>
            </a:outerShdw>
          </a:effectLst>
        </p:spPr>
        <p:style>
          <a:lnRef idx="2">
            <a:schemeClr val="accent2"/>
          </a:lnRef>
          <a:fillRef idx="0">
            <a:schemeClr val="accent2"/>
          </a:fillRef>
          <a:effectRef idx="1">
            <a:schemeClr val="accent2"/>
          </a:effectRef>
          <a:fontRef idx="minor">
            <a:schemeClr val="tx1"/>
          </a:fontRef>
        </p:style>
      </p:cxnSp>
      <p:cxnSp>
        <p:nvCxnSpPr>
          <p:cNvPr id="11" name="直接箭头连接符 10"/>
          <p:cNvCxnSpPr/>
          <p:nvPr/>
        </p:nvCxnSpPr>
        <p:spPr>
          <a:xfrm>
            <a:off x="3223895" y="2708910"/>
            <a:ext cx="238760" cy="0"/>
          </a:xfrm>
          <a:prstGeom prst="straightConnector1">
            <a:avLst/>
          </a:prstGeom>
          <a:noFill/>
          <a:ln w="25400" cap="flat" cmpd="sng" algn="ctr">
            <a:solidFill>
              <a:srgbClr val="8F038F"/>
            </a:solidFill>
            <a:prstDash val="solid"/>
            <a:tailEnd type="arrow" w="med" len="med"/>
          </a:ln>
          <a:effectLst>
            <a:outerShdw blurRad="40000" dist="20000" dir="5400000" rotWithShape="0">
              <a:srgbClr val="000000">
                <a:alpha val="38000"/>
              </a:srgbClr>
            </a:outerShdw>
          </a:effectLst>
        </p:spPr>
        <p:style>
          <a:lnRef idx="2">
            <a:schemeClr val="accent2"/>
          </a:lnRef>
          <a:fillRef idx="0">
            <a:schemeClr val="accent2"/>
          </a:fillRef>
          <a:effectRef idx="1">
            <a:schemeClr val="accent2"/>
          </a:effectRef>
          <a:fontRef idx="minor">
            <a:schemeClr val="tx1"/>
          </a:fontRef>
        </p:style>
      </p:cxnSp>
      <p:grpSp>
        <p:nvGrpSpPr>
          <p:cNvPr id="16" name="组合 15"/>
          <p:cNvGrpSpPr/>
          <p:nvPr/>
        </p:nvGrpSpPr>
        <p:grpSpPr>
          <a:xfrm flipH="1">
            <a:off x="1438275" y="3492500"/>
            <a:ext cx="1237615" cy="1109980"/>
            <a:chOff x="2455" y="5589"/>
            <a:chExt cx="1949" cy="1748"/>
          </a:xfrm>
        </p:grpSpPr>
        <p:cxnSp>
          <p:nvCxnSpPr>
            <p:cNvPr id="17" name="直接连接符 16"/>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2455" y="7337"/>
              <a:ext cx="5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5" name="直接连接符 24"/>
          <p:cNvCxnSpPr/>
          <p:nvPr/>
        </p:nvCxnSpPr>
        <p:spPr>
          <a:xfrm flipV="1">
            <a:off x="2675890" y="4282440"/>
            <a:ext cx="0" cy="3092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91528" name="矩形 491527"/>
          <p:cNvSpPr/>
          <p:nvPr/>
        </p:nvSpPr>
        <p:spPr>
          <a:xfrm>
            <a:off x="5491798" y="5731510"/>
            <a:ext cx="2520950" cy="457200"/>
          </a:xfrm>
          <a:prstGeom prst="rect">
            <a:avLst/>
          </a:prstGeom>
          <a:noFill/>
          <a:ln w="9525">
            <a:noFill/>
          </a:ln>
        </p:spPr>
        <p:txBody>
          <a:bodyPr>
            <a:spAutoFit/>
          </a:bodyPr>
          <a:p>
            <a:pPr algn="l"/>
            <a:r>
              <a:rPr lang="zh-CN" altLang="en-US" sz="2400" dirty="0">
                <a:solidFill>
                  <a:srgbClr val="000099"/>
                </a:solidFill>
                <a:latin typeface="Times New Roman" panose="02020603050405020304" charset="0"/>
                <a:ea typeface="楷体_GB2312" pitchFamily="49" charset="-122"/>
              </a:rPr>
              <a:t>若初态 </a:t>
            </a:r>
            <a:r>
              <a:rPr lang="en-US" altLang="zh-CN" sz="2400" i="1">
                <a:solidFill>
                  <a:srgbClr val="000099"/>
                </a:solidFill>
                <a:latin typeface="Times New Roman" panose="02020603050405020304" charset="0"/>
                <a:ea typeface="楷体_GB2312" pitchFamily="49" charset="-122"/>
              </a:rPr>
              <a:t>Q </a:t>
            </a:r>
            <a:r>
              <a:rPr lang="en-US" altLang="zh-CN" sz="2400" i="1" baseline="30000">
                <a:solidFill>
                  <a:srgbClr val="000099"/>
                </a:solidFill>
                <a:latin typeface="Times New Roman" panose="02020603050405020304" charset="0"/>
                <a:ea typeface="楷体_GB2312" pitchFamily="49" charset="-122"/>
              </a:rPr>
              <a:t>n</a:t>
            </a:r>
            <a:r>
              <a:rPr lang="en-US" altLang="zh-CN" sz="2400" baseline="30000">
                <a:solidFill>
                  <a:srgbClr val="000099"/>
                </a:solidFill>
                <a:latin typeface="Times New Roman" panose="02020603050405020304" charset="0"/>
                <a:ea typeface="楷体_GB2312" pitchFamily="49" charset="-122"/>
              </a:rPr>
              <a:t> </a:t>
            </a:r>
            <a:r>
              <a:rPr lang="en-US" altLang="zh-CN" sz="2400">
                <a:solidFill>
                  <a:srgbClr val="000099"/>
                </a:solidFill>
                <a:latin typeface="Times New Roman" panose="02020603050405020304" charset="0"/>
                <a:ea typeface="楷体_GB2312" pitchFamily="49" charset="-122"/>
              </a:rPr>
              <a:t>= 1</a:t>
            </a:r>
            <a:endParaRPr lang="en-US" altLang="zh-CN" sz="2400">
              <a:solidFill>
                <a:srgbClr val="000099"/>
              </a:solidFill>
              <a:latin typeface="Times New Roman" panose="02020603050405020304" charset="0"/>
              <a:ea typeface="楷体_GB2312" pitchFamily="49" charset="-122"/>
            </a:endParaRPr>
          </a:p>
        </p:txBody>
      </p:sp>
      <p:grpSp>
        <p:nvGrpSpPr>
          <p:cNvPr id="13" name="组合 12"/>
          <p:cNvGrpSpPr/>
          <p:nvPr/>
        </p:nvGrpSpPr>
        <p:grpSpPr>
          <a:xfrm>
            <a:off x="5236845" y="2352675"/>
            <a:ext cx="2687320" cy="3331845"/>
            <a:chOff x="8247" y="3705"/>
            <a:chExt cx="4232" cy="5247"/>
          </a:xfrm>
        </p:grpSpPr>
        <p:pic>
          <p:nvPicPr>
            <p:cNvPr id="2" name="图片 2778"/>
            <p:cNvPicPr>
              <a:picLocks noChangeAspect="1"/>
            </p:cNvPicPr>
            <p:nvPr/>
          </p:nvPicPr>
          <p:blipFill>
            <a:blip r:embed="rId1"/>
            <a:srcRect r="42844" b="17765"/>
            <a:stretch>
              <a:fillRect/>
            </a:stretch>
          </p:blipFill>
          <p:spPr>
            <a:xfrm>
              <a:off x="8247" y="4651"/>
              <a:ext cx="4233" cy="3587"/>
            </a:xfrm>
            <a:prstGeom prst="rect">
              <a:avLst/>
            </a:prstGeom>
            <a:noFill/>
            <a:ln>
              <a:noFill/>
            </a:ln>
          </p:spPr>
        </p:pic>
        <p:sp>
          <p:nvSpPr>
            <p:cNvPr id="3" name="椭圆 2"/>
            <p:cNvSpPr/>
            <p:nvPr/>
          </p:nvSpPr>
          <p:spPr>
            <a:xfrm>
              <a:off x="11346" y="3762"/>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 name="椭圆 3"/>
            <p:cNvSpPr/>
            <p:nvPr/>
          </p:nvSpPr>
          <p:spPr>
            <a:xfrm>
              <a:off x="8873" y="3705"/>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6" name="椭圆 5"/>
            <p:cNvSpPr/>
            <p:nvPr/>
          </p:nvSpPr>
          <p:spPr>
            <a:xfrm>
              <a:off x="8689" y="8300"/>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2" name="椭圆 11"/>
            <p:cNvSpPr/>
            <p:nvPr/>
          </p:nvSpPr>
          <p:spPr>
            <a:xfrm>
              <a:off x="11513" y="8300"/>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grpSp>
      <p:grpSp>
        <p:nvGrpSpPr>
          <p:cNvPr id="24" name="组合 23"/>
          <p:cNvGrpSpPr/>
          <p:nvPr/>
        </p:nvGrpSpPr>
        <p:grpSpPr>
          <a:xfrm>
            <a:off x="6054725" y="3472815"/>
            <a:ext cx="1237615" cy="1109980"/>
            <a:chOff x="2455" y="5589"/>
            <a:chExt cx="1949" cy="1748"/>
          </a:xfrm>
        </p:grpSpPr>
        <p:cxnSp>
          <p:nvCxnSpPr>
            <p:cNvPr id="19" name="直接连接符 18"/>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2455" y="7337"/>
              <a:ext cx="5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2" name="直接连接符 21"/>
          <p:cNvCxnSpPr/>
          <p:nvPr/>
        </p:nvCxnSpPr>
        <p:spPr>
          <a:xfrm flipV="1">
            <a:off x="6029325" y="4263390"/>
            <a:ext cx="0" cy="3092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7855268" y="2367598"/>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27" name="直接箭头连接符 26"/>
          <p:cNvCxnSpPr/>
          <p:nvPr/>
        </p:nvCxnSpPr>
        <p:spPr>
          <a:xfrm>
            <a:off x="7616825" y="2607945"/>
            <a:ext cx="238760" cy="0"/>
          </a:xfrm>
          <a:prstGeom prst="straightConnector1">
            <a:avLst/>
          </a:prstGeom>
          <a:noFill/>
          <a:ln w="25400" cap="flat" cmpd="sng" algn="ctr">
            <a:solidFill>
              <a:srgbClr val="8F038F"/>
            </a:solidFill>
            <a:prstDash val="solid"/>
            <a:tailEnd type="arrow" w="med" len="med"/>
          </a:ln>
          <a:effectLst>
            <a:outerShdw blurRad="40000" dist="20000" dir="5400000" rotWithShape="0">
              <a:srgbClr val="000000">
                <a:alpha val="38000"/>
              </a:srgbClr>
            </a:outerShdw>
          </a:effectLst>
        </p:spPr>
        <p:style>
          <a:lnRef idx="2">
            <a:schemeClr val="accent2"/>
          </a:lnRef>
          <a:fillRef idx="0">
            <a:schemeClr val="accent2"/>
          </a:fillRef>
          <a:effectRef idx="1">
            <a:schemeClr val="accent2"/>
          </a:effectRef>
          <a:fontRef idx="minor">
            <a:schemeClr val="tx1"/>
          </a:fontRef>
        </p:style>
      </p:cxnSp>
      <p:sp>
        <p:nvSpPr>
          <p:cNvPr id="28" name="椭圆 27"/>
          <p:cNvSpPr/>
          <p:nvPr/>
        </p:nvSpPr>
        <p:spPr>
          <a:xfrm>
            <a:off x="6251258" y="2352675"/>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29" name="直接箭头连接符 28"/>
          <p:cNvCxnSpPr/>
          <p:nvPr/>
        </p:nvCxnSpPr>
        <p:spPr>
          <a:xfrm>
            <a:off x="6012815" y="2559685"/>
            <a:ext cx="238760" cy="0"/>
          </a:xfrm>
          <a:prstGeom prst="straightConnector1">
            <a:avLst/>
          </a:prstGeom>
          <a:noFill/>
          <a:ln w="25400" cap="flat" cmpd="sng" algn="ctr">
            <a:solidFill>
              <a:srgbClr val="8F038F"/>
            </a:solidFill>
            <a:prstDash val="solid"/>
            <a:tailEnd type="arrow" w="med" len="med"/>
          </a:ln>
          <a:effectLst>
            <a:outerShdw blurRad="40000" dist="20000" dir="5400000" rotWithShape="0">
              <a:srgbClr val="000000">
                <a:alpha val="38000"/>
              </a:srgbClr>
            </a:outerShdw>
          </a:effectLst>
        </p:spPr>
        <p:style>
          <a:lnRef idx="2">
            <a:schemeClr val="accent2"/>
          </a:lnRef>
          <a:fillRef idx="0">
            <a:schemeClr val="accent2"/>
          </a:fillRef>
          <a:effectRef idx="1">
            <a:schemeClr val="accent2"/>
          </a:effectRef>
          <a:fontRef idx="minor">
            <a:schemeClr val="tx1"/>
          </a:fontRef>
        </p:style>
      </p:cxnSp>
      <p:sp>
        <p:nvSpPr>
          <p:cNvPr id="491524" name="矩形 491523"/>
          <p:cNvSpPr/>
          <p:nvPr/>
        </p:nvSpPr>
        <p:spPr>
          <a:xfrm>
            <a:off x="2903538" y="1830388"/>
            <a:ext cx="1943100" cy="521970"/>
          </a:xfrm>
          <a:prstGeom prst="rect">
            <a:avLst/>
          </a:prstGeom>
          <a:noFill/>
          <a:ln w="9525">
            <a:noFill/>
          </a:ln>
        </p:spPr>
        <p:txBody>
          <a:bodyPr>
            <a:spAutoFit/>
            <a:scene3d>
              <a:camera prst="orthographicFront"/>
              <a:lightRig rig="threePt" dir="t"/>
            </a:scene3d>
          </a:bodyPr>
          <a:p>
            <a:pPr algn="l"/>
            <a:r>
              <a:rPr lang="zh-CN" altLang="en-US" sz="2800" dirty="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保持</a:t>
            </a:r>
            <a:endParaRPr lang="zh-CN" altLang="en-US" sz="2800" dirty="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2000" fill="hold">
                                          <p:stCondLst>
                                            <p:cond delay="0"/>
                                          </p:stCondLst>
                                        </p:cTn>
                                        <p:tgtEl>
                                          <p:spTgt spid="16"/>
                                        </p:tgtEl>
                                        <p:attrNameLst>
                                          <p:attrName>style.visibility</p:attrName>
                                        </p:attrNameLst>
                                      </p:cBhvr>
                                      <p:to>
                                        <p:strVal val="visible"/>
                                      </p:to>
                                    </p:set>
                                    <p:animEffect transition="in" filter="wipe(up)">
                                      <p:cBhvr>
                                        <p:cTn id="7" dur="2000"/>
                                        <p:tgtEl>
                                          <p:spTgt spid="16"/>
                                        </p:tgtEl>
                                      </p:cBhvr>
                                    </p:animEffect>
                                  </p:childTnLst>
                                </p:cTn>
                              </p:par>
                            </p:childTnLst>
                          </p:cTn>
                        </p:par>
                        <p:par>
                          <p:cTn id="8" fill="hold">
                            <p:stCondLst>
                              <p:cond delay="2000"/>
                            </p:stCondLst>
                            <p:childTnLst>
                              <p:par>
                                <p:cTn id="9" presetID="22" presetClass="entr" presetSubtype="4" fill="hold" nodeType="afterEffect">
                                  <p:stCondLst>
                                    <p:cond delay="0"/>
                                  </p:stCondLst>
                                  <p:childTnLst>
                                    <p:set>
                                      <p:cBhvr>
                                        <p:cTn id="10" dur="2000" fill="hold">
                                          <p:stCondLst>
                                            <p:cond delay="0"/>
                                          </p:stCondLst>
                                        </p:cTn>
                                        <p:tgtEl>
                                          <p:spTgt spid="25"/>
                                        </p:tgtEl>
                                        <p:attrNameLst>
                                          <p:attrName>style.visibility</p:attrName>
                                        </p:attrNameLst>
                                      </p:cBhvr>
                                      <p:to>
                                        <p:strVal val="visible"/>
                                      </p:to>
                                    </p:set>
                                    <p:animEffect transition="in" filter="wipe(down)">
                                      <p:cBhvr>
                                        <p:cTn id="11" dur="2000"/>
                                        <p:tgtEl>
                                          <p:spTgt spid="25"/>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000" fill="hold">
                                          <p:stCondLst>
                                            <p:cond delay="0"/>
                                          </p:stCondLst>
                                        </p:cTn>
                                        <p:tgtEl>
                                          <p:spTgt spid="11"/>
                                        </p:tgtEl>
                                        <p:attrNameLst>
                                          <p:attrName>style.visibility</p:attrName>
                                        </p:attrNameLst>
                                      </p:cBhvr>
                                      <p:to>
                                        <p:strVal val="visible"/>
                                      </p:to>
                                    </p:set>
                                    <p:animEffect transition="in" filter="wipe(left)">
                                      <p:cBhvr>
                                        <p:cTn id="15" dur="1000"/>
                                        <p:tgtEl>
                                          <p:spTgt spid="11"/>
                                        </p:tgtEl>
                                      </p:cBhvr>
                                    </p:animEffect>
                                  </p:childTnLst>
                                </p:cTn>
                              </p:par>
                            </p:childTnLst>
                          </p:cTn>
                        </p:par>
                        <p:par>
                          <p:cTn id="16" fill="hold">
                            <p:stCondLst>
                              <p:cond delay="5000"/>
                            </p:stCondLst>
                            <p:childTnLst>
                              <p:par>
                                <p:cTn id="17" presetID="1" presetClass="entr" presetSubtype="0" fill="hold" grpId="0" nodeType="afterEffect">
                                  <p:stCondLst>
                                    <p:cond delay="0"/>
                                  </p:stCondLst>
                                  <p:childTnLst>
                                    <p:set>
                                      <p:cBhvr>
                                        <p:cTn id="18" dur="1" fill="hold">
                                          <p:stCondLst>
                                            <p:cond delay="0"/>
                                          </p:stCondLst>
                                        </p:cTn>
                                        <p:tgtEl>
                                          <p:spTgt spid="491541"/>
                                        </p:tgtEl>
                                        <p:attrNameLst>
                                          <p:attrName>style.visibility</p:attrName>
                                        </p:attrNameLst>
                                      </p:cBhvr>
                                      <p:to>
                                        <p:strVal val="visible"/>
                                      </p:to>
                                    </p:set>
                                  </p:childTnLst>
                                </p:cTn>
                              </p:par>
                            </p:childTnLst>
                          </p:cTn>
                        </p:par>
                        <p:par>
                          <p:cTn id="19" fill="hold">
                            <p:stCondLst>
                              <p:cond delay="5000"/>
                            </p:stCondLst>
                            <p:childTnLst>
                              <p:par>
                                <p:cTn id="20" presetID="22" presetClass="entr" presetSubtype="8" fill="hold" nodeType="afterEffect">
                                  <p:stCondLst>
                                    <p:cond delay="0"/>
                                  </p:stCondLst>
                                  <p:childTnLst>
                                    <p:set>
                                      <p:cBhvr>
                                        <p:cTn id="21" dur="1000" fill="hold">
                                          <p:stCondLst>
                                            <p:cond delay="0"/>
                                          </p:stCondLst>
                                        </p:cTn>
                                        <p:tgtEl>
                                          <p:spTgt spid="10"/>
                                        </p:tgtEl>
                                        <p:attrNameLst>
                                          <p:attrName>style.visibility</p:attrName>
                                        </p:attrNameLst>
                                      </p:cBhvr>
                                      <p:to>
                                        <p:strVal val="visible"/>
                                      </p:to>
                                    </p:set>
                                    <p:animEffect transition="in" filter="wipe(left)">
                                      <p:cBhvr>
                                        <p:cTn id="22" dur="1000"/>
                                        <p:tgtEl>
                                          <p:spTgt spid="10"/>
                                        </p:tgtEl>
                                      </p:cBhvr>
                                    </p:animEffect>
                                  </p:childTnLst>
                                </p:cTn>
                              </p:par>
                            </p:childTnLst>
                          </p:cTn>
                        </p:par>
                        <p:par>
                          <p:cTn id="23" fill="hold">
                            <p:stCondLst>
                              <p:cond delay="6000"/>
                            </p:stCondLst>
                            <p:childTnLst>
                              <p:par>
                                <p:cTn id="24" presetID="1" presetClass="entr" presetSubtype="0" fill="hold" grpId="0" nodeType="afterEffect">
                                  <p:stCondLst>
                                    <p:cond delay="0"/>
                                  </p:stCondLst>
                                  <p:childTnLst>
                                    <p:set>
                                      <p:cBhvr>
                                        <p:cTn id="25" dur="1" fill="hold">
                                          <p:stCondLst>
                                            <p:cond delay="0"/>
                                          </p:stCondLst>
                                        </p:cTn>
                                        <p:tgtEl>
                                          <p:spTgt spid="49153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91528"/>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000" fill="hold">
                                          <p:stCondLst>
                                            <p:cond delay="0"/>
                                          </p:stCondLst>
                                        </p:cTn>
                                        <p:tgtEl>
                                          <p:spTgt spid="24"/>
                                        </p:tgtEl>
                                        <p:attrNameLst>
                                          <p:attrName>style.visibility</p:attrName>
                                        </p:attrNameLst>
                                      </p:cBhvr>
                                      <p:to>
                                        <p:strVal val="visible"/>
                                      </p:to>
                                    </p:set>
                                    <p:animEffect transition="in" filter="wipe(up)">
                                      <p:cBhvr>
                                        <p:cTn id="37" dur="1000"/>
                                        <p:tgtEl>
                                          <p:spTgt spid="24"/>
                                        </p:tgtEl>
                                      </p:cBhvr>
                                    </p:animEffect>
                                  </p:childTnLst>
                                </p:cTn>
                              </p:par>
                            </p:childTnLst>
                          </p:cTn>
                        </p:par>
                        <p:par>
                          <p:cTn id="38" fill="hold">
                            <p:stCondLst>
                              <p:cond delay="1000"/>
                            </p:stCondLst>
                            <p:childTnLst>
                              <p:par>
                                <p:cTn id="39" presetID="22" presetClass="entr" presetSubtype="4" fill="hold" nodeType="afterEffect">
                                  <p:stCondLst>
                                    <p:cond delay="0"/>
                                  </p:stCondLst>
                                  <p:childTnLst>
                                    <p:set>
                                      <p:cBhvr>
                                        <p:cTn id="40" dur="1000" fill="hold">
                                          <p:stCondLst>
                                            <p:cond delay="0"/>
                                          </p:stCondLst>
                                        </p:cTn>
                                        <p:tgtEl>
                                          <p:spTgt spid="22"/>
                                        </p:tgtEl>
                                        <p:attrNameLst>
                                          <p:attrName>style.visibility</p:attrName>
                                        </p:attrNameLst>
                                      </p:cBhvr>
                                      <p:to>
                                        <p:strVal val="visible"/>
                                      </p:to>
                                    </p:set>
                                    <p:animEffect transition="in" filter="wipe(down)">
                                      <p:cBhvr>
                                        <p:cTn id="41" dur="1000"/>
                                        <p:tgtEl>
                                          <p:spTgt spid="22"/>
                                        </p:tgtEl>
                                      </p:cBhvr>
                                    </p:animEffect>
                                  </p:childTnLst>
                                </p:cTn>
                              </p:par>
                            </p:childTnLst>
                          </p:cTn>
                        </p:par>
                        <p:par>
                          <p:cTn id="42" fill="hold">
                            <p:stCondLst>
                              <p:cond delay="2000"/>
                            </p:stCondLst>
                            <p:childTnLst>
                              <p:par>
                                <p:cTn id="43" presetID="22" presetClass="entr" presetSubtype="8" fill="hold" nodeType="afterEffect">
                                  <p:stCondLst>
                                    <p:cond delay="0"/>
                                  </p:stCondLst>
                                  <p:childTnLst>
                                    <p:set>
                                      <p:cBhvr>
                                        <p:cTn id="44" dur="1000" fill="hold">
                                          <p:stCondLst>
                                            <p:cond delay="0"/>
                                          </p:stCondLst>
                                        </p:cTn>
                                        <p:tgtEl>
                                          <p:spTgt spid="29"/>
                                        </p:tgtEl>
                                        <p:attrNameLst>
                                          <p:attrName>style.visibility</p:attrName>
                                        </p:attrNameLst>
                                      </p:cBhvr>
                                      <p:to>
                                        <p:strVal val="visible"/>
                                      </p:to>
                                    </p:set>
                                    <p:animEffect transition="in" filter="wipe(left)">
                                      <p:cBhvr>
                                        <p:cTn id="45" dur="1000"/>
                                        <p:tgtEl>
                                          <p:spTgt spid="29"/>
                                        </p:tgtEl>
                                      </p:cBhvr>
                                    </p:animEffect>
                                  </p:childTnLst>
                                </p:cTn>
                              </p:par>
                            </p:childTnLst>
                          </p:cTn>
                        </p:par>
                        <p:par>
                          <p:cTn id="46" fill="hold">
                            <p:stCondLst>
                              <p:cond delay="3000"/>
                            </p:stCondLst>
                            <p:childTnLst>
                              <p:par>
                                <p:cTn id="47" presetID="1" presetClass="entr" presetSubtype="0" fill="hold" grpId="0" nodeType="after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par>
                          <p:cTn id="49" fill="hold">
                            <p:stCondLst>
                              <p:cond delay="3000"/>
                            </p:stCondLst>
                            <p:childTnLst>
                              <p:par>
                                <p:cTn id="50" presetID="22" presetClass="entr" presetSubtype="8" fill="hold" nodeType="afterEffect">
                                  <p:stCondLst>
                                    <p:cond delay="0"/>
                                  </p:stCondLst>
                                  <p:childTnLst>
                                    <p:set>
                                      <p:cBhvr>
                                        <p:cTn id="51" dur="1000" fill="hold">
                                          <p:stCondLst>
                                            <p:cond delay="0"/>
                                          </p:stCondLst>
                                        </p:cTn>
                                        <p:tgtEl>
                                          <p:spTgt spid="27"/>
                                        </p:tgtEl>
                                        <p:attrNameLst>
                                          <p:attrName>style.visibility</p:attrName>
                                        </p:attrNameLst>
                                      </p:cBhvr>
                                      <p:to>
                                        <p:strVal val="visible"/>
                                      </p:to>
                                    </p:set>
                                    <p:animEffect transition="in" filter="wipe(left)">
                                      <p:cBhvr>
                                        <p:cTn id="52" dur="1000"/>
                                        <p:tgtEl>
                                          <p:spTgt spid="27"/>
                                        </p:tgtEl>
                                      </p:cBhvr>
                                    </p:animEffect>
                                  </p:childTnLst>
                                </p:cTn>
                              </p:par>
                            </p:childTnLst>
                          </p:cTn>
                        </p:par>
                        <p:par>
                          <p:cTn id="53" fill="hold">
                            <p:stCondLst>
                              <p:cond delay="4000"/>
                            </p:stCondLst>
                            <p:childTnLst>
                              <p:par>
                                <p:cTn id="54" presetID="1" presetClass="entr" presetSubtype="0" fill="hold" grpId="0" nodeType="afterEffect">
                                  <p:stCondLst>
                                    <p:cond delay="0"/>
                                  </p:stCondLst>
                                  <p:childTnLst>
                                    <p:set>
                                      <p:cBhvr>
                                        <p:cTn id="55" dur="1" fill="hold">
                                          <p:stCondLst>
                                            <p:cond delay="0"/>
                                          </p:stCondLst>
                                        </p:cTn>
                                        <p:tgtEl>
                                          <p:spTgt spid="26"/>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8" presetClass="entr" presetSubtype="6" fill="hold" grpId="0" nodeType="clickEffect">
                                  <p:stCondLst>
                                    <p:cond delay="0"/>
                                  </p:stCondLst>
                                  <p:childTnLst>
                                    <p:set>
                                      <p:cBhvr>
                                        <p:cTn id="59" dur="1" fill="hold">
                                          <p:stCondLst>
                                            <p:cond delay="0"/>
                                          </p:stCondLst>
                                        </p:cTn>
                                        <p:tgtEl>
                                          <p:spTgt spid="491524"/>
                                        </p:tgtEl>
                                        <p:attrNameLst>
                                          <p:attrName>style.visibility</p:attrName>
                                        </p:attrNameLst>
                                      </p:cBhvr>
                                      <p:to>
                                        <p:strVal val="visible"/>
                                      </p:to>
                                    </p:set>
                                    <p:animEffect transition="in" filter="strips(downRight)">
                                      <p:cBhvr>
                                        <p:cTn id="60" dur="500"/>
                                        <p:tgtEl>
                                          <p:spTgt spid="491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35" grpId="0" bldLvl="0" animBg="1"/>
      <p:bldP spid="491541" grpId="0" bldLvl="0" animBg="1"/>
      <p:bldP spid="491528" grpId="0"/>
      <p:bldP spid="26" grpId="0" bldLvl="0" animBg="1"/>
      <p:bldP spid="28" grpId="0" bldLvl="0" animBg="1"/>
      <p:bldP spid="4915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 name="组合 12"/>
          <p:cNvGrpSpPr/>
          <p:nvPr/>
        </p:nvGrpSpPr>
        <p:grpSpPr>
          <a:xfrm>
            <a:off x="689610" y="2682875"/>
            <a:ext cx="2687955" cy="2731770"/>
            <a:chOff x="8247" y="4651"/>
            <a:chExt cx="4233" cy="4302"/>
          </a:xfrm>
        </p:grpSpPr>
        <p:pic>
          <p:nvPicPr>
            <p:cNvPr id="2" name="图片 2778"/>
            <p:cNvPicPr>
              <a:picLocks noChangeAspect="1"/>
            </p:cNvPicPr>
            <p:nvPr/>
          </p:nvPicPr>
          <p:blipFill>
            <a:blip r:embed="rId1"/>
            <a:srcRect r="42844" b="17765"/>
            <a:stretch>
              <a:fillRect/>
            </a:stretch>
          </p:blipFill>
          <p:spPr>
            <a:xfrm>
              <a:off x="8247" y="4651"/>
              <a:ext cx="4233" cy="3587"/>
            </a:xfrm>
            <a:prstGeom prst="rect">
              <a:avLst/>
            </a:prstGeom>
            <a:noFill/>
            <a:ln>
              <a:noFill/>
            </a:ln>
          </p:spPr>
        </p:pic>
        <p:sp>
          <p:nvSpPr>
            <p:cNvPr id="6" name="椭圆 5"/>
            <p:cNvSpPr/>
            <p:nvPr/>
          </p:nvSpPr>
          <p:spPr>
            <a:xfrm>
              <a:off x="8689" y="8300"/>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2" name="椭圆 11"/>
            <p:cNvSpPr/>
            <p:nvPr/>
          </p:nvSpPr>
          <p:spPr>
            <a:xfrm>
              <a:off x="11513" y="8300"/>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gr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92587" name="矩形 492586"/>
          <p:cNvSpPr/>
          <p:nvPr/>
        </p:nvSpPr>
        <p:spPr>
          <a:xfrm>
            <a:off x="1005523" y="1342073"/>
            <a:ext cx="2484437" cy="521970"/>
          </a:xfrm>
          <a:prstGeom prst="rect">
            <a:avLst/>
          </a:prstGeom>
          <a:noFill/>
          <a:ln w="9525">
            <a:noFill/>
          </a:ln>
        </p:spPr>
        <p:txBody>
          <a:bodyPr>
            <a:spAutoFit/>
          </a:bodyPr>
          <a:p>
            <a:pPr algn="l"/>
            <a:r>
              <a:rPr lang="en-US" altLang="zh-CN" sz="2800" i="1">
                <a:solidFill>
                  <a:srgbClr val="FF0000"/>
                </a:solidFill>
                <a:effectLst>
                  <a:outerShdw blurRad="38100" dist="38100" dir="2700000" algn="tl">
                    <a:srgbClr val="000000">
                      <a:alpha val="43137"/>
                    </a:srgbClr>
                  </a:outerShdw>
                </a:effectLst>
                <a:latin typeface="Times New Roman" panose="02020603050405020304" charset="0"/>
              </a:rPr>
              <a:t>R</a:t>
            </a:r>
            <a:r>
              <a:rPr lang="en-US" altLang="zh-CN" sz="2800" dirty="0">
                <a:solidFill>
                  <a:srgbClr val="FF0000"/>
                </a:solidFill>
                <a:effectLst>
                  <a:outerShdw blurRad="38100" dist="38100" dir="2700000" algn="tl">
                    <a:srgbClr val="000000">
                      <a:alpha val="43137"/>
                    </a:srgbClr>
                  </a:outerShdw>
                </a:effectLst>
                <a:latin typeface="Times New Roman" panose="02020603050405020304" charset="0"/>
              </a:rPr>
              <a:t>=0</a:t>
            </a:r>
            <a:r>
              <a:rPr lang="zh-CN" altLang="en-US" sz="2800" dirty="0">
                <a:solidFill>
                  <a:srgbClr val="FF0000"/>
                </a:solidFill>
                <a:effectLst>
                  <a:outerShdw blurRad="38100" dist="38100" dir="2700000" algn="tl">
                    <a:srgbClr val="000000">
                      <a:alpha val="43137"/>
                    </a:srgbClr>
                  </a:outerShdw>
                </a:effectLst>
                <a:latin typeface="Times New Roman" panose="02020603050405020304" charset="0"/>
              </a:rPr>
              <a:t>、</a:t>
            </a:r>
            <a:r>
              <a:rPr lang="en-US" altLang="zh-CN" sz="2800" i="1">
                <a:solidFill>
                  <a:srgbClr val="FF0000"/>
                </a:solidFill>
                <a:effectLst>
                  <a:outerShdw blurRad="38100" dist="38100" dir="2700000" algn="tl">
                    <a:srgbClr val="000000">
                      <a:alpha val="43137"/>
                    </a:srgbClr>
                  </a:outerShdw>
                </a:effectLst>
                <a:latin typeface="Times New Roman" panose="02020603050405020304" charset="0"/>
              </a:rPr>
              <a:t>S</a:t>
            </a:r>
            <a:r>
              <a:rPr lang="en-US" altLang="zh-CN" sz="2800">
                <a:solidFill>
                  <a:srgbClr val="FF0000"/>
                </a:solidFill>
                <a:effectLst>
                  <a:outerShdw blurRad="38100" dist="38100" dir="2700000" algn="tl">
                    <a:srgbClr val="000000">
                      <a:alpha val="43137"/>
                    </a:srgbClr>
                  </a:outerShdw>
                </a:effectLst>
                <a:latin typeface="Times New Roman" panose="02020603050405020304" charset="0"/>
              </a:rPr>
              <a:t>=1</a:t>
            </a:r>
            <a:endParaRPr lang="en-US" altLang="zh-CN" sz="2800">
              <a:solidFill>
                <a:srgbClr val="FF0000"/>
              </a:solidFill>
              <a:effectLst>
                <a:outerShdw blurRad="38100" dist="38100" dir="2700000" algn="tl">
                  <a:srgbClr val="000000">
                    <a:alpha val="43137"/>
                  </a:srgbClr>
                </a:outerShdw>
              </a:effectLst>
              <a:latin typeface="Times New Roman" panose="02020603050405020304" charset="0"/>
            </a:endParaRPr>
          </a:p>
        </p:txBody>
      </p:sp>
      <p:sp>
        <p:nvSpPr>
          <p:cNvPr id="26" name="椭圆 25"/>
          <p:cNvSpPr/>
          <p:nvPr/>
        </p:nvSpPr>
        <p:spPr>
          <a:xfrm>
            <a:off x="2577783" y="220186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28" name="椭圆 27"/>
          <p:cNvSpPr/>
          <p:nvPr/>
        </p:nvSpPr>
        <p:spPr>
          <a:xfrm>
            <a:off x="1173163" y="220218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16" name="直接连接符 15"/>
          <p:cNvCxnSpPr/>
          <p:nvPr/>
        </p:nvCxnSpPr>
        <p:spPr>
          <a:xfrm flipV="1">
            <a:off x="1173480" y="3992880"/>
            <a:ext cx="0" cy="67881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482725" y="3211195"/>
            <a:ext cx="1237615" cy="1109980"/>
            <a:chOff x="2455" y="5589"/>
            <a:chExt cx="1949" cy="1748"/>
          </a:xfrm>
        </p:grpSpPr>
        <p:cxnSp>
          <p:nvCxnSpPr>
            <p:cNvPr id="8" name="直接连接符 7"/>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2455" y="7337"/>
              <a:ext cx="5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p:cNvCxnSpPr/>
          <p:nvPr/>
        </p:nvCxnSpPr>
        <p:spPr>
          <a:xfrm flipV="1">
            <a:off x="1457325" y="4001770"/>
            <a:ext cx="0" cy="3092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92588" name="矩形 492587"/>
          <p:cNvSpPr/>
          <p:nvPr/>
        </p:nvSpPr>
        <p:spPr>
          <a:xfrm>
            <a:off x="2907983" y="1342073"/>
            <a:ext cx="1409700" cy="521970"/>
          </a:xfrm>
          <a:prstGeom prst="rect">
            <a:avLst/>
          </a:prstGeom>
          <a:noFill/>
          <a:ln w="9525">
            <a:noFill/>
          </a:ln>
        </p:spPr>
        <p:txBody>
          <a:bodyPr>
            <a:spAutoFit/>
          </a:bodyPr>
          <a:p>
            <a:pPr algn="l"/>
            <a:r>
              <a:rPr lang="zh-CN" altLang="en-US" sz="2800" dirty="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置</a:t>
            </a:r>
            <a:r>
              <a:rPr lang="en-US" altLang="zh-CN"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1</a:t>
            </a:r>
            <a:endParaRPr lang="en-US" altLang="zh-CN"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endParaRPr>
          </a:p>
        </p:txBody>
      </p:sp>
      <p:sp>
        <p:nvSpPr>
          <p:cNvPr id="492546" name="矩形 492545"/>
          <p:cNvSpPr/>
          <p:nvPr/>
        </p:nvSpPr>
        <p:spPr>
          <a:xfrm>
            <a:off x="4274820" y="2957830"/>
            <a:ext cx="4605020" cy="1420495"/>
          </a:xfrm>
          <a:prstGeom prst="rect">
            <a:avLst/>
          </a:prstGeom>
          <a:noFill/>
          <a:ln w="9525">
            <a:noFill/>
          </a:ln>
        </p:spPr>
        <p:txBody>
          <a:bodyPr wrap="square" anchor="ctr">
            <a:spAutoFit/>
          </a:bodyPr>
          <a:p>
            <a:pPr algn="l">
              <a:lnSpc>
                <a:spcPct val="120000"/>
              </a:lnSpc>
            </a:pPr>
            <a:r>
              <a:rPr lang="zh-CN" altLang="en-US" sz="2400" b="1" dirty="0">
                <a:solidFill>
                  <a:srgbClr val="000066"/>
                </a:solidFill>
                <a:latin typeface="Times New Roman" panose="02020603050405020304" charset="0"/>
                <a:ea typeface="楷体_GB2312" pitchFamily="49" charset="-122"/>
              </a:rPr>
              <a:t>无论初态</a:t>
            </a:r>
            <a:r>
              <a:rPr lang="en-US" altLang="zh-CN" sz="2400" b="1" i="1">
                <a:solidFill>
                  <a:srgbClr val="000066"/>
                </a:solidFill>
                <a:latin typeface="Times New Roman" panose="02020603050405020304" charset="0"/>
                <a:ea typeface="楷体_GB2312" pitchFamily="49" charset="-122"/>
              </a:rPr>
              <a:t>Q </a:t>
            </a:r>
            <a:r>
              <a:rPr lang="en-US" altLang="zh-CN" sz="2400" b="1" i="1" baseline="30000">
                <a:solidFill>
                  <a:srgbClr val="000066"/>
                </a:solidFill>
                <a:latin typeface="Times New Roman" panose="02020603050405020304" charset="0"/>
                <a:ea typeface="楷体_GB2312" pitchFamily="49" charset="-122"/>
              </a:rPr>
              <a:t>n</a:t>
            </a:r>
            <a:r>
              <a:rPr lang="zh-CN" altLang="en-US" sz="2400" b="1" dirty="0">
                <a:solidFill>
                  <a:srgbClr val="000066"/>
                </a:solidFill>
                <a:latin typeface="Times New Roman" panose="02020603050405020304" charset="0"/>
                <a:ea typeface="楷体_GB2312" pitchFamily="49" charset="-122"/>
              </a:rPr>
              <a:t>为</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或</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，锁存器的次态为</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态。 信号消失后新的状态将被记忆下来。</a:t>
            </a:r>
            <a:endParaRPr lang="zh-CN" altLang="en-US" sz="2400" b="1" dirty="0">
              <a:solidFill>
                <a:srgbClr val="000066"/>
              </a:solidFill>
              <a:latin typeface="Times New Roman" panose="0202060305040502030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000" fill="hold">
                                          <p:stCondLst>
                                            <p:cond delay="0"/>
                                          </p:stCondLst>
                                        </p:cTn>
                                        <p:tgtEl>
                                          <p:spTgt spid="16"/>
                                        </p:tgtEl>
                                        <p:attrNameLst>
                                          <p:attrName>style.visibility</p:attrName>
                                        </p:attrNameLst>
                                      </p:cBhvr>
                                      <p:to>
                                        <p:strVal val="visible"/>
                                      </p:to>
                                    </p:set>
                                    <p:animEffect transition="in" filter="wipe(down)">
                                      <p:cBhvr>
                                        <p:cTn id="7" dur="1000"/>
                                        <p:tgtEl>
                                          <p:spTgt spid="16"/>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grpId="0" nodeType="afterEffect">
                                  <p:stCondLst>
                                    <p:cond delay="1000"/>
                                  </p:stCondLst>
                                  <p:childTnLst>
                                    <p:set>
                                      <p:cBhvr>
                                        <p:cTn id="13" dur="1" fill="hold">
                                          <p:stCondLst>
                                            <p:cond delay="0"/>
                                          </p:stCondLst>
                                        </p:cTn>
                                        <p:tgtEl>
                                          <p:spTgt spid="2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9258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92546"/>
                                        </p:tgtEl>
                                        <p:attrNameLst>
                                          <p:attrName>style.visibility</p:attrName>
                                        </p:attrNameLst>
                                      </p:cBhvr>
                                      <p:to>
                                        <p:strVal val="visible"/>
                                      </p:to>
                                    </p:set>
                                    <p:animEffect transition="in" filter="blinds(horizontal)">
                                      <p:cBhvr>
                                        <p:cTn id="22" dur="500"/>
                                        <p:tgtEl>
                                          <p:spTgt spid="492546"/>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000" fill="hold">
                                          <p:stCondLst>
                                            <p:cond delay="0"/>
                                          </p:stCondLst>
                                        </p:cTn>
                                        <p:tgtEl>
                                          <p:spTgt spid="7"/>
                                        </p:tgtEl>
                                        <p:attrNameLst>
                                          <p:attrName>style.visibility</p:attrName>
                                        </p:attrNameLst>
                                      </p:cBhvr>
                                      <p:to>
                                        <p:strVal val="visible"/>
                                      </p:to>
                                    </p:set>
                                    <p:animEffect transition="in" filter="wipe(up)">
                                      <p:cBhvr>
                                        <p:cTn id="26" dur="1000"/>
                                        <p:tgtEl>
                                          <p:spTgt spid="7"/>
                                        </p:tgtEl>
                                      </p:cBhvr>
                                    </p:animEffect>
                                  </p:childTnLst>
                                </p:cTn>
                              </p:par>
                            </p:childTnLst>
                          </p:cTn>
                        </p:par>
                        <p:par>
                          <p:cTn id="27" fill="hold">
                            <p:stCondLst>
                              <p:cond delay="1500"/>
                            </p:stCondLst>
                            <p:childTnLst>
                              <p:par>
                                <p:cTn id="28" presetID="22" presetClass="entr" presetSubtype="4" fill="hold" nodeType="afterEffect">
                                  <p:stCondLst>
                                    <p:cond delay="0"/>
                                  </p:stCondLst>
                                  <p:childTnLst>
                                    <p:set>
                                      <p:cBhvr>
                                        <p:cTn id="29" dur="1000" fill="hold">
                                          <p:stCondLst>
                                            <p:cond delay="0"/>
                                          </p:stCondLst>
                                        </p:cTn>
                                        <p:tgtEl>
                                          <p:spTgt spid="11"/>
                                        </p:tgtEl>
                                        <p:attrNameLst>
                                          <p:attrName>style.visibility</p:attrName>
                                        </p:attrNameLst>
                                      </p:cBhvr>
                                      <p:to>
                                        <p:strVal val="visible"/>
                                      </p:to>
                                    </p:set>
                                    <p:animEffect transition="in" filter="wipe(down)">
                                      <p:cBhvr>
                                        <p:cTn id="3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28" grpId="0" bldLvl="0" animBg="1"/>
      <p:bldP spid="492588" grpId="0"/>
      <p:bldP spid="49254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93612" name="矩形 493611"/>
          <p:cNvSpPr/>
          <p:nvPr/>
        </p:nvSpPr>
        <p:spPr>
          <a:xfrm>
            <a:off x="990918" y="1269365"/>
            <a:ext cx="3492500" cy="519113"/>
          </a:xfrm>
          <a:prstGeom prst="rect">
            <a:avLst/>
          </a:prstGeom>
          <a:noFill/>
          <a:ln w="9525">
            <a:noFill/>
          </a:ln>
        </p:spPr>
        <p:txBody>
          <a:bodyPr>
            <a:spAutoFit/>
          </a:bodyPr>
          <a:p>
            <a:pPr algn="l"/>
            <a:r>
              <a:rPr lang="en-US" altLang="zh-CN" sz="2800" i="1">
                <a:solidFill>
                  <a:srgbClr val="FF0000"/>
                </a:solidFill>
                <a:latin typeface="Times New Roman" panose="02020603050405020304" charset="0"/>
              </a:rPr>
              <a:t>R</a:t>
            </a:r>
            <a:r>
              <a:rPr lang="en-US" altLang="zh-CN" sz="2800" dirty="0">
                <a:solidFill>
                  <a:srgbClr val="FF0000"/>
                </a:solidFill>
                <a:latin typeface="Times New Roman" panose="02020603050405020304" charset="0"/>
              </a:rPr>
              <a:t>=1 </a:t>
            </a:r>
            <a:r>
              <a:rPr lang="zh-CN" altLang="en-US" sz="2800" dirty="0">
                <a:solidFill>
                  <a:srgbClr val="FF0000"/>
                </a:solidFill>
                <a:latin typeface="Times New Roman" panose="02020603050405020304" charset="0"/>
              </a:rPr>
              <a:t>、</a:t>
            </a:r>
            <a:r>
              <a:rPr lang="zh-CN" altLang="en-US" sz="2800">
                <a:solidFill>
                  <a:srgbClr val="FF0000"/>
                </a:solidFill>
                <a:latin typeface="Times New Roman" panose="02020603050405020304" charset="0"/>
              </a:rPr>
              <a:t> </a:t>
            </a:r>
            <a:r>
              <a:rPr lang="en-US" altLang="zh-CN" sz="2800" i="1">
                <a:solidFill>
                  <a:srgbClr val="FF0000"/>
                </a:solidFill>
                <a:latin typeface="Times New Roman" panose="02020603050405020304" charset="0"/>
              </a:rPr>
              <a:t>S</a:t>
            </a:r>
            <a:r>
              <a:rPr lang="en-US" altLang="zh-CN" sz="2800">
                <a:solidFill>
                  <a:srgbClr val="FF0000"/>
                </a:solidFill>
                <a:latin typeface="Times New Roman" panose="02020603050405020304" charset="0"/>
              </a:rPr>
              <a:t>=0</a:t>
            </a:r>
            <a:endParaRPr lang="en-US" altLang="zh-CN" sz="2800">
              <a:solidFill>
                <a:srgbClr val="FF0000"/>
              </a:solidFill>
              <a:latin typeface="Times New Roman" panose="02020603050405020304" charset="0"/>
            </a:endParaRPr>
          </a:p>
        </p:txBody>
      </p:sp>
      <p:grpSp>
        <p:nvGrpSpPr>
          <p:cNvPr id="13" name="组合 12"/>
          <p:cNvGrpSpPr/>
          <p:nvPr/>
        </p:nvGrpSpPr>
        <p:grpSpPr>
          <a:xfrm>
            <a:off x="630555" y="2574925"/>
            <a:ext cx="2687955" cy="2731770"/>
            <a:chOff x="8247" y="4651"/>
            <a:chExt cx="4233" cy="4302"/>
          </a:xfrm>
        </p:grpSpPr>
        <p:pic>
          <p:nvPicPr>
            <p:cNvPr id="2" name="图片 2778"/>
            <p:cNvPicPr>
              <a:picLocks noChangeAspect="1"/>
            </p:cNvPicPr>
            <p:nvPr/>
          </p:nvPicPr>
          <p:blipFill>
            <a:blip r:embed="rId1"/>
            <a:srcRect r="42844" b="17765"/>
            <a:stretch>
              <a:fillRect/>
            </a:stretch>
          </p:blipFill>
          <p:spPr>
            <a:xfrm>
              <a:off x="8247" y="4651"/>
              <a:ext cx="4233" cy="3587"/>
            </a:xfrm>
            <a:prstGeom prst="rect">
              <a:avLst/>
            </a:prstGeom>
            <a:noFill/>
            <a:ln>
              <a:noFill/>
            </a:ln>
          </p:spPr>
        </p:pic>
        <p:sp>
          <p:nvSpPr>
            <p:cNvPr id="6" name="椭圆 5"/>
            <p:cNvSpPr/>
            <p:nvPr/>
          </p:nvSpPr>
          <p:spPr>
            <a:xfrm>
              <a:off x="8689" y="8300"/>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2" name="椭圆 11"/>
            <p:cNvSpPr/>
            <p:nvPr/>
          </p:nvSpPr>
          <p:spPr>
            <a:xfrm>
              <a:off x="11513" y="8300"/>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grpSp>
      <p:sp>
        <p:nvSpPr>
          <p:cNvPr id="28" name="椭圆 27"/>
          <p:cNvSpPr/>
          <p:nvPr/>
        </p:nvSpPr>
        <p:spPr>
          <a:xfrm>
            <a:off x="2533968" y="216027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26" name="椭圆 25"/>
          <p:cNvSpPr/>
          <p:nvPr/>
        </p:nvSpPr>
        <p:spPr>
          <a:xfrm>
            <a:off x="1065213" y="215995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16" name="直接连接符 15"/>
          <p:cNvCxnSpPr/>
          <p:nvPr/>
        </p:nvCxnSpPr>
        <p:spPr>
          <a:xfrm flipV="1">
            <a:off x="2849245" y="3872865"/>
            <a:ext cx="0" cy="67881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92588" name="矩形 492587"/>
          <p:cNvSpPr/>
          <p:nvPr/>
        </p:nvSpPr>
        <p:spPr>
          <a:xfrm>
            <a:off x="3073718" y="1266508"/>
            <a:ext cx="1409700" cy="521970"/>
          </a:xfrm>
          <a:prstGeom prst="rect">
            <a:avLst/>
          </a:prstGeom>
          <a:noFill/>
          <a:ln w="9525">
            <a:noFill/>
          </a:ln>
        </p:spPr>
        <p:txBody>
          <a:bodyPr>
            <a:spAutoFit/>
          </a:bodyPr>
          <a:p>
            <a:pPr algn="l"/>
            <a:r>
              <a:rPr lang="zh-CN" altLang="en-US" sz="2800" dirty="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置</a:t>
            </a:r>
            <a:r>
              <a:rPr lang="en-US" altLang="zh-CN"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0</a:t>
            </a:r>
            <a:endParaRPr lang="en-US" altLang="zh-CN"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endParaRPr>
          </a:p>
        </p:txBody>
      </p:sp>
      <p:sp>
        <p:nvSpPr>
          <p:cNvPr id="492546" name="矩形 492545"/>
          <p:cNvSpPr/>
          <p:nvPr/>
        </p:nvSpPr>
        <p:spPr>
          <a:xfrm>
            <a:off x="4274820" y="2957830"/>
            <a:ext cx="4605020" cy="1420495"/>
          </a:xfrm>
          <a:prstGeom prst="rect">
            <a:avLst/>
          </a:prstGeom>
          <a:noFill/>
          <a:ln w="9525">
            <a:noFill/>
          </a:ln>
        </p:spPr>
        <p:txBody>
          <a:bodyPr wrap="square" anchor="ctr">
            <a:spAutoFit/>
          </a:bodyPr>
          <a:p>
            <a:pPr algn="l">
              <a:lnSpc>
                <a:spcPct val="120000"/>
              </a:lnSpc>
            </a:pPr>
            <a:r>
              <a:rPr lang="zh-CN" altLang="en-US" sz="2400" b="1" dirty="0">
                <a:solidFill>
                  <a:srgbClr val="000066"/>
                </a:solidFill>
                <a:latin typeface="Times New Roman" panose="02020603050405020304" charset="0"/>
                <a:ea typeface="楷体_GB2312" pitchFamily="49" charset="-122"/>
              </a:rPr>
              <a:t>无论初态</a:t>
            </a:r>
            <a:r>
              <a:rPr lang="en-US" altLang="zh-CN" sz="2400" b="1" i="1">
                <a:solidFill>
                  <a:srgbClr val="000066"/>
                </a:solidFill>
                <a:latin typeface="Times New Roman" panose="02020603050405020304" charset="0"/>
                <a:ea typeface="楷体_GB2312" pitchFamily="49" charset="-122"/>
              </a:rPr>
              <a:t>Q </a:t>
            </a:r>
            <a:r>
              <a:rPr lang="en-US" altLang="zh-CN" sz="2400" b="1" i="1" baseline="30000">
                <a:solidFill>
                  <a:srgbClr val="000066"/>
                </a:solidFill>
                <a:latin typeface="Times New Roman" panose="02020603050405020304" charset="0"/>
                <a:ea typeface="楷体_GB2312" pitchFamily="49" charset="-122"/>
              </a:rPr>
              <a:t>n</a:t>
            </a:r>
            <a:r>
              <a:rPr lang="zh-CN" altLang="en-US" sz="2400" b="1" dirty="0">
                <a:solidFill>
                  <a:srgbClr val="000066"/>
                </a:solidFill>
                <a:latin typeface="Times New Roman" panose="02020603050405020304" charset="0"/>
                <a:ea typeface="楷体_GB2312" pitchFamily="49" charset="-122"/>
              </a:rPr>
              <a:t>为</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或</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，锁存器的次态为</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态。 信号消失后新的状态将被记忆下来。</a:t>
            </a:r>
            <a:endParaRPr lang="zh-CN" altLang="en-US" sz="2400" b="1" dirty="0">
              <a:solidFill>
                <a:srgbClr val="000066"/>
              </a:solidFill>
              <a:latin typeface="Times New Roman" panose="02020603050405020304" charset="0"/>
              <a:ea typeface="楷体_GB2312" pitchFamily="49" charset="-122"/>
            </a:endParaRPr>
          </a:p>
        </p:txBody>
      </p:sp>
      <p:grpSp>
        <p:nvGrpSpPr>
          <p:cNvPr id="3" name="组合 2"/>
          <p:cNvGrpSpPr/>
          <p:nvPr/>
        </p:nvGrpSpPr>
        <p:grpSpPr>
          <a:xfrm flipH="1">
            <a:off x="1302385" y="3103245"/>
            <a:ext cx="1237615" cy="1109980"/>
            <a:chOff x="2455" y="5589"/>
            <a:chExt cx="1949" cy="1748"/>
          </a:xfrm>
        </p:grpSpPr>
        <p:cxnSp>
          <p:nvCxnSpPr>
            <p:cNvPr id="17" name="直接连接符 16"/>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2455" y="7337"/>
              <a:ext cx="5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5" name="直接连接符 24"/>
          <p:cNvCxnSpPr/>
          <p:nvPr/>
        </p:nvCxnSpPr>
        <p:spPr>
          <a:xfrm flipV="1">
            <a:off x="2540000" y="3893185"/>
            <a:ext cx="0" cy="3092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000" fill="hold">
                                          <p:stCondLst>
                                            <p:cond delay="0"/>
                                          </p:stCondLst>
                                        </p:cTn>
                                        <p:tgtEl>
                                          <p:spTgt spid="16"/>
                                        </p:tgtEl>
                                        <p:attrNameLst>
                                          <p:attrName>style.visibility</p:attrName>
                                        </p:attrNameLst>
                                      </p:cBhvr>
                                      <p:to>
                                        <p:strVal val="visible"/>
                                      </p:to>
                                    </p:set>
                                    <p:animEffect transition="in" filter="wipe(down)">
                                      <p:cBhvr>
                                        <p:cTn id="7" dur="1000"/>
                                        <p:tgtEl>
                                          <p:spTgt spid="16"/>
                                        </p:tgtEl>
                                      </p:cBhvr>
                                    </p:animEffect>
                                  </p:childTnLst>
                                </p:cTn>
                              </p:par>
                            </p:childTnLst>
                          </p:cTn>
                        </p:par>
                        <p:par>
                          <p:cTn id="8" fill="hold">
                            <p:stCondLst>
                              <p:cond delay="1000"/>
                            </p:stCondLst>
                            <p:childTnLst>
                              <p:par>
                                <p:cTn id="9" presetID="1" presetClass="entr" presetSubtype="0" fill="hold" grpId="0" nodeType="afterEffect">
                                  <p:stCondLst>
                                    <p:cond delay="1000"/>
                                  </p:stCondLst>
                                  <p:childTnLst>
                                    <p:set>
                                      <p:cBhvr>
                                        <p:cTn id="10" dur="1" fill="hold">
                                          <p:stCondLst>
                                            <p:cond delay="0"/>
                                          </p:stCondLst>
                                        </p:cTn>
                                        <p:tgtEl>
                                          <p:spTgt spid="28"/>
                                        </p:tgtEl>
                                        <p:attrNameLst>
                                          <p:attrName>style.visibility</p:attrName>
                                        </p:attrNameLst>
                                      </p:cBhvr>
                                      <p:to>
                                        <p:strVal val="visible"/>
                                      </p:to>
                                    </p:set>
                                  </p:childTnLst>
                                </p:cTn>
                              </p:par>
                            </p:childTnLst>
                          </p:cTn>
                        </p:par>
                        <p:par>
                          <p:cTn id="11" fill="hold">
                            <p:stCondLst>
                              <p:cond delay="2000"/>
                            </p:stCondLst>
                            <p:childTnLst>
                              <p:par>
                                <p:cTn id="12" presetID="1" presetClass="entr" presetSubtype="0" fill="hold" grpId="0" nodeType="afterEffect">
                                  <p:stCondLst>
                                    <p:cond delay="1000"/>
                                  </p:stCondLst>
                                  <p:childTnLst>
                                    <p:set>
                                      <p:cBhvr>
                                        <p:cTn id="13" dur="1" fill="hold">
                                          <p:stCondLst>
                                            <p:cond delay="0"/>
                                          </p:stCondLst>
                                        </p:cTn>
                                        <p:tgtEl>
                                          <p:spTgt spid="2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9258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92546"/>
                                        </p:tgtEl>
                                        <p:attrNameLst>
                                          <p:attrName>style.visibility</p:attrName>
                                        </p:attrNameLst>
                                      </p:cBhvr>
                                      <p:to>
                                        <p:strVal val="visible"/>
                                      </p:to>
                                    </p:set>
                                    <p:animEffect transition="in" filter="blinds(horizontal)">
                                      <p:cBhvr>
                                        <p:cTn id="22" dur="500"/>
                                        <p:tgtEl>
                                          <p:spTgt spid="492546"/>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2000" fill="hold">
                                          <p:stCondLst>
                                            <p:cond delay="0"/>
                                          </p:stCondLst>
                                        </p:cTn>
                                        <p:tgtEl>
                                          <p:spTgt spid="3"/>
                                        </p:tgtEl>
                                        <p:attrNameLst>
                                          <p:attrName>style.visibility</p:attrName>
                                        </p:attrNameLst>
                                      </p:cBhvr>
                                      <p:to>
                                        <p:strVal val="visible"/>
                                      </p:to>
                                    </p:set>
                                    <p:animEffect transition="in" filter="wipe(up)">
                                      <p:cBhvr>
                                        <p:cTn id="26" dur="2000"/>
                                        <p:tgtEl>
                                          <p:spTgt spid="3"/>
                                        </p:tgtEl>
                                      </p:cBhvr>
                                    </p:animEffect>
                                  </p:childTnLst>
                                </p:cTn>
                              </p:par>
                            </p:childTnLst>
                          </p:cTn>
                        </p:par>
                        <p:par>
                          <p:cTn id="27" fill="hold">
                            <p:stCondLst>
                              <p:cond delay="2500"/>
                            </p:stCondLst>
                            <p:childTnLst>
                              <p:par>
                                <p:cTn id="28" presetID="22" presetClass="entr" presetSubtype="4" fill="hold" nodeType="afterEffect">
                                  <p:stCondLst>
                                    <p:cond delay="0"/>
                                  </p:stCondLst>
                                  <p:childTnLst>
                                    <p:set>
                                      <p:cBhvr>
                                        <p:cTn id="29" dur="2000" fill="hold">
                                          <p:stCondLst>
                                            <p:cond delay="0"/>
                                          </p:stCondLst>
                                        </p:cTn>
                                        <p:tgtEl>
                                          <p:spTgt spid="25"/>
                                        </p:tgtEl>
                                        <p:attrNameLst>
                                          <p:attrName>style.visibility</p:attrName>
                                        </p:attrNameLst>
                                      </p:cBhvr>
                                      <p:to>
                                        <p:strVal val="visible"/>
                                      </p:to>
                                    </p:set>
                                    <p:animEffect transition="in" filter="wipe(down)">
                                      <p:cBhvr>
                                        <p:cTn id="30"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6" grpId="0" bldLvl="0" animBg="1"/>
      <p:bldP spid="492588" grpId="0"/>
      <p:bldP spid="49254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94601" name="矩形 494600"/>
          <p:cNvSpPr/>
          <p:nvPr/>
        </p:nvSpPr>
        <p:spPr>
          <a:xfrm>
            <a:off x="810578" y="1341120"/>
            <a:ext cx="2447925" cy="519113"/>
          </a:xfrm>
          <a:prstGeom prst="rect">
            <a:avLst/>
          </a:prstGeom>
          <a:noFill/>
          <a:ln w="9525">
            <a:noFill/>
          </a:ln>
        </p:spPr>
        <p:txBody>
          <a:bodyPr>
            <a:spAutoFit/>
          </a:bodyPr>
          <a:p>
            <a:pPr algn="l"/>
            <a:r>
              <a:rPr lang="en-US" altLang="zh-CN" sz="2800" i="1">
                <a:solidFill>
                  <a:srgbClr val="FF0000"/>
                </a:solidFill>
                <a:latin typeface="Times New Roman" panose="02020603050405020304" charset="0"/>
              </a:rPr>
              <a:t>S</a:t>
            </a:r>
            <a:r>
              <a:rPr lang="en-US" altLang="zh-CN" sz="2800" dirty="0">
                <a:solidFill>
                  <a:srgbClr val="FF0000"/>
                </a:solidFill>
                <a:latin typeface="Times New Roman" panose="02020603050405020304" charset="0"/>
              </a:rPr>
              <a:t>=1 </a:t>
            </a:r>
            <a:r>
              <a:rPr lang="zh-CN" altLang="en-US" sz="2800" dirty="0">
                <a:solidFill>
                  <a:srgbClr val="FF0000"/>
                </a:solidFill>
                <a:latin typeface="Times New Roman" panose="02020603050405020304" charset="0"/>
              </a:rPr>
              <a:t>、</a:t>
            </a:r>
            <a:r>
              <a:rPr lang="zh-CN" altLang="en-US" sz="2800">
                <a:solidFill>
                  <a:srgbClr val="FF0000"/>
                </a:solidFill>
                <a:latin typeface="Times New Roman" panose="02020603050405020304" charset="0"/>
              </a:rPr>
              <a:t> </a:t>
            </a:r>
            <a:r>
              <a:rPr lang="en-US" altLang="zh-CN" sz="2800" i="1">
                <a:solidFill>
                  <a:srgbClr val="FF0000"/>
                </a:solidFill>
                <a:latin typeface="Times New Roman" panose="02020603050405020304" charset="0"/>
              </a:rPr>
              <a:t>R</a:t>
            </a:r>
            <a:r>
              <a:rPr lang="en-US" altLang="zh-CN" sz="2800">
                <a:solidFill>
                  <a:srgbClr val="FF0000"/>
                </a:solidFill>
                <a:latin typeface="Times New Roman" panose="02020603050405020304" charset="0"/>
              </a:rPr>
              <a:t>=1</a:t>
            </a:r>
            <a:endParaRPr lang="en-US" altLang="zh-CN" sz="2800">
              <a:solidFill>
                <a:srgbClr val="FF0000"/>
              </a:solidFill>
              <a:latin typeface="Times New Roman" panose="02020603050405020304" charset="0"/>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3" name="组合 12"/>
          <p:cNvGrpSpPr/>
          <p:nvPr/>
        </p:nvGrpSpPr>
        <p:grpSpPr>
          <a:xfrm>
            <a:off x="630555" y="2574925"/>
            <a:ext cx="2687955" cy="2731770"/>
            <a:chOff x="8247" y="4651"/>
            <a:chExt cx="4233" cy="4302"/>
          </a:xfrm>
        </p:grpSpPr>
        <p:pic>
          <p:nvPicPr>
            <p:cNvPr id="2" name="图片 2778"/>
            <p:cNvPicPr>
              <a:picLocks noChangeAspect="1"/>
            </p:cNvPicPr>
            <p:nvPr/>
          </p:nvPicPr>
          <p:blipFill>
            <a:blip r:embed="rId1"/>
            <a:srcRect r="42844" b="17765"/>
            <a:stretch>
              <a:fillRect/>
            </a:stretch>
          </p:blipFill>
          <p:spPr>
            <a:xfrm>
              <a:off x="8247" y="4651"/>
              <a:ext cx="4233" cy="3587"/>
            </a:xfrm>
            <a:prstGeom prst="rect">
              <a:avLst/>
            </a:prstGeom>
            <a:noFill/>
            <a:ln>
              <a:noFill/>
            </a:ln>
          </p:spPr>
        </p:pic>
        <p:sp>
          <p:nvSpPr>
            <p:cNvPr id="6" name="椭圆 5"/>
            <p:cNvSpPr/>
            <p:nvPr/>
          </p:nvSpPr>
          <p:spPr>
            <a:xfrm>
              <a:off x="8689" y="8300"/>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2" name="椭圆 11"/>
            <p:cNvSpPr/>
            <p:nvPr/>
          </p:nvSpPr>
          <p:spPr>
            <a:xfrm>
              <a:off x="11513" y="8300"/>
              <a:ext cx="640" cy="653"/>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grpSp>
      <p:sp>
        <p:nvSpPr>
          <p:cNvPr id="28" name="椭圆 27"/>
          <p:cNvSpPr/>
          <p:nvPr/>
        </p:nvSpPr>
        <p:spPr>
          <a:xfrm>
            <a:off x="2533968" y="216027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26" name="椭圆 25"/>
          <p:cNvSpPr/>
          <p:nvPr/>
        </p:nvSpPr>
        <p:spPr>
          <a:xfrm>
            <a:off x="1065213" y="215995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16" name="直接连接符 15"/>
          <p:cNvCxnSpPr/>
          <p:nvPr/>
        </p:nvCxnSpPr>
        <p:spPr>
          <a:xfrm flipV="1">
            <a:off x="1128395" y="3882390"/>
            <a:ext cx="0" cy="67881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2821305" y="3882390"/>
            <a:ext cx="0" cy="67881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92588" name="矩形 492587"/>
          <p:cNvSpPr/>
          <p:nvPr/>
        </p:nvSpPr>
        <p:spPr>
          <a:xfrm>
            <a:off x="2821305" y="1338580"/>
            <a:ext cx="2012315" cy="521970"/>
          </a:xfrm>
          <a:prstGeom prst="rect">
            <a:avLst/>
          </a:prstGeom>
          <a:noFill/>
          <a:ln w="9525">
            <a:noFill/>
          </a:ln>
        </p:spPr>
        <p:txBody>
          <a:bodyPr wrap="square">
            <a:spAutoFit/>
          </a:bodyPr>
          <a:p>
            <a:pPr algn="l"/>
            <a:r>
              <a:rPr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rPr>
              <a:t>非定义状态</a:t>
            </a:r>
            <a:endParaRPr sz="2800">
              <a:solidFill>
                <a:srgbClr val="FF0000"/>
              </a:solidFill>
              <a:effectLst>
                <a:outerShdw blurRad="38100" dist="19050" dir="2700000" algn="tl" rotWithShape="0">
                  <a:schemeClr val="dk1">
                    <a:alpha val="40000"/>
                  </a:schemeClr>
                </a:outerShdw>
              </a:effectLst>
              <a:latin typeface="Tahoma" panose="020B0604030504040204" pitchFamily="34" charset="0"/>
              <a:ea typeface="楷体_GB2312" pitchFamily="49" charset="-122"/>
            </a:endParaRPr>
          </a:p>
        </p:txBody>
      </p:sp>
      <p:grpSp>
        <p:nvGrpSpPr>
          <p:cNvPr id="4" name="组合 3"/>
          <p:cNvGrpSpPr/>
          <p:nvPr/>
        </p:nvGrpSpPr>
        <p:grpSpPr>
          <a:xfrm>
            <a:off x="3714115" y="1990090"/>
            <a:ext cx="4757420" cy="1050290"/>
            <a:chOff x="6409" y="3679"/>
            <a:chExt cx="7492" cy="1654"/>
          </a:xfrm>
        </p:grpSpPr>
        <p:sp>
          <p:nvSpPr>
            <p:cNvPr id="494603" name="矩形 494602"/>
            <p:cNvSpPr/>
            <p:nvPr/>
          </p:nvSpPr>
          <p:spPr>
            <a:xfrm>
              <a:off x="6409" y="3679"/>
              <a:ext cx="7492" cy="1654"/>
            </a:xfrm>
            <a:prstGeom prst="rect">
              <a:avLst/>
            </a:prstGeom>
            <a:noFill/>
            <a:ln w="9525">
              <a:noFill/>
            </a:ln>
          </p:spPr>
          <p:txBody>
            <a:bodyPr wrap="square" anchor="ctr">
              <a:spAutoFit/>
            </a:bodyPr>
            <a:p>
              <a:pPr algn="l">
                <a:lnSpc>
                  <a:spcPct val="130000"/>
                </a:lnSpc>
              </a:pPr>
              <a:r>
                <a:rPr lang="zh-CN" altLang="en-US" sz="2400" b="1" dirty="0">
                  <a:solidFill>
                    <a:srgbClr val="000066"/>
                  </a:solidFill>
                  <a:latin typeface="Times New Roman" panose="02020603050405020304" charset="0"/>
                  <a:ea typeface="楷体_GB2312" pitchFamily="49" charset="-122"/>
                </a:rPr>
                <a:t>无论初态</a:t>
              </a:r>
              <a:r>
                <a:rPr lang="en-US" altLang="zh-CN" sz="2400" b="1" i="1">
                  <a:solidFill>
                    <a:srgbClr val="000066"/>
                  </a:solidFill>
                  <a:latin typeface="Times New Roman" panose="02020603050405020304" charset="0"/>
                  <a:ea typeface="楷体_GB2312" pitchFamily="49" charset="-122"/>
                </a:rPr>
                <a:t>Q</a:t>
              </a:r>
              <a:r>
                <a:rPr lang="en-US" altLang="zh-CN" sz="2400" b="1" i="1" baseline="30000">
                  <a:solidFill>
                    <a:srgbClr val="000066"/>
                  </a:solidFill>
                  <a:latin typeface="Times New Roman" panose="02020603050405020304" charset="0"/>
                  <a:ea typeface="楷体_GB2312" pitchFamily="49" charset="-122"/>
                </a:rPr>
                <a:t>n</a:t>
              </a:r>
              <a:r>
                <a:rPr lang="zh-CN" altLang="en-US" sz="2400" b="1" dirty="0">
                  <a:solidFill>
                    <a:srgbClr val="000066"/>
                  </a:solidFill>
                  <a:latin typeface="Times New Roman" panose="02020603050405020304" charset="0"/>
                  <a:ea typeface="楷体_GB2312" pitchFamily="49" charset="-122"/>
                </a:rPr>
                <a:t>为</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或</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，触发器的次态       、      都为</a:t>
              </a:r>
              <a:r>
                <a:rPr lang="en-US" altLang="zh-CN" sz="2400" b="1" dirty="0">
                  <a:solidFill>
                    <a:srgbClr val="000066"/>
                  </a:solidFill>
                  <a:latin typeface="Times New Roman" panose="02020603050405020304" charset="0"/>
                  <a:ea typeface="楷体_GB2312" pitchFamily="49" charset="-122"/>
                </a:rPr>
                <a:t>0</a:t>
              </a:r>
              <a:r>
                <a:rPr lang="en-US" altLang="zh-CN" sz="2400" b="1" dirty="0">
                  <a:solidFill>
                    <a:srgbClr val="000066"/>
                  </a:solidFill>
                  <a:latin typeface="Times New Roman" panose="02020603050405020304" charset="0"/>
                  <a:ea typeface="楷体_GB2312" pitchFamily="49" charset="-122"/>
                </a:rPr>
                <a:t> </a:t>
              </a:r>
              <a:r>
                <a:rPr lang="zh-CN" altLang="en-US" sz="2400" b="1" dirty="0">
                  <a:solidFill>
                    <a:srgbClr val="000066"/>
                  </a:solidFill>
                  <a:latin typeface="Times New Roman" panose="02020603050405020304" charset="0"/>
                  <a:ea typeface="楷体_GB2312" pitchFamily="49" charset="-122"/>
                </a:rPr>
                <a:t>。</a:t>
              </a:r>
              <a:endParaRPr lang="zh-CN" altLang="en-US" sz="2400" b="1" dirty="0">
                <a:solidFill>
                  <a:srgbClr val="000066"/>
                </a:solidFill>
                <a:latin typeface="Times New Roman" panose="02020603050405020304" charset="0"/>
                <a:ea typeface="楷体_GB2312" pitchFamily="49" charset="-122"/>
              </a:endParaRPr>
            </a:p>
          </p:txBody>
        </p:sp>
        <p:graphicFrame>
          <p:nvGraphicFramePr>
            <p:cNvPr id="494604" name="对象 494603"/>
            <p:cNvGraphicFramePr/>
            <p:nvPr/>
          </p:nvGraphicFramePr>
          <p:xfrm>
            <a:off x="7055" y="4495"/>
            <a:ext cx="952" cy="738"/>
          </p:xfrm>
          <a:graphic>
            <a:graphicData uri="http://schemas.openxmlformats.org/presentationml/2006/ole">
              <mc:AlternateContent xmlns:mc="http://schemas.openxmlformats.org/markup-compatibility/2006">
                <mc:Choice xmlns:v="urn:schemas-microsoft-com:vml" Requires="v">
                  <p:oleObj spid="_x0000_s3123" name="" r:id="rId2" imgW="304800" imgH="228600" progId="Equation.3">
                    <p:embed/>
                  </p:oleObj>
                </mc:Choice>
                <mc:Fallback>
                  <p:oleObj name="" r:id="rId2" imgW="304800" imgH="228600" progId="Equation.3">
                    <p:embed/>
                    <p:pic>
                      <p:nvPicPr>
                        <p:cNvPr id="0" name="图片 3122"/>
                        <p:cNvPicPr/>
                        <p:nvPr/>
                      </p:nvPicPr>
                      <p:blipFill>
                        <a:blip r:embed="rId3"/>
                        <a:stretch>
                          <a:fillRect/>
                        </a:stretch>
                      </p:blipFill>
                      <p:spPr>
                        <a:xfrm>
                          <a:off x="7055" y="4495"/>
                          <a:ext cx="952" cy="738"/>
                        </a:xfrm>
                        <a:prstGeom prst="rect">
                          <a:avLst/>
                        </a:prstGeom>
                        <a:noFill/>
                        <a:ln w="38100">
                          <a:noFill/>
                          <a:miter/>
                        </a:ln>
                      </p:spPr>
                    </p:pic>
                  </p:oleObj>
                </mc:Fallback>
              </mc:AlternateContent>
            </a:graphicData>
          </a:graphic>
        </p:graphicFrame>
        <p:graphicFrame>
          <p:nvGraphicFramePr>
            <p:cNvPr id="494606" name="对象 494605"/>
            <p:cNvGraphicFramePr/>
            <p:nvPr/>
          </p:nvGraphicFramePr>
          <p:xfrm>
            <a:off x="8172" y="4423"/>
            <a:ext cx="969" cy="882"/>
          </p:xfrm>
          <a:graphic>
            <a:graphicData uri="http://schemas.openxmlformats.org/presentationml/2006/ole">
              <mc:AlternateContent xmlns:mc="http://schemas.openxmlformats.org/markup-compatibility/2006">
                <mc:Choice xmlns:v="urn:schemas-microsoft-com:vml" Requires="v">
                  <p:oleObj spid="_x0000_s3124" name="" r:id="rId4" imgW="316865" imgH="254000" progId="Equation.3">
                    <p:embed/>
                  </p:oleObj>
                </mc:Choice>
                <mc:Fallback>
                  <p:oleObj name="" r:id="rId4" imgW="316865" imgH="254000" progId="Equation.3">
                    <p:embed/>
                    <p:pic>
                      <p:nvPicPr>
                        <p:cNvPr id="0" name="图片 3123"/>
                        <p:cNvPicPr/>
                        <p:nvPr/>
                      </p:nvPicPr>
                      <p:blipFill>
                        <a:blip r:embed="rId5"/>
                        <a:stretch>
                          <a:fillRect/>
                        </a:stretch>
                      </p:blipFill>
                      <p:spPr>
                        <a:xfrm>
                          <a:off x="8172" y="4423"/>
                          <a:ext cx="969" cy="882"/>
                        </a:xfrm>
                        <a:prstGeom prst="rect">
                          <a:avLst/>
                        </a:prstGeom>
                        <a:noFill/>
                        <a:ln w="38100">
                          <a:noFill/>
                          <a:miter/>
                        </a:ln>
                      </p:spPr>
                    </p:pic>
                  </p:oleObj>
                </mc:Fallback>
              </mc:AlternateContent>
            </a:graphicData>
          </a:graphic>
        </p:graphicFrame>
      </p:grpSp>
      <p:sp>
        <p:nvSpPr>
          <p:cNvPr id="494610" name="矩形 494609"/>
          <p:cNvSpPr/>
          <p:nvPr/>
        </p:nvSpPr>
        <p:spPr>
          <a:xfrm>
            <a:off x="3714115" y="2917825"/>
            <a:ext cx="4834255" cy="1863090"/>
          </a:xfrm>
          <a:prstGeom prst="rect">
            <a:avLst/>
          </a:prstGeom>
          <a:noFill/>
          <a:ln w="9525">
            <a:noFill/>
          </a:ln>
        </p:spPr>
        <p:txBody>
          <a:bodyPr wrap="square">
            <a:spAutoFit/>
          </a:bodyPr>
          <a:p>
            <a:pPr algn="l">
              <a:lnSpc>
                <a:spcPct val="160000"/>
              </a:lnSpc>
            </a:pPr>
            <a:r>
              <a:rPr lang="zh-CN" altLang="en-US" sz="2400" b="1" dirty="0">
                <a:solidFill>
                  <a:srgbClr val="000066"/>
                </a:solidFill>
                <a:latin typeface="Times New Roman" panose="02020603050405020304" charset="0"/>
                <a:ea typeface="楷体_GB2312" pitchFamily="49" charset="-122"/>
              </a:rPr>
              <a:t>当</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S</a:t>
            </a:r>
            <a:r>
              <a:rPr lang="zh-CN" altLang="en-US" sz="2400" b="1" dirty="0">
                <a:solidFill>
                  <a:srgbClr val="000066"/>
                </a:solidFill>
                <a:latin typeface="Times New Roman" panose="02020603050405020304" charset="0"/>
                <a:ea typeface="楷体_GB2312" pitchFamily="49" charset="-122"/>
                <a:cs typeface="Times New Roman" panose="02020603050405020304" charset="0"/>
              </a:rPr>
              <a:t>、</a:t>
            </a:r>
            <a:r>
              <a:rPr lang="zh-CN" altLang="en-US" sz="2400" b="1" i="1" dirty="0">
                <a:solidFill>
                  <a:srgbClr val="000066"/>
                </a:solidFill>
                <a:latin typeface="Times New Roman" panose="02020603050405020304" charset="0"/>
                <a:ea typeface="楷体_GB2312" pitchFamily="49" charset="-122"/>
                <a:cs typeface="Times New Roman" panose="02020603050405020304" charset="0"/>
              </a:rPr>
              <a:t>R</a:t>
            </a:r>
            <a:r>
              <a:rPr lang="zh-CN" altLang="en-US" sz="2400" b="1" dirty="0">
                <a:solidFill>
                  <a:srgbClr val="000066"/>
                </a:solidFill>
                <a:latin typeface="Times New Roman" panose="02020603050405020304" charset="0"/>
                <a:ea typeface="楷体_GB2312" pitchFamily="49" charset="-122"/>
              </a:rPr>
              <a:t> 同时回到0时，由于两个或非门的延迟时间无法确定，使得触发器最终稳定状态也不能确定。</a:t>
            </a:r>
            <a:endParaRPr lang="zh-CN" altLang="en-US" sz="2400" dirty="0">
              <a:solidFill>
                <a:schemeClr val="folHlink"/>
              </a:solidFill>
              <a:latin typeface="Times New Roman" panose="02020603050405020304" charset="0"/>
              <a:ea typeface="楷体_GB2312" pitchFamily="49" charset="-122"/>
            </a:endParaRPr>
          </a:p>
        </p:txBody>
      </p:sp>
      <p:sp>
        <p:nvSpPr>
          <p:cNvPr id="494609" name="矩形 494608"/>
          <p:cNvSpPr/>
          <p:nvPr/>
        </p:nvSpPr>
        <p:spPr>
          <a:xfrm>
            <a:off x="4036695" y="4796473"/>
            <a:ext cx="4068763" cy="460375"/>
          </a:xfrm>
          <a:prstGeom prst="rect">
            <a:avLst/>
          </a:prstGeom>
          <a:noFill/>
          <a:ln w="9525">
            <a:noFill/>
          </a:ln>
        </p:spPr>
        <p:txBody>
          <a:bodyPr>
            <a:spAutoFit/>
          </a:bodyPr>
          <a:p>
            <a:pPr algn="l"/>
            <a:r>
              <a:rPr lang="zh-CN" altLang="en-US" sz="2400" dirty="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约束条件</a:t>
            </a:r>
            <a:r>
              <a:rPr lang="en-US" altLang="zh-CN" sz="2400" i="1">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  </a:t>
            </a:r>
            <a:r>
              <a:rPr lang="en-US" altLang="zh-CN" sz="2400" i="1">
                <a:solidFill>
                  <a:srgbClr val="000066"/>
                </a:solidFill>
                <a:latin typeface="Times New Roman" panose="02020603050405020304" charset="0"/>
                <a:ea typeface="楷体_GB2312" pitchFamily="49" charset="-122"/>
              </a:rPr>
              <a:t>  </a:t>
            </a:r>
            <a:r>
              <a:rPr lang="en-US" altLang="zh-CN" sz="2400" i="1">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 SR = </a:t>
            </a:r>
            <a:r>
              <a:rPr lang="en-US" altLang="zh-CN" sz="240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0</a:t>
            </a:r>
            <a:endParaRPr lang="en-US" altLang="zh-CN" sz="240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000" fill="hold">
                                          <p:stCondLst>
                                            <p:cond delay="0"/>
                                          </p:stCondLst>
                                        </p:cTn>
                                        <p:tgtEl>
                                          <p:spTgt spid="16"/>
                                        </p:tgtEl>
                                        <p:attrNameLst>
                                          <p:attrName>style.visibility</p:attrName>
                                        </p:attrNameLst>
                                      </p:cBhvr>
                                      <p:to>
                                        <p:strVal val="visible"/>
                                      </p:to>
                                    </p:set>
                                    <p:animEffect transition="in" filter="wipe(down)">
                                      <p:cBhvr>
                                        <p:cTn id="7" dur="1000"/>
                                        <p:tgtEl>
                                          <p:spTgt spid="16"/>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000" fill="hold">
                                          <p:stCondLst>
                                            <p:cond delay="0"/>
                                          </p:stCondLst>
                                        </p:cTn>
                                        <p:tgtEl>
                                          <p:spTgt spid="3"/>
                                        </p:tgtEl>
                                        <p:attrNameLst>
                                          <p:attrName>style.visibility</p:attrName>
                                        </p:attrNameLst>
                                      </p:cBhvr>
                                      <p:to>
                                        <p:strVal val="visible"/>
                                      </p:to>
                                    </p:set>
                                    <p:animEffect transition="in" filter="wipe(down)">
                                      <p:cBhvr>
                                        <p:cTn id="11" dur="1000"/>
                                        <p:tgtEl>
                                          <p:spTgt spid="3"/>
                                        </p:tgtEl>
                                      </p:cBhvr>
                                    </p:animEffect>
                                  </p:childTnLst>
                                </p:cTn>
                              </p:par>
                            </p:childTnLst>
                          </p:cTn>
                        </p:par>
                        <p:par>
                          <p:cTn id="12" fill="hold">
                            <p:stCondLst>
                              <p:cond delay="2000"/>
                            </p:stCondLst>
                            <p:childTnLst>
                              <p:par>
                                <p:cTn id="13" presetID="1" presetClass="entr" presetSubtype="0" fill="hold" grpId="0" nodeType="afterEffect">
                                  <p:stCondLst>
                                    <p:cond delay="500"/>
                                  </p:stCondLst>
                                  <p:childTnLst>
                                    <p:set>
                                      <p:cBhvr>
                                        <p:cTn id="14" dur="1" fill="hold">
                                          <p:stCondLst>
                                            <p:cond delay="0"/>
                                          </p:stCondLst>
                                        </p:cTn>
                                        <p:tgtEl>
                                          <p:spTgt spid="28"/>
                                        </p:tgtEl>
                                        <p:attrNameLst>
                                          <p:attrName>style.visibility</p:attrName>
                                        </p:attrNameLst>
                                      </p:cBhvr>
                                      <p:to>
                                        <p:strVal val="visible"/>
                                      </p:to>
                                    </p:set>
                                  </p:childTnLst>
                                </p:cTn>
                              </p:par>
                            </p:childTnLst>
                          </p:cTn>
                        </p:par>
                        <p:par>
                          <p:cTn id="15" fill="hold">
                            <p:stCondLst>
                              <p:cond delay="2500"/>
                            </p:stCondLst>
                            <p:childTnLst>
                              <p:par>
                                <p:cTn id="16" presetID="1" presetClass="entr" presetSubtype="0" fill="hold" grpId="0" nodeType="afterEffect">
                                  <p:stCondLst>
                                    <p:cond delay="1000"/>
                                  </p:stCondLst>
                                  <p:childTnLst>
                                    <p:set>
                                      <p:cBhvr>
                                        <p:cTn id="17" dur="1" fill="hold">
                                          <p:stCondLst>
                                            <p:cond delay="0"/>
                                          </p:stCondLst>
                                        </p:cTn>
                                        <p:tgtEl>
                                          <p:spTgt spid="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9258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94610"/>
                                        </p:tgtEl>
                                        <p:attrNameLst>
                                          <p:attrName>style.visibility</p:attrName>
                                        </p:attrNameLst>
                                      </p:cBhvr>
                                      <p:to>
                                        <p:strVal val="visible"/>
                                      </p:to>
                                    </p:set>
                                    <p:animEffect transition="in" filter="wipe(up)">
                                      <p:cBhvr>
                                        <p:cTn id="30" dur="500"/>
                                        <p:tgtEl>
                                          <p:spTgt spid="494610"/>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494609"/>
                                        </p:tgtEl>
                                        <p:attrNameLst>
                                          <p:attrName>style.visibility</p:attrName>
                                        </p:attrNameLst>
                                      </p:cBhvr>
                                      <p:to>
                                        <p:strVal val="visible"/>
                                      </p:to>
                                    </p:set>
                                    <p:animEffect transition="in" filter="strips(downRight)">
                                      <p:cBhvr>
                                        <p:cTn id="35" dur="500"/>
                                        <p:tgtEl>
                                          <p:spTgt spid="494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6" grpId="0" bldLvl="0" animBg="1"/>
      <p:bldP spid="492588" grpId="0"/>
      <p:bldP spid="494610" grpId="0"/>
      <p:bldP spid="49460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7" name="文本框 7"/>
          <p:cNvSpPr txBox="1"/>
          <p:nvPr/>
        </p:nvSpPr>
        <p:spPr>
          <a:xfrm>
            <a:off x="7616190" y="3783330"/>
            <a:ext cx="635000" cy="30607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400" kern="100">
                <a:solidFill>
                  <a:srgbClr val="000000"/>
                </a:solidFill>
                <a:latin typeface="Times New Roman" panose="02020603050405020304" charset="0"/>
                <a:ea typeface="宋体" panose="02010600030101010101" pitchFamily="2" charset="-122"/>
                <a:cs typeface="Times New Roman" panose="02020603050405020304" charset="0"/>
                <a:sym typeface="Times New Roman" panose="02020603050405020304"/>
              </a:rPr>
              <a:t>置 0</a:t>
            </a:r>
            <a:endParaRPr lang="en-US" altLang="zh-CN" sz="1400" kern="100">
              <a:solidFill>
                <a:srgbClr val="000000"/>
              </a:solidFill>
              <a:latin typeface="Times New Roman" panose="02020603050405020304" charset="0"/>
              <a:ea typeface="宋体" panose="02010600030101010101" pitchFamily="2" charset="-122"/>
              <a:cs typeface="Times New Roman" panose="02020603050405020304" charset="0"/>
              <a:sym typeface="Times New Roman" panose="02020603050405020304"/>
            </a:endParaRPr>
          </a:p>
        </p:txBody>
      </p:sp>
      <p:pic>
        <p:nvPicPr>
          <p:cNvPr id="3" name="图片 2"/>
          <p:cNvPicPr>
            <a:picLocks noChangeAspect="1"/>
          </p:cNvPicPr>
          <p:nvPr/>
        </p:nvPicPr>
        <p:blipFill>
          <a:blip r:embed="rId1"/>
          <a:stretch>
            <a:fillRect/>
          </a:stretch>
        </p:blipFill>
        <p:spPr>
          <a:xfrm>
            <a:off x="395605" y="1517015"/>
            <a:ext cx="8352155" cy="358394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992505" y="1143000"/>
            <a:ext cx="3893185" cy="460375"/>
          </a:xfrm>
          <a:prstGeom prst="rect">
            <a:avLst/>
          </a:prstGeom>
          <a:noFill/>
          <a:ln w="9525">
            <a:noFill/>
          </a:ln>
        </p:spPr>
        <p:txBody>
          <a:bodyPr wrap="square">
            <a:spAutoFit/>
          </a:bodyPr>
          <a:p>
            <a:r>
              <a:rPr lang="en-US" sz="2400" b="1" dirty="0">
                <a:solidFill>
                  <a:srgbClr val="FE09D6"/>
                </a:solidFill>
                <a:latin typeface="Times New Roman" panose="02020603050405020304" charset="0"/>
                <a:ea typeface="楷体_GB2312" pitchFamily="49" charset="-122"/>
                <a:cs typeface="Times New Roman" panose="02020603050405020304" charset="0"/>
              </a:rPr>
              <a:t>3. 基本</a:t>
            </a:r>
            <a:r>
              <a:rPr lang="en-US" sz="2400" b="1" i="1" dirty="0">
                <a:solidFill>
                  <a:srgbClr val="FE09D6"/>
                </a:solidFill>
                <a:latin typeface="Times New Roman" panose="02020603050405020304" charset="0"/>
                <a:ea typeface="楷体_GB2312" pitchFamily="49" charset="-122"/>
                <a:cs typeface="Times New Roman" panose="02020603050405020304" charset="0"/>
              </a:rPr>
              <a:t>RS</a:t>
            </a:r>
            <a:r>
              <a:rPr lang="en-US" sz="2400" b="1" dirty="0">
                <a:solidFill>
                  <a:srgbClr val="FE09D6"/>
                </a:solidFill>
                <a:latin typeface="Times New Roman" panose="02020603050405020304" charset="0"/>
                <a:ea typeface="楷体_GB2312" pitchFamily="49" charset="-122"/>
                <a:cs typeface="Times New Roman" panose="02020603050405020304" charset="0"/>
              </a:rPr>
              <a:t>锁存器应用举例</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文本框 2"/>
          <p:cNvSpPr txBox="1"/>
          <p:nvPr/>
        </p:nvSpPr>
        <p:spPr>
          <a:xfrm>
            <a:off x="339090" y="1517015"/>
            <a:ext cx="8465820" cy="1106805"/>
          </a:xfrm>
          <a:prstGeom prst="rect">
            <a:avLst/>
          </a:prstGeom>
          <a:noFill/>
          <a:ln w="9525">
            <a:noFill/>
          </a:ln>
        </p:spPr>
        <p:txBody>
          <a:bodyPr wrap="square">
            <a:spAutoFit/>
          </a:bodyPr>
          <a:p>
            <a:pPr indent="267970">
              <a:lnSpc>
                <a:spcPct val="110000"/>
              </a:lnSpc>
            </a:pPr>
            <a:r>
              <a:rPr lang="zh-CN" sz="2000" b="1">
                <a:solidFill>
                  <a:srgbClr val="000000"/>
                </a:solidFill>
                <a:ea typeface="宋体" panose="02010600030101010101" pitchFamily="2" charset="-122"/>
              </a:rPr>
              <a:t>【例</a:t>
            </a:r>
            <a:r>
              <a:rPr lang="en-US" sz="2000" b="1">
                <a:solidFill>
                  <a:srgbClr val="000000"/>
                </a:solidFill>
                <a:latin typeface="Times New Roman" panose="02020603050405020304" charset="0"/>
                <a:ea typeface="宋体" panose="02010600030101010101" pitchFamily="2" charset="-122"/>
                <a:cs typeface="Times New Roman" panose="02020603050405020304" charset="0"/>
              </a:rPr>
              <a:t>5-</a:t>
            </a:r>
            <a:r>
              <a:rPr lang="en-US" sz="2000" b="1">
                <a:solidFill>
                  <a:srgbClr val="000000"/>
                </a:solidFill>
                <a:latin typeface="Times New Roman" panose="02020603050405020304" charset="0"/>
                <a:ea typeface="宋体" panose="02010600030101010101" pitchFamily="2" charset="-122"/>
              </a:rPr>
              <a:t>2</a:t>
            </a:r>
            <a:r>
              <a:rPr lang="zh-CN" sz="2000" b="1">
                <a:solidFill>
                  <a:srgbClr val="000000"/>
                </a:solidFill>
                <a:ea typeface="宋体" panose="02010600030101010101" pitchFamily="2" charset="-122"/>
              </a:rPr>
              <a:t>】</a:t>
            </a:r>
            <a:r>
              <a:rPr lang="en-US" sz="2000" b="1">
                <a:solidFill>
                  <a:srgbClr val="000000"/>
                </a:solidFill>
                <a:latin typeface="Times New Roman" panose="02020603050405020304" charset="0"/>
                <a:ea typeface="宋体" panose="02010600030101010101" pitchFamily="2" charset="-122"/>
              </a:rPr>
              <a:t> </a:t>
            </a:r>
            <a:r>
              <a:rPr lang="zh-CN" sz="2000">
                <a:solidFill>
                  <a:srgbClr val="000000"/>
                </a:solidFill>
                <a:ea typeface="宋体" panose="02010600030101010101" pitchFamily="2" charset="-122"/>
              </a:rPr>
              <a:t>图</a:t>
            </a:r>
            <a:r>
              <a:rPr lang="en-US" sz="2000">
                <a:solidFill>
                  <a:srgbClr val="000000"/>
                </a:solidFill>
                <a:latin typeface="Times New Roman" panose="02020603050405020304" charset="0"/>
                <a:ea typeface="宋体" panose="02010600030101010101" pitchFamily="2" charset="-122"/>
                <a:cs typeface="Times New Roman" panose="02020603050405020304" charset="0"/>
              </a:rPr>
              <a:t>5-</a:t>
            </a:r>
            <a:r>
              <a:rPr lang="en-US" sz="2000">
                <a:solidFill>
                  <a:srgbClr val="000000"/>
                </a:solidFill>
                <a:latin typeface="Times New Roman" panose="02020603050405020304" charset="0"/>
                <a:ea typeface="宋体" panose="02010600030101010101" pitchFamily="2" charset="-122"/>
              </a:rPr>
              <a:t>4(a)</a:t>
            </a:r>
            <a:r>
              <a:rPr lang="zh-CN" sz="2000">
                <a:solidFill>
                  <a:srgbClr val="000000"/>
                </a:solidFill>
                <a:ea typeface="宋体" panose="02010600030101010101" pitchFamily="2" charset="-122"/>
              </a:rPr>
              <a:t>为用基本</a:t>
            </a:r>
            <a:r>
              <a:rPr lang="en-US" sz="2000" i="1">
                <a:solidFill>
                  <a:srgbClr val="000000"/>
                </a:solidFill>
                <a:latin typeface="Times New Roman" panose="02020603050405020304" charset="0"/>
                <a:ea typeface="宋体" panose="02010600030101010101" pitchFamily="2" charset="-122"/>
              </a:rPr>
              <a:t>RS</a:t>
            </a:r>
            <a:r>
              <a:rPr lang="zh-CN" sz="2000">
                <a:solidFill>
                  <a:srgbClr val="000000"/>
                </a:solidFill>
                <a:ea typeface="宋体" panose="02010600030101010101" pitchFamily="2" charset="-122"/>
              </a:rPr>
              <a:t>锁存器消除抖动的电路</a:t>
            </a:r>
            <a:r>
              <a:rPr lang="zh-CN" sz="2000">
                <a:solidFill>
                  <a:srgbClr val="000000"/>
                </a:solidFill>
                <a:latin typeface="Times New Roman" panose="02020603050405020304" charset="0"/>
                <a:ea typeface="宋体" panose="02010600030101010101" pitchFamily="2" charset="-122"/>
              </a:rPr>
              <a:t>图</a:t>
            </a:r>
            <a:r>
              <a:rPr lang="zh-CN" sz="2000">
                <a:solidFill>
                  <a:srgbClr val="000000"/>
                </a:solidFill>
                <a:ea typeface="宋体" panose="02010600030101010101" pitchFamily="2" charset="-122"/>
              </a:rPr>
              <a:t>，图</a:t>
            </a:r>
            <a:r>
              <a:rPr lang="en-US" sz="2000">
                <a:solidFill>
                  <a:srgbClr val="000000"/>
                </a:solidFill>
                <a:latin typeface="Times New Roman" panose="02020603050405020304" charset="0"/>
                <a:ea typeface="宋体" panose="02010600030101010101" pitchFamily="2" charset="-122"/>
                <a:cs typeface="Times New Roman" panose="02020603050405020304" charset="0"/>
              </a:rPr>
              <a:t>5-</a:t>
            </a:r>
            <a:r>
              <a:rPr lang="en-US" sz="2000">
                <a:solidFill>
                  <a:srgbClr val="000000"/>
                </a:solidFill>
                <a:latin typeface="Times New Roman" panose="02020603050405020304" charset="0"/>
                <a:ea typeface="宋体" panose="02010600030101010101" pitchFamily="2" charset="-122"/>
              </a:rPr>
              <a:t>4(b)</a:t>
            </a:r>
            <a:r>
              <a:rPr lang="zh-CN" sz="2000">
                <a:solidFill>
                  <a:srgbClr val="000000"/>
                </a:solidFill>
                <a:ea typeface="宋体" panose="02010600030101010101" pitchFamily="2" charset="-122"/>
              </a:rPr>
              <a:t>为开关切换时   </a:t>
            </a:r>
            <a:r>
              <a:rPr lang="zh-CN" sz="2000">
                <a:solidFill>
                  <a:srgbClr val="000000"/>
                </a:solidFill>
                <a:sym typeface="+mn-ea"/>
              </a:rPr>
              <a:t>和    产生的波形及经过基本</a:t>
            </a:r>
            <a:r>
              <a:rPr lang="zh-CN" sz="2000" i="1">
                <a:solidFill>
                  <a:srgbClr val="000000"/>
                </a:solidFill>
                <a:latin typeface="Times New Roman" panose="02020603050405020304" charset="0"/>
                <a:cs typeface="Times New Roman" panose="02020603050405020304" charset="0"/>
                <a:sym typeface="+mn-ea"/>
              </a:rPr>
              <a:t>RS</a:t>
            </a:r>
            <a:r>
              <a:rPr lang="zh-CN" sz="2000">
                <a:solidFill>
                  <a:srgbClr val="000000"/>
                </a:solidFill>
                <a:sym typeface="+mn-ea"/>
              </a:rPr>
              <a:t>锁存器后输出</a:t>
            </a:r>
            <a:r>
              <a:rPr lang="zh-CN" sz="2000" i="1">
                <a:solidFill>
                  <a:srgbClr val="000000"/>
                </a:solidFill>
                <a:latin typeface="Times New Roman" panose="02020603050405020304" charset="0"/>
                <a:cs typeface="Times New Roman" panose="02020603050405020304" charset="0"/>
                <a:sym typeface="+mn-ea"/>
              </a:rPr>
              <a:t>Q</a:t>
            </a:r>
            <a:r>
              <a:rPr lang="zh-CN" sz="2000">
                <a:solidFill>
                  <a:srgbClr val="000000"/>
                </a:solidFill>
                <a:sym typeface="+mn-ea"/>
              </a:rPr>
              <a:t>的波形，试分析其消抖原理。</a:t>
            </a:r>
            <a:endParaRPr lang="zh-CN" altLang="en-US" sz="2000">
              <a:solidFill>
                <a:srgbClr val="000000"/>
              </a:solidFill>
              <a:sym typeface="+mn-ea"/>
            </a:endParaRPr>
          </a:p>
        </p:txBody>
      </p:sp>
      <p:pic>
        <p:nvPicPr>
          <p:cNvPr id="4" name="图片 3"/>
          <p:cNvPicPr/>
          <p:nvPr/>
        </p:nvPicPr>
        <p:blipFill>
          <a:blip r:embed="rId1"/>
          <a:stretch>
            <a:fillRect/>
          </a:stretch>
        </p:blipFill>
        <p:spPr>
          <a:xfrm>
            <a:off x="1404620" y="1913890"/>
            <a:ext cx="268605" cy="266700"/>
          </a:xfrm>
          <a:prstGeom prst="rect">
            <a:avLst/>
          </a:prstGeom>
          <a:noFill/>
          <a:ln w="9525">
            <a:noFill/>
          </a:ln>
        </p:spPr>
      </p:pic>
      <p:pic>
        <p:nvPicPr>
          <p:cNvPr id="6" name="图片 5"/>
          <p:cNvPicPr/>
          <p:nvPr/>
        </p:nvPicPr>
        <p:blipFill>
          <a:blip r:embed="rId2"/>
          <a:stretch>
            <a:fillRect/>
          </a:stretch>
        </p:blipFill>
        <p:spPr>
          <a:xfrm>
            <a:off x="1938020" y="1913890"/>
            <a:ext cx="296545" cy="318770"/>
          </a:xfrm>
          <a:prstGeom prst="rect">
            <a:avLst/>
          </a:prstGeom>
          <a:noFill/>
          <a:ln w="9525">
            <a:noFill/>
          </a:ln>
        </p:spPr>
      </p:pic>
      <p:pic>
        <p:nvPicPr>
          <p:cNvPr id="7" name="图片 2779"/>
          <p:cNvPicPr>
            <a:picLocks noChangeAspect="1"/>
          </p:cNvPicPr>
          <p:nvPr/>
        </p:nvPicPr>
        <p:blipFill>
          <a:blip r:embed="rId3"/>
          <a:stretch>
            <a:fillRect/>
          </a:stretch>
        </p:blipFill>
        <p:spPr>
          <a:xfrm>
            <a:off x="1673225" y="2431415"/>
            <a:ext cx="6090920" cy="3246755"/>
          </a:xfrm>
          <a:prstGeom prst="rect">
            <a:avLst/>
          </a:prstGeom>
          <a:noFill/>
          <a:ln>
            <a:noFill/>
          </a:ln>
        </p:spPr>
      </p:pic>
      <p:sp>
        <p:nvSpPr>
          <p:cNvPr id="9" name="矩形 8"/>
          <p:cNvSpPr/>
          <p:nvPr/>
        </p:nvSpPr>
        <p:spPr>
          <a:xfrm>
            <a:off x="4749165" y="2819400"/>
            <a:ext cx="152400" cy="1981200"/>
          </a:xfrm>
          <a:prstGeom prst="rect">
            <a:avLst/>
          </a:pr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2436495" y="5877560"/>
            <a:ext cx="4968240" cy="398780"/>
          </a:xfrm>
          <a:prstGeom prst="rect">
            <a:avLst/>
          </a:prstGeom>
          <a:noFill/>
          <a:ln w="9525">
            <a:noFill/>
          </a:ln>
        </p:spPr>
        <p:txBody>
          <a:bodyPr wrap="square">
            <a:spAutoFit/>
          </a:bodyPr>
          <a:p>
            <a:r>
              <a:rPr lang="zh-CN" sz="2000">
                <a:solidFill>
                  <a:srgbClr val="000000"/>
                </a:solidFill>
                <a:ea typeface="宋体" panose="02010600030101010101" pitchFamily="2" charset="-122"/>
              </a:rPr>
              <a:t>图</a:t>
            </a:r>
            <a:r>
              <a:rPr lang="en-US" sz="2000">
                <a:solidFill>
                  <a:srgbClr val="000000"/>
                </a:solidFill>
                <a:latin typeface="Times New Roman" panose="02020603050405020304" charset="0"/>
                <a:ea typeface="宋体" panose="02010600030101010101" pitchFamily="2" charset="-122"/>
                <a:cs typeface="Times New Roman" panose="02020603050405020304" charset="0"/>
              </a:rPr>
              <a:t>5-</a:t>
            </a:r>
            <a:r>
              <a:rPr lang="en-US" sz="2000">
                <a:solidFill>
                  <a:srgbClr val="000000"/>
                </a:solidFill>
                <a:latin typeface="Times New Roman" panose="02020603050405020304" charset="0"/>
                <a:ea typeface="宋体" panose="02010600030101010101" pitchFamily="2" charset="-122"/>
              </a:rPr>
              <a:t>4 </a:t>
            </a:r>
            <a:r>
              <a:rPr lang="zh-CN" sz="2000">
                <a:solidFill>
                  <a:srgbClr val="000000"/>
                </a:solidFill>
                <a:ea typeface="宋体" panose="02010600030101010101" pitchFamily="2" charset="-122"/>
              </a:rPr>
              <a:t>利用基本</a:t>
            </a:r>
            <a:r>
              <a:rPr lang="en-US" sz="2000" i="1">
                <a:solidFill>
                  <a:srgbClr val="000000"/>
                </a:solidFill>
                <a:latin typeface="Times New Roman" panose="02020603050405020304" charset="0"/>
                <a:ea typeface="宋体" panose="02010600030101010101" pitchFamily="2" charset="-122"/>
              </a:rPr>
              <a:t>RS</a:t>
            </a:r>
            <a:r>
              <a:rPr lang="zh-CN" sz="2000">
                <a:solidFill>
                  <a:srgbClr val="000000"/>
                </a:solidFill>
                <a:ea typeface="宋体" panose="02010600030101010101" pitchFamily="2" charset="-122"/>
              </a:rPr>
              <a:t>锁存器消除机械开关抖动</a:t>
            </a:r>
            <a:endParaRPr lang="zh-CN" altLang="en-US" sz="2000"/>
          </a:p>
        </p:txBody>
      </p:sp>
      <p:sp>
        <p:nvSpPr>
          <p:cNvPr id="10" name="矩形 9"/>
          <p:cNvSpPr/>
          <p:nvPr/>
        </p:nvSpPr>
        <p:spPr>
          <a:xfrm>
            <a:off x="4901565" y="2811780"/>
            <a:ext cx="238125" cy="1981200"/>
          </a:xfrm>
          <a:prstGeom prst="rect">
            <a:avLst/>
          </a:prstGeom>
          <a:solidFill>
            <a:srgbClr val="92D05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矩形 11"/>
          <p:cNvSpPr/>
          <p:nvPr/>
        </p:nvSpPr>
        <p:spPr>
          <a:xfrm>
            <a:off x="5481320" y="2819400"/>
            <a:ext cx="400685" cy="1981200"/>
          </a:xfrm>
          <a:prstGeom prst="rect">
            <a:avLst/>
          </a:prstGeom>
          <a:solidFill>
            <a:schemeClr val="accent6">
              <a:lumMod val="20000"/>
              <a:lumOff val="80000"/>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nvSpPr>
        <p:spPr>
          <a:xfrm>
            <a:off x="5139690" y="2819400"/>
            <a:ext cx="341630" cy="1981200"/>
          </a:xfrm>
          <a:prstGeom prst="rect">
            <a:avLst/>
          </a:prstGeom>
          <a:solidFill>
            <a:srgbClr val="FFC0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矩形 12"/>
          <p:cNvSpPr/>
          <p:nvPr/>
        </p:nvSpPr>
        <p:spPr>
          <a:xfrm>
            <a:off x="5882005" y="2819400"/>
            <a:ext cx="537845" cy="1981200"/>
          </a:xfrm>
          <a:prstGeom prst="rect">
            <a:avLst/>
          </a:prstGeom>
          <a:solidFill>
            <a:srgbClr val="00B050">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nvSpPr>
        <p:spPr>
          <a:xfrm>
            <a:off x="6419850" y="2819400"/>
            <a:ext cx="186690" cy="1981200"/>
          </a:xfrm>
          <a:prstGeom prst="rect">
            <a:avLst/>
          </a:prstGeom>
          <a:solidFill>
            <a:srgbClr val="C00000">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矩形 14"/>
          <p:cNvSpPr/>
          <p:nvPr/>
        </p:nvSpPr>
        <p:spPr>
          <a:xfrm>
            <a:off x="6606540" y="2819400"/>
            <a:ext cx="341630" cy="1981200"/>
          </a:xfrm>
          <a:prstGeom prst="rect">
            <a:avLst/>
          </a:prstGeom>
          <a:solidFill>
            <a:srgbClr val="FFC0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6" name="直接连接符 15"/>
          <p:cNvCxnSpPr/>
          <p:nvPr/>
        </p:nvCxnSpPr>
        <p:spPr>
          <a:xfrm>
            <a:off x="4766945" y="4665980"/>
            <a:ext cx="163195"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7" name="直接连接符 16"/>
          <p:cNvCxnSpPr/>
          <p:nvPr/>
        </p:nvCxnSpPr>
        <p:spPr>
          <a:xfrm>
            <a:off x="4957445" y="4665980"/>
            <a:ext cx="147955" cy="8255"/>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8" name="直接连接符 17"/>
          <p:cNvCxnSpPr/>
          <p:nvPr/>
        </p:nvCxnSpPr>
        <p:spPr>
          <a:xfrm flipV="1">
            <a:off x="5139690" y="4656455"/>
            <a:ext cx="346710" cy="1778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20" name="直接连接符 19"/>
          <p:cNvCxnSpPr/>
          <p:nvPr/>
        </p:nvCxnSpPr>
        <p:spPr>
          <a:xfrm rot="16200000" flipV="1">
            <a:off x="5299075" y="4474210"/>
            <a:ext cx="346710" cy="17780"/>
          </a:xfrm>
          <a:prstGeom prst="line">
            <a:avLst/>
          </a:prstGeom>
          <a:noFill/>
          <a:ln w="25400" cap="flat" cmpd="sng" algn="ctr">
            <a:solidFill>
              <a:srgbClr val="FF0000"/>
            </a:solidFill>
            <a:prstDash val="solid"/>
          </a:ln>
          <a:effectLst>
            <a:outerShdw blurRad="40000" dist="20000" dir="5400000" rotWithShape="0">
              <a:srgbClr val="000000">
                <a:alpha val="38000"/>
              </a:srgbClr>
            </a:outerShdw>
          </a:effectLst>
        </p:spPr>
        <p:style>
          <a:lnRef idx="2">
            <a:schemeClr val="dk1"/>
          </a:lnRef>
          <a:fillRef idx="0">
            <a:schemeClr val="dk1"/>
          </a:fillRef>
          <a:effectRef idx="1">
            <a:schemeClr val="dk1"/>
          </a:effectRef>
          <a:fontRef idx="minor">
            <a:schemeClr val="tx1"/>
          </a:fontRef>
        </p:style>
      </p:cxnSp>
      <p:cxnSp>
        <p:nvCxnSpPr>
          <p:cNvPr id="21" name="直接连接符 20"/>
          <p:cNvCxnSpPr/>
          <p:nvPr/>
        </p:nvCxnSpPr>
        <p:spPr>
          <a:xfrm flipV="1">
            <a:off x="5481320" y="4305300"/>
            <a:ext cx="386080" cy="22225"/>
          </a:xfrm>
          <a:prstGeom prst="line">
            <a:avLst/>
          </a:prstGeom>
          <a:noFill/>
          <a:ln w="25400" cap="flat" cmpd="sng" algn="ctr">
            <a:solidFill>
              <a:srgbClr val="FF0000"/>
            </a:solidFill>
            <a:prstDash val="solid"/>
          </a:ln>
          <a:effectLst>
            <a:outerShdw blurRad="40000" dist="20000" dir="5400000" rotWithShape="0">
              <a:srgbClr val="000000">
                <a:alpha val="38000"/>
              </a:srgbClr>
            </a:outerShdw>
          </a:effectLst>
        </p:spPr>
        <p:style>
          <a:lnRef idx="2">
            <a:schemeClr val="dk1"/>
          </a:lnRef>
          <a:fillRef idx="0">
            <a:schemeClr val="dk1"/>
          </a:fillRef>
          <a:effectRef idx="1">
            <a:schemeClr val="dk1"/>
          </a:effectRef>
          <a:fontRef idx="minor">
            <a:schemeClr val="tx1"/>
          </a:fontRef>
        </p:style>
      </p:cxnSp>
      <p:cxnSp>
        <p:nvCxnSpPr>
          <p:cNvPr id="22" name="直接连接符 21"/>
          <p:cNvCxnSpPr/>
          <p:nvPr/>
        </p:nvCxnSpPr>
        <p:spPr>
          <a:xfrm flipV="1">
            <a:off x="5882005" y="4295140"/>
            <a:ext cx="518795" cy="2794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23" name="直接连接符 22"/>
          <p:cNvCxnSpPr/>
          <p:nvPr/>
        </p:nvCxnSpPr>
        <p:spPr>
          <a:xfrm>
            <a:off x="6400800" y="4305300"/>
            <a:ext cx="228600" cy="1143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24" name="直接连接符 23"/>
          <p:cNvCxnSpPr/>
          <p:nvPr/>
        </p:nvCxnSpPr>
        <p:spPr>
          <a:xfrm flipV="1">
            <a:off x="6601460" y="4302125"/>
            <a:ext cx="346710" cy="1778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2" name="矩形 1"/>
          <p:cNvSpPr/>
          <p:nvPr/>
        </p:nvSpPr>
        <p:spPr>
          <a:xfrm>
            <a:off x="6948170" y="2819400"/>
            <a:ext cx="456565" cy="1981200"/>
          </a:xfrm>
          <a:prstGeom prst="rect">
            <a:avLst/>
          </a:prstGeom>
          <a:solidFill>
            <a:srgbClr val="0B36D7">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9" name="直接连接符 18"/>
          <p:cNvCxnSpPr/>
          <p:nvPr/>
        </p:nvCxnSpPr>
        <p:spPr>
          <a:xfrm rot="16200000" flipV="1">
            <a:off x="6783705" y="4459605"/>
            <a:ext cx="346710" cy="17780"/>
          </a:xfrm>
          <a:prstGeom prst="line">
            <a:avLst/>
          </a:prstGeom>
          <a:noFill/>
          <a:ln w="25400" cap="flat" cmpd="sng" algn="ctr">
            <a:solidFill>
              <a:srgbClr val="FF0000"/>
            </a:solidFill>
            <a:prstDash val="solid"/>
          </a:ln>
          <a:effectLst>
            <a:outerShdw blurRad="40000" dist="20000" dir="5400000" rotWithShape="0">
              <a:srgbClr val="000000">
                <a:alpha val="38000"/>
              </a:srgbClr>
            </a:outerShdw>
          </a:effectLst>
        </p:spPr>
        <p:style>
          <a:lnRef idx="2">
            <a:schemeClr val="dk1"/>
          </a:lnRef>
          <a:fillRef idx="0">
            <a:schemeClr val="dk1"/>
          </a:fillRef>
          <a:effectRef idx="1">
            <a:schemeClr val="dk1"/>
          </a:effectRef>
          <a:fontRef idx="minor">
            <a:schemeClr val="tx1"/>
          </a:fontRef>
        </p:style>
      </p:cxnSp>
      <p:cxnSp>
        <p:nvCxnSpPr>
          <p:cNvPr id="25" name="直接连接符 24"/>
          <p:cNvCxnSpPr/>
          <p:nvPr/>
        </p:nvCxnSpPr>
        <p:spPr>
          <a:xfrm flipV="1">
            <a:off x="6965950" y="4647565"/>
            <a:ext cx="349250" cy="18415"/>
          </a:xfrm>
          <a:prstGeom prst="line">
            <a:avLst/>
          </a:prstGeom>
          <a:noFill/>
          <a:ln w="25400" cap="flat" cmpd="sng" algn="ctr">
            <a:solidFill>
              <a:srgbClr val="FF0000"/>
            </a:solidFill>
            <a:prstDash val="solid"/>
          </a:ln>
          <a:effectLst>
            <a:outerShdw blurRad="40000" dist="20000" dir="5400000" rotWithShape="0">
              <a:srgbClr val="000000">
                <a:alpha val="38000"/>
              </a:srgbClr>
            </a:outerShdw>
          </a:effectLst>
        </p:spPr>
        <p:style>
          <a:lnRef idx="2">
            <a:schemeClr val="dk1"/>
          </a:lnRef>
          <a:fillRef idx="0">
            <a:schemeClr val="dk1"/>
          </a:fillRef>
          <a:effectRef idx="1">
            <a:schemeClr val="dk1"/>
          </a:effectRef>
          <a:fontRef idx="minor">
            <a:schemeClr val="tx1"/>
          </a:fontRef>
        </p:style>
      </p:cxn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000" fill="hold">
                                          <p:stCondLst>
                                            <p:cond delay="0"/>
                                          </p:stCondLst>
                                        </p:cTn>
                                        <p:tgtEl>
                                          <p:spTgt spid="16"/>
                                        </p:tgtEl>
                                        <p:attrNameLst>
                                          <p:attrName>style.visibility</p:attrName>
                                        </p:attrNameLst>
                                      </p:cBhvr>
                                      <p:to>
                                        <p:strVal val="visible"/>
                                      </p:to>
                                    </p:set>
                                    <p:animEffect transition="in" filter="wipe(left)">
                                      <p:cBhvr>
                                        <p:cTn id="10" dur="10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par>
                          <p:cTn id="15" fill="hold">
                            <p:stCondLst>
                              <p:cond delay="0"/>
                            </p:stCondLst>
                            <p:childTnLst>
                              <p:par>
                                <p:cTn id="16" presetID="22" presetClass="entr" presetSubtype="8" fill="hold" nodeType="afterEffect">
                                  <p:stCondLst>
                                    <p:cond delay="0"/>
                                  </p:stCondLst>
                                  <p:childTnLst>
                                    <p:set>
                                      <p:cBhvr>
                                        <p:cTn id="17" dur="1000" fill="hold">
                                          <p:stCondLst>
                                            <p:cond delay="0"/>
                                          </p:stCondLst>
                                        </p:cTn>
                                        <p:tgtEl>
                                          <p:spTgt spid="17"/>
                                        </p:tgtEl>
                                        <p:attrNameLst>
                                          <p:attrName>style.visibility</p:attrName>
                                        </p:attrNameLst>
                                      </p:cBhvr>
                                      <p:to>
                                        <p:strVal val="visible"/>
                                      </p:to>
                                    </p:set>
                                    <p:animEffect transition="in" filter="wipe(left)">
                                      <p:cBhvr>
                                        <p:cTn id="18" dur="10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par>
                          <p:cTn id="23" fill="hold">
                            <p:stCondLst>
                              <p:cond delay="0"/>
                            </p:stCondLst>
                            <p:childTnLst>
                              <p:par>
                                <p:cTn id="24" presetID="22" presetClass="entr" presetSubtype="8" fill="hold" nodeType="afterEffect">
                                  <p:stCondLst>
                                    <p:cond delay="0"/>
                                  </p:stCondLst>
                                  <p:childTnLst>
                                    <p:set>
                                      <p:cBhvr>
                                        <p:cTn id="25" dur="1000" fill="hold">
                                          <p:stCondLst>
                                            <p:cond delay="0"/>
                                          </p:stCondLst>
                                        </p:cTn>
                                        <p:tgtEl>
                                          <p:spTgt spid="18"/>
                                        </p:tgtEl>
                                        <p:attrNameLst>
                                          <p:attrName>style.visibility</p:attrName>
                                        </p:attrNameLst>
                                      </p:cBhvr>
                                      <p:to>
                                        <p:strVal val="visible"/>
                                      </p:to>
                                    </p:set>
                                    <p:animEffect transition="in" filter="wipe(left)">
                                      <p:cBhvr>
                                        <p:cTn id="26" dur="10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par>
                          <p:cTn id="31" fill="hold">
                            <p:stCondLst>
                              <p:cond delay="0"/>
                            </p:stCondLst>
                            <p:childTnLst>
                              <p:par>
                                <p:cTn id="32" presetID="22" presetClass="entr" presetSubtype="4" fill="hold" nodeType="afterEffect">
                                  <p:stCondLst>
                                    <p:cond delay="0"/>
                                  </p:stCondLst>
                                  <p:childTnLst>
                                    <p:set>
                                      <p:cBhvr>
                                        <p:cTn id="33" dur="1000" fill="hold">
                                          <p:stCondLst>
                                            <p:cond delay="0"/>
                                          </p:stCondLst>
                                        </p:cTn>
                                        <p:tgtEl>
                                          <p:spTgt spid="20"/>
                                        </p:tgtEl>
                                        <p:attrNameLst>
                                          <p:attrName>style.visibility</p:attrName>
                                        </p:attrNameLst>
                                      </p:cBhvr>
                                      <p:to>
                                        <p:strVal val="visible"/>
                                      </p:to>
                                    </p:set>
                                    <p:animEffect transition="in" filter="wipe(down)">
                                      <p:cBhvr>
                                        <p:cTn id="34" dur="1000"/>
                                        <p:tgtEl>
                                          <p:spTgt spid="20"/>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000" fill="hold">
                                          <p:stCondLst>
                                            <p:cond delay="0"/>
                                          </p:stCondLst>
                                        </p:cTn>
                                        <p:tgtEl>
                                          <p:spTgt spid="21"/>
                                        </p:tgtEl>
                                        <p:attrNameLst>
                                          <p:attrName>style.visibility</p:attrName>
                                        </p:attrNameLst>
                                      </p:cBhvr>
                                      <p:to>
                                        <p:strVal val="visible"/>
                                      </p:to>
                                    </p:set>
                                    <p:animEffect transition="in" filter="wipe(left)">
                                      <p:cBhvr>
                                        <p:cTn id="38" dur="10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par>
                          <p:cTn id="43" fill="hold">
                            <p:stCondLst>
                              <p:cond delay="0"/>
                            </p:stCondLst>
                            <p:childTnLst>
                              <p:par>
                                <p:cTn id="44" presetID="22" presetClass="entr" presetSubtype="8" fill="hold" nodeType="afterEffect">
                                  <p:stCondLst>
                                    <p:cond delay="0"/>
                                  </p:stCondLst>
                                  <p:childTnLst>
                                    <p:set>
                                      <p:cBhvr>
                                        <p:cTn id="45" dur="1000" fill="hold">
                                          <p:stCondLst>
                                            <p:cond delay="0"/>
                                          </p:stCondLst>
                                        </p:cTn>
                                        <p:tgtEl>
                                          <p:spTgt spid="22"/>
                                        </p:tgtEl>
                                        <p:attrNameLst>
                                          <p:attrName>style.visibility</p:attrName>
                                        </p:attrNameLst>
                                      </p:cBhvr>
                                      <p:to>
                                        <p:strVal val="visible"/>
                                      </p:to>
                                    </p:set>
                                    <p:animEffect transition="in" filter="wipe(left)">
                                      <p:cBhvr>
                                        <p:cTn id="46" dur="10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par>
                          <p:cTn id="51" fill="hold">
                            <p:stCondLst>
                              <p:cond delay="0"/>
                            </p:stCondLst>
                            <p:childTnLst>
                              <p:par>
                                <p:cTn id="52" presetID="22" presetClass="entr" presetSubtype="8" fill="hold" nodeType="afterEffect">
                                  <p:stCondLst>
                                    <p:cond delay="0"/>
                                  </p:stCondLst>
                                  <p:childTnLst>
                                    <p:set>
                                      <p:cBhvr>
                                        <p:cTn id="53" dur="1000" fill="hold">
                                          <p:stCondLst>
                                            <p:cond delay="0"/>
                                          </p:stCondLst>
                                        </p:cTn>
                                        <p:tgtEl>
                                          <p:spTgt spid="23"/>
                                        </p:tgtEl>
                                        <p:attrNameLst>
                                          <p:attrName>style.visibility</p:attrName>
                                        </p:attrNameLst>
                                      </p:cBhvr>
                                      <p:to>
                                        <p:strVal val="visible"/>
                                      </p:to>
                                    </p:set>
                                    <p:animEffect transition="in" filter="wipe(left)">
                                      <p:cBhvr>
                                        <p:cTn id="54" dur="10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par>
                          <p:cTn id="59" fill="hold">
                            <p:stCondLst>
                              <p:cond delay="0"/>
                            </p:stCondLst>
                            <p:childTnLst>
                              <p:par>
                                <p:cTn id="60" presetID="22" presetClass="entr" presetSubtype="8" fill="hold" nodeType="afterEffect">
                                  <p:stCondLst>
                                    <p:cond delay="0"/>
                                  </p:stCondLst>
                                  <p:childTnLst>
                                    <p:set>
                                      <p:cBhvr>
                                        <p:cTn id="61" dur="1000" fill="hold">
                                          <p:stCondLst>
                                            <p:cond delay="0"/>
                                          </p:stCondLst>
                                        </p:cTn>
                                        <p:tgtEl>
                                          <p:spTgt spid="24"/>
                                        </p:tgtEl>
                                        <p:attrNameLst>
                                          <p:attrName>style.visibility</p:attrName>
                                        </p:attrNameLst>
                                      </p:cBhvr>
                                      <p:to>
                                        <p:strVal val="visible"/>
                                      </p:to>
                                    </p:set>
                                    <p:animEffect transition="in" filter="wipe(left)">
                                      <p:cBhvr>
                                        <p:cTn id="62" dur="10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childTnLst>
                                </p:cTn>
                              </p:par>
                            </p:childTnLst>
                          </p:cTn>
                        </p:par>
                        <p:par>
                          <p:cTn id="67" fill="hold">
                            <p:stCondLst>
                              <p:cond delay="0"/>
                            </p:stCondLst>
                            <p:childTnLst>
                              <p:par>
                                <p:cTn id="68" presetID="22" presetClass="entr" presetSubtype="1" fill="hold" nodeType="afterEffect">
                                  <p:stCondLst>
                                    <p:cond delay="0"/>
                                  </p:stCondLst>
                                  <p:childTnLst>
                                    <p:set>
                                      <p:cBhvr>
                                        <p:cTn id="69" dur="1000" fill="hold">
                                          <p:stCondLst>
                                            <p:cond delay="0"/>
                                          </p:stCondLst>
                                        </p:cTn>
                                        <p:tgtEl>
                                          <p:spTgt spid="19"/>
                                        </p:tgtEl>
                                        <p:attrNameLst>
                                          <p:attrName>style.visibility</p:attrName>
                                        </p:attrNameLst>
                                      </p:cBhvr>
                                      <p:to>
                                        <p:strVal val="visible"/>
                                      </p:to>
                                    </p:set>
                                    <p:animEffect transition="in" filter="wipe(up)">
                                      <p:cBhvr>
                                        <p:cTn id="70" dur="1000"/>
                                        <p:tgtEl>
                                          <p:spTgt spid="19"/>
                                        </p:tgtEl>
                                      </p:cBhvr>
                                    </p:animEffect>
                                  </p:childTnLst>
                                </p:cTn>
                              </p:par>
                            </p:childTnLst>
                          </p:cTn>
                        </p:par>
                        <p:par>
                          <p:cTn id="71" fill="hold">
                            <p:stCondLst>
                              <p:cond delay="1000"/>
                            </p:stCondLst>
                            <p:childTnLst>
                              <p:par>
                                <p:cTn id="72" presetID="22" presetClass="entr" presetSubtype="8" fill="hold" nodeType="afterEffect">
                                  <p:stCondLst>
                                    <p:cond delay="0"/>
                                  </p:stCondLst>
                                  <p:childTnLst>
                                    <p:set>
                                      <p:cBhvr>
                                        <p:cTn id="73" dur="1000" fill="hold">
                                          <p:stCondLst>
                                            <p:cond delay="0"/>
                                          </p:stCondLst>
                                        </p:cTn>
                                        <p:tgtEl>
                                          <p:spTgt spid="25"/>
                                        </p:tgtEl>
                                        <p:attrNameLst>
                                          <p:attrName>style.visibility</p:attrName>
                                        </p:attrNameLst>
                                      </p:cBhvr>
                                      <p:to>
                                        <p:strVal val="visible"/>
                                      </p:to>
                                    </p:set>
                                    <p:animEffect transition="in" filter="wipe(left)">
                                      <p:cBhvr>
                                        <p:cTn id="74"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bldLvl="0" animBg="1"/>
      <p:bldP spid="11" grpId="0" animBg="1"/>
      <p:bldP spid="12" grpId="0" animBg="1"/>
      <p:bldP spid="13" grpId="0" animBg="1"/>
      <p:bldP spid="14" grpId="0" animBg="1"/>
      <p:bldP spid="15" grpId="0" animBg="1"/>
      <p:bldP spid="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42683"/>
            <a:ext cx="5257800" cy="868362"/>
          </a:xfrm>
        </p:spPr>
        <p:txBody>
          <a:bodyPr vert="horz" wrap="square" lIns="91440" tIns="45720" rIns="91440" bIns="45720" anchor="ctr" anchorCtr="0"/>
          <a:p>
            <a:pPr algn="l" eaLnBrk="1" hangingPunct="1"/>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5.2.</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钟控</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锁存器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2" name="Rectangle 3"/>
          <p:cNvSpPr>
            <a:spLocks noGrp="1"/>
          </p:cNvSpPr>
          <p:nvPr/>
        </p:nvSpPr>
        <p:spPr>
          <a:xfrm>
            <a:off x="762000" y="1862455"/>
            <a:ext cx="8003540" cy="7899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a:t>
            </a:r>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钟控</a:t>
            </a:r>
            <a:r>
              <a:rPr lang="en-US" sz="2400" b="1" i="1" dirty="0">
                <a:solidFill>
                  <a:srgbClr val="FE09D6"/>
                </a:solidFill>
                <a:latin typeface="Times New Roman" panose="02020603050405020304" charset="0"/>
                <a:ea typeface="楷体_GB2312" pitchFamily="49" charset="-122"/>
                <a:cs typeface="Times New Roman" panose="02020603050405020304" charset="0"/>
                <a:sym typeface="+mn-ea"/>
              </a:rPr>
              <a:t>RS</a:t>
            </a:r>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锁存器</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文本框 2"/>
          <p:cNvSpPr txBox="1"/>
          <p:nvPr/>
        </p:nvSpPr>
        <p:spPr>
          <a:xfrm>
            <a:off x="843280" y="241998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(１) </a:t>
            </a:r>
            <a:r>
              <a:rPr lang="zh-CN" altLang="en-US" sz="2400" b="1"/>
              <a:t>电路结构</a:t>
            </a:r>
            <a:endParaRPr lang="zh-CN" altLang="en-US" sz="2400" b="1"/>
          </a:p>
        </p:txBody>
      </p:sp>
      <p:pic>
        <p:nvPicPr>
          <p:cNvPr id="9343" name="图片 2780"/>
          <p:cNvPicPr>
            <a:picLocks noChangeAspect="1"/>
          </p:cNvPicPr>
          <p:nvPr/>
        </p:nvPicPr>
        <p:blipFill>
          <a:blip r:embed="rId1"/>
          <a:stretch>
            <a:fillRect/>
          </a:stretch>
        </p:blipFill>
        <p:spPr>
          <a:xfrm>
            <a:off x="3124200" y="2256790"/>
            <a:ext cx="4417060" cy="3529965"/>
          </a:xfrm>
          <a:prstGeom prst="rect">
            <a:avLst/>
          </a:prstGeom>
          <a:noFill/>
          <a:ln>
            <a:noFill/>
          </a:ln>
        </p:spPr>
      </p:pic>
      <p:sp>
        <p:nvSpPr>
          <p:cNvPr id="100" name="文本框 99"/>
          <p:cNvSpPr txBox="1"/>
          <p:nvPr/>
        </p:nvSpPr>
        <p:spPr>
          <a:xfrm>
            <a:off x="3028950" y="5941060"/>
            <a:ext cx="5037455" cy="337185"/>
          </a:xfrm>
          <a:prstGeom prst="rect">
            <a:avLst/>
          </a:prstGeom>
          <a:noFill/>
          <a:ln w="9525">
            <a:noFill/>
          </a:ln>
        </p:spPr>
        <p:txBody>
          <a:bodyPr wrap="square">
            <a:spAutoFit/>
          </a:bodyPr>
          <a:p>
            <a:pPr algn="ctr"/>
            <a:r>
              <a:rPr lang="zh-CN" sz="1600">
                <a:solidFill>
                  <a:srgbClr val="000000"/>
                </a:solidFill>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a:t>
            </a:r>
            <a:r>
              <a:rPr lang="en-US" sz="1600">
                <a:solidFill>
                  <a:srgbClr val="000000"/>
                </a:solidFill>
                <a:latin typeface="Times New Roman" panose="02020603050405020304" charset="0"/>
                <a:ea typeface="宋体" panose="02010600030101010101" pitchFamily="2" charset="-122"/>
              </a:rPr>
              <a:t>5 </a:t>
            </a:r>
            <a:r>
              <a:rPr lang="zh-CN" sz="1600">
                <a:solidFill>
                  <a:srgbClr val="000000"/>
                </a:solidFill>
                <a:ea typeface="宋体" panose="02010600030101010101" pitchFamily="2" charset="-122"/>
              </a:rPr>
              <a:t>钟控</a:t>
            </a:r>
            <a:r>
              <a:rPr lang="en-US" sz="1600" i="1">
                <a:solidFill>
                  <a:srgbClr val="000000"/>
                </a:solidFill>
                <a:latin typeface="Times New Roman" panose="02020603050405020304" charset="0"/>
                <a:ea typeface="宋体" panose="02010600030101010101" pitchFamily="2" charset="-122"/>
              </a:rPr>
              <a:t>RS</a:t>
            </a:r>
            <a:r>
              <a:rPr lang="zh-CN" sz="1600">
                <a:solidFill>
                  <a:srgbClr val="000000"/>
                </a:solidFill>
                <a:ea typeface="宋体" panose="02010600030101010101" pitchFamily="2" charset="-122"/>
              </a:rPr>
              <a:t>锁存器</a:t>
            </a:r>
            <a:endParaRPr lang="zh-CN" altLang="en-US" sz="1600"/>
          </a:p>
        </p:txBody>
      </p:sp>
      <p:sp>
        <p:nvSpPr>
          <p:cNvPr id="500747" name="圆角矩形 500746"/>
          <p:cNvSpPr/>
          <p:nvPr/>
        </p:nvSpPr>
        <p:spPr>
          <a:xfrm>
            <a:off x="3207385" y="2193925"/>
            <a:ext cx="2165350" cy="1626235"/>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sp>
        <p:nvSpPr>
          <p:cNvPr id="500746" name="圆角矩形标注 500745"/>
          <p:cNvSpPr/>
          <p:nvPr/>
        </p:nvSpPr>
        <p:spPr>
          <a:xfrm>
            <a:off x="5041900" y="1444625"/>
            <a:ext cx="2095141" cy="510181"/>
          </a:xfrm>
          <a:prstGeom prst="wedgeRoundRectCallout">
            <a:avLst>
              <a:gd name="adj1" fmla="val -50704"/>
              <a:gd name="adj2" fmla="val 104167"/>
              <a:gd name="adj3" fmla="val 16667"/>
            </a:avLst>
          </a:prstGeom>
          <a:noFill/>
          <a:ln w="9525" cap="flat" cmpd="sng">
            <a:solidFill>
              <a:srgbClr val="D60093"/>
            </a:solidFill>
            <a:prstDash val="solid"/>
            <a:miter/>
            <a:headEnd type="none" w="med" len="med"/>
            <a:tailEnd type="none" w="med" len="med"/>
          </a:ln>
        </p:spPr>
        <p:txBody>
          <a:bodyPr wrap="none" anchor="t">
            <a:spAutoFit/>
          </a:bodyPr>
          <a:p>
            <a:pPr algn="l"/>
            <a:r>
              <a:rPr lang="zh-CN" altLang="en-US" sz="2400" dirty="0">
                <a:solidFill>
                  <a:srgbClr val="000066"/>
                </a:solidFill>
                <a:latin typeface="Tahoma" panose="020B0604030504040204" pitchFamily="34" charset="0"/>
                <a:ea typeface="楷体_GB2312" pitchFamily="49" charset="-122"/>
              </a:rPr>
              <a:t>基本</a:t>
            </a:r>
            <a:r>
              <a:rPr lang="en-US" altLang="zh-CN" sz="2400" i="1">
                <a:solidFill>
                  <a:srgbClr val="000066"/>
                </a:solidFill>
                <a:latin typeface="Times New Roman" panose="02020603050405020304" charset="0"/>
                <a:ea typeface="楷体_GB2312" pitchFamily="49" charset="-122"/>
                <a:sym typeface="+mn-ea"/>
              </a:rPr>
              <a:t>R</a:t>
            </a:r>
            <a:r>
              <a:rPr lang="en-US" altLang="zh-CN" sz="2400" i="1">
                <a:solidFill>
                  <a:srgbClr val="000066"/>
                </a:solidFill>
                <a:latin typeface="Times New Roman" panose="02020603050405020304" charset="0"/>
                <a:ea typeface="楷体_GB2312" pitchFamily="49" charset="-122"/>
              </a:rPr>
              <a:t>S</a:t>
            </a:r>
            <a:r>
              <a:rPr lang="zh-CN" altLang="en-US" sz="2400" dirty="0">
                <a:solidFill>
                  <a:srgbClr val="000066"/>
                </a:solidFill>
                <a:latin typeface="Tahoma" panose="020B0604030504040204" pitchFamily="34" charset="0"/>
                <a:ea typeface="楷体_GB2312" pitchFamily="49" charset="-122"/>
              </a:rPr>
              <a:t>锁存器</a:t>
            </a:r>
            <a:endParaRPr lang="en-GB" altLang="zh-CN" sz="2400">
              <a:solidFill>
                <a:srgbClr val="000066"/>
              </a:solidFill>
              <a:latin typeface="Tahoma" panose="020B0604030504040204" pitchFamily="34" charset="0"/>
              <a:ea typeface="楷体_GB2312" pitchFamily="49" charset="-122"/>
            </a:endParaRPr>
          </a:p>
        </p:txBody>
      </p:sp>
      <p:sp>
        <p:nvSpPr>
          <p:cNvPr id="500748" name="圆角矩形 500747"/>
          <p:cNvSpPr/>
          <p:nvPr/>
        </p:nvSpPr>
        <p:spPr>
          <a:xfrm>
            <a:off x="3096260" y="3947160"/>
            <a:ext cx="2393315" cy="985520"/>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sp>
        <p:nvSpPr>
          <p:cNvPr id="500749" name="圆角矩形标注 500748"/>
          <p:cNvSpPr/>
          <p:nvPr/>
        </p:nvSpPr>
        <p:spPr>
          <a:xfrm>
            <a:off x="678815" y="5078730"/>
            <a:ext cx="2139950" cy="514045"/>
          </a:xfrm>
          <a:prstGeom prst="wedgeRoundRectCallout">
            <a:avLst>
              <a:gd name="adj1" fmla="val 64754"/>
              <a:gd name="adj2" fmla="val -129160"/>
              <a:gd name="adj3" fmla="val 16667"/>
            </a:avLst>
          </a:prstGeom>
          <a:noFill/>
          <a:ln w="9525" cap="flat" cmpd="sng">
            <a:solidFill>
              <a:srgbClr val="D60093"/>
            </a:solidFill>
            <a:prstDash val="solid"/>
            <a:miter/>
            <a:headEnd type="none" w="med" len="med"/>
            <a:tailEnd type="none" w="med" len="med"/>
          </a:ln>
        </p:spPr>
        <p:txBody>
          <a:bodyPr wrap="square" anchor="t">
            <a:spAutoFit/>
          </a:bodyPr>
          <a:p>
            <a:pPr algn="ctr"/>
            <a:r>
              <a:rPr lang="zh-CN" altLang="en-US" sz="2400" dirty="0">
                <a:solidFill>
                  <a:srgbClr val="000066"/>
                </a:solidFill>
                <a:latin typeface="Tahoma" panose="020B0604030504040204" pitchFamily="34" charset="0"/>
                <a:ea typeface="楷体_GB2312" pitchFamily="49" charset="-122"/>
              </a:rPr>
              <a:t>输入控制电路</a:t>
            </a:r>
            <a:endParaRPr lang="en-GB" altLang="zh-CN" sz="2400">
              <a:solidFill>
                <a:srgbClr val="000066"/>
              </a:solidFill>
              <a:latin typeface="Tahoma" panose="020B0604030504040204" pitchFamily="3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00747"/>
                                        </p:tgtEl>
                                        <p:attrNameLst>
                                          <p:attrName>style.visibility</p:attrName>
                                        </p:attrNameLst>
                                      </p:cBhvr>
                                      <p:to>
                                        <p:strVal val="visible"/>
                                      </p:to>
                                    </p:set>
                                    <p:animEffect transition="in" filter="box(in)">
                                      <p:cBhvr>
                                        <p:cTn id="7" dur="500"/>
                                        <p:tgtEl>
                                          <p:spTgt spid="500747"/>
                                        </p:tgtEl>
                                      </p:cBhvr>
                                    </p:animEffect>
                                  </p:childTnLst>
                                </p:cTn>
                              </p:par>
                            </p:childTnLst>
                          </p:cTn>
                        </p:par>
                        <p:par>
                          <p:cTn id="8" fill="hold">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500746"/>
                                        </p:tgtEl>
                                        <p:attrNameLst>
                                          <p:attrName>style.visibility</p:attrName>
                                        </p:attrNameLst>
                                      </p:cBhvr>
                                      <p:to>
                                        <p:strVal val="visible"/>
                                      </p:to>
                                    </p:set>
                                    <p:animEffect transition="in" filter="wipe(up)">
                                      <p:cBhvr>
                                        <p:cTn id="11" dur="500"/>
                                        <p:tgtEl>
                                          <p:spTgt spid="50074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500748"/>
                                        </p:tgtEl>
                                        <p:attrNameLst>
                                          <p:attrName>style.visibility</p:attrName>
                                        </p:attrNameLst>
                                      </p:cBhvr>
                                      <p:to>
                                        <p:strVal val="visible"/>
                                      </p:to>
                                    </p:set>
                                    <p:animEffect transition="in" filter="box(in)">
                                      <p:cBhvr>
                                        <p:cTn id="16" dur="500"/>
                                        <p:tgtEl>
                                          <p:spTgt spid="500748"/>
                                        </p:tgtEl>
                                      </p:cBhvr>
                                    </p:animEffect>
                                  </p:childTnLst>
                                </p:cTn>
                              </p:par>
                            </p:childTnLst>
                          </p:cTn>
                        </p:par>
                        <p:par>
                          <p:cTn id="17" fill="hold">
                            <p:stCondLst>
                              <p:cond delay="500"/>
                            </p:stCondLst>
                            <p:childTnLst>
                              <p:par>
                                <p:cTn id="18" presetID="22" presetClass="entr" presetSubtype="4" fill="hold" grpId="0" nodeType="afterEffect">
                                  <p:stCondLst>
                                    <p:cond delay="500"/>
                                  </p:stCondLst>
                                  <p:childTnLst>
                                    <p:set>
                                      <p:cBhvr>
                                        <p:cTn id="19" dur="1" fill="hold">
                                          <p:stCondLst>
                                            <p:cond delay="0"/>
                                          </p:stCondLst>
                                        </p:cTn>
                                        <p:tgtEl>
                                          <p:spTgt spid="500749"/>
                                        </p:tgtEl>
                                        <p:attrNameLst>
                                          <p:attrName>style.visibility</p:attrName>
                                        </p:attrNameLst>
                                      </p:cBhvr>
                                      <p:to>
                                        <p:strVal val="visible"/>
                                      </p:to>
                                    </p:set>
                                    <p:animEffect transition="in" filter="wipe(down)">
                                      <p:cBhvr>
                                        <p:cTn id="20" dur="500"/>
                                        <p:tgtEl>
                                          <p:spTgt spid="500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6" grpId="0" bldLvl="0" animBg="1"/>
      <p:bldP spid="500749"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43" name="图片 2780"/>
          <p:cNvPicPr>
            <a:picLocks noChangeAspect="1"/>
          </p:cNvPicPr>
          <p:nvPr/>
        </p:nvPicPr>
        <p:blipFill>
          <a:blip r:embed="rId1"/>
          <a:srcRect r="44250" b="13096"/>
          <a:stretch>
            <a:fillRect/>
          </a:stretch>
        </p:blipFill>
        <p:spPr>
          <a:xfrm>
            <a:off x="614680" y="1895475"/>
            <a:ext cx="2917825" cy="3634740"/>
          </a:xfrm>
          <a:prstGeom prst="rect">
            <a:avLst/>
          </a:prstGeom>
          <a:noFill/>
          <a:ln>
            <a:noFill/>
          </a:ln>
        </p:spPr>
      </p:pic>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sp>
        <p:nvSpPr>
          <p:cNvPr id="501764" name="文本框 501763"/>
          <p:cNvSpPr txBox="1"/>
          <p:nvPr/>
        </p:nvSpPr>
        <p:spPr>
          <a:xfrm>
            <a:off x="4405948" y="3376930"/>
            <a:ext cx="3924300" cy="521970"/>
          </a:xfrm>
          <a:prstGeom prst="rect">
            <a:avLst/>
          </a:prstGeom>
          <a:noFill/>
          <a:ln w="9525">
            <a:noFill/>
          </a:ln>
        </p:spPr>
        <p:txBody>
          <a:bodyPr>
            <a:spAutoFit/>
          </a:bodyPr>
          <a:p>
            <a:pPr algn="l"/>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S</a:t>
            </a:r>
            <a:r>
              <a:rPr lang="en-US" altLang="zh-CN" sz="2800">
                <a:solidFill>
                  <a:srgbClr val="000066"/>
                </a:solidFill>
                <a:latin typeface="Times New Roman" panose="02020603050405020304" charset="0"/>
                <a:ea typeface="楷体_GB2312" pitchFamily="49" charset="-122"/>
              </a:rPr>
              <a:t>=0</a:t>
            </a:r>
            <a:r>
              <a:rPr lang="zh-CN" altLang="en-US" sz="2800">
                <a:solidFill>
                  <a:srgbClr val="000066"/>
                </a:solidFill>
                <a:latin typeface="Times New Roman" panose="02020603050405020304" charset="0"/>
                <a:ea typeface="楷体_GB2312" pitchFamily="49" charset="-122"/>
              </a:rPr>
              <a:t>，</a:t>
            </a:r>
            <a:r>
              <a:rPr lang="en-US" altLang="zh-CN" sz="2800" i="1">
                <a:solidFill>
                  <a:srgbClr val="000066"/>
                </a:solidFill>
                <a:latin typeface="Times New Roman" panose="02020603050405020304" charset="0"/>
                <a:ea typeface="楷体_GB2312" pitchFamily="49" charset="-122"/>
              </a:rPr>
              <a:t>R</a:t>
            </a:r>
            <a:r>
              <a:rPr lang="en-US" altLang="zh-CN" sz="2800">
                <a:solidFill>
                  <a:srgbClr val="000066"/>
                </a:solidFill>
                <a:latin typeface="Times New Roman" panose="02020603050405020304" charset="0"/>
                <a:ea typeface="楷体_GB2312" pitchFamily="49" charset="-122"/>
              </a:rPr>
              <a:t>=0</a:t>
            </a:r>
            <a:r>
              <a:rPr lang="zh-CN" altLang="en-US" sz="2800">
                <a:solidFill>
                  <a:srgbClr val="000066"/>
                </a:solidFill>
                <a:latin typeface="Times New Roman" panose="02020603050405020304" charset="0"/>
                <a:ea typeface="楷体_GB2312" pitchFamily="49" charset="-122"/>
              </a:rPr>
              <a:t>：</a:t>
            </a:r>
            <a:r>
              <a:rPr lang="en-US" altLang="zh-CN" sz="2800" i="1">
                <a:solidFill>
                  <a:srgbClr val="000066"/>
                </a:solidFill>
                <a:latin typeface="Times New Roman" panose="02020603050405020304" charset="0"/>
                <a:ea typeface="楷体_GB2312" pitchFamily="49" charset="-122"/>
              </a:rPr>
              <a:t>Q</a:t>
            </a:r>
            <a:r>
              <a:rPr lang="en-US" altLang="zh-CN" sz="2800" i="1" baseline="30000">
                <a:solidFill>
                  <a:srgbClr val="000066"/>
                </a:solidFill>
                <a:latin typeface="Times New Roman" panose="02020603050405020304" charset="0"/>
                <a:ea typeface="楷体_GB2312" pitchFamily="49" charset="-122"/>
              </a:rPr>
              <a:t>n</a:t>
            </a:r>
            <a:r>
              <a:rPr lang="en-US" altLang="zh-CN" sz="2800" baseline="30000">
                <a:solidFill>
                  <a:srgbClr val="000066"/>
                </a:solidFill>
                <a:latin typeface="Times New Roman" panose="02020603050405020304" charset="0"/>
                <a:ea typeface="楷体_GB2312" pitchFamily="49" charset="-122"/>
              </a:rPr>
              <a:t>+1</a:t>
            </a:r>
            <a:r>
              <a:rPr lang="en-US" altLang="zh-CN" sz="2800">
                <a:solidFill>
                  <a:srgbClr val="000066"/>
                </a:solidFill>
                <a:latin typeface="Times New Roman" panose="02020603050405020304" charset="0"/>
                <a:ea typeface="楷体_GB2312" pitchFamily="49" charset="-122"/>
              </a:rPr>
              <a:t>=</a:t>
            </a:r>
            <a:r>
              <a:rPr lang="en-US" altLang="zh-CN" sz="2800" i="1" dirty="0" err="1">
                <a:solidFill>
                  <a:srgbClr val="000066"/>
                </a:solidFill>
                <a:latin typeface="Times New Roman" panose="02020603050405020304" charset="0"/>
                <a:ea typeface="楷体_GB2312" pitchFamily="49" charset="-122"/>
              </a:rPr>
              <a:t>Q</a:t>
            </a:r>
            <a:r>
              <a:rPr lang="en-US" altLang="zh-CN" sz="2800" i="1" baseline="30000" dirty="0" err="1">
                <a:solidFill>
                  <a:srgbClr val="000066"/>
                </a:solidFill>
                <a:latin typeface="Times New Roman" panose="02020603050405020304" charset="0"/>
                <a:ea typeface="楷体_GB2312" pitchFamily="49" charset="-122"/>
              </a:rPr>
              <a:t>n</a:t>
            </a:r>
            <a:endParaRPr lang="en-US" altLang="zh-CN" sz="2800" i="1" baseline="30000" dirty="0" err="1">
              <a:solidFill>
                <a:srgbClr val="000066"/>
              </a:solidFill>
              <a:latin typeface="Times New Roman" panose="02020603050405020304" charset="0"/>
              <a:ea typeface="楷体_GB2312" pitchFamily="49" charset="-122"/>
            </a:endParaRPr>
          </a:p>
        </p:txBody>
      </p:sp>
      <p:sp>
        <p:nvSpPr>
          <p:cNvPr id="501765" name="文本框 501764"/>
          <p:cNvSpPr txBox="1"/>
          <p:nvPr/>
        </p:nvSpPr>
        <p:spPr>
          <a:xfrm>
            <a:off x="4308158" y="3999865"/>
            <a:ext cx="3211512" cy="521970"/>
          </a:xfrm>
          <a:prstGeom prst="rect">
            <a:avLst/>
          </a:prstGeom>
          <a:noFill/>
          <a:ln w="9525">
            <a:noFill/>
          </a:ln>
        </p:spPr>
        <p:txBody>
          <a:bodyPr>
            <a:spAutoFit/>
          </a:bodyPr>
          <a:p>
            <a:pPr algn="l"/>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S</a:t>
            </a:r>
            <a:r>
              <a:rPr lang="en-US" altLang="zh-CN" sz="2800">
                <a:solidFill>
                  <a:srgbClr val="000066"/>
                </a:solidFill>
                <a:latin typeface="Times New Roman" panose="02020603050405020304" charset="0"/>
                <a:ea typeface="楷体_GB2312" pitchFamily="49" charset="-122"/>
              </a:rPr>
              <a:t>=1</a:t>
            </a:r>
            <a:r>
              <a:rPr lang="zh-CN" altLang="en-US" sz="2800">
                <a:solidFill>
                  <a:srgbClr val="000066"/>
                </a:solidFill>
                <a:latin typeface="Times New Roman" panose="02020603050405020304" charset="0"/>
                <a:ea typeface="楷体_GB2312" pitchFamily="49" charset="-122"/>
              </a:rPr>
              <a:t>，</a:t>
            </a:r>
            <a:r>
              <a:rPr lang="en-US" altLang="zh-CN" sz="2800" i="1">
                <a:solidFill>
                  <a:srgbClr val="000066"/>
                </a:solidFill>
                <a:latin typeface="Times New Roman" panose="02020603050405020304" charset="0"/>
                <a:ea typeface="楷体_GB2312" pitchFamily="49" charset="-122"/>
              </a:rPr>
              <a:t>R</a:t>
            </a:r>
            <a:r>
              <a:rPr lang="en-US" altLang="zh-CN" sz="2800">
                <a:solidFill>
                  <a:srgbClr val="000066"/>
                </a:solidFill>
                <a:latin typeface="Times New Roman" panose="02020603050405020304" charset="0"/>
                <a:ea typeface="楷体_GB2312" pitchFamily="49" charset="-122"/>
              </a:rPr>
              <a:t>=0</a:t>
            </a:r>
            <a:r>
              <a:rPr lang="zh-CN" altLang="en-US" sz="2800">
                <a:solidFill>
                  <a:srgbClr val="000066"/>
                </a:solidFill>
                <a:latin typeface="Times New Roman" panose="02020603050405020304" charset="0"/>
                <a:ea typeface="楷体_GB2312" pitchFamily="49" charset="-122"/>
              </a:rPr>
              <a:t>：</a:t>
            </a:r>
            <a:r>
              <a:rPr lang="en-US" altLang="zh-CN" sz="2800" i="1">
                <a:solidFill>
                  <a:srgbClr val="000066"/>
                </a:solidFill>
                <a:latin typeface="Times New Roman" panose="02020603050405020304" charset="0"/>
                <a:ea typeface="楷体_GB2312" pitchFamily="49" charset="-122"/>
              </a:rPr>
              <a:t>Q</a:t>
            </a:r>
            <a:r>
              <a:rPr lang="en-US" altLang="zh-CN" sz="2800" i="1" baseline="30000">
                <a:solidFill>
                  <a:srgbClr val="000066"/>
                </a:solidFill>
                <a:latin typeface="Times New Roman" panose="02020603050405020304" charset="0"/>
                <a:ea typeface="楷体_GB2312" pitchFamily="49" charset="-122"/>
              </a:rPr>
              <a:t>n</a:t>
            </a:r>
            <a:r>
              <a:rPr lang="en-US" altLang="zh-CN" sz="2800" baseline="30000">
                <a:solidFill>
                  <a:srgbClr val="000066"/>
                </a:solidFill>
                <a:latin typeface="Times New Roman" panose="02020603050405020304" charset="0"/>
                <a:ea typeface="楷体_GB2312" pitchFamily="49" charset="-122"/>
              </a:rPr>
              <a:t>+1</a:t>
            </a:r>
            <a:r>
              <a:rPr lang="en-US" altLang="zh-CN" sz="2800">
                <a:solidFill>
                  <a:srgbClr val="000066"/>
                </a:solidFill>
                <a:latin typeface="Times New Roman" panose="02020603050405020304" charset="0"/>
                <a:ea typeface="楷体_GB2312" pitchFamily="49" charset="-122"/>
              </a:rPr>
              <a:t>=1</a:t>
            </a:r>
            <a:endParaRPr lang="en-US" altLang="zh-CN" sz="2800">
              <a:solidFill>
                <a:srgbClr val="000066"/>
              </a:solidFill>
              <a:latin typeface="Times New Roman" panose="02020603050405020304" charset="0"/>
              <a:ea typeface="楷体_GB2312" pitchFamily="49" charset="-122"/>
            </a:endParaRPr>
          </a:p>
        </p:txBody>
      </p:sp>
      <p:sp>
        <p:nvSpPr>
          <p:cNvPr id="501766" name="文本框 501765"/>
          <p:cNvSpPr txBox="1"/>
          <p:nvPr/>
        </p:nvSpPr>
        <p:spPr>
          <a:xfrm>
            <a:off x="4303713" y="4692015"/>
            <a:ext cx="4246562" cy="521970"/>
          </a:xfrm>
          <a:prstGeom prst="rect">
            <a:avLst/>
          </a:prstGeom>
          <a:noFill/>
          <a:ln w="9525">
            <a:noFill/>
          </a:ln>
        </p:spPr>
        <p:txBody>
          <a:bodyPr>
            <a:spAutoFit/>
          </a:bodyPr>
          <a:p>
            <a:pPr algn="l"/>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S</a:t>
            </a:r>
            <a:r>
              <a:rPr lang="en-US" altLang="zh-CN" sz="2800">
                <a:solidFill>
                  <a:srgbClr val="000066"/>
                </a:solidFill>
                <a:latin typeface="Times New Roman" panose="02020603050405020304" charset="0"/>
                <a:ea typeface="楷体_GB2312" pitchFamily="49" charset="-122"/>
              </a:rPr>
              <a:t>=0</a:t>
            </a:r>
            <a:r>
              <a:rPr lang="zh-CN" altLang="en-US" sz="2800">
                <a:solidFill>
                  <a:srgbClr val="000066"/>
                </a:solidFill>
                <a:latin typeface="Times New Roman" panose="02020603050405020304" charset="0"/>
                <a:ea typeface="楷体_GB2312" pitchFamily="49" charset="-122"/>
              </a:rPr>
              <a:t>，</a:t>
            </a:r>
            <a:r>
              <a:rPr lang="en-US" altLang="zh-CN" sz="2800" i="1">
                <a:solidFill>
                  <a:srgbClr val="000066"/>
                </a:solidFill>
                <a:latin typeface="Times New Roman" panose="02020603050405020304" charset="0"/>
                <a:ea typeface="楷体_GB2312" pitchFamily="49" charset="-122"/>
              </a:rPr>
              <a:t>R</a:t>
            </a:r>
            <a:r>
              <a:rPr lang="en-US" altLang="zh-CN" sz="2800">
                <a:solidFill>
                  <a:srgbClr val="000066"/>
                </a:solidFill>
                <a:latin typeface="Times New Roman" panose="02020603050405020304" charset="0"/>
                <a:ea typeface="楷体_GB2312" pitchFamily="49" charset="-122"/>
              </a:rPr>
              <a:t>=1</a:t>
            </a:r>
            <a:r>
              <a:rPr lang="zh-CN" altLang="en-US" sz="2800">
                <a:solidFill>
                  <a:srgbClr val="000066"/>
                </a:solidFill>
                <a:latin typeface="Times New Roman" panose="02020603050405020304" charset="0"/>
                <a:ea typeface="楷体_GB2312" pitchFamily="49" charset="-122"/>
              </a:rPr>
              <a:t>：</a:t>
            </a:r>
            <a:r>
              <a:rPr lang="en-US" altLang="zh-CN" sz="2800" i="1">
                <a:solidFill>
                  <a:srgbClr val="000066"/>
                </a:solidFill>
                <a:latin typeface="Times New Roman" panose="02020603050405020304" charset="0"/>
                <a:ea typeface="楷体_GB2312" pitchFamily="49" charset="-122"/>
              </a:rPr>
              <a:t>Q</a:t>
            </a:r>
            <a:r>
              <a:rPr lang="en-US" altLang="zh-CN" sz="2800" i="1" baseline="30000">
                <a:solidFill>
                  <a:srgbClr val="000066"/>
                </a:solidFill>
                <a:latin typeface="Times New Roman" panose="02020603050405020304" charset="0"/>
                <a:ea typeface="楷体_GB2312" pitchFamily="49" charset="-122"/>
              </a:rPr>
              <a:t>n</a:t>
            </a:r>
            <a:r>
              <a:rPr lang="en-US" altLang="zh-CN" sz="2800" baseline="30000">
                <a:solidFill>
                  <a:srgbClr val="000066"/>
                </a:solidFill>
                <a:latin typeface="Times New Roman" panose="02020603050405020304" charset="0"/>
                <a:ea typeface="楷体_GB2312" pitchFamily="49" charset="-122"/>
              </a:rPr>
              <a:t>+1</a:t>
            </a:r>
            <a:r>
              <a:rPr lang="en-US" altLang="zh-CN" sz="2800">
                <a:solidFill>
                  <a:srgbClr val="000066"/>
                </a:solidFill>
                <a:latin typeface="Times New Roman" panose="02020603050405020304" charset="0"/>
                <a:ea typeface="楷体_GB2312" pitchFamily="49" charset="-122"/>
              </a:rPr>
              <a:t>=0</a:t>
            </a:r>
            <a:endParaRPr lang="en-US" altLang="zh-CN" sz="2800">
              <a:solidFill>
                <a:srgbClr val="000066"/>
              </a:solidFill>
              <a:latin typeface="Times New Roman" panose="02020603050405020304" charset="0"/>
              <a:ea typeface="楷体_GB2312" pitchFamily="49" charset="-122"/>
            </a:endParaRPr>
          </a:p>
        </p:txBody>
      </p:sp>
      <p:sp>
        <p:nvSpPr>
          <p:cNvPr id="501767" name="文本框 501766"/>
          <p:cNvSpPr txBox="1"/>
          <p:nvPr/>
        </p:nvSpPr>
        <p:spPr>
          <a:xfrm>
            <a:off x="4303713" y="5347970"/>
            <a:ext cx="4246562" cy="521970"/>
          </a:xfrm>
          <a:prstGeom prst="rect">
            <a:avLst/>
          </a:prstGeom>
          <a:noFill/>
          <a:ln w="9525">
            <a:noFill/>
          </a:ln>
        </p:spPr>
        <p:txBody>
          <a:bodyPr>
            <a:spAutoFit/>
          </a:bodyPr>
          <a:p>
            <a:pPr algn="l"/>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S</a:t>
            </a:r>
            <a:r>
              <a:rPr lang="en-US" altLang="zh-CN" sz="2800">
                <a:solidFill>
                  <a:srgbClr val="000066"/>
                </a:solidFill>
                <a:latin typeface="Times New Roman" panose="02020603050405020304" charset="0"/>
                <a:ea typeface="楷体_GB2312" pitchFamily="49" charset="-122"/>
              </a:rPr>
              <a:t>=1</a:t>
            </a:r>
            <a:r>
              <a:rPr lang="zh-CN" altLang="en-US" sz="2800">
                <a:solidFill>
                  <a:srgbClr val="000066"/>
                </a:solidFill>
                <a:latin typeface="Times New Roman" panose="02020603050405020304" charset="0"/>
                <a:ea typeface="楷体_GB2312" pitchFamily="49" charset="-122"/>
              </a:rPr>
              <a:t>，</a:t>
            </a:r>
            <a:r>
              <a:rPr lang="en-US" altLang="zh-CN" sz="2800" i="1">
                <a:solidFill>
                  <a:srgbClr val="000066"/>
                </a:solidFill>
                <a:latin typeface="Times New Roman" panose="02020603050405020304" charset="0"/>
                <a:ea typeface="楷体_GB2312" pitchFamily="49" charset="-122"/>
              </a:rPr>
              <a:t>R</a:t>
            </a:r>
            <a:r>
              <a:rPr lang="en-US" altLang="zh-CN" sz="2800">
                <a:solidFill>
                  <a:srgbClr val="000066"/>
                </a:solidFill>
                <a:latin typeface="Times New Roman" panose="02020603050405020304" charset="0"/>
                <a:ea typeface="楷体_GB2312" pitchFamily="49" charset="-122"/>
              </a:rPr>
              <a:t>=1</a:t>
            </a:r>
            <a:r>
              <a:rPr lang="zh-CN" altLang="en-US" sz="2800">
                <a:solidFill>
                  <a:srgbClr val="000066"/>
                </a:solidFill>
                <a:latin typeface="Times New Roman" panose="02020603050405020304" charset="0"/>
                <a:ea typeface="楷体_GB2312" pitchFamily="49" charset="-122"/>
              </a:rPr>
              <a:t>：</a:t>
            </a:r>
            <a:r>
              <a:rPr lang="en-US" altLang="zh-CN" sz="2800" i="1">
                <a:solidFill>
                  <a:srgbClr val="000066"/>
                </a:solidFill>
                <a:latin typeface="Times New Roman" panose="02020603050405020304" charset="0"/>
                <a:ea typeface="楷体_GB2312" pitchFamily="49" charset="-122"/>
              </a:rPr>
              <a:t>Q</a:t>
            </a:r>
            <a:r>
              <a:rPr lang="en-US" altLang="zh-CN" sz="2800" baseline="30000">
                <a:solidFill>
                  <a:srgbClr val="000066"/>
                </a:solidFill>
                <a:latin typeface="Times New Roman" panose="02020603050405020304" charset="0"/>
                <a:ea typeface="楷体_GB2312" pitchFamily="49" charset="-122"/>
              </a:rPr>
              <a:t>n+1</a:t>
            </a:r>
            <a:r>
              <a:rPr lang="en-US" altLang="zh-CN" sz="2800">
                <a:solidFill>
                  <a:srgbClr val="000066"/>
                </a:solidFill>
                <a:latin typeface="Times New Roman" panose="02020603050405020304" charset="0"/>
                <a:ea typeface="楷体_GB2312" pitchFamily="49" charset="-122"/>
              </a:rPr>
              <a:t>= Ф</a:t>
            </a:r>
            <a:endParaRPr lang="en-US" altLang="zh-CN" sz="2800">
              <a:solidFill>
                <a:srgbClr val="000066"/>
              </a:solidFill>
              <a:latin typeface="Times New Roman" panose="02020603050405020304" charset="0"/>
              <a:ea typeface="楷体_GB2312" pitchFamily="49" charset="-122"/>
            </a:endParaRPr>
          </a:p>
        </p:txBody>
      </p:sp>
      <p:sp>
        <p:nvSpPr>
          <p:cNvPr id="501768" name="文本框 501767"/>
          <p:cNvSpPr txBox="1"/>
          <p:nvPr/>
        </p:nvSpPr>
        <p:spPr>
          <a:xfrm>
            <a:off x="4308158" y="2068195"/>
            <a:ext cx="1371600" cy="521970"/>
          </a:xfrm>
          <a:prstGeom prst="rect">
            <a:avLst/>
          </a:prstGeom>
          <a:noFill/>
          <a:ln w="9525">
            <a:noFill/>
          </a:ln>
        </p:spPr>
        <p:txBody>
          <a:bodyPr wrap="none" anchor="t">
            <a:spAutoFit/>
          </a:bodyPr>
          <a:p>
            <a:pPr algn="l"/>
            <a:r>
              <a:rPr lang="en-US" altLang="zh-CN" sz="2800" i="1">
                <a:solidFill>
                  <a:srgbClr val="000066"/>
                </a:solidFill>
                <a:latin typeface="Times New Roman" panose="02020603050405020304" charset="0"/>
                <a:ea typeface="楷体_GB2312" pitchFamily="49" charset="-122"/>
              </a:rPr>
              <a:t>CP</a:t>
            </a:r>
            <a:r>
              <a:rPr lang="en-US" altLang="zh-CN" sz="2800">
                <a:solidFill>
                  <a:srgbClr val="000066"/>
                </a:solidFill>
                <a:latin typeface="Times New Roman" panose="02020603050405020304" charset="0"/>
                <a:ea typeface="楷体_GB2312" pitchFamily="49" charset="-122"/>
              </a:rPr>
              <a:t>=1</a:t>
            </a:r>
            <a:r>
              <a:rPr lang="zh-CN" altLang="en-US" sz="2800">
                <a:solidFill>
                  <a:srgbClr val="000066"/>
                </a:solidFill>
                <a:latin typeface="Times New Roman" panose="02020603050405020304" charset="0"/>
                <a:ea typeface="楷体_GB2312" pitchFamily="49" charset="-122"/>
              </a:rPr>
              <a:t>：</a:t>
            </a:r>
            <a:endParaRPr lang="zh-CN" altLang="en-US" sz="2800">
              <a:solidFill>
                <a:srgbClr val="000066"/>
              </a:solidFill>
              <a:latin typeface="Times New Roman" panose="02020603050405020304" charset="0"/>
              <a:ea typeface="楷体_GB2312" pitchFamily="49" charset="-122"/>
            </a:endParaRPr>
          </a:p>
        </p:txBody>
      </p:sp>
      <p:sp>
        <p:nvSpPr>
          <p:cNvPr id="501769" name="文本框 501768"/>
          <p:cNvSpPr txBox="1"/>
          <p:nvPr/>
        </p:nvSpPr>
        <p:spPr>
          <a:xfrm>
            <a:off x="4308158" y="1269683"/>
            <a:ext cx="1220787" cy="521970"/>
          </a:xfrm>
          <a:prstGeom prst="rect">
            <a:avLst/>
          </a:prstGeom>
          <a:noFill/>
          <a:ln w="9525">
            <a:noFill/>
          </a:ln>
        </p:spPr>
        <p:txBody>
          <a:bodyPr>
            <a:spAutoFit/>
          </a:bodyPr>
          <a:p>
            <a:pPr algn="l"/>
            <a:r>
              <a:rPr lang="en-US" altLang="zh-CN" sz="2800" i="1">
                <a:solidFill>
                  <a:srgbClr val="000066"/>
                </a:solidFill>
                <a:latin typeface="Times New Roman" panose="02020603050405020304" charset="0"/>
                <a:ea typeface="楷体_GB2312" pitchFamily="49" charset="-122"/>
              </a:rPr>
              <a:t>CP</a:t>
            </a:r>
            <a:r>
              <a:rPr lang="en-US" altLang="zh-CN" sz="2800">
                <a:solidFill>
                  <a:srgbClr val="000066"/>
                </a:solidFill>
                <a:latin typeface="Times New Roman" panose="02020603050405020304" charset="0"/>
                <a:ea typeface="楷体_GB2312" pitchFamily="49" charset="-122"/>
              </a:rPr>
              <a:t>=0</a:t>
            </a:r>
            <a:r>
              <a:rPr lang="zh-CN" altLang="en-US" sz="2800">
                <a:solidFill>
                  <a:srgbClr val="000066"/>
                </a:solidFill>
                <a:latin typeface="Times New Roman" panose="02020603050405020304" charset="0"/>
                <a:ea typeface="楷体_GB2312" pitchFamily="49" charset="-122"/>
              </a:rPr>
              <a:t>：</a:t>
            </a:r>
            <a:endParaRPr lang="zh-CN" altLang="en-US" sz="2800">
              <a:solidFill>
                <a:srgbClr val="000066"/>
              </a:solidFill>
              <a:latin typeface="Times New Roman" panose="02020603050405020304" charset="0"/>
              <a:ea typeface="楷体_GB2312" pitchFamily="49" charset="-122"/>
            </a:endParaRPr>
          </a:p>
        </p:txBody>
      </p:sp>
      <p:sp>
        <p:nvSpPr>
          <p:cNvPr id="501770" name="文本框 501769"/>
          <p:cNvSpPr txBox="1"/>
          <p:nvPr/>
        </p:nvSpPr>
        <p:spPr>
          <a:xfrm>
            <a:off x="5463858" y="2644458"/>
            <a:ext cx="2685415" cy="521970"/>
          </a:xfrm>
          <a:prstGeom prst="rect">
            <a:avLst/>
          </a:prstGeom>
          <a:noFill/>
          <a:ln w="9525">
            <a:noFill/>
          </a:ln>
        </p:spPr>
        <p:txBody>
          <a:bodyPr wrap="none" anchor="t">
            <a:spAutoFit/>
          </a:bodyPr>
          <a:p>
            <a:pPr algn="l"/>
            <a:r>
              <a:rPr lang="zh-CN" altLang="en-US" sz="2800" b="1" dirty="0">
                <a:solidFill>
                  <a:srgbClr val="000066"/>
                </a:solidFill>
                <a:latin typeface="Times New Roman" panose="02020603050405020304" charset="0"/>
                <a:ea typeface="楷体_GB2312" pitchFamily="49" charset="-122"/>
              </a:rPr>
              <a:t>状态发生变化。 </a:t>
            </a:r>
            <a:endParaRPr lang="zh-CN" altLang="en-US" sz="2800" b="1" dirty="0">
              <a:solidFill>
                <a:srgbClr val="000066"/>
              </a:solidFill>
              <a:latin typeface="Times New Roman" panose="02020603050405020304" charset="0"/>
              <a:ea typeface="楷体_GB2312" pitchFamily="49" charset="-122"/>
            </a:endParaRPr>
          </a:p>
        </p:txBody>
      </p:sp>
      <p:sp>
        <p:nvSpPr>
          <p:cNvPr id="501771" name="矩形 501770"/>
          <p:cNvSpPr/>
          <p:nvPr/>
        </p:nvSpPr>
        <p:spPr>
          <a:xfrm>
            <a:off x="5132070" y="1279208"/>
            <a:ext cx="2181225" cy="521970"/>
          </a:xfrm>
          <a:prstGeom prst="rect">
            <a:avLst/>
          </a:prstGeom>
          <a:noFill/>
          <a:ln w="38100">
            <a:noFill/>
          </a:ln>
        </p:spPr>
        <p:txBody>
          <a:bodyPr>
            <a:spAutoFit/>
          </a:bodyPr>
          <a:p>
            <a:r>
              <a:rPr lang="en-US" altLang="zh-CN" sz="2800" b="1" dirty="0">
                <a:solidFill>
                  <a:srgbClr val="000066"/>
                </a:solidFill>
                <a:latin typeface="Times New Roman" panose="02020603050405020304" charset="0"/>
                <a:ea typeface="楷体_GB2312" pitchFamily="49" charset="-122"/>
              </a:rPr>
              <a:t>   </a:t>
            </a:r>
            <a:r>
              <a:rPr lang="zh-CN" altLang="en-US" sz="2800" b="1" dirty="0">
                <a:solidFill>
                  <a:srgbClr val="000066"/>
                </a:solidFill>
                <a:latin typeface="Times New Roman" panose="02020603050405020304" charset="0"/>
                <a:ea typeface="楷体_GB2312" pitchFamily="49" charset="-122"/>
              </a:rPr>
              <a:t>状态不变</a:t>
            </a:r>
            <a:endParaRPr lang="zh-CN" altLang="en-US" sz="2800" b="1" dirty="0">
              <a:solidFill>
                <a:srgbClr val="000066"/>
              </a:solidFill>
              <a:latin typeface="Times New Roman" panose="02020603050405020304" charset="0"/>
              <a:ea typeface="楷体_GB2312" pitchFamily="49" charset="-122"/>
            </a:endParaRPr>
          </a:p>
        </p:txBody>
      </p:sp>
      <p:grpSp>
        <p:nvGrpSpPr>
          <p:cNvPr id="501772" name="组合 501771"/>
          <p:cNvGrpSpPr/>
          <p:nvPr/>
        </p:nvGrpSpPr>
        <p:grpSpPr>
          <a:xfrm>
            <a:off x="5494020" y="2058670"/>
            <a:ext cx="2416176" cy="522288"/>
            <a:chOff x="1247" y="1911"/>
            <a:chExt cx="1522" cy="329"/>
          </a:xfrm>
        </p:grpSpPr>
        <p:sp>
          <p:nvSpPr>
            <p:cNvPr id="501773" name="矩形 501772"/>
            <p:cNvSpPr/>
            <p:nvPr/>
          </p:nvSpPr>
          <p:spPr>
            <a:xfrm>
              <a:off x="1247" y="1911"/>
              <a:ext cx="749" cy="329"/>
            </a:xfrm>
            <a:prstGeom prst="rect">
              <a:avLst/>
            </a:prstGeom>
            <a:noFill/>
            <a:ln w="9525">
              <a:noFill/>
            </a:ln>
          </p:spPr>
          <p:txBody>
            <a:bodyPr>
              <a:spAutoFit/>
            </a:bodyPr>
            <a:p>
              <a:pPr algn="l"/>
              <a:r>
                <a:rPr lang="en-US" altLang="zh-CN" sz="2800" i="1">
                  <a:solidFill>
                    <a:srgbClr val="000066"/>
                  </a:solidFill>
                  <a:latin typeface="Times New Roman" panose="02020603050405020304" charset="0"/>
                  <a:ea typeface="楷体_GB2312" pitchFamily="49" charset="-122"/>
                </a:rPr>
                <a:t>Q</a:t>
              </a:r>
              <a:r>
                <a:rPr lang="en-US" altLang="zh-CN" sz="2800" baseline="-25000">
                  <a:solidFill>
                    <a:srgbClr val="000066"/>
                  </a:solidFill>
                  <a:latin typeface="Times New Roman" panose="02020603050405020304" charset="0"/>
                  <a:ea typeface="楷体_GB2312" pitchFamily="49" charset="-122"/>
                </a:rPr>
                <a:t>3 </a:t>
              </a:r>
              <a:r>
                <a:rPr lang="en-US" altLang="zh-CN" sz="2800" i="1">
                  <a:solidFill>
                    <a:srgbClr val="000066"/>
                  </a:solidFill>
                  <a:latin typeface="Times New Roman" panose="02020603050405020304" charset="0"/>
                  <a:ea typeface="楷体_GB2312" pitchFamily="49" charset="-122"/>
                </a:rPr>
                <a:t>= R   </a:t>
              </a:r>
              <a:endParaRPr lang="en-US" altLang="zh-CN" sz="2800" i="1">
                <a:solidFill>
                  <a:srgbClr val="000066"/>
                </a:solidFill>
                <a:latin typeface="Times New Roman" panose="02020603050405020304" charset="0"/>
                <a:ea typeface="楷体_GB2312" pitchFamily="49" charset="-122"/>
              </a:endParaRPr>
            </a:p>
          </p:txBody>
        </p:sp>
        <p:sp>
          <p:nvSpPr>
            <p:cNvPr id="501774" name="矩形 501773"/>
            <p:cNvSpPr/>
            <p:nvPr/>
          </p:nvSpPr>
          <p:spPr>
            <a:xfrm>
              <a:off x="2064" y="1911"/>
              <a:ext cx="705" cy="329"/>
            </a:xfrm>
            <a:prstGeom prst="rect">
              <a:avLst/>
            </a:prstGeom>
            <a:noFill/>
            <a:ln w="9525">
              <a:noFill/>
            </a:ln>
          </p:spPr>
          <p:txBody>
            <a:bodyPr wrap="none" anchor="t">
              <a:spAutoFit/>
            </a:bodyPr>
            <a:p>
              <a:pPr algn="l"/>
              <a:r>
                <a:rPr lang="en-US" altLang="zh-CN" sz="2800" i="1">
                  <a:solidFill>
                    <a:srgbClr val="000066"/>
                  </a:solidFill>
                  <a:latin typeface="Times New Roman" panose="02020603050405020304" charset="0"/>
                  <a:ea typeface="楷体_GB2312" pitchFamily="49" charset="-122"/>
                </a:rPr>
                <a:t>Q</a:t>
              </a:r>
              <a:r>
                <a:rPr lang="en-US" altLang="zh-CN" sz="2800" baseline="-25000">
                  <a:solidFill>
                    <a:srgbClr val="000066"/>
                  </a:solidFill>
                  <a:latin typeface="Times New Roman" panose="02020603050405020304" charset="0"/>
                  <a:ea typeface="楷体_GB2312" pitchFamily="49" charset="-122"/>
                </a:rPr>
                <a:t>4 </a:t>
              </a:r>
              <a:r>
                <a:rPr lang="en-US" altLang="zh-CN" sz="2800" i="1">
                  <a:solidFill>
                    <a:srgbClr val="000066"/>
                  </a:solidFill>
                  <a:latin typeface="Times New Roman" panose="02020603050405020304" charset="0"/>
                  <a:ea typeface="楷体_GB2312" pitchFamily="49" charset="-122"/>
                </a:rPr>
                <a:t>= S</a:t>
              </a:r>
              <a:endParaRPr lang="en-US" altLang="zh-CN" sz="2800" i="1">
                <a:solidFill>
                  <a:srgbClr val="000066"/>
                </a:solidFill>
                <a:latin typeface="Times New Roman" panose="02020603050405020304" charset="0"/>
                <a:ea typeface="楷体_GB2312" pitchFamily="49" charset="-122"/>
              </a:endParaRPr>
            </a:p>
          </p:txBody>
        </p:sp>
      </p:grpSp>
      <p:sp>
        <p:nvSpPr>
          <p:cNvPr id="3" name="矩形 2"/>
          <p:cNvSpPr/>
          <p:nvPr/>
        </p:nvSpPr>
        <p:spPr>
          <a:xfrm>
            <a:off x="2734628" y="3712210"/>
            <a:ext cx="448945" cy="398780"/>
          </a:xfrm>
          <a:prstGeom prst="rect">
            <a:avLst/>
          </a:prstGeom>
          <a:noFill/>
          <a:ln w="9525">
            <a:noFill/>
          </a:ln>
        </p:spPr>
        <p:txBody>
          <a:bodyPr wrap="none" anchor="t">
            <a:spAutoFit/>
          </a:bodyPr>
          <a:p>
            <a:pPr algn="l"/>
            <a:r>
              <a:rPr lang="en-US" altLang="zh-CN" sz="2000" i="1">
                <a:solidFill>
                  <a:schemeClr val="accent6">
                    <a:lumMod val="60000"/>
                    <a:lumOff val="40000"/>
                  </a:schemeClr>
                </a:solidFill>
                <a:latin typeface="Times New Roman" panose="02020603050405020304" charset="0"/>
                <a:ea typeface="楷体_GB2312" pitchFamily="49" charset="-122"/>
              </a:rPr>
              <a:t>Q</a:t>
            </a:r>
            <a:r>
              <a:rPr lang="en-US" altLang="zh-CN" sz="2000" baseline="-25000">
                <a:solidFill>
                  <a:schemeClr val="accent6">
                    <a:lumMod val="60000"/>
                    <a:lumOff val="40000"/>
                  </a:schemeClr>
                </a:solidFill>
                <a:latin typeface="Times New Roman" panose="02020603050405020304" charset="0"/>
                <a:ea typeface="楷体_GB2312" pitchFamily="49" charset="-122"/>
              </a:rPr>
              <a:t>4</a:t>
            </a:r>
            <a:r>
              <a:rPr lang="en-US" altLang="zh-CN" sz="2000" baseline="-25000">
                <a:solidFill>
                  <a:srgbClr val="000066"/>
                </a:solidFill>
                <a:latin typeface="Times New Roman" panose="02020603050405020304" charset="0"/>
                <a:ea typeface="楷体_GB2312" pitchFamily="49" charset="-122"/>
              </a:rPr>
              <a:t> </a:t>
            </a:r>
            <a:endParaRPr lang="en-US" altLang="zh-CN" sz="2000" i="1" baseline="-25000">
              <a:solidFill>
                <a:srgbClr val="000066"/>
              </a:solidFill>
              <a:latin typeface="Times New Roman" panose="02020603050405020304" charset="0"/>
              <a:ea typeface="楷体_GB2312" pitchFamily="49" charset="-122"/>
            </a:endParaRPr>
          </a:p>
        </p:txBody>
      </p:sp>
      <p:sp>
        <p:nvSpPr>
          <p:cNvPr id="4" name="矩形 3"/>
          <p:cNvSpPr/>
          <p:nvPr/>
        </p:nvSpPr>
        <p:spPr>
          <a:xfrm>
            <a:off x="786448" y="3712210"/>
            <a:ext cx="448945" cy="398780"/>
          </a:xfrm>
          <a:prstGeom prst="rect">
            <a:avLst/>
          </a:prstGeom>
          <a:noFill/>
          <a:ln w="9525">
            <a:noFill/>
          </a:ln>
        </p:spPr>
        <p:txBody>
          <a:bodyPr wrap="none" anchor="t">
            <a:spAutoFit/>
          </a:bodyPr>
          <a:p>
            <a:pPr algn="l"/>
            <a:r>
              <a:rPr lang="en-US" altLang="zh-CN" sz="2000" i="1">
                <a:solidFill>
                  <a:schemeClr val="accent6">
                    <a:lumMod val="60000"/>
                    <a:lumOff val="40000"/>
                  </a:schemeClr>
                </a:solidFill>
                <a:latin typeface="Times New Roman" panose="02020603050405020304" charset="0"/>
                <a:ea typeface="楷体_GB2312" pitchFamily="49" charset="-122"/>
              </a:rPr>
              <a:t>Q</a:t>
            </a:r>
            <a:r>
              <a:rPr lang="en-US" altLang="zh-CN" sz="2000" baseline="-25000">
                <a:solidFill>
                  <a:schemeClr val="accent6">
                    <a:lumMod val="60000"/>
                    <a:lumOff val="40000"/>
                  </a:schemeClr>
                </a:solidFill>
                <a:latin typeface="Times New Roman" panose="02020603050405020304" charset="0"/>
                <a:ea typeface="楷体_GB2312" pitchFamily="49" charset="-122"/>
              </a:rPr>
              <a:t>3</a:t>
            </a:r>
            <a:r>
              <a:rPr lang="en-US" altLang="zh-CN" sz="2000" baseline="-25000">
                <a:solidFill>
                  <a:srgbClr val="000066"/>
                </a:solidFill>
                <a:latin typeface="Times New Roman" panose="02020603050405020304" charset="0"/>
                <a:ea typeface="楷体_GB2312" pitchFamily="49" charset="-122"/>
              </a:rPr>
              <a:t> </a:t>
            </a:r>
            <a:endParaRPr lang="en-US" altLang="zh-CN" sz="2000" i="1" baseline="-25000">
              <a:solidFill>
                <a:srgbClr val="000066"/>
              </a:solidFill>
              <a:latin typeface="Times New Roman" panose="02020603050405020304" charset="0"/>
              <a:ea typeface="楷体_GB2312" pitchFamily="49" charset="-122"/>
            </a:endParaRPr>
          </a:p>
        </p:txBody>
      </p:sp>
      <p:cxnSp>
        <p:nvCxnSpPr>
          <p:cNvPr id="6" name="直接连接符 5"/>
          <p:cNvCxnSpPr/>
          <p:nvPr/>
        </p:nvCxnSpPr>
        <p:spPr>
          <a:xfrm>
            <a:off x="6362700" y="2164080"/>
            <a:ext cx="214630" cy="0"/>
          </a:xfrm>
          <a:prstGeom prst="line">
            <a:avLst/>
          </a:prstGeom>
          <a:ln w="158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7658735" y="2164080"/>
            <a:ext cx="214630" cy="0"/>
          </a:xfrm>
          <a:prstGeom prst="line">
            <a:avLst/>
          </a:prstGeom>
          <a:noFill/>
          <a:ln w="15875" cap="flat" cmpd="sng" algn="ctr">
            <a:solidFill>
              <a:srgbClr val="000000"/>
            </a:solidFill>
            <a:prstDash val="solid"/>
          </a:ln>
          <a:effectLst/>
        </p:spPr>
        <p:style>
          <a:lnRef idx="1">
            <a:schemeClr val="accent1"/>
          </a:lnRef>
          <a:fillRef idx="0">
            <a:schemeClr val="accent1"/>
          </a:fillRef>
          <a:effectRef idx="0">
            <a:schemeClr val="accent1"/>
          </a:effectRef>
          <a:fontRef idx="minor">
            <a:schemeClr val="tx1"/>
          </a:fontRef>
        </p:style>
      </p:cxn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69"/>
                                        </p:tgtEl>
                                        <p:attrNameLst>
                                          <p:attrName>style.visibility</p:attrName>
                                        </p:attrNameLst>
                                      </p:cBhvr>
                                      <p:to>
                                        <p:strVal val="visible"/>
                                      </p:to>
                                    </p:set>
                                    <p:animEffect transition="in" filter="blinds(horizontal)">
                                      <p:cBhvr>
                                        <p:cTn id="7" dur="500"/>
                                        <p:tgtEl>
                                          <p:spTgt spid="50176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5017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01768"/>
                                        </p:tgtEl>
                                        <p:attrNameLst>
                                          <p:attrName>style.visibility</p:attrName>
                                        </p:attrNameLst>
                                      </p:cBhvr>
                                      <p:to>
                                        <p:strVal val="visible"/>
                                      </p:to>
                                    </p:set>
                                    <p:animEffect transition="in" filter="blinds(horizontal)">
                                      <p:cBhvr>
                                        <p:cTn id="15" dur="500"/>
                                        <p:tgtEl>
                                          <p:spTgt spid="501768"/>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nodeType="clickEffect">
                                  <p:stCondLst>
                                    <p:cond delay="0"/>
                                  </p:stCondLst>
                                  <p:childTnLst>
                                    <p:set>
                                      <p:cBhvr>
                                        <p:cTn id="19" dur="1" fill="hold">
                                          <p:stCondLst>
                                            <p:cond delay="0"/>
                                          </p:stCondLst>
                                        </p:cTn>
                                        <p:tgtEl>
                                          <p:spTgt spid="501772"/>
                                        </p:tgtEl>
                                        <p:attrNameLst>
                                          <p:attrName>style.visibility</p:attrName>
                                        </p:attrNameLst>
                                      </p:cBhvr>
                                      <p:to>
                                        <p:strVal val="visible"/>
                                      </p:to>
                                    </p:set>
                                    <p:animEffect transition="in" filter="strips(downRight)">
                                      <p:cBhvr>
                                        <p:cTn id="20" dur="500"/>
                                        <p:tgtEl>
                                          <p:spTgt spid="501772"/>
                                        </p:tgtEl>
                                      </p:cBhvr>
                                    </p:animEffec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par>
                          <p:cTn id="27" fill="hold">
                            <p:stCondLst>
                              <p:cond delay="500"/>
                            </p:stCondLst>
                            <p:childTnLst>
                              <p:par>
                                <p:cTn id="28" presetID="3" presetClass="entr" presetSubtype="10" fill="hold" grpId="0" nodeType="afterEffect">
                                  <p:stCondLst>
                                    <p:cond delay="500"/>
                                  </p:stCondLst>
                                  <p:childTnLst>
                                    <p:set>
                                      <p:cBhvr>
                                        <p:cTn id="29" dur="1" fill="hold">
                                          <p:stCondLst>
                                            <p:cond delay="0"/>
                                          </p:stCondLst>
                                        </p:cTn>
                                        <p:tgtEl>
                                          <p:spTgt spid="501770"/>
                                        </p:tgtEl>
                                        <p:attrNameLst>
                                          <p:attrName>style.visibility</p:attrName>
                                        </p:attrNameLst>
                                      </p:cBhvr>
                                      <p:to>
                                        <p:strVal val="visible"/>
                                      </p:to>
                                    </p:set>
                                    <p:animEffect transition="in" filter="blinds(horizontal)">
                                      <p:cBhvr>
                                        <p:cTn id="30" dur="500"/>
                                        <p:tgtEl>
                                          <p:spTgt spid="501770"/>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501764"/>
                                        </p:tgtEl>
                                        <p:attrNameLst>
                                          <p:attrName>style.visibility</p:attrName>
                                        </p:attrNameLst>
                                      </p:cBhvr>
                                      <p:to>
                                        <p:strVal val="visible"/>
                                      </p:to>
                                    </p:set>
                                    <p:animEffect transition="in" filter="strips(downRight)">
                                      <p:cBhvr>
                                        <p:cTn id="35" dur="500"/>
                                        <p:tgtEl>
                                          <p:spTgt spid="501764"/>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501765"/>
                                        </p:tgtEl>
                                        <p:attrNameLst>
                                          <p:attrName>style.visibility</p:attrName>
                                        </p:attrNameLst>
                                      </p:cBhvr>
                                      <p:to>
                                        <p:strVal val="visible"/>
                                      </p:to>
                                    </p:set>
                                    <p:animEffect transition="in" filter="strips(downRight)">
                                      <p:cBhvr>
                                        <p:cTn id="40" dur="500"/>
                                        <p:tgtEl>
                                          <p:spTgt spid="501765"/>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501766"/>
                                        </p:tgtEl>
                                        <p:attrNameLst>
                                          <p:attrName>style.visibility</p:attrName>
                                        </p:attrNameLst>
                                      </p:cBhvr>
                                      <p:to>
                                        <p:strVal val="visible"/>
                                      </p:to>
                                    </p:set>
                                    <p:animEffect transition="in" filter="strips(downRight)">
                                      <p:cBhvr>
                                        <p:cTn id="45" dur="500"/>
                                        <p:tgtEl>
                                          <p:spTgt spid="501766"/>
                                        </p:tgtEl>
                                      </p:cBhvr>
                                    </p:animEffect>
                                  </p:childTnLst>
                                </p:cTn>
                              </p:par>
                            </p:childTnLst>
                          </p:cTn>
                        </p:par>
                      </p:childTnLst>
                    </p:cTn>
                  </p:par>
                  <p:par>
                    <p:cTn id="46" fill="hold">
                      <p:stCondLst>
                        <p:cond delay="indefinite"/>
                      </p:stCondLst>
                      <p:childTnLst>
                        <p:par>
                          <p:cTn id="47" fill="hold">
                            <p:stCondLst>
                              <p:cond delay="0"/>
                            </p:stCondLst>
                            <p:childTnLst>
                              <p:par>
                                <p:cTn id="48" presetID="18" presetClass="entr" presetSubtype="6" fill="hold" grpId="0" nodeType="clickEffect">
                                  <p:stCondLst>
                                    <p:cond delay="0"/>
                                  </p:stCondLst>
                                  <p:childTnLst>
                                    <p:set>
                                      <p:cBhvr>
                                        <p:cTn id="49" dur="1" fill="hold">
                                          <p:stCondLst>
                                            <p:cond delay="0"/>
                                          </p:stCondLst>
                                        </p:cTn>
                                        <p:tgtEl>
                                          <p:spTgt spid="501767"/>
                                        </p:tgtEl>
                                        <p:attrNameLst>
                                          <p:attrName>style.visibility</p:attrName>
                                        </p:attrNameLst>
                                      </p:cBhvr>
                                      <p:to>
                                        <p:strVal val="visible"/>
                                      </p:to>
                                    </p:set>
                                    <p:animEffect transition="in" filter="strips(downRight)">
                                      <p:cBhvr>
                                        <p:cTn id="50" dur="500"/>
                                        <p:tgtEl>
                                          <p:spTgt spid="501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4" grpId="0"/>
      <p:bldP spid="501765" grpId="0"/>
      <p:bldP spid="501766" grpId="0"/>
      <p:bldP spid="501767" grpId="0"/>
      <p:bldP spid="501768" grpId="0"/>
      <p:bldP spid="501769" grpId="0"/>
      <p:bldP spid="501770" grpId="0"/>
      <p:bldP spid="50177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a:stretch>
            <a:fillRect/>
          </a:stretch>
        </p:blipFill>
        <p:spPr>
          <a:xfrm>
            <a:off x="300355" y="1399540"/>
            <a:ext cx="8843645" cy="4540250"/>
          </a:xfrm>
          <a:prstGeom prst="rect">
            <a:avLst/>
          </a:prstGeom>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707390" y="1335405"/>
            <a:ext cx="6205855" cy="460375"/>
          </a:xfrm>
          <a:prstGeom prst="rect">
            <a:avLst/>
          </a:prstGeom>
          <a:noFill/>
          <a:ln w="9525">
            <a:noFill/>
          </a:ln>
        </p:spPr>
        <p:txBody>
          <a:bodyPr wrap="square">
            <a:spAutoFit/>
          </a:bodyPr>
          <a:p>
            <a:pPr indent="255270"/>
            <a:r>
              <a:rPr lang="zh-CN" altLang="en-US" sz="2400" b="1">
                <a:ea typeface="宋体" panose="02010600030101010101" pitchFamily="2" charset="-122"/>
              </a:rPr>
              <a:t>(3) </a:t>
            </a:r>
            <a:r>
              <a:rPr lang="zh-CN" altLang="en-US" sz="2400" b="1">
                <a:sym typeface="+mn-ea"/>
              </a:rPr>
              <a:t>钟控RS锁存器存在的问题—空翻</a:t>
            </a:r>
            <a:endParaRPr lang="zh-CN" altLang="en-US" sz="2400" b="1"/>
          </a:p>
        </p:txBody>
      </p:sp>
      <p:pic>
        <p:nvPicPr>
          <p:cNvPr id="9344" name="图片 2781"/>
          <p:cNvPicPr>
            <a:picLocks noChangeAspect="1"/>
          </p:cNvPicPr>
          <p:nvPr/>
        </p:nvPicPr>
        <p:blipFill>
          <a:blip r:embed="rId1"/>
          <a:stretch>
            <a:fillRect/>
          </a:stretch>
        </p:blipFill>
        <p:spPr>
          <a:xfrm>
            <a:off x="760730" y="2211705"/>
            <a:ext cx="3638550" cy="2433955"/>
          </a:xfrm>
          <a:prstGeom prst="rect">
            <a:avLst/>
          </a:prstGeom>
          <a:noFill/>
          <a:ln>
            <a:noFill/>
          </a:ln>
        </p:spPr>
      </p:pic>
      <p:sp>
        <p:nvSpPr>
          <p:cNvPr id="3" name="文本框 2"/>
          <p:cNvSpPr txBox="1"/>
          <p:nvPr/>
        </p:nvSpPr>
        <p:spPr>
          <a:xfrm>
            <a:off x="1228090" y="4872990"/>
            <a:ext cx="3980180"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5-6 </a:t>
            </a:r>
            <a:r>
              <a:rPr lang="zh-CN" sz="1600">
                <a:latin typeface="Times New Roman" panose="02020603050405020304" charset="0"/>
                <a:ea typeface="宋体" panose="02010600030101010101" pitchFamily="2" charset="-122"/>
              </a:rPr>
              <a:t>钟控</a:t>
            </a:r>
            <a:r>
              <a:rPr lang="en-US" sz="1600" i="1">
                <a:latin typeface="Times New Roman" panose="02020603050405020304" charset="0"/>
                <a:ea typeface="宋体" panose="02010600030101010101" pitchFamily="2" charset="-122"/>
                <a:cs typeface="Times New Roman" panose="02020603050405020304" charset="0"/>
              </a:rPr>
              <a:t>RS</a:t>
            </a:r>
            <a:r>
              <a:rPr lang="zh-CN" sz="1600">
                <a:latin typeface="Times New Roman" panose="02020603050405020304" charset="0"/>
                <a:ea typeface="宋体" panose="02010600030101010101" pitchFamily="2" charset="-122"/>
              </a:rPr>
              <a:t>锁存器的空翻波形</a:t>
            </a:r>
            <a:endParaRPr lang="zh-CN" altLang="en-US" sz="1600"/>
          </a:p>
        </p:txBody>
      </p:sp>
      <p:sp>
        <p:nvSpPr>
          <p:cNvPr id="4" name="文本框 3"/>
          <p:cNvSpPr txBox="1"/>
          <p:nvPr/>
        </p:nvSpPr>
        <p:spPr>
          <a:xfrm>
            <a:off x="4970780" y="2275840"/>
            <a:ext cx="4020820" cy="2306955"/>
          </a:xfrm>
          <a:prstGeom prst="rect">
            <a:avLst/>
          </a:prstGeom>
          <a:noFill/>
        </p:spPr>
        <p:txBody>
          <a:bodyPr wrap="square" rtlCol="0">
            <a:spAutoFit/>
          </a:bodyPr>
          <a:p>
            <a:r>
              <a:rPr lang="zh-CN" altLang="en-US" sz="2400" b="1">
                <a:gradFill>
                  <a:gsLst>
                    <a:gs pos="0">
                      <a:srgbClr val="012D86"/>
                    </a:gs>
                    <a:gs pos="100000">
                      <a:srgbClr val="0E2557"/>
                    </a:gs>
                  </a:gsLst>
                  <a:lin scaled="0"/>
                </a:gradFill>
              </a:rPr>
              <a:t>若在</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400" b="1">
                <a:gradFill>
                  <a:gsLst>
                    <a:gs pos="0">
                      <a:srgbClr val="012D86"/>
                    </a:gs>
                    <a:gs pos="100000">
                      <a:srgbClr val="0E2557"/>
                    </a:gs>
                  </a:gsLst>
                  <a:lin scaled="0"/>
                </a:gradFill>
              </a:rPr>
              <a:t> = 1的期间内，输入</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信号多次发生变化，那么锁</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存器的状态也会发生多次翻</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转，把锁存器这种发生多次</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翻转的现象叫做空翻，如图</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5-6所示。空翻是有害的。</a:t>
            </a:r>
            <a:endParaRPr lang="zh-CN" altLang="en-US" sz="2400" b="1">
              <a:gradFill>
                <a:gsLst>
                  <a:gs pos="0">
                    <a:srgbClr val="012D86"/>
                  </a:gs>
                  <a:gs pos="100000">
                    <a:srgbClr val="0E2557"/>
                  </a:gs>
                </a:gsLst>
                <a:lin scaled="0"/>
              </a:gradFill>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2000" fill="hold">
                                          <p:stCondLst>
                                            <p:cond delay="0"/>
                                          </p:stCondLst>
                                        </p:cTn>
                                        <p:tgtEl>
                                          <p:spTgt spid="4">
                                            <p:txEl>
                                              <p:pRg st="0" end="0"/>
                                            </p:txEl>
                                          </p:spTgt>
                                        </p:tgtEl>
                                        <p:attrNameLst>
                                          <p:attrName>style.visibility</p:attrName>
                                        </p:attrNameLst>
                                      </p:cBhvr>
                                      <p:to>
                                        <p:strVal val="visible"/>
                                      </p:to>
                                    </p:set>
                                    <p:animEffect transition="in" filter="wipe(left)">
                                      <p:cBhvr>
                                        <p:cTn id="7" dur="2000"/>
                                        <p:tgtEl>
                                          <p:spTgt spid="4">
                                            <p:txEl>
                                              <p:pRg st="0" end="0"/>
                                            </p:txEl>
                                          </p:spTgt>
                                        </p:tgtEl>
                                      </p:cBhvr>
                                    </p:animEffect>
                                  </p:childTnLst>
                                </p:cTn>
                              </p:par>
                            </p:childTnLst>
                          </p:cTn>
                        </p:par>
                        <p:par>
                          <p:cTn id="8" fill="hold">
                            <p:stCondLst>
                              <p:cond delay="2000"/>
                            </p:stCondLst>
                            <p:childTnLst>
                              <p:par>
                                <p:cTn id="9" presetID="22" presetClass="entr" presetSubtype="8" fill="hold" grpId="0" nodeType="afterEffect">
                                  <p:stCondLst>
                                    <p:cond delay="500"/>
                                  </p:stCondLst>
                                  <p:childTnLst>
                                    <p:set>
                                      <p:cBhvr>
                                        <p:cTn id="10" dur="2000" fill="hold">
                                          <p:stCondLst>
                                            <p:cond delay="0"/>
                                          </p:stCondLst>
                                        </p:cTn>
                                        <p:tgtEl>
                                          <p:spTgt spid="4">
                                            <p:txEl>
                                              <p:pRg st="1" end="1"/>
                                            </p:txEl>
                                          </p:spTgt>
                                        </p:tgtEl>
                                        <p:attrNameLst>
                                          <p:attrName>style.visibility</p:attrName>
                                        </p:attrNameLst>
                                      </p:cBhvr>
                                      <p:to>
                                        <p:strVal val="visible"/>
                                      </p:to>
                                    </p:set>
                                    <p:animEffect transition="in" filter="wipe(left)">
                                      <p:cBhvr>
                                        <p:cTn id="11" dur="2000"/>
                                        <p:tgtEl>
                                          <p:spTgt spid="4">
                                            <p:txEl>
                                              <p:pRg st="1" end="1"/>
                                            </p:txEl>
                                          </p:spTgt>
                                        </p:tgtEl>
                                      </p:cBhvr>
                                    </p:animEffect>
                                  </p:childTnLst>
                                </p:cTn>
                              </p:par>
                            </p:childTnLst>
                          </p:cTn>
                        </p:par>
                        <p:par>
                          <p:cTn id="12" fill="hold">
                            <p:stCondLst>
                              <p:cond delay="4500"/>
                            </p:stCondLst>
                            <p:childTnLst>
                              <p:par>
                                <p:cTn id="13" presetID="22" presetClass="entr" presetSubtype="8" fill="hold" grpId="0" nodeType="afterEffect">
                                  <p:stCondLst>
                                    <p:cond delay="1000"/>
                                  </p:stCondLst>
                                  <p:childTnLst>
                                    <p:set>
                                      <p:cBhvr>
                                        <p:cTn id="14" dur="2000" fill="hold">
                                          <p:stCondLst>
                                            <p:cond delay="0"/>
                                          </p:stCondLst>
                                        </p:cTn>
                                        <p:tgtEl>
                                          <p:spTgt spid="4">
                                            <p:txEl>
                                              <p:pRg st="2" end="2"/>
                                            </p:txEl>
                                          </p:spTgt>
                                        </p:tgtEl>
                                        <p:attrNameLst>
                                          <p:attrName>style.visibility</p:attrName>
                                        </p:attrNameLst>
                                      </p:cBhvr>
                                      <p:to>
                                        <p:strVal val="visible"/>
                                      </p:to>
                                    </p:set>
                                    <p:animEffect transition="in" filter="wipe(left)">
                                      <p:cBhvr>
                                        <p:cTn id="15" dur="2000"/>
                                        <p:tgtEl>
                                          <p:spTgt spid="4">
                                            <p:txEl>
                                              <p:pRg st="2" end="2"/>
                                            </p:txEl>
                                          </p:spTgt>
                                        </p:tgtEl>
                                      </p:cBhvr>
                                    </p:animEffect>
                                  </p:childTnLst>
                                </p:cTn>
                              </p:par>
                            </p:childTnLst>
                          </p:cTn>
                        </p:par>
                        <p:par>
                          <p:cTn id="16" fill="hold">
                            <p:stCondLst>
                              <p:cond delay="7500"/>
                            </p:stCondLst>
                            <p:childTnLst>
                              <p:par>
                                <p:cTn id="17" presetID="22" presetClass="entr" presetSubtype="8" fill="hold" grpId="0" nodeType="afterEffect">
                                  <p:stCondLst>
                                    <p:cond delay="500"/>
                                  </p:stCondLst>
                                  <p:childTnLst>
                                    <p:set>
                                      <p:cBhvr>
                                        <p:cTn id="18" dur="2000" fill="hold">
                                          <p:stCondLst>
                                            <p:cond delay="0"/>
                                          </p:stCondLst>
                                        </p:cTn>
                                        <p:tgtEl>
                                          <p:spTgt spid="4">
                                            <p:txEl>
                                              <p:pRg st="3" end="3"/>
                                            </p:txEl>
                                          </p:spTgt>
                                        </p:tgtEl>
                                        <p:attrNameLst>
                                          <p:attrName>style.visibility</p:attrName>
                                        </p:attrNameLst>
                                      </p:cBhvr>
                                      <p:to>
                                        <p:strVal val="visible"/>
                                      </p:to>
                                    </p:set>
                                    <p:animEffect transition="in" filter="wipe(left)">
                                      <p:cBhvr>
                                        <p:cTn id="19" dur="2000"/>
                                        <p:tgtEl>
                                          <p:spTgt spid="4">
                                            <p:txEl>
                                              <p:pRg st="3" end="3"/>
                                            </p:txEl>
                                          </p:spTgt>
                                        </p:tgtEl>
                                      </p:cBhvr>
                                    </p:animEffect>
                                  </p:childTnLst>
                                </p:cTn>
                              </p:par>
                            </p:childTnLst>
                          </p:cTn>
                        </p:par>
                        <p:par>
                          <p:cTn id="20" fill="hold">
                            <p:stCondLst>
                              <p:cond delay="10000"/>
                            </p:stCondLst>
                            <p:childTnLst>
                              <p:par>
                                <p:cTn id="21" presetID="22" presetClass="entr" presetSubtype="8" fill="hold" grpId="0" nodeType="afterEffect">
                                  <p:stCondLst>
                                    <p:cond delay="500"/>
                                  </p:stCondLst>
                                  <p:childTnLst>
                                    <p:set>
                                      <p:cBhvr>
                                        <p:cTn id="22" dur="2000" fill="hold">
                                          <p:stCondLst>
                                            <p:cond delay="0"/>
                                          </p:stCondLst>
                                        </p:cTn>
                                        <p:tgtEl>
                                          <p:spTgt spid="4">
                                            <p:txEl>
                                              <p:pRg st="4" end="4"/>
                                            </p:txEl>
                                          </p:spTgt>
                                        </p:tgtEl>
                                        <p:attrNameLst>
                                          <p:attrName>style.visibility</p:attrName>
                                        </p:attrNameLst>
                                      </p:cBhvr>
                                      <p:to>
                                        <p:strVal val="visible"/>
                                      </p:to>
                                    </p:set>
                                    <p:animEffect transition="in" filter="wipe(left)">
                                      <p:cBhvr>
                                        <p:cTn id="23" dur="2000"/>
                                        <p:tgtEl>
                                          <p:spTgt spid="4">
                                            <p:txEl>
                                              <p:pRg st="4" end="4"/>
                                            </p:txEl>
                                          </p:spTgt>
                                        </p:tgtEl>
                                      </p:cBhvr>
                                    </p:animEffect>
                                  </p:childTnLst>
                                </p:cTn>
                              </p:par>
                            </p:childTnLst>
                          </p:cTn>
                        </p:par>
                        <p:par>
                          <p:cTn id="24" fill="hold">
                            <p:stCondLst>
                              <p:cond delay="12500"/>
                            </p:stCondLst>
                            <p:childTnLst>
                              <p:par>
                                <p:cTn id="25" presetID="22" presetClass="entr" presetSubtype="8" fill="hold" grpId="0" nodeType="afterEffect">
                                  <p:stCondLst>
                                    <p:cond delay="500"/>
                                  </p:stCondLst>
                                  <p:childTnLst>
                                    <p:set>
                                      <p:cBhvr>
                                        <p:cTn id="26" dur="2000" fill="hold">
                                          <p:stCondLst>
                                            <p:cond delay="0"/>
                                          </p:stCondLst>
                                        </p:cTn>
                                        <p:tgtEl>
                                          <p:spTgt spid="4">
                                            <p:txEl>
                                              <p:pRg st="5" end="5"/>
                                            </p:txEl>
                                          </p:spTgt>
                                        </p:tgtEl>
                                        <p:attrNameLst>
                                          <p:attrName>style.visibility</p:attrName>
                                        </p:attrNameLst>
                                      </p:cBhvr>
                                      <p:to>
                                        <p:strVal val="visible"/>
                                      </p:to>
                                    </p:set>
                                    <p:animEffect transition="in" filter="wipe(left)">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1" name="文本框 100"/>
          <p:cNvSpPr txBox="1"/>
          <p:nvPr/>
        </p:nvSpPr>
        <p:spPr>
          <a:xfrm>
            <a:off x="811530" y="1205230"/>
            <a:ext cx="3429635" cy="460375"/>
          </a:xfrm>
          <a:prstGeom prst="rect">
            <a:avLst/>
          </a:prstGeom>
          <a:noFill/>
          <a:ln w="9525">
            <a:noFill/>
          </a:ln>
        </p:spPr>
        <p:txBody>
          <a:bodyPr wrap="square">
            <a:spAutoFit/>
          </a:bodyPr>
          <a:p>
            <a:pPr indent="267970"/>
            <a:r>
              <a:rPr lang="en-US" sz="2400" b="1" dirty="0">
                <a:solidFill>
                  <a:srgbClr val="FE09D6"/>
                </a:solidFill>
                <a:latin typeface="Times New Roman" panose="02020603050405020304" charset="0"/>
                <a:ea typeface="楷体_GB2312" pitchFamily="49" charset="-122"/>
                <a:cs typeface="Times New Roman" panose="02020603050405020304" charset="0"/>
              </a:rPr>
              <a:t>2. 钟控</a:t>
            </a:r>
            <a:r>
              <a:rPr lang="en-US" sz="2400" b="1" i="1" dirty="0">
                <a:solidFill>
                  <a:srgbClr val="FE09D6"/>
                </a:solidFill>
                <a:latin typeface="Times New Roman" panose="02020603050405020304" charset="0"/>
                <a:ea typeface="楷体_GB2312" pitchFamily="49" charset="-122"/>
                <a:cs typeface="Times New Roman" panose="02020603050405020304" charset="0"/>
              </a:rPr>
              <a:t>D</a:t>
            </a:r>
            <a:r>
              <a:rPr lang="en-US" sz="2400" b="1" dirty="0">
                <a:solidFill>
                  <a:srgbClr val="FE09D6"/>
                </a:solidFill>
                <a:latin typeface="Times New Roman" panose="02020603050405020304" charset="0"/>
                <a:ea typeface="楷体_GB2312" pitchFamily="49" charset="-122"/>
                <a:cs typeface="Times New Roman" panose="02020603050405020304" charset="0"/>
              </a:rPr>
              <a:t>锁存器</a:t>
            </a:r>
            <a:endParaRPr lang="zh-CN" altLang="en-US"/>
          </a:p>
        </p:txBody>
      </p:sp>
      <p:sp>
        <p:nvSpPr>
          <p:cNvPr id="3" name="文本框 2"/>
          <p:cNvSpPr txBox="1"/>
          <p:nvPr/>
        </p:nvSpPr>
        <p:spPr>
          <a:xfrm>
            <a:off x="1083945" y="166560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(１) </a:t>
            </a:r>
            <a:r>
              <a:rPr lang="zh-CN" altLang="en-US" sz="2400" b="1"/>
              <a:t>电路结构</a:t>
            </a:r>
            <a:endParaRPr lang="zh-CN" altLang="en-US" sz="2400" b="1"/>
          </a:p>
        </p:txBody>
      </p:sp>
      <p:pic>
        <p:nvPicPr>
          <p:cNvPr id="9345" name="图片 2782"/>
          <p:cNvPicPr>
            <a:picLocks noChangeAspect="1"/>
          </p:cNvPicPr>
          <p:nvPr/>
        </p:nvPicPr>
        <p:blipFill>
          <a:blip r:embed="rId1"/>
          <a:stretch>
            <a:fillRect/>
          </a:stretch>
        </p:blipFill>
        <p:spPr>
          <a:xfrm>
            <a:off x="2011680" y="2193925"/>
            <a:ext cx="5166360" cy="3082290"/>
          </a:xfrm>
          <a:prstGeom prst="rect">
            <a:avLst/>
          </a:prstGeom>
          <a:noFill/>
          <a:ln>
            <a:noFill/>
          </a:ln>
        </p:spPr>
      </p:pic>
      <p:sp>
        <p:nvSpPr>
          <p:cNvPr id="2" name="文本框 1"/>
          <p:cNvSpPr txBox="1"/>
          <p:nvPr/>
        </p:nvSpPr>
        <p:spPr>
          <a:xfrm>
            <a:off x="3974465" y="5537200"/>
            <a:ext cx="2089785" cy="337185"/>
          </a:xfrm>
          <a:prstGeom prst="rect">
            <a:avLst/>
          </a:prstGeom>
          <a:noFill/>
          <a:ln w="9525">
            <a:noFill/>
          </a:ln>
        </p:spPr>
        <p:txBody>
          <a:bodyPr wrap="square">
            <a:spAutoFit/>
          </a:bodyPr>
          <a:p>
            <a:r>
              <a:rPr lang="zh-CN" sz="1600">
                <a:solidFill>
                  <a:srgbClr val="000000"/>
                </a:solidFill>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a:t>
            </a:r>
            <a:r>
              <a:rPr lang="en-US" sz="1600">
                <a:solidFill>
                  <a:srgbClr val="000000"/>
                </a:solidFill>
                <a:latin typeface="Times New Roman" panose="02020603050405020304" charset="0"/>
                <a:ea typeface="宋体" panose="02010600030101010101" pitchFamily="2" charset="-122"/>
              </a:rPr>
              <a:t>7 </a:t>
            </a:r>
            <a:r>
              <a:rPr lang="zh-CN" sz="1600">
                <a:solidFill>
                  <a:srgbClr val="000000"/>
                </a:solidFill>
                <a:ea typeface="宋体" panose="02010600030101010101" pitchFamily="2" charset="-122"/>
              </a:rPr>
              <a:t>钟控</a:t>
            </a:r>
            <a:r>
              <a:rPr lang="en-US" sz="1600" i="1">
                <a:solidFill>
                  <a:srgbClr val="000000"/>
                </a:solidFill>
                <a:latin typeface="Times New Roman" panose="02020603050405020304" charset="0"/>
                <a:ea typeface="宋体" panose="02010600030101010101" pitchFamily="2" charset="-122"/>
              </a:rPr>
              <a:t>D</a:t>
            </a:r>
            <a:r>
              <a:rPr lang="zh-CN" sz="1600">
                <a:solidFill>
                  <a:srgbClr val="000000"/>
                </a:solidFill>
                <a:ea typeface="宋体" panose="02010600030101010101" pitchFamily="2" charset="-122"/>
              </a:rPr>
              <a:t>锁存器</a:t>
            </a:r>
            <a:endParaRPr lang="zh-CN" altLang="en-US" sz="1600"/>
          </a:p>
        </p:txBody>
      </p:sp>
      <p:sp>
        <p:nvSpPr>
          <p:cNvPr id="4" name="圆角矩形 3"/>
          <p:cNvSpPr/>
          <p:nvPr/>
        </p:nvSpPr>
        <p:spPr>
          <a:xfrm>
            <a:off x="3190875" y="2194560"/>
            <a:ext cx="1512570" cy="2657475"/>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sp>
        <p:nvSpPr>
          <p:cNvPr id="6" name="圆角矩形标注 5"/>
          <p:cNvSpPr/>
          <p:nvPr/>
        </p:nvSpPr>
        <p:spPr>
          <a:xfrm>
            <a:off x="3959225" y="1412875"/>
            <a:ext cx="2097681" cy="510181"/>
          </a:xfrm>
          <a:prstGeom prst="wedgeRoundRectCallout">
            <a:avLst>
              <a:gd name="adj1" fmla="val -50704"/>
              <a:gd name="adj2" fmla="val 104167"/>
              <a:gd name="adj3" fmla="val 16667"/>
            </a:avLst>
          </a:prstGeom>
          <a:noFill/>
          <a:ln w="9525" cap="flat" cmpd="sng">
            <a:solidFill>
              <a:srgbClr val="D60093"/>
            </a:solidFill>
            <a:prstDash val="solid"/>
            <a:miter/>
            <a:headEnd type="none" w="med" len="med"/>
            <a:tailEnd type="none" w="med" len="med"/>
          </a:ln>
        </p:spPr>
        <p:txBody>
          <a:bodyPr wrap="none" anchor="t">
            <a:spAutoFit/>
          </a:bodyPr>
          <a:p>
            <a:pPr algn="l"/>
            <a:r>
              <a:rPr lang="zh-CN" altLang="en-US" sz="2400" dirty="0">
                <a:solidFill>
                  <a:srgbClr val="000066"/>
                </a:solidFill>
                <a:latin typeface="Tahoma" panose="020B0604030504040204" pitchFamily="34" charset="0"/>
                <a:ea typeface="楷体_GB2312" pitchFamily="49" charset="-122"/>
                <a:sym typeface="+mn-ea"/>
              </a:rPr>
              <a:t>钟控</a:t>
            </a:r>
            <a:r>
              <a:rPr lang="en-US" altLang="zh-CN" sz="2400" i="1">
                <a:solidFill>
                  <a:srgbClr val="000066"/>
                </a:solidFill>
                <a:latin typeface="Times New Roman" panose="02020603050405020304" charset="0"/>
                <a:ea typeface="楷体_GB2312" pitchFamily="49" charset="-122"/>
                <a:sym typeface="+mn-ea"/>
              </a:rPr>
              <a:t>R</a:t>
            </a:r>
            <a:r>
              <a:rPr lang="en-US" altLang="zh-CN" sz="2400" i="1">
                <a:solidFill>
                  <a:srgbClr val="000066"/>
                </a:solidFill>
                <a:latin typeface="Times New Roman" panose="02020603050405020304" charset="0"/>
                <a:ea typeface="楷体_GB2312" pitchFamily="49" charset="-122"/>
              </a:rPr>
              <a:t>S</a:t>
            </a:r>
            <a:r>
              <a:rPr lang="zh-CN" altLang="en-US" sz="2400" dirty="0">
                <a:solidFill>
                  <a:srgbClr val="000066"/>
                </a:solidFill>
                <a:latin typeface="Tahoma" panose="020B0604030504040204" pitchFamily="34" charset="0"/>
                <a:ea typeface="楷体_GB2312" pitchFamily="49" charset="-122"/>
              </a:rPr>
              <a:t>锁存器</a:t>
            </a:r>
            <a:endParaRPr lang="en-GB" altLang="zh-CN" sz="2400">
              <a:solidFill>
                <a:srgbClr val="000066"/>
              </a:solidFill>
              <a:latin typeface="Tahoma" panose="020B0604030504040204" pitchFamily="34" charset="0"/>
              <a:ea typeface="楷体_GB2312" pitchFamily="49" charset="-122"/>
            </a:endParaRPr>
          </a:p>
        </p:txBody>
      </p:sp>
      <p:sp>
        <p:nvSpPr>
          <p:cNvPr id="7" name="圆角矩形 6"/>
          <p:cNvSpPr/>
          <p:nvPr/>
        </p:nvSpPr>
        <p:spPr>
          <a:xfrm>
            <a:off x="2011680" y="2193925"/>
            <a:ext cx="1061720" cy="2695575"/>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sp>
        <p:nvSpPr>
          <p:cNvPr id="8" name="圆角矩形标注 7"/>
          <p:cNvSpPr/>
          <p:nvPr/>
        </p:nvSpPr>
        <p:spPr>
          <a:xfrm>
            <a:off x="906145" y="5276215"/>
            <a:ext cx="1278255" cy="510181"/>
          </a:xfrm>
          <a:prstGeom prst="wedgeRoundRectCallout">
            <a:avLst>
              <a:gd name="adj1" fmla="val 64754"/>
              <a:gd name="adj2" fmla="val -129160"/>
              <a:gd name="adj3" fmla="val 16667"/>
            </a:avLst>
          </a:prstGeom>
          <a:noFill/>
          <a:ln w="9525" cap="flat" cmpd="sng">
            <a:solidFill>
              <a:srgbClr val="D60093"/>
            </a:solidFill>
            <a:prstDash val="solid"/>
            <a:miter/>
            <a:headEnd type="none" w="med" len="med"/>
            <a:tailEnd type="none" w="med" len="med"/>
          </a:ln>
        </p:spPr>
        <p:txBody>
          <a:bodyPr wrap="square" anchor="t">
            <a:spAutoFit/>
          </a:bodyPr>
          <a:p>
            <a:pPr algn="l"/>
            <a:r>
              <a:rPr lang="zh-CN" altLang="en-US" sz="2400" dirty="0">
                <a:solidFill>
                  <a:srgbClr val="000066"/>
                </a:solidFill>
                <a:latin typeface="Tahoma" panose="020B0604030504040204" pitchFamily="34" charset="0"/>
                <a:ea typeface="楷体_GB2312" pitchFamily="49" charset="-122"/>
              </a:rPr>
              <a:t>控制门</a:t>
            </a:r>
            <a:endParaRPr lang="en-GB" altLang="zh-CN" sz="2400">
              <a:solidFill>
                <a:srgbClr val="000066"/>
              </a:solidFill>
              <a:latin typeface="Tahoma" panose="020B0604030504040204" pitchFamily="3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ox(in)">
                                      <p:cBhvr>
                                        <p:cTn id="16" dur="500"/>
                                        <p:tgtEl>
                                          <p:spTgt spid="7"/>
                                        </p:tgtEl>
                                      </p:cBhvr>
                                    </p:animEffect>
                                  </p:childTnLst>
                                </p:cTn>
                              </p:par>
                            </p:childTnLst>
                          </p:cTn>
                        </p:par>
                        <p:par>
                          <p:cTn id="17" fill="hold">
                            <p:stCondLst>
                              <p:cond delay="500"/>
                            </p:stCondLst>
                            <p:childTnLst>
                              <p:par>
                                <p:cTn id="18" presetID="22" presetClass="entr" presetSubtype="4" fill="hold" grpId="0" nodeType="afterEffect">
                                  <p:stCondLst>
                                    <p:cond delay="50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5.2 锁存器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pic>
        <p:nvPicPr>
          <p:cNvPr id="9345" name="图片 2782"/>
          <p:cNvPicPr>
            <a:picLocks noChangeAspect="1"/>
          </p:cNvPicPr>
          <p:nvPr/>
        </p:nvPicPr>
        <p:blipFill>
          <a:blip r:embed="rId1"/>
          <a:srcRect r="37033" b="17656"/>
          <a:stretch>
            <a:fillRect/>
          </a:stretch>
        </p:blipFill>
        <p:spPr>
          <a:xfrm>
            <a:off x="388620" y="1777365"/>
            <a:ext cx="3253105" cy="2538095"/>
          </a:xfrm>
          <a:prstGeom prst="rect">
            <a:avLst/>
          </a:prstGeom>
          <a:noFill/>
          <a:ln>
            <a:noFill/>
          </a:ln>
        </p:spPr>
      </p:pic>
      <p:sp>
        <p:nvSpPr>
          <p:cNvPr id="504840" name="矩形 504839"/>
          <p:cNvSpPr/>
          <p:nvPr/>
        </p:nvSpPr>
        <p:spPr>
          <a:xfrm>
            <a:off x="4998403" y="2843530"/>
            <a:ext cx="2341562" cy="521970"/>
          </a:xfrm>
          <a:prstGeom prst="rect">
            <a:avLst/>
          </a:prstGeom>
          <a:noFill/>
          <a:ln w="9525">
            <a:noFill/>
          </a:ln>
        </p:spPr>
        <p:txBody>
          <a:bodyPr>
            <a:spAutoFit/>
          </a:bodyPr>
          <a:p>
            <a:pPr algn="l"/>
            <a:r>
              <a:rPr lang="en-US" altLang="zh-CN" sz="2800" i="1">
                <a:solidFill>
                  <a:srgbClr val="000066"/>
                </a:solidFill>
                <a:latin typeface="Times New Roman" panose="02020603050405020304" charset="0"/>
                <a:ea typeface="楷体_GB2312" pitchFamily="49" charset="-122"/>
              </a:rPr>
              <a:t>S </a:t>
            </a:r>
            <a:r>
              <a:rPr lang="en-US" altLang="zh-CN" sz="2800">
                <a:solidFill>
                  <a:srgbClr val="000066"/>
                </a:solidFill>
                <a:latin typeface="Times New Roman" panose="02020603050405020304" charset="0"/>
                <a:ea typeface="楷体_GB2312" pitchFamily="49" charset="-122"/>
              </a:rPr>
              <a:t>=0    </a:t>
            </a:r>
            <a:r>
              <a:rPr lang="en-US" altLang="zh-CN" sz="2800" i="1">
                <a:solidFill>
                  <a:srgbClr val="000066"/>
                </a:solidFill>
                <a:latin typeface="Times New Roman" panose="02020603050405020304" charset="0"/>
                <a:ea typeface="楷体_GB2312" pitchFamily="49" charset="-122"/>
              </a:rPr>
              <a:t>R</a:t>
            </a:r>
            <a:r>
              <a:rPr lang="en-US" altLang="zh-CN" sz="2800">
                <a:solidFill>
                  <a:srgbClr val="000066"/>
                </a:solidFill>
                <a:latin typeface="Times New Roman" panose="02020603050405020304" charset="0"/>
                <a:ea typeface="楷体_GB2312" pitchFamily="49" charset="-122"/>
              </a:rPr>
              <a:t>=1</a:t>
            </a:r>
            <a:endParaRPr lang="en-US" altLang="zh-CN" sz="2800">
              <a:solidFill>
                <a:srgbClr val="000066"/>
              </a:solidFill>
              <a:latin typeface="Times New Roman" panose="02020603050405020304" charset="0"/>
              <a:ea typeface="楷体_GB2312" pitchFamily="49" charset="-122"/>
            </a:endParaRPr>
          </a:p>
        </p:txBody>
      </p:sp>
      <p:sp>
        <p:nvSpPr>
          <p:cNvPr id="504841" name="矩形 504840"/>
          <p:cNvSpPr/>
          <p:nvPr/>
        </p:nvSpPr>
        <p:spPr>
          <a:xfrm>
            <a:off x="3796665" y="2854643"/>
            <a:ext cx="819785" cy="521970"/>
          </a:xfrm>
          <a:prstGeom prst="rect">
            <a:avLst/>
          </a:prstGeom>
          <a:noFill/>
          <a:ln w="9525">
            <a:noFill/>
          </a:ln>
        </p:spPr>
        <p:txBody>
          <a:bodyPr wrap="none" anchor="t">
            <a:spAutoFit/>
          </a:bodyPr>
          <a:p>
            <a:pPr algn="l"/>
            <a:r>
              <a:rPr lang="en-US" altLang="zh-CN" sz="2800" i="1">
                <a:solidFill>
                  <a:srgbClr val="000066"/>
                </a:solidFill>
                <a:latin typeface="Times New Roman" panose="02020603050405020304" charset="0"/>
                <a:ea typeface="楷体_GB2312" pitchFamily="49" charset="-122"/>
              </a:rPr>
              <a:t>D</a:t>
            </a:r>
            <a:r>
              <a:rPr lang="en-US" altLang="zh-CN" sz="2800">
                <a:solidFill>
                  <a:srgbClr val="000066"/>
                </a:solidFill>
                <a:latin typeface="Times New Roman" panose="02020603050405020304" charset="0"/>
                <a:ea typeface="楷体_GB2312" pitchFamily="49" charset="-122"/>
              </a:rPr>
              <a:t>=0</a:t>
            </a:r>
            <a:endParaRPr lang="en-US" altLang="zh-CN" sz="2800">
              <a:solidFill>
                <a:srgbClr val="000066"/>
              </a:solidFill>
              <a:latin typeface="Times New Roman" panose="02020603050405020304" charset="0"/>
              <a:ea typeface="楷体_GB2312" pitchFamily="49" charset="-122"/>
            </a:endParaRPr>
          </a:p>
        </p:txBody>
      </p:sp>
      <p:sp>
        <p:nvSpPr>
          <p:cNvPr id="504842" name="矩形 504841"/>
          <p:cNvSpPr/>
          <p:nvPr/>
        </p:nvSpPr>
        <p:spPr>
          <a:xfrm>
            <a:off x="7045960" y="2838768"/>
            <a:ext cx="1372870" cy="521970"/>
          </a:xfrm>
          <a:prstGeom prst="rect">
            <a:avLst/>
          </a:prstGeom>
          <a:noFill/>
          <a:ln w="9525">
            <a:noFill/>
          </a:ln>
        </p:spPr>
        <p:txBody>
          <a:bodyPr wrap="none" anchor="t">
            <a:spAutoFit/>
          </a:bodyPr>
          <a:p>
            <a:pPr algn="l"/>
            <a:r>
              <a:rPr lang="en-US" altLang="zh-CN" sz="2800" i="1">
                <a:solidFill>
                  <a:srgbClr val="000066"/>
                </a:solidFill>
                <a:latin typeface="Times New Roman" panose="02020603050405020304" charset="0"/>
                <a:ea typeface="楷体_GB2312" pitchFamily="49" charset="-122"/>
              </a:rPr>
              <a:t>Q</a:t>
            </a:r>
            <a:r>
              <a:rPr lang="en-US" altLang="zh-CN" sz="2800" i="1" baseline="30000">
                <a:solidFill>
                  <a:srgbClr val="000066"/>
                </a:solidFill>
                <a:latin typeface="Times New Roman" panose="02020603050405020304" charset="0"/>
                <a:ea typeface="楷体_GB2312" pitchFamily="49" charset="-122"/>
              </a:rPr>
              <a:t>n</a:t>
            </a:r>
            <a:r>
              <a:rPr lang="en-US" altLang="zh-CN" sz="2800" baseline="30000">
                <a:solidFill>
                  <a:srgbClr val="000066"/>
                </a:solidFill>
                <a:latin typeface="Times New Roman" panose="02020603050405020304" charset="0"/>
                <a:ea typeface="楷体_GB2312" pitchFamily="49" charset="-122"/>
              </a:rPr>
              <a:t>+1</a:t>
            </a:r>
            <a:r>
              <a:rPr lang="en-US" altLang="zh-CN" sz="2800" i="1">
                <a:solidFill>
                  <a:srgbClr val="000066"/>
                </a:solidFill>
                <a:latin typeface="Times New Roman" panose="02020603050405020304" charset="0"/>
                <a:ea typeface="楷体_GB2312" pitchFamily="49" charset="-122"/>
              </a:rPr>
              <a:t> </a:t>
            </a:r>
            <a:r>
              <a:rPr lang="en-US" altLang="zh-CN" sz="2800">
                <a:solidFill>
                  <a:srgbClr val="000066"/>
                </a:solidFill>
                <a:latin typeface="Times New Roman" panose="02020603050405020304" charset="0"/>
                <a:ea typeface="楷体_GB2312" pitchFamily="49" charset="-122"/>
              </a:rPr>
              <a:t>= 0</a:t>
            </a:r>
            <a:endParaRPr lang="en-US" altLang="zh-CN" sz="2800">
              <a:solidFill>
                <a:srgbClr val="000066"/>
              </a:solidFill>
              <a:latin typeface="Times New Roman" panose="02020603050405020304" charset="0"/>
              <a:ea typeface="楷体_GB2312" pitchFamily="49" charset="-122"/>
            </a:endParaRPr>
          </a:p>
        </p:txBody>
      </p:sp>
      <p:sp>
        <p:nvSpPr>
          <p:cNvPr id="504843" name="矩形 504842"/>
          <p:cNvSpPr/>
          <p:nvPr/>
        </p:nvSpPr>
        <p:spPr>
          <a:xfrm>
            <a:off x="3802698" y="3394393"/>
            <a:ext cx="819785" cy="521970"/>
          </a:xfrm>
          <a:prstGeom prst="rect">
            <a:avLst/>
          </a:prstGeom>
          <a:noFill/>
          <a:ln w="9525">
            <a:noFill/>
          </a:ln>
        </p:spPr>
        <p:txBody>
          <a:bodyPr wrap="none" anchor="t">
            <a:spAutoFit/>
          </a:bodyPr>
          <a:p>
            <a:pPr algn="l"/>
            <a:r>
              <a:rPr lang="en-US" altLang="zh-CN" sz="2800" i="1">
                <a:solidFill>
                  <a:srgbClr val="000066"/>
                </a:solidFill>
                <a:latin typeface="Times New Roman" panose="02020603050405020304" charset="0"/>
                <a:ea typeface="楷体_GB2312" pitchFamily="49" charset="-122"/>
              </a:rPr>
              <a:t>D</a:t>
            </a:r>
            <a:r>
              <a:rPr lang="en-US" altLang="zh-CN" sz="2800">
                <a:solidFill>
                  <a:srgbClr val="000066"/>
                </a:solidFill>
                <a:latin typeface="Times New Roman" panose="02020603050405020304" charset="0"/>
                <a:ea typeface="楷体_GB2312" pitchFamily="49" charset="-122"/>
              </a:rPr>
              <a:t>=1</a:t>
            </a:r>
            <a:endParaRPr lang="en-US" altLang="zh-CN" sz="2800">
              <a:solidFill>
                <a:srgbClr val="000066"/>
              </a:solidFill>
              <a:latin typeface="Times New Roman" panose="02020603050405020304" charset="0"/>
              <a:ea typeface="楷体_GB2312" pitchFamily="49" charset="-122"/>
            </a:endParaRPr>
          </a:p>
        </p:txBody>
      </p:sp>
      <p:sp>
        <p:nvSpPr>
          <p:cNvPr id="504844" name="矩形 504843"/>
          <p:cNvSpPr/>
          <p:nvPr/>
        </p:nvSpPr>
        <p:spPr>
          <a:xfrm>
            <a:off x="7055485" y="3380105"/>
            <a:ext cx="1325880" cy="521970"/>
          </a:xfrm>
          <a:prstGeom prst="rect">
            <a:avLst/>
          </a:prstGeom>
          <a:noFill/>
          <a:ln w="9525">
            <a:noFill/>
          </a:ln>
        </p:spPr>
        <p:txBody>
          <a:bodyPr wrap="none" anchor="t">
            <a:spAutoFit/>
          </a:bodyPr>
          <a:p>
            <a:pPr algn="l"/>
            <a:r>
              <a:rPr lang="en-US" altLang="zh-CN" sz="2800" i="1">
                <a:solidFill>
                  <a:srgbClr val="000066"/>
                </a:solidFill>
                <a:latin typeface="Times New Roman" panose="02020603050405020304" charset="0"/>
                <a:ea typeface="楷体_GB2312" pitchFamily="49" charset="-122"/>
              </a:rPr>
              <a:t>Q</a:t>
            </a:r>
            <a:r>
              <a:rPr lang="en-US" altLang="zh-CN" sz="2800" i="1" baseline="30000">
                <a:solidFill>
                  <a:srgbClr val="000066"/>
                </a:solidFill>
                <a:latin typeface="Times New Roman" panose="02020603050405020304" charset="0"/>
                <a:ea typeface="楷体_GB2312" pitchFamily="49" charset="-122"/>
                <a:sym typeface="+mn-ea"/>
              </a:rPr>
              <a:t>n</a:t>
            </a:r>
            <a:r>
              <a:rPr lang="en-US" altLang="zh-CN" sz="2800" baseline="30000">
                <a:solidFill>
                  <a:srgbClr val="000066"/>
                </a:solidFill>
                <a:latin typeface="Times New Roman" panose="02020603050405020304" charset="0"/>
                <a:ea typeface="楷体_GB2312" pitchFamily="49" charset="-122"/>
                <a:sym typeface="+mn-ea"/>
              </a:rPr>
              <a:t>+1 </a:t>
            </a:r>
            <a:r>
              <a:rPr lang="en-US" altLang="zh-CN" sz="2800">
                <a:solidFill>
                  <a:srgbClr val="000066"/>
                </a:solidFill>
                <a:latin typeface="Times New Roman" panose="02020603050405020304" charset="0"/>
                <a:ea typeface="楷体_GB2312" pitchFamily="49" charset="-122"/>
              </a:rPr>
              <a:t>= 1</a:t>
            </a:r>
            <a:endParaRPr lang="en-US" altLang="zh-CN" sz="2800">
              <a:solidFill>
                <a:srgbClr val="000066"/>
              </a:solidFill>
              <a:latin typeface="Times New Roman" panose="02020603050405020304" charset="0"/>
              <a:ea typeface="楷体_GB2312" pitchFamily="49" charset="-122"/>
            </a:endParaRPr>
          </a:p>
        </p:txBody>
      </p:sp>
      <p:grpSp>
        <p:nvGrpSpPr>
          <p:cNvPr id="504845" name="组合 504844"/>
          <p:cNvGrpSpPr/>
          <p:nvPr/>
        </p:nvGrpSpPr>
        <p:grpSpPr>
          <a:xfrm>
            <a:off x="3831908" y="1682750"/>
            <a:ext cx="2117725" cy="549276"/>
            <a:chOff x="476" y="3339"/>
            <a:chExt cx="1334" cy="346"/>
          </a:xfrm>
        </p:grpSpPr>
        <p:sp>
          <p:nvSpPr>
            <p:cNvPr id="504846" name="矩形 504845"/>
            <p:cNvSpPr/>
            <p:nvPr/>
          </p:nvSpPr>
          <p:spPr>
            <a:xfrm>
              <a:off x="476" y="3339"/>
              <a:ext cx="640" cy="329"/>
            </a:xfrm>
            <a:prstGeom prst="rect">
              <a:avLst/>
            </a:prstGeom>
            <a:noFill/>
            <a:ln w="9525">
              <a:noFill/>
            </a:ln>
          </p:spPr>
          <p:txBody>
            <a:bodyPr wrap="none" anchor="t">
              <a:spAutoFit/>
            </a:bodyPr>
            <a:p>
              <a:pPr algn="l"/>
              <a:r>
                <a:rPr lang="zh-CN" altLang="en-US" sz="2800" i="1" dirty="0">
                  <a:solidFill>
                    <a:srgbClr val="000066"/>
                  </a:solidFill>
                  <a:latin typeface="Times New Roman" panose="02020603050405020304" charset="0"/>
                  <a:ea typeface="楷体_GB2312" pitchFamily="49" charset="-122"/>
                  <a:cs typeface="Times New Roman" panose="02020603050405020304" charset="0"/>
                </a:rPr>
                <a:t>CP</a:t>
              </a:r>
              <a:r>
                <a:rPr lang="zh-CN" altLang="en-US" sz="2800" dirty="0">
                  <a:solidFill>
                    <a:srgbClr val="000066"/>
                  </a:solidFill>
                  <a:latin typeface="Times New Roman" panose="02020603050405020304" charset="0"/>
                  <a:ea typeface="楷体_GB2312" pitchFamily="49" charset="-122"/>
                </a:rPr>
                <a:t>=</a:t>
              </a:r>
              <a:r>
                <a:rPr lang="zh-CN" altLang="en-US" sz="2800" dirty="0">
                  <a:solidFill>
                    <a:srgbClr val="000066"/>
                  </a:solidFill>
                  <a:latin typeface="Times New Roman" panose="02020603050405020304" charset="0"/>
                  <a:ea typeface="楷体_GB2312" pitchFamily="49" charset="-122"/>
                  <a:cs typeface="Times New Roman" panose="02020603050405020304" charset="0"/>
                </a:rPr>
                <a:t>0</a:t>
              </a:r>
              <a:endParaRPr lang="zh-CN" altLang="en-US" sz="2800" dirty="0">
                <a:solidFill>
                  <a:srgbClr val="000066"/>
                </a:solidFill>
                <a:latin typeface="Times New Roman" panose="02020603050405020304" charset="0"/>
                <a:ea typeface="楷体_GB2312" pitchFamily="49" charset="-122"/>
                <a:cs typeface="Times New Roman" panose="02020603050405020304" charset="0"/>
              </a:endParaRPr>
            </a:p>
          </p:txBody>
        </p:sp>
        <p:sp>
          <p:nvSpPr>
            <p:cNvPr id="504847" name="矩形 504846"/>
            <p:cNvSpPr/>
            <p:nvPr/>
          </p:nvSpPr>
          <p:spPr>
            <a:xfrm>
              <a:off x="1247" y="3356"/>
              <a:ext cx="563" cy="329"/>
            </a:xfrm>
            <a:prstGeom prst="rect">
              <a:avLst/>
            </a:prstGeom>
            <a:noFill/>
            <a:ln w="9525">
              <a:noFill/>
            </a:ln>
          </p:spPr>
          <p:txBody>
            <a:bodyPr wrap="none" anchor="t">
              <a:spAutoFit/>
            </a:bodyPr>
            <a:p>
              <a:pPr algn="l"/>
              <a:r>
                <a:rPr lang="zh-CN" altLang="en-US" sz="2800" dirty="0">
                  <a:solidFill>
                    <a:srgbClr val="000066"/>
                  </a:solidFill>
                  <a:latin typeface="Times New Roman" panose="02020603050405020304" charset="0"/>
                  <a:ea typeface="楷体_GB2312" pitchFamily="49" charset="-122"/>
                </a:rPr>
                <a:t>保持</a:t>
              </a:r>
              <a:endParaRPr lang="zh-CN" altLang="en-US" sz="2800" dirty="0">
                <a:solidFill>
                  <a:srgbClr val="000066"/>
                </a:solidFill>
                <a:latin typeface="Times New Roman" panose="02020603050405020304" charset="0"/>
                <a:ea typeface="楷体_GB2312" pitchFamily="49" charset="-122"/>
              </a:endParaRPr>
            </a:p>
          </p:txBody>
        </p:sp>
      </p:grpSp>
      <p:grpSp>
        <p:nvGrpSpPr>
          <p:cNvPr id="504848" name="组合 504847"/>
          <p:cNvGrpSpPr/>
          <p:nvPr/>
        </p:nvGrpSpPr>
        <p:grpSpPr>
          <a:xfrm>
            <a:off x="3831908" y="2305685"/>
            <a:ext cx="1533524" cy="549276"/>
            <a:chOff x="476" y="3339"/>
            <a:chExt cx="966" cy="346"/>
          </a:xfrm>
        </p:grpSpPr>
        <p:sp>
          <p:nvSpPr>
            <p:cNvPr id="504849" name="矩形 504848"/>
            <p:cNvSpPr/>
            <p:nvPr/>
          </p:nvSpPr>
          <p:spPr>
            <a:xfrm>
              <a:off x="476" y="3339"/>
              <a:ext cx="640" cy="329"/>
            </a:xfrm>
            <a:prstGeom prst="rect">
              <a:avLst/>
            </a:prstGeom>
            <a:noFill/>
            <a:ln w="9525">
              <a:noFill/>
            </a:ln>
          </p:spPr>
          <p:txBody>
            <a:bodyPr wrap="none" anchor="t">
              <a:spAutoFit/>
            </a:bodyPr>
            <a:p>
              <a:pPr algn="l">
                <a:buClrTx/>
                <a:buSzTx/>
                <a:buFontTx/>
              </a:pPr>
              <a:r>
                <a:rPr lang="zh-CN" altLang="en-US" sz="2800" i="1" dirty="0">
                  <a:solidFill>
                    <a:srgbClr val="000066"/>
                  </a:solidFill>
                  <a:latin typeface="Times New Roman" panose="02020603050405020304" charset="0"/>
                  <a:ea typeface="楷体_GB2312" pitchFamily="49" charset="-122"/>
                  <a:cs typeface="Times New Roman" panose="02020603050405020304" charset="0"/>
                </a:rPr>
                <a:t>CP</a:t>
              </a:r>
              <a:r>
                <a:rPr lang="zh-CN" altLang="en-US" sz="2800" dirty="0">
                  <a:solidFill>
                    <a:srgbClr val="000066"/>
                  </a:solidFill>
                  <a:latin typeface="Times New Roman" panose="02020603050405020304" charset="0"/>
                  <a:ea typeface="楷体_GB2312" pitchFamily="49" charset="-122"/>
                </a:rPr>
                <a:t>=</a:t>
              </a:r>
              <a:r>
                <a:rPr lang="zh-CN" altLang="en-US" sz="2800" dirty="0">
                  <a:solidFill>
                    <a:srgbClr val="000066"/>
                  </a:solidFill>
                  <a:latin typeface="Times New Roman" panose="02020603050405020304" charset="0"/>
                  <a:ea typeface="楷体_GB2312" pitchFamily="49" charset="-122"/>
                  <a:cs typeface="Times New Roman" panose="02020603050405020304" charset="0"/>
                </a:rPr>
                <a:t>1</a:t>
              </a:r>
              <a:endParaRPr lang="zh-CN" altLang="en-US" sz="2800" dirty="0">
                <a:solidFill>
                  <a:srgbClr val="000066"/>
                </a:solidFill>
                <a:latin typeface="Times New Roman" panose="02020603050405020304" charset="0"/>
                <a:ea typeface="楷体_GB2312" pitchFamily="49" charset="-122"/>
                <a:cs typeface="Times New Roman" panose="02020603050405020304" charset="0"/>
              </a:endParaRPr>
            </a:p>
          </p:txBody>
        </p:sp>
        <p:sp>
          <p:nvSpPr>
            <p:cNvPr id="504850" name="矩形 504849"/>
            <p:cNvSpPr/>
            <p:nvPr/>
          </p:nvSpPr>
          <p:spPr>
            <a:xfrm>
              <a:off x="1247" y="3356"/>
              <a:ext cx="195" cy="329"/>
            </a:xfrm>
            <a:prstGeom prst="rect">
              <a:avLst/>
            </a:prstGeom>
            <a:noFill/>
            <a:ln w="9525">
              <a:noFill/>
            </a:ln>
          </p:spPr>
          <p:txBody>
            <a:bodyPr wrap="none" anchor="t">
              <a:spAutoFit/>
            </a:bodyPr>
            <a:p>
              <a:pPr algn="l"/>
              <a:endParaRPr sz="2800" dirty="0">
                <a:solidFill>
                  <a:srgbClr val="000066"/>
                </a:solidFill>
                <a:latin typeface="Times New Roman" panose="02020603050405020304" charset="0"/>
                <a:ea typeface="楷体_GB2312" pitchFamily="49" charset="-122"/>
              </a:endParaRPr>
            </a:p>
          </p:txBody>
        </p:sp>
      </p:grpSp>
      <p:sp>
        <p:nvSpPr>
          <p:cNvPr id="504852" name="矩形 504851"/>
          <p:cNvSpPr/>
          <p:nvPr/>
        </p:nvSpPr>
        <p:spPr>
          <a:xfrm>
            <a:off x="5048885" y="3346768"/>
            <a:ext cx="2341563" cy="521970"/>
          </a:xfrm>
          <a:prstGeom prst="rect">
            <a:avLst/>
          </a:prstGeom>
          <a:noFill/>
          <a:ln w="9525">
            <a:noFill/>
          </a:ln>
        </p:spPr>
        <p:txBody>
          <a:bodyPr>
            <a:spAutoFit/>
          </a:bodyPr>
          <a:p>
            <a:pPr algn="l"/>
            <a:r>
              <a:rPr lang="en-US" altLang="zh-CN" sz="2800" i="1">
                <a:solidFill>
                  <a:srgbClr val="000066"/>
                </a:solidFill>
                <a:latin typeface="Times New Roman" panose="02020603050405020304" charset="0"/>
                <a:ea typeface="楷体_GB2312" pitchFamily="49" charset="-122"/>
              </a:rPr>
              <a:t>S </a:t>
            </a:r>
            <a:r>
              <a:rPr lang="en-US" altLang="zh-CN" sz="2800">
                <a:solidFill>
                  <a:srgbClr val="000066"/>
                </a:solidFill>
                <a:latin typeface="Times New Roman" panose="02020603050405020304" charset="0"/>
                <a:ea typeface="楷体_GB2312" pitchFamily="49" charset="-122"/>
              </a:rPr>
              <a:t>=1   </a:t>
            </a:r>
            <a:r>
              <a:rPr lang="en-US" altLang="zh-CN" sz="2800" i="1">
                <a:solidFill>
                  <a:srgbClr val="000066"/>
                </a:solidFill>
                <a:latin typeface="Times New Roman" panose="02020603050405020304" charset="0"/>
                <a:ea typeface="楷体_GB2312" pitchFamily="49" charset="-122"/>
              </a:rPr>
              <a:t>R</a:t>
            </a:r>
            <a:r>
              <a:rPr lang="en-US" altLang="zh-CN" sz="2800">
                <a:solidFill>
                  <a:srgbClr val="000066"/>
                </a:solidFill>
                <a:latin typeface="Times New Roman" panose="02020603050405020304" charset="0"/>
                <a:ea typeface="楷体_GB2312" pitchFamily="49" charset="-122"/>
              </a:rPr>
              <a:t>=0</a:t>
            </a:r>
            <a:endParaRPr lang="en-US" altLang="zh-CN" sz="2800">
              <a:solidFill>
                <a:srgbClr val="000066"/>
              </a:solidFill>
              <a:latin typeface="Times New Roman" panose="02020603050405020304" charset="0"/>
              <a:ea typeface="楷体_GB2312" pitchFamily="49" charset="-122"/>
            </a:endParaRPr>
          </a:p>
        </p:txBody>
      </p:sp>
      <p:pic>
        <p:nvPicPr>
          <p:cNvPr id="2" name="图片 1"/>
          <p:cNvPicPr>
            <a:picLocks noChangeAspect="1"/>
          </p:cNvPicPr>
          <p:nvPr/>
        </p:nvPicPr>
        <p:blipFill>
          <a:blip r:embed="rId2"/>
          <a:srcRect l="1959" b="2094"/>
          <a:stretch>
            <a:fillRect/>
          </a:stretch>
        </p:blipFill>
        <p:spPr>
          <a:xfrm>
            <a:off x="972185" y="4315460"/>
            <a:ext cx="7245350" cy="2167255"/>
          </a:xfrm>
          <a:prstGeom prst="rect">
            <a:avLst/>
          </a:prstGeom>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4845"/>
                                        </p:tgtEl>
                                        <p:attrNameLst>
                                          <p:attrName>style.visibility</p:attrName>
                                        </p:attrNameLst>
                                      </p:cBhvr>
                                      <p:to>
                                        <p:strVal val="visible"/>
                                      </p:to>
                                    </p:set>
                                    <p:animEffect transition="in" filter="wipe(left)">
                                      <p:cBhvr>
                                        <p:cTn id="7" dur="500"/>
                                        <p:tgtEl>
                                          <p:spTgt spid="5048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4848"/>
                                        </p:tgtEl>
                                        <p:attrNameLst>
                                          <p:attrName>style.visibility</p:attrName>
                                        </p:attrNameLst>
                                      </p:cBhvr>
                                      <p:to>
                                        <p:strVal val="visible"/>
                                      </p:to>
                                    </p:set>
                                    <p:animEffect transition="in" filter="wipe(left)">
                                      <p:cBhvr>
                                        <p:cTn id="12" dur="500"/>
                                        <p:tgtEl>
                                          <p:spTgt spid="5048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4841"/>
                                        </p:tgtEl>
                                        <p:attrNameLst>
                                          <p:attrName>style.visibility</p:attrName>
                                        </p:attrNameLst>
                                      </p:cBhvr>
                                      <p:to>
                                        <p:strVal val="visible"/>
                                      </p:to>
                                    </p:set>
                                    <p:animEffect transition="in" filter="wipe(left)">
                                      <p:cBhvr>
                                        <p:cTn id="17" dur="500"/>
                                        <p:tgtEl>
                                          <p:spTgt spid="50484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504840"/>
                                        </p:tgtEl>
                                        <p:attrNameLst>
                                          <p:attrName>style.visibility</p:attrName>
                                        </p:attrNameLst>
                                      </p:cBhvr>
                                      <p:to>
                                        <p:strVal val="visible"/>
                                      </p:to>
                                    </p:set>
                                    <p:animEffect transition="in" filter="strips(downRight)">
                                      <p:cBhvr>
                                        <p:cTn id="22" dur="500"/>
                                        <p:tgtEl>
                                          <p:spTgt spid="50484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48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48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504852"/>
                                        </p:tgtEl>
                                        <p:attrNameLst>
                                          <p:attrName>style.visibility</p:attrName>
                                        </p:attrNameLst>
                                      </p:cBhvr>
                                      <p:to>
                                        <p:strVal val="visible"/>
                                      </p:to>
                                    </p:set>
                                    <p:animEffect transition="in" filter="strips(downRight)">
                                      <p:cBhvr>
                                        <p:cTn id="35" dur="500"/>
                                        <p:tgtEl>
                                          <p:spTgt spid="50485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0484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40" grpId="0"/>
      <p:bldP spid="504841" grpId="0"/>
      <p:bldP spid="504842" grpId="0"/>
      <p:bldP spid="504843" grpId="0"/>
      <p:bldP spid="504844" grpId="0"/>
      <p:bldP spid="50485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1026160" y="1223010"/>
            <a:ext cx="3265805" cy="521970"/>
          </a:xfrm>
          <a:prstGeom prst="rect">
            <a:avLst/>
          </a:prstGeom>
          <a:noFill/>
          <a:ln w="9525">
            <a:noFill/>
          </a:ln>
        </p:spPr>
        <p:txBody>
          <a:bodyPr wrap="square">
            <a:spAutoFit/>
          </a:bodyPr>
          <a:p>
            <a:pPr>
              <a:buClrTx/>
              <a:buSzTx/>
              <a:buFontTx/>
            </a:pPr>
            <a:r>
              <a:rPr lang="zh-CN" altLang="en-US" sz="2800" b="1" kern="0" dirty="0">
                <a:solidFill>
                  <a:srgbClr val="0070C0"/>
                </a:solidFill>
                <a:latin typeface="Times New Roman" panose="02020603050405020304" charset="0"/>
                <a:ea typeface="黑体" panose="02010609060101010101" pitchFamily="49" charset="-122"/>
                <a:cs typeface="Times New Roman" panose="02020603050405020304" charset="0"/>
              </a:rPr>
              <a:t>5.3.1 主从</a:t>
            </a:r>
            <a:r>
              <a:rPr lang="zh-CN" altLang="en-US" sz="2800" b="1" i="1" kern="0" dirty="0">
                <a:solidFill>
                  <a:srgbClr val="0070C0"/>
                </a:solidFill>
                <a:latin typeface="Times New Roman" panose="02020603050405020304" charset="0"/>
                <a:ea typeface="黑体" panose="02010609060101010101" pitchFamily="49" charset="-122"/>
                <a:cs typeface="Times New Roman" panose="02020603050405020304" charset="0"/>
              </a:rPr>
              <a:t>JK</a:t>
            </a:r>
            <a:r>
              <a:rPr lang="zh-CN" altLang="en-US" sz="2800" b="1" kern="0" dirty="0">
                <a:solidFill>
                  <a:srgbClr val="0070C0"/>
                </a:solidFill>
                <a:latin typeface="Times New Roman" panose="02020603050405020304" charset="0"/>
                <a:ea typeface="黑体" panose="02010609060101010101" pitchFamily="49" charset="-122"/>
                <a:cs typeface="Times New Roman" panose="02020603050405020304" charset="0"/>
              </a:rPr>
              <a:t>触发器</a:t>
            </a:r>
            <a:endParaRPr lang="zh-CN" altLang="en-US" sz="2800" b="1" kern="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3" name="文本框 2"/>
          <p:cNvSpPr txBox="1"/>
          <p:nvPr/>
        </p:nvSpPr>
        <p:spPr>
          <a:xfrm>
            <a:off x="1083945" y="166560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(１) </a:t>
            </a:r>
            <a:r>
              <a:rPr lang="zh-CN" altLang="en-US" sz="2400" b="1"/>
              <a:t>电路结构</a:t>
            </a:r>
            <a:endParaRPr lang="zh-CN" altLang="en-US" sz="2400" b="1"/>
          </a:p>
        </p:txBody>
      </p:sp>
      <p:pic>
        <p:nvPicPr>
          <p:cNvPr id="9346" name="图片 2783"/>
          <p:cNvPicPr>
            <a:picLocks noChangeAspect="1"/>
          </p:cNvPicPr>
          <p:nvPr/>
        </p:nvPicPr>
        <p:blipFill>
          <a:blip r:embed="rId1"/>
          <a:stretch>
            <a:fillRect/>
          </a:stretch>
        </p:blipFill>
        <p:spPr>
          <a:xfrm>
            <a:off x="3870960" y="1879600"/>
            <a:ext cx="4754245" cy="3814445"/>
          </a:xfrm>
          <a:prstGeom prst="rect">
            <a:avLst/>
          </a:prstGeom>
          <a:noFill/>
          <a:ln>
            <a:noFill/>
          </a:ln>
        </p:spPr>
      </p:pic>
      <p:sp>
        <p:nvSpPr>
          <p:cNvPr id="2" name="文本框 1"/>
          <p:cNvSpPr txBox="1"/>
          <p:nvPr/>
        </p:nvSpPr>
        <p:spPr>
          <a:xfrm>
            <a:off x="5745480" y="5906770"/>
            <a:ext cx="1968500" cy="337185"/>
          </a:xfrm>
          <a:prstGeom prst="rect">
            <a:avLst/>
          </a:prstGeom>
          <a:noFill/>
          <a:ln w="9525">
            <a:noFill/>
          </a:ln>
        </p:spPr>
        <p:txBody>
          <a:bodyPr wrap="square">
            <a:spAutoFit/>
          </a:bodyPr>
          <a:p>
            <a:r>
              <a:rPr lang="zh-CN" sz="1600">
                <a:solidFill>
                  <a:srgbClr val="000000"/>
                </a:solidFill>
                <a:latin typeface="Times New Roman" panose="02020603050405020304" charset="0"/>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5-8 </a:t>
            </a:r>
            <a:r>
              <a:rPr lang="zh-CN" sz="1600">
                <a:solidFill>
                  <a:srgbClr val="000000"/>
                </a:solidFill>
                <a:latin typeface="Times New Roman" panose="02020603050405020304" charset="0"/>
                <a:ea typeface="宋体" panose="02010600030101010101" pitchFamily="2" charset="-122"/>
              </a:rPr>
              <a:t>主从</a:t>
            </a:r>
            <a:r>
              <a:rPr lang="en-US" sz="1600" i="1">
                <a:solidFill>
                  <a:srgbClr val="000000"/>
                </a:solidFill>
                <a:latin typeface="Times New Roman" panose="02020603050405020304" charset="0"/>
                <a:ea typeface="宋体" panose="02010600030101010101" pitchFamily="2" charset="-122"/>
                <a:cs typeface="Times New Roman" panose="02020603050405020304" charset="0"/>
              </a:rPr>
              <a:t>JK</a:t>
            </a:r>
            <a:r>
              <a:rPr lang="zh-CN" sz="1600">
                <a:solidFill>
                  <a:srgbClr val="000000"/>
                </a:solidFill>
                <a:latin typeface="Times New Roman" panose="02020603050405020304" charset="0"/>
                <a:ea typeface="宋体" panose="02010600030101010101" pitchFamily="2" charset="-122"/>
              </a:rPr>
              <a:t>触发器</a:t>
            </a:r>
            <a:endParaRPr lang="zh-CN" altLang="en-US" sz="1600"/>
          </a:p>
        </p:txBody>
      </p:sp>
      <p:sp>
        <p:nvSpPr>
          <p:cNvPr id="4" name="文本框 3"/>
          <p:cNvSpPr txBox="1"/>
          <p:nvPr/>
        </p:nvSpPr>
        <p:spPr>
          <a:xfrm>
            <a:off x="270510" y="2319655"/>
            <a:ext cx="3249930" cy="3169285"/>
          </a:xfrm>
          <a:prstGeom prst="rect">
            <a:avLst/>
          </a:prstGeom>
          <a:noFill/>
        </p:spPr>
        <p:txBody>
          <a:bodyPr wrap="square" rtlCol="0">
            <a:spAutoFit/>
          </a:bodyPr>
          <a:p>
            <a:r>
              <a:rPr lang="zh-CN" altLang="en-US" sz="2000" b="1">
                <a:gradFill>
                  <a:gsLst>
                    <a:gs pos="0">
                      <a:srgbClr val="012D86"/>
                    </a:gs>
                    <a:gs pos="100000">
                      <a:srgbClr val="0E2557"/>
                    </a:gs>
                  </a:gsLst>
                  <a:lin scaled="0"/>
                </a:gradFill>
              </a:rPr>
              <a:t>由两级钟控</a:t>
            </a:r>
            <a:r>
              <a:rPr lang="zh-CN" altLang="en-US" sz="2000" b="1" i="1">
                <a:gradFill>
                  <a:gsLst>
                    <a:gs pos="0">
                      <a:srgbClr val="012D86"/>
                    </a:gs>
                    <a:gs pos="100000">
                      <a:srgbClr val="0E2557"/>
                    </a:gs>
                  </a:gsLst>
                  <a:lin scaled="0"/>
                </a:gradFill>
                <a:latin typeface="Times New Roman" panose="02020603050405020304" charset="0"/>
                <a:cs typeface="Times New Roman" panose="02020603050405020304" charset="0"/>
              </a:rPr>
              <a:t>RS</a:t>
            </a:r>
            <a:r>
              <a:rPr lang="zh-CN" altLang="en-US" sz="2000" b="1">
                <a:gradFill>
                  <a:gsLst>
                    <a:gs pos="0">
                      <a:srgbClr val="012D86"/>
                    </a:gs>
                    <a:gs pos="100000">
                      <a:srgbClr val="0E2557"/>
                    </a:gs>
                  </a:gsLst>
                  <a:lin scaled="0"/>
                </a:gradFill>
              </a:rPr>
              <a:t>锁存器构成。</a:t>
            </a:r>
            <a:endParaRPr lang="zh-CN" altLang="en-US" sz="2000" b="1">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G</a:t>
            </a:r>
            <a:r>
              <a:rPr lang="zh-CN" altLang="en-US" sz="2000" b="1" baseline="-25000">
                <a:gradFill>
                  <a:gsLst>
                    <a:gs pos="0">
                      <a:srgbClr val="012D86"/>
                    </a:gs>
                    <a:gs pos="100000">
                      <a:srgbClr val="0E2557"/>
                    </a:gs>
                  </a:gsLst>
                  <a:lin scaled="0"/>
                </a:gradFill>
              </a:rPr>
              <a:t>5</a:t>
            </a:r>
            <a:r>
              <a:rPr lang="zh-CN" altLang="en-US" sz="2000" b="1">
                <a:gradFill>
                  <a:gsLst>
                    <a:gs pos="0">
                      <a:srgbClr val="012D86"/>
                    </a:gs>
                    <a:gs pos="100000">
                      <a:srgbClr val="0E2557"/>
                    </a:gs>
                  </a:gsLst>
                  <a:lin scaled="0"/>
                </a:gradFill>
              </a:rPr>
              <a:t>～G</a:t>
            </a:r>
            <a:r>
              <a:rPr lang="zh-CN" altLang="en-US" sz="2000" b="1" baseline="-25000">
                <a:gradFill>
                  <a:gsLst>
                    <a:gs pos="0">
                      <a:srgbClr val="012D86"/>
                    </a:gs>
                    <a:gs pos="100000">
                      <a:srgbClr val="0E2557"/>
                    </a:gs>
                  </a:gsLst>
                  <a:lin scaled="0"/>
                </a:gradFill>
              </a:rPr>
              <a:t>8</a:t>
            </a:r>
            <a:r>
              <a:rPr lang="zh-CN" altLang="en-US" sz="2000" b="1">
                <a:gradFill>
                  <a:gsLst>
                    <a:gs pos="0">
                      <a:srgbClr val="012D86"/>
                    </a:gs>
                    <a:gs pos="100000">
                      <a:srgbClr val="0E2557"/>
                    </a:gs>
                  </a:gsLst>
                  <a:lin scaled="0"/>
                </a:gradFill>
              </a:rPr>
              <a:t>组成主锁存器，直</a:t>
            </a:r>
            <a:endParaRPr lang="zh-CN" altLang="en-US" sz="2000" b="1">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接接收输入信号，G</a:t>
            </a:r>
            <a:r>
              <a:rPr lang="zh-CN" altLang="en-US" sz="2000" b="1" baseline="-25000">
                <a:gradFill>
                  <a:gsLst>
                    <a:gs pos="0">
                      <a:srgbClr val="012D86"/>
                    </a:gs>
                    <a:gs pos="100000">
                      <a:srgbClr val="0E2557"/>
                    </a:gs>
                  </a:gsLst>
                  <a:lin scaled="0"/>
                </a:gradFill>
              </a:rPr>
              <a:t>1</a:t>
            </a:r>
            <a:r>
              <a:rPr lang="zh-CN" altLang="en-US" sz="2000" b="1">
                <a:gradFill>
                  <a:gsLst>
                    <a:gs pos="0">
                      <a:srgbClr val="012D86"/>
                    </a:gs>
                    <a:gs pos="100000">
                      <a:srgbClr val="0E2557"/>
                    </a:gs>
                  </a:gsLst>
                  <a:lin scaled="0"/>
                </a:gradFill>
              </a:rPr>
              <a:t>～G</a:t>
            </a:r>
            <a:r>
              <a:rPr lang="zh-CN" altLang="en-US" sz="2000" b="1" baseline="-25000">
                <a:gradFill>
                  <a:gsLst>
                    <a:gs pos="0">
                      <a:srgbClr val="012D86"/>
                    </a:gs>
                    <a:gs pos="100000">
                      <a:srgbClr val="0E2557"/>
                    </a:gs>
                  </a:gsLst>
                  <a:lin scaled="0"/>
                </a:gradFill>
              </a:rPr>
              <a:t>4</a:t>
            </a:r>
            <a:endParaRPr lang="zh-CN" altLang="en-US" sz="2000" b="1" baseline="-25000">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组成从锁存器，接收主锁存</a:t>
            </a:r>
            <a:endParaRPr lang="zh-CN" altLang="en-US" sz="2000" b="1">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器的输出信号。G</a:t>
            </a:r>
            <a:r>
              <a:rPr lang="zh-CN" altLang="en-US" sz="2000" b="1" baseline="-25000">
                <a:gradFill>
                  <a:gsLst>
                    <a:gs pos="0">
                      <a:srgbClr val="012D86"/>
                    </a:gs>
                    <a:gs pos="100000">
                      <a:srgbClr val="0E2557"/>
                    </a:gs>
                  </a:gsLst>
                  <a:lin scaled="0"/>
                </a:gradFill>
              </a:rPr>
              <a:t>9</a:t>
            </a:r>
            <a:r>
              <a:rPr lang="zh-CN" altLang="en-US" sz="2000" b="1">
                <a:gradFill>
                  <a:gsLst>
                    <a:gs pos="0">
                      <a:srgbClr val="012D86"/>
                    </a:gs>
                    <a:gs pos="100000">
                      <a:srgbClr val="0E2557"/>
                    </a:gs>
                  </a:gsLst>
                  <a:lin scaled="0"/>
                </a:gradFill>
              </a:rPr>
              <a:t>的作用</a:t>
            </a:r>
            <a:endParaRPr lang="zh-CN" altLang="en-US" sz="2000" b="1">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是将时钟脉冲</a:t>
            </a:r>
            <a:r>
              <a:rPr lang="zh-CN" altLang="en-US" sz="2000" b="1"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000" b="1">
                <a:gradFill>
                  <a:gsLst>
                    <a:gs pos="0">
                      <a:srgbClr val="012D86"/>
                    </a:gs>
                    <a:gs pos="100000">
                      <a:srgbClr val="0E2557"/>
                    </a:gs>
                  </a:gsLst>
                  <a:lin scaled="0"/>
                </a:gradFill>
              </a:rPr>
              <a:t>反相，形</a:t>
            </a:r>
            <a:endParaRPr lang="zh-CN" altLang="en-US" sz="2000" b="1">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成与</a:t>
            </a:r>
            <a:r>
              <a:rPr lang="zh-CN" altLang="en-US" sz="2000" b="1"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000" b="1">
                <a:gradFill>
                  <a:gsLst>
                    <a:gs pos="0">
                      <a:srgbClr val="012D86"/>
                    </a:gs>
                    <a:gs pos="100000">
                      <a:srgbClr val="0E2557"/>
                    </a:gs>
                  </a:gsLst>
                  <a:lin scaled="0"/>
                </a:gradFill>
              </a:rPr>
              <a:t>互补的信号</a:t>
            </a:r>
            <a:r>
              <a:rPr lang="zh-CN" altLang="en-US" sz="2000" b="1"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000" b="1">
                <a:gradFill>
                  <a:gsLst>
                    <a:gs pos="0">
                      <a:srgbClr val="012D86"/>
                    </a:gs>
                    <a:gs pos="100000">
                      <a:srgbClr val="0E2557"/>
                    </a:gs>
                  </a:gsLst>
                  <a:lin scaled="0"/>
                </a:gradFill>
              </a:rPr>
              <a:t>′，使</a:t>
            </a:r>
            <a:endParaRPr lang="zh-CN" altLang="en-US" sz="2000" b="1">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两级锁存器工作在两个不同</a:t>
            </a:r>
            <a:endParaRPr lang="zh-CN" altLang="en-US" sz="2000" b="1">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的时段内，从而有效地克服</a:t>
            </a:r>
            <a:endParaRPr lang="zh-CN" altLang="en-US" sz="2000" b="1">
              <a:gradFill>
                <a:gsLst>
                  <a:gs pos="0">
                    <a:srgbClr val="012D86"/>
                  </a:gs>
                  <a:gs pos="100000">
                    <a:srgbClr val="0E2557"/>
                  </a:gs>
                </a:gsLst>
                <a:lin scaled="0"/>
              </a:gradFill>
            </a:endParaRPr>
          </a:p>
          <a:p>
            <a:r>
              <a:rPr lang="zh-CN" altLang="en-US" sz="2000" b="1">
                <a:gradFill>
                  <a:gsLst>
                    <a:gs pos="0">
                      <a:srgbClr val="012D86"/>
                    </a:gs>
                    <a:gs pos="100000">
                      <a:srgbClr val="0E2557"/>
                    </a:gs>
                  </a:gsLst>
                  <a:lin scaled="0"/>
                </a:gradFill>
              </a:rPr>
              <a:t>空翻。</a:t>
            </a:r>
            <a:endParaRPr lang="zh-CN" altLang="en-US" sz="20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2000" fill="hold">
                                          <p:stCondLst>
                                            <p:cond delay="0"/>
                                          </p:stCondLst>
                                        </p:cTn>
                                        <p:tgtEl>
                                          <p:spTgt spid="4">
                                            <p:txEl>
                                              <p:pRg st="0" end="0"/>
                                            </p:txEl>
                                          </p:spTgt>
                                        </p:tgtEl>
                                        <p:attrNameLst>
                                          <p:attrName>style.visibility</p:attrName>
                                        </p:attrNameLst>
                                      </p:cBhvr>
                                      <p:to>
                                        <p:strVal val="visible"/>
                                      </p:to>
                                    </p:set>
                                    <p:animEffect transition="in" filter="wipe(left)">
                                      <p:cBhvr>
                                        <p:cTn id="7" dur="2000"/>
                                        <p:tgtEl>
                                          <p:spTgt spid="4">
                                            <p:txEl>
                                              <p:pRg st="0" end="0"/>
                                            </p:txEl>
                                          </p:spTgt>
                                        </p:tgtEl>
                                      </p:cBhvr>
                                    </p:animEffect>
                                  </p:childTnLst>
                                </p:cTn>
                              </p:par>
                            </p:childTnLst>
                          </p:cTn>
                        </p:par>
                        <p:par>
                          <p:cTn id="8" fill="hold">
                            <p:stCondLst>
                              <p:cond delay="2000"/>
                            </p:stCondLst>
                            <p:childTnLst>
                              <p:par>
                                <p:cTn id="9" presetID="22" presetClass="entr" presetSubtype="8" fill="hold" grpId="0" nodeType="afterEffect">
                                  <p:stCondLst>
                                    <p:cond delay="500"/>
                                  </p:stCondLst>
                                  <p:childTnLst>
                                    <p:set>
                                      <p:cBhvr>
                                        <p:cTn id="10" dur="2000" fill="hold">
                                          <p:stCondLst>
                                            <p:cond delay="0"/>
                                          </p:stCondLst>
                                        </p:cTn>
                                        <p:tgtEl>
                                          <p:spTgt spid="4">
                                            <p:txEl>
                                              <p:pRg st="1" end="1"/>
                                            </p:txEl>
                                          </p:spTgt>
                                        </p:tgtEl>
                                        <p:attrNameLst>
                                          <p:attrName>style.visibility</p:attrName>
                                        </p:attrNameLst>
                                      </p:cBhvr>
                                      <p:to>
                                        <p:strVal val="visible"/>
                                      </p:to>
                                    </p:set>
                                    <p:animEffect transition="in" filter="wipe(left)">
                                      <p:cBhvr>
                                        <p:cTn id="11" dur="2000"/>
                                        <p:tgtEl>
                                          <p:spTgt spid="4">
                                            <p:txEl>
                                              <p:pRg st="1" end="1"/>
                                            </p:txEl>
                                          </p:spTgt>
                                        </p:tgtEl>
                                      </p:cBhvr>
                                    </p:animEffect>
                                  </p:childTnLst>
                                </p:cTn>
                              </p:par>
                            </p:childTnLst>
                          </p:cTn>
                        </p:par>
                        <p:par>
                          <p:cTn id="12" fill="hold">
                            <p:stCondLst>
                              <p:cond delay="4500"/>
                            </p:stCondLst>
                            <p:childTnLst>
                              <p:par>
                                <p:cTn id="13" presetID="22" presetClass="entr" presetSubtype="8" fill="hold" grpId="0" nodeType="afterEffect">
                                  <p:stCondLst>
                                    <p:cond delay="500"/>
                                  </p:stCondLst>
                                  <p:childTnLst>
                                    <p:set>
                                      <p:cBhvr>
                                        <p:cTn id="14" dur="2000" fill="hold">
                                          <p:stCondLst>
                                            <p:cond delay="0"/>
                                          </p:stCondLst>
                                        </p:cTn>
                                        <p:tgtEl>
                                          <p:spTgt spid="4">
                                            <p:txEl>
                                              <p:pRg st="2" end="2"/>
                                            </p:txEl>
                                          </p:spTgt>
                                        </p:tgtEl>
                                        <p:attrNameLst>
                                          <p:attrName>style.visibility</p:attrName>
                                        </p:attrNameLst>
                                      </p:cBhvr>
                                      <p:to>
                                        <p:strVal val="visible"/>
                                      </p:to>
                                    </p:set>
                                    <p:animEffect transition="in" filter="wipe(left)">
                                      <p:cBhvr>
                                        <p:cTn id="15" dur="2000"/>
                                        <p:tgtEl>
                                          <p:spTgt spid="4">
                                            <p:txEl>
                                              <p:pRg st="2" end="2"/>
                                            </p:txEl>
                                          </p:spTgt>
                                        </p:tgtEl>
                                      </p:cBhvr>
                                    </p:animEffect>
                                  </p:childTnLst>
                                </p:cTn>
                              </p:par>
                            </p:childTnLst>
                          </p:cTn>
                        </p:par>
                        <p:par>
                          <p:cTn id="16" fill="hold">
                            <p:stCondLst>
                              <p:cond delay="7000"/>
                            </p:stCondLst>
                            <p:childTnLst>
                              <p:par>
                                <p:cTn id="17" presetID="22" presetClass="entr" presetSubtype="8" fill="hold" grpId="0" nodeType="afterEffect">
                                  <p:stCondLst>
                                    <p:cond delay="500"/>
                                  </p:stCondLst>
                                  <p:childTnLst>
                                    <p:set>
                                      <p:cBhvr>
                                        <p:cTn id="18" dur="2000" fill="hold">
                                          <p:stCondLst>
                                            <p:cond delay="0"/>
                                          </p:stCondLst>
                                        </p:cTn>
                                        <p:tgtEl>
                                          <p:spTgt spid="4">
                                            <p:txEl>
                                              <p:pRg st="3" end="3"/>
                                            </p:txEl>
                                          </p:spTgt>
                                        </p:tgtEl>
                                        <p:attrNameLst>
                                          <p:attrName>style.visibility</p:attrName>
                                        </p:attrNameLst>
                                      </p:cBhvr>
                                      <p:to>
                                        <p:strVal val="visible"/>
                                      </p:to>
                                    </p:set>
                                    <p:animEffect transition="in" filter="wipe(left)">
                                      <p:cBhvr>
                                        <p:cTn id="19" dur="2000"/>
                                        <p:tgtEl>
                                          <p:spTgt spid="4">
                                            <p:txEl>
                                              <p:pRg st="3" end="3"/>
                                            </p:txEl>
                                          </p:spTgt>
                                        </p:tgtEl>
                                      </p:cBhvr>
                                    </p:animEffect>
                                  </p:childTnLst>
                                </p:cTn>
                              </p:par>
                            </p:childTnLst>
                          </p:cTn>
                        </p:par>
                        <p:par>
                          <p:cTn id="20" fill="hold">
                            <p:stCondLst>
                              <p:cond delay="9500"/>
                            </p:stCondLst>
                            <p:childTnLst>
                              <p:par>
                                <p:cTn id="21" presetID="22" presetClass="entr" presetSubtype="8" fill="hold" grpId="0" nodeType="afterEffect">
                                  <p:stCondLst>
                                    <p:cond delay="500"/>
                                  </p:stCondLst>
                                  <p:childTnLst>
                                    <p:set>
                                      <p:cBhvr>
                                        <p:cTn id="22" dur="2000" fill="hold">
                                          <p:stCondLst>
                                            <p:cond delay="0"/>
                                          </p:stCondLst>
                                        </p:cTn>
                                        <p:tgtEl>
                                          <p:spTgt spid="4">
                                            <p:txEl>
                                              <p:pRg st="4" end="4"/>
                                            </p:txEl>
                                          </p:spTgt>
                                        </p:tgtEl>
                                        <p:attrNameLst>
                                          <p:attrName>style.visibility</p:attrName>
                                        </p:attrNameLst>
                                      </p:cBhvr>
                                      <p:to>
                                        <p:strVal val="visible"/>
                                      </p:to>
                                    </p:set>
                                    <p:animEffect transition="in" filter="wipe(left)">
                                      <p:cBhvr>
                                        <p:cTn id="23" dur="2000"/>
                                        <p:tgtEl>
                                          <p:spTgt spid="4">
                                            <p:txEl>
                                              <p:pRg st="4" end="4"/>
                                            </p:txEl>
                                          </p:spTgt>
                                        </p:tgtEl>
                                      </p:cBhvr>
                                    </p:animEffect>
                                  </p:childTnLst>
                                </p:cTn>
                              </p:par>
                            </p:childTnLst>
                          </p:cTn>
                        </p:par>
                        <p:par>
                          <p:cTn id="24" fill="hold">
                            <p:stCondLst>
                              <p:cond delay="12000"/>
                            </p:stCondLst>
                            <p:childTnLst>
                              <p:par>
                                <p:cTn id="25" presetID="22" presetClass="entr" presetSubtype="8" fill="hold" grpId="0" nodeType="afterEffect">
                                  <p:stCondLst>
                                    <p:cond delay="500"/>
                                  </p:stCondLst>
                                  <p:childTnLst>
                                    <p:set>
                                      <p:cBhvr>
                                        <p:cTn id="26" dur="2000" fill="hold">
                                          <p:stCondLst>
                                            <p:cond delay="0"/>
                                          </p:stCondLst>
                                        </p:cTn>
                                        <p:tgtEl>
                                          <p:spTgt spid="4">
                                            <p:txEl>
                                              <p:pRg st="5" end="5"/>
                                            </p:txEl>
                                          </p:spTgt>
                                        </p:tgtEl>
                                        <p:attrNameLst>
                                          <p:attrName>style.visibility</p:attrName>
                                        </p:attrNameLst>
                                      </p:cBhvr>
                                      <p:to>
                                        <p:strVal val="visible"/>
                                      </p:to>
                                    </p:set>
                                    <p:animEffect transition="in" filter="wipe(left)">
                                      <p:cBhvr>
                                        <p:cTn id="27" dur="2000"/>
                                        <p:tgtEl>
                                          <p:spTgt spid="4">
                                            <p:txEl>
                                              <p:pRg st="5" end="5"/>
                                            </p:txEl>
                                          </p:spTgt>
                                        </p:tgtEl>
                                      </p:cBhvr>
                                    </p:animEffect>
                                  </p:childTnLst>
                                </p:cTn>
                              </p:par>
                            </p:childTnLst>
                          </p:cTn>
                        </p:par>
                        <p:par>
                          <p:cTn id="28" fill="hold">
                            <p:stCondLst>
                              <p:cond delay="14500"/>
                            </p:stCondLst>
                            <p:childTnLst>
                              <p:par>
                                <p:cTn id="29" presetID="22" presetClass="entr" presetSubtype="8" fill="hold" grpId="0" nodeType="afterEffect">
                                  <p:stCondLst>
                                    <p:cond delay="500"/>
                                  </p:stCondLst>
                                  <p:childTnLst>
                                    <p:set>
                                      <p:cBhvr>
                                        <p:cTn id="30" dur="2000" fill="hold">
                                          <p:stCondLst>
                                            <p:cond delay="0"/>
                                          </p:stCondLst>
                                        </p:cTn>
                                        <p:tgtEl>
                                          <p:spTgt spid="4">
                                            <p:txEl>
                                              <p:pRg st="6" end="6"/>
                                            </p:txEl>
                                          </p:spTgt>
                                        </p:tgtEl>
                                        <p:attrNameLst>
                                          <p:attrName>style.visibility</p:attrName>
                                        </p:attrNameLst>
                                      </p:cBhvr>
                                      <p:to>
                                        <p:strVal val="visible"/>
                                      </p:to>
                                    </p:set>
                                    <p:animEffect transition="in" filter="wipe(left)">
                                      <p:cBhvr>
                                        <p:cTn id="31" dur="2000"/>
                                        <p:tgtEl>
                                          <p:spTgt spid="4">
                                            <p:txEl>
                                              <p:pRg st="6" end="6"/>
                                            </p:txEl>
                                          </p:spTgt>
                                        </p:tgtEl>
                                      </p:cBhvr>
                                    </p:animEffect>
                                  </p:childTnLst>
                                </p:cTn>
                              </p:par>
                            </p:childTnLst>
                          </p:cTn>
                        </p:par>
                        <p:par>
                          <p:cTn id="32" fill="hold">
                            <p:stCondLst>
                              <p:cond delay="17000"/>
                            </p:stCondLst>
                            <p:childTnLst>
                              <p:par>
                                <p:cTn id="33" presetID="22" presetClass="entr" presetSubtype="8" fill="hold" grpId="0" nodeType="afterEffect">
                                  <p:stCondLst>
                                    <p:cond delay="500"/>
                                  </p:stCondLst>
                                  <p:childTnLst>
                                    <p:set>
                                      <p:cBhvr>
                                        <p:cTn id="34" dur="2000" fill="hold">
                                          <p:stCondLst>
                                            <p:cond delay="0"/>
                                          </p:stCondLst>
                                        </p:cTn>
                                        <p:tgtEl>
                                          <p:spTgt spid="4">
                                            <p:txEl>
                                              <p:pRg st="7" end="7"/>
                                            </p:txEl>
                                          </p:spTgt>
                                        </p:tgtEl>
                                        <p:attrNameLst>
                                          <p:attrName>style.visibility</p:attrName>
                                        </p:attrNameLst>
                                      </p:cBhvr>
                                      <p:to>
                                        <p:strVal val="visible"/>
                                      </p:to>
                                    </p:set>
                                    <p:animEffect transition="in" filter="wipe(left)">
                                      <p:cBhvr>
                                        <p:cTn id="35" dur="2000"/>
                                        <p:tgtEl>
                                          <p:spTgt spid="4">
                                            <p:txEl>
                                              <p:pRg st="7" end="7"/>
                                            </p:txEl>
                                          </p:spTgt>
                                        </p:tgtEl>
                                      </p:cBhvr>
                                    </p:animEffect>
                                  </p:childTnLst>
                                </p:cTn>
                              </p:par>
                            </p:childTnLst>
                          </p:cTn>
                        </p:par>
                        <p:par>
                          <p:cTn id="36" fill="hold">
                            <p:stCondLst>
                              <p:cond delay="19500"/>
                            </p:stCondLst>
                            <p:childTnLst>
                              <p:par>
                                <p:cTn id="37" presetID="22" presetClass="entr" presetSubtype="8" fill="hold" grpId="0" nodeType="afterEffect">
                                  <p:stCondLst>
                                    <p:cond delay="500"/>
                                  </p:stCondLst>
                                  <p:childTnLst>
                                    <p:set>
                                      <p:cBhvr>
                                        <p:cTn id="38" dur="2000" fill="hold">
                                          <p:stCondLst>
                                            <p:cond delay="0"/>
                                          </p:stCondLst>
                                        </p:cTn>
                                        <p:tgtEl>
                                          <p:spTgt spid="4">
                                            <p:txEl>
                                              <p:pRg st="8" end="8"/>
                                            </p:txEl>
                                          </p:spTgt>
                                        </p:tgtEl>
                                        <p:attrNameLst>
                                          <p:attrName>style.visibility</p:attrName>
                                        </p:attrNameLst>
                                      </p:cBhvr>
                                      <p:to>
                                        <p:strVal val="visible"/>
                                      </p:to>
                                    </p:set>
                                    <p:animEffect transition="in" filter="wipe(left)">
                                      <p:cBhvr>
                                        <p:cTn id="39" dur="2000"/>
                                        <p:tgtEl>
                                          <p:spTgt spid="4">
                                            <p:txEl>
                                              <p:pRg st="8" end="8"/>
                                            </p:txEl>
                                          </p:spTgt>
                                        </p:tgtEl>
                                      </p:cBhvr>
                                    </p:animEffect>
                                  </p:childTnLst>
                                </p:cTn>
                              </p:par>
                            </p:childTnLst>
                          </p:cTn>
                        </p:par>
                        <p:par>
                          <p:cTn id="40" fill="hold">
                            <p:stCondLst>
                              <p:cond delay="22000"/>
                            </p:stCondLst>
                            <p:childTnLst>
                              <p:par>
                                <p:cTn id="41" presetID="22" presetClass="entr" presetSubtype="8" fill="hold" grpId="0" nodeType="afterEffect">
                                  <p:stCondLst>
                                    <p:cond delay="500"/>
                                  </p:stCondLst>
                                  <p:childTnLst>
                                    <p:set>
                                      <p:cBhvr>
                                        <p:cTn id="42" dur="2000" fill="hold">
                                          <p:stCondLst>
                                            <p:cond delay="0"/>
                                          </p:stCondLst>
                                        </p:cTn>
                                        <p:tgtEl>
                                          <p:spTgt spid="4">
                                            <p:txEl>
                                              <p:pRg st="9" end="9"/>
                                            </p:txEl>
                                          </p:spTgt>
                                        </p:tgtEl>
                                        <p:attrNameLst>
                                          <p:attrName>style.visibility</p:attrName>
                                        </p:attrNameLst>
                                      </p:cBhvr>
                                      <p:to>
                                        <p:strVal val="visible"/>
                                      </p:to>
                                    </p:set>
                                    <p:animEffect transition="in" filter="wipe(left)">
                                      <p:cBhvr>
                                        <p:cTn id="43"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62725"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46" name="图片 2783"/>
          <p:cNvPicPr>
            <a:picLocks noChangeAspect="1"/>
          </p:cNvPicPr>
          <p:nvPr/>
        </p:nvPicPr>
        <p:blipFill>
          <a:blip r:embed="rId1"/>
          <a:srcRect r="28757" b="5976"/>
          <a:stretch>
            <a:fillRect/>
          </a:stretch>
        </p:blipFill>
        <p:spPr>
          <a:xfrm>
            <a:off x="424815" y="1913890"/>
            <a:ext cx="3387090" cy="3586480"/>
          </a:xfrm>
          <a:prstGeom prst="rect">
            <a:avLst/>
          </a:prstGeom>
          <a:noFill/>
          <a:ln>
            <a:noFill/>
          </a:ln>
        </p:spPr>
      </p:pic>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sp>
        <p:nvSpPr>
          <p:cNvPr id="2" name="文本框 1"/>
          <p:cNvSpPr txBox="1"/>
          <p:nvPr/>
        </p:nvSpPr>
        <p:spPr>
          <a:xfrm>
            <a:off x="3785235" y="1374775"/>
            <a:ext cx="5130165" cy="460375"/>
          </a:xfrm>
          <a:prstGeom prst="rect">
            <a:avLst/>
          </a:prstGeom>
          <a:noFill/>
        </p:spPr>
        <p:txBody>
          <a:bodyPr wrap="square" rtlCol="0">
            <a:spAutoFit/>
          </a:bodyPr>
          <a:p>
            <a:r>
              <a:rPr lang="zh-CN" altLang="en-US" sz="2400" b="1">
                <a:gradFill>
                  <a:gsLst>
                    <a:gs pos="0">
                      <a:srgbClr val="012D86"/>
                    </a:gs>
                    <a:gs pos="100000">
                      <a:srgbClr val="0E2557"/>
                    </a:gs>
                  </a:gsLst>
                  <a:lin scaled="0"/>
                </a:gradFill>
              </a:rPr>
              <a:t>①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 K</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 0，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1"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endPar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endParaRPr>
          </a:p>
        </p:txBody>
      </p:sp>
      <p:grpSp>
        <p:nvGrpSpPr>
          <p:cNvPr id="6" name="组合 5"/>
          <p:cNvGrpSpPr/>
          <p:nvPr/>
        </p:nvGrpSpPr>
        <p:grpSpPr>
          <a:xfrm>
            <a:off x="3763645" y="1837690"/>
            <a:ext cx="4867910" cy="3415030"/>
            <a:chOff x="5927" y="2894"/>
            <a:chExt cx="7666" cy="5378"/>
          </a:xfrm>
        </p:grpSpPr>
        <p:sp>
          <p:nvSpPr>
            <p:cNvPr id="3" name="文本框 2"/>
            <p:cNvSpPr txBox="1"/>
            <p:nvPr/>
          </p:nvSpPr>
          <p:spPr>
            <a:xfrm>
              <a:off x="5927" y="2894"/>
              <a:ext cx="7666" cy="5378"/>
            </a:xfrm>
            <a:prstGeom prst="rect">
              <a:avLst/>
            </a:prstGeom>
            <a:noFill/>
          </p:spPr>
          <p:txBody>
            <a:bodyPr wrap="square" rtlCol="0">
              <a:spAutoFit/>
            </a:bodyPr>
            <a:p>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② </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=0，</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=1， G</a:t>
              </a:r>
              <a:r>
                <a:rPr lang="zh-CN" altLang="en-US" sz="2400" baseline="-25000">
                  <a:gradFill>
                    <a:gsLst>
                      <a:gs pos="0">
                        <a:srgbClr val="012D86"/>
                      </a:gs>
                      <a:gs pos="100000">
                        <a:srgbClr val="0E2557"/>
                      </a:gs>
                    </a:gsLst>
                    <a:lin scaled="0"/>
                  </a:gradFill>
                  <a:latin typeface="Times New Roman" panose="02020603050405020304" charset="0"/>
                  <a:cs typeface="Times New Roman" panose="02020603050405020304" charset="0"/>
                </a:rPr>
                <a:t>7</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门被封锁，若初态</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为0，有</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K·Q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=0，则G</a:t>
              </a:r>
              <a:r>
                <a:rPr lang="zh-CN" altLang="en-US" sz="2400" baseline="-25000">
                  <a:gradFill>
                    <a:gsLst>
                      <a:gs pos="0">
                        <a:srgbClr val="012D86"/>
                      </a:gs>
                      <a:gs pos="100000">
                        <a:srgbClr val="0E2557"/>
                      </a:gs>
                    </a:gsLst>
                    <a:lin scaled="0"/>
                  </a:gradFill>
                  <a:latin typeface="Times New Roman" panose="02020603050405020304" charset="0"/>
                  <a:cs typeface="Times New Roman" panose="02020603050405020304" charset="0"/>
                </a:rPr>
                <a:t>8</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门也被封锁，于是触发器的状态保持初态0不变；若初态为1，有</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K·Q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=1，在</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=1期间，主锁存器类似于钟控</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RS</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锁存器的</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R</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S</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0的情况，主锁存器被置0，待</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0后从锁存器也随之置0，综合得</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0。</a:t>
              </a:r>
              <a:endPar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endParaRPr>
            </a:p>
          </p:txBody>
        </p:sp>
        <p:pic>
          <p:nvPicPr>
            <p:cNvPr id="4" name="对象 1645"/>
            <p:cNvPicPr>
              <a:picLocks noChangeAspect="1"/>
            </p:cNvPicPr>
            <p:nvPr/>
          </p:nvPicPr>
          <p:blipFill>
            <a:blip r:embed="rId2"/>
            <a:stretch>
              <a:fillRect/>
            </a:stretch>
          </p:blipFill>
          <p:spPr>
            <a:xfrm>
              <a:off x="11926" y="5819"/>
              <a:ext cx="509" cy="566"/>
            </a:xfrm>
            <a:prstGeom prst="rect">
              <a:avLst/>
            </a:prstGeom>
            <a:noFill/>
            <a:ln w="9525">
              <a:noFill/>
            </a:ln>
          </p:spPr>
        </p:pic>
      </p:gr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2000"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46" name="图片 2783"/>
          <p:cNvPicPr>
            <a:picLocks noChangeAspect="1"/>
          </p:cNvPicPr>
          <p:nvPr/>
        </p:nvPicPr>
        <p:blipFill>
          <a:blip r:embed="rId1"/>
          <a:srcRect r="28757" b="5976"/>
          <a:stretch>
            <a:fillRect/>
          </a:stretch>
        </p:blipFill>
        <p:spPr>
          <a:xfrm>
            <a:off x="424815" y="1913890"/>
            <a:ext cx="3387090" cy="3586480"/>
          </a:xfrm>
          <a:prstGeom prst="rect">
            <a:avLst/>
          </a:prstGeom>
          <a:noFill/>
          <a:ln>
            <a:noFill/>
          </a:ln>
        </p:spPr>
      </p:pic>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sp>
        <p:nvSpPr>
          <p:cNvPr id="2" name="文本框 1"/>
          <p:cNvSpPr txBox="1"/>
          <p:nvPr/>
        </p:nvSpPr>
        <p:spPr>
          <a:xfrm>
            <a:off x="3785235" y="1374775"/>
            <a:ext cx="5130165" cy="460375"/>
          </a:xfrm>
          <a:prstGeom prst="rect">
            <a:avLst/>
          </a:prstGeom>
          <a:noFill/>
        </p:spPr>
        <p:txBody>
          <a:bodyPr wrap="square" rtlCol="0">
            <a:spAutoFit/>
          </a:bodyPr>
          <a:p>
            <a:r>
              <a:rPr lang="zh-CN" altLang="en-US" sz="2400" b="1">
                <a:gradFill>
                  <a:gsLst>
                    <a:gs pos="0">
                      <a:srgbClr val="012D86"/>
                    </a:gs>
                    <a:gs pos="100000">
                      <a:srgbClr val="0E2557"/>
                    </a:gs>
                  </a:gsLst>
                  <a:lin scaled="0"/>
                </a:gradFill>
              </a:rPr>
              <a:t>①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 K</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 0，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1"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endPar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endParaRPr>
          </a:p>
        </p:txBody>
      </p:sp>
      <p:sp>
        <p:nvSpPr>
          <p:cNvPr id="3" name="文本框 2"/>
          <p:cNvSpPr txBox="1"/>
          <p:nvPr/>
        </p:nvSpPr>
        <p:spPr>
          <a:xfrm>
            <a:off x="3763645" y="1837690"/>
            <a:ext cx="4867910" cy="460375"/>
          </a:xfrm>
          <a:prstGeom prst="rect">
            <a:avLst/>
          </a:prstGeom>
          <a:noFill/>
        </p:spPr>
        <p:txBody>
          <a:bodyPr wrap="square" rtlCol="0">
            <a:spAutoFit/>
          </a:bodyPr>
          <a:p>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②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=0，</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1"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 0。</a:t>
            </a:r>
            <a:endPar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endParaRPr>
          </a:p>
        </p:txBody>
      </p:sp>
      <p:grpSp>
        <p:nvGrpSpPr>
          <p:cNvPr id="10" name="组合 9"/>
          <p:cNvGrpSpPr/>
          <p:nvPr/>
        </p:nvGrpSpPr>
        <p:grpSpPr>
          <a:xfrm>
            <a:off x="3757295" y="2261870"/>
            <a:ext cx="5044440" cy="3415030"/>
            <a:chOff x="5857" y="3562"/>
            <a:chExt cx="7944" cy="5378"/>
          </a:xfrm>
        </p:grpSpPr>
        <p:sp>
          <p:nvSpPr>
            <p:cNvPr id="6" name="文本框 5"/>
            <p:cNvSpPr txBox="1"/>
            <p:nvPr/>
          </p:nvSpPr>
          <p:spPr>
            <a:xfrm>
              <a:off x="5857" y="3562"/>
              <a:ext cx="7944" cy="5378"/>
            </a:xfrm>
            <a:prstGeom prst="rect">
              <a:avLst/>
            </a:prstGeom>
            <a:noFill/>
          </p:spPr>
          <p:txBody>
            <a:bodyPr wrap="square" rtlCol="0">
              <a:spAutoFit/>
            </a:bodyPr>
            <a:p>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③ 若</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=1，</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0， G</a:t>
              </a:r>
              <a:r>
                <a:rPr lang="zh-CN" altLang="en-US" sz="2400" baseline="-25000">
                  <a:gradFill>
                    <a:gsLst>
                      <a:gs pos="0">
                        <a:srgbClr val="012D86"/>
                      </a:gs>
                      <a:gs pos="100000">
                        <a:srgbClr val="0E2557"/>
                      </a:gs>
                    </a:gsLst>
                    <a:lin scaled="0"/>
                  </a:gradFill>
                  <a:latin typeface="Times New Roman" panose="02020603050405020304" charset="0"/>
                  <a:cs typeface="Times New Roman" panose="02020603050405020304" charset="0"/>
                </a:rPr>
                <a:t>8</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门被封锁，在</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1期间，若</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为0，则</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1，此时主锁存器类似于钟控RS锁存器的</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R</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0，</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S</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sym typeface="+mn-ea"/>
                </a:rPr>
                <a:t>   </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a:t>
              </a:r>
              <a:r>
                <a:rPr lang="en-US" altLang="zh-CN" sz="2400">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1的情况，主锁存器被置1，待</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0后从锁存器也随之置1，即</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1；如果</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为1，则</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0，G</a:t>
              </a:r>
              <a:r>
                <a:rPr lang="zh-CN" altLang="en-US" sz="2400" baseline="-25000">
                  <a:gradFill>
                    <a:gsLst>
                      <a:gs pos="0">
                        <a:srgbClr val="012D86"/>
                      </a:gs>
                      <a:gs pos="100000">
                        <a:srgbClr val="0E2557"/>
                      </a:gs>
                    </a:gsLst>
                    <a:lin scaled="0"/>
                  </a:gradFill>
                  <a:latin typeface="Times New Roman" panose="02020603050405020304" charset="0"/>
                  <a:cs typeface="Times New Roman" panose="02020603050405020304" charset="0"/>
                </a:rPr>
                <a:t>7</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门也被封锁，触发器保持原状态不变，综合得</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1。</a:t>
              </a:r>
              <a:endPar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endParaRPr>
            </a:p>
          </p:txBody>
        </p:sp>
        <p:pic>
          <p:nvPicPr>
            <p:cNvPr id="4" name="对象 1645"/>
            <p:cNvPicPr>
              <a:picLocks noChangeAspect="1"/>
            </p:cNvPicPr>
            <p:nvPr/>
          </p:nvPicPr>
          <p:blipFill>
            <a:blip r:embed="rId2"/>
            <a:stretch>
              <a:fillRect/>
            </a:stretch>
          </p:blipFill>
          <p:spPr>
            <a:xfrm>
              <a:off x="11791" y="4184"/>
              <a:ext cx="509" cy="566"/>
            </a:xfrm>
            <a:prstGeom prst="rect">
              <a:avLst/>
            </a:prstGeom>
            <a:noFill/>
            <a:ln w="9525">
              <a:noFill/>
            </a:ln>
          </p:spPr>
        </p:pic>
        <p:pic>
          <p:nvPicPr>
            <p:cNvPr id="8" name="对象 1645"/>
            <p:cNvPicPr>
              <a:picLocks noChangeAspect="1"/>
            </p:cNvPicPr>
            <p:nvPr/>
          </p:nvPicPr>
          <p:blipFill>
            <a:blip r:embed="rId2"/>
            <a:stretch>
              <a:fillRect/>
            </a:stretch>
          </p:blipFill>
          <p:spPr>
            <a:xfrm>
              <a:off x="7579" y="7050"/>
              <a:ext cx="509" cy="566"/>
            </a:xfrm>
            <a:prstGeom prst="rect">
              <a:avLst/>
            </a:prstGeom>
            <a:noFill/>
            <a:ln w="9525">
              <a:noFill/>
            </a:ln>
          </p:spPr>
        </p:pic>
        <p:pic>
          <p:nvPicPr>
            <p:cNvPr id="9" name="对象 1645"/>
            <p:cNvPicPr>
              <a:picLocks noChangeAspect="1"/>
            </p:cNvPicPr>
            <p:nvPr/>
          </p:nvPicPr>
          <p:blipFill>
            <a:blip r:embed="rId2"/>
            <a:stretch>
              <a:fillRect/>
            </a:stretch>
          </p:blipFill>
          <p:spPr>
            <a:xfrm>
              <a:off x="10179" y="5345"/>
              <a:ext cx="509" cy="566"/>
            </a:xfrm>
            <a:prstGeom prst="rect">
              <a:avLst/>
            </a:prstGeom>
            <a:noFill/>
            <a:ln w="9525">
              <a:noFill/>
            </a:ln>
          </p:spPr>
        </p:pic>
      </p:gr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46" name="图片 2783"/>
          <p:cNvPicPr>
            <a:picLocks noChangeAspect="1"/>
          </p:cNvPicPr>
          <p:nvPr/>
        </p:nvPicPr>
        <p:blipFill>
          <a:blip r:embed="rId1"/>
          <a:srcRect r="28757" b="5976"/>
          <a:stretch>
            <a:fillRect/>
          </a:stretch>
        </p:blipFill>
        <p:spPr>
          <a:xfrm>
            <a:off x="424815" y="1913890"/>
            <a:ext cx="3387090" cy="3586480"/>
          </a:xfrm>
          <a:prstGeom prst="rect">
            <a:avLst/>
          </a:prstGeom>
          <a:noFill/>
          <a:ln>
            <a:noFill/>
          </a:ln>
        </p:spPr>
      </p:pic>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sp>
        <p:nvSpPr>
          <p:cNvPr id="2" name="文本框 1"/>
          <p:cNvSpPr txBox="1"/>
          <p:nvPr/>
        </p:nvSpPr>
        <p:spPr>
          <a:xfrm>
            <a:off x="3785235" y="1374775"/>
            <a:ext cx="5130165" cy="460375"/>
          </a:xfrm>
          <a:prstGeom prst="rect">
            <a:avLst/>
          </a:prstGeom>
          <a:noFill/>
        </p:spPr>
        <p:txBody>
          <a:bodyPr wrap="square" rtlCol="0">
            <a:spAutoFit/>
          </a:bodyPr>
          <a:p>
            <a:r>
              <a:rPr lang="zh-CN" altLang="en-US" sz="2400" b="1">
                <a:gradFill>
                  <a:gsLst>
                    <a:gs pos="0">
                      <a:srgbClr val="012D86"/>
                    </a:gs>
                    <a:gs pos="100000">
                      <a:srgbClr val="0E2557"/>
                    </a:gs>
                  </a:gsLst>
                  <a:lin scaled="0"/>
                </a:gradFill>
              </a:rPr>
              <a:t>①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 K</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 0，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1"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endPar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endParaRPr>
          </a:p>
        </p:txBody>
      </p:sp>
      <p:sp>
        <p:nvSpPr>
          <p:cNvPr id="3" name="文本框 2"/>
          <p:cNvSpPr txBox="1"/>
          <p:nvPr/>
        </p:nvSpPr>
        <p:spPr>
          <a:xfrm>
            <a:off x="3763645" y="1837690"/>
            <a:ext cx="4867910" cy="460375"/>
          </a:xfrm>
          <a:prstGeom prst="rect">
            <a:avLst/>
          </a:prstGeom>
          <a:noFill/>
        </p:spPr>
        <p:txBody>
          <a:bodyPr wrap="square" rtlCol="0">
            <a:spAutoFit/>
          </a:bodyPr>
          <a:p>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②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=0，</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1"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 0。</a:t>
            </a:r>
            <a:endPar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endParaRPr>
          </a:p>
        </p:txBody>
      </p:sp>
      <p:sp>
        <p:nvSpPr>
          <p:cNvPr id="6" name="文本框 5"/>
          <p:cNvSpPr txBox="1"/>
          <p:nvPr/>
        </p:nvSpPr>
        <p:spPr>
          <a:xfrm>
            <a:off x="3757295" y="2261870"/>
            <a:ext cx="5044440" cy="460375"/>
          </a:xfrm>
          <a:prstGeom prst="rect">
            <a:avLst/>
          </a:prstGeom>
          <a:noFill/>
        </p:spPr>
        <p:txBody>
          <a:bodyPr wrap="square" rtlCol="0">
            <a:spAutoFit/>
          </a:bodyPr>
          <a:p>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③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=1，</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 0，</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1"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 1。</a:t>
            </a:r>
            <a:endPar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endParaRPr>
          </a:p>
        </p:txBody>
      </p:sp>
      <p:grpSp>
        <p:nvGrpSpPr>
          <p:cNvPr id="12" name="组合 11"/>
          <p:cNvGrpSpPr/>
          <p:nvPr/>
        </p:nvGrpSpPr>
        <p:grpSpPr>
          <a:xfrm>
            <a:off x="3811905" y="2674620"/>
            <a:ext cx="5120640" cy="2306320"/>
            <a:chOff x="5932" y="4252"/>
            <a:chExt cx="8064" cy="3632"/>
          </a:xfrm>
        </p:grpSpPr>
        <p:sp>
          <p:nvSpPr>
            <p:cNvPr id="11" name="文本框 10"/>
            <p:cNvSpPr txBox="1"/>
            <p:nvPr/>
          </p:nvSpPr>
          <p:spPr>
            <a:xfrm>
              <a:off x="5932" y="4252"/>
              <a:ext cx="8064" cy="3633"/>
            </a:xfrm>
            <a:prstGeom prst="rect">
              <a:avLst/>
            </a:prstGeom>
            <a:noFill/>
          </p:spPr>
          <p:txBody>
            <a:bodyPr wrap="square" rtlCol="0">
              <a:spAutoFit/>
            </a:bodyPr>
            <a:p>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④ 若</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=1，在</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CP</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=1期间，如果</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为0，G</a:t>
              </a:r>
              <a:r>
                <a:rPr lang="zh-CN" altLang="en-US" sz="2400" baseline="-25000">
                  <a:gradFill>
                    <a:gsLst>
                      <a:gs pos="0">
                        <a:srgbClr val="012D86"/>
                      </a:gs>
                      <a:gs pos="100000">
                        <a:srgbClr val="0E2557"/>
                      </a:gs>
                    </a:gsLst>
                    <a:lin scaled="0"/>
                  </a:gradFill>
                  <a:latin typeface="Times New Roman" panose="02020603050405020304" charset="0"/>
                  <a:cs typeface="Times New Roman" panose="02020603050405020304" charset="0"/>
                </a:rPr>
                <a:t>8</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门被封锁，G</a:t>
              </a:r>
              <a:r>
                <a:rPr lang="zh-CN" altLang="en-US" sz="2400" baseline="-25000">
                  <a:gradFill>
                    <a:gsLst>
                      <a:gs pos="0">
                        <a:srgbClr val="012D86"/>
                      </a:gs>
                      <a:gs pos="100000">
                        <a:srgbClr val="0E2557"/>
                      </a:gs>
                    </a:gsLst>
                    <a:lin scaled="0"/>
                  </a:gradFill>
                  <a:latin typeface="Times New Roman" panose="02020603050405020304" charset="0"/>
                  <a:cs typeface="Times New Roman" panose="02020603050405020304" charset="0"/>
                </a:rPr>
                <a:t>7</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门打开，触发器被置1；如果</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为1， G</a:t>
              </a:r>
              <a:r>
                <a:rPr lang="zh-CN" altLang="en-US" sz="2400" baseline="-25000">
                  <a:gradFill>
                    <a:gsLst>
                      <a:gs pos="0">
                        <a:srgbClr val="012D86"/>
                      </a:gs>
                      <a:gs pos="100000">
                        <a:srgbClr val="0E2557"/>
                      </a:gs>
                    </a:gsLst>
                    <a:lin scaled="0"/>
                  </a:gradFill>
                  <a:latin typeface="Times New Roman" panose="02020603050405020304" charset="0"/>
                  <a:cs typeface="Times New Roman" panose="02020603050405020304" charset="0"/>
                </a:rPr>
                <a:t>8</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门打开， G</a:t>
              </a:r>
              <a:r>
                <a:rPr lang="zh-CN" altLang="en-US" sz="2400" baseline="-25000">
                  <a:gradFill>
                    <a:gsLst>
                      <a:gs pos="0">
                        <a:srgbClr val="012D86"/>
                      </a:gs>
                      <a:gs pos="100000">
                        <a:srgbClr val="0E2557"/>
                      </a:gs>
                    </a:gsLst>
                    <a:lin scaled="0"/>
                  </a:gradFill>
                  <a:latin typeface="Times New Roman" panose="02020603050405020304" charset="0"/>
                  <a:cs typeface="Times New Roman" panose="02020603050405020304" charset="0"/>
                </a:rPr>
                <a:t>7</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门被封锁，触发器被置0。由此可知，无论</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0还是</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1，触发器的次态可表示为</a:t>
              </a:r>
              <a:r>
                <a:rPr lang="zh-CN" altLang="en-US" sz="2400"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rPr>
                <a:t> =    。</a:t>
              </a:r>
              <a:endParaRPr lang="zh-CN" altLang="en-US" sz="2400">
                <a:gradFill>
                  <a:gsLst>
                    <a:gs pos="0">
                      <a:srgbClr val="012D86"/>
                    </a:gs>
                    <a:gs pos="100000">
                      <a:srgbClr val="0E2557"/>
                    </a:gs>
                  </a:gsLst>
                  <a:lin scaled="0"/>
                </a:gradFill>
                <a:latin typeface="Times New Roman" panose="02020603050405020304" charset="0"/>
                <a:cs typeface="Times New Roman" panose="02020603050405020304" charset="0"/>
              </a:endParaRPr>
            </a:p>
          </p:txBody>
        </p:sp>
        <p:pic>
          <p:nvPicPr>
            <p:cNvPr id="4" name="对象 1645"/>
            <p:cNvPicPr>
              <a:picLocks noChangeAspect="1"/>
            </p:cNvPicPr>
            <p:nvPr/>
          </p:nvPicPr>
          <p:blipFill>
            <a:blip r:embed="rId2"/>
            <a:stretch>
              <a:fillRect/>
            </a:stretch>
          </p:blipFill>
          <p:spPr>
            <a:xfrm>
              <a:off x="10171" y="7215"/>
              <a:ext cx="509" cy="566"/>
            </a:xfrm>
            <a:prstGeom prst="rect">
              <a:avLst/>
            </a:prstGeom>
            <a:noFill/>
            <a:ln w="9525">
              <a:noFill/>
            </a:ln>
          </p:spPr>
        </p:pic>
      </p:grpSp>
      <p:grpSp>
        <p:nvGrpSpPr>
          <p:cNvPr id="17" name="组合 16"/>
          <p:cNvGrpSpPr/>
          <p:nvPr/>
        </p:nvGrpSpPr>
        <p:grpSpPr>
          <a:xfrm>
            <a:off x="3783330" y="2674620"/>
            <a:ext cx="5120640" cy="484505"/>
            <a:chOff x="5616" y="8257"/>
            <a:chExt cx="8064" cy="763"/>
          </a:xfrm>
        </p:grpSpPr>
        <p:sp>
          <p:nvSpPr>
            <p:cNvPr id="15" name="文本框 14"/>
            <p:cNvSpPr txBox="1"/>
            <p:nvPr/>
          </p:nvSpPr>
          <p:spPr>
            <a:xfrm>
              <a:off x="5616" y="8295"/>
              <a:ext cx="8064" cy="725"/>
            </a:xfrm>
            <a:prstGeom prst="rect">
              <a:avLst/>
            </a:prstGeom>
            <a:noFill/>
          </p:spPr>
          <p:txBody>
            <a:bodyPr wrap="square" rtlCol="0">
              <a:spAutoFit/>
            </a:bodyPr>
            <a:p>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④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400" b="1" i="1" baseline="30000">
                  <a:gradFill>
                    <a:gsLst>
                      <a:gs pos="0">
                        <a:srgbClr val="012D86"/>
                      </a:gs>
                      <a:gs pos="100000">
                        <a:srgbClr val="0E2557"/>
                      </a:gs>
                    </a:gsLst>
                    <a:lin scaled="0"/>
                  </a:gradFill>
                  <a:latin typeface="Times New Roman" panose="02020603050405020304" charset="0"/>
                  <a:cs typeface="Times New Roman" panose="02020603050405020304" charset="0"/>
                </a:rPr>
                <a:t>n</a:t>
              </a:r>
              <a:r>
                <a:rPr lang="zh-CN" altLang="en-US" sz="2400" b="1" baseline="30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    。</a:t>
              </a:r>
              <a:endPar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endParaRPr>
            </a:p>
          </p:txBody>
        </p:sp>
        <p:pic>
          <p:nvPicPr>
            <p:cNvPr id="16" name="对象 1645"/>
            <p:cNvPicPr>
              <a:picLocks noChangeAspect="1"/>
            </p:cNvPicPr>
            <p:nvPr/>
          </p:nvPicPr>
          <p:blipFill>
            <a:blip r:embed="rId2"/>
            <a:stretch>
              <a:fillRect/>
            </a:stretch>
          </p:blipFill>
          <p:spPr>
            <a:xfrm>
              <a:off x="9485" y="8257"/>
              <a:ext cx="686" cy="763"/>
            </a:xfrm>
            <a:prstGeom prst="rect">
              <a:avLst/>
            </a:prstGeom>
            <a:noFill/>
            <a:ln w="9525">
              <a:noFill/>
            </a:ln>
          </p:spPr>
        </p:pic>
      </p:gr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subTnLst>
                                    <p:set>
                                      <p:cBhvr override="childStyle">
                                        <p:cTn dur="65" fill="hold" display="1" masterRel="nextClick" afterEffect="1"/>
                                        <p:tgtEl>
                                          <p:spTgt spid="1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343535" y="1604645"/>
            <a:ext cx="8502015" cy="3952875"/>
          </a:xfrm>
          <a:prstGeom prst="rect">
            <a:avLst/>
          </a:prstGeom>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 name="组合 22"/>
          <p:cNvGrpSpPr/>
          <p:nvPr/>
        </p:nvGrpSpPr>
        <p:grpSpPr>
          <a:xfrm>
            <a:off x="2065655" y="4214495"/>
            <a:ext cx="5116195" cy="2089150"/>
            <a:chOff x="3253" y="6637"/>
            <a:chExt cx="8057" cy="3290"/>
          </a:xfrm>
        </p:grpSpPr>
        <p:pic>
          <p:nvPicPr>
            <p:cNvPr id="9347" name="图片 2784"/>
            <p:cNvPicPr>
              <a:picLocks noChangeAspect="1"/>
            </p:cNvPicPr>
            <p:nvPr/>
          </p:nvPicPr>
          <p:blipFill>
            <a:blip r:embed="rId1"/>
            <a:stretch>
              <a:fillRect/>
            </a:stretch>
          </p:blipFill>
          <p:spPr>
            <a:xfrm>
              <a:off x="3253" y="6637"/>
              <a:ext cx="7966" cy="3291"/>
            </a:xfrm>
            <a:prstGeom prst="rect">
              <a:avLst/>
            </a:prstGeom>
            <a:noFill/>
            <a:ln>
              <a:noFill/>
            </a:ln>
          </p:spPr>
        </p:pic>
        <p:sp>
          <p:nvSpPr>
            <p:cNvPr id="22" name="矩形 21"/>
            <p:cNvSpPr/>
            <p:nvPr/>
          </p:nvSpPr>
          <p:spPr>
            <a:xfrm>
              <a:off x="3630" y="9173"/>
              <a:ext cx="7680" cy="5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文本框 1"/>
          <p:cNvSpPr txBox="1"/>
          <p:nvPr/>
        </p:nvSpPr>
        <p:spPr>
          <a:xfrm>
            <a:off x="441960" y="1221740"/>
            <a:ext cx="8654415" cy="706755"/>
          </a:xfrm>
          <a:prstGeom prst="rect">
            <a:avLst/>
          </a:prstGeom>
          <a:noFill/>
        </p:spPr>
        <p:txBody>
          <a:bodyPr wrap="square" rtlCol="0">
            <a:spAutoFit/>
          </a:bodyPr>
          <a:p>
            <a:r>
              <a:rPr lang="zh-CN" altLang="en-US" sz="2000" b="1">
                <a:gradFill>
                  <a:gsLst>
                    <a:gs pos="0">
                      <a:srgbClr val="012D86"/>
                    </a:gs>
                    <a:gs pos="100000">
                      <a:srgbClr val="0E2557"/>
                    </a:gs>
                  </a:gsLst>
                  <a:lin scaled="0"/>
                </a:gradFill>
                <a:latin typeface="Times New Roman" panose="02020603050405020304" charset="0"/>
                <a:cs typeface="Times New Roman" panose="02020603050405020304" charset="0"/>
              </a:rPr>
              <a:t>【例5-3】 设主从</a:t>
            </a:r>
            <a:r>
              <a:rPr lang="zh-CN" altLang="en-US" sz="2000" b="1" i="1">
                <a:gradFill>
                  <a:gsLst>
                    <a:gs pos="0">
                      <a:srgbClr val="012D86"/>
                    </a:gs>
                    <a:gs pos="100000">
                      <a:srgbClr val="0E2557"/>
                    </a:gs>
                  </a:gsLst>
                  <a:lin scaled="0"/>
                </a:gradFill>
                <a:latin typeface="Times New Roman" panose="02020603050405020304" charset="0"/>
                <a:cs typeface="Times New Roman" panose="02020603050405020304" charset="0"/>
              </a:rPr>
              <a:t>JK</a:t>
            </a:r>
            <a:r>
              <a:rPr lang="zh-CN" altLang="en-US" sz="2000" b="1">
                <a:gradFill>
                  <a:gsLst>
                    <a:gs pos="0">
                      <a:srgbClr val="012D86"/>
                    </a:gs>
                    <a:gs pos="100000">
                      <a:srgbClr val="0E2557"/>
                    </a:gs>
                  </a:gsLst>
                  <a:lin scaled="0"/>
                </a:gradFill>
                <a:latin typeface="Times New Roman" panose="02020603050405020304" charset="0"/>
                <a:cs typeface="Times New Roman" panose="02020603050405020304" charset="0"/>
              </a:rPr>
              <a:t>触发器的初始状态为0，已知输入</a:t>
            </a:r>
            <a:r>
              <a:rPr lang="zh-CN" altLang="en-US" sz="2000" b="1" i="1">
                <a:gradFill>
                  <a:gsLst>
                    <a:gs pos="0">
                      <a:srgbClr val="012D86"/>
                    </a:gs>
                    <a:gs pos="100000">
                      <a:srgbClr val="0E2557"/>
                    </a:gs>
                  </a:gsLst>
                  <a:lin scaled="0"/>
                </a:gradFill>
                <a:latin typeface="Times New Roman" panose="02020603050405020304" charset="0"/>
                <a:cs typeface="Times New Roman" panose="02020603050405020304" charset="0"/>
              </a:rPr>
              <a:t>J</a:t>
            </a:r>
            <a:r>
              <a:rPr lang="zh-CN" altLang="en-US" sz="2000" b="1">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000" b="1" i="1">
                <a:gradFill>
                  <a:gsLst>
                    <a:gs pos="0">
                      <a:srgbClr val="012D86"/>
                    </a:gs>
                    <a:gs pos="100000">
                      <a:srgbClr val="0E2557"/>
                    </a:gs>
                  </a:gsLst>
                  <a:lin scaled="0"/>
                </a:gradFill>
                <a:latin typeface="Times New Roman" panose="02020603050405020304" charset="0"/>
                <a:cs typeface="Times New Roman" panose="02020603050405020304" charset="0"/>
              </a:rPr>
              <a:t>K</a:t>
            </a:r>
            <a:r>
              <a:rPr lang="zh-CN" altLang="en-US" sz="2000" b="1">
                <a:gradFill>
                  <a:gsLst>
                    <a:gs pos="0">
                      <a:srgbClr val="012D86"/>
                    </a:gs>
                    <a:gs pos="100000">
                      <a:srgbClr val="0E2557"/>
                    </a:gs>
                  </a:gsLst>
                  <a:lin scaled="0"/>
                </a:gradFill>
                <a:latin typeface="Times New Roman" panose="02020603050405020304" charset="0"/>
                <a:cs typeface="Times New Roman" panose="02020603050405020304" charset="0"/>
              </a:rPr>
              <a:t>的波形图如图5-9所示，试画出输出</a:t>
            </a:r>
            <a:r>
              <a:rPr lang="zh-CN" altLang="en-US" sz="2000" b="1" i="1">
                <a:gradFill>
                  <a:gsLst>
                    <a:gs pos="0">
                      <a:srgbClr val="012D86"/>
                    </a:gs>
                    <a:gs pos="100000">
                      <a:srgbClr val="0E2557"/>
                    </a:gs>
                  </a:gsLst>
                  <a:lin scaled="0"/>
                </a:gradFill>
                <a:latin typeface="Times New Roman" panose="02020603050405020304" charset="0"/>
                <a:cs typeface="Times New Roman" panose="02020603050405020304" charset="0"/>
              </a:rPr>
              <a:t>Q</a:t>
            </a:r>
            <a:r>
              <a:rPr lang="zh-CN" altLang="en-US" sz="2000" b="1">
                <a:gradFill>
                  <a:gsLst>
                    <a:gs pos="0">
                      <a:srgbClr val="012D86"/>
                    </a:gs>
                    <a:gs pos="100000">
                      <a:srgbClr val="0E2557"/>
                    </a:gs>
                  </a:gsLst>
                  <a:lin scaled="0"/>
                </a:gradFill>
                <a:latin typeface="Times New Roman" panose="02020603050405020304" charset="0"/>
                <a:cs typeface="Times New Roman" panose="02020603050405020304" charset="0"/>
              </a:rPr>
              <a:t>端的波形图。</a:t>
            </a:r>
            <a:endParaRPr lang="zh-CN" altLang="en-US" sz="2000" b="1">
              <a:gradFill>
                <a:gsLst>
                  <a:gs pos="0">
                    <a:srgbClr val="012D86"/>
                  </a:gs>
                  <a:gs pos="100000">
                    <a:srgbClr val="0E2557"/>
                  </a:gs>
                </a:gsLst>
                <a:lin scaled="0"/>
              </a:gradFill>
              <a:latin typeface="Times New Roman" panose="02020603050405020304" charset="0"/>
              <a:cs typeface="Times New Roman" panose="02020603050405020304" charset="0"/>
            </a:endParaRPr>
          </a:p>
        </p:txBody>
      </p:sp>
      <p:sp>
        <p:nvSpPr>
          <p:cNvPr id="100" name="文本框 99"/>
          <p:cNvSpPr txBox="1"/>
          <p:nvPr/>
        </p:nvSpPr>
        <p:spPr>
          <a:xfrm>
            <a:off x="3994150" y="6369685"/>
            <a:ext cx="1955165" cy="337185"/>
          </a:xfrm>
          <a:prstGeom prst="rect">
            <a:avLst/>
          </a:prstGeom>
          <a:noFill/>
          <a:ln w="9525">
            <a:noFill/>
          </a:ln>
        </p:spPr>
        <p:txBody>
          <a:bodyPr wrap="square">
            <a:spAutoFit/>
          </a:bodyPr>
          <a:p>
            <a:r>
              <a:rPr lang="zh-CN" sz="1600">
                <a:solidFill>
                  <a:srgbClr val="000000"/>
                </a:solidFill>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a:t>
            </a:r>
            <a:r>
              <a:rPr lang="en-US" sz="1600">
                <a:solidFill>
                  <a:srgbClr val="000000"/>
                </a:solidFill>
                <a:latin typeface="Times New Roman" panose="02020603050405020304" charset="0"/>
                <a:ea typeface="宋体" panose="02010600030101010101" pitchFamily="2" charset="-122"/>
              </a:rPr>
              <a:t>9 </a:t>
            </a:r>
            <a:r>
              <a:rPr lang="zh-CN" sz="1600">
                <a:solidFill>
                  <a:srgbClr val="000000"/>
                </a:solidFill>
                <a:ea typeface="宋体" panose="02010600030101010101" pitchFamily="2" charset="-122"/>
              </a:rPr>
              <a:t>例</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a:t>
            </a:r>
            <a:r>
              <a:rPr lang="en-US" sz="1600">
                <a:solidFill>
                  <a:srgbClr val="000000"/>
                </a:solidFill>
                <a:latin typeface="Times New Roman" panose="02020603050405020304" charset="0"/>
                <a:ea typeface="宋体" panose="02010600030101010101" pitchFamily="2" charset="-122"/>
              </a:rPr>
              <a:t>3</a:t>
            </a:r>
            <a:r>
              <a:rPr lang="zh-CN" sz="1600">
                <a:solidFill>
                  <a:srgbClr val="000000"/>
                </a:solidFill>
                <a:ea typeface="宋体" panose="02010600030101010101" pitchFamily="2" charset="-122"/>
              </a:rPr>
              <a:t>波形图</a:t>
            </a:r>
            <a:endParaRPr lang="zh-CN" altLang="en-US" sz="1600"/>
          </a:p>
        </p:txBody>
      </p:sp>
      <p:sp>
        <p:nvSpPr>
          <p:cNvPr id="3" name="文本框 2"/>
          <p:cNvSpPr txBox="1"/>
          <p:nvPr/>
        </p:nvSpPr>
        <p:spPr>
          <a:xfrm>
            <a:off x="927100" y="1854200"/>
            <a:ext cx="6193155"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ea typeface="宋体" panose="02010600030101010101" pitchFamily="2" charset="-122"/>
              </a:rPr>
              <a:t>高电平期间，</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4" name="文本框 3"/>
          <p:cNvSpPr txBox="1"/>
          <p:nvPr/>
        </p:nvSpPr>
        <p:spPr>
          <a:xfrm>
            <a:off x="927100" y="2238375"/>
            <a:ext cx="644144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ea typeface="宋体" panose="02010600030101010101" pitchFamily="2" charset="-122"/>
              </a:rPr>
              <a:t>高电平期间，</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7" name="文本框 6"/>
          <p:cNvSpPr txBox="1"/>
          <p:nvPr/>
        </p:nvSpPr>
        <p:spPr>
          <a:xfrm>
            <a:off x="927100" y="2632075"/>
            <a:ext cx="7718425"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3</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ea typeface="宋体" panose="02010600030101010101" pitchFamily="2" charset="-122"/>
              </a:rPr>
              <a:t>高电平期间，</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8" name="文本框 7"/>
          <p:cNvSpPr txBox="1"/>
          <p:nvPr/>
        </p:nvSpPr>
        <p:spPr>
          <a:xfrm>
            <a:off x="927100" y="3007995"/>
            <a:ext cx="773684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4</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ea typeface="宋体" panose="02010600030101010101" pitchFamily="2" charset="-122"/>
              </a:rPr>
              <a:t>高电平期间，</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 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9" name="文本框 8"/>
          <p:cNvSpPr txBox="1"/>
          <p:nvPr/>
        </p:nvSpPr>
        <p:spPr>
          <a:xfrm>
            <a:off x="931545" y="3379470"/>
            <a:ext cx="776605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5</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ea typeface="宋体" panose="02010600030101010101" pitchFamily="2" charset="-122"/>
              </a:rPr>
              <a:t>高电平期间，</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0" name="文本框 9"/>
          <p:cNvSpPr txBox="1"/>
          <p:nvPr/>
        </p:nvSpPr>
        <p:spPr>
          <a:xfrm>
            <a:off x="929005" y="3754120"/>
            <a:ext cx="816737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6</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ea typeface="宋体" panose="02010600030101010101" pitchFamily="2" charset="-122"/>
              </a:rPr>
              <a:t>高电平期间，</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 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cxnSp>
        <p:nvCxnSpPr>
          <p:cNvPr id="11" name="直接连接符 10"/>
          <p:cNvCxnSpPr/>
          <p:nvPr/>
        </p:nvCxnSpPr>
        <p:spPr>
          <a:xfrm>
            <a:off x="2390775" y="6148070"/>
            <a:ext cx="8382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3238500" y="5824220"/>
            <a:ext cx="0" cy="31432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248025" y="5824220"/>
            <a:ext cx="71437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962400" y="5833745"/>
            <a:ext cx="0" cy="31432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952875" y="6129020"/>
            <a:ext cx="69532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4660900" y="5827395"/>
            <a:ext cx="0" cy="314325"/>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670425" y="5827395"/>
            <a:ext cx="714375" cy="0"/>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356225" y="5824220"/>
            <a:ext cx="714375" cy="0"/>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070600" y="5855970"/>
            <a:ext cx="0" cy="314325"/>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061075" y="6151245"/>
            <a:ext cx="695325" cy="0"/>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756400" y="6151245"/>
            <a:ext cx="406400" cy="0"/>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000" fill="hold">
                                          <p:stCondLst>
                                            <p:cond delay="0"/>
                                          </p:stCondLst>
                                        </p:cTn>
                                        <p:tgtEl>
                                          <p:spTgt spid="3"/>
                                        </p:tgtEl>
                                        <p:attrNameLst>
                                          <p:attrName>style.visibility</p:attrName>
                                        </p:attrNameLst>
                                      </p:cBhvr>
                                      <p:to>
                                        <p:strVal val="visible"/>
                                      </p:to>
                                    </p:set>
                                    <p:animEffect transition="in" filter="wipe(left)">
                                      <p:cBhvr>
                                        <p:cTn id="11" dur="1000"/>
                                        <p:tgtEl>
                                          <p:spTgt spid="3"/>
                                        </p:tgtEl>
                                      </p:cBhvr>
                                    </p:animEffect>
                                  </p:childTnLst>
                                </p:cTn>
                              </p:par>
                            </p:childTnLst>
                          </p:cTn>
                        </p:par>
                        <p:par>
                          <p:cTn id="12" fill="hold">
                            <p:stCondLst>
                              <p:cond delay="1000"/>
                            </p:stCondLst>
                            <p:childTnLst>
                              <p:par>
                                <p:cTn id="13" presetID="22" presetClass="entr" presetSubtype="4" fill="hold" nodeType="afterEffect">
                                  <p:stCondLst>
                                    <p:cond delay="500"/>
                                  </p:stCondLst>
                                  <p:childTnLst>
                                    <p:set>
                                      <p:cBhvr>
                                        <p:cTn id="14" dur="1000" fill="hold">
                                          <p:stCondLst>
                                            <p:cond delay="0"/>
                                          </p:stCondLst>
                                        </p:cTn>
                                        <p:tgtEl>
                                          <p:spTgt spid="12"/>
                                        </p:tgtEl>
                                        <p:attrNameLst>
                                          <p:attrName>style.visibility</p:attrName>
                                        </p:attrNameLst>
                                      </p:cBhvr>
                                      <p:to>
                                        <p:strVal val="visible"/>
                                      </p:to>
                                    </p:set>
                                    <p:animEffect transition="in" filter="wipe(down)">
                                      <p:cBhvr>
                                        <p:cTn id="15" dur="1000"/>
                                        <p:tgtEl>
                                          <p:spTgt spid="12"/>
                                        </p:tgtEl>
                                      </p:cBhvr>
                                    </p:animEffect>
                                  </p:childTnLst>
                                </p:cTn>
                              </p:par>
                            </p:childTnLst>
                          </p:cTn>
                        </p:par>
                        <p:par>
                          <p:cTn id="16" fill="hold">
                            <p:stCondLst>
                              <p:cond delay="2500"/>
                            </p:stCondLst>
                            <p:childTnLst>
                              <p:par>
                                <p:cTn id="17" presetID="22" presetClass="entr" presetSubtype="8" fill="hold" nodeType="afterEffect">
                                  <p:stCondLst>
                                    <p:cond delay="500"/>
                                  </p:stCondLst>
                                  <p:childTnLst>
                                    <p:set>
                                      <p:cBhvr>
                                        <p:cTn id="18" dur="1000" fill="hold">
                                          <p:stCondLst>
                                            <p:cond delay="0"/>
                                          </p:stCondLst>
                                        </p:cTn>
                                        <p:tgtEl>
                                          <p:spTgt spid="13"/>
                                        </p:tgtEl>
                                        <p:attrNameLst>
                                          <p:attrName>style.visibility</p:attrName>
                                        </p:attrNameLst>
                                      </p:cBhvr>
                                      <p:to>
                                        <p:strVal val="visible"/>
                                      </p:to>
                                    </p:set>
                                    <p:animEffect transition="in" filter="wipe(left)">
                                      <p:cBhvr>
                                        <p:cTn id="19" dur="10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000" fill="hold">
                                          <p:stCondLst>
                                            <p:cond delay="0"/>
                                          </p:stCondLst>
                                        </p:cTn>
                                        <p:tgtEl>
                                          <p:spTgt spid="4"/>
                                        </p:tgtEl>
                                        <p:attrNameLst>
                                          <p:attrName>style.visibility</p:attrName>
                                        </p:attrNameLst>
                                      </p:cBhvr>
                                      <p:to>
                                        <p:strVal val="visible"/>
                                      </p:to>
                                    </p:set>
                                    <p:animEffect transition="in" filter="wipe(left)">
                                      <p:cBhvr>
                                        <p:cTn id="24" dur="1000"/>
                                        <p:tgtEl>
                                          <p:spTgt spid="4"/>
                                        </p:tgtEl>
                                      </p:cBhvr>
                                    </p:animEffect>
                                  </p:childTnLst>
                                </p:cTn>
                              </p:par>
                            </p:childTnLst>
                          </p:cTn>
                        </p:par>
                        <p:par>
                          <p:cTn id="25" fill="hold">
                            <p:stCondLst>
                              <p:cond delay="1000"/>
                            </p:stCondLst>
                            <p:childTnLst>
                              <p:par>
                                <p:cTn id="26" presetID="22" presetClass="entr" presetSubtype="1" fill="hold" nodeType="afterEffect">
                                  <p:stCondLst>
                                    <p:cond delay="500"/>
                                  </p:stCondLst>
                                  <p:childTnLst>
                                    <p:set>
                                      <p:cBhvr>
                                        <p:cTn id="27" dur="1" fill="hold">
                                          <p:stCondLst>
                                            <p:cond delay="0"/>
                                          </p:stCondLst>
                                        </p:cTn>
                                        <p:tgtEl>
                                          <p:spTgt spid="14"/>
                                        </p:tgtEl>
                                        <p:attrNameLst>
                                          <p:attrName>style.visibility</p:attrName>
                                        </p:attrNameLst>
                                      </p:cBhvr>
                                      <p:to>
                                        <p:strVal val="visible"/>
                                      </p:to>
                                    </p:set>
                                    <p:animEffect transition="in" filter="wipe(up)">
                                      <p:cBhvr>
                                        <p:cTn id="28" dur="500"/>
                                        <p:tgtEl>
                                          <p:spTgt spid="14"/>
                                        </p:tgtEl>
                                      </p:cBhvr>
                                    </p:animEffect>
                                  </p:childTnLst>
                                </p:cTn>
                              </p:par>
                            </p:childTnLst>
                          </p:cTn>
                        </p:par>
                        <p:par>
                          <p:cTn id="29" fill="hold">
                            <p:stCondLst>
                              <p:cond delay="2000"/>
                            </p:stCondLst>
                            <p:childTnLst>
                              <p:par>
                                <p:cTn id="30" presetID="22" presetClass="entr" presetSubtype="8" fill="hold" nodeType="afterEffect">
                                  <p:stCondLst>
                                    <p:cond delay="50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000" fill="hold">
                                          <p:stCondLst>
                                            <p:cond delay="0"/>
                                          </p:stCondLst>
                                        </p:cTn>
                                        <p:tgtEl>
                                          <p:spTgt spid="7"/>
                                        </p:tgtEl>
                                        <p:attrNameLst>
                                          <p:attrName>style.visibility</p:attrName>
                                        </p:attrNameLst>
                                      </p:cBhvr>
                                      <p:to>
                                        <p:strVal val="visible"/>
                                      </p:to>
                                    </p:set>
                                    <p:animEffect transition="in" filter="wipe(left)">
                                      <p:cBhvr>
                                        <p:cTn id="37" dur="1000"/>
                                        <p:tgtEl>
                                          <p:spTgt spid="7"/>
                                        </p:tgtEl>
                                      </p:cBhvr>
                                    </p:animEffect>
                                  </p:childTnLst>
                                </p:cTn>
                              </p:par>
                            </p:childTnLst>
                          </p:cTn>
                        </p:par>
                        <p:par>
                          <p:cTn id="38" fill="hold">
                            <p:stCondLst>
                              <p:cond delay="1000"/>
                            </p:stCondLst>
                            <p:childTnLst>
                              <p:par>
                                <p:cTn id="39" presetID="22" presetClass="entr" presetSubtype="4" fill="hold" nodeType="afterEffect">
                                  <p:stCondLst>
                                    <p:cond delay="500"/>
                                  </p:stCondLst>
                                  <p:childTnLst>
                                    <p:set>
                                      <p:cBhvr>
                                        <p:cTn id="40" dur="1000" fill="hold">
                                          <p:stCondLst>
                                            <p:cond delay="0"/>
                                          </p:stCondLst>
                                        </p:cTn>
                                        <p:tgtEl>
                                          <p:spTgt spid="16"/>
                                        </p:tgtEl>
                                        <p:attrNameLst>
                                          <p:attrName>style.visibility</p:attrName>
                                        </p:attrNameLst>
                                      </p:cBhvr>
                                      <p:to>
                                        <p:strVal val="visible"/>
                                      </p:to>
                                    </p:set>
                                    <p:animEffect transition="in" filter="wipe(down)">
                                      <p:cBhvr>
                                        <p:cTn id="41" dur="1000"/>
                                        <p:tgtEl>
                                          <p:spTgt spid="16"/>
                                        </p:tgtEl>
                                      </p:cBhvr>
                                    </p:animEffect>
                                  </p:childTnLst>
                                </p:cTn>
                              </p:par>
                            </p:childTnLst>
                          </p:cTn>
                        </p:par>
                        <p:par>
                          <p:cTn id="42" fill="hold">
                            <p:stCondLst>
                              <p:cond delay="2500"/>
                            </p:stCondLst>
                            <p:childTnLst>
                              <p:par>
                                <p:cTn id="43" presetID="22" presetClass="entr" presetSubtype="8" fill="hold" nodeType="afterEffect">
                                  <p:stCondLst>
                                    <p:cond delay="500"/>
                                  </p:stCondLst>
                                  <p:childTnLst>
                                    <p:set>
                                      <p:cBhvr>
                                        <p:cTn id="44" dur="1000" fill="hold">
                                          <p:stCondLst>
                                            <p:cond delay="0"/>
                                          </p:stCondLst>
                                        </p:cTn>
                                        <p:tgtEl>
                                          <p:spTgt spid="17"/>
                                        </p:tgtEl>
                                        <p:attrNameLst>
                                          <p:attrName>style.visibility</p:attrName>
                                        </p:attrNameLst>
                                      </p:cBhvr>
                                      <p:to>
                                        <p:strVal val="visible"/>
                                      </p:to>
                                    </p:set>
                                    <p:animEffect transition="in" filter="wipe(left)">
                                      <p:cBhvr>
                                        <p:cTn id="45" dur="10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000" fill="hold">
                                          <p:stCondLst>
                                            <p:cond delay="0"/>
                                          </p:stCondLst>
                                        </p:cTn>
                                        <p:tgtEl>
                                          <p:spTgt spid="8"/>
                                        </p:tgtEl>
                                        <p:attrNameLst>
                                          <p:attrName>style.visibility</p:attrName>
                                        </p:attrNameLst>
                                      </p:cBhvr>
                                      <p:to>
                                        <p:strVal val="visible"/>
                                      </p:to>
                                    </p:set>
                                    <p:animEffect transition="in" filter="wipe(left)">
                                      <p:cBhvr>
                                        <p:cTn id="50" dur="1000"/>
                                        <p:tgtEl>
                                          <p:spTgt spid="8"/>
                                        </p:tgtEl>
                                      </p:cBhvr>
                                    </p:animEffect>
                                  </p:childTnLst>
                                </p:cTn>
                              </p:par>
                            </p:childTnLst>
                          </p:cTn>
                        </p:par>
                        <p:par>
                          <p:cTn id="51" fill="hold">
                            <p:stCondLst>
                              <p:cond delay="1000"/>
                            </p:stCondLst>
                            <p:childTnLst>
                              <p:par>
                                <p:cTn id="52" presetID="22" presetClass="entr" presetSubtype="8" fill="hold" nodeType="afterEffect">
                                  <p:stCondLst>
                                    <p:cond delay="500"/>
                                  </p:stCondLst>
                                  <p:childTnLst>
                                    <p:set>
                                      <p:cBhvr>
                                        <p:cTn id="53" dur="1000" fill="hold">
                                          <p:stCondLst>
                                            <p:cond delay="0"/>
                                          </p:stCondLst>
                                        </p:cTn>
                                        <p:tgtEl>
                                          <p:spTgt spid="18"/>
                                        </p:tgtEl>
                                        <p:attrNameLst>
                                          <p:attrName>style.visibility</p:attrName>
                                        </p:attrNameLst>
                                      </p:cBhvr>
                                      <p:to>
                                        <p:strVal val="visible"/>
                                      </p:to>
                                    </p:set>
                                    <p:animEffect transition="in" filter="wipe(left)">
                                      <p:cBhvr>
                                        <p:cTn id="54" dur="10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left)">
                                      <p:cBhvr>
                                        <p:cTn id="59" dur="500"/>
                                        <p:tgtEl>
                                          <p:spTgt spid="9"/>
                                        </p:tgtEl>
                                      </p:cBhvr>
                                    </p:animEffect>
                                  </p:childTnLst>
                                </p:cTn>
                              </p:par>
                            </p:childTnLst>
                          </p:cTn>
                        </p:par>
                        <p:par>
                          <p:cTn id="60" fill="hold">
                            <p:stCondLst>
                              <p:cond delay="500"/>
                            </p:stCondLst>
                            <p:childTnLst>
                              <p:par>
                                <p:cTn id="61" presetID="22" presetClass="entr" presetSubtype="1" fill="hold" nodeType="afterEffect">
                                  <p:stCondLst>
                                    <p:cond delay="500"/>
                                  </p:stCondLst>
                                  <p:childTnLst>
                                    <p:set>
                                      <p:cBhvr>
                                        <p:cTn id="62" dur="1" fill="hold">
                                          <p:stCondLst>
                                            <p:cond delay="0"/>
                                          </p:stCondLst>
                                        </p:cTn>
                                        <p:tgtEl>
                                          <p:spTgt spid="19"/>
                                        </p:tgtEl>
                                        <p:attrNameLst>
                                          <p:attrName>style.visibility</p:attrName>
                                        </p:attrNameLst>
                                      </p:cBhvr>
                                      <p:to>
                                        <p:strVal val="visible"/>
                                      </p:to>
                                    </p:set>
                                    <p:animEffect transition="in" filter="wipe(up)">
                                      <p:cBhvr>
                                        <p:cTn id="63" dur="500"/>
                                        <p:tgtEl>
                                          <p:spTgt spid="19"/>
                                        </p:tgtEl>
                                      </p:cBhvr>
                                    </p:animEffect>
                                  </p:childTnLst>
                                </p:cTn>
                              </p:par>
                            </p:childTnLst>
                          </p:cTn>
                        </p:par>
                        <p:par>
                          <p:cTn id="64" fill="hold">
                            <p:stCondLst>
                              <p:cond delay="1500"/>
                            </p:stCondLst>
                            <p:childTnLst>
                              <p:par>
                                <p:cTn id="65" presetID="22" presetClass="entr" presetSubtype="8" fill="hold" nodeType="afterEffect">
                                  <p:stCondLst>
                                    <p:cond delay="50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left)">
                                      <p:cBhvr>
                                        <p:cTn id="72" dur="500"/>
                                        <p:tgtEl>
                                          <p:spTgt spid="10"/>
                                        </p:tgtEl>
                                      </p:cBhvr>
                                    </p:animEffect>
                                  </p:childTnLst>
                                </p:cTn>
                              </p:par>
                            </p:childTnLst>
                          </p:cTn>
                        </p:par>
                        <p:par>
                          <p:cTn id="73" fill="hold">
                            <p:stCondLst>
                              <p:cond delay="500"/>
                            </p:stCondLst>
                            <p:childTnLst>
                              <p:par>
                                <p:cTn id="74" presetID="22" presetClass="entr" presetSubtype="8" fill="hold" nodeType="afterEffect">
                                  <p:stCondLst>
                                    <p:cond delay="500"/>
                                  </p:stCondLst>
                                  <p:childTnLst>
                                    <p:set>
                                      <p:cBhvr>
                                        <p:cTn id="75" dur="1" fill="hold">
                                          <p:stCondLst>
                                            <p:cond delay="0"/>
                                          </p:stCondLst>
                                        </p:cTn>
                                        <p:tgtEl>
                                          <p:spTgt spid="21"/>
                                        </p:tgtEl>
                                        <p:attrNameLst>
                                          <p:attrName>style.visibility</p:attrName>
                                        </p:attrNameLst>
                                      </p:cBhvr>
                                      <p:to>
                                        <p:strVal val="visible"/>
                                      </p:to>
                                    </p:set>
                                    <p:animEffect transition="in" filter="wipe(left)">
                                      <p:cBhvr>
                                        <p:cTn id="7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8" grpId="0"/>
      <p:bldP spid="9"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765175" y="1254760"/>
            <a:ext cx="2870200" cy="521970"/>
          </a:xfrm>
          <a:prstGeom prst="rect">
            <a:avLst/>
          </a:prstGeom>
          <a:noFill/>
          <a:ln w="9525">
            <a:noFill/>
          </a:ln>
        </p:spPr>
        <p:txBody>
          <a:bodyPr wrap="square">
            <a:spAutoFit/>
          </a:bodyPr>
          <a:p>
            <a:r>
              <a:rPr lang="zh-CN" altLang="en-US" sz="2800" b="1" kern="0" dirty="0">
                <a:solidFill>
                  <a:srgbClr val="0070C0"/>
                </a:solidFill>
                <a:latin typeface="Times New Roman" panose="02020603050405020304" charset="0"/>
                <a:ea typeface="黑体" panose="02010609060101010101" pitchFamily="49" charset="-122"/>
                <a:cs typeface="Times New Roman" panose="02020603050405020304" charset="0"/>
              </a:rPr>
              <a:t>5.3.2 边沿触发器</a:t>
            </a:r>
            <a:endParaRPr lang="zh-CN" altLang="en-US" sz="2800" b="1" kern="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2" name="文本框 1"/>
          <p:cNvSpPr txBox="1"/>
          <p:nvPr/>
        </p:nvSpPr>
        <p:spPr>
          <a:xfrm>
            <a:off x="765175" y="1691005"/>
            <a:ext cx="5080000" cy="460375"/>
          </a:xfrm>
          <a:prstGeom prst="rect">
            <a:avLst/>
          </a:prstGeom>
          <a:noFill/>
          <a:ln w="9525">
            <a:noFill/>
          </a:ln>
        </p:spPr>
        <p:txBody>
          <a:bodyPr wrap="square">
            <a:spAutoFit/>
          </a:bodyPr>
          <a:p>
            <a:r>
              <a:rPr lang="en-US" sz="2400" b="1" dirty="0">
                <a:solidFill>
                  <a:srgbClr val="FE09D6"/>
                </a:solidFill>
                <a:latin typeface="Times New Roman" panose="02020603050405020304" charset="0"/>
                <a:ea typeface="楷体_GB2312" pitchFamily="49" charset="-122"/>
                <a:cs typeface="Times New Roman" panose="02020603050405020304" charset="0"/>
              </a:rPr>
              <a:t>1. 维持—阻塞边沿</a:t>
            </a:r>
            <a:r>
              <a:rPr lang="en-US" sz="2400" b="1" i="1" dirty="0">
                <a:solidFill>
                  <a:srgbClr val="FE09D6"/>
                </a:solidFill>
                <a:latin typeface="Times New Roman" panose="02020603050405020304" charset="0"/>
                <a:ea typeface="楷体_GB2312" pitchFamily="49" charset="-122"/>
                <a:cs typeface="Times New Roman" panose="02020603050405020304" charset="0"/>
              </a:rPr>
              <a:t>D</a:t>
            </a:r>
            <a:r>
              <a:rPr lang="en-US" sz="2400" b="1" dirty="0">
                <a:solidFill>
                  <a:srgbClr val="FE09D6"/>
                </a:solidFill>
                <a:latin typeface="Times New Roman" panose="02020603050405020304" charset="0"/>
                <a:ea typeface="楷体_GB2312" pitchFamily="49" charset="-122"/>
                <a:cs typeface="Times New Roman" panose="02020603050405020304" charset="0"/>
              </a:rPr>
              <a:t>触发器</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文本框 2"/>
          <p:cNvSpPr txBox="1"/>
          <p:nvPr/>
        </p:nvSpPr>
        <p:spPr>
          <a:xfrm>
            <a:off x="765175" y="2075180"/>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(１) </a:t>
            </a:r>
            <a:r>
              <a:rPr lang="zh-CN" altLang="en-US" sz="2400" b="1"/>
              <a:t>电路结构</a:t>
            </a:r>
            <a:endParaRPr lang="zh-CN" altLang="en-US" sz="2400" b="1"/>
          </a:p>
        </p:txBody>
      </p:sp>
      <p:pic>
        <p:nvPicPr>
          <p:cNvPr id="9349" name="图片 2786"/>
          <p:cNvPicPr>
            <a:picLocks noChangeAspect="1"/>
          </p:cNvPicPr>
          <p:nvPr/>
        </p:nvPicPr>
        <p:blipFill>
          <a:blip r:embed="rId1"/>
          <a:stretch>
            <a:fillRect/>
          </a:stretch>
        </p:blipFill>
        <p:spPr>
          <a:xfrm>
            <a:off x="2488565" y="2475230"/>
            <a:ext cx="5902960" cy="3655695"/>
          </a:xfrm>
          <a:prstGeom prst="rect">
            <a:avLst/>
          </a:prstGeom>
          <a:noFill/>
          <a:ln>
            <a:noFill/>
          </a:ln>
        </p:spPr>
      </p:pic>
      <p:sp>
        <p:nvSpPr>
          <p:cNvPr id="4" name="文本框 3"/>
          <p:cNvSpPr txBox="1"/>
          <p:nvPr/>
        </p:nvSpPr>
        <p:spPr>
          <a:xfrm>
            <a:off x="4064000" y="6131560"/>
            <a:ext cx="5080000" cy="337185"/>
          </a:xfrm>
          <a:prstGeom prst="rect">
            <a:avLst/>
          </a:prstGeom>
          <a:noFill/>
          <a:ln w="9525">
            <a:noFill/>
          </a:ln>
        </p:spPr>
        <p:txBody>
          <a:bodyPr>
            <a:spAutoFit/>
          </a:bodyPr>
          <a:p>
            <a:r>
              <a:rPr lang="zh-CN" sz="1600">
                <a:solidFill>
                  <a:srgbClr val="000000"/>
                </a:solidFill>
                <a:latin typeface="Times New Roman" panose="02020603050405020304" charset="0"/>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5-11 </a:t>
            </a:r>
            <a:r>
              <a:rPr lang="zh-CN" sz="1600">
                <a:solidFill>
                  <a:srgbClr val="000000"/>
                </a:solidFill>
                <a:latin typeface="Times New Roman" panose="02020603050405020304" charset="0"/>
                <a:ea typeface="宋体" panose="02010600030101010101" pitchFamily="2" charset="-122"/>
              </a:rPr>
              <a:t>维持</a:t>
            </a:r>
            <a:r>
              <a:rPr lang="en-US" sz="1600">
                <a:solidFill>
                  <a:srgbClr val="000000"/>
                </a:solidFill>
                <a:latin typeface="Times New Roman" panose="02020603050405020304" charset="0"/>
                <a:ea typeface="宋体" panose="02010600030101010101" pitchFamily="2" charset="-122"/>
                <a:cs typeface="Times New Roman" panose="02020603050405020304" charset="0"/>
              </a:rPr>
              <a:t>— </a:t>
            </a:r>
            <a:r>
              <a:rPr lang="zh-CN" sz="1600">
                <a:solidFill>
                  <a:srgbClr val="000000"/>
                </a:solidFill>
                <a:latin typeface="Times New Roman" panose="02020603050405020304" charset="0"/>
                <a:ea typeface="宋体" panose="02010600030101010101" pitchFamily="2" charset="-122"/>
              </a:rPr>
              <a:t>阻塞边沿</a:t>
            </a:r>
            <a:r>
              <a:rPr lang="en-US" sz="1600" i="1">
                <a:solidFill>
                  <a:srgbClr val="000000"/>
                </a:solidFill>
                <a:latin typeface="Times New Roman" panose="02020603050405020304" charset="0"/>
                <a:ea typeface="宋体" panose="02010600030101010101" pitchFamily="2" charset="-122"/>
                <a:cs typeface="Times New Roman" panose="02020603050405020304" charset="0"/>
              </a:rPr>
              <a:t>D</a:t>
            </a:r>
            <a:r>
              <a:rPr lang="zh-CN" sz="1600">
                <a:solidFill>
                  <a:srgbClr val="000000"/>
                </a:solidFill>
                <a:latin typeface="Times New Roman" panose="02020603050405020304" charset="0"/>
                <a:ea typeface="宋体" panose="02010600030101010101" pitchFamily="2" charset="-122"/>
              </a:rPr>
              <a:t>触发器</a:t>
            </a:r>
            <a:endParaRPr lang="zh-CN" altLang="en-US" sz="1600"/>
          </a:p>
        </p:txBody>
      </p:sp>
      <p:sp>
        <p:nvSpPr>
          <p:cNvPr id="518150" name="圆角矩形 518149"/>
          <p:cNvSpPr/>
          <p:nvPr/>
        </p:nvSpPr>
        <p:spPr>
          <a:xfrm>
            <a:off x="3383280" y="2402840"/>
            <a:ext cx="2084705" cy="1208405"/>
          </a:xfrm>
          <a:prstGeom prst="roundRect">
            <a:avLst>
              <a:gd name="adj" fmla="val 16667"/>
            </a:avLst>
          </a:prstGeom>
          <a:noFill/>
          <a:ln w="28575" cap="flat" cmpd="sng">
            <a:solidFill>
              <a:srgbClr val="00B050"/>
            </a:solidFill>
            <a:prstDash val="dash"/>
            <a:headEnd type="none" w="med" len="med"/>
            <a:tailEnd type="none" w="med" len="med"/>
          </a:ln>
        </p:spPr>
        <p:txBody>
          <a:bodyPr wrap="none" anchor="ctr"/>
          <a:p>
            <a:endParaRPr sz="2400" b="0" dirty="0">
              <a:solidFill>
                <a:srgbClr val="000066"/>
              </a:solidFill>
              <a:latin typeface="Tahoma" panose="020B0604030504040204" pitchFamily="34" charset="0"/>
              <a:ea typeface="楷体_GB2312" pitchFamily="49" charset="-122"/>
            </a:endParaRPr>
          </a:p>
        </p:txBody>
      </p:sp>
      <p:grpSp>
        <p:nvGrpSpPr>
          <p:cNvPr id="518156" name="组合 518155"/>
          <p:cNvGrpSpPr/>
          <p:nvPr/>
        </p:nvGrpSpPr>
        <p:grpSpPr>
          <a:xfrm>
            <a:off x="5891848" y="1483043"/>
            <a:ext cx="2232025" cy="919163"/>
            <a:chOff x="4354" y="2237"/>
            <a:chExt cx="1406" cy="579"/>
          </a:xfrm>
        </p:grpSpPr>
        <p:sp>
          <p:nvSpPr>
            <p:cNvPr id="518157" name="圆角矩形标注 518156"/>
            <p:cNvSpPr/>
            <p:nvPr/>
          </p:nvSpPr>
          <p:spPr>
            <a:xfrm>
              <a:off x="4354" y="2237"/>
              <a:ext cx="1406" cy="579"/>
            </a:xfrm>
            <a:prstGeom prst="wedgeRoundRectCallout">
              <a:avLst>
                <a:gd name="adj1" fmla="val -75704"/>
                <a:gd name="adj2" fmla="val 75077"/>
                <a:gd name="adj3" fmla="val 16667"/>
              </a:avLst>
            </a:prstGeom>
            <a:solidFill>
              <a:schemeClr val="bg1"/>
            </a:solidFill>
            <a:ln w="28575" cap="flat" cmpd="sng">
              <a:solidFill>
                <a:srgbClr val="0B36D7"/>
              </a:solidFill>
              <a:prstDash val="solid"/>
              <a:miter/>
              <a:headEnd type="none" w="med" len="med"/>
              <a:tailEnd type="none" w="med" len="med"/>
            </a:ln>
          </p:spPr>
          <p:txBody>
            <a:bodyPr wrap="square" anchor="ctr">
              <a:spAutoFit/>
            </a:bodyPr>
            <a:p>
              <a:r>
                <a:rPr lang="zh-CN" altLang="en-US" sz="2400" dirty="0">
                  <a:solidFill>
                    <a:srgbClr val="000066"/>
                  </a:solidFill>
                  <a:latin typeface="Times New Roman" panose="02020603050405020304" charset="0"/>
                  <a:ea typeface="楷体_GB2312" pitchFamily="49" charset="-122"/>
                </a:rPr>
                <a:t>根据      </a:t>
              </a:r>
              <a:r>
                <a:rPr lang="zh-CN" altLang="en-US" sz="2400" dirty="0">
                  <a:solidFill>
                    <a:srgbClr val="000066"/>
                  </a:solidFill>
                  <a:latin typeface="Tahoma" panose="020B0604030504040204" pitchFamily="34" charset="0"/>
                  <a:ea typeface="楷体_GB2312" pitchFamily="49" charset="-122"/>
                </a:rPr>
                <a:t>确定触发器的状态 </a:t>
              </a:r>
              <a:endParaRPr lang="zh-CN" altLang="en-US" sz="2400" dirty="0">
                <a:solidFill>
                  <a:srgbClr val="000066"/>
                </a:solidFill>
                <a:latin typeface="Tahoma" panose="020B0604030504040204" pitchFamily="34" charset="0"/>
                <a:ea typeface="楷体_GB2312" pitchFamily="49" charset="-122"/>
              </a:endParaRPr>
            </a:p>
          </p:txBody>
        </p:sp>
        <p:graphicFrame>
          <p:nvGraphicFramePr>
            <p:cNvPr id="518158" name="对象 518157"/>
            <p:cNvGraphicFramePr/>
            <p:nvPr/>
          </p:nvGraphicFramePr>
          <p:xfrm>
            <a:off x="4825" y="2277"/>
            <a:ext cx="166" cy="221"/>
          </p:xfrm>
          <a:graphic>
            <a:graphicData uri="http://schemas.openxmlformats.org/presentationml/2006/ole">
              <mc:AlternateContent xmlns:mc="http://schemas.openxmlformats.org/markup-compatibility/2006">
                <mc:Choice xmlns:v="urn:schemas-microsoft-com:vml" Requires="v">
                  <p:oleObj spid="_x0000_s3180" name="" r:id="rId2" imgW="215900" imgH="278765" progId="Equation.3">
                    <p:embed/>
                  </p:oleObj>
                </mc:Choice>
                <mc:Fallback>
                  <p:oleObj name="" r:id="rId2" imgW="215900" imgH="278765" progId="Equation.3">
                    <p:embed/>
                    <p:pic>
                      <p:nvPicPr>
                        <p:cNvPr id="0" name="图片 3179"/>
                        <p:cNvPicPr/>
                        <p:nvPr/>
                      </p:nvPicPr>
                      <p:blipFill>
                        <a:blip r:embed="rId3"/>
                        <a:stretch>
                          <a:fillRect/>
                        </a:stretch>
                      </p:blipFill>
                      <p:spPr>
                        <a:xfrm>
                          <a:off x="4825" y="2277"/>
                          <a:ext cx="166" cy="221"/>
                        </a:xfrm>
                        <a:prstGeom prst="rect">
                          <a:avLst/>
                        </a:prstGeom>
                        <a:noFill/>
                        <a:ln w="38100">
                          <a:noFill/>
                          <a:miter/>
                        </a:ln>
                      </p:spPr>
                    </p:pic>
                  </p:oleObj>
                </mc:Fallback>
              </mc:AlternateContent>
            </a:graphicData>
          </a:graphic>
        </p:graphicFrame>
        <p:graphicFrame>
          <p:nvGraphicFramePr>
            <p:cNvPr id="518159" name="对象 518158"/>
            <p:cNvGraphicFramePr/>
            <p:nvPr/>
          </p:nvGraphicFramePr>
          <p:xfrm>
            <a:off x="4949" y="2259"/>
            <a:ext cx="171" cy="272"/>
          </p:xfrm>
          <a:graphic>
            <a:graphicData uri="http://schemas.openxmlformats.org/presentationml/2006/ole">
              <mc:AlternateContent xmlns:mc="http://schemas.openxmlformats.org/markup-compatibility/2006">
                <mc:Choice xmlns:v="urn:schemas-microsoft-com:vml" Requires="v">
                  <p:oleObj spid="_x0000_s3181" name="" r:id="rId4" imgW="139700" imgH="215900" progId="Equation.3">
                    <p:embed/>
                  </p:oleObj>
                </mc:Choice>
                <mc:Fallback>
                  <p:oleObj name="" r:id="rId4" imgW="139700" imgH="215900" progId="Equation.3">
                    <p:embed/>
                    <p:pic>
                      <p:nvPicPr>
                        <p:cNvPr id="0" name="图片 3180"/>
                        <p:cNvPicPr/>
                        <p:nvPr/>
                      </p:nvPicPr>
                      <p:blipFill>
                        <a:blip r:embed="rId5"/>
                        <a:stretch>
                          <a:fillRect/>
                        </a:stretch>
                      </p:blipFill>
                      <p:spPr>
                        <a:xfrm>
                          <a:off x="4949" y="2259"/>
                          <a:ext cx="171" cy="272"/>
                        </a:xfrm>
                        <a:prstGeom prst="rect">
                          <a:avLst/>
                        </a:prstGeom>
                        <a:noFill/>
                        <a:ln w="38100">
                          <a:noFill/>
                          <a:miter/>
                        </a:ln>
                      </p:spPr>
                    </p:pic>
                  </p:oleObj>
                </mc:Fallback>
              </mc:AlternateContent>
            </a:graphicData>
          </a:graphic>
        </p:graphicFrame>
      </p:grpSp>
      <p:graphicFrame>
        <p:nvGraphicFramePr>
          <p:cNvPr id="6" name="对象 5"/>
          <p:cNvGraphicFramePr/>
          <p:nvPr/>
        </p:nvGraphicFramePr>
        <p:xfrm>
          <a:off x="4961255" y="3624580"/>
          <a:ext cx="221615" cy="265430"/>
        </p:xfrm>
        <a:graphic>
          <a:graphicData uri="http://schemas.openxmlformats.org/presentationml/2006/ole">
            <mc:AlternateContent xmlns:mc="http://schemas.openxmlformats.org/markup-compatibility/2006">
              <mc:Choice xmlns:v="urn:schemas-microsoft-com:vml" Requires="v">
                <p:oleObj spid="_x0000_s7" name="" r:id="rId6" imgW="215900" imgH="278765" progId="Equation.3">
                  <p:embed/>
                </p:oleObj>
              </mc:Choice>
              <mc:Fallback>
                <p:oleObj name="" r:id="rId6" imgW="215900" imgH="278765" progId="Equation.3">
                  <p:embed/>
                  <p:pic>
                    <p:nvPicPr>
                      <p:cNvPr id="0" name="图片 3179"/>
                      <p:cNvPicPr/>
                      <p:nvPr/>
                    </p:nvPicPr>
                    <p:blipFill>
                      <a:blip r:embed="rId3"/>
                      <a:stretch>
                        <a:fillRect/>
                      </a:stretch>
                    </p:blipFill>
                    <p:spPr>
                      <a:xfrm>
                        <a:off x="4961255" y="3624580"/>
                        <a:ext cx="221615" cy="265430"/>
                      </a:xfrm>
                      <a:prstGeom prst="rect">
                        <a:avLst/>
                      </a:prstGeom>
                      <a:noFill/>
                      <a:ln w="38100">
                        <a:noFill/>
                        <a:miter/>
                      </a:ln>
                    </p:spPr>
                  </p:pic>
                </p:oleObj>
              </mc:Fallback>
            </mc:AlternateContent>
          </a:graphicData>
        </a:graphic>
      </p:graphicFrame>
      <p:graphicFrame>
        <p:nvGraphicFramePr>
          <p:cNvPr id="8" name="对象 7"/>
          <p:cNvGraphicFramePr/>
          <p:nvPr/>
        </p:nvGraphicFramePr>
        <p:xfrm>
          <a:off x="3986530" y="3624580"/>
          <a:ext cx="219710" cy="302895"/>
        </p:xfrm>
        <a:graphic>
          <a:graphicData uri="http://schemas.openxmlformats.org/presentationml/2006/ole">
            <mc:AlternateContent xmlns:mc="http://schemas.openxmlformats.org/markup-compatibility/2006">
              <mc:Choice xmlns:v="urn:schemas-microsoft-com:vml" Requires="v">
                <p:oleObj spid="_x0000_s9" name="" r:id="rId7" imgW="139700" imgH="215900" progId="Equation.3">
                  <p:embed/>
                </p:oleObj>
              </mc:Choice>
              <mc:Fallback>
                <p:oleObj name="" r:id="rId7" imgW="139700" imgH="215900" progId="Equation.3">
                  <p:embed/>
                  <p:pic>
                    <p:nvPicPr>
                      <p:cNvPr id="0" name="图片 3180"/>
                      <p:cNvPicPr/>
                      <p:nvPr/>
                    </p:nvPicPr>
                    <p:blipFill>
                      <a:blip r:embed="rId5"/>
                      <a:stretch>
                        <a:fillRect/>
                      </a:stretch>
                    </p:blipFill>
                    <p:spPr>
                      <a:xfrm>
                        <a:off x="3986530" y="3624580"/>
                        <a:ext cx="219710" cy="302895"/>
                      </a:xfrm>
                      <a:prstGeom prst="rect">
                        <a:avLst/>
                      </a:prstGeom>
                      <a:noFill/>
                      <a:ln w="38100">
                        <a:noFill/>
                        <a:miter/>
                      </a:ln>
                    </p:spPr>
                  </p:pic>
                </p:oleObj>
              </mc:Fallback>
            </mc:AlternateContent>
          </a:graphicData>
        </a:graphic>
      </p:graphicFrame>
      <p:sp>
        <p:nvSpPr>
          <p:cNvPr id="518151" name="圆角矩形 518150"/>
          <p:cNvSpPr/>
          <p:nvPr/>
        </p:nvSpPr>
        <p:spPr>
          <a:xfrm>
            <a:off x="2651125" y="3890010"/>
            <a:ext cx="1823720" cy="1228725"/>
          </a:xfrm>
          <a:prstGeom prst="roundRect">
            <a:avLst>
              <a:gd name="adj" fmla="val 16667"/>
            </a:avLst>
          </a:prstGeom>
          <a:noFill/>
          <a:ln w="28575" cap="flat" cmpd="sng">
            <a:solidFill>
              <a:srgbClr val="00B050"/>
            </a:solidFill>
            <a:prstDash val="dash"/>
            <a:headEnd type="none" w="med" len="med"/>
            <a:tailEnd type="none" w="med" len="med"/>
          </a:ln>
        </p:spPr>
        <p:txBody>
          <a:bodyPr wrap="none" anchor="ctr"/>
          <a:p>
            <a:endParaRPr sz="2400" b="0" dirty="0">
              <a:solidFill>
                <a:srgbClr val="000066"/>
              </a:solidFill>
              <a:latin typeface="Tahoma" panose="020B0604030504040204" pitchFamily="34" charset="0"/>
              <a:ea typeface="楷体_GB2312" pitchFamily="49" charset="-122"/>
            </a:endParaRPr>
          </a:p>
        </p:txBody>
      </p:sp>
      <p:sp>
        <p:nvSpPr>
          <p:cNvPr id="10" name="圆角矩形 9"/>
          <p:cNvSpPr/>
          <p:nvPr/>
        </p:nvSpPr>
        <p:spPr>
          <a:xfrm>
            <a:off x="4693920" y="3813810"/>
            <a:ext cx="1823720" cy="1228725"/>
          </a:xfrm>
          <a:prstGeom prst="roundRect">
            <a:avLst>
              <a:gd name="adj" fmla="val 16667"/>
            </a:avLst>
          </a:prstGeom>
          <a:noFill/>
          <a:ln w="28575" cap="flat" cmpd="sng">
            <a:solidFill>
              <a:srgbClr val="00B050"/>
            </a:solidFill>
            <a:prstDash val="dash"/>
            <a:headEnd type="none" w="med" len="med"/>
            <a:tailEnd type="none" w="med" len="med"/>
          </a:ln>
        </p:spPr>
        <p:txBody>
          <a:bodyPr wrap="none" anchor="ctr"/>
          <a:p>
            <a:endParaRPr sz="2400" b="0" dirty="0">
              <a:solidFill>
                <a:srgbClr val="000066"/>
              </a:solidFill>
              <a:latin typeface="Tahoma" panose="020B0604030504040204" pitchFamily="34" charset="0"/>
              <a:ea typeface="楷体_GB2312" pitchFamily="49" charset="-122"/>
            </a:endParaRPr>
          </a:p>
        </p:txBody>
      </p:sp>
      <p:grpSp>
        <p:nvGrpSpPr>
          <p:cNvPr id="518153" name="组合 518152"/>
          <p:cNvGrpSpPr/>
          <p:nvPr/>
        </p:nvGrpSpPr>
        <p:grpSpPr>
          <a:xfrm>
            <a:off x="3210560" y="5371783"/>
            <a:ext cx="1880870" cy="920750"/>
            <a:chOff x="204" y="1782"/>
            <a:chExt cx="1291" cy="580"/>
          </a:xfrm>
        </p:grpSpPr>
        <p:sp>
          <p:nvSpPr>
            <p:cNvPr id="518154" name="圆角矩形标注 518153"/>
            <p:cNvSpPr/>
            <p:nvPr/>
          </p:nvSpPr>
          <p:spPr>
            <a:xfrm>
              <a:off x="249" y="2049"/>
              <a:ext cx="1178" cy="279"/>
            </a:xfrm>
            <a:prstGeom prst="wedgeRoundRectCallout">
              <a:avLst>
                <a:gd name="adj1" fmla="val -10345"/>
                <a:gd name="adj2" fmla="val -211214"/>
                <a:gd name="adj3" fmla="val 16667"/>
              </a:avLst>
            </a:prstGeom>
            <a:solidFill>
              <a:schemeClr val="bg1"/>
            </a:solidFill>
            <a:ln w="28575" cap="flat" cmpd="sng">
              <a:solidFill>
                <a:srgbClr val="0000CC"/>
              </a:solidFill>
              <a:prstDash val="solid"/>
              <a:miter/>
              <a:headEnd type="none" w="med" len="med"/>
              <a:tailEnd type="none" w="med" len="med"/>
            </a:ln>
          </p:spPr>
          <p:txBody>
            <a:bodyPr wrap="square" anchor="ctr">
              <a:spAutoFit/>
            </a:bodyPr>
            <a:p>
              <a:r>
                <a:rPr lang="zh-CN" altLang="en-US" sz="2000" dirty="0">
                  <a:solidFill>
                    <a:srgbClr val="000066"/>
                  </a:solidFill>
                  <a:latin typeface="Times New Roman" panose="02020603050405020304" charset="0"/>
                  <a:ea typeface="楷体_GB2312" pitchFamily="49" charset="-122"/>
                </a:rPr>
                <a:t>置</a:t>
              </a:r>
              <a:r>
                <a:rPr lang="en-US" altLang="zh-CN" sz="2000" dirty="0">
                  <a:solidFill>
                    <a:srgbClr val="000066"/>
                  </a:solidFill>
                  <a:latin typeface="Times New Roman" panose="02020603050405020304" charset="0"/>
                  <a:ea typeface="楷体_GB2312" pitchFamily="49" charset="-122"/>
                </a:rPr>
                <a:t>0</a:t>
              </a:r>
              <a:r>
                <a:rPr lang="zh-CN" altLang="en-US" sz="2000" dirty="0">
                  <a:solidFill>
                    <a:srgbClr val="000066"/>
                  </a:solidFill>
                  <a:latin typeface="Times New Roman" panose="02020603050405020304" charset="0"/>
                  <a:ea typeface="楷体_GB2312" pitchFamily="49" charset="-122"/>
                </a:rPr>
                <a:t>维持线</a:t>
              </a:r>
              <a:endParaRPr lang="zh-CN" altLang="en-US" sz="2000" dirty="0">
                <a:solidFill>
                  <a:srgbClr val="000066"/>
                </a:solidFill>
                <a:latin typeface="Times New Roman" panose="02020603050405020304" charset="0"/>
                <a:ea typeface="楷体_GB2312" pitchFamily="49" charset="-122"/>
              </a:endParaRPr>
            </a:p>
          </p:txBody>
        </p:sp>
        <p:sp>
          <p:nvSpPr>
            <p:cNvPr id="518155" name="圆角矩形标注 518154"/>
            <p:cNvSpPr/>
            <p:nvPr/>
          </p:nvSpPr>
          <p:spPr>
            <a:xfrm>
              <a:off x="204" y="1782"/>
              <a:ext cx="1291" cy="580"/>
            </a:xfrm>
            <a:prstGeom prst="wedgeRoundRectCallout">
              <a:avLst>
                <a:gd name="adj1" fmla="val 69378"/>
                <a:gd name="adj2" fmla="val -82302"/>
                <a:gd name="adj3" fmla="val 16667"/>
              </a:avLst>
            </a:prstGeom>
            <a:solidFill>
              <a:schemeClr val="bg1"/>
            </a:solidFill>
            <a:ln w="28575" cap="flat" cmpd="sng">
              <a:solidFill>
                <a:srgbClr val="0000CC"/>
              </a:solidFill>
              <a:prstDash val="solid"/>
              <a:miter/>
              <a:headEnd type="none" w="med" len="med"/>
              <a:tailEnd type="none" w="med" len="med"/>
            </a:ln>
          </p:spPr>
          <p:txBody>
            <a:bodyPr wrap="square" anchor="ctr">
              <a:spAutoFit/>
            </a:bodyPr>
            <a:p>
              <a:r>
                <a:rPr lang="zh-CN" altLang="en-US" sz="2400" dirty="0">
                  <a:solidFill>
                    <a:srgbClr val="000066"/>
                  </a:solidFill>
                  <a:latin typeface="Times New Roman" panose="02020603050405020304" charset="0"/>
                  <a:ea typeface="楷体_GB2312" pitchFamily="49" charset="-122"/>
                </a:rPr>
                <a:t>响应输入</a:t>
              </a:r>
              <a:r>
                <a:rPr lang="en-US" altLang="zh-CN" sz="2400" i="1">
                  <a:solidFill>
                    <a:srgbClr val="000066"/>
                  </a:solidFill>
                  <a:latin typeface="Times New Roman" panose="02020603050405020304" charset="0"/>
                  <a:ea typeface="楷体_GB2312" pitchFamily="49" charset="-122"/>
                </a:rPr>
                <a:t>D</a:t>
              </a:r>
              <a:r>
                <a:rPr lang="zh-CN" altLang="en-US" sz="2400" dirty="0">
                  <a:solidFill>
                    <a:srgbClr val="000066"/>
                  </a:solidFill>
                  <a:latin typeface="Times New Roman" panose="02020603050405020304" charset="0"/>
                  <a:ea typeface="楷体_GB2312" pitchFamily="49" charset="-122"/>
                </a:rPr>
                <a:t>和</a:t>
              </a:r>
              <a:r>
                <a:rPr lang="en-US" altLang="zh-CN" sz="2400" i="1">
                  <a:solidFill>
                    <a:srgbClr val="000066"/>
                  </a:solidFill>
                  <a:latin typeface="Times New Roman" panose="02020603050405020304" charset="0"/>
                  <a:ea typeface="楷体_GB2312" pitchFamily="49" charset="-122"/>
                </a:rPr>
                <a:t>CP</a:t>
              </a:r>
              <a:r>
                <a:rPr lang="zh-CN" altLang="en-US" sz="2400" dirty="0">
                  <a:solidFill>
                    <a:srgbClr val="000066"/>
                  </a:solidFill>
                  <a:latin typeface="Times New Roman" panose="02020603050405020304" charset="0"/>
                  <a:ea typeface="楷体_GB2312" pitchFamily="49" charset="-122"/>
                </a:rPr>
                <a:t>信号</a:t>
              </a:r>
              <a:endParaRPr lang="zh-CN" altLang="en-US" sz="2400" dirty="0">
                <a:solidFill>
                  <a:srgbClr val="000066"/>
                </a:solidFill>
                <a:latin typeface="Times New Roman" panose="02020603050405020304" charset="0"/>
                <a:ea typeface="楷体_GB2312" pitchFamily="49" charset="-122"/>
              </a:endParaRPr>
            </a:p>
          </p:txBody>
        </p:sp>
      </p:gr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8150"/>
                                        </p:tgtEl>
                                        <p:attrNameLst>
                                          <p:attrName>style.visibility</p:attrName>
                                        </p:attrNameLst>
                                      </p:cBhvr>
                                      <p:to>
                                        <p:strVal val="visible"/>
                                      </p:to>
                                    </p:set>
                                    <p:animEffect transition="in" filter="box(out)">
                                      <p:cBhvr>
                                        <p:cTn id="7" dur="500"/>
                                        <p:tgtEl>
                                          <p:spTgt spid="518150"/>
                                        </p:tgtEl>
                                      </p:cBhvr>
                                    </p:animEffect>
                                  </p:childTnLst>
                                </p:cTn>
                              </p:par>
                            </p:childTnLst>
                          </p:cTn>
                        </p:par>
                        <p:par>
                          <p:cTn id="8" fill="hold">
                            <p:stCondLst>
                              <p:cond delay="500"/>
                            </p:stCondLst>
                            <p:childTnLst>
                              <p:par>
                                <p:cTn id="9" presetID="22" presetClass="entr" presetSubtype="2" fill="hold" nodeType="afterEffect">
                                  <p:stCondLst>
                                    <p:cond delay="500"/>
                                  </p:stCondLst>
                                  <p:childTnLst>
                                    <p:set>
                                      <p:cBhvr>
                                        <p:cTn id="10" dur="1" fill="hold">
                                          <p:stCondLst>
                                            <p:cond delay="0"/>
                                          </p:stCondLst>
                                        </p:cTn>
                                        <p:tgtEl>
                                          <p:spTgt spid="518156"/>
                                        </p:tgtEl>
                                        <p:attrNameLst>
                                          <p:attrName>style.visibility</p:attrName>
                                        </p:attrNameLst>
                                      </p:cBhvr>
                                      <p:to>
                                        <p:strVal val="visible"/>
                                      </p:to>
                                    </p:set>
                                    <p:animEffect transition="in" filter="wipe(right)">
                                      <p:cBhvr>
                                        <p:cTn id="11" dur="500"/>
                                        <p:tgtEl>
                                          <p:spTgt spid="51815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518151"/>
                                        </p:tgtEl>
                                        <p:attrNameLst>
                                          <p:attrName>style.visibility</p:attrName>
                                        </p:attrNameLst>
                                      </p:cBhvr>
                                      <p:to>
                                        <p:strVal val="visible"/>
                                      </p:to>
                                    </p:set>
                                    <p:animEffect transition="in" filter="box(out)">
                                      <p:cBhvr>
                                        <p:cTn id="16" dur="500"/>
                                        <p:tgtEl>
                                          <p:spTgt spid="518151"/>
                                        </p:tgtEl>
                                      </p:cBhvr>
                                    </p:animEffect>
                                  </p:childTnLst>
                                </p:cTn>
                              </p:par>
                            </p:childTnLst>
                          </p:cTn>
                        </p:par>
                        <p:par>
                          <p:cTn id="17" fill="hold">
                            <p:stCondLst>
                              <p:cond delay="500"/>
                            </p:stCondLst>
                            <p:childTnLst>
                              <p:par>
                                <p:cTn id="18" presetID="4" presetClass="entr" presetSubtype="32" fill="hold" grpId="0" nodeType="afterEffect">
                                  <p:stCondLst>
                                    <p:cond delay="0"/>
                                  </p:stCondLst>
                                  <p:childTnLst>
                                    <p:set>
                                      <p:cBhvr>
                                        <p:cTn id="19" dur="1000" fill="hold">
                                          <p:stCondLst>
                                            <p:cond delay="0"/>
                                          </p:stCondLst>
                                        </p:cTn>
                                        <p:tgtEl>
                                          <p:spTgt spid="10"/>
                                        </p:tgtEl>
                                        <p:attrNameLst>
                                          <p:attrName>style.visibility</p:attrName>
                                        </p:attrNameLst>
                                      </p:cBhvr>
                                      <p:to>
                                        <p:strVal val="visible"/>
                                      </p:to>
                                    </p:set>
                                    <p:animEffect transition="in" filter="box(out)">
                                      <p:cBhvr>
                                        <p:cTn id="20" dur="1000"/>
                                        <p:tgtEl>
                                          <p:spTgt spid="10"/>
                                        </p:tgtEl>
                                      </p:cBhvr>
                                    </p:animEffect>
                                  </p:childTnLst>
                                </p:cTn>
                              </p:par>
                            </p:childTnLst>
                          </p:cTn>
                        </p:par>
                        <p:par>
                          <p:cTn id="21" fill="hold">
                            <p:stCondLst>
                              <p:cond delay="1500"/>
                            </p:stCondLst>
                            <p:childTnLst>
                              <p:par>
                                <p:cTn id="22" presetID="22" presetClass="entr" presetSubtype="8" fill="hold" nodeType="afterEffect">
                                  <p:stCondLst>
                                    <p:cond delay="1000"/>
                                  </p:stCondLst>
                                  <p:childTnLst>
                                    <p:set>
                                      <p:cBhvr>
                                        <p:cTn id="23" dur="1" fill="hold">
                                          <p:stCondLst>
                                            <p:cond delay="0"/>
                                          </p:stCondLst>
                                        </p:cTn>
                                        <p:tgtEl>
                                          <p:spTgt spid="518153"/>
                                        </p:tgtEl>
                                        <p:attrNameLst>
                                          <p:attrName>style.visibility</p:attrName>
                                        </p:attrNameLst>
                                      </p:cBhvr>
                                      <p:to>
                                        <p:strVal val="visible"/>
                                      </p:to>
                                    </p:set>
                                    <p:animEffect transition="in" filter="wipe(left)">
                                      <p:cBhvr>
                                        <p:cTn id="24" dur="500"/>
                                        <p:tgtEl>
                                          <p:spTgt spid="518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50" grpId="0" bldLvl="0" animBg="1"/>
      <p:bldP spid="518151" grpId="0" bldLvl="0" animBg="1"/>
      <p:bldP spid="10"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pic>
        <p:nvPicPr>
          <p:cNvPr id="9349" name="图片 2786"/>
          <p:cNvPicPr>
            <a:picLocks noChangeAspect="1"/>
          </p:cNvPicPr>
          <p:nvPr/>
        </p:nvPicPr>
        <p:blipFill>
          <a:blip r:embed="rId1"/>
          <a:srcRect r="30852" b="12645"/>
          <a:stretch>
            <a:fillRect/>
          </a:stretch>
        </p:blipFill>
        <p:spPr>
          <a:xfrm>
            <a:off x="296545" y="1958975"/>
            <a:ext cx="4652010" cy="3639820"/>
          </a:xfrm>
          <a:prstGeom prst="rect">
            <a:avLst/>
          </a:prstGeom>
          <a:noFill/>
          <a:ln>
            <a:noFill/>
          </a:ln>
        </p:spPr>
      </p:pic>
      <p:sp>
        <p:nvSpPr>
          <p:cNvPr id="100" name="文本框 99"/>
          <p:cNvSpPr txBox="1"/>
          <p:nvPr/>
        </p:nvSpPr>
        <p:spPr>
          <a:xfrm>
            <a:off x="4948555" y="1517650"/>
            <a:ext cx="3894455" cy="2676525"/>
          </a:xfrm>
          <a:prstGeom prst="rect">
            <a:avLst/>
          </a:prstGeom>
          <a:noFill/>
          <a:ln w="9525">
            <a:noFill/>
          </a:ln>
        </p:spPr>
        <p:txBody>
          <a:bodyPr wrap="square">
            <a:spAutoFit/>
          </a:bodyPr>
          <a:p>
            <a:pPr indent="266700"/>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① </a:t>
            </a:r>
            <a:r>
              <a:rPr lang="zh-CN" sz="2400" b="1">
                <a:gradFill>
                  <a:gsLst>
                    <a:gs pos="0">
                      <a:srgbClr val="012D86"/>
                    </a:gs>
                    <a:gs pos="100000">
                      <a:srgbClr val="0E2557"/>
                    </a:gs>
                  </a:gsLst>
                  <a:lin scaled="0"/>
                </a:gradFill>
                <a:ea typeface="宋体" panose="02010600030101010101" pitchFamily="2" charset="-122"/>
              </a:rPr>
              <a:t>若</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sym typeface="+mn-ea"/>
              </a:rPr>
              <a:t>CP </a:t>
            </a:r>
            <a:r>
              <a:rPr lang="en-US" sz="2400" b="1">
                <a:gradFill>
                  <a:gsLst>
                    <a:gs pos="0">
                      <a:srgbClr val="012D86"/>
                    </a:gs>
                    <a:gs pos="100000">
                      <a:srgbClr val="0E2557"/>
                    </a:gs>
                  </a:gsLst>
                  <a:lin scaled="0"/>
                </a:gradFill>
                <a:latin typeface="Times New Roman" panose="02020603050405020304" charset="0"/>
                <a:sym typeface="+mn-ea"/>
              </a:rPr>
              <a:t>= 0</a:t>
            </a:r>
            <a:r>
              <a:rPr lang="zh-CN" sz="2400" b="1">
                <a:gradFill>
                  <a:gsLst>
                    <a:gs pos="0">
                      <a:srgbClr val="012D86"/>
                    </a:gs>
                    <a:gs pos="100000">
                      <a:srgbClr val="0E2557"/>
                    </a:gs>
                  </a:gsLst>
                  <a:lin scaled="0"/>
                </a:gradFill>
                <a:sym typeface="+mn-ea"/>
              </a:rPr>
              <a:t>时，</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3</a:t>
            </a:r>
            <a:r>
              <a:rPr lang="zh-CN" sz="2400" b="1">
                <a:gradFill>
                  <a:gsLst>
                    <a:gs pos="0">
                      <a:srgbClr val="012D86"/>
                    </a:gs>
                    <a:gs pos="100000">
                      <a:srgbClr val="0E2557"/>
                    </a:gs>
                  </a:gsLst>
                  <a:lin scaled="0"/>
                </a:gradFill>
                <a:sym typeface="+mn-ea"/>
              </a:rPr>
              <a:t>＝</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4</a:t>
            </a:r>
            <a:r>
              <a:rPr lang="zh-CN" sz="2400" b="1">
                <a:gradFill>
                  <a:gsLst>
                    <a:gs pos="0">
                      <a:srgbClr val="012D86"/>
                    </a:gs>
                    <a:gs pos="100000">
                      <a:srgbClr val="0E2557"/>
                    </a:gs>
                  </a:gsLst>
                  <a:lin scaled="0"/>
                </a:gradFill>
                <a:sym typeface="+mn-ea"/>
              </a:rPr>
              <a:t>＝</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a:t>
            </a:r>
            <a:r>
              <a:rPr lang="en-US" sz="2400" b="1">
                <a:gradFill>
                  <a:gsLst>
                    <a:gs pos="0">
                      <a:srgbClr val="012D86"/>
                    </a:gs>
                    <a:gs pos="100000">
                      <a:srgbClr val="0E2557"/>
                    </a:gs>
                  </a:gsLst>
                  <a:lin scaled="0"/>
                </a:gradFill>
                <a:latin typeface="Times New Roman" panose="02020603050405020304" charset="0"/>
                <a:sym typeface="+mn-ea"/>
              </a:rPr>
              <a:t>G</a:t>
            </a:r>
            <a:r>
              <a:rPr lang="en-US" sz="2400" b="1" baseline="-25000">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a:t>
            </a:r>
            <a:r>
              <a:rPr lang="en-US" sz="2400" b="1">
                <a:gradFill>
                  <a:gsLst>
                    <a:gs pos="0">
                      <a:srgbClr val="012D86"/>
                    </a:gs>
                    <a:gs pos="100000">
                      <a:srgbClr val="0E2557"/>
                    </a:gs>
                  </a:gsLst>
                  <a:lin scaled="0"/>
                </a:gradFill>
                <a:latin typeface="Times New Roman" panose="02020603050405020304" charset="0"/>
                <a:sym typeface="+mn-ea"/>
              </a:rPr>
              <a:t>G</a:t>
            </a:r>
            <a:r>
              <a:rPr lang="en-US" sz="2400" b="1" baseline="-25000">
                <a:gradFill>
                  <a:gsLst>
                    <a:gs pos="0">
                      <a:srgbClr val="012D86"/>
                    </a:gs>
                    <a:gs pos="100000">
                      <a:srgbClr val="0E2557"/>
                    </a:gs>
                  </a:gsLst>
                  <a:lin scaled="0"/>
                </a:gradFill>
                <a:latin typeface="Times New Roman" panose="02020603050405020304" charset="0"/>
                <a:sym typeface="+mn-ea"/>
              </a:rPr>
              <a:t>2</a:t>
            </a:r>
            <a:r>
              <a:rPr lang="zh-CN" sz="2400" b="1">
                <a:gradFill>
                  <a:gsLst>
                    <a:gs pos="0">
                      <a:srgbClr val="012D86"/>
                    </a:gs>
                    <a:gs pos="100000">
                      <a:srgbClr val="0E2557"/>
                    </a:gs>
                  </a:gsLst>
                  <a:lin scaled="0"/>
                </a:gradFill>
                <a:sym typeface="+mn-ea"/>
              </a:rPr>
              <a:t>组成的基本</a:t>
            </a:r>
            <a:r>
              <a:rPr lang="en-US" sz="2400" b="1" i="1">
                <a:gradFill>
                  <a:gsLst>
                    <a:gs pos="0">
                      <a:srgbClr val="012D86"/>
                    </a:gs>
                    <a:gs pos="100000">
                      <a:srgbClr val="0E2557"/>
                    </a:gs>
                  </a:gsLst>
                  <a:lin scaled="0"/>
                </a:gradFill>
                <a:latin typeface="Times New Roman" panose="02020603050405020304" charset="0"/>
                <a:sym typeface="+mn-ea"/>
              </a:rPr>
              <a:t>RS</a:t>
            </a:r>
            <a:r>
              <a:rPr lang="zh-CN" sz="2400" b="1">
                <a:gradFill>
                  <a:gsLst>
                    <a:gs pos="0">
                      <a:srgbClr val="012D86"/>
                    </a:gs>
                    <a:gs pos="100000">
                      <a:srgbClr val="0E2557"/>
                    </a:gs>
                  </a:gsLst>
                  <a:lin scaled="0"/>
                </a:gradFill>
                <a:sym typeface="+mn-ea"/>
              </a:rPr>
              <a:t>触发器保持原状态不变。而</a:t>
            </a:r>
            <a:r>
              <a:rPr lang="en-US" sz="2400" b="1">
                <a:gradFill>
                  <a:gsLst>
                    <a:gs pos="0">
                      <a:srgbClr val="012D86"/>
                    </a:gs>
                    <a:gs pos="100000">
                      <a:srgbClr val="0E2557"/>
                    </a:gs>
                  </a:gsLst>
                  <a:lin scaled="0"/>
                </a:gradFill>
                <a:latin typeface="Times New Roman" panose="02020603050405020304" charset="0"/>
                <a:sym typeface="+mn-ea"/>
              </a:rPr>
              <a:t>G</a:t>
            </a:r>
            <a:r>
              <a:rPr lang="en-US" sz="2400" b="1" baseline="-25000">
                <a:gradFill>
                  <a:gsLst>
                    <a:gs pos="0">
                      <a:srgbClr val="012D86"/>
                    </a:gs>
                    <a:gs pos="100000">
                      <a:srgbClr val="0E2557"/>
                    </a:gs>
                  </a:gsLst>
                  <a:lin scaled="0"/>
                </a:gradFill>
                <a:latin typeface="Times New Roman" panose="02020603050405020304" charset="0"/>
                <a:sym typeface="+mn-ea"/>
              </a:rPr>
              <a:t>6</a:t>
            </a:r>
            <a:r>
              <a:rPr lang="zh-CN" sz="2400" b="1">
                <a:gradFill>
                  <a:gsLst>
                    <a:gs pos="0">
                      <a:srgbClr val="012D86"/>
                    </a:gs>
                    <a:gs pos="100000">
                      <a:srgbClr val="0E2557"/>
                    </a:gs>
                  </a:gsLst>
                  <a:lin scaled="0"/>
                </a:gradFill>
                <a:sym typeface="+mn-ea"/>
              </a:rPr>
              <a:t>输入全部为</a:t>
            </a:r>
            <a:r>
              <a:rPr lang="en-US" sz="2400" b="1">
                <a:gradFill>
                  <a:gsLst>
                    <a:gs pos="0">
                      <a:srgbClr val="012D86"/>
                    </a:gs>
                    <a:gs pos="100000">
                      <a:srgbClr val="0E2557"/>
                    </a:gs>
                  </a:gsLst>
                  <a:lin scaled="0"/>
                </a:gradFill>
                <a:latin typeface="Times New Roman" panose="02020603050405020304" charset="0"/>
                <a:sym typeface="+mn-ea"/>
              </a:rPr>
              <a:t>1</a:t>
            </a:r>
            <a:r>
              <a:rPr lang="en-US" altLang="zh-CN" sz="2400" b="1">
                <a:gradFill>
                  <a:gsLst>
                    <a:gs pos="0">
                      <a:srgbClr val="012D86"/>
                    </a:gs>
                    <a:gs pos="100000">
                      <a:srgbClr val="0E2557"/>
                    </a:gs>
                  </a:gsLst>
                  <a:lin scaled="0"/>
                </a:gradFill>
                <a:sym typeface="+mn-ea"/>
              </a:rPr>
              <a:t>(</a:t>
            </a:r>
            <a:r>
              <a:rPr lang="zh-CN" sz="2400" b="1">
                <a:gradFill>
                  <a:gsLst>
                    <a:gs pos="0">
                      <a:srgbClr val="012D86"/>
                    </a:gs>
                    <a:gs pos="100000">
                      <a:srgbClr val="0E2557"/>
                    </a:gs>
                  </a:gsLst>
                  <a:lin scaled="0"/>
                </a:gradFill>
                <a:sym typeface="+mn-ea"/>
              </a:rPr>
              <a:t>正常工作时    、  </a:t>
            </a:r>
            <a:r>
              <a:rPr lang="zh-CN" sz="2400" b="1">
                <a:gradFill>
                  <a:gsLst>
                    <a:gs pos="0">
                      <a:srgbClr val="012D86"/>
                    </a:gs>
                    <a:gs pos="100000">
                      <a:srgbClr val="0E2557"/>
                    </a:gs>
                  </a:gsLst>
                  <a:lin scaled="0"/>
                </a:gradFill>
                <a:latin typeface="Times New Roman" panose="02020603050405020304" charset="0"/>
                <a:sym typeface="+mn-ea"/>
              </a:rPr>
              <a:t>均</a:t>
            </a:r>
            <a:r>
              <a:rPr lang="zh-CN" sz="2400" b="1">
                <a:gradFill>
                  <a:gsLst>
                    <a:gs pos="0">
                      <a:srgbClr val="012D86"/>
                    </a:gs>
                    <a:gs pos="100000">
                      <a:srgbClr val="0E2557"/>
                    </a:gs>
                  </a:gsLst>
                  <a:lin scaled="0"/>
                </a:gradFill>
                <a:sym typeface="+mn-ea"/>
              </a:rPr>
              <a:t>为</a:t>
            </a:r>
            <a:r>
              <a:rPr lang="en-US" sz="2400" b="1">
                <a:gradFill>
                  <a:gsLst>
                    <a:gs pos="0">
                      <a:srgbClr val="012D86"/>
                    </a:gs>
                    <a:gs pos="100000">
                      <a:srgbClr val="0E2557"/>
                    </a:gs>
                  </a:gsLst>
                  <a:lin scaled="0"/>
                </a:gradFill>
                <a:latin typeface="Times New Roman" panose="02020603050405020304" charset="0"/>
                <a:sym typeface="+mn-ea"/>
              </a:rPr>
              <a:t>1</a:t>
            </a:r>
            <a:r>
              <a:rPr lang="en-US" altLang="zh-CN" sz="2400" b="1">
                <a:gradFill>
                  <a:gsLst>
                    <a:gs pos="0">
                      <a:srgbClr val="012D86"/>
                    </a:gs>
                    <a:gs pos="100000">
                      <a:srgbClr val="0E2557"/>
                    </a:gs>
                  </a:gsLst>
                  <a:lin scaled="0"/>
                </a:gradFill>
                <a:sym typeface="+mn-ea"/>
              </a:rPr>
              <a:t>)</a:t>
            </a:r>
            <a:r>
              <a:rPr lang="zh-CN" sz="2400" b="1">
                <a:gradFill>
                  <a:gsLst>
                    <a:gs pos="0">
                      <a:srgbClr val="012D86"/>
                    </a:gs>
                    <a:gs pos="100000">
                      <a:srgbClr val="0E2557"/>
                    </a:gs>
                  </a:gsLst>
                  <a:lin scaled="0"/>
                </a:gradFill>
                <a:sym typeface="+mn-ea"/>
              </a:rPr>
              <a:t>，故</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6 </a:t>
            </a:r>
            <a:r>
              <a:rPr lang="en-US" sz="2400" b="1">
                <a:gradFill>
                  <a:gsLst>
                    <a:gs pos="0">
                      <a:srgbClr val="012D86"/>
                    </a:gs>
                    <a:gs pos="100000">
                      <a:srgbClr val="0E2557"/>
                    </a:gs>
                  </a:gsLst>
                  <a:lin scaled="0"/>
                </a:gradFill>
                <a:latin typeface="Times New Roman" panose="02020603050405020304" charset="0"/>
                <a:sym typeface="+mn-ea"/>
              </a:rPr>
              <a:t>= 0</a:t>
            </a:r>
            <a:r>
              <a:rPr lang="en-US" alt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R </a:t>
            </a:r>
            <a:r>
              <a:rPr lang="en-US" sz="2400" b="1">
                <a:gradFill>
                  <a:gsLst>
                    <a:gs pos="0">
                      <a:srgbClr val="012D86"/>
                    </a:gs>
                    <a:gs pos="100000">
                      <a:srgbClr val="0E2557"/>
                    </a:gs>
                  </a:gsLst>
                  <a:lin scaled="0"/>
                </a:gradFill>
                <a:latin typeface="Times New Roman" panose="02020603050405020304" charset="0"/>
                <a:sym typeface="+mn-ea"/>
              </a:rPr>
              <a:t>= 0</a:t>
            </a:r>
            <a:r>
              <a:rPr lang="en-US" altLang="zh-CN" sz="2400" b="1">
                <a:gradFill>
                  <a:gsLst>
                    <a:gs pos="0">
                      <a:srgbClr val="012D86"/>
                    </a:gs>
                    <a:gs pos="100000">
                      <a:srgbClr val="0E2557"/>
                    </a:gs>
                  </a:gsLst>
                  <a:lin scaled="0"/>
                </a:gradFill>
                <a:sym typeface="+mn-ea"/>
              </a:rPr>
              <a:t>)</a:t>
            </a:r>
            <a:r>
              <a:rPr lang="zh-CN" sz="2400" b="1">
                <a:gradFill>
                  <a:gsLst>
                    <a:gs pos="0">
                      <a:srgbClr val="012D86"/>
                    </a:gs>
                    <a:gs pos="100000">
                      <a:srgbClr val="0E2557"/>
                    </a:gs>
                  </a:gsLst>
                  <a:lin scaled="0"/>
                </a:gradFill>
                <a:sym typeface="+mn-ea"/>
              </a:rPr>
              <a:t>，于是</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4 </a:t>
            </a:r>
            <a:r>
              <a:rPr lang="en-US" sz="2400" b="1">
                <a:gradFill>
                  <a:gsLst>
                    <a:gs pos="0">
                      <a:srgbClr val="012D86"/>
                    </a:gs>
                    <a:gs pos="100000">
                      <a:srgbClr val="0E2557"/>
                    </a:gs>
                  </a:gsLst>
                  <a:lin scaled="0"/>
                </a:gradFill>
                <a:latin typeface="Times New Roman" panose="02020603050405020304" charset="0"/>
                <a:sym typeface="+mn-ea"/>
              </a:rPr>
              <a:t>= 1</a:t>
            </a:r>
            <a:r>
              <a:rPr 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5 </a:t>
            </a:r>
            <a:r>
              <a:rPr lang="en-US" sz="2400" b="1">
                <a:gradFill>
                  <a:gsLst>
                    <a:gs pos="0">
                      <a:srgbClr val="012D86"/>
                    </a:gs>
                    <a:gs pos="100000">
                      <a:srgbClr val="0E2557"/>
                    </a:gs>
                  </a:gsLst>
                  <a:lin scaled="0"/>
                </a:gradFill>
                <a:latin typeface="Times New Roman" panose="02020603050405020304" charset="0"/>
                <a:sym typeface="+mn-ea"/>
              </a:rPr>
              <a:t>= 1</a:t>
            </a:r>
            <a:r>
              <a:rPr lang="en-US" alt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S </a:t>
            </a:r>
            <a:r>
              <a:rPr lang="en-US" sz="2400" b="1">
                <a:gradFill>
                  <a:gsLst>
                    <a:gs pos="0">
                      <a:srgbClr val="012D86"/>
                    </a:gs>
                    <a:gs pos="100000">
                      <a:srgbClr val="0E2557"/>
                    </a:gs>
                  </a:gsLst>
                  <a:lin scaled="0"/>
                </a:gradFill>
                <a:latin typeface="Times New Roman" panose="02020603050405020304" charset="0"/>
                <a:sym typeface="+mn-ea"/>
              </a:rPr>
              <a:t>= 1</a:t>
            </a:r>
            <a:r>
              <a:rPr lang="en-US" altLang="zh-CN" sz="2400" b="1">
                <a:gradFill>
                  <a:gsLst>
                    <a:gs pos="0">
                      <a:srgbClr val="012D86"/>
                    </a:gs>
                    <a:gs pos="100000">
                      <a:srgbClr val="0E2557"/>
                    </a:gs>
                  </a:gsLst>
                  <a:lin scaled="0"/>
                </a:gradFill>
                <a:sym typeface="+mn-ea"/>
              </a:rPr>
              <a:t>)</a:t>
            </a:r>
            <a:r>
              <a:rPr lang="zh-CN" sz="2400" b="1">
                <a:gradFill>
                  <a:gsLst>
                    <a:gs pos="0">
                      <a:srgbClr val="012D86"/>
                    </a:gs>
                    <a:gs pos="100000">
                      <a:srgbClr val="0E2557"/>
                    </a:gs>
                  </a:gsLst>
                  <a:lin scaled="0"/>
                </a:gradFill>
                <a:sym typeface="+mn-ea"/>
              </a:rPr>
              <a:t>。</a:t>
            </a:r>
            <a:endParaRPr lang="zh-CN" altLang="en-US" sz="2400" b="1">
              <a:gradFill>
                <a:gsLst>
                  <a:gs pos="0">
                    <a:srgbClr val="012D86"/>
                  </a:gs>
                  <a:gs pos="100000">
                    <a:srgbClr val="0E2557"/>
                  </a:gs>
                </a:gsLst>
                <a:lin scaled="0"/>
              </a:gradFill>
              <a:sym typeface="+mn-ea"/>
            </a:endParaRPr>
          </a:p>
        </p:txBody>
      </p:sp>
      <p:pic>
        <p:nvPicPr>
          <p:cNvPr id="3" name="图片 2"/>
          <p:cNvPicPr/>
          <p:nvPr/>
        </p:nvPicPr>
        <p:blipFill>
          <a:blip r:embed="rId2"/>
          <a:stretch>
            <a:fillRect/>
          </a:stretch>
        </p:blipFill>
        <p:spPr>
          <a:xfrm>
            <a:off x="6793230" y="3077210"/>
            <a:ext cx="310515" cy="363855"/>
          </a:xfrm>
          <a:prstGeom prst="rect">
            <a:avLst/>
          </a:prstGeom>
          <a:noFill/>
          <a:ln w="9525">
            <a:noFill/>
          </a:ln>
        </p:spPr>
      </p:pic>
      <p:pic>
        <p:nvPicPr>
          <p:cNvPr id="4" name="图片 3"/>
          <p:cNvPicPr/>
          <p:nvPr/>
        </p:nvPicPr>
        <p:blipFill>
          <a:blip r:embed="rId3"/>
          <a:stretch>
            <a:fillRect/>
          </a:stretch>
        </p:blipFill>
        <p:spPr>
          <a:xfrm>
            <a:off x="7338060" y="3077210"/>
            <a:ext cx="300355" cy="354965"/>
          </a:xfrm>
          <a:prstGeom prst="rect">
            <a:avLst/>
          </a:prstGeom>
          <a:noFill/>
          <a:ln w="9525">
            <a:noFill/>
          </a:ln>
        </p:spPr>
      </p:pic>
      <p:sp>
        <p:nvSpPr>
          <p:cNvPr id="13" name="文本框 12"/>
          <p:cNvSpPr txBox="1"/>
          <p:nvPr/>
        </p:nvSpPr>
        <p:spPr>
          <a:xfrm>
            <a:off x="1905000" y="5483860"/>
            <a:ext cx="363220" cy="460375"/>
          </a:xfrm>
          <a:prstGeom prst="rect">
            <a:avLst/>
          </a:prstGeom>
          <a:noFill/>
        </p:spPr>
        <p:txBody>
          <a:bodyPr wrap="square" rtlCol="0">
            <a:spAutoFit/>
            <a:scene3d>
              <a:camera prst="orthographicFront"/>
              <a:lightRig rig="threePt" dir="t"/>
            </a:scene3d>
          </a:bodyPr>
          <a:p>
            <a:r>
              <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1</a:t>
            </a:r>
            <a:endPar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14" name="文本框 13"/>
          <p:cNvSpPr txBox="1"/>
          <p:nvPr/>
        </p:nvSpPr>
        <p:spPr>
          <a:xfrm>
            <a:off x="641985" y="5483860"/>
            <a:ext cx="363220" cy="460375"/>
          </a:xfrm>
          <a:prstGeom prst="rect">
            <a:avLst/>
          </a:prstGeom>
          <a:noFill/>
        </p:spPr>
        <p:txBody>
          <a:bodyPr wrap="square" rtlCol="0">
            <a:spAutoFit/>
            <a:scene3d>
              <a:camera prst="orthographicFront"/>
              <a:lightRig rig="threePt" dir="t"/>
            </a:scene3d>
          </a:bodyPr>
          <a:p>
            <a:r>
              <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1</a:t>
            </a:r>
            <a:endPar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2" name="椭圆 1"/>
          <p:cNvSpPr/>
          <p:nvPr/>
        </p:nvSpPr>
        <p:spPr>
          <a:xfrm>
            <a:off x="4106863" y="5598478"/>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9" name="椭圆 8"/>
          <p:cNvSpPr/>
          <p:nvPr/>
        </p:nvSpPr>
        <p:spPr>
          <a:xfrm>
            <a:off x="3777616" y="3517265"/>
            <a:ext cx="406400" cy="414338"/>
          </a:xfrm>
          <a:prstGeom prst="ellipse">
            <a:avLst/>
          </a:prstGeom>
          <a:solidFill>
            <a:srgbClr val="0099FF">
              <a:alpha val="73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6" name="椭圆 5"/>
          <p:cNvSpPr/>
          <p:nvPr/>
        </p:nvSpPr>
        <p:spPr>
          <a:xfrm>
            <a:off x="2419033" y="5598478"/>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8" name="椭圆 17"/>
          <p:cNvSpPr/>
          <p:nvPr/>
        </p:nvSpPr>
        <p:spPr>
          <a:xfrm>
            <a:off x="3069273" y="3516948"/>
            <a:ext cx="406400" cy="414338"/>
          </a:xfrm>
          <a:prstGeom prst="ellipse">
            <a:avLst/>
          </a:prstGeom>
          <a:solidFill>
            <a:srgbClr val="0099FF">
              <a:alpha val="75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9" name="椭圆 18"/>
          <p:cNvSpPr/>
          <p:nvPr/>
        </p:nvSpPr>
        <p:spPr>
          <a:xfrm>
            <a:off x="1638618" y="3516948"/>
            <a:ext cx="406400" cy="414338"/>
          </a:xfrm>
          <a:prstGeom prst="ellipse">
            <a:avLst/>
          </a:prstGeom>
          <a:solidFill>
            <a:srgbClr val="0099FF">
              <a:alpha val="74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20" name="椭圆 19"/>
          <p:cNvSpPr/>
          <p:nvPr/>
        </p:nvSpPr>
        <p:spPr>
          <a:xfrm>
            <a:off x="935673" y="3516948"/>
            <a:ext cx="406400" cy="414338"/>
          </a:xfrm>
          <a:prstGeom prst="ellipse">
            <a:avLst/>
          </a:prstGeom>
          <a:solidFill>
            <a:srgbClr val="0099FF">
              <a:alpha val="72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349" name="图片 2786"/>
          <p:cNvPicPr>
            <a:picLocks noChangeAspect="1"/>
          </p:cNvPicPr>
          <p:nvPr/>
        </p:nvPicPr>
        <p:blipFill>
          <a:blip r:embed="rId1"/>
          <a:srcRect r="30852" b="12645"/>
          <a:stretch>
            <a:fillRect/>
          </a:stretch>
        </p:blipFill>
        <p:spPr>
          <a:xfrm>
            <a:off x="296545" y="1958975"/>
            <a:ext cx="4652010" cy="3639820"/>
          </a:xfrm>
          <a:prstGeom prst="rect">
            <a:avLst/>
          </a:prstGeom>
          <a:noFill/>
          <a:ln>
            <a:noFill/>
          </a:ln>
        </p:spPr>
      </p:pic>
      <p:sp>
        <p:nvSpPr>
          <p:cNvPr id="38" name="椭圆 37"/>
          <p:cNvSpPr/>
          <p:nvPr/>
        </p:nvSpPr>
        <p:spPr>
          <a:xfrm>
            <a:off x="3071496" y="3493770"/>
            <a:ext cx="406400" cy="414338"/>
          </a:xfrm>
          <a:prstGeom prst="ellipse">
            <a:avLst/>
          </a:prstGeom>
          <a:solidFill>
            <a:srgbClr val="0099FF">
              <a:alpha val="6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sp>
        <p:nvSpPr>
          <p:cNvPr id="100" name="文本框 99"/>
          <p:cNvSpPr txBox="1"/>
          <p:nvPr/>
        </p:nvSpPr>
        <p:spPr>
          <a:xfrm>
            <a:off x="5125085" y="1603375"/>
            <a:ext cx="3561715" cy="2306955"/>
          </a:xfrm>
          <a:prstGeom prst="rect">
            <a:avLst/>
          </a:prstGeom>
          <a:noFill/>
          <a:ln w="9525">
            <a:noFill/>
          </a:ln>
        </p:spPr>
        <p:txBody>
          <a:bodyPr wrap="square">
            <a:spAutoFit/>
          </a:bodyPr>
          <a:p>
            <a:pPr indent="266700"/>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① </a:t>
            </a:r>
            <a:r>
              <a:rPr lang="zh-CN" sz="2400" b="1">
                <a:gradFill>
                  <a:gsLst>
                    <a:gs pos="0">
                      <a:srgbClr val="012D86"/>
                    </a:gs>
                    <a:gs pos="100000">
                      <a:srgbClr val="0E2557"/>
                    </a:gs>
                  </a:gsLst>
                  <a:lin scaled="0"/>
                </a:gradFill>
                <a:ea typeface="宋体" panose="02010600030101010101" pitchFamily="2" charset="-122"/>
              </a:rPr>
              <a:t>若</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sym typeface="+mn-ea"/>
              </a:rPr>
              <a:t>CP </a:t>
            </a:r>
            <a:r>
              <a:rPr lang="en-US" sz="2400" b="1">
                <a:gradFill>
                  <a:gsLst>
                    <a:gs pos="0">
                      <a:srgbClr val="012D86"/>
                    </a:gs>
                    <a:gs pos="100000">
                      <a:srgbClr val="0E2557"/>
                    </a:gs>
                  </a:gsLst>
                  <a:lin scaled="0"/>
                </a:gradFill>
                <a:latin typeface="Times New Roman" panose="02020603050405020304" charset="0"/>
                <a:sym typeface="+mn-ea"/>
              </a:rPr>
              <a:t>= 0</a:t>
            </a:r>
            <a:r>
              <a:rPr lang="zh-CN" sz="2400" b="1">
                <a:gradFill>
                  <a:gsLst>
                    <a:gs pos="0">
                      <a:srgbClr val="012D86"/>
                    </a:gs>
                    <a:gs pos="100000">
                      <a:srgbClr val="0E2557"/>
                    </a:gs>
                  </a:gsLst>
                  <a:lin scaled="0"/>
                </a:gradFill>
                <a:sym typeface="+mn-ea"/>
              </a:rPr>
              <a:t>时，</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3</a:t>
            </a:r>
            <a:r>
              <a:rPr lang="zh-CN" sz="2400" b="1">
                <a:gradFill>
                  <a:gsLst>
                    <a:gs pos="0">
                      <a:srgbClr val="012D86"/>
                    </a:gs>
                    <a:gs pos="100000">
                      <a:srgbClr val="0E2557"/>
                    </a:gs>
                  </a:gsLst>
                  <a:lin scaled="0"/>
                </a:gradFill>
                <a:sym typeface="+mn-ea"/>
              </a:rPr>
              <a:t>＝</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4</a:t>
            </a:r>
            <a:r>
              <a:rPr lang="zh-CN" sz="2400" b="1">
                <a:gradFill>
                  <a:gsLst>
                    <a:gs pos="0">
                      <a:srgbClr val="012D86"/>
                    </a:gs>
                    <a:gs pos="100000">
                      <a:srgbClr val="0E2557"/>
                    </a:gs>
                  </a:gsLst>
                  <a:lin scaled="0"/>
                </a:gradFill>
                <a:sym typeface="+mn-ea"/>
              </a:rPr>
              <a:t>＝</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a:t>
            </a:r>
            <a:r>
              <a:rPr lang="en-US" sz="2400" b="1">
                <a:gradFill>
                  <a:gsLst>
                    <a:gs pos="0">
                      <a:srgbClr val="012D86"/>
                    </a:gs>
                    <a:gs pos="100000">
                      <a:srgbClr val="0E2557"/>
                    </a:gs>
                  </a:gsLst>
                  <a:lin scaled="0"/>
                </a:gradFill>
                <a:latin typeface="Times New Roman" panose="02020603050405020304" charset="0"/>
                <a:sym typeface="+mn-ea"/>
              </a:rPr>
              <a:t>G</a:t>
            </a:r>
            <a:r>
              <a:rPr lang="en-US" sz="2400" b="1" baseline="-25000">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a:t>
            </a:r>
            <a:r>
              <a:rPr lang="en-US" sz="2400" b="1">
                <a:gradFill>
                  <a:gsLst>
                    <a:gs pos="0">
                      <a:srgbClr val="012D86"/>
                    </a:gs>
                    <a:gs pos="100000">
                      <a:srgbClr val="0E2557"/>
                    </a:gs>
                  </a:gsLst>
                  <a:lin scaled="0"/>
                </a:gradFill>
                <a:latin typeface="Times New Roman" panose="02020603050405020304" charset="0"/>
                <a:sym typeface="+mn-ea"/>
              </a:rPr>
              <a:t>G</a:t>
            </a:r>
            <a:r>
              <a:rPr lang="en-US" sz="2400" b="1" baseline="-25000">
                <a:gradFill>
                  <a:gsLst>
                    <a:gs pos="0">
                      <a:srgbClr val="012D86"/>
                    </a:gs>
                    <a:gs pos="100000">
                      <a:srgbClr val="0E2557"/>
                    </a:gs>
                  </a:gsLst>
                  <a:lin scaled="0"/>
                </a:gradFill>
                <a:latin typeface="Times New Roman" panose="02020603050405020304" charset="0"/>
                <a:sym typeface="+mn-ea"/>
              </a:rPr>
              <a:t>2</a:t>
            </a:r>
            <a:r>
              <a:rPr lang="zh-CN" sz="2400" b="1">
                <a:gradFill>
                  <a:gsLst>
                    <a:gs pos="0">
                      <a:srgbClr val="012D86"/>
                    </a:gs>
                    <a:gs pos="100000">
                      <a:srgbClr val="0E2557"/>
                    </a:gs>
                  </a:gsLst>
                  <a:lin scaled="0"/>
                </a:gradFill>
                <a:sym typeface="+mn-ea"/>
              </a:rPr>
              <a:t>组成的基本</a:t>
            </a:r>
            <a:r>
              <a:rPr lang="en-US" sz="2400" b="1" i="1">
                <a:gradFill>
                  <a:gsLst>
                    <a:gs pos="0">
                      <a:srgbClr val="012D86"/>
                    </a:gs>
                    <a:gs pos="100000">
                      <a:srgbClr val="0E2557"/>
                    </a:gs>
                  </a:gsLst>
                  <a:lin scaled="0"/>
                </a:gradFill>
                <a:latin typeface="Times New Roman" panose="02020603050405020304" charset="0"/>
                <a:sym typeface="+mn-ea"/>
              </a:rPr>
              <a:t>RS</a:t>
            </a:r>
            <a:r>
              <a:rPr lang="zh-CN" sz="2400" b="1">
                <a:gradFill>
                  <a:gsLst>
                    <a:gs pos="0">
                      <a:srgbClr val="012D86"/>
                    </a:gs>
                    <a:gs pos="100000">
                      <a:srgbClr val="0E2557"/>
                    </a:gs>
                  </a:gsLst>
                  <a:lin scaled="0"/>
                </a:gradFill>
                <a:sym typeface="+mn-ea"/>
              </a:rPr>
              <a:t>触发器保持原状态不变。而</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6 </a:t>
            </a:r>
            <a:r>
              <a:rPr lang="en-US" sz="2400" b="1">
                <a:gradFill>
                  <a:gsLst>
                    <a:gs pos="0">
                      <a:srgbClr val="012D86"/>
                    </a:gs>
                    <a:gs pos="100000">
                      <a:srgbClr val="0E2557"/>
                    </a:gs>
                  </a:gsLst>
                  <a:lin scaled="0"/>
                </a:gradFill>
                <a:latin typeface="Times New Roman" panose="02020603050405020304" charset="0"/>
                <a:sym typeface="+mn-ea"/>
              </a:rPr>
              <a:t>= 0</a:t>
            </a:r>
            <a:r>
              <a:rPr lang="en-US" alt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R </a:t>
            </a:r>
            <a:r>
              <a:rPr lang="en-US" sz="2400" b="1">
                <a:gradFill>
                  <a:gsLst>
                    <a:gs pos="0">
                      <a:srgbClr val="012D86"/>
                    </a:gs>
                    <a:gs pos="100000">
                      <a:srgbClr val="0E2557"/>
                    </a:gs>
                  </a:gsLst>
                  <a:lin scaled="0"/>
                </a:gradFill>
                <a:latin typeface="Times New Roman" panose="02020603050405020304" charset="0"/>
                <a:sym typeface="+mn-ea"/>
              </a:rPr>
              <a:t>= 0</a:t>
            </a:r>
            <a:r>
              <a:rPr lang="en-US" altLang="zh-CN" sz="2400" b="1">
                <a:gradFill>
                  <a:gsLst>
                    <a:gs pos="0">
                      <a:srgbClr val="012D86"/>
                    </a:gs>
                    <a:gs pos="100000">
                      <a:srgbClr val="0E2557"/>
                    </a:gs>
                  </a:gsLst>
                  <a:lin scaled="0"/>
                </a:gradFill>
                <a:sym typeface="+mn-ea"/>
              </a:rPr>
              <a:t>)</a:t>
            </a:r>
            <a:r>
              <a:rPr 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4 </a:t>
            </a:r>
            <a:r>
              <a:rPr lang="en-US" sz="2400" b="1">
                <a:gradFill>
                  <a:gsLst>
                    <a:gs pos="0">
                      <a:srgbClr val="012D86"/>
                    </a:gs>
                    <a:gs pos="100000">
                      <a:srgbClr val="0E2557"/>
                    </a:gs>
                  </a:gsLst>
                  <a:lin scaled="0"/>
                </a:gradFill>
                <a:latin typeface="Times New Roman" panose="02020603050405020304" charset="0"/>
                <a:sym typeface="+mn-ea"/>
              </a:rPr>
              <a:t>= 1</a:t>
            </a:r>
            <a:r>
              <a:rPr 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5 </a:t>
            </a:r>
            <a:r>
              <a:rPr lang="en-US" sz="2400" b="1">
                <a:gradFill>
                  <a:gsLst>
                    <a:gs pos="0">
                      <a:srgbClr val="012D86"/>
                    </a:gs>
                    <a:gs pos="100000">
                      <a:srgbClr val="0E2557"/>
                    </a:gs>
                  </a:gsLst>
                  <a:lin scaled="0"/>
                </a:gradFill>
                <a:latin typeface="Times New Roman" panose="02020603050405020304" charset="0"/>
                <a:sym typeface="+mn-ea"/>
              </a:rPr>
              <a:t>= 1</a:t>
            </a:r>
            <a:r>
              <a:rPr lang="en-US" alt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S </a:t>
            </a:r>
            <a:r>
              <a:rPr lang="en-US" sz="2400" b="1">
                <a:gradFill>
                  <a:gsLst>
                    <a:gs pos="0">
                      <a:srgbClr val="012D86"/>
                    </a:gs>
                    <a:gs pos="100000">
                      <a:srgbClr val="0E2557"/>
                    </a:gs>
                  </a:gsLst>
                  <a:lin scaled="0"/>
                </a:gradFill>
                <a:latin typeface="Times New Roman" panose="02020603050405020304" charset="0"/>
                <a:sym typeface="+mn-ea"/>
              </a:rPr>
              <a:t>= 1</a:t>
            </a:r>
            <a:r>
              <a:rPr lang="en-US" altLang="zh-CN" sz="2400" b="1">
                <a:gradFill>
                  <a:gsLst>
                    <a:gs pos="0">
                      <a:srgbClr val="012D86"/>
                    </a:gs>
                    <a:gs pos="100000">
                      <a:srgbClr val="0E2557"/>
                    </a:gs>
                  </a:gsLst>
                  <a:lin scaled="0"/>
                </a:gradFill>
                <a:sym typeface="+mn-ea"/>
              </a:rPr>
              <a:t>)</a:t>
            </a:r>
            <a:r>
              <a:rPr lang="zh-CN" sz="2400" b="1">
                <a:gradFill>
                  <a:gsLst>
                    <a:gs pos="0">
                      <a:srgbClr val="012D86"/>
                    </a:gs>
                    <a:gs pos="100000">
                      <a:srgbClr val="0E2557"/>
                    </a:gs>
                  </a:gsLst>
                  <a:lin scaled="0"/>
                </a:gradFill>
                <a:sym typeface="+mn-ea"/>
              </a:rPr>
              <a:t>。</a:t>
            </a:r>
            <a:endParaRPr lang="zh-CN" altLang="en-US" sz="2400" b="1">
              <a:gradFill>
                <a:gsLst>
                  <a:gs pos="0">
                    <a:srgbClr val="012D86"/>
                  </a:gs>
                  <a:gs pos="100000">
                    <a:srgbClr val="0E2557"/>
                  </a:gs>
                </a:gsLst>
                <a:lin scaled="0"/>
              </a:gradFill>
              <a:sym typeface="+mn-ea"/>
            </a:endParaRPr>
          </a:p>
        </p:txBody>
      </p:sp>
      <p:grpSp>
        <p:nvGrpSpPr>
          <p:cNvPr id="17" name="组合 16"/>
          <p:cNvGrpSpPr/>
          <p:nvPr/>
        </p:nvGrpSpPr>
        <p:grpSpPr>
          <a:xfrm>
            <a:off x="4758690" y="4606290"/>
            <a:ext cx="3513455" cy="460375"/>
            <a:chOff x="7494" y="7134"/>
            <a:chExt cx="5533" cy="725"/>
          </a:xfrm>
        </p:grpSpPr>
        <p:sp>
          <p:nvSpPr>
            <p:cNvPr id="9" name="文本框 8"/>
            <p:cNvSpPr txBox="1"/>
            <p:nvPr/>
          </p:nvSpPr>
          <p:spPr>
            <a:xfrm>
              <a:off x="7494" y="7134"/>
              <a:ext cx="5533" cy="725"/>
            </a:xfrm>
            <a:prstGeom prst="rect">
              <a:avLst/>
            </a:prstGeom>
            <a:noFill/>
            <a:ln w="9525">
              <a:noFill/>
            </a:ln>
          </p:spPr>
          <p:txBody>
            <a:bodyPr wrap="square">
              <a:spAutoFit/>
            </a:bodyPr>
            <a:p>
              <a:pPr indent="266700"/>
              <a:r>
                <a:rPr lang="en-US" sz="2400" b="1" i="1">
                  <a:gradFill>
                    <a:gsLst>
                      <a:gs pos="0">
                        <a:srgbClr val="012D86"/>
                      </a:gs>
                      <a:gs pos="100000">
                        <a:srgbClr val="0E2557"/>
                      </a:gs>
                    </a:gsLst>
                    <a:lin scaled="0"/>
                  </a:gradFill>
                  <a:latin typeface="Times New Roman" panose="02020603050405020304" charset="0"/>
                  <a:sym typeface="+mn-ea"/>
                </a:rPr>
                <a:t>Q</a:t>
              </a:r>
              <a:r>
                <a:rPr lang="zh-CN" sz="2400" b="1">
                  <a:gradFill>
                    <a:gsLst>
                      <a:gs pos="0">
                        <a:srgbClr val="012D86"/>
                      </a:gs>
                      <a:gs pos="100000">
                        <a:srgbClr val="0E2557"/>
                      </a:gs>
                    </a:gsLst>
                    <a:lin scaled="0"/>
                  </a:gradFill>
                  <a:sym typeface="+mn-ea"/>
                </a:rPr>
                <a:t>翻转为</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  翻转为</a:t>
              </a:r>
              <a:r>
                <a:rPr lang="en-US" sz="2400" b="1">
                  <a:gradFill>
                    <a:gsLst>
                      <a:gs pos="0">
                        <a:srgbClr val="012D86"/>
                      </a:gs>
                      <a:gs pos="100000">
                        <a:srgbClr val="0E2557"/>
                      </a:gs>
                    </a:gsLst>
                    <a:lin scaled="0"/>
                  </a:gradFill>
                  <a:latin typeface="Times New Roman" panose="02020603050405020304" charset="0"/>
                  <a:sym typeface="+mn-ea"/>
                </a:rPr>
                <a:t>0</a:t>
              </a:r>
              <a:r>
                <a:rPr lang="zh-CN" sz="2400" b="1">
                  <a:gradFill>
                    <a:gsLst>
                      <a:gs pos="0">
                        <a:srgbClr val="012D86"/>
                      </a:gs>
                      <a:gs pos="100000">
                        <a:srgbClr val="0E2557"/>
                      </a:gs>
                    </a:gsLst>
                    <a:lin scaled="0"/>
                  </a:gradFill>
                  <a:sym typeface="+mn-ea"/>
                </a:rPr>
                <a:t>。</a:t>
              </a:r>
              <a:endParaRPr lang="zh-CN" altLang="en-US" sz="2400" b="1">
                <a:gradFill>
                  <a:gsLst>
                    <a:gs pos="0">
                      <a:srgbClr val="012D86"/>
                    </a:gs>
                    <a:gs pos="100000">
                      <a:srgbClr val="0E2557"/>
                    </a:gs>
                  </a:gsLst>
                  <a:lin scaled="0"/>
                </a:gradFill>
                <a:sym typeface="+mn-ea"/>
              </a:endParaRPr>
            </a:p>
          </p:txBody>
        </p:sp>
        <p:pic>
          <p:nvPicPr>
            <p:cNvPr id="6" name="图片 5"/>
            <p:cNvPicPr/>
            <p:nvPr/>
          </p:nvPicPr>
          <p:blipFill>
            <a:blip r:embed="rId2"/>
            <a:stretch>
              <a:fillRect/>
            </a:stretch>
          </p:blipFill>
          <p:spPr>
            <a:xfrm>
              <a:off x="10320" y="7134"/>
              <a:ext cx="522" cy="712"/>
            </a:xfrm>
            <a:prstGeom prst="rect">
              <a:avLst/>
            </a:prstGeom>
            <a:noFill/>
            <a:ln w="9525">
              <a:noFill/>
            </a:ln>
          </p:spPr>
        </p:pic>
      </p:grpSp>
      <p:sp>
        <p:nvSpPr>
          <p:cNvPr id="13" name="文本框 12"/>
          <p:cNvSpPr txBox="1"/>
          <p:nvPr/>
        </p:nvSpPr>
        <p:spPr>
          <a:xfrm>
            <a:off x="1905000" y="5483860"/>
            <a:ext cx="363220" cy="460375"/>
          </a:xfrm>
          <a:prstGeom prst="rect">
            <a:avLst/>
          </a:prstGeom>
          <a:noFill/>
        </p:spPr>
        <p:txBody>
          <a:bodyPr wrap="square" rtlCol="0">
            <a:spAutoFit/>
            <a:scene3d>
              <a:camera prst="orthographicFront"/>
              <a:lightRig rig="threePt" dir="t"/>
            </a:scene3d>
          </a:bodyPr>
          <a:p>
            <a:r>
              <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1</a:t>
            </a:r>
            <a:endPar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14" name="文本框 13"/>
          <p:cNvSpPr txBox="1"/>
          <p:nvPr/>
        </p:nvSpPr>
        <p:spPr>
          <a:xfrm>
            <a:off x="641985" y="5483860"/>
            <a:ext cx="363220" cy="460375"/>
          </a:xfrm>
          <a:prstGeom prst="rect">
            <a:avLst/>
          </a:prstGeom>
          <a:noFill/>
        </p:spPr>
        <p:txBody>
          <a:bodyPr wrap="square" rtlCol="0">
            <a:spAutoFit/>
            <a:scene3d>
              <a:camera prst="orthographicFront"/>
              <a:lightRig rig="threePt" dir="t"/>
            </a:scene3d>
          </a:bodyPr>
          <a:p>
            <a:r>
              <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1</a:t>
            </a:r>
            <a:endPar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2" name="文本框 1"/>
          <p:cNvSpPr txBox="1"/>
          <p:nvPr/>
        </p:nvSpPr>
        <p:spPr>
          <a:xfrm>
            <a:off x="5024755" y="3910330"/>
            <a:ext cx="3513455" cy="829945"/>
          </a:xfrm>
          <a:prstGeom prst="rect">
            <a:avLst/>
          </a:prstGeom>
          <a:noFill/>
          <a:ln w="9525">
            <a:noFill/>
          </a:ln>
        </p:spPr>
        <p:txBody>
          <a:bodyPr wrap="square">
            <a:spAutoFit/>
          </a:bodyPr>
          <a:p>
            <a:pPr indent="266700"/>
            <a:r>
              <a:rPr lang="zh-CN" sz="2400" b="1">
                <a:gradFill>
                  <a:gsLst>
                    <a:gs pos="0">
                      <a:srgbClr val="012D86"/>
                    </a:gs>
                    <a:gs pos="100000">
                      <a:srgbClr val="0E2557"/>
                    </a:gs>
                  </a:gsLst>
                  <a:lin scaled="0"/>
                </a:gradFill>
                <a:sym typeface="+mn-ea"/>
              </a:rPr>
              <a:t>当</a:t>
            </a:r>
            <a:r>
              <a:rPr lang="en-US" sz="2400" b="1" i="1">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由</a:t>
            </a:r>
            <a:r>
              <a:rPr lang="en-US" sz="2400" b="1">
                <a:gradFill>
                  <a:gsLst>
                    <a:gs pos="0">
                      <a:srgbClr val="012D86"/>
                    </a:gs>
                    <a:gs pos="100000">
                      <a:srgbClr val="0E2557"/>
                    </a:gs>
                  </a:gsLst>
                  <a:lin scaled="0"/>
                </a:gradFill>
                <a:latin typeface="Times New Roman" panose="02020603050405020304" charset="0"/>
                <a:sym typeface="+mn-ea"/>
              </a:rPr>
              <a:t>0</a:t>
            </a:r>
            <a:r>
              <a:rPr lang="zh-CN" sz="2400" b="1">
                <a:gradFill>
                  <a:gsLst>
                    <a:gs pos="0">
                      <a:srgbClr val="012D86"/>
                    </a:gs>
                    <a:gs pos="100000">
                      <a:srgbClr val="0E2557"/>
                    </a:gs>
                  </a:gsLst>
                  <a:lin scaled="0"/>
                </a:gradFill>
                <a:sym typeface="+mn-ea"/>
              </a:rPr>
              <a:t>变为</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时，</a:t>
            </a:r>
            <a:r>
              <a:rPr lang="en-US" sz="2400" b="1">
                <a:gradFill>
                  <a:gsLst>
                    <a:gs pos="0">
                      <a:srgbClr val="012D86"/>
                    </a:gs>
                    <a:gs pos="100000">
                      <a:srgbClr val="0E2557"/>
                    </a:gs>
                  </a:gsLst>
                  <a:lin scaled="0"/>
                </a:gradFill>
                <a:latin typeface="Times New Roman" panose="02020603050405020304" charset="0"/>
                <a:sym typeface="+mn-ea"/>
              </a:rPr>
              <a:t>G</a:t>
            </a:r>
            <a:r>
              <a:rPr lang="en-US" sz="2400" b="1" baseline="-25000">
                <a:gradFill>
                  <a:gsLst>
                    <a:gs pos="0">
                      <a:srgbClr val="012D86"/>
                    </a:gs>
                    <a:gs pos="100000">
                      <a:srgbClr val="0E2557"/>
                    </a:gs>
                  </a:gsLst>
                  <a:lin scaled="0"/>
                </a:gradFill>
                <a:latin typeface="Times New Roman" panose="02020603050405020304" charset="0"/>
                <a:sym typeface="+mn-ea"/>
              </a:rPr>
              <a:t>3</a:t>
            </a:r>
            <a:r>
              <a:rPr lang="zh-CN" sz="2400" b="1">
                <a:gradFill>
                  <a:gsLst>
                    <a:gs pos="0">
                      <a:srgbClr val="012D86"/>
                    </a:gs>
                    <a:gs pos="100000">
                      <a:srgbClr val="0E2557"/>
                    </a:gs>
                  </a:gsLst>
                  <a:lin scaled="0"/>
                </a:gradFill>
                <a:sym typeface="+mn-ea"/>
              </a:rPr>
              <a:t>输入全部为</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3</a:t>
            </a:r>
            <a:r>
              <a:rPr lang="zh-CN" sz="2400" b="1">
                <a:gradFill>
                  <a:gsLst>
                    <a:gs pos="0">
                      <a:srgbClr val="012D86"/>
                    </a:gs>
                    <a:gs pos="100000">
                      <a:srgbClr val="0E2557"/>
                    </a:gs>
                  </a:gsLst>
                  <a:lin scaled="0"/>
                </a:gradFill>
                <a:sym typeface="+mn-ea"/>
              </a:rPr>
              <a:t>变为</a:t>
            </a:r>
            <a:r>
              <a:rPr lang="en-US" sz="2400" b="1">
                <a:gradFill>
                  <a:gsLst>
                    <a:gs pos="0">
                      <a:srgbClr val="012D86"/>
                    </a:gs>
                    <a:gs pos="100000">
                      <a:srgbClr val="0E2557"/>
                    </a:gs>
                  </a:gsLst>
                  <a:lin scaled="0"/>
                </a:gradFill>
                <a:latin typeface="Times New Roman" panose="02020603050405020304" charset="0"/>
                <a:sym typeface="+mn-ea"/>
              </a:rPr>
              <a:t>0</a:t>
            </a:r>
            <a:r>
              <a:rPr lang="zh-CN" sz="2400" b="1">
                <a:gradFill>
                  <a:gsLst>
                    <a:gs pos="0">
                      <a:srgbClr val="012D86"/>
                    </a:gs>
                    <a:gs pos="100000">
                      <a:srgbClr val="0E2557"/>
                    </a:gs>
                  </a:gsLst>
                  <a:lin scaled="0"/>
                </a:gradFill>
                <a:latin typeface="Times New Roman" panose="02020603050405020304" charset="0"/>
                <a:sym typeface="+mn-ea"/>
              </a:rPr>
              <a:t>，</a:t>
            </a:r>
            <a:endParaRPr lang="zh-CN" altLang="en-US" sz="2400" b="1">
              <a:gradFill>
                <a:gsLst>
                  <a:gs pos="0">
                    <a:srgbClr val="012D86"/>
                  </a:gs>
                  <a:gs pos="100000">
                    <a:srgbClr val="0E2557"/>
                  </a:gs>
                </a:gsLst>
                <a:lin scaled="0"/>
              </a:gradFill>
              <a:latin typeface="Times New Roman" panose="02020603050405020304" charset="0"/>
              <a:sym typeface="+mn-ea"/>
            </a:endParaRPr>
          </a:p>
        </p:txBody>
      </p:sp>
      <p:cxnSp>
        <p:nvCxnSpPr>
          <p:cNvPr id="19" name="直接箭头连接符 18"/>
          <p:cNvCxnSpPr/>
          <p:nvPr/>
        </p:nvCxnSpPr>
        <p:spPr>
          <a:xfrm>
            <a:off x="2690495" y="5709920"/>
            <a:ext cx="190500" cy="0"/>
          </a:xfrm>
          <a:prstGeom prst="straightConnector1">
            <a:avLst/>
          </a:prstGeom>
          <a:ln w="19050">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cxnSp>
        <p:nvCxnSpPr>
          <p:cNvPr id="21" name="直接连接符 20"/>
          <p:cNvCxnSpPr/>
          <p:nvPr/>
        </p:nvCxnSpPr>
        <p:spPr>
          <a:xfrm>
            <a:off x="2785745" y="5443220"/>
            <a:ext cx="28575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3048635" y="5195570"/>
            <a:ext cx="0" cy="243840"/>
          </a:xfrm>
          <a:prstGeom prst="line">
            <a:avLst/>
          </a:prstGeom>
          <a:ln w="22225">
            <a:solidFill>
              <a:srgbClr val="FF0000"/>
            </a:solidFill>
            <a:tailEnd type="arrow" w="sm"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048635" y="5195570"/>
            <a:ext cx="285750" cy="0"/>
          </a:xfrm>
          <a:prstGeom prst="line">
            <a:avLst/>
          </a:prstGeom>
          <a:noFill/>
          <a:ln w="22225"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2034540" y="3390900"/>
            <a:ext cx="190500" cy="0"/>
          </a:xfrm>
          <a:prstGeom prst="straightConnector1">
            <a:avLst/>
          </a:prstGeom>
          <a:noFill/>
          <a:ln w="19050" cap="flat" cmpd="sng" algn="ctr">
            <a:solidFill>
              <a:srgbClr val="FF0000"/>
            </a:solidFill>
            <a:prstDash val="solid"/>
            <a:tailEnd type="arrow" w="med" len="med"/>
          </a:ln>
          <a:effectLst/>
        </p:spPr>
        <p:style>
          <a:lnRef idx="1">
            <a:schemeClr val="accent2"/>
          </a:lnRef>
          <a:fillRef idx="0">
            <a:schemeClr val="accent2"/>
          </a:fillRef>
          <a:effectRef idx="0">
            <a:schemeClr val="accent2"/>
          </a:effectRef>
          <a:fontRef idx="minor">
            <a:schemeClr val="tx1"/>
          </a:fontRef>
        </p:style>
      </p:cxnSp>
      <p:sp>
        <p:nvSpPr>
          <p:cNvPr id="491541" name="椭圆 491540"/>
          <p:cNvSpPr/>
          <p:nvPr/>
        </p:nvSpPr>
        <p:spPr>
          <a:xfrm>
            <a:off x="2927668" y="154432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35" name="椭圆 491534"/>
          <p:cNvSpPr/>
          <p:nvPr/>
        </p:nvSpPr>
        <p:spPr>
          <a:xfrm>
            <a:off x="1805623" y="158972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3" name="椭圆 2"/>
          <p:cNvSpPr/>
          <p:nvPr/>
        </p:nvSpPr>
        <p:spPr>
          <a:xfrm>
            <a:off x="2268221" y="552958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 name="椭圆 3"/>
          <p:cNvSpPr/>
          <p:nvPr/>
        </p:nvSpPr>
        <p:spPr>
          <a:xfrm>
            <a:off x="2224723" y="3221990"/>
            <a:ext cx="406400" cy="414338"/>
          </a:xfrm>
          <a:prstGeom prst="ellipse">
            <a:avLst/>
          </a:prstGeom>
          <a:solidFill>
            <a:srgbClr val="FFCCFF">
              <a:alpha val="70000"/>
            </a:srgbClr>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28" name="椭圆 27"/>
          <p:cNvSpPr/>
          <p:nvPr/>
        </p:nvSpPr>
        <p:spPr>
          <a:xfrm>
            <a:off x="4130041" y="5537835"/>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32" name="椭圆 31"/>
          <p:cNvSpPr/>
          <p:nvPr/>
        </p:nvSpPr>
        <p:spPr>
          <a:xfrm>
            <a:off x="2880678" y="550672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33" name="椭圆 32"/>
          <p:cNvSpPr/>
          <p:nvPr/>
        </p:nvSpPr>
        <p:spPr>
          <a:xfrm>
            <a:off x="1618616" y="3183255"/>
            <a:ext cx="406400" cy="414338"/>
          </a:xfrm>
          <a:prstGeom prst="ellipse">
            <a:avLst/>
          </a:prstGeom>
          <a:solidFill>
            <a:srgbClr val="0099FF">
              <a:alpha val="6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34" name="椭圆 33"/>
          <p:cNvSpPr/>
          <p:nvPr/>
        </p:nvSpPr>
        <p:spPr>
          <a:xfrm>
            <a:off x="3074988" y="3485515"/>
            <a:ext cx="406400" cy="414338"/>
          </a:xfrm>
          <a:prstGeom prst="ellipse">
            <a:avLst/>
          </a:prstGeom>
          <a:solidFill>
            <a:srgbClr val="FFCCFF">
              <a:alpha val="68000"/>
            </a:srgbClr>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36" name="椭圆 35"/>
          <p:cNvSpPr/>
          <p:nvPr/>
        </p:nvSpPr>
        <p:spPr>
          <a:xfrm>
            <a:off x="935991" y="3493770"/>
            <a:ext cx="406400" cy="414338"/>
          </a:xfrm>
          <a:prstGeom prst="ellipse">
            <a:avLst/>
          </a:prstGeom>
          <a:solidFill>
            <a:srgbClr val="0099FF">
              <a:alpha val="57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37" name="椭圆 36"/>
          <p:cNvSpPr/>
          <p:nvPr/>
        </p:nvSpPr>
        <p:spPr>
          <a:xfrm>
            <a:off x="3972561" y="3079115"/>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540676" name="矩形 540675"/>
          <p:cNvSpPr/>
          <p:nvPr/>
        </p:nvSpPr>
        <p:spPr>
          <a:xfrm>
            <a:off x="5081905" y="5201920"/>
            <a:ext cx="3604895" cy="829945"/>
          </a:xfrm>
          <a:prstGeom prst="rect">
            <a:avLst/>
          </a:prstGeom>
          <a:solidFill>
            <a:srgbClr val="FFFFFF">
              <a:alpha val="0"/>
            </a:srgbClr>
          </a:solidFill>
          <a:ln w="9525">
            <a:noFill/>
          </a:ln>
        </p:spPr>
        <p:txBody>
          <a:bodyPr wrap="square">
            <a:spAutoFit/>
          </a:bodyPr>
          <a:p>
            <a:pPr algn="l"/>
            <a:r>
              <a:rPr lang="zh-CN" altLang="en-US" sz="2400" b="1" dirty="0">
                <a:solidFill>
                  <a:srgbClr val="000066"/>
                </a:solidFill>
                <a:latin typeface="Times New Roman" panose="02020603050405020304" charset="0"/>
                <a:ea typeface="楷体_GB2312" pitchFamily="49" charset="-122"/>
              </a:rPr>
              <a:t>在</a:t>
            </a:r>
            <a:r>
              <a:rPr lang="en-US" altLang="zh-CN" sz="2400" b="1" i="1">
                <a:solidFill>
                  <a:srgbClr val="000066"/>
                </a:solidFill>
                <a:latin typeface="Times New Roman" panose="02020603050405020304" charset="0"/>
                <a:ea typeface="楷体_GB2312" pitchFamily="49" charset="-122"/>
              </a:rPr>
              <a:t>CP</a:t>
            </a:r>
            <a:r>
              <a:rPr lang="zh-CN" altLang="en-US" sz="2400" b="1" dirty="0">
                <a:solidFill>
                  <a:srgbClr val="000066"/>
                </a:solidFill>
                <a:latin typeface="Times New Roman" panose="02020603050405020304" charset="0"/>
                <a:ea typeface="楷体_GB2312" pitchFamily="49" charset="-122"/>
              </a:rPr>
              <a:t>脉冲的</a:t>
            </a:r>
            <a:r>
              <a:rPr lang="zh-CN" altLang="en-US" sz="2400" b="1" dirty="0">
                <a:solidFill>
                  <a:srgbClr val="FF0000"/>
                </a:solidFill>
                <a:latin typeface="Times New Roman" panose="02020603050405020304" charset="0"/>
                <a:ea typeface="楷体_GB2312" pitchFamily="49" charset="-122"/>
              </a:rPr>
              <a:t>上升沿</a:t>
            </a:r>
            <a:r>
              <a:rPr lang="zh-CN" altLang="en-US" sz="2400" b="1" dirty="0">
                <a:solidFill>
                  <a:srgbClr val="000066"/>
                </a:solidFill>
                <a:latin typeface="Times New Roman" panose="02020603050405020304" charset="0"/>
                <a:ea typeface="楷体_GB2312" pitchFamily="49" charset="-122"/>
              </a:rPr>
              <a:t>到来瞬间使触发器的状态变化</a:t>
            </a:r>
            <a:endParaRPr lang="zh-CN" altLang="en-US" sz="2400" b="1" dirty="0">
              <a:solidFill>
                <a:srgbClr val="000066"/>
              </a:solidFill>
              <a:latin typeface="Times New Roman" panose="0202060305040502030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500"/>
                                        <p:tgtEl>
                                          <p:spTgt spid="1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32"/>
                                        </p:tgtEl>
                                        <p:attrNameLst>
                                          <p:attrName>style.visibility</p:attrName>
                                        </p:attrNameLst>
                                      </p:cBhvr>
                                      <p:to>
                                        <p:strVal val="visible"/>
                                      </p:to>
                                    </p:set>
                                  </p:childTnLst>
                                </p:cTn>
                              </p:par>
                            </p:childTnLst>
                          </p:cTn>
                        </p:par>
                        <p:par>
                          <p:cTn id="14" fill="hold">
                            <p:stCondLst>
                              <p:cond delay="500"/>
                            </p:stCondLst>
                            <p:childTnLst>
                              <p:par>
                                <p:cTn id="15" presetID="22" presetClass="entr" presetSubtype="8" fill="hold" nodeType="afterEffect">
                                  <p:stCondLst>
                                    <p:cond delay="1000"/>
                                  </p:stCondLst>
                                  <p:childTnLst>
                                    <p:set>
                                      <p:cBhvr>
                                        <p:cTn id="16" dur="500"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par>
                          <p:cTn id="18" fill="hold">
                            <p:stCondLst>
                              <p:cond delay="2000"/>
                            </p:stCondLst>
                            <p:childTnLst>
                              <p:par>
                                <p:cTn id="19" presetID="22" presetClass="entr" presetSubtype="4" fill="hold" nodeType="afterEffect">
                                  <p:stCondLst>
                                    <p:cond delay="0"/>
                                  </p:stCondLst>
                                  <p:childTnLst>
                                    <p:set>
                                      <p:cBhvr>
                                        <p:cTn id="20" dur="1000" fill="hold">
                                          <p:stCondLst>
                                            <p:cond delay="0"/>
                                          </p:stCondLst>
                                        </p:cTn>
                                        <p:tgtEl>
                                          <p:spTgt spid="22"/>
                                        </p:tgtEl>
                                        <p:attrNameLst>
                                          <p:attrName>style.visibility</p:attrName>
                                        </p:attrNameLst>
                                      </p:cBhvr>
                                      <p:to>
                                        <p:strVal val="visible"/>
                                      </p:to>
                                    </p:set>
                                    <p:animEffect transition="in" filter="wipe(down)">
                                      <p:cBhvr>
                                        <p:cTn id="21" dur="1000"/>
                                        <p:tgtEl>
                                          <p:spTgt spid="22"/>
                                        </p:tgtEl>
                                      </p:cBhvr>
                                    </p:animEffect>
                                  </p:childTnLst>
                                </p:cTn>
                              </p:par>
                            </p:childTnLst>
                          </p:cTn>
                        </p:par>
                        <p:par>
                          <p:cTn id="22" fill="hold">
                            <p:stCondLst>
                              <p:cond delay="3000"/>
                            </p:stCondLst>
                            <p:childTnLst>
                              <p:par>
                                <p:cTn id="23" presetID="22" presetClass="entr" presetSubtype="8" fill="hold"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left)">
                                      <p:cBhvr>
                                        <p:cTn id="25" dur="500"/>
                                        <p:tgtEl>
                                          <p:spTgt spid="23"/>
                                        </p:tgtEl>
                                      </p:cBhvr>
                                    </p:animEffect>
                                  </p:childTnLst>
                                </p:cTn>
                              </p:par>
                            </p:childTnLst>
                          </p:cTn>
                        </p:par>
                        <p:par>
                          <p:cTn id="26" fill="hold">
                            <p:stCondLst>
                              <p:cond delay="3500"/>
                            </p:stCondLst>
                            <p:childTnLst>
                              <p:par>
                                <p:cTn id="27" presetID="22" presetClass="entr" presetSubtype="8" fill="hold" nodeType="afterEffect">
                                  <p:stCondLst>
                                    <p:cond delay="1500"/>
                                  </p:stCondLst>
                                  <p:childTnLst>
                                    <p:set>
                                      <p:cBhvr>
                                        <p:cTn id="28" dur="1" fill="hold">
                                          <p:stCondLst>
                                            <p:cond delay="0"/>
                                          </p:stCondLst>
                                        </p:cTn>
                                        <p:tgtEl>
                                          <p:spTgt spid="24"/>
                                        </p:tgtEl>
                                        <p:attrNameLst>
                                          <p:attrName>style.visibility</p:attrName>
                                        </p:attrNameLst>
                                      </p:cBhvr>
                                      <p:to>
                                        <p:strVal val="visible"/>
                                      </p:to>
                                    </p:set>
                                    <p:animEffect transition="in" filter="wipe(left)">
                                      <p:cBhvr>
                                        <p:cTn id="29" dur="500"/>
                                        <p:tgtEl>
                                          <p:spTgt spid="24"/>
                                        </p:tgtEl>
                                      </p:cBhvr>
                                    </p:animEffect>
                                  </p:childTnLst>
                                </p:cTn>
                              </p:par>
                            </p:childTnLst>
                          </p:cTn>
                        </p:par>
                        <p:par>
                          <p:cTn id="30" fill="hold">
                            <p:stCondLst>
                              <p:cond delay="5500"/>
                            </p:stCondLst>
                            <p:childTnLst>
                              <p:par>
                                <p:cTn id="31" presetID="1" presetClass="entr" presetSubtype="0" fill="hold" grpId="0" nodeType="afterEffect">
                                  <p:stCondLst>
                                    <p:cond delay="1000"/>
                                  </p:stCondLst>
                                  <p:childTnLst>
                                    <p:set>
                                      <p:cBhvr>
                                        <p:cTn id="32" dur="1" fill="hold">
                                          <p:stCondLst>
                                            <p:cond delay="0"/>
                                          </p:stCondLst>
                                        </p:cTn>
                                        <p:tgtEl>
                                          <p:spTgt spid="4"/>
                                        </p:tgtEl>
                                        <p:attrNameLst>
                                          <p:attrName>style.visibility</p:attrName>
                                        </p:attrNameLst>
                                      </p:cBhvr>
                                      <p:to>
                                        <p:strVal val="visible"/>
                                      </p:to>
                                    </p:set>
                                  </p:childTnLst>
                                </p:cTn>
                              </p:par>
                            </p:childTnLst>
                          </p:cTn>
                        </p:par>
                        <p:par>
                          <p:cTn id="33" fill="hold">
                            <p:stCondLst>
                              <p:cond delay="6500"/>
                            </p:stCondLst>
                            <p:childTnLst>
                              <p:par>
                                <p:cTn id="34" presetID="1" presetClass="entr" presetSubtype="0" fill="hold" grpId="0" nodeType="afterEffect">
                                  <p:stCondLst>
                                    <p:cond delay="1000"/>
                                  </p:stCondLst>
                                  <p:childTnLst>
                                    <p:set>
                                      <p:cBhvr>
                                        <p:cTn id="35" dur="1" fill="hold">
                                          <p:stCondLst>
                                            <p:cond delay="0"/>
                                          </p:stCondLst>
                                        </p:cTn>
                                        <p:tgtEl>
                                          <p:spTgt spid="34"/>
                                        </p:tgtEl>
                                        <p:attrNameLst>
                                          <p:attrName>style.visibility</p:attrName>
                                        </p:attrNameLst>
                                      </p:cBhvr>
                                      <p:to>
                                        <p:strVal val="visible"/>
                                      </p:to>
                                    </p:set>
                                  </p:childTnLst>
                                </p:cTn>
                              </p:par>
                            </p:childTnLst>
                          </p:cTn>
                        </p:par>
                        <p:par>
                          <p:cTn id="36" fill="hold">
                            <p:stCondLst>
                              <p:cond delay="7500"/>
                            </p:stCondLst>
                            <p:childTnLst>
                              <p:par>
                                <p:cTn id="37" presetID="1" presetClass="entr" presetSubtype="0" fill="hold" nodeType="afterEffect">
                                  <p:stCondLst>
                                    <p:cond delay="2000"/>
                                  </p:stCondLst>
                                  <p:childTnLst>
                                    <p:set>
                                      <p:cBhvr>
                                        <p:cTn id="38" dur="1" fill="hold">
                                          <p:stCondLst>
                                            <p:cond delay="0"/>
                                          </p:stCondLst>
                                        </p:cTn>
                                        <p:tgtEl>
                                          <p:spTgt spid="17"/>
                                        </p:tgtEl>
                                        <p:attrNameLst>
                                          <p:attrName>style.visibility</p:attrName>
                                        </p:attrNameLst>
                                      </p:cBhvr>
                                      <p:to>
                                        <p:strVal val="visible"/>
                                      </p:to>
                                    </p:set>
                                  </p:childTnLst>
                                </p:cTn>
                              </p:par>
                            </p:childTnLst>
                          </p:cTn>
                        </p:par>
                        <p:par>
                          <p:cTn id="39" fill="hold">
                            <p:stCondLst>
                              <p:cond delay="9500"/>
                            </p:stCondLst>
                            <p:childTnLst>
                              <p:par>
                                <p:cTn id="40" presetID="1" presetClass="entr" presetSubtype="0" fill="hold" grpId="0" nodeType="afterEffect">
                                  <p:stCondLst>
                                    <p:cond delay="1000"/>
                                  </p:stCondLst>
                                  <p:childTnLst>
                                    <p:set>
                                      <p:cBhvr>
                                        <p:cTn id="41" dur="1" fill="hold">
                                          <p:stCondLst>
                                            <p:cond delay="0"/>
                                          </p:stCondLst>
                                        </p:cTn>
                                        <p:tgtEl>
                                          <p:spTgt spid="491535"/>
                                        </p:tgtEl>
                                        <p:attrNameLst>
                                          <p:attrName>style.visibility</p:attrName>
                                        </p:attrNameLst>
                                      </p:cBhvr>
                                      <p:to>
                                        <p:strVal val="visible"/>
                                      </p:to>
                                    </p:set>
                                  </p:childTnLst>
                                </p:cTn>
                              </p:par>
                            </p:childTnLst>
                          </p:cTn>
                        </p:par>
                        <p:par>
                          <p:cTn id="42" fill="hold">
                            <p:stCondLst>
                              <p:cond delay="10500"/>
                            </p:stCondLst>
                            <p:childTnLst>
                              <p:par>
                                <p:cTn id="43" presetID="1" presetClass="entr" presetSubtype="0" fill="hold" grpId="0" nodeType="afterEffect">
                                  <p:stCondLst>
                                    <p:cond delay="1000"/>
                                  </p:stCondLst>
                                  <p:childTnLst>
                                    <p:set>
                                      <p:cBhvr>
                                        <p:cTn id="44" dur="1" fill="hold">
                                          <p:stCondLst>
                                            <p:cond delay="0"/>
                                          </p:stCondLst>
                                        </p:cTn>
                                        <p:tgtEl>
                                          <p:spTgt spid="4915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grpId="0" nodeType="clickEffect">
                                  <p:stCondLst>
                                    <p:cond delay="0"/>
                                  </p:stCondLst>
                                  <p:childTnLst>
                                    <p:set>
                                      <p:cBhvr>
                                        <p:cTn id="48" dur="1" fill="hold">
                                          <p:stCondLst>
                                            <p:cond delay="0"/>
                                          </p:stCondLst>
                                        </p:cTn>
                                        <p:tgtEl>
                                          <p:spTgt spid="540676"/>
                                        </p:tgtEl>
                                        <p:attrNameLst>
                                          <p:attrName>style.visibility</p:attrName>
                                        </p:attrNameLst>
                                      </p:cBhvr>
                                      <p:to>
                                        <p:strVal val="visible"/>
                                      </p:to>
                                    </p:set>
                                    <p:animEffect transition="in" filter="strips(downRight)">
                                      <p:cBhvr>
                                        <p:cTn id="49" dur="500"/>
                                        <p:tgtEl>
                                          <p:spTgt spid="540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91535" grpId="0" bldLvl="0" animBg="1"/>
      <p:bldP spid="491541" grpId="0" bldLvl="0" animBg="1"/>
      <p:bldP spid="4" grpId="0" bldLvl="0" animBg="1"/>
      <p:bldP spid="32" grpId="0" bldLvl="0" animBg="1"/>
      <p:bldP spid="34" grpId="0" bldLvl="0" animBg="1"/>
      <p:bldP spid="540676"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文本框 35"/>
          <p:cNvSpPr txBox="1"/>
          <p:nvPr/>
        </p:nvSpPr>
        <p:spPr>
          <a:xfrm>
            <a:off x="5453380" y="4387850"/>
            <a:ext cx="3556000" cy="460375"/>
          </a:xfrm>
          <a:prstGeom prst="rect">
            <a:avLst/>
          </a:prstGeom>
          <a:noFill/>
          <a:ln w="9525">
            <a:noFill/>
          </a:ln>
        </p:spPr>
        <p:txBody>
          <a:bodyPr wrap="square">
            <a:spAutoFit/>
          </a:bodyPr>
          <a:p>
            <a:r>
              <a:rPr lang="en-US" sz="2400" i="1">
                <a:solidFill>
                  <a:srgbClr val="000000"/>
                </a:solidFill>
                <a:latin typeface="Times New Roman" panose="02020603050405020304" charset="0"/>
                <a:ea typeface="宋体" panose="02010600030101010101" pitchFamily="2" charset="-122"/>
              </a:rPr>
              <a:t>Q</a:t>
            </a:r>
            <a:r>
              <a:rPr lang="en-US" sz="2400" baseline="-25000">
                <a:solidFill>
                  <a:srgbClr val="000000"/>
                </a:solidFill>
                <a:latin typeface="Times New Roman" panose="02020603050405020304" charset="0"/>
                <a:ea typeface="宋体" panose="02010600030101010101" pitchFamily="2" charset="-122"/>
              </a:rPr>
              <a:t>3</a:t>
            </a:r>
            <a:r>
              <a:rPr lang="zh-CN" sz="2400">
                <a:solidFill>
                  <a:srgbClr val="000000"/>
                </a:solidFill>
                <a:ea typeface="宋体" panose="02010600030101010101" pitchFamily="2" charset="-122"/>
              </a:rPr>
              <a:t>变</a:t>
            </a:r>
            <a:r>
              <a:rPr lang="en-US" sz="2400">
                <a:solidFill>
                  <a:srgbClr val="000000"/>
                </a:solidFill>
                <a:latin typeface="Times New Roman" panose="02020603050405020304" charset="0"/>
                <a:ea typeface="宋体" panose="02010600030101010101" pitchFamily="2" charset="-122"/>
              </a:rPr>
              <a:t>0</a:t>
            </a:r>
            <a:r>
              <a:rPr lang="zh-CN" sz="2400">
                <a:solidFill>
                  <a:srgbClr val="000000"/>
                </a:solidFill>
                <a:ea typeface="宋体" panose="02010600030101010101" pitchFamily="2" charset="-122"/>
              </a:rPr>
              <a:t>后，</a:t>
            </a:r>
            <a:r>
              <a:rPr lang="zh-CN" altLang="en-US" sz="2400">
                <a:solidFill>
                  <a:srgbClr val="000000"/>
                </a:solidFill>
                <a:latin typeface="Times New Roman" panose="02020603050405020304" charset="0"/>
                <a:sym typeface="+mn-ea"/>
              </a:rPr>
              <a:t>因</a:t>
            </a:r>
            <a:r>
              <a:rPr lang="en-US" sz="2400">
                <a:solidFill>
                  <a:srgbClr val="000000"/>
                </a:solidFill>
                <a:latin typeface="Times New Roman" panose="02020603050405020304" charset="0"/>
                <a:sym typeface="+mn-ea"/>
              </a:rPr>
              <a:t>c</a:t>
            </a:r>
            <a:r>
              <a:rPr lang="zh-CN" sz="2400">
                <a:solidFill>
                  <a:srgbClr val="000000"/>
                </a:solidFill>
                <a:sym typeface="+mn-ea"/>
              </a:rPr>
              <a:t>线，</a:t>
            </a:r>
            <a:r>
              <a:rPr lang="en-US" altLang="zh-CN" sz="2400">
                <a:sym typeface="+mn-ea"/>
              </a:rPr>
              <a:t>           </a:t>
            </a:r>
            <a:r>
              <a:rPr lang="en-US" altLang="zh-CN" sz="2400">
                <a:solidFill>
                  <a:srgbClr val="000000"/>
                </a:solidFill>
                <a:sym typeface="+mn-ea"/>
              </a:rPr>
              <a:t>                 </a:t>
            </a:r>
            <a:endParaRPr lang="zh-CN" altLang="en-US" sz="2400"/>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pic>
        <p:nvPicPr>
          <p:cNvPr id="9349" name="图片 2786"/>
          <p:cNvPicPr>
            <a:picLocks noChangeAspect="1"/>
          </p:cNvPicPr>
          <p:nvPr/>
        </p:nvPicPr>
        <p:blipFill>
          <a:blip r:embed="rId1"/>
          <a:srcRect r="30852" b="12645"/>
          <a:stretch>
            <a:fillRect/>
          </a:stretch>
        </p:blipFill>
        <p:spPr>
          <a:xfrm>
            <a:off x="296545" y="1958975"/>
            <a:ext cx="4652010" cy="3639820"/>
          </a:xfrm>
          <a:prstGeom prst="rect">
            <a:avLst/>
          </a:prstGeom>
          <a:noFill/>
          <a:ln>
            <a:noFill/>
          </a:ln>
        </p:spPr>
      </p:pic>
      <p:sp>
        <p:nvSpPr>
          <p:cNvPr id="100" name="文本框 99"/>
          <p:cNvSpPr txBox="1"/>
          <p:nvPr/>
        </p:nvSpPr>
        <p:spPr>
          <a:xfrm>
            <a:off x="4772025" y="1898650"/>
            <a:ext cx="4237355" cy="460375"/>
          </a:xfrm>
          <a:prstGeom prst="rect">
            <a:avLst/>
          </a:prstGeom>
          <a:noFill/>
          <a:ln w="9525">
            <a:noFill/>
          </a:ln>
        </p:spPr>
        <p:txBody>
          <a:bodyPr wrap="square">
            <a:spAutoFit/>
          </a:bodyPr>
          <a:p>
            <a:pPr indent="266700"/>
            <a:r>
              <a:rPr lang="en-US" sz="2400">
                <a:solidFill>
                  <a:srgbClr val="000000"/>
                </a:solidFill>
                <a:latin typeface="Times New Roman" panose="02020603050405020304" charset="0"/>
                <a:ea typeface="宋体" panose="02010600030101010101" pitchFamily="2" charset="-122"/>
              </a:rPr>
              <a:t>① </a:t>
            </a:r>
            <a:r>
              <a:rPr lang="zh-CN" sz="2400">
                <a:solidFill>
                  <a:srgbClr val="000000"/>
                </a:solidFill>
                <a:ea typeface="宋体" panose="02010600030101010101" pitchFamily="2" charset="-122"/>
              </a:rPr>
              <a:t>若</a:t>
            </a:r>
            <a:r>
              <a:rPr lang="en-US" sz="2400" i="1">
                <a:solidFill>
                  <a:srgbClr val="000000"/>
                </a:solidFill>
                <a:latin typeface="Times New Roman" panose="02020603050405020304" charset="0"/>
                <a:ea typeface="宋体" panose="02010600030101010101" pitchFamily="2" charset="-122"/>
              </a:rPr>
              <a:t>D </a:t>
            </a:r>
            <a:r>
              <a:rPr lang="en-US" sz="2400">
                <a:solidFill>
                  <a:srgbClr val="000000"/>
                </a:solidFill>
                <a:latin typeface="Times New Roman" panose="02020603050405020304" charset="0"/>
                <a:ea typeface="宋体" panose="02010600030101010101" pitchFamily="2" charset="-122"/>
              </a:rPr>
              <a:t>= 1</a:t>
            </a:r>
            <a:r>
              <a:rPr lang="zh-CN" sz="2400">
                <a:solidFill>
                  <a:srgbClr val="000000"/>
                </a:solidFill>
                <a:ea typeface="宋体" panose="02010600030101010101" pitchFamily="2" charset="-122"/>
              </a:rPr>
              <a:t>，</a:t>
            </a:r>
            <a:r>
              <a:rPr lang="en-US" sz="2400" i="1">
                <a:solidFill>
                  <a:srgbClr val="000000"/>
                </a:solidFill>
                <a:latin typeface="Times New Roman" panose="02020603050405020304" charset="0"/>
                <a:sym typeface="+mn-ea"/>
              </a:rPr>
              <a:t>CP</a:t>
            </a:r>
            <a:r>
              <a:rPr lang="zh-CN" sz="2400">
                <a:solidFill>
                  <a:srgbClr val="000000"/>
                </a:solidFill>
                <a:sym typeface="+mn-ea"/>
              </a:rPr>
              <a:t>由</a:t>
            </a:r>
            <a:r>
              <a:rPr lang="en-US" sz="2400">
                <a:solidFill>
                  <a:srgbClr val="000000"/>
                </a:solidFill>
                <a:latin typeface="Times New Roman" panose="02020603050405020304" charset="0"/>
                <a:sym typeface="+mn-ea"/>
              </a:rPr>
              <a:t>0</a:t>
            </a:r>
            <a:r>
              <a:rPr lang="zh-CN" sz="2400">
                <a:solidFill>
                  <a:srgbClr val="000000"/>
                </a:solidFill>
                <a:sym typeface="+mn-ea"/>
              </a:rPr>
              <a:t>变为</a:t>
            </a:r>
            <a:r>
              <a:rPr lang="en-US" sz="2400">
                <a:solidFill>
                  <a:srgbClr val="000000"/>
                </a:solidFill>
                <a:latin typeface="Times New Roman" panose="02020603050405020304" charset="0"/>
                <a:sym typeface="+mn-ea"/>
              </a:rPr>
              <a:t>1</a:t>
            </a:r>
            <a:r>
              <a:rPr lang="zh-CN" sz="2400">
                <a:solidFill>
                  <a:srgbClr val="000000"/>
                </a:solidFill>
                <a:sym typeface="+mn-ea"/>
              </a:rPr>
              <a:t>时，</a:t>
            </a:r>
            <a:endParaRPr lang="zh-CN" altLang="en-US" sz="2400"/>
          </a:p>
        </p:txBody>
      </p:sp>
      <p:grpSp>
        <p:nvGrpSpPr>
          <p:cNvPr id="17" name="组合 16"/>
          <p:cNvGrpSpPr/>
          <p:nvPr/>
        </p:nvGrpSpPr>
        <p:grpSpPr>
          <a:xfrm>
            <a:off x="5173345" y="2359025"/>
            <a:ext cx="3512820" cy="459740"/>
            <a:chOff x="7494" y="7134"/>
            <a:chExt cx="5532" cy="724"/>
          </a:xfrm>
        </p:grpSpPr>
        <p:sp>
          <p:nvSpPr>
            <p:cNvPr id="9" name="文本框 8"/>
            <p:cNvSpPr txBox="1"/>
            <p:nvPr/>
          </p:nvSpPr>
          <p:spPr>
            <a:xfrm>
              <a:off x="7494" y="7134"/>
              <a:ext cx="5533" cy="725"/>
            </a:xfrm>
            <a:prstGeom prst="rect">
              <a:avLst/>
            </a:prstGeom>
            <a:noFill/>
            <a:ln w="9525">
              <a:noFill/>
            </a:ln>
          </p:spPr>
          <p:txBody>
            <a:bodyPr wrap="square">
              <a:spAutoFit/>
            </a:bodyPr>
            <a:p>
              <a:pPr indent="266700"/>
              <a:r>
                <a:rPr lang="en-US" sz="2400" i="1">
                  <a:solidFill>
                    <a:srgbClr val="000000"/>
                  </a:solidFill>
                  <a:latin typeface="Times New Roman" panose="02020603050405020304" charset="0"/>
                  <a:sym typeface="+mn-ea"/>
                </a:rPr>
                <a:t>Q</a:t>
              </a:r>
              <a:r>
                <a:rPr lang="zh-CN" sz="2400">
                  <a:solidFill>
                    <a:srgbClr val="000000"/>
                  </a:solidFill>
                  <a:sym typeface="+mn-ea"/>
                </a:rPr>
                <a:t>翻转为</a:t>
              </a:r>
              <a:r>
                <a:rPr lang="en-US" sz="2400">
                  <a:solidFill>
                    <a:srgbClr val="000000"/>
                  </a:solidFill>
                  <a:latin typeface="Times New Roman" panose="02020603050405020304" charset="0"/>
                  <a:sym typeface="+mn-ea"/>
                </a:rPr>
                <a:t>1</a:t>
              </a:r>
              <a:r>
                <a:rPr lang="zh-CN" sz="2400">
                  <a:solidFill>
                    <a:srgbClr val="000000"/>
                  </a:solidFill>
                  <a:sym typeface="+mn-ea"/>
                </a:rPr>
                <a:t>，  翻转为</a:t>
              </a:r>
              <a:r>
                <a:rPr lang="en-US" sz="2400">
                  <a:solidFill>
                    <a:srgbClr val="000000"/>
                  </a:solidFill>
                  <a:latin typeface="Times New Roman" panose="02020603050405020304" charset="0"/>
                  <a:sym typeface="+mn-ea"/>
                </a:rPr>
                <a:t>0</a:t>
              </a:r>
              <a:r>
                <a:rPr lang="zh-CN" sz="2400">
                  <a:solidFill>
                    <a:srgbClr val="000000"/>
                  </a:solidFill>
                  <a:sym typeface="+mn-ea"/>
                </a:rPr>
                <a:t>。</a:t>
              </a:r>
              <a:endParaRPr lang="zh-CN" altLang="en-US" sz="2400"/>
            </a:p>
          </p:txBody>
        </p:sp>
        <p:pic>
          <p:nvPicPr>
            <p:cNvPr id="6" name="图片 5"/>
            <p:cNvPicPr/>
            <p:nvPr/>
          </p:nvPicPr>
          <p:blipFill>
            <a:blip r:embed="rId2"/>
            <a:stretch>
              <a:fillRect/>
            </a:stretch>
          </p:blipFill>
          <p:spPr>
            <a:xfrm>
              <a:off x="10320" y="7134"/>
              <a:ext cx="522" cy="712"/>
            </a:xfrm>
            <a:prstGeom prst="rect">
              <a:avLst/>
            </a:prstGeom>
            <a:noFill/>
            <a:ln w="9525">
              <a:noFill/>
            </a:ln>
          </p:spPr>
        </p:pic>
      </p:grpSp>
      <p:sp>
        <p:nvSpPr>
          <p:cNvPr id="13" name="文本框 12"/>
          <p:cNvSpPr txBox="1"/>
          <p:nvPr/>
        </p:nvSpPr>
        <p:spPr>
          <a:xfrm>
            <a:off x="1905000" y="5483860"/>
            <a:ext cx="363220" cy="460375"/>
          </a:xfrm>
          <a:prstGeom prst="rect">
            <a:avLst/>
          </a:prstGeom>
          <a:noFill/>
        </p:spPr>
        <p:txBody>
          <a:bodyPr wrap="square" rtlCol="0">
            <a:spAutoFit/>
            <a:scene3d>
              <a:camera prst="orthographicFront"/>
              <a:lightRig rig="threePt" dir="t"/>
            </a:scene3d>
          </a:bodyPr>
          <a:p>
            <a:r>
              <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1</a:t>
            </a:r>
            <a:endPar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14" name="文本框 13"/>
          <p:cNvSpPr txBox="1"/>
          <p:nvPr/>
        </p:nvSpPr>
        <p:spPr>
          <a:xfrm>
            <a:off x="641985" y="5483860"/>
            <a:ext cx="363220" cy="460375"/>
          </a:xfrm>
          <a:prstGeom prst="rect">
            <a:avLst/>
          </a:prstGeom>
          <a:noFill/>
        </p:spPr>
        <p:txBody>
          <a:bodyPr wrap="square" rtlCol="0">
            <a:spAutoFit/>
            <a:scene3d>
              <a:camera prst="orthographicFront"/>
              <a:lightRig rig="threePt" dir="t"/>
            </a:scene3d>
          </a:bodyPr>
          <a:p>
            <a:r>
              <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1</a:t>
            </a:r>
            <a:endPar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cxnSp>
        <p:nvCxnSpPr>
          <p:cNvPr id="21" name="直接连接符 20"/>
          <p:cNvCxnSpPr/>
          <p:nvPr/>
        </p:nvCxnSpPr>
        <p:spPr>
          <a:xfrm>
            <a:off x="2785745" y="5443220"/>
            <a:ext cx="28575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3048635" y="5195570"/>
            <a:ext cx="0" cy="243840"/>
          </a:xfrm>
          <a:prstGeom prst="line">
            <a:avLst/>
          </a:prstGeom>
          <a:ln w="22225">
            <a:solidFill>
              <a:srgbClr val="FF0000"/>
            </a:solidFill>
            <a:tailEnd type="arrow" w="sm"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048635" y="5195570"/>
            <a:ext cx="285750" cy="0"/>
          </a:xfrm>
          <a:prstGeom prst="line">
            <a:avLst/>
          </a:prstGeom>
          <a:noFill/>
          <a:ln w="22225"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5442585" y="2819400"/>
            <a:ext cx="3376930" cy="460375"/>
          </a:xfrm>
          <a:prstGeom prst="rect">
            <a:avLst/>
          </a:prstGeom>
          <a:noFill/>
          <a:ln w="9525">
            <a:noFill/>
          </a:ln>
        </p:spPr>
        <p:txBody>
          <a:bodyPr wrap="square">
            <a:spAutoFit/>
          </a:bodyPr>
          <a:p>
            <a:r>
              <a:rPr lang="zh-CN" altLang="en-US" sz="2400" dirty="0">
                <a:solidFill>
                  <a:schemeClr val="tx1"/>
                </a:solidFill>
                <a:latin typeface="Tahoma" panose="020B0604030504040204" pitchFamily="34" charset="0"/>
                <a:ea typeface="楷体_GB2312" pitchFamily="49" charset="-122"/>
                <a:sym typeface="+mn-ea"/>
              </a:rPr>
              <a:t>当</a:t>
            </a:r>
            <a:r>
              <a:rPr lang="en-US" altLang="zh-CN" sz="2400" i="1">
                <a:solidFill>
                  <a:schemeClr val="tx1"/>
                </a:solidFill>
                <a:latin typeface="Times New Roman" panose="02020603050405020304" charset="0"/>
                <a:ea typeface="楷体_GB2312" pitchFamily="49" charset="-122"/>
                <a:sym typeface="+mn-ea"/>
              </a:rPr>
              <a:t>CP</a:t>
            </a:r>
            <a:r>
              <a:rPr lang="en-US" altLang="zh-CN" sz="2400">
                <a:solidFill>
                  <a:schemeClr val="tx1"/>
                </a:solidFill>
                <a:latin typeface="Tahoma" panose="020B0604030504040204" pitchFamily="34" charset="0"/>
                <a:ea typeface="楷体_GB2312" pitchFamily="49" charset="-122"/>
                <a:sym typeface="+mn-ea"/>
              </a:rPr>
              <a:t> =1</a:t>
            </a:r>
            <a:r>
              <a:rPr lang="zh-CN" altLang="en-US" sz="2400">
                <a:solidFill>
                  <a:schemeClr val="tx1"/>
                </a:solidFill>
                <a:latin typeface="Tahoma" panose="020B0604030504040204" pitchFamily="34" charset="0"/>
                <a:ea typeface="楷体_GB2312" pitchFamily="49" charset="-122"/>
                <a:sym typeface="+mn-ea"/>
              </a:rPr>
              <a:t>，</a:t>
            </a:r>
            <a:r>
              <a:rPr lang="zh-CN" altLang="en-US" sz="2400">
                <a:solidFill>
                  <a:srgbClr val="000000"/>
                </a:solidFill>
                <a:latin typeface="Times New Roman" panose="02020603050405020304" charset="0"/>
                <a:sym typeface="+mn-ea"/>
              </a:rPr>
              <a:t>因</a:t>
            </a:r>
            <a:r>
              <a:rPr lang="en-US" sz="2400">
                <a:solidFill>
                  <a:srgbClr val="000000"/>
                </a:solidFill>
                <a:latin typeface="Times New Roman" panose="02020603050405020304" charset="0"/>
                <a:sym typeface="+mn-ea"/>
              </a:rPr>
              <a:t>a</a:t>
            </a:r>
            <a:r>
              <a:rPr lang="zh-CN" sz="2400">
                <a:solidFill>
                  <a:srgbClr val="000000"/>
                </a:solidFill>
                <a:sym typeface="+mn-ea"/>
              </a:rPr>
              <a:t>线，</a:t>
            </a:r>
            <a:endParaRPr lang="zh-CN" altLang="en-US" sz="2400"/>
          </a:p>
        </p:txBody>
      </p:sp>
      <p:grpSp>
        <p:nvGrpSpPr>
          <p:cNvPr id="4" name="组合 3"/>
          <p:cNvGrpSpPr/>
          <p:nvPr/>
        </p:nvGrpSpPr>
        <p:grpSpPr>
          <a:xfrm>
            <a:off x="1005840" y="3509010"/>
            <a:ext cx="1001911" cy="995680"/>
            <a:chOff x="2548" y="5589"/>
            <a:chExt cx="1683" cy="1731"/>
          </a:xfrm>
        </p:grpSpPr>
        <p:cxnSp>
          <p:nvCxnSpPr>
            <p:cNvPr id="18" name="直接连接符 17"/>
            <p:cNvCxnSpPr/>
            <p:nvPr/>
          </p:nvCxnSpPr>
          <p:spPr>
            <a:xfrm flipH="1">
              <a:off x="3606" y="5589"/>
              <a:ext cx="62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2548" y="7303"/>
              <a:ext cx="407"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0" name="直接连接符 29"/>
          <p:cNvCxnSpPr/>
          <p:nvPr/>
        </p:nvCxnSpPr>
        <p:spPr>
          <a:xfrm flipV="1">
            <a:off x="1015365" y="4290060"/>
            <a:ext cx="0" cy="22923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464820" y="4529455"/>
            <a:ext cx="638175" cy="637540"/>
          </a:xfrm>
          <a:prstGeom prst="straightConnector1">
            <a:avLst/>
          </a:prstGeom>
          <a:ln w="19050">
            <a:solidFill>
              <a:srgbClr val="FF0000"/>
            </a:solidFill>
            <a:tailEnd type="arrow" w="sm" len="med"/>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4299585" y="5709920"/>
            <a:ext cx="190500" cy="0"/>
          </a:xfrm>
          <a:prstGeom prst="straightConnector1">
            <a:avLst/>
          </a:prstGeom>
          <a:noFill/>
          <a:ln w="19050" cap="flat" cmpd="sng" algn="ctr">
            <a:solidFill>
              <a:srgbClr val="FF0000"/>
            </a:solidFill>
            <a:prstDash val="solid"/>
            <a:tailEnd type="arrow" w="med" len="med"/>
          </a:ln>
          <a:effectLst/>
        </p:spPr>
        <p:style>
          <a:lnRef idx="1">
            <a:schemeClr val="accent2"/>
          </a:lnRef>
          <a:fillRef idx="0">
            <a:schemeClr val="accent2"/>
          </a:fillRef>
          <a:effectRef idx="0">
            <a:schemeClr val="accent2"/>
          </a:effectRef>
          <a:fontRef idx="minor">
            <a:schemeClr val="tx1"/>
          </a:fontRef>
        </p:style>
      </p:cxnSp>
      <p:cxnSp>
        <p:nvCxnSpPr>
          <p:cNvPr id="37" name="直接箭头连接符 36"/>
          <p:cNvCxnSpPr/>
          <p:nvPr/>
        </p:nvCxnSpPr>
        <p:spPr>
          <a:xfrm flipV="1">
            <a:off x="1524635" y="4233545"/>
            <a:ext cx="1089660" cy="1088390"/>
          </a:xfrm>
          <a:prstGeom prst="straightConnector1">
            <a:avLst/>
          </a:prstGeom>
          <a:noFill/>
          <a:ln w="19050" cap="flat" cmpd="sng" algn="ctr">
            <a:solidFill>
              <a:srgbClr val="FF0000"/>
            </a:solidFill>
            <a:prstDash val="solid"/>
            <a:tailEnd type="arrow" w="sm" len="med"/>
          </a:ln>
          <a:effectLst/>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flipH="1">
            <a:off x="1911985" y="3522345"/>
            <a:ext cx="1038948" cy="920115"/>
            <a:chOff x="2587" y="5589"/>
            <a:chExt cx="1817" cy="1748"/>
          </a:xfrm>
        </p:grpSpPr>
        <p:cxnSp>
          <p:nvCxnSpPr>
            <p:cNvPr id="39" name="直接连接符 38"/>
            <p:cNvCxnSpPr/>
            <p:nvPr/>
          </p:nvCxnSpPr>
          <p:spPr>
            <a:xfrm flipH="1">
              <a:off x="3606" y="5589"/>
              <a:ext cx="79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3000" y="5602"/>
              <a:ext cx="646" cy="17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587" y="7337"/>
              <a:ext cx="369"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p:nvCxnSpPr>
        <p:spPr>
          <a:xfrm flipH="1">
            <a:off x="2880995" y="4314190"/>
            <a:ext cx="32385" cy="18161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3893186" y="552958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cxnSp>
        <p:nvCxnSpPr>
          <p:cNvPr id="35" name="直接箭头连接符 34"/>
          <p:cNvCxnSpPr/>
          <p:nvPr/>
        </p:nvCxnSpPr>
        <p:spPr>
          <a:xfrm>
            <a:off x="2833370" y="5806440"/>
            <a:ext cx="190500" cy="0"/>
          </a:xfrm>
          <a:prstGeom prst="straightConnector1">
            <a:avLst/>
          </a:prstGeom>
          <a:ln w="19050">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
        <p:nvSpPr>
          <p:cNvPr id="43" name="椭圆 42"/>
          <p:cNvSpPr/>
          <p:nvPr/>
        </p:nvSpPr>
        <p:spPr>
          <a:xfrm>
            <a:off x="3023553" y="559943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 name="椭圆 48"/>
          <p:cNvSpPr/>
          <p:nvPr/>
        </p:nvSpPr>
        <p:spPr>
          <a:xfrm>
            <a:off x="3777616" y="3517265"/>
            <a:ext cx="406400" cy="414338"/>
          </a:xfrm>
          <a:prstGeom prst="ellipse">
            <a:avLst/>
          </a:prstGeom>
          <a:solidFill>
            <a:srgbClr val="0099FF">
              <a:alpha val="60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50" name="椭圆 49"/>
          <p:cNvSpPr/>
          <p:nvPr/>
        </p:nvSpPr>
        <p:spPr>
          <a:xfrm>
            <a:off x="2419033" y="5598478"/>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51" name="椭圆 50"/>
          <p:cNvSpPr/>
          <p:nvPr/>
        </p:nvSpPr>
        <p:spPr>
          <a:xfrm>
            <a:off x="3069273" y="3516948"/>
            <a:ext cx="406400" cy="414338"/>
          </a:xfrm>
          <a:prstGeom prst="ellipse">
            <a:avLst/>
          </a:prstGeom>
          <a:solidFill>
            <a:srgbClr val="0099FF">
              <a:alpha val="65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53" name="椭圆 52"/>
          <p:cNvSpPr/>
          <p:nvPr/>
        </p:nvSpPr>
        <p:spPr>
          <a:xfrm>
            <a:off x="923608" y="3508693"/>
            <a:ext cx="406400" cy="414338"/>
          </a:xfrm>
          <a:prstGeom prst="ellipse">
            <a:avLst/>
          </a:prstGeom>
          <a:solidFill>
            <a:srgbClr val="0099FF">
              <a:alpha val="58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54" name="椭圆 53"/>
          <p:cNvSpPr/>
          <p:nvPr/>
        </p:nvSpPr>
        <p:spPr>
          <a:xfrm>
            <a:off x="4489768" y="550291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55" name="椭圆 54"/>
          <p:cNvSpPr/>
          <p:nvPr/>
        </p:nvSpPr>
        <p:spPr>
          <a:xfrm>
            <a:off x="935673" y="3509010"/>
            <a:ext cx="406400" cy="414338"/>
          </a:xfrm>
          <a:prstGeom prst="ellipse">
            <a:avLst/>
          </a:prstGeom>
          <a:solidFill>
            <a:srgbClr val="FFCCFF">
              <a:alpha val="49000"/>
            </a:srgbClr>
          </a:solidFill>
          <a:ln w="9525" cap="flat" cmpd="sng">
            <a:solidFill>
              <a:schemeClr val="bg1">
                <a:alpha val="43000"/>
              </a:schemeClr>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56" name="文本框 55"/>
          <p:cNvSpPr txBox="1"/>
          <p:nvPr/>
        </p:nvSpPr>
        <p:spPr>
          <a:xfrm>
            <a:off x="5425440" y="2838450"/>
            <a:ext cx="3566160" cy="1568450"/>
          </a:xfrm>
          <a:prstGeom prst="rect">
            <a:avLst/>
          </a:prstGeom>
          <a:noFill/>
          <a:ln w="9525">
            <a:noFill/>
          </a:ln>
        </p:spPr>
        <p:txBody>
          <a:bodyPr wrap="square">
            <a:spAutoFit/>
          </a:bodyPr>
          <a:p>
            <a:r>
              <a:rPr lang="en-US" altLang="zh-CN" sz="2400">
                <a:solidFill>
                  <a:srgbClr val="000000"/>
                </a:solidFill>
                <a:ea typeface="宋体" panose="02010600030101010101" pitchFamily="2" charset="-122"/>
              </a:rPr>
              <a:t>                            </a:t>
            </a:r>
            <a:r>
              <a:rPr lang="zh-CN" sz="2400">
                <a:solidFill>
                  <a:srgbClr val="000000"/>
                </a:solidFill>
                <a:sym typeface="+mn-ea"/>
              </a:rPr>
              <a:t>若</a:t>
            </a:r>
            <a:r>
              <a:rPr lang="en-US" sz="2400" i="1">
                <a:solidFill>
                  <a:srgbClr val="000000"/>
                </a:solidFill>
                <a:latin typeface="Times New Roman" panose="02020603050405020304" charset="0"/>
                <a:sym typeface="+mn-ea"/>
              </a:rPr>
              <a:t>D</a:t>
            </a:r>
            <a:r>
              <a:rPr lang="zh-CN" sz="2400">
                <a:solidFill>
                  <a:srgbClr val="000000"/>
                </a:solidFill>
                <a:sym typeface="+mn-ea"/>
              </a:rPr>
              <a:t>由</a:t>
            </a:r>
            <a:r>
              <a:rPr lang="en-US" sz="2400">
                <a:solidFill>
                  <a:srgbClr val="000000"/>
                </a:solidFill>
                <a:latin typeface="Times New Roman" panose="02020603050405020304" charset="0"/>
                <a:sym typeface="+mn-ea"/>
              </a:rPr>
              <a:t>1</a:t>
            </a:r>
            <a:r>
              <a:rPr lang="zh-CN" sz="2400">
                <a:solidFill>
                  <a:srgbClr val="000000"/>
                </a:solidFill>
                <a:sym typeface="+mn-ea"/>
              </a:rPr>
              <a:t>变为</a:t>
            </a:r>
            <a:r>
              <a:rPr lang="en-US" sz="2400">
                <a:solidFill>
                  <a:srgbClr val="000000"/>
                </a:solidFill>
                <a:latin typeface="Times New Roman" panose="02020603050405020304" charset="0"/>
                <a:sym typeface="+mn-ea"/>
              </a:rPr>
              <a:t>0</a:t>
            </a:r>
            <a:r>
              <a:rPr lang="zh-CN" sz="2400">
                <a:solidFill>
                  <a:srgbClr val="000000"/>
                </a:solidFill>
                <a:sym typeface="+mn-ea"/>
              </a:rPr>
              <a:t>，</a:t>
            </a:r>
            <a:r>
              <a:rPr lang="zh-CN" sz="2400">
                <a:solidFill>
                  <a:srgbClr val="000000"/>
                </a:solidFill>
                <a:sym typeface="+mn-ea"/>
              </a:rPr>
              <a:t>不会影响</a:t>
            </a:r>
            <a:r>
              <a:rPr lang="en-US" sz="2400">
                <a:solidFill>
                  <a:srgbClr val="000000"/>
                </a:solidFill>
                <a:latin typeface="Times New Roman" panose="02020603050405020304" charset="0"/>
                <a:sym typeface="+mn-ea"/>
              </a:rPr>
              <a:t>G</a:t>
            </a:r>
            <a:r>
              <a:rPr lang="en-US" sz="2400" baseline="-25000">
                <a:solidFill>
                  <a:srgbClr val="000000"/>
                </a:solidFill>
                <a:latin typeface="Times New Roman" panose="02020603050405020304" charset="0"/>
                <a:sym typeface="+mn-ea"/>
              </a:rPr>
              <a:t>5</a:t>
            </a:r>
            <a:r>
              <a:rPr lang="zh-CN" sz="2400">
                <a:solidFill>
                  <a:srgbClr val="000000"/>
                </a:solidFill>
                <a:sym typeface="+mn-ea"/>
              </a:rPr>
              <a:t>的输出，维持了触发器的</a:t>
            </a:r>
            <a:r>
              <a:rPr lang="en-US" sz="2400">
                <a:solidFill>
                  <a:srgbClr val="000000"/>
                </a:solidFill>
                <a:latin typeface="Times New Roman" panose="02020603050405020304" charset="0"/>
                <a:sym typeface="+mn-ea"/>
              </a:rPr>
              <a:t>1</a:t>
            </a:r>
            <a:r>
              <a:rPr lang="zh-CN" sz="2400">
                <a:solidFill>
                  <a:srgbClr val="000000"/>
                </a:solidFill>
                <a:sym typeface="+mn-ea"/>
              </a:rPr>
              <a:t>状态，</a:t>
            </a:r>
            <a:r>
              <a:rPr lang="zh-CN" sz="2400">
                <a:solidFill>
                  <a:srgbClr val="000000"/>
                </a:solidFill>
                <a:sym typeface="+mn-ea"/>
              </a:rPr>
              <a:t>称</a:t>
            </a:r>
            <a:r>
              <a:rPr lang="en-US" sz="2400">
                <a:solidFill>
                  <a:srgbClr val="000000"/>
                </a:solidFill>
                <a:latin typeface="Times New Roman" panose="02020603050405020304" charset="0"/>
                <a:sym typeface="+mn-ea"/>
              </a:rPr>
              <a:t>a</a:t>
            </a:r>
            <a:r>
              <a:rPr lang="zh-CN" sz="2400">
                <a:solidFill>
                  <a:srgbClr val="000000"/>
                </a:solidFill>
                <a:sym typeface="+mn-ea"/>
              </a:rPr>
              <a:t>线为</a:t>
            </a:r>
            <a:r>
              <a:rPr lang="zh-CN" sz="2400">
                <a:solidFill>
                  <a:srgbClr val="000000"/>
                </a:solidFill>
                <a:sym typeface="+mn-ea"/>
              </a:rPr>
              <a:t>置</a:t>
            </a:r>
            <a:r>
              <a:rPr lang="en-US" sz="2400">
                <a:solidFill>
                  <a:srgbClr val="000000"/>
                </a:solidFill>
                <a:latin typeface="Times New Roman" panose="02020603050405020304" charset="0"/>
                <a:sym typeface="+mn-ea"/>
              </a:rPr>
              <a:t>1</a:t>
            </a:r>
            <a:r>
              <a:rPr lang="zh-CN" sz="2400">
                <a:solidFill>
                  <a:srgbClr val="000000"/>
                </a:solidFill>
                <a:sym typeface="+mn-ea"/>
              </a:rPr>
              <a:t>维持线。</a:t>
            </a:r>
            <a:endParaRPr lang="zh-CN" altLang="en-US" sz="2400"/>
          </a:p>
        </p:txBody>
      </p:sp>
      <p:sp>
        <p:nvSpPr>
          <p:cNvPr id="57" name="椭圆 56"/>
          <p:cNvSpPr/>
          <p:nvPr/>
        </p:nvSpPr>
        <p:spPr>
          <a:xfrm>
            <a:off x="1659573" y="3509010"/>
            <a:ext cx="406400" cy="414338"/>
          </a:xfrm>
          <a:prstGeom prst="ellipse">
            <a:avLst/>
          </a:prstGeom>
          <a:solidFill>
            <a:schemeClr val="accent6">
              <a:lumMod val="20000"/>
              <a:lumOff val="80000"/>
              <a:alpha val="56000"/>
            </a:schemeClr>
          </a:solidFill>
          <a:ln w="9525" cap="flat" cmpd="sng">
            <a:solidFill>
              <a:schemeClr val="bg1">
                <a:alpha val="0"/>
              </a:schemeClr>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58" name="椭圆 57"/>
          <p:cNvSpPr/>
          <p:nvPr/>
        </p:nvSpPr>
        <p:spPr>
          <a:xfrm>
            <a:off x="1794193" y="154432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59" name="椭圆 58"/>
          <p:cNvSpPr/>
          <p:nvPr/>
        </p:nvSpPr>
        <p:spPr>
          <a:xfrm>
            <a:off x="2927668" y="154432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60" name="文本框 59"/>
          <p:cNvSpPr txBox="1"/>
          <p:nvPr/>
        </p:nvSpPr>
        <p:spPr>
          <a:xfrm>
            <a:off x="5453380" y="4357370"/>
            <a:ext cx="3556000" cy="1198880"/>
          </a:xfrm>
          <a:prstGeom prst="rect">
            <a:avLst/>
          </a:prstGeom>
          <a:noFill/>
          <a:ln w="9525">
            <a:noFill/>
          </a:ln>
        </p:spPr>
        <p:txBody>
          <a:bodyPr wrap="square">
            <a:spAutoFit/>
          </a:bodyPr>
          <a:p>
            <a:r>
              <a:rPr lang="en-US" altLang="zh-CN" sz="2400">
                <a:solidFill>
                  <a:srgbClr val="000000"/>
                </a:solidFill>
                <a:ea typeface="宋体" panose="02010600030101010101" pitchFamily="2" charset="-122"/>
              </a:rPr>
              <a:t>                           </a:t>
            </a:r>
            <a:r>
              <a:rPr lang="zh-CN" sz="2400">
                <a:solidFill>
                  <a:srgbClr val="000000"/>
                </a:solidFill>
                <a:ea typeface="宋体" panose="02010600030101010101" pitchFamily="2" charset="-122"/>
              </a:rPr>
              <a:t>封锁了</a:t>
            </a:r>
            <a:r>
              <a:rPr lang="en-US" sz="2400">
                <a:solidFill>
                  <a:srgbClr val="000000"/>
                </a:solidFill>
                <a:latin typeface="Times New Roman" panose="02020603050405020304" charset="0"/>
                <a:ea typeface="宋体" panose="02010600030101010101" pitchFamily="2" charset="-122"/>
              </a:rPr>
              <a:t>G</a:t>
            </a:r>
            <a:r>
              <a:rPr lang="en-US" sz="2400" baseline="-25000">
                <a:solidFill>
                  <a:srgbClr val="000000"/>
                </a:solidFill>
                <a:latin typeface="Times New Roman" panose="02020603050405020304" charset="0"/>
                <a:ea typeface="宋体" panose="02010600030101010101" pitchFamily="2" charset="-122"/>
              </a:rPr>
              <a:t>4</a:t>
            </a:r>
            <a:r>
              <a:rPr lang="zh-CN" sz="2400">
                <a:solidFill>
                  <a:srgbClr val="000000"/>
                </a:solidFill>
                <a:ea typeface="宋体" panose="02010600030101010101" pitchFamily="2" charset="-122"/>
              </a:rPr>
              <a:t>门，阻塞了置</a:t>
            </a:r>
            <a:r>
              <a:rPr lang="en-US" sz="2400">
                <a:solidFill>
                  <a:srgbClr val="000000"/>
                </a:solidFill>
                <a:latin typeface="Times New Roman" panose="02020603050405020304" charset="0"/>
                <a:ea typeface="宋体" panose="02010600030101010101" pitchFamily="2" charset="-122"/>
              </a:rPr>
              <a:t>0</a:t>
            </a:r>
            <a:r>
              <a:rPr lang="zh-CN" sz="2400">
                <a:solidFill>
                  <a:srgbClr val="000000"/>
                </a:solidFill>
                <a:ea typeface="宋体" panose="02010600030101010101" pitchFamily="2" charset="-122"/>
              </a:rPr>
              <a:t>信号输入，</a:t>
            </a:r>
            <a:r>
              <a:rPr lang="zh-CN" sz="2400">
                <a:solidFill>
                  <a:srgbClr val="000000"/>
                </a:solidFill>
                <a:sym typeface="+mn-ea"/>
              </a:rPr>
              <a:t>称</a:t>
            </a:r>
            <a:r>
              <a:rPr lang="en-US" sz="2400">
                <a:solidFill>
                  <a:srgbClr val="000000"/>
                </a:solidFill>
                <a:latin typeface="Times New Roman" panose="02020603050405020304" charset="0"/>
                <a:sym typeface="+mn-ea"/>
              </a:rPr>
              <a:t>c</a:t>
            </a:r>
            <a:r>
              <a:rPr lang="zh-CN" sz="2400">
                <a:solidFill>
                  <a:srgbClr val="000000"/>
                </a:solidFill>
                <a:sym typeface="+mn-ea"/>
              </a:rPr>
              <a:t>线为置</a:t>
            </a:r>
            <a:r>
              <a:rPr lang="en-US" sz="2400">
                <a:solidFill>
                  <a:srgbClr val="000000"/>
                </a:solidFill>
                <a:latin typeface="Times New Roman" panose="02020603050405020304" charset="0"/>
                <a:sym typeface="+mn-ea"/>
              </a:rPr>
              <a:t>0</a:t>
            </a:r>
            <a:r>
              <a:rPr lang="zh-CN" sz="2400">
                <a:solidFill>
                  <a:srgbClr val="000000"/>
                </a:solidFill>
                <a:sym typeface="+mn-ea"/>
              </a:rPr>
              <a:t>阻塞线。</a:t>
            </a:r>
            <a:endParaRPr lang="zh-CN" altLang="en-US" sz="2400"/>
          </a:p>
        </p:txBody>
      </p:sp>
      <p:sp>
        <p:nvSpPr>
          <p:cNvPr id="540678" name="矩形 540677"/>
          <p:cNvSpPr/>
          <p:nvPr/>
        </p:nvSpPr>
        <p:spPr>
          <a:xfrm>
            <a:off x="5442585" y="5556250"/>
            <a:ext cx="3700780" cy="460375"/>
          </a:xfrm>
          <a:prstGeom prst="rect">
            <a:avLst/>
          </a:prstGeom>
          <a:noFill/>
          <a:ln w="9525">
            <a:noFill/>
          </a:ln>
        </p:spPr>
        <p:txBody>
          <a:bodyPr wrap="square">
            <a:spAutoFit/>
          </a:bodyPr>
          <a:p>
            <a:pPr algn="l"/>
            <a:r>
              <a:rPr lang="zh-CN" altLang="en-US" sz="2400" b="1" dirty="0">
                <a:solidFill>
                  <a:srgbClr val="FF0000"/>
                </a:solidFill>
                <a:latin typeface="Times New Roman" panose="02020603050405020304" charset="0"/>
                <a:ea typeface="楷体_GB2312" pitchFamily="49" charset="-122"/>
                <a:sym typeface="+mn-ea"/>
              </a:rPr>
              <a:t>上升沿外</a:t>
            </a:r>
            <a:r>
              <a:rPr lang="en-US" altLang="zh-CN" sz="2400" i="1">
                <a:solidFill>
                  <a:srgbClr val="000066"/>
                </a:solidFill>
                <a:latin typeface="Times New Roman" panose="02020603050405020304" charset="0"/>
                <a:ea typeface="楷体_GB2312" pitchFamily="49" charset="-122"/>
              </a:rPr>
              <a:t>Q</a:t>
            </a:r>
            <a:r>
              <a:rPr lang="zh-CN" altLang="en-US" sz="2400" dirty="0">
                <a:solidFill>
                  <a:srgbClr val="000066"/>
                </a:solidFill>
                <a:latin typeface="Times New Roman" panose="02020603050405020304" charset="0"/>
                <a:ea typeface="楷体_GB2312" pitchFamily="49" charset="-122"/>
              </a:rPr>
              <a:t>的状态不变</a:t>
            </a:r>
            <a:endParaRPr lang="zh-CN" altLang="en-US" sz="2400" dirty="0">
              <a:solidFill>
                <a:srgbClr val="000066"/>
              </a:solidFill>
              <a:latin typeface="Times New Roman" panose="0202060305040502030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2" presetClass="entr" presetSubtype="12" fill="hold" nodeType="afterEffect">
                                  <p:stCondLst>
                                    <p:cond delay="500"/>
                                  </p:stCondLst>
                                  <p:childTnLst>
                                    <p:set>
                                      <p:cBhvr>
                                        <p:cTn id="9" dur="1" fill="hold">
                                          <p:stCondLst>
                                            <p:cond delay="0"/>
                                          </p:stCondLst>
                                        </p:cTn>
                                        <p:tgtEl>
                                          <p:spTgt spid="31"/>
                                        </p:tgtEl>
                                        <p:attrNameLst>
                                          <p:attrName>style.visibility</p:attrName>
                                        </p:attrNameLst>
                                      </p:cBhvr>
                                      <p:to>
                                        <p:strVal val="visible"/>
                                      </p:to>
                                    </p:set>
                                    <p:anim calcmode="lin" valueType="num">
                                      <p:cBhvr additive="base">
                                        <p:cTn id="10" dur="500" fill="hold"/>
                                        <p:tgtEl>
                                          <p:spTgt spid="31"/>
                                        </p:tgtEl>
                                        <p:attrNameLst>
                                          <p:attrName>ppt_x</p:attrName>
                                        </p:attrNameLst>
                                      </p:cBhvr>
                                      <p:tavLst>
                                        <p:tav tm="0">
                                          <p:val>
                                            <p:strVal val="0-#ppt_w/2"/>
                                          </p:val>
                                        </p:tav>
                                        <p:tav tm="100000">
                                          <p:val>
                                            <p:strVal val="#ppt_x"/>
                                          </p:val>
                                        </p:tav>
                                      </p:tavLst>
                                    </p:anim>
                                    <p:anim calcmode="lin" valueType="num">
                                      <p:cBhvr additive="base">
                                        <p:cTn id="11" dur="500" fill="hold"/>
                                        <p:tgtEl>
                                          <p:spTgt spid="31"/>
                                        </p:tgtEl>
                                        <p:attrNameLst>
                                          <p:attrName>ppt_y</p:attrName>
                                        </p:attrNameLst>
                                      </p:cBhvr>
                                      <p:tavLst>
                                        <p:tav tm="0">
                                          <p:val>
                                            <p:strVal val="1+#ppt_h/2"/>
                                          </p:val>
                                        </p:tav>
                                        <p:tav tm="100000">
                                          <p:val>
                                            <p:strVal val="#ppt_y"/>
                                          </p:val>
                                        </p:tav>
                                      </p:tavLst>
                                    </p:anim>
                                  </p:childTnLst>
                                </p:cTn>
                              </p:par>
                            </p:childTnLst>
                          </p:cTn>
                        </p:par>
                        <p:par>
                          <p:cTn id="12" fill="hold">
                            <p:stCondLst>
                              <p:cond delay="1000"/>
                            </p:stCondLst>
                            <p:childTnLst>
                              <p:par>
                                <p:cTn id="13" presetID="22" presetClass="entr" presetSubtype="1" fill="hold" nodeType="afterEffect">
                                  <p:stCondLst>
                                    <p:cond delay="1000"/>
                                  </p:stCondLst>
                                  <p:childTnLst>
                                    <p:set>
                                      <p:cBhvr>
                                        <p:cTn id="14" dur="1000" fill="hold">
                                          <p:stCondLst>
                                            <p:cond delay="0"/>
                                          </p:stCondLst>
                                        </p:cTn>
                                        <p:tgtEl>
                                          <p:spTgt spid="4"/>
                                        </p:tgtEl>
                                        <p:attrNameLst>
                                          <p:attrName>style.visibility</p:attrName>
                                        </p:attrNameLst>
                                      </p:cBhvr>
                                      <p:to>
                                        <p:strVal val="visible"/>
                                      </p:to>
                                    </p:set>
                                    <p:animEffect transition="in" filter="wipe(up)">
                                      <p:cBhvr>
                                        <p:cTn id="15" dur="1000"/>
                                        <p:tgtEl>
                                          <p:spTgt spid="4"/>
                                        </p:tgtEl>
                                      </p:cBhvr>
                                    </p:animEffect>
                                  </p:childTnLst>
                                </p:cTn>
                              </p:par>
                            </p:childTnLst>
                          </p:cTn>
                        </p:par>
                        <p:par>
                          <p:cTn id="16" fill="hold">
                            <p:stCondLst>
                              <p:cond delay="3000"/>
                            </p:stCondLst>
                            <p:childTnLst>
                              <p:par>
                                <p:cTn id="17" presetID="22" presetClass="entr" presetSubtype="4" fill="hold" nodeType="afterEffect">
                                  <p:stCondLst>
                                    <p:cond delay="0"/>
                                  </p:stCondLst>
                                  <p:childTnLst>
                                    <p:set>
                                      <p:cBhvr>
                                        <p:cTn id="18" dur="1000" fill="hold">
                                          <p:stCondLst>
                                            <p:cond delay="0"/>
                                          </p:stCondLst>
                                        </p:cTn>
                                        <p:tgtEl>
                                          <p:spTgt spid="30"/>
                                        </p:tgtEl>
                                        <p:attrNameLst>
                                          <p:attrName>style.visibility</p:attrName>
                                        </p:attrNameLst>
                                      </p:cBhvr>
                                      <p:to>
                                        <p:strVal val="visible"/>
                                      </p:to>
                                    </p:set>
                                    <p:animEffect transition="in" filter="wipe(down)">
                                      <p:cBhvr>
                                        <p:cTn id="19" dur="1000"/>
                                        <p:tgtEl>
                                          <p:spTgt spid="30"/>
                                        </p:tgtEl>
                                      </p:cBhvr>
                                    </p:animEffect>
                                  </p:childTnLst>
                                </p:cTn>
                              </p:par>
                            </p:childTnLst>
                          </p:cTn>
                        </p:par>
                        <p:par>
                          <p:cTn id="20" fill="hold">
                            <p:stCondLst>
                              <p:cond delay="4000"/>
                            </p:stCondLst>
                            <p:childTnLst>
                              <p:par>
                                <p:cTn id="21" presetID="1" presetClass="entr" presetSubtype="0" fill="hold" grpId="0" nodeType="afterEffect">
                                  <p:stCondLst>
                                    <p:cond delay="1000"/>
                                  </p:stCondLst>
                                  <p:childTnLst>
                                    <p:set>
                                      <p:cBhvr>
                                        <p:cTn id="22" dur="1" fill="hold">
                                          <p:stCondLst>
                                            <p:cond delay="0"/>
                                          </p:stCondLst>
                                        </p:cTn>
                                        <p:tgtEl>
                                          <p:spTgt spid="55"/>
                                        </p:tgtEl>
                                        <p:attrNameLst>
                                          <p:attrName>style.visibility</p:attrName>
                                        </p:attrNameLst>
                                      </p:cBhvr>
                                      <p:to>
                                        <p:strVal val="visible"/>
                                      </p:to>
                                    </p:set>
                                  </p:childTnLst>
                                </p:cTn>
                              </p:par>
                            </p:childTnLst>
                          </p:cTn>
                        </p:par>
                        <p:par>
                          <p:cTn id="23" fill="hold">
                            <p:stCondLst>
                              <p:cond delay="5000"/>
                            </p:stCondLst>
                            <p:childTnLst>
                              <p:par>
                                <p:cTn id="24" presetID="1" presetClass="entr" presetSubtype="0" fill="hold" grpId="0" nodeType="afterEffect">
                                  <p:stCondLst>
                                    <p:cond delay="1500"/>
                                  </p:stCondLst>
                                  <p:childTnLst>
                                    <p:set>
                                      <p:cBhvr>
                                        <p:cTn id="25" dur="1" fill="hold">
                                          <p:stCondLst>
                                            <p:cond delay="0"/>
                                          </p:stCondLst>
                                        </p:cTn>
                                        <p:tgtEl>
                                          <p:spTgt spid="56"/>
                                        </p:tgtEl>
                                        <p:attrNameLst>
                                          <p:attrName>style.visibility</p:attrName>
                                        </p:attrNameLst>
                                      </p:cBhvr>
                                      <p:to>
                                        <p:strVal val="visible"/>
                                      </p:to>
                                    </p:set>
                                  </p:childTnLst>
                                </p:cTn>
                              </p:par>
                            </p:childTnLst>
                          </p:cTn>
                        </p:par>
                        <p:par>
                          <p:cTn id="26" fill="hold">
                            <p:stCondLst>
                              <p:cond delay="6500"/>
                            </p:stCondLst>
                            <p:childTnLst>
                              <p:par>
                                <p:cTn id="27" presetID="22" presetClass="entr" presetSubtype="4" fill="hold" nodeType="afterEffect">
                                  <p:stCondLst>
                                    <p:cond delay="0"/>
                                  </p:stCondLst>
                                  <p:childTnLst>
                                    <p:set>
                                      <p:cBhvr>
                                        <p:cTn id="28" dur="1000" fill="hold">
                                          <p:stCondLst>
                                            <p:cond delay="0"/>
                                          </p:stCondLst>
                                        </p:cTn>
                                        <p:tgtEl>
                                          <p:spTgt spid="33"/>
                                        </p:tgtEl>
                                        <p:attrNameLst>
                                          <p:attrName>style.visibility</p:attrName>
                                        </p:attrNameLst>
                                      </p:cBhvr>
                                      <p:to>
                                        <p:strVal val="visible"/>
                                      </p:to>
                                    </p:set>
                                    <p:animEffect transition="in" filter="wipe(down)">
                                      <p:cBhvr>
                                        <p:cTn id="29" dur="1000"/>
                                        <p:tgtEl>
                                          <p:spTgt spid="33"/>
                                        </p:tgtEl>
                                      </p:cBhvr>
                                    </p:animEffect>
                                  </p:childTnLst>
                                </p:cTn>
                              </p:par>
                            </p:childTnLst>
                          </p:cTn>
                        </p:par>
                        <p:par>
                          <p:cTn id="30" fill="hold">
                            <p:stCondLst>
                              <p:cond delay="7500"/>
                            </p:stCondLst>
                            <p:childTnLst>
                              <p:par>
                                <p:cTn id="31" presetID="1" presetClass="entr" presetSubtype="0" fill="hold" grpId="0" nodeType="after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par>
                          <p:cTn id="37" fill="hold">
                            <p:stCondLst>
                              <p:cond delay="0"/>
                            </p:stCondLst>
                            <p:childTnLst>
                              <p:par>
                                <p:cTn id="38" presetID="2" presetClass="entr" presetSubtype="4" fill="hold" nodeType="afterEffect">
                                  <p:stCondLst>
                                    <p:cond delay="1000"/>
                                  </p:stCondLst>
                                  <p:childTnLst>
                                    <p:set>
                                      <p:cBhvr>
                                        <p:cTn id="39" dur="1" fill="hold">
                                          <p:stCondLst>
                                            <p:cond delay="0"/>
                                          </p:stCondLst>
                                        </p:cTn>
                                        <p:tgtEl>
                                          <p:spTgt spid="37"/>
                                        </p:tgtEl>
                                        <p:attrNameLst>
                                          <p:attrName>style.visibility</p:attrName>
                                        </p:attrNameLst>
                                      </p:cBhvr>
                                      <p:to>
                                        <p:strVal val="visible"/>
                                      </p:to>
                                    </p:set>
                                    <p:anim calcmode="lin" valueType="num">
                                      <p:cBhvr additive="base">
                                        <p:cTn id="40" dur="500" fill="hold"/>
                                        <p:tgtEl>
                                          <p:spTgt spid="37"/>
                                        </p:tgtEl>
                                        <p:attrNameLst>
                                          <p:attrName>ppt_x</p:attrName>
                                        </p:attrNameLst>
                                      </p:cBhvr>
                                      <p:tavLst>
                                        <p:tav tm="0">
                                          <p:val>
                                            <p:strVal val="#ppt_x"/>
                                          </p:val>
                                        </p:tav>
                                        <p:tav tm="100000">
                                          <p:val>
                                            <p:strVal val="#ppt_x"/>
                                          </p:val>
                                        </p:tav>
                                      </p:tavLst>
                                    </p:anim>
                                    <p:anim calcmode="lin" valueType="num">
                                      <p:cBhvr additive="base">
                                        <p:cTn id="41" dur="500" fill="hold"/>
                                        <p:tgtEl>
                                          <p:spTgt spid="37"/>
                                        </p:tgtEl>
                                        <p:attrNameLst>
                                          <p:attrName>ppt_y</p:attrName>
                                        </p:attrNameLst>
                                      </p:cBhvr>
                                      <p:tavLst>
                                        <p:tav tm="0">
                                          <p:val>
                                            <p:strVal val="1+#ppt_h/2"/>
                                          </p:val>
                                        </p:tav>
                                        <p:tav tm="100000">
                                          <p:val>
                                            <p:strVal val="#ppt_y"/>
                                          </p:val>
                                        </p:tav>
                                      </p:tavLst>
                                    </p:anim>
                                  </p:childTnLst>
                                </p:cTn>
                              </p:par>
                            </p:childTnLst>
                          </p:cTn>
                        </p:par>
                        <p:par>
                          <p:cTn id="42" fill="hold">
                            <p:stCondLst>
                              <p:cond delay="1500"/>
                            </p:stCondLst>
                            <p:childTnLst>
                              <p:par>
                                <p:cTn id="43" presetID="22" presetClass="entr" presetSubtype="1" fill="hold" nodeType="afterEffect">
                                  <p:stCondLst>
                                    <p:cond delay="500"/>
                                  </p:stCondLst>
                                  <p:childTnLst>
                                    <p:set>
                                      <p:cBhvr>
                                        <p:cTn id="44" dur="2000" fill="hold">
                                          <p:stCondLst>
                                            <p:cond delay="0"/>
                                          </p:stCondLst>
                                        </p:cTn>
                                        <p:tgtEl>
                                          <p:spTgt spid="38"/>
                                        </p:tgtEl>
                                        <p:attrNameLst>
                                          <p:attrName>style.visibility</p:attrName>
                                        </p:attrNameLst>
                                      </p:cBhvr>
                                      <p:to>
                                        <p:strVal val="visible"/>
                                      </p:to>
                                    </p:set>
                                    <p:animEffect transition="in" filter="wipe(up)">
                                      <p:cBhvr>
                                        <p:cTn id="45" dur="2000"/>
                                        <p:tgtEl>
                                          <p:spTgt spid="38"/>
                                        </p:tgtEl>
                                      </p:cBhvr>
                                    </p:animEffect>
                                  </p:childTnLst>
                                </p:cTn>
                              </p:par>
                            </p:childTnLst>
                          </p:cTn>
                        </p:par>
                        <p:par>
                          <p:cTn id="46" fill="hold">
                            <p:stCondLst>
                              <p:cond delay="4000"/>
                            </p:stCondLst>
                            <p:childTnLst>
                              <p:par>
                                <p:cTn id="47" presetID="22" presetClass="entr" presetSubtype="4" fill="hold" nodeType="afterEffect">
                                  <p:stCondLst>
                                    <p:cond delay="500"/>
                                  </p:stCondLst>
                                  <p:childTnLst>
                                    <p:set>
                                      <p:cBhvr>
                                        <p:cTn id="48" dur="2000" fill="hold">
                                          <p:stCondLst>
                                            <p:cond delay="0"/>
                                          </p:stCondLst>
                                        </p:cTn>
                                        <p:tgtEl>
                                          <p:spTgt spid="42"/>
                                        </p:tgtEl>
                                        <p:attrNameLst>
                                          <p:attrName>style.visibility</p:attrName>
                                        </p:attrNameLst>
                                      </p:cBhvr>
                                      <p:to>
                                        <p:strVal val="visible"/>
                                      </p:to>
                                    </p:set>
                                    <p:animEffect transition="in" filter="wipe(down)">
                                      <p:cBhvr>
                                        <p:cTn id="49" dur="2000"/>
                                        <p:tgtEl>
                                          <p:spTgt spid="42"/>
                                        </p:tgtEl>
                                      </p:cBhvr>
                                    </p:animEffect>
                                  </p:childTnLst>
                                </p:cTn>
                              </p:par>
                            </p:childTnLst>
                          </p:cTn>
                        </p:par>
                        <p:par>
                          <p:cTn id="50" fill="hold">
                            <p:stCondLst>
                              <p:cond delay="6500"/>
                            </p:stCondLst>
                            <p:childTnLst>
                              <p:par>
                                <p:cTn id="51" presetID="1" presetClass="entr" presetSubtype="0" fill="hold" grpId="0" nodeType="afterEffect">
                                  <p:stCondLst>
                                    <p:cond delay="1500"/>
                                  </p:stCondLst>
                                  <p:childTnLst>
                                    <p:set>
                                      <p:cBhvr>
                                        <p:cTn id="52" dur="1" fill="hold">
                                          <p:stCondLst>
                                            <p:cond delay="0"/>
                                          </p:stCondLst>
                                        </p:cTn>
                                        <p:tgtEl>
                                          <p:spTgt spid="6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406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6" grpId="0"/>
      <p:bldP spid="54" grpId="0" bldLvl="0" animBg="1"/>
      <p:bldP spid="55" grpId="0" bldLvl="0" animBg="1"/>
      <p:bldP spid="56" grpId="0"/>
      <p:bldP spid="60" grpId="0"/>
      <p:bldP spid="54067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349" name="图片 2786"/>
          <p:cNvPicPr>
            <a:picLocks noChangeAspect="1"/>
          </p:cNvPicPr>
          <p:nvPr/>
        </p:nvPicPr>
        <p:blipFill>
          <a:blip r:embed="rId1"/>
          <a:srcRect r="30852" b="12645"/>
          <a:stretch>
            <a:fillRect/>
          </a:stretch>
        </p:blipFill>
        <p:spPr>
          <a:xfrm>
            <a:off x="296545" y="1958975"/>
            <a:ext cx="4652010" cy="3639820"/>
          </a:xfrm>
          <a:prstGeom prst="rect">
            <a:avLst/>
          </a:prstGeom>
          <a:noFill/>
          <a:ln>
            <a:noFill/>
          </a:ln>
        </p:spPr>
      </p:pic>
      <p:sp>
        <p:nvSpPr>
          <p:cNvPr id="38" name="椭圆 37"/>
          <p:cNvSpPr/>
          <p:nvPr/>
        </p:nvSpPr>
        <p:spPr>
          <a:xfrm>
            <a:off x="2976881" y="3485515"/>
            <a:ext cx="406400" cy="414338"/>
          </a:xfrm>
          <a:prstGeom prst="ellipse">
            <a:avLst/>
          </a:prstGeom>
          <a:solidFill>
            <a:srgbClr val="0099FF">
              <a:alpha val="6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sp>
        <p:nvSpPr>
          <p:cNvPr id="13" name="文本框 12"/>
          <p:cNvSpPr txBox="1"/>
          <p:nvPr/>
        </p:nvSpPr>
        <p:spPr>
          <a:xfrm>
            <a:off x="1905000" y="5483860"/>
            <a:ext cx="363220" cy="460375"/>
          </a:xfrm>
          <a:prstGeom prst="rect">
            <a:avLst/>
          </a:prstGeom>
          <a:noFill/>
        </p:spPr>
        <p:txBody>
          <a:bodyPr wrap="square" rtlCol="0">
            <a:spAutoFit/>
            <a:scene3d>
              <a:camera prst="orthographicFront"/>
              <a:lightRig rig="threePt" dir="t"/>
            </a:scene3d>
          </a:bodyPr>
          <a:p>
            <a:r>
              <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1</a:t>
            </a:r>
            <a:endPar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14" name="文本框 13"/>
          <p:cNvSpPr txBox="1"/>
          <p:nvPr/>
        </p:nvSpPr>
        <p:spPr>
          <a:xfrm>
            <a:off x="641985" y="5483860"/>
            <a:ext cx="363220" cy="460375"/>
          </a:xfrm>
          <a:prstGeom prst="rect">
            <a:avLst/>
          </a:prstGeom>
          <a:noFill/>
        </p:spPr>
        <p:txBody>
          <a:bodyPr wrap="square" rtlCol="0">
            <a:spAutoFit/>
            <a:scene3d>
              <a:camera prst="orthographicFront"/>
              <a:lightRig rig="threePt" dir="t"/>
            </a:scene3d>
          </a:bodyPr>
          <a:p>
            <a:r>
              <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1</a:t>
            </a:r>
            <a:endParaRPr lang="en-US" altLang="zh-CN" sz="2400">
              <a:gradFill>
                <a:gsLst>
                  <a:gs pos="0">
                    <a:srgbClr val="007BD3"/>
                  </a:gs>
                  <a:gs pos="100000">
                    <a:srgbClr val="034373"/>
                  </a:gs>
                </a:gsLst>
                <a:lin scaled="0"/>
              </a:gra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cxnSp>
        <p:nvCxnSpPr>
          <p:cNvPr id="19" name="直接箭头连接符 18"/>
          <p:cNvCxnSpPr/>
          <p:nvPr/>
        </p:nvCxnSpPr>
        <p:spPr>
          <a:xfrm>
            <a:off x="2690495" y="5709920"/>
            <a:ext cx="190500" cy="0"/>
          </a:xfrm>
          <a:prstGeom prst="straightConnector1">
            <a:avLst/>
          </a:prstGeom>
          <a:ln w="19050">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cxnSp>
        <p:nvCxnSpPr>
          <p:cNvPr id="21" name="直接连接符 20"/>
          <p:cNvCxnSpPr/>
          <p:nvPr/>
        </p:nvCxnSpPr>
        <p:spPr>
          <a:xfrm>
            <a:off x="2785745" y="5443220"/>
            <a:ext cx="28575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3048635" y="5195570"/>
            <a:ext cx="0" cy="243840"/>
          </a:xfrm>
          <a:prstGeom prst="line">
            <a:avLst/>
          </a:prstGeom>
          <a:ln w="22225">
            <a:solidFill>
              <a:srgbClr val="FF0000"/>
            </a:solidFill>
            <a:tailEnd type="arrow" w="sm"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048635" y="5195570"/>
            <a:ext cx="285750" cy="0"/>
          </a:xfrm>
          <a:prstGeom prst="line">
            <a:avLst/>
          </a:prstGeom>
          <a:noFill/>
          <a:ln w="22225"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3373120" y="3704590"/>
            <a:ext cx="190500" cy="0"/>
          </a:xfrm>
          <a:prstGeom prst="straightConnector1">
            <a:avLst/>
          </a:prstGeom>
          <a:noFill/>
          <a:ln w="19050" cap="flat" cmpd="sng" algn="ctr">
            <a:solidFill>
              <a:srgbClr val="FF0000"/>
            </a:solidFill>
            <a:prstDash val="solid"/>
            <a:tailEnd type="arrow" w="med" len="med"/>
          </a:ln>
          <a:effectLst/>
        </p:spPr>
        <p:style>
          <a:lnRef idx="1">
            <a:schemeClr val="accent2"/>
          </a:lnRef>
          <a:fillRef idx="0">
            <a:schemeClr val="accent2"/>
          </a:fillRef>
          <a:effectRef idx="0">
            <a:schemeClr val="accent2"/>
          </a:effectRef>
          <a:fontRef idx="minor">
            <a:schemeClr val="tx1"/>
          </a:fontRef>
        </p:style>
      </p:cxnSp>
      <p:sp>
        <p:nvSpPr>
          <p:cNvPr id="491541" name="椭圆 491540"/>
          <p:cNvSpPr/>
          <p:nvPr/>
        </p:nvSpPr>
        <p:spPr>
          <a:xfrm>
            <a:off x="2927668" y="154432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35" name="椭圆 491534"/>
          <p:cNvSpPr/>
          <p:nvPr/>
        </p:nvSpPr>
        <p:spPr>
          <a:xfrm>
            <a:off x="1805623" y="158972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3" name="椭圆 2"/>
          <p:cNvSpPr/>
          <p:nvPr/>
        </p:nvSpPr>
        <p:spPr>
          <a:xfrm>
            <a:off x="2268221" y="552958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 name="椭圆 3"/>
          <p:cNvSpPr/>
          <p:nvPr/>
        </p:nvSpPr>
        <p:spPr>
          <a:xfrm>
            <a:off x="3563303" y="3496945"/>
            <a:ext cx="406400" cy="414338"/>
          </a:xfrm>
          <a:prstGeom prst="ellipse">
            <a:avLst/>
          </a:prstGeom>
          <a:solidFill>
            <a:srgbClr val="FFCCFF">
              <a:alpha val="70000"/>
            </a:srgbClr>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28" name="椭圆 27"/>
          <p:cNvSpPr/>
          <p:nvPr/>
        </p:nvSpPr>
        <p:spPr>
          <a:xfrm>
            <a:off x="4130041" y="5537835"/>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32" name="椭圆 31"/>
          <p:cNvSpPr/>
          <p:nvPr/>
        </p:nvSpPr>
        <p:spPr>
          <a:xfrm>
            <a:off x="2880678" y="550672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33" name="椭圆 32"/>
          <p:cNvSpPr/>
          <p:nvPr/>
        </p:nvSpPr>
        <p:spPr>
          <a:xfrm>
            <a:off x="1601471" y="3485515"/>
            <a:ext cx="406400" cy="414338"/>
          </a:xfrm>
          <a:prstGeom prst="ellipse">
            <a:avLst/>
          </a:prstGeom>
          <a:solidFill>
            <a:srgbClr val="0099FF">
              <a:alpha val="6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36" name="椭圆 35"/>
          <p:cNvSpPr/>
          <p:nvPr/>
        </p:nvSpPr>
        <p:spPr>
          <a:xfrm>
            <a:off x="935991" y="3493770"/>
            <a:ext cx="406400" cy="414338"/>
          </a:xfrm>
          <a:prstGeom prst="ellipse">
            <a:avLst/>
          </a:prstGeom>
          <a:solidFill>
            <a:srgbClr val="0099FF">
              <a:alpha val="57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37" name="椭圆 36"/>
          <p:cNvSpPr/>
          <p:nvPr/>
        </p:nvSpPr>
        <p:spPr>
          <a:xfrm>
            <a:off x="3972561" y="3079115"/>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8" name="文本框 7"/>
          <p:cNvSpPr txBox="1"/>
          <p:nvPr/>
        </p:nvSpPr>
        <p:spPr>
          <a:xfrm>
            <a:off x="4772025" y="1898650"/>
            <a:ext cx="4237355" cy="460375"/>
          </a:xfrm>
          <a:prstGeom prst="rect">
            <a:avLst/>
          </a:prstGeom>
          <a:noFill/>
          <a:ln w="9525">
            <a:noFill/>
          </a:ln>
        </p:spPr>
        <p:txBody>
          <a:bodyPr wrap="square">
            <a:spAutoFit/>
          </a:bodyPr>
          <a:p>
            <a:pPr indent="266700"/>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① </a:t>
            </a:r>
            <a:r>
              <a:rPr lang="zh-CN" sz="2400" b="1">
                <a:gradFill>
                  <a:gsLst>
                    <a:gs pos="0">
                      <a:srgbClr val="012D86"/>
                    </a:gs>
                    <a:gs pos="100000">
                      <a:srgbClr val="0E2557"/>
                    </a:gs>
                  </a:gsLst>
                  <a:lin scaled="0"/>
                </a:gradFill>
                <a:ea typeface="宋体" panose="02010600030101010101" pitchFamily="2" charset="-122"/>
              </a:rPr>
              <a:t>若</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由</a:t>
            </a:r>
            <a:r>
              <a:rPr lang="en-US" sz="2400" b="1">
                <a:gradFill>
                  <a:gsLst>
                    <a:gs pos="0">
                      <a:srgbClr val="012D86"/>
                    </a:gs>
                    <a:gs pos="100000">
                      <a:srgbClr val="0E2557"/>
                    </a:gs>
                  </a:gsLst>
                  <a:lin scaled="0"/>
                </a:gradFill>
                <a:latin typeface="Times New Roman" panose="02020603050405020304" charset="0"/>
                <a:sym typeface="+mn-ea"/>
              </a:rPr>
              <a:t>0</a:t>
            </a:r>
            <a:r>
              <a:rPr lang="zh-CN" sz="2400" b="1">
                <a:gradFill>
                  <a:gsLst>
                    <a:gs pos="0">
                      <a:srgbClr val="012D86"/>
                    </a:gs>
                    <a:gs pos="100000">
                      <a:srgbClr val="0E2557"/>
                    </a:gs>
                  </a:gsLst>
                  <a:lin scaled="0"/>
                </a:gradFill>
                <a:sym typeface="+mn-ea"/>
              </a:rPr>
              <a:t>变为</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时，</a:t>
            </a:r>
            <a:endParaRPr lang="zh-CN" altLang="en-US" sz="2400" b="1">
              <a:gradFill>
                <a:gsLst>
                  <a:gs pos="0">
                    <a:srgbClr val="012D86"/>
                  </a:gs>
                  <a:gs pos="100000">
                    <a:srgbClr val="0E2557"/>
                  </a:gs>
                </a:gsLst>
                <a:lin scaled="0"/>
              </a:gradFill>
              <a:sym typeface="+mn-ea"/>
            </a:endParaRPr>
          </a:p>
        </p:txBody>
      </p:sp>
      <p:sp>
        <p:nvSpPr>
          <p:cNvPr id="15" name="文本框 14"/>
          <p:cNvSpPr txBox="1"/>
          <p:nvPr/>
        </p:nvSpPr>
        <p:spPr>
          <a:xfrm>
            <a:off x="5080000" y="2819400"/>
            <a:ext cx="5080000" cy="460375"/>
          </a:xfrm>
          <a:prstGeom prst="rect">
            <a:avLst/>
          </a:prstGeom>
          <a:noFill/>
          <a:ln w="9525">
            <a:noFill/>
          </a:ln>
        </p:spPr>
        <p:txBody>
          <a:bodyPr>
            <a:spAutoFit/>
          </a:bodyPr>
          <a:p>
            <a:r>
              <a:rPr lang="en-US" sz="2400">
                <a:solidFill>
                  <a:srgbClr val="000000"/>
                </a:solidFill>
                <a:latin typeface="Times New Roman" panose="02020603050405020304" charset="0"/>
                <a:ea typeface="宋体" panose="02010600030101010101" pitchFamily="2" charset="-122"/>
              </a:rPr>
              <a:t>② </a:t>
            </a:r>
            <a:r>
              <a:rPr lang="zh-CN" sz="2400">
                <a:solidFill>
                  <a:srgbClr val="000000"/>
                </a:solidFill>
                <a:sym typeface="+mn-ea"/>
              </a:rPr>
              <a:t>若</a:t>
            </a:r>
            <a:r>
              <a:rPr lang="en-US" sz="2400" i="1">
                <a:solidFill>
                  <a:srgbClr val="000000"/>
                </a:solidFill>
                <a:latin typeface="Times New Roman" panose="02020603050405020304" charset="0"/>
                <a:ea typeface="宋体" panose="02010600030101010101" pitchFamily="2" charset="-122"/>
              </a:rPr>
              <a:t>D </a:t>
            </a:r>
            <a:r>
              <a:rPr lang="en-US" sz="2400">
                <a:solidFill>
                  <a:srgbClr val="000000"/>
                </a:solidFill>
                <a:latin typeface="Times New Roman" panose="02020603050405020304" charset="0"/>
                <a:ea typeface="宋体" panose="02010600030101010101" pitchFamily="2" charset="-122"/>
              </a:rPr>
              <a:t>= 0</a:t>
            </a:r>
            <a:endParaRPr lang="zh-CN" altLang="en-US" sz="2400"/>
          </a:p>
        </p:txBody>
      </p:sp>
      <p:sp>
        <p:nvSpPr>
          <p:cNvPr id="16" name="文本框 15"/>
          <p:cNvSpPr txBox="1"/>
          <p:nvPr/>
        </p:nvSpPr>
        <p:spPr>
          <a:xfrm>
            <a:off x="5493385" y="3279775"/>
            <a:ext cx="3794125" cy="460375"/>
          </a:xfrm>
          <a:prstGeom prst="rect">
            <a:avLst/>
          </a:prstGeom>
          <a:noFill/>
        </p:spPr>
        <p:txBody>
          <a:bodyPr wrap="square" rtlCol="0" anchor="t">
            <a:spAutoFit/>
          </a:bodyPr>
          <a:p>
            <a:r>
              <a:rPr lang="en-US" sz="2400" b="1" i="1">
                <a:gradFill>
                  <a:gsLst>
                    <a:gs pos="0">
                      <a:srgbClr val="012D86"/>
                    </a:gs>
                    <a:gs pos="100000">
                      <a:srgbClr val="0E2557"/>
                    </a:gs>
                  </a:gsLst>
                  <a:lin scaled="0"/>
                </a:gradFill>
                <a:latin typeface="Times New Roman" panose="02020603050405020304" charset="0"/>
                <a:sym typeface="+mn-ea"/>
              </a:rPr>
              <a:t>CP </a:t>
            </a:r>
            <a:r>
              <a:rPr lang="en-US" sz="2400" b="1">
                <a:gradFill>
                  <a:gsLst>
                    <a:gs pos="0">
                      <a:srgbClr val="012D86"/>
                    </a:gs>
                    <a:gs pos="100000">
                      <a:srgbClr val="0E2557"/>
                    </a:gs>
                  </a:gsLst>
                  <a:lin scaled="0"/>
                </a:gradFill>
                <a:latin typeface="Times New Roman" panose="02020603050405020304" charset="0"/>
                <a:sym typeface="+mn-ea"/>
              </a:rPr>
              <a:t>= 0</a:t>
            </a:r>
            <a:r>
              <a:rPr lang="zh-CN" sz="2400" b="1">
                <a:gradFill>
                  <a:gsLst>
                    <a:gs pos="0">
                      <a:srgbClr val="012D86"/>
                    </a:gs>
                    <a:gs pos="100000">
                      <a:srgbClr val="0E2557"/>
                    </a:gs>
                  </a:gsLst>
                  <a:lin scaled="0"/>
                </a:gradFill>
                <a:sym typeface="+mn-ea"/>
              </a:rPr>
              <a:t>时，</a:t>
            </a:r>
            <a:r>
              <a:rPr lang="en-US" altLang="zh-CN" sz="2400" b="1" i="1">
                <a:gradFill>
                  <a:gsLst>
                    <a:gs pos="0">
                      <a:srgbClr val="012D86"/>
                    </a:gs>
                    <a:gs pos="100000">
                      <a:srgbClr val="0E2557"/>
                    </a:gs>
                  </a:gsLst>
                  <a:lin scaled="0"/>
                </a:gradFill>
                <a:latin typeface="Times New Roman" panose="02020603050405020304" charset="0"/>
                <a:ea typeface="楷体_GB2312" pitchFamily="49" charset="-122"/>
                <a:sym typeface="+mn-ea"/>
              </a:rPr>
              <a:t>Q</a:t>
            </a:r>
            <a:r>
              <a:rPr lang="zh-CN" altLang="en-US" sz="2400" b="1" dirty="0">
                <a:gradFill>
                  <a:gsLst>
                    <a:gs pos="0">
                      <a:srgbClr val="012D86"/>
                    </a:gs>
                    <a:gs pos="100000">
                      <a:srgbClr val="0E2557"/>
                    </a:gs>
                  </a:gsLst>
                  <a:lin scaled="0"/>
                </a:gradFill>
                <a:latin typeface="Times New Roman" panose="02020603050405020304" charset="0"/>
                <a:ea typeface="楷体_GB2312" pitchFamily="49" charset="-122"/>
                <a:sym typeface="+mn-ea"/>
              </a:rPr>
              <a:t>的状态不变</a:t>
            </a:r>
            <a:endParaRPr lang="zh-CN" altLang="en-US" sz="2400" b="1" dirty="0">
              <a:gradFill>
                <a:gsLst>
                  <a:gs pos="0">
                    <a:srgbClr val="012D86"/>
                  </a:gs>
                  <a:gs pos="100000">
                    <a:srgbClr val="0E2557"/>
                  </a:gs>
                </a:gsLst>
                <a:lin scaled="0"/>
              </a:gradFill>
              <a:latin typeface="Times New Roman" panose="02020603050405020304" charset="0"/>
              <a:ea typeface="楷体_GB2312" pitchFamily="49" charset="-122"/>
              <a:sym typeface="+mn-ea"/>
            </a:endParaRPr>
          </a:p>
        </p:txBody>
      </p:sp>
      <p:sp>
        <p:nvSpPr>
          <p:cNvPr id="539653" name="矩形 539652"/>
          <p:cNvSpPr/>
          <p:nvPr/>
        </p:nvSpPr>
        <p:spPr>
          <a:xfrm>
            <a:off x="5493385" y="3693795"/>
            <a:ext cx="2987675" cy="460375"/>
          </a:xfrm>
          <a:prstGeom prst="rect">
            <a:avLst/>
          </a:prstGeom>
          <a:noFill/>
          <a:ln w="9525">
            <a:noFill/>
          </a:ln>
        </p:spPr>
        <p:txBody>
          <a:bodyPr>
            <a:spAutoFit/>
          </a:bodyPr>
          <a:p>
            <a:pPr algn="l"/>
            <a:r>
              <a:rPr lang="zh-CN" altLang="en-US" sz="2400" b="1" dirty="0">
                <a:solidFill>
                  <a:srgbClr val="002060"/>
                </a:solidFill>
                <a:latin typeface="Times New Roman" panose="02020603050405020304" charset="0"/>
                <a:ea typeface="楷体_GB2312" pitchFamily="49" charset="-122"/>
              </a:rPr>
              <a:t>当</a:t>
            </a:r>
            <a:r>
              <a:rPr lang="en-US" altLang="zh-CN" sz="2400" b="1" i="1">
                <a:solidFill>
                  <a:srgbClr val="002060"/>
                </a:solidFill>
                <a:latin typeface="Times New Roman" panose="02020603050405020304" charset="0"/>
                <a:ea typeface="楷体_GB2312" pitchFamily="49" charset="-122"/>
              </a:rPr>
              <a:t>CP</a:t>
            </a:r>
            <a:r>
              <a:rPr lang="en-US" altLang="zh-CN" sz="2400" b="1" dirty="0">
                <a:solidFill>
                  <a:srgbClr val="002060"/>
                </a:solidFill>
                <a:latin typeface="Times New Roman" panose="02020603050405020304" charset="0"/>
                <a:ea typeface="楷体_GB2312" pitchFamily="49" charset="-122"/>
              </a:rPr>
              <a:t> </a:t>
            </a:r>
            <a:r>
              <a:rPr lang="zh-CN" altLang="en-US" sz="2400" b="1" dirty="0">
                <a:solidFill>
                  <a:srgbClr val="002060"/>
                </a:solidFill>
                <a:latin typeface="Times New Roman" panose="02020603050405020304" charset="0"/>
                <a:ea typeface="楷体_GB2312" pitchFamily="49" charset="-122"/>
              </a:rPr>
              <a:t>由</a:t>
            </a:r>
            <a:r>
              <a:rPr lang="en-US" altLang="zh-CN" sz="2400" b="1" dirty="0">
                <a:solidFill>
                  <a:srgbClr val="002060"/>
                </a:solidFill>
                <a:latin typeface="Times New Roman" panose="02020603050405020304" charset="0"/>
                <a:ea typeface="楷体_GB2312" pitchFamily="49" charset="-122"/>
              </a:rPr>
              <a:t>0 </a:t>
            </a:r>
            <a:r>
              <a:rPr lang="zh-CN" altLang="en-US" sz="2400" b="1" dirty="0">
                <a:solidFill>
                  <a:srgbClr val="002060"/>
                </a:solidFill>
                <a:latin typeface="Times New Roman" panose="02020603050405020304" charset="0"/>
                <a:ea typeface="楷体_GB2312" pitchFamily="49" charset="-122"/>
              </a:rPr>
              <a:t>跳变为</a:t>
            </a:r>
            <a:r>
              <a:rPr lang="en-US" altLang="zh-CN" sz="2400" b="1">
                <a:solidFill>
                  <a:srgbClr val="002060"/>
                </a:solidFill>
                <a:latin typeface="Times New Roman" panose="02020603050405020304" charset="0"/>
                <a:ea typeface="楷体_GB2312" pitchFamily="49" charset="-122"/>
              </a:rPr>
              <a:t>1</a:t>
            </a:r>
            <a:endParaRPr lang="en-US" altLang="zh-CN" sz="2400" b="1">
              <a:solidFill>
                <a:srgbClr val="002060"/>
              </a:solidFill>
              <a:latin typeface="Times New Roman" panose="02020603050405020304" charset="0"/>
              <a:ea typeface="楷体_GB2312" pitchFamily="49" charset="-122"/>
            </a:endParaRPr>
          </a:p>
        </p:txBody>
      </p:sp>
      <p:grpSp>
        <p:nvGrpSpPr>
          <p:cNvPr id="18" name="组合 17"/>
          <p:cNvGrpSpPr/>
          <p:nvPr/>
        </p:nvGrpSpPr>
        <p:grpSpPr>
          <a:xfrm>
            <a:off x="5292090" y="4154170"/>
            <a:ext cx="3513455" cy="460375"/>
            <a:chOff x="7494" y="7134"/>
            <a:chExt cx="5533" cy="725"/>
          </a:xfrm>
        </p:grpSpPr>
        <p:sp>
          <p:nvSpPr>
            <p:cNvPr id="20" name="文本框 19"/>
            <p:cNvSpPr txBox="1"/>
            <p:nvPr/>
          </p:nvSpPr>
          <p:spPr>
            <a:xfrm>
              <a:off x="7494" y="7134"/>
              <a:ext cx="5533" cy="725"/>
            </a:xfrm>
            <a:prstGeom prst="rect">
              <a:avLst/>
            </a:prstGeom>
            <a:noFill/>
            <a:ln w="9525">
              <a:noFill/>
            </a:ln>
          </p:spPr>
          <p:txBody>
            <a:bodyPr wrap="square">
              <a:spAutoFit/>
            </a:bodyPr>
            <a:p>
              <a:pPr indent="266700"/>
              <a:r>
                <a:rPr lang="en-US" sz="2400" b="1" i="1">
                  <a:solidFill>
                    <a:srgbClr val="002060"/>
                  </a:solidFill>
                  <a:latin typeface="Times New Roman" panose="02020603050405020304" charset="0"/>
                  <a:sym typeface="+mn-ea"/>
                </a:rPr>
                <a:t>Q</a:t>
              </a:r>
              <a:r>
                <a:rPr lang="zh-CN" sz="2400" b="1">
                  <a:solidFill>
                    <a:srgbClr val="002060"/>
                  </a:solidFill>
                  <a:sym typeface="+mn-ea"/>
                </a:rPr>
                <a:t>翻转为</a:t>
              </a:r>
              <a:r>
                <a:rPr lang="en-US" sz="2400" b="1">
                  <a:solidFill>
                    <a:srgbClr val="002060"/>
                  </a:solidFill>
                  <a:latin typeface="Times New Roman" panose="02020603050405020304" charset="0"/>
                  <a:sym typeface="+mn-ea"/>
                </a:rPr>
                <a:t>0</a:t>
              </a:r>
              <a:r>
                <a:rPr lang="zh-CN" sz="2400" b="1">
                  <a:solidFill>
                    <a:srgbClr val="002060"/>
                  </a:solidFill>
                  <a:sym typeface="+mn-ea"/>
                </a:rPr>
                <a:t>，  翻转为</a:t>
              </a:r>
              <a:r>
                <a:rPr lang="en-US" sz="2400" b="1">
                  <a:solidFill>
                    <a:srgbClr val="002060"/>
                  </a:solidFill>
                  <a:latin typeface="Times New Roman" panose="02020603050405020304" charset="0"/>
                  <a:sym typeface="+mn-ea"/>
                </a:rPr>
                <a:t>1</a:t>
              </a:r>
              <a:r>
                <a:rPr lang="zh-CN" sz="2400" b="1">
                  <a:solidFill>
                    <a:srgbClr val="002060"/>
                  </a:solidFill>
                  <a:sym typeface="+mn-ea"/>
                </a:rPr>
                <a:t>。</a:t>
              </a:r>
              <a:endParaRPr lang="zh-CN" altLang="en-US" sz="2400" b="1">
                <a:solidFill>
                  <a:srgbClr val="002060"/>
                </a:solidFill>
                <a:sym typeface="+mn-ea"/>
              </a:endParaRPr>
            </a:p>
          </p:txBody>
        </p:sp>
        <p:pic>
          <p:nvPicPr>
            <p:cNvPr id="25" name="图片 24"/>
            <p:cNvPicPr/>
            <p:nvPr/>
          </p:nvPicPr>
          <p:blipFill>
            <a:blip r:embed="rId2"/>
            <a:stretch>
              <a:fillRect/>
            </a:stretch>
          </p:blipFill>
          <p:spPr>
            <a:xfrm>
              <a:off x="10320" y="7134"/>
              <a:ext cx="522" cy="712"/>
            </a:xfrm>
            <a:prstGeom prst="rect">
              <a:avLst/>
            </a:prstGeom>
            <a:noFill/>
            <a:ln w="9525">
              <a:noFill/>
            </a:ln>
          </p:spPr>
        </p:pic>
      </p:grpSp>
      <p:sp>
        <p:nvSpPr>
          <p:cNvPr id="26" name="文本框 25"/>
          <p:cNvSpPr txBox="1"/>
          <p:nvPr/>
        </p:nvSpPr>
        <p:spPr>
          <a:xfrm>
            <a:off x="5173345" y="4614545"/>
            <a:ext cx="3787775" cy="1568450"/>
          </a:xfrm>
          <a:prstGeom prst="rect">
            <a:avLst/>
          </a:prstGeom>
          <a:noFill/>
          <a:ln w="9525">
            <a:noFill/>
          </a:ln>
        </p:spPr>
        <p:txBody>
          <a:bodyPr wrap="square">
            <a:spAutoFit/>
          </a:bodyPr>
          <a:p>
            <a:pPr indent="266700"/>
            <a:r>
              <a:rPr lang="zh-CN" sz="2400" b="1">
                <a:solidFill>
                  <a:srgbClr val="002060"/>
                </a:solidFill>
                <a:ea typeface="宋体" panose="02010600030101010101" pitchFamily="2" charset="-122"/>
              </a:rPr>
              <a:t>因</a:t>
            </a:r>
            <a:r>
              <a:rPr lang="en-US" sz="2400" b="1">
                <a:solidFill>
                  <a:srgbClr val="002060"/>
                </a:solidFill>
                <a:latin typeface="Times New Roman" panose="02020603050405020304" charset="0"/>
                <a:ea typeface="宋体" panose="02010600030101010101" pitchFamily="2" charset="-122"/>
              </a:rPr>
              <a:t>b</a:t>
            </a:r>
            <a:r>
              <a:rPr lang="zh-CN" altLang="en-US" sz="2400" b="1">
                <a:solidFill>
                  <a:srgbClr val="002060"/>
                </a:solidFill>
                <a:latin typeface="Times New Roman" panose="02020603050405020304" charset="0"/>
                <a:ea typeface="宋体" panose="02010600030101010101" pitchFamily="2" charset="-122"/>
              </a:rPr>
              <a:t>线</a:t>
            </a:r>
            <a:r>
              <a:rPr lang="zh-CN" sz="2400" b="1">
                <a:solidFill>
                  <a:srgbClr val="002060"/>
                </a:solidFill>
                <a:ea typeface="宋体" panose="02010600030101010101" pitchFamily="2" charset="-122"/>
              </a:rPr>
              <a:t>封锁了</a:t>
            </a:r>
            <a:r>
              <a:rPr lang="en-US" sz="2400" b="1">
                <a:solidFill>
                  <a:srgbClr val="002060"/>
                </a:solidFill>
                <a:latin typeface="Times New Roman" panose="02020603050405020304" charset="0"/>
                <a:ea typeface="宋体" panose="02010600030101010101" pitchFamily="2" charset="-122"/>
              </a:rPr>
              <a:t>G</a:t>
            </a:r>
            <a:r>
              <a:rPr lang="en-US" sz="2400" b="1" baseline="-25000">
                <a:solidFill>
                  <a:srgbClr val="002060"/>
                </a:solidFill>
                <a:latin typeface="Times New Roman" panose="02020603050405020304" charset="0"/>
                <a:ea typeface="宋体" panose="02010600030101010101" pitchFamily="2" charset="-122"/>
              </a:rPr>
              <a:t>6</a:t>
            </a:r>
            <a:r>
              <a:rPr lang="zh-CN" sz="2400" b="1">
                <a:solidFill>
                  <a:srgbClr val="002060"/>
                </a:solidFill>
                <a:ea typeface="宋体" panose="02010600030101010101" pitchFamily="2" charset="-122"/>
              </a:rPr>
              <a:t>门，</a:t>
            </a:r>
            <a:r>
              <a:rPr lang="en-US" sz="2400" b="1" i="1">
                <a:solidFill>
                  <a:srgbClr val="002060"/>
                </a:solidFill>
                <a:latin typeface="Times New Roman" panose="02020603050405020304" charset="0"/>
                <a:ea typeface="宋体" panose="02010600030101010101" pitchFamily="2" charset="-122"/>
              </a:rPr>
              <a:t>D</a:t>
            </a:r>
            <a:r>
              <a:rPr lang="zh-CN" sz="2400" b="1">
                <a:solidFill>
                  <a:srgbClr val="002060"/>
                </a:solidFill>
                <a:ea typeface="宋体" panose="02010600030101010101" pitchFamily="2" charset="-122"/>
              </a:rPr>
              <a:t>的变化不会影响</a:t>
            </a:r>
            <a:r>
              <a:rPr lang="en-US" sz="2400" b="1">
                <a:solidFill>
                  <a:srgbClr val="002060"/>
                </a:solidFill>
                <a:latin typeface="Times New Roman" panose="02020603050405020304" charset="0"/>
                <a:ea typeface="宋体" panose="02010600030101010101" pitchFamily="2" charset="-122"/>
              </a:rPr>
              <a:t>G</a:t>
            </a:r>
            <a:r>
              <a:rPr lang="en-US" sz="2400" b="1" baseline="-25000">
                <a:solidFill>
                  <a:srgbClr val="002060"/>
                </a:solidFill>
                <a:latin typeface="Times New Roman" panose="02020603050405020304" charset="0"/>
                <a:ea typeface="宋体" panose="02010600030101010101" pitchFamily="2" charset="-122"/>
              </a:rPr>
              <a:t>6</a:t>
            </a:r>
            <a:r>
              <a:rPr lang="zh-CN" sz="2400" b="1">
                <a:solidFill>
                  <a:srgbClr val="002060"/>
                </a:solidFill>
                <a:ea typeface="宋体" panose="02010600030101010101" pitchFamily="2" charset="-122"/>
              </a:rPr>
              <a:t>的输出，维持了触发器的</a:t>
            </a:r>
            <a:r>
              <a:rPr lang="en-US" sz="2400" b="1">
                <a:solidFill>
                  <a:srgbClr val="002060"/>
                </a:solidFill>
                <a:latin typeface="Times New Roman" panose="02020603050405020304" charset="0"/>
                <a:ea typeface="宋体" panose="02010600030101010101" pitchFamily="2" charset="-122"/>
              </a:rPr>
              <a:t>0</a:t>
            </a:r>
            <a:r>
              <a:rPr lang="zh-CN" sz="2400" b="1">
                <a:solidFill>
                  <a:srgbClr val="002060"/>
                </a:solidFill>
                <a:ea typeface="宋体" panose="02010600030101010101" pitchFamily="2" charset="-122"/>
              </a:rPr>
              <a:t>状态。因此，称</a:t>
            </a:r>
            <a:r>
              <a:rPr lang="en-US" sz="2400" b="1">
                <a:solidFill>
                  <a:srgbClr val="002060"/>
                </a:solidFill>
                <a:latin typeface="Times New Roman" panose="02020603050405020304" charset="0"/>
                <a:ea typeface="宋体" panose="02010600030101010101" pitchFamily="2" charset="-122"/>
              </a:rPr>
              <a:t>b</a:t>
            </a:r>
            <a:r>
              <a:rPr lang="zh-CN" sz="2400" b="1">
                <a:solidFill>
                  <a:srgbClr val="002060"/>
                </a:solidFill>
                <a:ea typeface="宋体" panose="02010600030101010101" pitchFamily="2" charset="-122"/>
              </a:rPr>
              <a:t>线为置</a:t>
            </a:r>
            <a:r>
              <a:rPr lang="en-US" sz="2400" b="1">
                <a:solidFill>
                  <a:srgbClr val="002060"/>
                </a:solidFill>
                <a:latin typeface="Times New Roman" panose="02020603050405020304" charset="0"/>
                <a:ea typeface="宋体" panose="02010600030101010101" pitchFamily="2" charset="-122"/>
              </a:rPr>
              <a:t>0</a:t>
            </a:r>
            <a:r>
              <a:rPr lang="zh-CN" sz="2400" b="1">
                <a:solidFill>
                  <a:srgbClr val="002060"/>
                </a:solidFill>
                <a:ea typeface="宋体" panose="02010600030101010101" pitchFamily="2" charset="-122"/>
              </a:rPr>
              <a:t>维持线。</a:t>
            </a:r>
            <a:endParaRPr lang="zh-CN" altLang="en-US" sz="2400" b="1">
              <a:solidFill>
                <a:srgbClr val="002060"/>
              </a:solidFill>
              <a:ea typeface="宋体" panose="02010600030101010101" pitchFamily="2" charset="-122"/>
            </a:endParaRPr>
          </a:p>
        </p:txBody>
      </p:sp>
      <p:cxnSp>
        <p:nvCxnSpPr>
          <p:cNvPr id="27" name="直接箭头连接符 26"/>
          <p:cNvCxnSpPr/>
          <p:nvPr/>
        </p:nvCxnSpPr>
        <p:spPr>
          <a:xfrm flipH="1">
            <a:off x="3276600" y="2827655"/>
            <a:ext cx="663575" cy="677545"/>
          </a:xfrm>
          <a:prstGeom prst="straightConnector1">
            <a:avLst/>
          </a:prstGeom>
          <a:ln w="22225">
            <a:solidFill>
              <a:srgbClr val="FF0000"/>
            </a:solidFill>
            <a:tailEnd type="arrow" w="sm" len="lg"/>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flipH="1">
            <a:off x="3055005" y="3505386"/>
            <a:ext cx="993120" cy="993593"/>
            <a:chOff x="2587" y="5521"/>
            <a:chExt cx="1737" cy="1910"/>
          </a:xfrm>
        </p:grpSpPr>
        <p:cxnSp>
          <p:nvCxnSpPr>
            <p:cNvPr id="39" name="直接连接符 38"/>
            <p:cNvCxnSpPr/>
            <p:nvPr/>
          </p:nvCxnSpPr>
          <p:spPr>
            <a:xfrm flipH="1">
              <a:off x="3739" y="5589"/>
              <a:ext cx="58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3000" y="5521"/>
              <a:ext cx="726" cy="191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587" y="7369"/>
              <a:ext cx="369"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p:nvCxnSpPr>
        <p:spPr>
          <a:xfrm flipH="1">
            <a:off x="4038600" y="4317365"/>
            <a:ext cx="9525" cy="17843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539778" name="对象 539777"/>
          <p:cNvGraphicFramePr/>
          <p:nvPr/>
        </p:nvGraphicFramePr>
        <p:xfrm>
          <a:off x="5387023" y="2305050"/>
          <a:ext cx="1559560" cy="433070"/>
        </p:xfrm>
        <a:graphic>
          <a:graphicData uri="http://schemas.openxmlformats.org/presentationml/2006/ole">
            <mc:AlternateContent xmlns:mc="http://schemas.openxmlformats.org/markup-compatibility/2006">
              <mc:Choice xmlns:v="urn:schemas-microsoft-com:vml" Requires="v">
                <p:oleObj spid="_x0000_s3130" name="" r:id="rId3" imgW="622300" imgH="215900" progId="Equation.3">
                  <p:embed/>
                </p:oleObj>
              </mc:Choice>
              <mc:Fallback>
                <p:oleObj name="" r:id="rId3" imgW="622300" imgH="215900" progId="Equation.3">
                  <p:embed/>
                  <p:pic>
                    <p:nvPicPr>
                      <p:cNvPr id="0" name="图片 3129"/>
                      <p:cNvPicPr/>
                      <p:nvPr/>
                    </p:nvPicPr>
                    <p:blipFill>
                      <a:blip r:embed="rId4"/>
                      <a:stretch>
                        <a:fillRect/>
                      </a:stretch>
                    </p:blipFill>
                    <p:spPr>
                      <a:xfrm>
                        <a:off x="5387023" y="2305050"/>
                        <a:ext cx="1559560" cy="433070"/>
                      </a:xfrm>
                      <a:prstGeom prst="rect">
                        <a:avLst/>
                      </a:prstGeom>
                      <a:solidFill>
                        <a:srgbClr val="FFFFFF">
                          <a:alpha val="0"/>
                        </a:srgbClr>
                      </a:solidFill>
                      <a:ln w="9525" cap="flat" cmpd="sng">
                        <a:solidFill>
                          <a:schemeClr val="bg1"/>
                        </a:solidFill>
                        <a:prstDash val="solid"/>
                        <a:miter/>
                        <a:headEnd type="none" w="med" len="med"/>
                        <a:tailEnd type="none" w="med" len="med"/>
                      </a:ln>
                    </p:spPr>
                  </p:pic>
                </p:oleObj>
              </mc:Fallback>
            </mc:AlternateContent>
          </a:graphicData>
        </a:graphic>
      </p:graphicFrame>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9653"/>
                                        </p:tgtEl>
                                        <p:attrNameLst>
                                          <p:attrName>style.visibility</p:attrName>
                                        </p:attrNameLst>
                                      </p:cBhvr>
                                      <p:to>
                                        <p:strVal val="visible"/>
                                      </p:to>
                                    </p:set>
                                  </p:childTnLst>
                                </p:cTn>
                              </p:par>
                            </p:childTnLst>
                          </p:cTn>
                        </p:par>
                        <p:par>
                          <p:cTn id="11" fill="hold">
                            <p:stCondLst>
                              <p:cond delay="0"/>
                            </p:stCondLst>
                            <p:childTnLst>
                              <p:par>
                                <p:cTn id="12" presetID="22" presetClass="entr" presetSubtype="8" fill="hold" nodeType="afterEffect">
                                  <p:stCondLst>
                                    <p:cond delay="1000"/>
                                  </p:stCondLst>
                                  <p:childTnLst>
                                    <p:set>
                                      <p:cBhvr>
                                        <p:cTn id="13" dur="1" fill="hold">
                                          <p:stCondLst>
                                            <p:cond delay="0"/>
                                          </p:stCondLst>
                                        </p:cTn>
                                        <p:tgtEl>
                                          <p:spTgt spid="19"/>
                                        </p:tgtEl>
                                        <p:attrNameLst>
                                          <p:attrName>style.visibility</p:attrName>
                                        </p:attrNameLst>
                                      </p:cBhvr>
                                      <p:to>
                                        <p:strVal val="visible"/>
                                      </p:to>
                                    </p:set>
                                    <p:animEffect transition="in" filter="wipe(left)">
                                      <p:cBhvr>
                                        <p:cTn id="14" dur="500"/>
                                        <p:tgtEl>
                                          <p:spTgt spid="19"/>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32"/>
                                        </p:tgtEl>
                                        <p:attrNameLst>
                                          <p:attrName>style.visibility</p:attrName>
                                        </p:attrNameLst>
                                      </p:cBhvr>
                                      <p:to>
                                        <p:strVal val="visible"/>
                                      </p:to>
                                    </p:set>
                                  </p:childTnLst>
                                </p:cTn>
                              </p:par>
                            </p:childTnLst>
                          </p:cTn>
                        </p:par>
                        <p:par>
                          <p:cTn id="18" fill="hold">
                            <p:stCondLst>
                              <p:cond delay="1500"/>
                            </p:stCondLst>
                            <p:childTnLst>
                              <p:par>
                                <p:cTn id="19" presetID="22" presetClass="entr" presetSubtype="8" fill="hold" nodeType="afterEffect">
                                  <p:stCondLst>
                                    <p:cond delay="1000"/>
                                  </p:stCondLst>
                                  <p:childTnLst>
                                    <p:set>
                                      <p:cBhvr>
                                        <p:cTn id="20" dur="500"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par>
                          <p:cTn id="22" fill="hold">
                            <p:stCondLst>
                              <p:cond delay="3000"/>
                            </p:stCondLst>
                            <p:childTnLst>
                              <p:par>
                                <p:cTn id="23" presetID="22" presetClass="entr" presetSubtype="4" fill="hold" nodeType="afterEffect">
                                  <p:stCondLst>
                                    <p:cond delay="0"/>
                                  </p:stCondLst>
                                  <p:childTnLst>
                                    <p:set>
                                      <p:cBhvr>
                                        <p:cTn id="24" dur="1000" fill="hold">
                                          <p:stCondLst>
                                            <p:cond delay="0"/>
                                          </p:stCondLst>
                                        </p:cTn>
                                        <p:tgtEl>
                                          <p:spTgt spid="22"/>
                                        </p:tgtEl>
                                        <p:attrNameLst>
                                          <p:attrName>style.visibility</p:attrName>
                                        </p:attrNameLst>
                                      </p:cBhvr>
                                      <p:to>
                                        <p:strVal val="visible"/>
                                      </p:to>
                                    </p:set>
                                    <p:animEffect transition="in" filter="wipe(down)">
                                      <p:cBhvr>
                                        <p:cTn id="25" dur="1000"/>
                                        <p:tgtEl>
                                          <p:spTgt spid="22"/>
                                        </p:tgtEl>
                                      </p:cBhvr>
                                    </p:animEffect>
                                  </p:childTnLst>
                                </p:cTn>
                              </p:par>
                            </p:childTnLst>
                          </p:cTn>
                        </p:par>
                        <p:par>
                          <p:cTn id="26" fill="hold">
                            <p:stCondLst>
                              <p:cond delay="4000"/>
                            </p:stCondLst>
                            <p:childTnLst>
                              <p:par>
                                <p:cTn id="27" presetID="22" presetClass="entr" presetSubtype="8"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
                                        <p:tgtEl>
                                          <p:spTgt spid="23"/>
                                        </p:tgtEl>
                                      </p:cBhvr>
                                    </p:animEffect>
                                  </p:childTnLst>
                                </p:cTn>
                              </p:par>
                            </p:childTnLst>
                          </p:cTn>
                        </p:par>
                        <p:par>
                          <p:cTn id="30" fill="hold">
                            <p:stCondLst>
                              <p:cond delay="4500"/>
                            </p:stCondLst>
                            <p:childTnLst>
                              <p:par>
                                <p:cTn id="31" presetID="22" presetClass="entr" presetSubtype="8" fill="hold" nodeType="afterEffect">
                                  <p:stCondLst>
                                    <p:cond delay="1500"/>
                                  </p:stCondLst>
                                  <p:childTnLst>
                                    <p:set>
                                      <p:cBhvr>
                                        <p:cTn id="32" dur="1" fill="hold">
                                          <p:stCondLst>
                                            <p:cond delay="0"/>
                                          </p:stCondLst>
                                        </p:cTn>
                                        <p:tgtEl>
                                          <p:spTgt spid="24"/>
                                        </p:tgtEl>
                                        <p:attrNameLst>
                                          <p:attrName>style.visibility</p:attrName>
                                        </p:attrNameLst>
                                      </p:cBhvr>
                                      <p:to>
                                        <p:strVal val="visible"/>
                                      </p:to>
                                    </p:set>
                                    <p:animEffect transition="in" filter="wipe(left)">
                                      <p:cBhvr>
                                        <p:cTn id="33" dur="500"/>
                                        <p:tgtEl>
                                          <p:spTgt spid="24"/>
                                        </p:tgtEl>
                                      </p:cBhvr>
                                    </p:animEffect>
                                  </p:childTnLst>
                                </p:cTn>
                              </p:par>
                            </p:childTnLst>
                          </p:cTn>
                        </p:par>
                        <p:par>
                          <p:cTn id="34" fill="hold">
                            <p:stCondLst>
                              <p:cond delay="6500"/>
                            </p:stCondLst>
                            <p:childTnLst>
                              <p:par>
                                <p:cTn id="35" presetID="1" presetClass="entr" presetSubtype="0" fill="hold" grpId="0" nodeType="afterEffect">
                                  <p:stCondLst>
                                    <p:cond delay="2000"/>
                                  </p:stCondLst>
                                  <p:childTnLst>
                                    <p:set>
                                      <p:cBhvr>
                                        <p:cTn id="36" dur="1" fill="hold">
                                          <p:stCondLst>
                                            <p:cond delay="0"/>
                                          </p:stCondLst>
                                        </p:cTn>
                                        <p:tgtEl>
                                          <p:spTgt spid="4"/>
                                        </p:tgtEl>
                                        <p:attrNameLst>
                                          <p:attrName>style.visibility</p:attrName>
                                        </p:attrNameLst>
                                      </p:cBhvr>
                                      <p:to>
                                        <p:strVal val="visible"/>
                                      </p:to>
                                    </p:set>
                                  </p:childTnLst>
                                </p:cTn>
                              </p:par>
                            </p:childTnLst>
                          </p:cTn>
                        </p:par>
                        <p:par>
                          <p:cTn id="37" fill="hold">
                            <p:stCondLst>
                              <p:cond delay="8500"/>
                            </p:stCondLst>
                            <p:childTnLst>
                              <p:par>
                                <p:cTn id="38" presetID="1" presetClass="entr" presetSubtype="0" fill="hold" nodeType="afterEffect">
                                  <p:stCondLst>
                                    <p:cond delay="500"/>
                                  </p:stCondLst>
                                  <p:childTnLst>
                                    <p:set>
                                      <p:cBhvr>
                                        <p:cTn id="39" dur="1" fill="hold">
                                          <p:stCondLst>
                                            <p:cond delay="0"/>
                                          </p:stCondLst>
                                        </p:cTn>
                                        <p:tgtEl>
                                          <p:spTgt spid="18"/>
                                        </p:tgtEl>
                                        <p:attrNameLst>
                                          <p:attrName>style.visibility</p:attrName>
                                        </p:attrNameLst>
                                      </p:cBhvr>
                                      <p:to>
                                        <p:strVal val="visible"/>
                                      </p:to>
                                    </p:set>
                                  </p:childTnLst>
                                </p:cTn>
                              </p:par>
                            </p:childTnLst>
                          </p:cTn>
                        </p:par>
                        <p:par>
                          <p:cTn id="40" fill="hold">
                            <p:stCondLst>
                              <p:cond delay="9000"/>
                            </p:stCondLst>
                            <p:childTnLst>
                              <p:par>
                                <p:cTn id="41" presetID="1" presetClass="entr" presetSubtype="0" fill="hold" grpId="0" nodeType="afterEffect">
                                  <p:stCondLst>
                                    <p:cond delay="1500"/>
                                  </p:stCondLst>
                                  <p:childTnLst>
                                    <p:set>
                                      <p:cBhvr>
                                        <p:cTn id="42" dur="1" fill="hold">
                                          <p:stCondLst>
                                            <p:cond delay="0"/>
                                          </p:stCondLst>
                                        </p:cTn>
                                        <p:tgtEl>
                                          <p:spTgt spid="491535"/>
                                        </p:tgtEl>
                                        <p:attrNameLst>
                                          <p:attrName>style.visibility</p:attrName>
                                        </p:attrNameLst>
                                      </p:cBhvr>
                                      <p:to>
                                        <p:strVal val="visible"/>
                                      </p:to>
                                    </p:set>
                                  </p:childTnLst>
                                </p:cTn>
                              </p:par>
                            </p:childTnLst>
                          </p:cTn>
                        </p:par>
                        <p:par>
                          <p:cTn id="43" fill="hold">
                            <p:stCondLst>
                              <p:cond delay="10500"/>
                            </p:stCondLst>
                            <p:childTnLst>
                              <p:par>
                                <p:cTn id="44" presetID="1" presetClass="entr" presetSubtype="0" fill="hold" grpId="0" nodeType="afterEffect">
                                  <p:stCondLst>
                                    <p:cond delay="1000"/>
                                  </p:stCondLst>
                                  <p:childTnLst>
                                    <p:set>
                                      <p:cBhvr>
                                        <p:cTn id="45" dur="1" fill="hold">
                                          <p:stCondLst>
                                            <p:cond delay="0"/>
                                          </p:stCondLst>
                                        </p:cTn>
                                        <p:tgtEl>
                                          <p:spTgt spid="49154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childTnLst>
                          </p:cTn>
                        </p:par>
                        <p:par>
                          <p:cTn id="50" fill="hold">
                            <p:stCondLst>
                              <p:cond delay="0"/>
                            </p:stCondLst>
                            <p:childTnLst>
                              <p:par>
                                <p:cTn id="51" presetID="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additive="base">
                                        <p:cTn id="53" dur="500" fill="hold"/>
                                        <p:tgtEl>
                                          <p:spTgt spid="27"/>
                                        </p:tgtEl>
                                        <p:attrNameLst>
                                          <p:attrName>ppt_x</p:attrName>
                                        </p:attrNameLst>
                                      </p:cBhvr>
                                      <p:tavLst>
                                        <p:tav tm="0">
                                          <p:val>
                                            <p:strVal val="#ppt_x"/>
                                          </p:val>
                                        </p:tav>
                                        <p:tav tm="100000">
                                          <p:val>
                                            <p:strVal val="#ppt_x"/>
                                          </p:val>
                                        </p:tav>
                                      </p:tavLst>
                                    </p:anim>
                                    <p:anim calcmode="lin" valueType="num">
                                      <p:cBhvr additive="base">
                                        <p:cTn id="54" dur="500" fill="hold"/>
                                        <p:tgtEl>
                                          <p:spTgt spid="27"/>
                                        </p:tgtEl>
                                        <p:attrNameLst>
                                          <p:attrName>ppt_y</p:attrName>
                                        </p:attrNameLst>
                                      </p:cBhvr>
                                      <p:tavLst>
                                        <p:tav tm="0">
                                          <p:val>
                                            <p:strVal val="0-#ppt_h/2"/>
                                          </p:val>
                                        </p:tav>
                                        <p:tav tm="100000">
                                          <p:val>
                                            <p:strVal val="#ppt_y"/>
                                          </p:val>
                                        </p:tav>
                                      </p:tavLst>
                                    </p:anim>
                                  </p:childTnLst>
                                </p:cTn>
                              </p:par>
                            </p:childTnLst>
                          </p:cTn>
                        </p:par>
                        <p:par>
                          <p:cTn id="55" fill="hold">
                            <p:stCondLst>
                              <p:cond delay="500"/>
                            </p:stCondLst>
                            <p:childTnLst>
                              <p:par>
                                <p:cTn id="56" presetID="22" presetClass="entr" presetSubtype="1" fill="hold" nodeType="afterEffect">
                                  <p:stCondLst>
                                    <p:cond delay="500"/>
                                  </p:stCondLst>
                                  <p:childTnLst>
                                    <p:set>
                                      <p:cBhvr>
                                        <p:cTn id="57" dur="2000" fill="hold">
                                          <p:stCondLst>
                                            <p:cond delay="0"/>
                                          </p:stCondLst>
                                        </p:cTn>
                                        <p:tgtEl>
                                          <p:spTgt spid="29"/>
                                        </p:tgtEl>
                                        <p:attrNameLst>
                                          <p:attrName>style.visibility</p:attrName>
                                        </p:attrNameLst>
                                      </p:cBhvr>
                                      <p:to>
                                        <p:strVal val="visible"/>
                                      </p:to>
                                    </p:set>
                                    <p:animEffect transition="in" filter="wipe(up)">
                                      <p:cBhvr>
                                        <p:cTn id="58" dur="2000"/>
                                        <p:tgtEl>
                                          <p:spTgt spid="29"/>
                                        </p:tgtEl>
                                      </p:cBhvr>
                                    </p:animEffect>
                                  </p:childTnLst>
                                </p:cTn>
                              </p:par>
                            </p:childTnLst>
                          </p:cTn>
                        </p:par>
                        <p:par>
                          <p:cTn id="59" fill="hold">
                            <p:stCondLst>
                              <p:cond delay="3000"/>
                            </p:stCondLst>
                            <p:childTnLst>
                              <p:par>
                                <p:cTn id="60" presetID="22" presetClass="entr" presetSubtype="4" fill="hold" nodeType="afterEffect">
                                  <p:stCondLst>
                                    <p:cond delay="500"/>
                                  </p:stCondLst>
                                  <p:childTnLst>
                                    <p:set>
                                      <p:cBhvr>
                                        <p:cTn id="61" dur="2000" fill="hold">
                                          <p:stCondLst>
                                            <p:cond delay="0"/>
                                          </p:stCondLst>
                                        </p:cTn>
                                        <p:tgtEl>
                                          <p:spTgt spid="42"/>
                                        </p:tgtEl>
                                        <p:attrNameLst>
                                          <p:attrName>style.visibility</p:attrName>
                                        </p:attrNameLst>
                                      </p:cBhvr>
                                      <p:to>
                                        <p:strVal val="visible"/>
                                      </p:to>
                                    </p:set>
                                    <p:animEffect transition="in" filter="wipe(down)">
                                      <p:cBhvr>
                                        <p:cTn id="62" dur="2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35" grpId="0" bldLvl="0" animBg="1"/>
      <p:bldP spid="491541" grpId="0" bldLvl="0" animBg="1"/>
      <p:bldP spid="4" grpId="0" bldLvl="0" animBg="1"/>
      <p:bldP spid="32" grpId="0" bldLvl="0" animBg="1"/>
      <p:bldP spid="16" grpId="0"/>
      <p:bldP spid="539653" grpId="0"/>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443865" y="1333500"/>
            <a:ext cx="8521065" cy="501396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文本框 2"/>
          <p:cNvSpPr txBox="1"/>
          <p:nvPr/>
        </p:nvSpPr>
        <p:spPr>
          <a:xfrm>
            <a:off x="862965" y="1280160"/>
            <a:ext cx="8009890" cy="706755"/>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5-</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4</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000" b="1">
                <a:gradFill>
                  <a:gsLst>
                    <a:gs pos="0">
                      <a:srgbClr val="012D86"/>
                    </a:gs>
                    <a:gs pos="100000">
                      <a:srgbClr val="0E2557"/>
                    </a:gs>
                  </a:gsLst>
                  <a:lin scaled="0"/>
                </a:gradFill>
                <a:ea typeface="宋体" panose="02010600030101010101" pitchFamily="2" charset="-122"/>
              </a:rPr>
              <a:t>维持</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阻塞</a:t>
            </a:r>
            <a:r>
              <a:rPr lang="zh-CN" sz="2000" b="1">
                <a:gradFill>
                  <a:gsLst>
                    <a:gs pos="0">
                      <a:srgbClr val="012D86"/>
                    </a:gs>
                    <a:gs pos="100000">
                      <a:srgbClr val="0E2557"/>
                    </a:gs>
                  </a:gsLst>
                  <a:lin scaled="0"/>
                </a:gradFill>
                <a:sym typeface="+mn-ea"/>
              </a:rPr>
              <a:t>边沿</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000" b="1">
                <a:gradFill>
                  <a:gsLst>
                    <a:gs pos="0">
                      <a:srgbClr val="012D86"/>
                    </a:gs>
                    <a:gs pos="100000">
                      <a:srgbClr val="0E2557"/>
                    </a:gs>
                  </a:gsLst>
                  <a:lin scaled="0"/>
                </a:gradFill>
                <a:ea typeface="宋体" panose="02010600030101010101" pitchFamily="2" charset="-122"/>
              </a:rPr>
              <a:t>触发器如图</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5-</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11(a)</a:t>
            </a:r>
            <a:r>
              <a:rPr lang="zh-CN" sz="2000" b="1">
                <a:gradFill>
                  <a:gsLst>
                    <a:gs pos="0">
                      <a:srgbClr val="012D86"/>
                    </a:gs>
                    <a:gs pos="100000">
                      <a:srgbClr val="0E2557"/>
                    </a:gs>
                  </a:gsLst>
                  <a:lin scaled="0"/>
                </a:gradFill>
                <a:ea typeface="宋体" panose="02010600030101010101" pitchFamily="2" charset="-122"/>
              </a:rPr>
              <a:t>所示，设初始状态为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，已知输入端</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000" b="1">
                <a:gradFill>
                  <a:gsLst>
                    <a:gs pos="0">
                      <a:srgbClr val="012D86"/>
                    </a:gs>
                    <a:gs pos="100000">
                      <a:srgbClr val="0E2557"/>
                    </a:gs>
                  </a:gsLst>
                  <a:lin scaled="0"/>
                </a:gradFill>
                <a:ea typeface="宋体" panose="02010600030101010101" pitchFamily="2" charset="-122"/>
              </a:rPr>
              <a:t>的波形图如图</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5-</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12</a:t>
            </a:r>
            <a:r>
              <a:rPr lang="zh-CN" sz="2000" b="1">
                <a:gradFill>
                  <a:gsLst>
                    <a:gs pos="0">
                      <a:srgbClr val="012D86"/>
                    </a:gs>
                    <a:gs pos="100000">
                      <a:srgbClr val="0E2557"/>
                    </a:gs>
                  </a:gsLst>
                  <a:lin scaled="0"/>
                </a:gradFill>
                <a:ea typeface="宋体" panose="02010600030101010101" pitchFamily="2" charset="-122"/>
              </a:rPr>
              <a:t>所示，试画出输出端</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zh-CN" sz="2000" b="1">
                <a:gradFill>
                  <a:gsLst>
                    <a:gs pos="0">
                      <a:srgbClr val="012D86"/>
                    </a:gs>
                    <a:gs pos="100000">
                      <a:srgbClr val="0E2557"/>
                    </a:gs>
                  </a:gsLst>
                  <a:lin scaled="0"/>
                </a:gradFill>
                <a:ea typeface="宋体" panose="02010600030101010101" pitchFamily="2" charset="-122"/>
              </a:rPr>
              <a:t>的波形图。</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9350" name="图片 2787"/>
          <p:cNvPicPr>
            <a:picLocks noChangeAspect="1"/>
          </p:cNvPicPr>
          <p:nvPr/>
        </p:nvPicPr>
        <p:blipFill>
          <a:blip r:embed="rId1"/>
          <a:stretch>
            <a:fillRect/>
          </a:stretch>
        </p:blipFill>
        <p:spPr>
          <a:xfrm>
            <a:off x="2105660" y="4145915"/>
            <a:ext cx="4516755" cy="1687195"/>
          </a:xfrm>
          <a:prstGeom prst="rect">
            <a:avLst/>
          </a:prstGeom>
          <a:noFill/>
          <a:ln>
            <a:noFill/>
          </a:ln>
        </p:spPr>
      </p:pic>
      <p:sp>
        <p:nvSpPr>
          <p:cNvPr id="4" name="文本框 3"/>
          <p:cNvSpPr txBox="1"/>
          <p:nvPr/>
        </p:nvSpPr>
        <p:spPr>
          <a:xfrm>
            <a:off x="692785" y="1986915"/>
            <a:ext cx="8133715"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ea typeface="宋体" panose="02010600030101010101" pitchFamily="2" charset="-122"/>
              </a:rPr>
              <a:t>上升沿前一瞬间，</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，在</a:t>
            </a:r>
            <a:r>
              <a:rPr lang="en-US" sz="2400" b="1" i="1">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上升沿</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8" name="文本框 17"/>
          <p:cNvSpPr txBox="1"/>
          <p:nvPr/>
        </p:nvSpPr>
        <p:spPr>
          <a:xfrm>
            <a:off x="691515" y="2400300"/>
            <a:ext cx="840105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sym typeface="+mn-ea"/>
              </a:rPr>
              <a:t>上升沿前一瞬间</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，在</a:t>
            </a:r>
            <a:r>
              <a:rPr lang="en-US" sz="2400" b="1" i="1">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上升沿</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28" name="文本框 27"/>
          <p:cNvSpPr txBox="1"/>
          <p:nvPr/>
        </p:nvSpPr>
        <p:spPr>
          <a:xfrm>
            <a:off x="698500" y="2784475"/>
            <a:ext cx="844550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3</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sym typeface="+mn-ea"/>
              </a:rPr>
              <a:t>上升沿前一瞬间</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，在</a:t>
            </a:r>
            <a:r>
              <a:rPr lang="en-US" sz="2400" b="1" i="1">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上升沿</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29" name="文本框 28"/>
          <p:cNvSpPr txBox="1"/>
          <p:nvPr/>
        </p:nvSpPr>
        <p:spPr>
          <a:xfrm>
            <a:off x="698500" y="3160395"/>
            <a:ext cx="8260715"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4</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sym typeface="+mn-ea"/>
              </a:rPr>
              <a:t>上升沿前一瞬间</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，在</a:t>
            </a:r>
            <a:r>
              <a:rPr lang="en-US" sz="2400" b="1" i="1">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上升沿</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30" name="文本框 29"/>
          <p:cNvSpPr txBox="1"/>
          <p:nvPr/>
        </p:nvSpPr>
        <p:spPr>
          <a:xfrm>
            <a:off x="694690" y="3531870"/>
            <a:ext cx="853059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第</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5</a:t>
            </a:r>
            <a:r>
              <a:rPr lang="zh-CN" sz="2400" b="1">
                <a:gradFill>
                  <a:gsLst>
                    <a:gs pos="0">
                      <a:srgbClr val="012D86"/>
                    </a:gs>
                    <a:gs pos="100000">
                      <a:srgbClr val="0E2557"/>
                    </a:gs>
                  </a:gsLst>
                  <a:lin scaled="0"/>
                </a:gradFill>
                <a:ea typeface="宋体" panose="02010600030101010101" pitchFamily="2" charset="-122"/>
              </a:rPr>
              <a:t>个</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sym typeface="+mn-ea"/>
              </a:rPr>
              <a:t>上升沿前一瞬间</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，在</a:t>
            </a:r>
            <a:r>
              <a:rPr lang="en-US" sz="2400" b="1" i="1">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上升沿</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+1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45" name="矩形 44"/>
          <p:cNvSpPr/>
          <p:nvPr/>
        </p:nvSpPr>
        <p:spPr>
          <a:xfrm>
            <a:off x="2514600" y="5315585"/>
            <a:ext cx="4114800" cy="4756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2" name="直接连接符 31"/>
          <p:cNvCxnSpPr/>
          <p:nvPr/>
        </p:nvCxnSpPr>
        <p:spPr>
          <a:xfrm>
            <a:off x="2514600" y="5712460"/>
            <a:ext cx="34417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858770" y="5712460"/>
            <a:ext cx="73850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3613785" y="5398135"/>
            <a:ext cx="0" cy="31432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597275" y="5398135"/>
            <a:ext cx="78232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379595" y="5398135"/>
            <a:ext cx="0" cy="31432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379595" y="5712460"/>
            <a:ext cx="725805" cy="2540"/>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5126990" y="5396230"/>
            <a:ext cx="0" cy="314325"/>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126990" y="5398135"/>
            <a:ext cx="730885" cy="0"/>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5866130" y="5400675"/>
            <a:ext cx="0" cy="314325"/>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857875" y="5710555"/>
            <a:ext cx="781685" cy="0"/>
          </a:xfrm>
          <a:prstGeom prst="line">
            <a:avLst/>
          </a:prstGeom>
          <a:noFill/>
          <a:ln w="2540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2875280" y="4528820"/>
            <a:ext cx="0" cy="1151255"/>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3622040" y="4500245"/>
            <a:ext cx="0" cy="1151255"/>
          </a:xfrm>
          <a:prstGeom prst="line">
            <a:avLst/>
          </a:prstGeom>
          <a:noFill/>
          <a:ln w="15875" cap="flat" cmpd="sng" algn="ctr">
            <a:solidFill>
              <a:srgbClr val="FF0000"/>
            </a:solidFill>
            <a:prstDash val="dash"/>
          </a:ln>
          <a:effectLst/>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4379595" y="4528820"/>
            <a:ext cx="0" cy="1151255"/>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5126990" y="4538980"/>
            <a:ext cx="0" cy="1151255"/>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5874385" y="4500245"/>
            <a:ext cx="0" cy="1151255"/>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000" fill="hold">
                                          <p:stCondLst>
                                            <p:cond delay="0"/>
                                          </p:stCondLst>
                                        </p:cTn>
                                        <p:tgtEl>
                                          <p:spTgt spid="4"/>
                                        </p:tgtEl>
                                        <p:attrNameLst>
                                          <p:attrName>style.visibility</p:attrName>
                                        </p:attrNameLst>
                                      </p:cBhvr>
                                      <p:to>
                                        <p:strVal val="visible"/>
                                      </p:to>
                                    </p:set>
                                    <p:animEffect transition="in" filter="wipe(left)">
                                      <p:cBhvr>
                                        <p:cTn id="11" dur="1000"/>
                                        <p:tgtEl>
                                          <p:spTgt spid="4"/>
                                        </p:tgtEl>
                                      </p:cBhvr>
                                    </p:animEffect>
                                  </p:childTnLst>
                                </p:cTn>
                              </p:par>
                            </p:childTnLst>
                          </p:cTn>
                        </p:par>
                        <p:par>
                          <p:cTn id="12" fill="hold">
                            <p:stCondLst>
                              <p:cond delay="1000"/>
                            </p:stCondLst>
                            <p:childTnLst>
                              <p:par>
                                <p:cTn id="13" presetID="22" presetClass="entr" presetSubtype="8" fill="hold" nodeType="afterEffect">
                                  <p:stCondLst>
                                    <p:cond delay="50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500"/>
                                        <p:tgtEl>
                                          <p:spTgt spid="3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000" fill="hold">
                                          <p:stCondLst>
                                            <p:cond delay="0"/>
                                          </p:stCondLst>
                                        </p:cTn>
                                        <p:tgtEl>
                                          <p:spTgt spid="18"/>
                                        </p:tgtEl>
                                        <p:attrNameLst>
                                          <p:attrName>style.visibility</p:attrName>
                                        </p:attrNameLst>
                                      </p:cBhvr>
                                      <p:to>
                                        <p:strVal val="visible"/>
                                      </p:to>
                                    </p:set>
                                    <p:animEffect transition="in" filter="wipe(left)">
                                      <p:cBhvr>
                                        <p:cTn id="20" dur="1000"/>
                                        <p:tgtEl>
                                          <p:spTgt spid="18"/>
                                        </p:tgtEl>
                                      </p:cBhvr>
                                    </p:animEffect>
                                  </p:childTnLst>
                                </p:cTn>
                              </p:par>
                            </p:childTnLst>
                          </p:cTn>
                        </p:par>
                        <p:par>
                          <p:cTn id="21" fill="hold">
                            <p:stCondLst>
                              <p:cond delay="1000"/>
                            </p:stCondLst>
                            <p:childTnLst>
                              <p:par>
                                <p:cTn id="22" presetID="22" presetClass="entr" presetSubtype="4" fill="hold" nodeType="afterEffect">
                                  <p:stCondLst>
                                    <p:cond delay="500"/>
                                  </p:stCondLst>
                                  <p:childTnLst>
                                    <p:set>
                                      <p:cBhvr>
                                        <p:cTn id="23" dur="1000" fill="hold">
                                          <p:stCondLst>
                                            <p:cond delay="0"/>
                                          </p:stCondLst>
                                        </p:cTn>
                                        <p:tgtEl>
                                          <p:spTgt spid="33"/>
                                        </p:tgtEl>
                                        <p:attrNameLst>
                                          <p:attrName>style.visibility</p:attrName>
                                        </p:attrNameLst>
                                      </p:cBhvr>
                                      <p:to>
                                        <p:strVal val="visible"/>
                                      </p:to>
                                    </p:set>
                                    <p:animEffect transition="in" filter="wipe(down)">
                                      <p:cBhvr>
                                        <p:cTn id="24" dur="1000"/>
                                        <p:tgtEl>
                                          <p:spTgt spid="33"/>
                                        </p:tgtEl>
                                      </p:cBhvr>
                                    </p:animEffect>
                                  </p:childTnLst>
                                </p:cTn>
                              </p:par>
                            </p:childTnLst>
                          </p:cTn>
                        </p:par>
                        <p:par>
                          <p:cTn id="25" fill="hold">
                            <p:stCondLst>
                              <p:cond delay="2500"/>
                            </p:stCondLst>
                            <p:childTnLst>
                              <p:par>
                                <p:cTn id="26" presetID="22" presetClass="entr" presetSubtype="8" fill="hold" nodeType="afterEffect">
                                  <p:stCondLst>
                                    <p:cond delay="500"/>
                                  </p:stCondLst>
                                  <p:childTnLst>
                                    <p:set>
                                      <p:cBhvr>
                                        <p:cTn id="27" dur="1000" fill="hold">
                                          <p:stCondLst>
                                            <p:cond delay="0"/>
                                          </p:stCondLst>
                                        </p:cTn>
                                        <p:tgtEl>
                                          <p:spTgt spid="34"/>
                                        </p:tgtEl>
                                        <p:attrNameLst>
                                          <p:attrName>style.visibility</p:attrName>
                                        </p:attrNameLst>
                                      </p:cBhvr>
                                      <p:to>
                                        <p:strVal val="visible"/>
                                      </p:to>
                                    </p:set>
                                    <p:animEffect transition="in" filter="wipe(left)">
                                      <p:cBhvr>
                                        <p:cTn id="28" dur="1000"/>
                                        <p:tgtEl>
                                          <p:spTgt spid="3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000" fill="hold">
                                          <p:stCondLst>
                                            <p:cond delay="0"/>
                                          </p:stCondLst>
                                        </p:cTn>
                                        <p:tgtEl>
                                          <p:spTgt spid="28"/>
                                        </p:tgtEl>
                                        <p:attrNameLst>
                                          <p:attrName>style.visibility</p:attrName>
                                        </p:attrNameLst>
                                      </p:cBhvr>
                                      <p:to>
                                        <p:strVal val="visible"/>
                                      </p:to>
                                    </p:set>
                                    <p:animEffect transition="in" filter="wipe(left)">
                                      <p:cBhvr>
                                        <p:cTn id="33" dur="1000"/>
                                        <p:tgtEl>
                                          <p:spTgt spid="28"/>
                                        </p:tgtEl>
                                      </p:cBhvr>
                                    </p:animEffect>
                                  </p:childTnLst>
                                </p:cTn>
                              </p:par>
                            </p:childTnLst>
                          </p:cTn>
                        </p:par>
                        <p:par>
                          <p:cTn id="34" fill="hold">
                            <p:stCondLst>
                              <p:cond delay="1000"/>
                            </p:stCondLst>
                            <p:childTnLst>
                              <p:par>
                                <p:cTn id="35" presetID="22" presetClass="entr" presetSubtype="1" fill="hold" nodeType="afterEffect">
                                  <p:stCondLst>
                                    <p:cond delay="500"/>
                                  </p:stCondLst>
                                  <p:childTnLst>
                                    <p:set>
                                      <p:cBhvr>
                                        <p:cTn id="36" dur="1" fill="hold">
                                          <p:stCondLst>
                                            <p:cond delay="0"/>
                                          </p:stCondLst>
                                        </p:cTn>
                                        <p:tgtEl>
                                          <p:spTgt spid="36"/>
                                        </p:tgtEl>
                                        <p:attrNameLst>
                                          <p:attrName>style.visibility</p:attrName>
                                        </p:attrNameLst>
                                      </p:cBhvr>
                                      <p:to>
                                        <p:strVal val="visible"/>
                                      </p:to>
                                    </p:set>
                                    <p:animEffect transition="in" filter="wipe(up)">
                                      <p:cBhvr>
                                        <p:cTn id="37" dur="500"/>
                                        <p:tgtEl>
                                          <p:spTgt spid="36"/>
                                        </p:tgtEl>
                                      </p:cBhvr>
                                    </p:animEffect>
                                  </p:childTnLst>
                                </p:cTn>
                              </p:par>
                            </p:childTnLst>
                          </p:cTn>
                        </p:par>
                        <p:par>
                          <p:cTn id="38" fill="hold">
                            <p:stCondLst>
                              <p:cond delay="2000"/>
                            </p:stCondLst>
                            <p:childTnLst>
                              <p:par>
                                <p:cTn id="39" presetID="22" presetClass="entr" presetSubtype="8" fill="hold" nodeType="afterEffect">
                                  <p:stCondLst>
                                    <p:cond delay="500"/>
                                  </p:stCondLst>
                                  <p:childTnLst>
                                    <p:set>
                                      <p:cBhvr>
                                        <p:cTn id="40" dur="1000" fill="hold">
                                          <p:stCondLst>
                                            <p:cond delay="0"/>
                                          </p:stCondLst>
                                        </p:cTn>
                                        <p:tgtEl>
                                          <p:spTgt spid="39"/>
                                        </p:tgtEl>
                                        <p:attrNameLst>
                                          <p:attrName>style.visibility</p:attrName>
                                        </p:attrNameLst>
                                      </p:cBhvr>
                                      <p:to>
                                        <p:strVal val="visible"/>
                                      </p:to>
                                    </p:set>
                                    <p:animEffect transition="in" filter="wipe(left)">
                                      <p:cBhvr>
                                        <p:cTn id="41" dur="1000"/>
                                        <p:tgtEl>
                                          <p:spTgt spid="3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000" fill="hold">
                                          <p:stCondLst>
                                            <p:cond delay="0"/>
                                          </p:stCondLst>
                                        </p:cTn>
                                        <p:tgtEl>
                                          <p:spTgt spid="29"/>
                                        </p:tgtEl>
                                        <p:attrNameLst>
                                          <p:attrName>style.visibility</p:attrName>
                                        </p:attrNameLst>
                                      </p:cBhvr>
                                      <p:to>
                                        <p:strVal val="visible"/>
                                      </p:to>
                                    </p:set>
                                    <p:animEffect transition="in" filter="wipe(left)">
                                      <p:cBhvr>
                                        <p:cTn id="46" dur="1000"/>
                                        <p:tgtEl>
                                          <p:spTgt spid="29"/>
                                        </p:tgtEl>
                                      </p:cBhvr>
                                    </p:animEffect>
                                  </p:childTnLst>
                                </p:cTn>
                              </p:par>
                            </p:childTnLst>
                          </p:cTn>
                        </p:par>
                        <p:par>
                          <p:cTn id="47" fill="hold">
                            <p:stCondLst>
                              <p:cond delay="1000"/>
                            </p:stCondLst>
                            <p:childTnLst>
                              <p:par>
                                <p:cTn id="48" presetID="22" presetClass="entr" presetSubtype="4" fill="hold" nodeType="afterEffect">
                                  <p:stCondLst>
                                    <p:cond delay="500"/>
                                  </p:stCondLst>
                                  <p:childTnLst>
                                    <p:set>
                                      <p:cBhvr>
                                        <p:cTn id="49" dur="1000" fill="hold">
                                          <p:stCondLst>
                                            <p:cond delay="0"/>
                                          </p:stCondLst>
                                        </p:cTn>
                                        <p:tgtEl>
                                          <p:spTgt spid="38"/>
                                        </p:tgtEl>
                                        <p:attrNameLst>
                                          <p:attrName>style.visibility</p:attrName>
                                        </p:attrNameLst>
                                      </p:cBhvr>
                                      <p:to>
                                        <p:strVal val="visible"/>
                                      </p:to>
                                    </p:set>
                                    <p:animEffect transition="in" filter="wipe(down)">
                                      <p:cBhvr>
                                        <p:cTn id="50" dur="1000"/>
                                        <p:tgtEl>
                                          <p:spTgt spid="38"/>
                                        </p:tgtEl>
                                      </p:cBhvr>
                                    </p:animEffect>
                                  </p:childTnLst>
                                </p:cTn>
                              </p:par>
                            </p:childTnLst>
                          </p:cTn>
                        </p:par>
                        <p:par>
                          <p:cTn id="51" fill="hold">
                            <p:stCondLst>
                              <p:cond delay="2500"/>
                            </p:stCondLst>
                            <p:childTnLst>
                              <p:par>
                                <p:cTn id="52" presetID="22" presetClass="entr" presetSubtype="8" fill="hold" nodeType="afterEffect">
                                  <p:stCondLst>
                                    <p:cond delay="500"/>
                                  </p:stCondLst>
                                  <p:childTnLst>
                                    <p:set>
                                      <p:cBhvr>
                                        <p:cTn id="53" dur="1000" fill="hold">
                                          <p:stCondLst>
                                            <p:cond delay="0"/>
                                          </p:stCondLst>
                                        </p:cTn>
                                        <p:tgtEl>
                                          <p:spTgt spid="40"/>
                                        </p:tgtEl>
                                        <p:attrNameLst>
                                          <p:attrName>style.visibility</p:attrName>
                                        </p:attrNameLst>
                                      </p:cBhvr>
                                      <p:to>
                                        <p:strVal val="visible"/>
                                      </p:to>
                                    </p:set>
                                    <p:animEffect transition="in" filter="wipe(left)">
                                      <p:cBhvr>
                                        <p:cTn id="54" dur="1000"/>
                                        <p:tgtEl>
                                          <p:spTgt spid="4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ipe(left)">
                                      <p:cBhvr>
                                        <p:cTn id="59" dur="500"/>
                                        <p:tgtEl>
                                          <p:spTgt spid="30"/>
                                        </p:tgtEl>
                                      </p:cBhvr>
                                    </p:animEffect>
                                  </p:childTnLst>
                                </p:cTn>
                              </p:par>
                            </p:childTnLst>
                          </p:cTn>
                        </p:par>
                        <p:par>
                          <p:cTn id="60" fill="hold">
                            <p:stCondLst>
                              <p:cond delay="500"/>
                            </p:stCondLst>
                            <p:childTnLst>
                              <p:par>
                                <p:cTn id="61" presetID="22" presetClass="entr" presetSubtype="1" fill="hold" nodeType="afterEffect">
                                  <p:stCondLst>
                                    <p:cond delay="500"/>
                                  </p:stCondLst>
                                  <p:childTnLst>
                                    <p:set>
                                      <p:cBhvr>
                                        <p:cTn id="62" dur="1" fill="hold">
                                          <p:stCondLst>
                                            <p:cond delay="0"/>
                                          </p:stCondLst>
                                        </p:cTn>
                                        <p:tgtEl>
                                          <p:spTgt spid="41"/>
                                        </p:tgtEl>
                                        <p:attrNameLst>
                                          <p:attrName>style.visibility</p:attrName>
                                        </p:attrNameLst>
                                      </p:cBhvr>
                                      <p:to>
                                        <p:strVal val="visible"/>
                                      </p:to>
                                    </p:set>
                                    <p:animEffect transition="in" filter="wipe(up)">
                                      <p:cBhvr>
                                        <p:cTn id="63" dur="500"/>
                                        <p:tgtEl>
                                          <p:spTgt spid="41"/>
                                        </p:tgtEl>
                                      </p:cBhvr>
                                    </p:animEffect>
                                  </p:childTnLst>
                                </p:cTn>
                              </p:par>
                            </p:childTnLst>
                          </p:cTn>
                        </p:par>
                        <p:par>
                          <p:cTn id="64" fill="hold">
                            <p:stCondLst>
                              <p:cond delay="1500"/>
                            </p:stCondLst>
                            <p:childTnLst>
                              <p:par>
                                <p:cTn id="65" presetID="22" presetClass="entr" presetSubtype="8" fill="hold" nodeType="afterEffect">
                                  <p:stCondLst>
                                    <p:cond delay="500"/>
                                  </p:stCondLst>
                                  <p:childTnLst>
                                    <p:set>
                                      <p:cBhvr>
                                        <p:cTn id="66" dur="1" fill="hold">
                                          <p:stCondLst>
                                            <p:cond delay="0"/>
                                          </p:stCondLst>
                                        </p:cTn>
                                        <p:tgtEl>
                                          <p:spTgt spid="42"/>
                                        </p:tgtEl>
                                        <p:attrNameLst>
                                          <p:attrName>style.visibility</p:attrName>
                                        </p:attrNameLst>
                                      </p:cBhvr>
                                      <p:to>
                                        <p:strVal val="visible"/>
                                      </p:to>
                                    </p:set>
                                    <p:animEffect transition="in" filter="wipe(left)">
                                      <p:cBhvr>
                                        <p:cTn id="6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p:bldP spid="28" grpId="0"/>
      <p:bldP spid="29" grpId="0"/>
      <p:bldP spid="3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974725" y="1231265"/>
            <a:ext cx="5080000" cy="460375"/>
          </a:xfrm>
          <a:prstGeom prst="rect">
            <a:avLst/>
          </a:prstGeom>
          <a:noFill/>
          <a:ln w="9525">
            <a:noFill/>
          </a:ln>
        </p:spPr>
        <p:txBody>
          <a:bodyPr wrap="square">
            <a:spAutoFit/>
          </a:bodyPr>
          <a:p>
            <a:pPr>
              <a:buClrTx/>
              <a:buSzTx/>
              <a:buFontTx/>
            </a:pPr>
            <a:r>
              <a:rPr lang="en-US" sz="2400" b="1" dirty="0">
                <a:solidFill>
                  <a:srgbClr val="FE09D6"/>
                </a:solidFill>
                <a:latin typeface="Times New Roman" panose="02020603050405020304" charset="0"/>
                <a:ea typeface="楷体_GB2312" pitchFamily="49" charset="-122"/>
                <a:cs typeface="Times New Roman" panose="02020603050405020304" charset="0"/>
              </a:rPr>
              <a:t>2. CMOS边沿触发器</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文本框 2"/>
          <p:cNvSpPr txBox="1"/>
          <p:nvPr/>
        </p:nvSpPr>
        <p:spPr>
          <a:xfrm>
            <a:off x="974725" y="1691640"/>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(１) </a:t>
            </a:r>
            <a:r>
              <a:rPr lang="zh-CN" altLang="en-US" sz="2400" b="1"/>
              <a:t>电路结构</a:t>
            </a:r>
            <a:endParaRPr lang="zh-CN" altLang="en-US" sz="2400" b="1"/>
          </a:p>
        </p:txBody>
      </p:sp>
      <p:pic>
        <p:nvPicPr>
          <p:cNvPr id="9351" name="图片 2788"/>
          <p:cNvPicPr>
            <a:picLocks noChangeAspect="1"/>
          </p:cNvPicPr>
          <p:nvPr/>
        </p:nvPicPr>
        <p:blipFill>
          <a:blip r:embed="rId1"/>
          <a:stretch>
            <a:fillRect/>
          </a:stretch>
        </p:blipFill>
        <p:spPr>
          <a:xfrm>
            <a:off x="725805" y="2152015"/>
            <a:ext cx="7737475" cy="2844165"/>
          </a:xfrm>
          <a:prstGeom prst="rect">
            <a:avLst/>
          </a:prstGeom>
          <a:noFill/>
          <a:ln>
            <a:noFill/>
          </a:ln>
        </p:spPr>
      </p:pic>
      <p:sp>
        <p:nvSpPr>
          <p:cNvPr id="2" name="文本框 1"/>
          <p:cNvSpPr txBox="1"/>
          <p:nvPr/>
        </p:nvSpPr>
        <p:spPr>
          <a:xfrm>
            <a:off x="3514725" y="4996180"/>
            <a:ext cx="2619375" cy="337185"/>
          </a:xfrm>
          <a:prstGeom prst="rect">
            <a:avLst/>
          </a:prstGeom>
          <a:noFill/>
          <a:ln w="9525">
            <a:noFill/>
          </a:ln>
        </p:spPr>
        <p:txBody>
          <a:bodyPr wrap="square">
            <a:spAutoFit/>
          </a:bodyPr>
          <a:p>
            <a:r>
              <a:rPr lang="zh-CN" sz="1600">
                <a:solidFill>
                  <a:srgbClr val="000000"/>
                </a:solidFill>
                <a:latin typeface="Times New Roman" panose="02020603050405020304" charset="0"/>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5-13 CMOS</a:t>
            </a:r>
            <a:r>
              <a:rPr lang="zh-CN" sz="1600">
                <a:solidFill>
                  <a:srgbClr val="000000"/>
                </a:solidFill>
                <a:latin typeface="Times New Roman" panose="02020603050405020304" charset="0"/>
                <a:ea typeface="宋体" panose="02010600030101010101" pitchFamily="2" charset="-122"/>
              </a:rPr>
              <a:t>边沿触发器</a:t>
            </a:r>
            <a:endParaRPr lang="zh-CN" altLang="en-US" sz="1600"/>
          </a:p>
        </p:txBody>
      </p:sp>
      <p:sp>
        <p:nvSpPr>
          <p:cNvPr id="513028" name="圆角矩形 513027"/>
          <p:cNvSpPr/>
          <p:nvPr/>
        </p:nvSpPr>
        <p:spPr>
          <a:xfrm>
            <a:off x="974725" y="2571115"/>
            <a:ext cx="803910" cy="720725"/>
          </a:xfrm>
          <a:prstGeom prst="roundRect">
            <a:avLst>
              <a:gd name="adj" fmla="val 16667"/>
            </a:avLst>
          </a:prstGeom>
          <a:noFill/>
          <a:ln w="38100" cap="flat" cmpd="sng">
            <a:solidFill>
              <a:srgbClr val="C00000"/>
            </a:solidFill>
            <a:prstDash val="solid"/>
            <a:headEnd type="none" w="med" len="med"/>
            <a:tailEnd type="none" w="med" len="med"/>
          </a:ln>
        </p:spPr>
        <p:txBody>
          <a:bodyPr/>
          <a:p>
            <a:endParaRPr lang="zh-CN" altLang="en-US"/>
          </a:p>
        </p:txBody>
      </p:sp>
      <p:sp>
        <p:nvSpPr>
          <p:cNvPr id="513029" name="圆角矩形 513028"/>
          <p:cNvSpPr/>
          <p:nvPr/>
        </p:nvSpPr>
        <p:spPr>
          <a:xfrm>
            <a:off x="5238115" y="3558540"/>
            <a:ext cx="815975" cy="720725"/>
          </a:xfrm>
          <a:prstGeom prst="roundRect">
            <a:avLst>
              <a:gd name="adj" fmla="val 16667"/>
            </a:avLst>
          </a:prstGeom>
          <a:noFill/>
          <a:ln w="38100" cap="flat" cmpd="sng">
            <a:solidFill>
              <a:srgbClr val="C00000"/>
            </a:solidFill>
            <a:prstDash val="solid"/>
            <a:headEnd type="none" w="med" len="med"/>
            <a:tailEnd type="none" w="med" len="med"/>
          </a:ln>
        </p:spPr>
        <p:txBody>
          <a:bodyPr/>
          <a:p>
            <a:endParaRPr lang="zh-CN" altLang="en-US"/>
          </a:p>
        </p:txBody>
      </p:sp>
      <p:sp>
        <p:nvSpPr>
          <p:cNvPr id="513030" name="圆角矩形 513029"/>
          <p:cNvSpPr/>
          <p:nvPr/>
        </p:nvSpPr>
        <p:spPr>
          <a:xfrm>
            <a:off x="4039870" y="2571115"/>
            <a:ext cx="804545" cy="720725"/>
          </a:xfrm>
          <a:prstGeom prst="roundRect">
            <a:avLst>
              <a:gd name="adj" fmla="val 16667"/>
            </a:avLst>
          </a:prstGeom>
          <a:noFill/>
          <a:ln w="38100" cap="flat" cmpd="sng">
            <a:solidFill>
              <a:srgbClr val="000066"/>
            </a:solidFill>
            <a:prstDash val="solid"/>
            <a:headEnd type="none" w="med" len="med"/>
            <a:tailEnd type="none" w="med" len="med"/>
          </a:ln>
        </p:spPr>
        <p:txBody>
          <a:bodyPr/>
          <a:p>
            <a:endParaRPr lang="zh-CN" altLang="en-US"/>
          </a:p>
        </p:txBody>
      </p:sp>
      <p:sp>
        <p:nvSpPr>
          <p:cNvPr id="513031" name="圆角矩形 513030"/>
          <p:cNvSpPr/>
          <p:nvPr/>
        </p:nvSpPr>
        <p:spPr>
          <a:xfrm>
            <a:off x="2159000" y="3558540"/>
            <a:ext cx="830580" cy="720725"/>
          </a:xfrm>
          <a:prstGeom prst="roundRect">
            <a:avLst>
              <a:gd name="adj" fmla="val 16667"/>
            </a:avLst>
          </a:prstGeom>
          <a:noFill/>
          <a:ln w="38100" cap="flat" cmpd="sng">
            <a:solidFill>
              <a:srgbClr val="000066"/>
            </a:solidFill>
            <a:prstDash val="solid"/>
            <a:headEnd type="none" w="med" len="med"/>
            <a:tailEnd type="none" w="med" len="med"/>
          </a:ln>
        </p:spPr>
        <p:txBody>
          <a:bodyPr/>
          <a:p>
            <a:endParaRPr lang="zh-CN" altLang="en-US"/>
          </a:p>
        </p:txBody>
      </p:sp>
      <p:sp>
        <p:nvSpPr>
          <p:cNvPr id="513032" name="矩形 513031"/>
          <p:cNvSpPr/>
          <p:nvPr/>
        </p:nvSpPr>
        <p:spPr>
          <a:xfrm>
            <a:off x="837565" y="5187315"/>
            <a:ext cx="6980555" cy="645160"/>
          </a:xfrm>
          <a:prstGeom prst="rect">
            <a:avLst/>
          </a:prstGeom>
          <a:noFill/>
          <a:ln w="9525">
            <a:noFill/>
          </a:ln>
        </p:spPr>
        <p:txBody>
          <a:bodyPr wrap="square">
            <a:spAutoFit/>
          </a:bodyPr>
          <a:p>
            <a:pPr algn="l">
              <a:lnSpc>
                <a:spcPct val="150000"/>
              </a:lnSpc>
            </a:pPr>
            <a:r>
              <a:rPr lang="zh-CN" altLang="en-US" sz="2400" b="1" dirty="0">
                <a:solidFill>
                  <a:srgbClr val="000066"/>
                </a:solidFill>
                <a:latin typeface="Tahoma" panose="020B0604030504040204" pitchFamily="34" charset="0"/>
                <a:ea typeface="楷体_GB2312" pitchFamily="49" charset="-122"/>
              </a:rPr>
              <a:t>第一级与</a:t>
            </a:r>
            <a:r>
              <a:rPr lang="zh-CN" altLang="en-US" sz="2400" b="1" dirty="0">
                <a:solidFill>
                  <a:srgbClr val="000066"/>
                </a:solidFill>
                <a:latin typeface="Tahoma" panose="020B0604030504040204" pitchFamily="34" charset="0"/>
                <a:ea typeface="楷体_GB2312" pitchFamily="49" charset="-122"/>
                <a:sym typeface="+mn-ea"/>
              </a:rPr>
              <a:t>第二级</a:t>
            </a:r>
            <a:r>
              <a:rPr lang="zh-CN" altLang="en-US" sz="2400" b="1" dirty="0">
                <a:solidFill>
                  <a:srgbClr val="000066"/>
                </a:solidFill>
                <a:latin typeface="Tahoma" panose="020B0604030504040204" pitchFamily="34" charset="0"/>
                <a:ea typeface="楷体_GB2312" pitchFamily="49" charset="-122"/>
              </a:rPr>
              <a:t>结构相同</a:t>
            </a:r>
            <a:endParaRPr lang="zh-CN" altLang="en-US" sz="2400" b="1" dirty="0">
              <a:solidFill>
                <a:srgbClr val="000066"/>
              </a:solidFill>
              <a:latin typeface="Tahoma" panose="020B0604030504040204" pitchFamily="34" charset="0"/>
              <a:ea typeface="楷体_GB2312" pitchFamily="49" charset="-122"/>
            </a:endParaRPr>
          </a:p>
        </p:txBody>
      </p:sp>
      <p:sp>
        <p:nvSpPr>
          <p:cNvPr id="513035" name="矩形 513034"/>
          <p:cNvSpPr/>
          <p:nvPr/>
        </p:nvSpPr>
        <p:spPr>
          <a:xfrm>
            <a:off x="837565" y="5727383"/>
            <a:ext cx="3924300" cy="460375"/>
          </a:xfrm>
          <a:prstGeom prst="rect">
            <a:avLst/>
          </a:prstGeom>
          <a:noFill/>
          <a:ln w="9525">
            <a:noFill/>
          </a:ln>
        </p:spPr>
        <p:txBody>
          <a:bodyPr>
            <a:spAutoFit/>
          </a:bodyPr>
          <a:p>
            <a:pPr algn="l"/>
            <a:r>
              <a:rPr lang="en-US" altLang="zh-CN" sz="2400" b="1">
                <a:solidFill>
                  <a:srgbClr val="000066"/>
                </a:solidFill>
                <a:latin typeface="Tahoma" panose="020B0604030504040204" pitchFamily="34" charset="0"/>
                <a:ea typeface="楷体_GB2312" pitchFamily="49" charset="-122"/>
              </a:rPr>
              <a:t>TG</a:t>
            </a:r>
            <a:r>
              <a:rPr lang="en-US" altLang="zh-CN" sz="2400" b="1" baseline="-25000">
                <a:solidFill>
                  <a:srgbClr val="000066"/>
                </a:solidFill>
                <a:latin typeface="Tahoma" panose="020B0604030504040204" pitchFamily="34" charset="0"/>
                <a:ea typeface="楷体_GB2312" pitchFamily="49" charset="-122"/>
              </a:rPr>
              <a:t>1</a:t>
            </a:r>
            <a:r>
              <a:rPr lang="zh-CN" altLang="en-US" sz="2400" b="1" dirty="0">
                <a:solidFill>
                  <a:srgbClr val="000066"/>
                </a:solidFill>
                <a:latin typeface="Tahoma" panose="020B0604030504040204" pitchFamily="34" charset="0"/>
                <a:ea typeface="楷体_GB2312" pitchFamily="49" charset="-122"/>
              </a:rPr>
              <a:t>和</a:t>
            </a:r>
            <a:r>
              <a:rPr lang="en-US" altLang="zh-CN" sz="2400" b="1">
                <a:solidFill>
                  <a:srgbClr val="000066"/>
                </a:solidFill>
                <a:latin typeface="Tahoma" panose="020B0604030504040204" pitchFamily="34" charset="0"/>
                <a:ea typeface="楷体_GB2312" pitchFamily="49" charset="-122"/>
              </a:rPr>
              <a:t>TG</a:t>
            </a:r>
            <a:r>
              <a:rPr lang="en-US" altLang="zh-CN" sz="2400" b="1" baseline="-25000">
                <a:solidFill>
                  <a:srgbClr val="000066"/>
                </a:solidFill>
                <a:latin typeface="Tahoma" panose="020B0604030504040204" pitchFamily="34" charset="0"/>
                <a:ea typeface="楷体_GB2312" pitchFamily="49" charset="-122"/>
              </a:rPr>
              <a:t>4</a:t>
            </a:r>
            <a:r>
              <a:rPr lang="zh-CN" altLang="en-US" sz="2400" b="1" dirty="0">
                <a:solidFill>
                  <a:srgbClr val="000066"/>
                </a:solidFill>
                <a:latin typeface="Tahoma" panose="020B0604030504040204" pitchFamily="34" charset="0"/>
                <a:ea typeface="楷体_GB2312" pitchFamily="49" charset="-122"/>
              </a:rPr>
              <a:t>的工作状态相同</a:t>
            </a:r>
            <a:endParaRPr lang="zh-CN" altLang="en-US" sz="2400" b="1" dirty="0">
              <a:solidFill>
                <a:srgbClr val="000066"/>
              </a:solidFill>
              <a:latin typeface="Tahoma" panose="020B0604030504040204" pitchFamily="34" charset="0"/>
              <a:ea typeface="楷体_GB2312" pitchFamily="49" charset="-122"/>
            </a:endParaRPr>
          </a:p>
        </p:txBody>
      </p:sp>
      <p:sp>
        <p:nvSpPr>
          <p:cNvPr id="513036" name="矩形 513035"/>
          <p:cNvSpPr/>
          <p:nvPr/>
        </p:nvSpPr>
        <p:spPr>
          <a:xfrm>
            <a:off x="4706620" y="5727383"/>
            <a:ext cx="4068763" cy="460375"/>
          </a:xfrm>
          <a:prstGeom prst="rect">
            <a:avLst/>
          </a:prstGeom>
          <a:noFill/>
          <a:ln w="9525">
            <a:noFill/>
          </a:ln>
        </p:spPr>
        <p:txBody>
          <a:bodyPr>
            <a:spAutoFit/>
          </a:bodyPr>
          <a:p>
            <a:pPr algn="l"/>
            <a:r>
              <a:rPr lang="en-US" altLang="zh-CN" sz="2400" b="1">
                <a:solidFill>
                  <a:srgbClr val="000066"/>
                </a:solidFill>
                <a:latin typeface="Tahoma" panose="020B0604030504040204" pitchFamily="34" charset="0"/>
                <a:ea typeface="楷体_GB2312" pitchFamily="49" charset="-122"/>
              </a:rPr>
              <a:t>TG</a:t>
            </a:r>
            <a:r>
              <a:rPr lang="en-US" altLang="zh-CN" sz="2400" b="1" baseline="-25000">
                <a:solidFill>
                  <a:srgbClr val="000066"/>
                </a:solidFill>
                <a:latin typeface="Tahoma" panose="020B0604030504040204" pitchFamily="34" charset="0"/>
                <a:ea typeface="楷体_GB2312" pitchFamily="49" charset="-122"/>
              </a:rPr>
              <a:t>2</a:t>
            </a:r>
            <a:r>
              <a:rPr lang="zh-CN" altLang="en-US" sz="2400" b="1" dirty="0">
                <a:solidFill>
                  <a:srgbClr val="000066"/>
                </a:solidFill>
                <a:latin typeface="Tahoma" panose="020B0604030504040204" pitchFamily="34" charset="0"/>
                <a:ea typeface="楷体_GB2312" pitchFamily="49" charset="-122"/>
              </a:rPr>
              <a:t>和</a:t>
            </a:r>
            <a:r>
              <a:rPr lang="en-US" altLang="zh-CN" sz="2400" b="1">
                <a:solidFill>
                  <a:srgbClr val="000066"/>
                </a:solidFill>
                <a:latin typeface="Tahoma" panose="020B0604030504040204" pitchFamily="34" charset="0"/>
                <a:ea typeface="楷体_GB2312" pitchFamily="49" charset="-122"/>
              </a:rPr>
              <a:t>TG</a:t>
            </a:r>
            <a:r>
              <a:rPr lang="en-US" altLang="zh-CN" sz="2400" b="1" baseline="-25000">
                <a:solidFill>
                  <a:srgbClr val="000066"/>
                </a:solidFill>
                <a:latin typeface="Tahoma" panose="020B0604030504040204" pitchFamily="34" charset="0"/>
                <a:ea typeface="楷体_GB2312" pitchFamily="49" charset="-122"/>
              </a:rPr>
              <a:t>3</a:t>
            </a:r>
            <a:r>
              <a:rPr lang="zh-CN" altLang="en-US" sz="2400" b="1" dirty="0">
                <a:solidFill>
                  <a:srgbClr val="000066"/>
                </a:solidFill>
                <a:latin typeface="Tahoma" panose="020B0604030504040204" pitchFamily="34" charset="0"/>
                <a:ea typeface="楷体_GB2312" pitchFamily="49" charset="-122"/>
              </a:rPr>
              <a:t>的工作状态相同</a:t>
            </a:r>
            <a:endParaRPr lang="zh-CN" altLang="en-US" sz="2400" b="1">
              <a:solidFill>
                <a:srgbClr val="000066"/>
              </a:solidFill>
              <a:latin typeface="Tahoma" panose="020B0604030504040204" pitchFamily="3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pic>
        <p:nvPicPr>
          <p:cNvPr id="9351" name="图片 2788"/>
          <p:cNvPicPr>
            <a:picLocks noChangeAspect="1"/>
          </p:cNvPicPr>
          <p:nvPr/>
        </p:nvPicPr>
        <p:blipFill>
          <a:blip r:embed="rId1"/>
          <a:srcRect r="22561" b="10895"/>
          <a:stretch>
            <a:fillRect/>
          </a:stretch>
        </p:blipFill>
        <p:spPr>
          <a:xfrm>
            <a:off x="1893570" y="1614170"/>
            <a:ext cx="6168390" cy="2609215"/>
          </a:xfrm>
          <a:prstGeom prst="rect">
            <a:avLst/>
          </a:prstGeom>
          <a:noFill/>
          <a:ln>
            <a:noFill/>
          </a:ln>
        </p:spPr>
      </p:pic>
      <p:sp>
        <p:nvSpPr>
          <p:cNvPr id="514056" name="矩形 514055"/>
          <p:cNvSpPr/>
          <p:nvPr/>
        </p:nvSpPr>
        <p:spPr>
          <a:xfrm>
            <a:off x="576580" y="4263390"/>
            <a:ext cx="2974975" cy="460375"/>
          </a:xfrm>
          <a:prstGeom prst="rect">
            <a:avLst/>
          </a:prstGeom>
          <a:noFill/>
          <a:ln w="38100">
            <a:noFill/>
          </a:ln>
        </p:spPr>
        <p:txBody>
          <a:bodyPr wrap="square" anchor="t">
            <a:spAutoFit/>
          </a:bodyPr>
          <a:p>
            <a:pPr>
              <a:spcBef>
                <a:spcPct val="50000"/>
              </a:spcBef>
            </a:pPr>
            <a:r>
              <a:rPr lang="en-US" altLang="zh-CN" sz="2400" b="1" dirty="0">
                <a:solidFill>
                  <a:srgbClr val="000066"/>
                </a:solidFill>
                <a:latin typeface="Times New Roman" panose="02020603050405020304" charset="0"/>
                <a:ea typeface="楷体_GB2312" pitchFamily="49" charset="-122"/>
              </a:rPr>
              <a:t> ①</a:t>
            </a:r>
            <a:r>
              <a:rPr lang="en-US" altLang="zh-CN" sz="2400" b="1" i="1" dirty="0">
                <a:solidFill>
                  <a:srgbClr val="000066"/>
                </a:solidFill>
                <a:latin typeface="Times New Roman" panose="02020603050405020304" charset="0"/>
                <a:ea typeface="楷体_GB2312" pitchFamily="49" charset="-122"/>
              </a:rPr>
              <a:t>CP</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时</a:t>
            </a:r>
            <a:r>
              <a:rPr lang="zh-CN" altLang="en-US" sz="2400" b="1">
                <a:solidFill>
                  <a:srgbClr val="000066"/>
                </a:solidFill>
                <a:latin typeface="Times New Roman" panose="02020603050405020304" charset="0"/>
                <a:ea typeface="楷体_GB2312" pitchFamily="49" charset="-122"/>
              </a:rPr>
              <a:t>，    </a:t>
            </a:r>
            <a:r>
              <a:rPr lang="en-US" altLang="zh-CN" sz="2400" b="1">
                <a:solidFill>
                  <a:srgbClr val="000066"/>
                </a:solidFill>
                <a:latin typeface="Times New Roman" panose="02020603050405020304" charset="0"/>
                <a:ea typeface="楷体_GB2312" pitchFamily="49" charset="-122"/>
              </a:rPr>
              <a:t>=0</a:t>
            </a:r>
            <a:endParaRPr lang="en-US" altLang="zh-CN" sz="2400" b="1">
              <a:solidFill>
                <a:srgbClr val="000066"/>
              </a:solidFill>
              <a:latin typeface="Times New Roman" panose="02020603050405020304" charset="0"/>
              <a:ea typeface="楷体_GB2312" pitchFamily="49" charset="-122"/>
            </a:endParaRPr>
          </a:p>
        </p:txBody>
      </p:sp>
      <p:pic>
        <p:nvPicPr>
          <p:cNvPr id="2" name="对象 1674"/>
          <p:cNvPicPr>
            <a:picLocks noChangeAspect="1"/>
          </p:cNvPicPr>
          <p:nvPr/>
        </p:nvPicPr>
        <p:blipFill>
          <a:blip r:embed="rId2"/>
          <a:stretch>
            <a:fillRect/>
          </a:stretch>
        </p:blipFill>
        <p:spPr>
          <a:xfrm>
            <a:off x="2207895" y="4263390"/>
            <a:ext cx="450850" cy="424815"/>
          </a:xfrm>
          <a:prstGeom prst="rect">
            <a:avLst/>
          </a:prstGeom>
          <a:noFill/>
          <a:ln w="9525">
            <a:noFill/>
          </a:ln>
        </p:spPr>
      </p:pic>
      <p:sp>
        <p:nvSpPr>
          <p:cNvPr id="514054" name="文本框 514053"/>
          <p:cNvSpPr txBox="1"/>
          <p:nvPr/>
        </p:nvSpPr>
        <p:spPr>
          <a:xfrm>
            <a:off x="576263" y="4873625"/>
            <a:ext cx="8018462" cy="460375"/>
          </a:xfrm>
          <a:prstGeom prst="rect">
            <a:avLst/>
          </a:prstGeom>
          <a:noFill/>
          <a:ln w="38100">
            <a:noFill/>
          </a:ln>
        </p:spPr>
        <p:txBody>
          <a:bodyPr>
            <a:spAutoFit/>
          </a:bodyPr>
          <a:p>
            <a:pPr algn="l">
              <a:spcBef>
                <a:spcPct val="50000"/>
              </a:spcBef>
            </a:pPr>
            <a:r>
              <a:rPr lang="en-US" altLang="zh-CN" sz="2400" b="1">
                <a:solidFill>
                  <a:srgbClr val="000066"/>
                </a:solidFill>
                <a:latin typeface="Times New Roman" panose="02020603050405020304" charset="0"/>
                <a:ea typeface="楷体_GB2312" pitchFamily="49" charset="-122"/>
              </a:rPr>
              <a:t>TG</a:t>
            </a:r>
            <a:r>
              <a:rPr lang="en-US" altLang="zh-CN" sz="2400" b="1" baseline="-3000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导通，</a:t>
            </a:r>
            <a:r>
              <a:rPr lang="en-US" altLang="zh-CN" sz="2400" b="1">
                <a:solidFill>
                  <a:srgbClr val="000066"/>
                </a:solidFill>
                <a:latin typeface="Times New Roman" panose="02020603050405020304" charset="0"/>
                <a:ea typeface="楷体_GB2312" pitchFamily="49" charset="-122"/>
              </a:rPr>
              <a:t>TG</a:t>
            </a:r>
            <a:r>
              <a:rPr lang="en-US" altLang="zh-CN" sz="2400" b="1" baseline="-30000">
                <a:solidFill>
                  <a:srgbClr val="000066"/>
                </a:solidFill>
                <a:latin typeface="Times New Roman" panose="02020603050405020304" charset="0"/>
                <a:ea typeface="楷体_GB2312" pitchFamily="49" charset="-122"/>
              </a:rPr>
              <a:t>2</a:t>
            </a:r>
            <a:r>
              <a:rPr lang="zh-CN" altLang="en-US" sz="2400" b="1" dirty="0">
                <a:solidFill>
                  <a:srgbClr val="000066"/>
                </a:solidFill>
                <a:latin typeface="Times New Roman" panose="02020603050405020304" charset="0"/>
                <a:ea typeface="楷体_GB2312" pitchFamily="49" charset="-122"/>
              </a:rPr>
              <a:t>断开</a:t>
            </a:r>
            <a:r>
              <a:rPr lang="en-US" altLang="zh-CN" sz="2400" b="1">
                <a:solidFill>
                  <a:srgbClr val="000066"/>
                </a:solidFill>
                <a:latin typeface="Times New Roman" panose="02020603050405020304" charset="0"/>
                <a:ea typeface="楷体_GB2312" pitchFamily="49" charset="-122"/>
              </a:rPr>
              <a:t>——</a:t>
            </a:r>
            <a:r>
              <a:rPr lang="zh-CN" altLang="en-US" sz="2400" b="1" dirty="0">
                <a:solidFill>
                  <a:srgbClr val="000066"/>
                </a:solidFill>
                <a:latin typeface="Times New Roman" panose="02020603050405020304" charset="0"/>
                <a:ea typeface="楷体_GB2312" pitchFamily="49" charset="-122"/>
              </a:rPr>
              <a:t>输入信号</a:t>
            </a:r>
            <a:r>
              <a:rPr lang="en-US" altLang="zh-CN" sz="2400" b="1" i="1">
                <a:solidFill>
                  <a:srgbClr val="000066"/>
                </a:solidFill>
                <a:latin typeface="Times New Roman" panose="02020603050405020304" charset="0"/>
                <a:ea typeface="楷体_GB2312" pitchFamily="49" charset="-122"/>
              </a:rPr>
              <a:t>D </a:t>
            </a:r>
            <a:r>
              <a:rPr lang="zh-CN" altLang="en-US" sz="2400" b="1" dirty="0">
                <a:solidFill>
                  <a:srgbClr val="000066"/>
                </a:solidFill>
                <a:latin typeface="Times New Roman" panose="02020603050405020304" charset="0"/>
                <a:ea typeface="楷体_GB2312" pitchFamily="49" charset="-122"/>
              </a:rPr>
              <a:t>送入</a:t>
            </a:r>
            <a:r>
              <a:rPr lang="zh-CN" altLang="en-US" sz="2400" b="1" dirty="0">
                <a:solidFill>
                  <a:srgbClr val="000066"/>
                </a:solidFill>
                <a:latin typeface="Tahoma" panose="020B0604030504040204" pitchFamily="34" charset="0"/>
                <a:ea typeface="楷体_GB2312" pitchFamily="49" charset="-122"/>
                <a:sym typeface="+mn-ea"/>
              </a:rPr>
              <a:t>第一级</a:t>
            </a:r>
            <a:r>
              <a:rPr lang="zh-CN" altLang="en-US" sz="2400" b="1" dirty="0">
                <a:solidFill>
                  <a:srgbClr val="000066"/>
                </a:solidFill>
                <a:latin typeface="Times New Roman" panose="02020603050405020304" charset="0"/>
                <a:ea typeface="楷体_GB2312" pitchFamily="49" charset="-122"/>
              </a:rPr>
              <a:t>。</a:t>
            </a:r>
            <a:endParaRPr lang="zh-CN" altLang="en-US" sz="2400" b="1">
              <a:solidFill>
                <a:srgbClr val="000066"/>
              </a:solidFill>
              <a:latin typeface="Times New Roman" panose="02020603050405020304" charset="0"/>
              <a:ea typeface="楷体_GB2312" pitchFamily="49" charset="-122"/>
            </a:endParaRPr>
          </a:p>
        </p:txBody>
      </p:sp>
      <p:sp>
        <p:nvSpPr>
          <p:cNvPr id="514055" name="文本框 514054"/>
          <p:cNvSpPr txBox="1"/>
          <p:nvPr/>
        </p:nvSpPr>
        <p:spPr>
          <a:xfrm>
            <a:off x="539750" y="5856288"/>
            <a:ext cx="8307388" cy="460375"/>
          </a:xfrm>
          <a:prstGeom prst="rect">
            <a:avLst/>
          </a:prstGeom>
          <a:noFill/>
          <a:ln w="38100">
            <a:noFill/>
          </a:ln>
        </p:spPr>
        <p:txBody>
          <a:bodyPr>
            <a:spAutoFit/>
          </a:bodyPr>
          <a:p>
            <a:pPr algn="l">
              <a:spcBef>
                <a:spcPct val="50000"/>
              </a:spcBef>
            </a:pPr>
            <a:r>
              <a:rPr lang="en-US" altLang="zh-CN" sz="2400" b="1">
                <a:solidFill>
                  <a:srgbClr val="000066"/>
                </a:solidFill>
                <a:latin typeface="Times New Roman" panose="02020603050405020304" charset="0"/>
                <a:ea typeface="楷体_GB2312" pitchFamily="49" charset="-122"/>
              </a:rPr>
              <a:t>TG</a:t>
            </a:r>
            <a:r>
              <a:rPr lang="en-US" altLang="zh-CN" sz="2400" b="1" baseline="-30000">
                <a:solidFill>
                  <a:srgbClr val="000066"/>
                </a:solidFill>
                <a:latin typeface="Times New Roman" panose="02020603050405020304" charset="0"/>
                <a:ea typeface="楷体_GB2312" pitchFamily="49" charset="-122"/>
              </a:rPr>
              <a:t>3</a:t>
            </a:r>
            <a:r>
              <a:rPr lang="zh-CN" altLang="en-US" sz="2400" b="1" dirty="0">
                <a:solidFill>
                  <a:srgbClr val="000066"/>
                </a:solidFill>
                <a:latin typeface="Times New Roman" panose="02020603050405020304" charset="0"/>
                <a:ea typeface="楷体_GB2312" pitchFamily="49" charset="-122"/>
              </a:rPr>
              <a:t>断开，</a:t>
            </a:r>
            <a:r>
              <a:rPr lang="en-US" altLang="zh-CN" sz="2400" b="1">
                <a:solidFill>
                  <a:srgbClr val="000066"/>
                </a:solidFill>
                <a:latin typeface="Times New Roman" panose="02020603050405020304" charset="0"/>
                <a:ea typeface="楷体_GB2312" pitchFamily="49" charset="-122"/>
              </a:rPr>
              <a:t>TG</a:t>
            </a:r>
            <a:r>
              <a:rPr lang="en-US" altLang="zh-CN" sz="2400" b="1" baseline="-30000">
                <a:solidFill>
                  <a:srgbClr val="000066"/>
                </a:solidFill>
                <a:latin typeface="Times New Roman" panose="02020603050405020304" charset="0"/>
                <a:ea typeface="楷体_GB2312" pitchFamily="49" charset="-122"/>
              </a:rPr>
              <a:t>4</a:t>
            </a:r>
            <a:r>
              <a:rPr lang="zh-CN" altLang="en-US" sz="2400" b="1" dirty="0">
                <a:solidFill>
                  <a:srgbClr val="000066"/>
                </a:solidFill>
                <a:latin typeface="Times New Roman" panose="02020603050405020304" charset="0"/>
                <a:ea typeface="楷体_GB2312" pitchFamily="49" charset="-122"/>
              </a:rPr>
              <a:t>导通</a:t>
            </a:r>
            <a:r>
              <a:rPr lang="en-US" altLang="zh-CN" sz="2400" b="1">
                <a:solidFill>
                  <a:srgbClr val="000066"/>
                </a:solidFill>
                <a:latin typeface="Times New Roman" panose="02020603050405020304" charset="0"/>
                <a:ea typeface="楷体_GB2312" pitchFamily="49" charset="-122"/>
              </a:rPr>
              <a:t>——</a:t>
            </a:r>
            <a:r>
              <a:rPr lang="zh-CN" altLang="en-US" sz="2400" b="1" dirty="0">
                <a:solidFill>
                  <a:srgbClr val="000066"/>
                </a:solidFill>
                <a:latin typeface="Tahoma" panose="020B0604030504040204" pitchFamily="34" charset="0"/>
                <a:ea typeface="楷体_GB2312" pitchFamily="49" charset="-122"/>
                <a:sym typeface="+mn-ea"/>
              </a:rPr>
              <a:t>第二级</a:t>
            </a:r>
            <a:r>
              <a:rPr lang="zh-CN" altLang="en-US" sz="2400" b="1" dirty="0">
                <a:solidFill>
                  <a:srgbClr val="000066"/>
                </a:solidFill>
                <a:latin typeface="Times New Roman" panose="02020603050405020304" charset="0"/>
                <a:ea typeface="楷体_GB2312" pitchFamily="49" charset="-122"/>
              </a:rPr>
              <a:t>维持在原来的状态不变。 </a:t>
            </a:r>
            <a:endParaRPr lang="zh-CN" altLang="en-US" sz="2400" b="1">
              <a:solidFill>
                <a:srgbClr val="000066"/>
              </a:solidFill>
              <a:latin typeface="Times New Roman" panose="02020603050405020304" charset="0"/>
              <a:ea typeface="楷体_GB2312" pitchFamily="49" charset="-122"/>
            </a:endParaRPr>
          </a:p>
        </p:txBody>
      </p:sp>
      <p:sp>
        <p:nvSpPr>
          <p:cNvPr id="514061" name="矩形 514060"/>
          <p:cNvSpPr/>
          <p:nvPr/>
        </p:nvSpPr>
        <p:spPr>
          <a:xfrm>
            <a:off x="3770313" y="5351463"/>
            <a:ext cx="5148262" cy="460375"/>
          </a:xfrm>
          <a:prstGeom prst="rect">
            <a:avLst/>
          </a:prstGeom>
          <a:noFill/>
          <a:ln w="9525">
            <a:noFill/>
          </a:ln>
        </p:spPr>
        <p:txBody>
          <a:bodyPr anchor="ctr">
            <a:spAutoFit/>
          </a:bodyPr>
          <a:p>
            <a:pPr algn="l"/>
            <a:r>
              <a:rPr lang="en-US" altLang="zh-CN" sz="2400" b="1" i="1">
                <a:solidFill>
                  <a:srgbClr val="000066"/>
                </a:solidFill>
                <a:latin typeface="Times New Roman" panose="02020603050405020304" charset="0"/>
                <a:ea typeface="楷体_GB2312" pitchFamily="49" charset="-122"/>
              </a:rPr>
              <a:t>Q</a:t>
            </a:r>
            <a:r>
              <a:rPr lang="en-US" altLang="zh-CN" sz="2400" b="1">
                <a:solidFill>
                  <a:srgbClr val="000066"/>
                </a:solidFill>
                <a:latin typeface="Times New Roman" panose="02020603050405020304" charset="0"/>
                <a:ea typeface="楷体_GB2312" pitchFamily="49" charset="-122"/>
                <a:sym typeface="Symbol" panose="05050102010706020507" pitchFamily="18" charset="2"/>
              </a:rPr>
              <a:t></a:t>
            </a:r>
            <a:r>
              <a:rPr lang="zh-CN" altLang="en-US" sz="2400" b="1" dirty="0">
                <a:solidFill>
                  <a:srgbClr val="000066"/>
                </a:solidFill>
                <a:latin typeface="Times New Roman" panose="02020603050405020304" charset="0"/>
                <a:ea typeface="楷体_GB2312" pitchFamily="49" charset="-122"/>
              </a:rPr>
              <a:t>跟随</a:t>
            </a:r>
            <a:r>
              <a:rPr lang="en-US" altLang="zh-CN" sz="2400" b="1" i="1">
                <a:solidFill>
                  <a:srgbClr val="000066"/>
                </a:solidFill>
                <a:latin typeface="Times New Roman" panose="02020603050405020304" charset="0"/>
                <a:ea typeface="楷体_GB2312" pitchFamily="49" charset="-122"/>
                <a:sym typeface="Symbol" panose="05050102010706020507" pitchFamily="18" charset="2"/>
              </a:rPr>
              <a:t>D</a:t>
            </a:r>
            <a:r>
              <a:rPr lang="zh-CN" altLang="en-US" sz="2400" b="1" dirty="0">
                <a:solidFill>
                  <a:srgbClr val="000066"/>
                </a:solidFill>
                <a:latin typeface="Times New Roman" panose="02020603050405020304" charset="0"/>
                <a:ea typeface="楷体_GB2312" pitchFamily="49" charset="-122"/>
                <a:sym typeface="Symbol" panose="05050102010706020507" pitchFamily="18" charset="2"/>
              </a:rPr>
              <a:t>端的状态变化，使</a:t>
            </a:r>
            <a:r>
              <a:rPr lang="en-US" altLang="zh-CN" sz="2400" b="1" i="1">
                <a:solidFill>
                  <a:srgbClr val="000066"/>
                </a:solidFill>
                <a:latin typeface="Times New Roman" panose="02020603050405020304" charset="0"/>
                <a:ea typeface="楷体_GB2312" pitchFamily="49" charset="-122"/>
                <a:sym typeface="Symbol" panose="05050102010706020507" pitchFamily="18" charset="2"/>
              </a:rPr>
              <a:t>Q</a:t>
            </a:r>
            <a:r>
              <a:rPr lang="en-US" altLang="zh-CN" sz="2400" b="1">
                <a:solidFill>
                  <a:srgbClr val="000066"/>
                </a:solidFill>
                <a:latin typeface="Times New Roman" panose="02020603050405020304" charset="0"/>
                <a:ea typeface="楷体_GB2312" pitchFamily="49" charset="-122"/>
                <a:sym typeface="Symbol" panose="05050102010706020507" pitchFamily="18" charset="2"/>
              </a:rPr>
              <a:t></a:t>
            </a:r>
            <a:r>
              <a:rPr lang="en-US" altLang="zh-CN" sz="2400" b="1">
                <a:solidFill>
                  <a:srgbClr val="000066"/>
                </a:solidFill>
                <a:latin typeface="Times New Roman" panose="02020603050405020304" charset="0"/>
                <a:ea typeface="楷体_GB2312" pitchFamily="49" charset="-122"/>
              </a:rPr>
              <a:t>=</a:t>
            </a:r>
            <a:r>
              <a:rPr lang="en-US" altLang="zh-CN" sz="2400" b="1" i="1">
                <a:solidFill>
                  <a:srgbClr val="000066"/>
                </a:solidFill>
                <a:latin typeface="Times New Roman" panose="02020603050405020304" charset="0"/>
                <a:ea typeface="楷体_GB2312" pitchFamily="49" charset="-122"/>
                <a:sym typeface="Symbol" panose="05050102010706020507" pitchFamily="18" charset="2"/>
              </a:rPr>
              <a:t>D</a:t>
            </a:r>
            <a:r>
              <a:rPr lang="zh-CN" altLang="en-US" sz="2400" b="1" dirty="0">
                <a:solidFill>
                  <a:srgbClr val="000066"/>
                </a:solidFill>
                <a:latin typeface="Times New Roman" panose="02020603050405020304" charset="0"/>
                <a:ea typeface="楷体_GB2312" pitchFamily="49" charset="-122"/>
                <a:sym typeface="Symbol" panose="05050102010706020507" pitchFamily="18" charset="2"/>
              </a:rPr>
              <a:t>。</a:t>
            </a:r>
            <a:r>
              <a:rPr lang="zh-CN" altLang="en-US" sz="1100" b="1" dirty="0">
                <a:solidFill>
                  <a:srgbClr val="000066"/>
                </a:solidFill>
                <a:latin typeface="Tahoma" panose="020B0604030504040204" pitchFamily="34" charset="0"/>
                <a:ea typeface="楷体_GB2312" pitchFamily="49" charset="-122"/>
                <a:sym typeface="Symbol" panose="05050102010706020507" pitchFamily="18" charset="2"/>
              </a:rPr>
              <a:t> </a:t>
            </a:r>
            <a:endParaRPr lang="zh-CN" altLang="en-US" sz="1000" b="1" dirty="0">
              <a:solidFill>
                <a:srgbClr val="000066"/>
              </a:solidFill>
              <a:latin typeface="Times New Roman" panose="02020603050405020304" charset="0"/>
              <a:ea typeface="楷体_GB2312" pitchFamily="49" charset="-122"/>
              <a:sym typeface="Symbol" panose="05050102010706020507" pitchFamily="18" charset="2"/>
            </a:endParaRPr>
          </a:p>
        </p:txBody>
      </p:sp>
      <p:sp>
        <p:nvSpPr>
          <p:cNvPr id="514064" name="圆角矩形 514063"/>
          <p:cNvSpPr/>
          <p:nvPr/>
        </p:nvSpPr>
        <p:spPr>
          <a:xfrm>
            <a:off x="3383915" y="3117215"/>
            <a:ext cx="883920" cy="695325"/>
          </a:xfrm>
          <a:prstGeom prst="roundRect">
            <a:avLst>
              <a:gd name="adj" fmla="val 16667"/>
            </a:avLst>
          </a:prstGeom>
          <a:noFill/>
          <a:ln w="28575" cap="flat" cmpd="sng">
            <a:solidFill>
              <a:srgbClr val="FF0066"/>
            </a:solidFill>
            <a:prstDash val="dash"/>
            <a:headEnd type="none" w="med" len="med"/>
            <a:tailEnd type="none" w="med" len="med"/>
          </a:ln>
        </p:spPr>
        <p:txBody>
          <a:bodyPr/>
          <a:p>
            <a:endParaRPr lang="zh-CN" altLang="en-US"/>
          </a:p>
        </p:txBody>
      </p:sp>
      <p:sp>
        <p:nvSpPr>
          <p:cNvPr id="514065" name="圆角矩形 514064"/>
          <p:cNvSpPr/>
          <p:nvPr/>
        </p:nvSpPr>
        <p:spPr>
          <a:xfrm>
            <a:off x="6552565" y="3117215"/>
            <a:ext cx="844550" cy="695325"/>
          </a:xfrm>
          <a:prstGeom prst="roundRect">
            <a:avLst>
              <a:gd name="adj" fmla="val 16667"/>
            </a:avLst>
          </a:prstGeom>
          <a:noFill/>
          <a:ln w="28575" cap="flat" cmpd="sng">
            <a:solidFill>
              <a:srgbClr val="33CC33"/>
            </a:solidFill>
            <a:prstDash val="dash"/>
            <a:headEnd type="none" w="med" len="med"/>
            <a:tailEnd type="none" w="med" len="med"/>
          </a:ln>
        </p:spPr>
        <p:txBody>
          <a:bodyPr/>
          <a:p>
            <a:endParaRPr lang="zh-CN" altLang="en-US"/>
          </a:p>
        </p:txBody>
      </p:sp>
      <p:sp>
        <p:nvSpPr>
          <p:cNvPr id="514066" name="圆角矩形 514065"/>
          <p:cNvSpPr/>
          <p:nvPr/>
        </p:nvSpPr>
        <p:spPr>
          <a:xfrm>
            <a:off x="2207895" y="2094865"/>
            <a:ext cx="784225" cy="666750"/>
          </a:xfrm>
          <a:prstGeom prst="roundRect">
            <a:avLst>
              <a:gd name="adj" fmla="val 16667"/>
            </a:avLst>
          </a:prstGeom>
          <a:noFill/>
          <a:ln w="28575" cap="flat" cmpd="sng">
            <a:solidFill>
              <a:srgbClr val="33CC33"/>
            </a:solidFill>
            <a:prstDash val="dash"/>
            <a:headEnd type="none" w="med" len="med"/>
            <a:tailEnd type="none" w="med" len="med"/>
          </a:ln>
        </p:spPr>
        <p:txBody>
          <a:bodyPr/>
          <a:p>
            <a:endParaRPr lang="zh-CN" altLang="en-US"/>
          </a:p>
        </p:txBody>
      </p:sp>
      <p:sp>
        <p:nvSpPr>
          <p:cNvPr id="514067" name="圆角矩形 514066"/>
          <p:cNvSpPr/>
          <p:nvPr/>
        </p:nvSpPr>
        <p:spPr>
          <a:xfrm>
            <a:off x="5320665" y="2094865"/>
            <a:ext cx="791845" cy="644525"/>
          </a:xfrm>
          <a:prstGeom prst="roundRect">
            <a:avLst>
              <a:gd name="adj" fmla="val 16667"/>
            </a:avLst>
          </a:prstGeom>
          <a:noFill/>
          <a:ln w="28575" cap="flat" cmpd="sng">
            <a:solidFill>
              <a:srgbClr val="FF0066"/>
            </a:solidFill>
            <a:prstDash val="dash"/>
            <a:headEnd type="none" w="med" len="med"/>
            <a:tailEnd type="none" w="med" len="med"/>
          </a:ln>
        </p:spPr>
        <p:txBody>
          <a:bodyPr/>
          <a:p>
            <a:endParaRPr lang="zh-CN" altLang="en-US"/>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14054"/>
                                        </p:tgtEl>
                                        <p:attrNameLst>
                                          <p:attrName>style.visibility</p:attrName>
                                        </p:attrNameLst>
                                      </p:cBhvr>
                                      <p:to>
                                        <p:strVal val="visible"/>
                                      </p:to>
                                    </p:set>
                                    <p:animEffect transition="in" filter="strips(downRight)">
                                      <p:cBhvr>
                                        <p:cTn id="7" dur="500"/>
                                        <p:tgtEl>
                                          <p:spTgt spid="514054"/>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514061"/>
                                        </p:tgtEl>
                                        <p:attrNameLst>
                                          <p:attrName>style.visibility</p:attrName>
                                        </p:attrNameLst>
                                      </p:cBhvr>
                                      <p:to>
                                        <p:strVal val="visible"/>
                                      </p:to>
                                    </p:set>
                                    <p:animEffect transition="in" filter="strips(downRight)">
                                      <p:cBhvr>
                                        <p:cTn id="10" dur="500"/>
                                        <p:tgtEl>
                                          <p:spTgt spid="514061"/>
                                        </p:tgtEl>
                                      </p:cBhvr>
                                    </p:animEffect>
                                  </p:childTnLst>
                                </p:cTn>
                              </p:par>
                            </p:childTnLst>
                          </p:cTn>
                        </p:par>
                        <p:par>
                          <p:cTn id="11" fill="hold">
                            <p:stCondLst>
                              <p:cond delay="500"/>
                            </p:stCondLst>
                            <p:childTnLst>
                              <p:par>
                                <p:cTn id="12" presetID="1" presetClass="entr" presetSubtype="0" fill="hold" grpId="0" nodeType="afterEffect">
                                  <p:stCondLst>
                                    <p:cond delay="500"/>
                                  </p:stCondLst>
                                  <p:childTnLst>
                                    <p:set>
                                      <p:cBhvr>
                                        <p:cTn id="13" dur="1" fill="hold">
                                          <p:stCondLst>
                                            <p:cond delay="0"/>
                                          </p:stCondLst>
                                        </p:cTn>
                                        <p:tgtEl>
                                          <p:spTgt spid="514066"/>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500"/>
                                  </p:stCondLst>
                                  <p:childTnLst>
                                    <p:set>
                                      <p:cBhvr>
                                        <p:cTn id="16" dur="1" fill="hold">
                                          <p:stCondLst>
                                            <p:cond delay="0"/>
                                          </p:stCondLst>
                                        </p:cTn>
                                        <p:tgtEl>
                                          <p:spTgt spid="5140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514055">
                                            <p:txEl>
                                              <p:charRg st="0" end="30"/>
                                            </p:txEl>
                                          </p:spTgt>
                                        </p:tgtEl>
                                        <p:attrNameLst>
                                          <p:attrName>style.visibility</p:attrName>
                                        </p:attrNameLst>
                                      </p:cBhvr>
                                      <p:to>
                                        <p:strVal val="visible"/>
                                      </p:to>
                                    </p:set>
                                    <p:animEffect transition="in" filter="strips(downRight)">
                                      <p:cBhvr>
                                        <p:cTn id="21" dur="500"/>
                                        <p:tgtEl>
                                          <p:spTgt spid="514055">
                                            <p:txEl>
                                              <p:charRg st="0" end="30"/>
                                            </p:txEl>
                                          </p:spTgt>
                                        </p:tgtEl>
                                      </p:cBhvr>
                                    </p:animEffect>
                                  </p:childTnLst>
                                </p:cTn>
                              </p:par>
                            </p:childTnLst>
                          </p:cTn>
                        </p:par>
                        <p:par>
                          <p:cTn id="22" fill="hold">
                            <p:stCondLst>
                              <p:cond delay="500"/>
                            </p:stCondLst>
                            <p:childTnLst>
                              <p:par>
                                <p:cTn id="23" presetID="1" presetClass="entr" presetSubtype="0" fill="hold" grpId="0" nodeType="afterEffect">
                                  <p:stCondLst>
                                    <p:cond delay="500"/>
                                  </p:stCondLst>
                                  <p:childTnLst>
                                    <p:set>
                                      <p:cBhvr>
                                        <p:cTn id="24" dur="1" fill="hold">
                                          <p:stCondLst>
                                            <p:cond delay="0"/>
                                          </p:stCondLst>
                                        </p:cTn>
                                        <p:tgtEl>
                                          <p:spTgt spid="514067"/>
                                        </p:tgtEl>
                                        <p:attrNameLst>
                                          <p:attrName>style.visibility</p:attrName>
                                        </p:attrNameLst>
                                      </p:cBhvr>
                                      <p:to>
                                        <p:strVal val="visible"/>
                                      </p:to>
                                    </p:set>
                                  </p:childTnLst>
                                </p:cTn>
                              </p:par>
                            </p:childTnLst>
                          </p:cTn>
                        </p:par>
                        <p:par>
                          <p:cTn id="25" fill="hold">
                            <p:stCondLst>
                              <p:cond delay="1000"/>
                            </p:stCondLst>
                            <p:childTnLst>
                              <p:par>
                                <p:cTn id="26" presetID="1" presetClass="entr" presetSubtype="0" fill="hold" grpId="0" nodeType="afterEffect">
                                  <p:stCondLst>
                                    <p:cond delay="500"/>
                                  </p:stCondLst>
                                  <p:childTnLst>
                                    <p:set>
                                      <p:cBhvr>
                                        <p:cTn id="27" dur="1" fill="hold">
                                          <p:stCondLst>
                                            <p:cond delay="0"/>
                                          </p:stCondLst>
                                        </p:cTn>
                                        <p:tgtEl>
                                          <p:spTgt spid="5140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4" grpId="0"/>
      <p:bldP spid="514061" grpId="0"/>
      <p:bldP spid="514066" grpId="0" animBg="1"/>
      <p:bldP spid="514064" grpId="0" animBg="1"/>
      <p:bldP spid="514067" grpId="0" animBg="1"/>
      <p:bldP spid="51406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935990" y="1222375"/>
            <a:ext cx="2540000" cy="460375"/>
          </a:xfrm>
          <a:prstGeom prst="rect">
            <a:avLst/>
          </a:prstGeom>
          <a:noFill/>
        </p:spPr>
        <p:txBody>
          <a:bodyPr wrap="square" rtlCol="0" anchor="t">
            <a:spAutoFit/>
          </a:bodyPr>
          <a:p>
            <a:r>
              <a:rPr lang="zh-CN" altLang="en-US" sz="2400" b="1">
                <a:latin typeface="Times New Roman" panose="02020603050405020304" charset="0"/>
                <a:cs typeface="Times New Roman" panose="02020603050405020304" charset="0"/>
              </a:rPr>
              <a:t>(２) </a:t>
            </a:r>
            <a:r>
              <a:rPr lang="zh-CN" altLang="en-US" sz="2400" b="1"/>
              <a:t>逻辑功能</a:t>
            </a:r>
            <a:endParaRPr lang="zh-CN" altLang="en-US" sz="2400" b="1"/>
          </a:p>
        </p:txBody>
      </p:sp>
      <p:pic>
        <p:nvPicPr>
          <p:cNvPr id="9351" name="图片 2788"/>
          <p:cNvPicPr>
            <a:picLocks noChangeAspect="1"/>
          </p:cNvPicPr>
          <p:nvPr/>
        </p:nvPicPr>
        <p:blipFill>
          <a:blip r:embed="rId1"/>
          <a:srcRect r="22561" b="10895"/>
          <a:stretch>
            <a:fillRect/>
          </a:stretch>
        </p:blipFill>
        <p:spPr>
          <a:xfrm>
            <a:off x="1893570" y="1614170"/>
            <a:ext cx="6168390" cy="2609215"/>
          </a:xfrm>
          <a:prstGeom prst="rect">
            <a:avLst/>
          </a:prstGeom>
          <a:noFill/>
          <a:ln>
            <a:noFill/>
          </a:ln>
        </p:spPr>
      </p:pic>
      <p:pic>
        <p:nvPicPr>
          <p:cNvPr id="2" name="对象 1674"/>
          <p:cNvPicPr>
            <a:picLocks noChangeAspect="1"/>
          </p:cNvPicPr>
          <p:nvPr/>
        </p:nvPicPr>
        <p:blipFill>
          <a:blip r:embed="rId2"/>
          <a:stretch>
            <a:fillRect/>
          </a:stretch>
        </p:blipFill>
        <p:spPr>
          <a:xfrm>
            <a:off x="3025140" y="4096385"/>
            <a:ext cx="450850" cy="424815"/>
          </a:xfrm>
          <a:prstGeom prst="rect">
            <a:avLst/>
          </a:prstGeom>
          <a:noFill/>
          <a:ln w="9525">
            <a:noFill/>
          </a:ln>
        </p:spPr>
      </p:pic>
      <p:sp>
        <p:nvSpPr>
          <p:cNvPr id="514064" name="圆角矩形 514063"/>
          <p:cNvSpPr/>
          <p:nvPr/>
        </p:nvSpPr>
        <p:spPr>
          <a:xfrm>
            <a:off x="3383915" y="3117215"/>
            <a:ext cx="883920" cy="695325"/>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sp>
        <p:nvSpPr>
          <p:cNvPr id="514065" name="圆角矩形 514064"/>
          <p:cNvSpPr/>
          <p:nvPr/>
        </p:nvSpPr>
        <p:spPr>
          <a:xfrm>
            <a:off x="6552565" y="3117215"/>
            <a:ext cx="844550" cy="695325"/>
          </a:xfrm>
          <a:prstGeom prst="roundRect">
            <a:avLst>
              <a:gd name="adj" fmla="val 16667"/>
            </a:avLst>
          </a:prstGeom>
          <a:noFill/>
          <a:ln w="28575" cap="flat" cmpd="sng">
            <a:solidFill>
              <a:srgbClr val="FF0000"/>
            </a:solidFill>
            <a:prstDash val="dash"/>
            <a:headEnd type="none" w="med" len="med"/>
            <a:tailEnd type="none" w="med" len="med"/>
          </a:ln>
        </p:spPr>
        <p:txBody>
          <a:bodyPr/>
          <a:p>
            <a:endParaRPr lang="zh-CN" altLang="en-US"/>
          </a:p>
        </p:txBody>
      </p:sp>
      <p:sp>
        <p:nvSpPr>
          <p:cNvPr id="514066" name="圆角矩形 514065"/>
          <p:cNvSpPr/>
          <p:nvPr/>
        </p:nvSpPr>
        <p:spPr>
          <a:xfrm>
            <a:off x="2207895" y="2094865"/>
            <a:ext cx="784225" cy="666750"/>
          </a:xfrm>
          <a:prstGeom prst="roundRect">
            <a:avLst>
              <a:gd name="adj" fmla="val 16667"/>
            </a:avLst>
          </a:prstGeom>
          <a:noFill/>
          <a:ln w="28575" cap="flat" cmpd="sng">
            <a:solidFill>
              <a:srgbClr val="FF0000"/>
            </a:solidFill>
            <a:prstDash val="dash"/>
            <a:headEnd type="none" w="med" len="med"/>
            <a:tailEnd type="none" w="med" len="med"/>
          </a:ln>
        </p:spPr>
        <p:txBody>
          <a:bodyPr/>
          <a:p>
            <a:endParaRPr lang="zh-CN" altLang="en-US"/>
          </a:p>
        </p:txBody>
      </p:sp>
      <p:sp>
        <p:nvSpPr>
          <p:cNvPr id="514067" name="圆角矩形 514066"/>
          <p:cNvSpPr/>
          <p:nvPr/>
        </p:nvSpPr>
        <p:spPr>
          <a:xfrm>
            <a:off x="5320665" y="2094865"/>
            <a:ext cx="791845" cy="644525"/>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sp>
        <p:nvSpPr>
          <p:cNvPr id="515075" name="矩形 515074"/>
          <p:cNvSpPr/>
          <p:nvPr/>
        </p:nvSpPr>
        <p:spPr>
          <a:xfrm>
            <a:off x="539750" y="4121150"/>
            <a:ext cx="5109845" cy="460375"/>
          </a:xfrm>
          <a:prstGeom prst="rect">
            <a:avLst/>
          </a:prstGeom>
          <a:noFill/>
          <a:ln w="38100">
            <a:noFill/>
          </a:ln>
        </p:spPr>
        <p:txBody>
          <a:bodyPr wrap="square" anchor="t">
            <a:spAutoFit/>
          </a:bodyPr>
          <a:p>
            <a:pPr>
              <a:spcBef>
                <a:spcPct val="50000"/>
              </a:spcBef>
            </a:pPr>
            <a:r>
              <a:rPr lang="en-US" altLang="zh-CN" sz="2400" b="1">
                <a:solidFill>
                  <a:srgbClr val="000066"/>
                </a:solidFill>
                <a:latin typeface="Times New Roman" panose="02020603050405020304" charset="0"/>
                <a:ea typeface="楷体_GB2312" pitchFamily="49" charset="-122"/>
              </a:rPr>
              <a:t>② </a:t>
            </a:r>
            <a:r>
              <a:rPr lang="en-US" altLang="zh-CN" sz="2400" b="1" i="1">
                <a:solidFill>
                  <a:srgbClr val="000066"/>
                </a:solidFill>
                <a:latin typeface="Times New Roman" panose="02020603050405020304" charset="0"/>
                <a:ea typeface="楷体_GB2312" pitchFamily="49" charset="-122"/>
              </a:rPr>
              <a:t>CP</a:t>
            </a:r>
            <a:r>
              <a:rPr lang="zh-CN" altLang="en-US" sz="2400" b="1" dirty="0">
                <a:solidFill>
                  <a:srgbClr val="000066"/>
                </a:solidFill>
                <a:latin typeface="Tahoma" panose="020B0604030504040204" pitchFamily="34" charset="0"/>
                <a:ea typeface="楷体_GB2312" pitchFamily="49" charset="-122"/>
              </a:rPr>
              <a:t>由</a:t>
            </a:r>
            <a:r>
              <a:rPr lang="en-US" altLang="zh-CN" sz="2400" b="1" dirty="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跳变到</a:t>
            </a:r>
            <a:r>
              <a:rPr lang="en-US" altLang="zh-CN" sz="2400" b="1">
                <a:solidFill>
                  <a:srgbClr val="000066"/>
                </a:solidFill>
                <a:latin typeface="Times New Roman" panose="02020603050405020304" charset="0"/>
                <a:ea typeface="楷体_GB2312" pitchFamily="49" charset="-122"/>
              </a:rPr>
              <a:t>0</a:t>
            </a:r>
            <a:r>
              <a:rPr lang="zh-CN" altLang="en-US" sz="2400" b="1">
                <a:solidFill>
                  <a:srgbClr val="000066"/>
                </a:solidFill>
                <a:latin typeface="Times New Roman" panose="02020603050405020304" charset="0"/>
                <a:ea typeface="楷体_GB2312" pitchFamily="49" charset="-122"/>
              </a:rPr>
              <a:t>，   </a:t>
            </a:r>
            <a:r>
              <a:rPr lang="en-US" altLang="zh-CN" sz="2400" b="1">
                <a:solidFill>
                  <a:srgbClr val="000066"/>
                </a:solidFill>
                <a:latin typeface="Times New Roman" panose="02020603050405020304" charset="0"/>
                <a:ea typeface="楷体_GB2312" pitchFamily="49" charset="-122"/>
              </a:rPr>
              <a:t>=1</a:t>
            </a:r>
            <a:endParaRPr lang="en-US" altLang="zh-CN" sz="2400" b="1">
              <a:solidFill>
                <a:srgbClr val="000066"/>
              </a:solidFill>
              <a:latin typeface="Times New Roman" panose="02020603050405020304" charset="0"/>
              <a:ea typeface="楷体_GB2312" pitchFamily="49" charset="-122"/>
            </a:endParaRPr>
          </a:p>
        </p:txBody>
      </p:sp>
      <p:sp>
        <p:nvSpPr>
          <p:cNvPr id="515086" name="矩形 515085"/>
          <p:cNvSpPr/>
          <p:nvPr/>
        </p:nvSpPr>
        <p:spPr>
          <a:xfrm>
            <a:off x="901383" y="6026786"/>
            <a:ext cx="7219950" cy="460375"/>
          </a:xfrm>
          <a:prstGeom prst="rect">
            <a:avLst/>
          </a:prstGeom>
          <a:noFill/>
          <a:ln w="9525">
            <a:noFill/>
          </a:ln>
        </p:spPr>
        <p:txBody>
          <a:bodyPr wrap="none" anchor="ctr">
            <a:spAutoFit/>
          </a:bodyPr>
          <a:p>
            <a:pPr algn="l"/>
            <a:r>
              <a:rPr lang="zh-CN" altLang="en-US" sz="2400" b="1" dirty="0">
                <a:solidFill>
                  <a:srgbClr val="000066"/>
                </a:solidFill>
                <a:latin typeface="Times New Roman" panose="02020603050405020304" charset="0"/>
                <a:ea typeface="楷体_GB2312" pitchFamily="49" charset="-122"/>
              </a:rPr>
              <a:t>触发器的状态仅取决于</a:t>
            </a:r>
            <a:r>
              <a:rPr lang="en-US" altLang="zh-CN" sz="2400" b="1" i="1">
                <a:solidFill>
                  <a:srgbClr val="000066"/>
                </a:solidFill>
                <a:latin typeface="Times New Roman" panose="02020603050405020304" charset="0"/>
                <a:ea typeface="楷体_GB2312" pitchFamily="49" charset="-122"/>
              </a:rPr>
              <a:t>CP</a:t>
            </a:r>
            <a:r>
              <a:rPr lang="zh-CN" altLang="en-US" sz="2400" b="1" dirty="0">
                <a:solidFill>
                  <a:srgbClr val="000066"/>
                </a:solidFill>
                <a:latin typeface="Times New Roman" panose="02020603050405020304" charset="0"/>
                <a:ea typeface="楷体_GB2312" pitchFamily="49" charset="-122"/>
              </a:rPr>
              <a:t>下降沿到达前瞬间的</a:t>
            </a:r>
            <a:r>
              <a:rPr lang="en-US" altLang="zh-CN" sz="2400" b="1" i="1">
                <a:solidFill>
                  <a:srgbClr val="000066"/>
                </a:solidFill>
                <a:latin typeface="Times New Roman" panose="02020603050405020304" charset="0"/>
                <a:ea typeface="楷体_GB2312" pitchFamily="49" charset="-122"/>
              </a:rPr>
              <a:t>D</a:t>
            </a:r>
            <a:r>
              <a:rPr lang="zh-CN" altLang="en-US" sz="2400" b="1" dirty="0">
                <a:solidFill>
                  <a:srgbClr val="000066"/>
                </a:solidFill>
                <a:latin typeface="Times New Roman" panose="02020603050405020304" charset="0"/>
                <a:ea typeface="楷体_GB2312" pitchFamily="49" charset="-122"/>
              </a:rPr>
              <a:t>信号 </a:t>
            </a:r>
            <a:endParaRPr lang="zh-CN" altLang="en-US" sz="2400" b="1" dirty="0">
              <a:solidFill>
                <a:srgbClr val="000066"/>
              </a:solidFill>
              <a:latin typeface="Times New Roman" panose="02020603050405020304" charset="0"/>
              <a:ea typeface="楷体_GB2312" pitchFamily="49" charset="-122"/>
            </a:endParaRPr>
          </a:p>
        </p:txBody>
      </p:sp>
      <p:sp>
        <p:nvSpPr>
          <p:cNvPr id="515087" name="文本框 515086"/>
          <p:cNvSpPr txBox="1"/>
          <p:nvPr/>
        </p:nvSpPr>
        <p:spPr>
          <a:xfrm>
            <a:off x="912495" y="5457508"/>
            <a:ext cx="8307388" cy="460375"/>
          </a:xfrm>
          <a:prstGeom prst="rect">
            <a:avLst/>
          </a:prstGeom>
          <a:noFill/>
          <a:ln w="38100">
            <a:noFill/>
          </a:ln>
        </p:spPr>
        <p:txBody>
          <a:bodyPr>
            <a:spAutoFit/>
          </a:bodyPr>
          <a:p>
            <a:pPr algn="l">
              <a:spcBef>
                <a:spcPct val="50000"/>
              </a:spcBef>
            </a:pPr>
            <a:r>
              <a:rPr lang="en-US" altLang="zh-CN" sz="2400" b="1">
                <a:solidFill>
                  <a:srgbClr val="000066"/>
                </a:solidFill>
                <a:latin typeface="Times New Roman" panose="02020603050405020304" charset="0"/>
                <a:ea typeface="楷体_GB2312" pitchFamily="49" charset="-122"/>
              </a:rPr>
              <a:t>TG</a:t>
            </a:r>
            <a:r>
              <a:rPr lang="en-US" altLang="zh-CN" sz="2400" b="1" baseline="-30000">
                <a:solidFill>
                  <a:srgbClr val="000066"/>
                </a:solidFill>
                <a:latin typeface="Times New Roman" panose="02020603050405020304" charset="0"/>
                <a:ea typeface="楷体_GB2312" pitchFamily="49" charset="-122"/>
              </a:rPr>
              <a:t>3</a:t>
            </a:r>
            <a:r>
              <a:rPr lang="zh-CN" altLang="en-US" sz="2400" b="1" dirty="0">
                <a:solidFill>
                  <a:srgbClr val="000066"/>
                </a:solidFill>
                <a:latin typeface="Times New Roman" panose="02020603050405020304" charset="0"/>
                <a:ea typeface="楷体_GB2312" pitchFamily="49" charset="-122"/>
              </a:rPr>
              <a:t>导通，</a:t>
            </a:r>
            <a:r>
              <a:rPr lang="en-US" altLang="zh-CN" sz="2400" b="1">
                <a:solidFill>
                  <a:srgbClr val="000066"/>
                </a:solidFill>
                <a:latin typeface="Times New Roman" panose="02020603050405020304" charset="0"/>
                <a:ea typeface="楷体_GB2312" pitchFamily="49" charset="-122"/>
              </a:rPr>
              <a:t>TG</a:t>
            </a:r>
            <a:r>
              <a:rPr lang="en-US" altLang="zh-CN" sz="2400" b="1" baseline="-30000">
                <a:solidFill>
                  <a:srgbClr val="000066"/>
                </a:solidFill>
                <a:latin typeface="Times New Roman" panose="02020603050405020304" charset="0"/>
                <a:ea typeface="楷体_GB2312" pitchFamily="49" charset="-122"/>
              </a:rPr>
              <a:t>4</a:t>
            </a:r>
            <a:r>
              <a:rPr lang="zh-CN" altLang="en-US" sz="2400" b="1" dirty="0">
                <a:solidFill>
                  <a:srgbClr val="000066"/>
                </a:solidFill>
                <a:latin typeface="Times New Roman" panose="02020603050405020304" charset="0"/>
                <a:ea typeface="楷体_GB2312" pitchFamily="49" charset="-122"/>
              </a:rPr>
              <a:t>断开</a:t>
            </a:r>
            <a:r>
              <a:rPr lang="en-US" altLang="zh-CN" sz="2400" b="1">
                <a:solidFill>
                  <a:srgbClr val="000066"/>
                </a:solidFill>
                <a:latin typeface="Times New Roman" panose="02020603050405020304" charset="0"/>
                <a:ea typeface="楷体_GB2312" pitchFamily="49" charset="-122"/>
              </a:rPr>
              <a:t>——</a:t>
            </a:r>
            <a:r>
              <a:rPr lang="zh-CN" altLang="en-US" sz="2400" b="1" dirty="0">
                <a:solidFill>
                  <a:srgbClr val="000066"/>
                </a:solidFill>
                <a:latin typeface="Tahoma" panose="020B0604030504040204" pitchFamily="34" charset="0"/>
                <a:ea typeface="楷体_GB2312" pitchFamily="49" charset="-122"/>
                <a:sym typeface="+mn-ea"/>
              </a:rPr>
              <a:t>第一级的</a:t>
            </a:r>
            <a:r>
              <a:rPr lang="en-US" altLang="zh-CN" sz="2400" b="1" i="1">
                <a:solidFill>
                  <a:srgbClr val="000066"/>
                </a:solidFill>
                <a:latin typeface="Times New Roman" panose="02020603050405020304" charset="0"/>
                <a:ea typeface="楷体_GB2312" pitchFamily="49" charset="-122"/>
              </a:rPr>
              <a:t>Q</a:t>
            </a:r>
            <a:r>
              <a:rPr lang="en-US" altLang="zh-CN" sz="2400" b="1">
                <a:solidFill>
                  <a:srgbClr val="000066"/>
                </a:solidFill>
                <a:latin typeface="Times New Roman" panose="02020603050405020304" charset="0"/>
                <a:ea typeface="楷体_GB2312" pitchFamily="49" charset="-122"/>
                <a:sym typeface="Symbol" panose="05050102010706020507" pitchFamily="18" charset="2"/>
              </a:rPr>
              <a:t></a:t>
            </a:r>
            <a:r>
              <a:rPr lang="zh-CN" altLang="en-US" sz="2400" b="1" dirty="0">
                <a:solidFill>
                  <a:srgbClr val="000066"/>
                </a:solidFill>
                <a:latin typeface="Times New Roman" panose="02020603050405020304" charset="0"/>
                <a:ea typeface="楷体_GB2312" pitchFamily="49" charset="-122"/>
              </a:rPr>
              <a:t>信号送到</a:t>
            </a:r>
            <a:r>
              <a:rPr lang="zh-CN" altLang="en-US" sz="2400" b="1" dirty="0">
                <a:solidFill>
                  <a:srgbClr val="000066"/>
                </a:solidFill>
                <a:latin typeface="Tahoma" panose="020B0604030504040204" pitchFamily="34" charset="0"/>
                <a:ea typeface="楷体_GB2312" pitchFamily="49" charset="-122"/>
                <a:sym typeface="+mn-ea"/>
              </a:rPr>
              <a:t>第二级的</a:t>
            </a:r>
            <a:r>
              <a:rPr lang="en-US" altLang="zh-CN" sz="2400" b="1" i="1">
                <a:solidFill>
                  <a:srgbClr val="000066"/>
                </a:solidFill>
                <a:latin typeface="Times New Roman" panose="02020603050405020304" charset="0"/>
                <a:ea typeface="楷体_GB2312" pitchFamily="49" charset="-122"/>
              </a:rPr>
              <a:t>Q</a:t>
            </a:r>
            <a:r>
              <a:rPr lang="zh-CN" altLang="en-US" sz="2400" b="1" dirty="0">
                <a:solidFill>
                  <a:srgbClr val="000066"/>
                </a:solidFill>
                <a:latin typeface="Times New Roman" panose="02020603050405020304" charset="0"/>
                <a:ea typeface="楷体_GB2312" pitchFamily="49" charset="-122"/>
              </a:rPr>
              <a:t>端。</a:t>
            </a:r>
            <a:endParaRPr lang="zh-CN" altLang="en-US" sz="2400" b="1" dirty="0">
              <a:solidFill>
                <a:srgbClr val="000066"/>
              </a:solidFill>
              <a:latin typeface="Times New Roman" panose="02020603050405020304" charset="0"/>
              <a:ea typeface="楷体_GB2312" pitchFamily="49" charset="-122"/>
            </a:endParaRPr>
          </a:p>
        </p:txBody>
      </p:sp>
      <p:grpSp>
        <p:nvGrpSpPr>
          <p:cNvPr id="515088" name="组合 515087"/>
          <p:cNvGrpSpPr/>
          <p:nvPr/>
        </p:nvGrpSpPr>
        <p:grpSpPr>
          <a:xfrm>
            <a:off x="877888" y="4521200"/>
            <a:ext cx="8018462" cy="938213"/>
            <a:chOff x="505" y="2977"/>
            <a:chExt cx="5051" cy="591"/>
          </a:xfrm>
        </p:grpSpPr>
        <p:sp>
          <p:nvSpPr>
            <p:cNvPr id="515089" name="文本框 515088"/>
            <p:cNvSpPr txBox="1"/>
            <p:nvPr/>
          </p:nvSpPr>
          <p:spPr>
            <a:xfrm>
              <a:off x="505" y="2977"/>
              <a:ext cx="5051" cy="290"/>
            </a:xfrm>
            <a:prstGeom prst="rect">
              <a:avLst/>
            </a:prstGeom>
            <a:noFill/>
            <a:ln w="38100">
              <a:noFill/>
            </a:ln>
          </p:spPr>
          <p:txBody>
            <a:bodyPr>
              <a:spAutoFit/>
            </a:bodyPr>
            <a:p>
              <a:pPr algn="l">
                <a:spcBef>
                  <a:spcPct val="50000"/>
                </a:spcBef>
              </a:pPr>
              <a:r>
                <a:rPr lang="en-US" altLang="zh-CN" sz="2400" b="1">
                  <a:solidFill>
                    <a:srgbClr val="000066"/>
                  </a:solidFill>
                  <a:latin typeface="Times New Roman" panose="02020603050405020304" charset="0"/>
                  <a:ea typeface="楷体_GB2312" pitchFamily="49" charset="-122"/>
                </a:rPr>
                <a:t>TG</a:t>
              </a:r>
              <a:r>
                <a:rPr lang="en-US" altLang="zh-CN" sz="2400" b="1" baseline="-30000">
                  <a:solidFill>
                    <a:srgbClr val="000066"/>
                  </a:solidFill>
                  <a:latin typeface="Times New Roman" panose="02020603050405020304" charset="0"/>
                  <a:ea typeface="楷体_GB2312" pitchFamily="49" charset="-122"/>
                </a:rPr>
                <a:t>1</a:t>
              </a:r>
              <a:r>
                <a:rPr lang="zh-CN" altLang="en-US" sz="2400" b="1" dirty="0">
                  <a:solidFill>
                    <a:srgbClr val="000066"/>
                  </a:solidFill>
                  <a:latin typeface="Times New Roman" panose="02020603050405020304" charset="0"/>
                  <a:ea typeface="楷体_GB2312" pitchFamily="49" charset="-122"/>
                </a:rPr>
                <a:t>断开，</a:t>
              </a:r>
              <a:r>
                <a:rPr lang="en-US" altLang="zh-CN" sz="2400" b="1">
                  <a:solidFill>
                    <a:srgbClr val="000066"/>
                  </a:solidFill>
                  <a:latin typeface="Times New Roman" panose="02020603050405020304" charset="0"/>
                  <a:ea typeface="楷体_GB2312" pitchFamily="49" charset="-122"/>
                </a:rPr>
                <a:t>TG</a:t>
              </a:r>
              <a:r>
                <a:rPr lang="en-US" altLang="zh-CN" sz="2400" b="1" baseline="-30000">
                  <a:solidFill>
                    <a:srgbClr val="000066"/>
                  </a:solidFill>
                  <a:latin typeface="Times New Roman" panose="02020603050405020304" charset="0"/>
                  <a:ea typeface="楷体_GB2312" pitchFamily="49" charset="-122"/>
                </a:rPr>
                <a:t>2</a:t>
              </a:r>
              <a:r>
                <a:rPr lang="zh-CN" altLang="en-US" sz="2400" b="1" dirty="0">
                  <a:solidFill>
                    <a:srgbClr val="000066"/>
                  </a:solidFill>
                  <a:latin typeface="Times New Roman" panose="02020603050405020304" charset="0"/>
                  <a:ea typeface="楷体_GB2312" pitchFamily="49" charset="-122"/>
                </a:rPr>
                <a:t>导通</a:t>
              </a:r>
              <a:r>
                <a:rPr lang="en-US" altLang="zh-CN" sz="2400" b="1">
                  <a:solidFill>
                    <a:srgbClr val="000066"/>
                  </a:solidFill>
                  <a:latin typeface="Times New Roman" panose="02020603050405020304" charset="0"/>
                  <a:ea typeface="楷体_GB2312" pitchFamily="49" charset="-122"/>
                </a:rPr>
                <a:t>——</a:t>
              </a:r>
              <a:r>
                <a:rPr lang="zh-CN" altLang="en-US" sz="2400" b="1" dirty="0">
                  <a:solidFill>
                    <a:srgbClr val="000066"/>
                  </a:solidFill>
                  <a:latin typeface="Times New Roman" panose="02020603050405020304" charset="0"/>
                  <a:ea typeface="楷体_GB2312" pitchFamily="49" charset="-122"/>
                </a:rPr>
                <a:t>输入信号</a:t>
              </a:r>
              <a:r>
                <a:rPr lang="en-US" altLang="zh-CN" sz="2400" b="1" i="1">
                  <a:solidFill>
                    <a:srgbClr val="000066"/>
                  </a:solidFill>
                  <a:latin typeface="Times New Roman" panose="02020603050405020304" charset="0"/>
                  <a:ea typeface="楷体_GB2312" pitchFamily="49" charset="-122"/>
                </a:rPr>
                <a:t>D </a:t>
              </a:r>
              <a:r>
                <a:rPr lang="zh-CN" altLang="en-US" sz="2400" b="1" dirty="0">
                  <a:solidFill>
                    <a:srgbClr val="000066"/>
                  </a:solidFill>
                  <a:latin typeface="Times New Roman" panose="02020603050405020304" charset="0"/>
                  <a:ea typeface="楷体_GB2312" pitchFamily="49" charset="-122"/>
                </a:rPr>
                <a:t>不能送入</a:t>
              </a:r>
              <a:r>
                <a:rPr lang="zh-CN" altLang="en-US" sz="2400" b="1" dirty="0">
                  <a:solidFill>
                    <a:srgbClr val="000066"/>
                  </a:solidFill>
                  <a:latin typeface="Tahoma" panose="020B0604030504040204" pitchFamily="34" charset="0"/>
                  <a:ea typeface="楷体_GB2312" pitchFamily="49" charset="-122"/>
                  <a:sym typeface="+mn-ea"/>
                </a:rPr>
                <a:t>第一级</a:t>
              </a:r>
              <a:r>
                <a:rPr lang="zh-CN" altLang="en-US" sz="2400" b="1" dirty="0">
                  <a:solidFill>
                    <a:srgbClr val="000066"/>
                  </a:solidFill>
                  <a:latin typeface="Times New Roman" panose="02020603050405020304" charset="0"/>
                  <a:ea typeface="楷体_GB2312" pitchFamily="49" charset="-122"/>
                </a:rPr>
                <a:t>。</a:t>
              </a:r>
              <a:endParaRPr lang="zh-CN" altLang="en-US" sz="2400" b="1">
                <a:solidFill>
                  <a:srgbClr val="000066"/>
                </a:solidFill>
                <a:latin typeface="Times New Roman" panose="02020603050405020304" charset="0"/>
                <a:ea typeface="楷体_GB2312" pitchFamily="49" charset="-122"/>
              </a:endParaRPr>
            </a:p>
          </p:txBody>
        </p:sp>
        <p:sp>
          <p:nvSpPr>
            <p:cNvPr id="515090" name="矩形 515089"/>
            <p:cNvSpPr/>
            <p:nvPr/>
          </p:nvSpPr>
          <p:spPr>
            <a:xfrm>
              <a:off x="2517" y="3278"/>
              <a:ext cx="2450" cy="290"/>
            </a:xfrm>
            <a:prstGeom prst="rect">
              <a:avLst/>
            </a:prstGeom>
            <a:noFill/>
            <a:ln w="9525">
              <a:noFill/>
            </a:ln>
          </p:spPr>
          <p:txBody>
            <a:bodyPr anchor="ctr">
              <a:spAutoFit/>
            </a:bodyPr>
            <a:p>
              <a:pPr algn="l"/>
              <a:r>
                <a:rPr lang="zh-CN" altLang="en-US" sz="2400" b="1" dirty="0">
                  <a:solidFill>
                    <a:srgbClr val="000066"/>
                  </a:solidFill>
                  <a:latin typeface="Tahoma" panose="020B0604030504040204" pitchFamily="34" charset="0"/>
                  <a:ea typeface="楷体_GB2312" pitchFamily="49" charset="-122"/>
                  <a:sym typeface="+mn-ea"/>
                </a:rPr>
                <a:t>第一级</a:t>
              </a:r>
              <a:r>
                <a:rPr lang="zh-CN" altLang="en-US" sz="2400" b="1" dirty="0">
                  <a:solidFill>
                    <a:srgbClr val="000066"/>
                  </a:solidFill>
                  <a:latin typeface="Times New Roman" panose="02020603050405020304" charset="0"/>
                  <a:ea typeface="楷体_GB2312" pitchFamily="49" charset="-122"/>
                  <a:sym typeface="Symbol" panose="05050102010706020507" pitchFamily="18" charset="2"/>
                </a:rPr>
                <a:t>维持原态不变。</a:t>
              </a:r>
              <a:r>
                <a:rPr lang="zh-CN" altLang="en-US" sz="1100" b="1" dirty="0">
                  <a:solidFill>
                    <a:srgbClr val="000066"/>
                  </a:solidFill>
                  <a:latin typeface="Tahoma" panose="020B0604030504040204" pitchFamily="34" charset="0"/>
                  <a:ea typeface="楷体_GB2312" pitchFamily="49" charset="-122"/>
                  <a:sym typeface="Symbol" panose="05050102010706020507" pitchFamily="18" charset="2"/>
                </a:rPr>
                <a:t> </a:t>
              </a:r>
              <a:endParaRPr lang="zh-CN" altLang="en-US" sz="1100" b="1" dirty="0">
                <a:solidFill>
                  <a:srgbClr val="000066"/>
                </a:solidFill>
                <a:latin typeface="Tahoma" panose="020B0604030504040204" pitchFamily="34" charset="0"/>
                <a:ea typeface="楷体_GB2312" pitchFamily="49" charset="-122"/>
                <a:sym typeface="Symbol" panose="05050102010706020507" pitchFamily="18" charset="2"/>
              </a:endParaRPr>
            </a:p>
          </p:txBody>
        </p:sp>
      </p:gr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15088"/>
                                        </p:tgtEl>
                                        <p:attrNameLst>
                                          <p:attrName>style.visibility</p:attrName>
                                        </p:attrNameLst>
                                      </p:cBhvr>
                                      <p:to>
                                        <p:strVal val="visible"/>
                                      </p:to>
                                    </p:set>
                                    <p:animEffect transition="in" filter="strips(downRight)">
                                      <p:cBhvr>
                                        <p:cTn id="7" dur="500"/>
                                        <p:tgtEl>
                                          <p:spTgt spid="515088"/>
                                        </p:tgtEl>
                                      </p:cBhvr>
                                    </p:animEffect>
                                  </p:childTnLst>
                                </p:cTn>
                              </p:par>
                            </p:childTnLst>
                          </p:cTn>
                        </p:par>
                        <p:par>
                          <p:cTn id="8" fill="hold">
                            <p:stCondLst>
                              <p:cond delay="500"/>
                            </p:stCondLst>
                            <p:childTnLst>
                              <p:par>
                                <p:cTn id="9" presetID="1" presetClass="entr" presetSubtype="0" fill="hold" grpId="0" nodeType="afterEffect">
                                  <p:stCondLst>
                                    <p:cond delay="500"/>
                                  </p:stCondLst>
                                  <p:childTnLst>
                                    <p:set>
                                      <p:cBhvr>
                                        <p:cTn id="10" dur="1" fill="hold">
                                          <p:stCondLst>
                                            <p:cond delay="0"/>
                                          </p:stCondLst>
                                        </p:cTn>
                                        <p:tgtEl>
                                          <p:spTgt spid="514066"/>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grpId="0" nodeType="afterEffect">
                                  <p:stCondLst>
                                    <p:cond delay="500"/>
                                  </p:stCondLst>
                                  <p:childTnLst>
                                    <p:set>
                                      <p:cBhvr>
                                        <p:cTn id="13" dur="1" fill="hold">
                                          <p:stCondLst>
                                            <p:cond delay="0"/>
                                          </p:stCondLst>
                                        </p:cTn>
                                        <p:tgtEl>
                                          <p:spTgt spid="51406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515087">
                                            <p:txEl>
                                              <p:charRg st="0" end="27"/>
                                            </p:txEl>
                                          </p:spTgt>
                                        </p:tgtEl>
                                        <p:attrNameLst>
                                          <p:attrName>style.visibility</p:attrName>
                                        </p:attrNameLst>
                                      </p:cBhvr>
                                      <p:to>
                                        <p:strVal val="visible"/>
                                      </p:to>
                                    </p:set>
                                    <p:animEffect transition="in" filter="strips(downRight)">
                                      <p:cBhvr>
                                        <p:cTn id="18" dur="500"/>
                                        <p:tgtEl>
                                          <p:spTgt spid="515087">
                                            <p:txEl>
                                              <p:charRg st="0" end="27"/>
                                            </p:txEl>
                                          </p:spTgt>
                                        </p:tgtEl>
                                      </p:cBhvr>
                                    </p:animEffect>
                                  </p:childTnLst>
                                </p:cTn>
                              </p:par>
                            </p:childTnLst>
                          </p:cTn>
                        </p:par>
                        <p:par>
                          <p:cTn id="19" fill="hold">
                            <p:stCondLst>
                              <p:cond delay="500"/>
                            </p:stCondLst>
                            <p:childTnLst>
                              <p:par>
                                <p:cTn id="20" presetID="1" presetClass="entr" presetSubtype="0" fill="hold" grpId="0" nodeType="afterEffect">
                                  <p:stCondLst>
                                    <p:cond delay="500"/>
                                  </p:stCondLst>
                                  <p:childTnLst>
                                    <p:set>
                                      <p:cBhvr>
                                        <p:cTn id="21" dur="1" fill="hold">
                                          <p:stCondLst>
                                            <p:cond delay="0"/>
                                          </p:stCondLst>
                                        </p:cTn>
                                        <p:tgtEl>
                                          <p:spTgt spid="514067"/>
                                        </p:tgtEl>
                                        <p:attrNameLst>
                                          <p:attrName>style.visibility</p:attrName>
                                        </p:attrNameLst>
                                      </p:cBhvr>
                                      <p:to>
                                        <p:strVal val="visible"/>
                                      </p:to>
                                    </p:set>
                                  </p:childTnLst>
                                </p:cTn>
                              </p:par>
                            </p:childTnLst>
                          </p:cTn>
                        </p:par>
                        <p:par>
                          <p:cTn id="22" fill="hold">
                            <p:stCondLst>
                              <p:cond delay="1000"/>
                            </p:stCondLst>
                            <p:childTnLst>
                              <p:par>
                                <p:cTn id="23" presetID="1" presetClass="entr" presetSubtype="0" fill="hold" grpId="0" nodeType="afterEffect">
                                  <p:stCondLst>
                                    <p:cond delay="500"/>
                                  </p:stCondLst>
                                  <p:childTnLst>
                                    <p:set>
                                      <p:cBhvr>
                                        <p:cTn id="24" dur="1" fill="hold">
                                          <p:stCondLst>
                                            <p:cond delay="0"/>
                                          </p:stCondLst>
                                        </p:cTn>
                                        <p:tgtEl>
                                          <p:spTgt spid="51406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515086"/>
                                        </p:tgtEl>
                                        <p:attrNameLst>
                                          <p:attrName>style.visibility</p:attrName>
                                        </p:attrNameLst>
                                      </p:cBhvr>
                                      <p:to>
                                        <p:strVal val="visible"/>
                                      </p:to>
                                    </p:set>
                                    <p:animEffect transition="in" filter="strips(downRight)">
                                      <p:cBhvr>
                                        <p:cTn id="29" dur="500"/>
                                        <p:tgtEl>
                                          <p:spTgt spid="515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66" grpId="0" bldLvl="0" animBg="1"/>
      <p:bldP spid="514064" grpId="0" bldLvl="0" animBg="1"/>
      <p:bldP spid="514067" grpId="0" bldLvl="0" animBg="1"/>
      <p:bldP spid="514065" grpId="0" bldLvl="0" animBg="1"/>
      <p:bldP spid="51508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0" name="文本框 99"/>
          <p:cNvSpPr txBox="1"/>
          <p:nvPr/>
        </p:nvSpPr>
        <p:spPr>
          <a:xfrm>
            <a:off x="725805" y="1223010"/>
            <a:ext cx="6575425" cy="460375"/>
          </a:xfrm>
          <a:prstGeom prst="rect">
            <a:avLst/>
          </a:prstGeom>
          <a:noFill/>
          <a:ln w="9525">
            <a:noFill/>
          </a:ln>
        </p:spPr>
        <p:txBody>
          <a:bodyPr wrap="square">
            <a:spAutoFit/>
          </a:bodyPr>
          <a:p>
            <a:pPr>
              <a:buClrTx/>
              <a:buSzTx/>
              <a:buFontTx/>
            </a:pPr>
            <a:r>
              <a:rPr lang="zh-CN" altLang="en-US" sz="2400" b="1">
                <a:latin typeface="Times New Roman" panose="02020603050405020304" charset="0"/>
                <a:ea typeface="宋体" panose="02010600030101010101" pitchFamily="2" charset="-122"/>
                <a:cs typeface="Times New Roman" panose="02020603050405020304" charset="0"/>
              </a:rPr>
              <a:t>(3) 直接置0和置1</a:t>
            </a:r>
            <a:r>
              <a:rPr lang="zh-CN" altLang="en-US" sz="2400" b="1">
                <a:latin typeface="Times New Roman" panose="02020603050405020304" charset="0"/>
                <a:cs typeface="Times New Roman" panose="02020603050405020304" charset="0"/>
              </a:rPr>
              <a:t>功能</a:t>
            </a:r>
            <a:r>
              <a:rPr lang="zh-CN" altLang="en-US" sz="2400" b="1">
                <a:latin typeface="Times New Roman" panose="02020603050405020304" charset="0"/>
                <a:ea typeface="宋体" panose="02010600030101010101" pitchFamily="2" charset="-122"/>
                <a:cs typeface="Times New Roman" panose="02020603050405020304" charset="0"/>
              </a:rPr>
              <a:t>的</a:t>
            </a:r>
            <a:r>
              <a:rPr lang="zh-CN" altLang="en-US" sz="2400" b="1">
                <a:latin typeface="Times New Roman" panose="02020603050405020304" charset="0"/>
                <a:cs typeface="Times New Roman" panose="02020603050405020304" charset="0"/>
              </a:rPr>
              <a:t>CMOS</a:t>
            </a:r>
            <a:r>
              <a:rPr lang="zh-CN" altLang="en-US" sz="2400" b="1">
                <a:latin typeface="Times New Roman" panose="02020603050405020304" charset="0"/>
                <a:ea typeface="宋体" panose="02010600030101010101" pitchFamily="2" charset="-122"/>
                <a:cs typeface="Times New Roman" panose="02020603050405020304" charset="0"/>
              </a:rPr>
              <a:t>边沿</a:t>
            </a:r>
            <a:r>
              <a:rPr lang="zh-CN" altLang="en-US" sz="2400" b="1" i="1">
                <a:latin typeface="Times New Roman" panose="02020603050405020304" charset="0"/>
                <a:ea typeface="宋体" panose="02010600030101010101" pitchFamily="2" charset="-122"/>
                <a:cs typeface="Times New Roman" panose="02020603050405020304" charset="0"/>
              </a:rPr>
              <a:t>D</a:t>
            </a:r>
            <a:r>
              <a:rPr lang="zh-CN" altLang="en-US" sz="2400" b="1">
                <a:latin typeface="Times New Roman" panose="02020603050405020304" charset="0"/>
                <a:ea typeface="宋体" panose="02010600030101010101" pitchFamily="2" charset="-122"/>
                <a:cs typeface="Times New Roman" panose="02020603050405020304" charset="0"/>
              </a:rPr>
              <a:t>触发器</a:t>
            </a:r>
            <a:endParaRPr lang="zh-CN" altLang="en-US" sz="2400" b="1">
              <a:latin typeface="Times New Roman" panose="02020603050405020304" charset="0"/>
              <a:cs typeface="Times New Roman" panose="02020603050405020304" charset="0"/>
            </a:endParaRPr>
          </a:p>
        </p:txBody>
      </p:sp>
      <p:sp>
        <p:nvSpPr>
          <p:cNvPr id="2"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52" name="图片 2789"/>
          <p:cNvPicPr>
            <a:picLocks noChangeAspect="1"/>
          </p:cNvPicPr>
          <p:nvPr/>
        </p:nvPicPr>
        <p:blipFill>
          <a:blip r:embed="rId1"/>
          <a:stretch>
            <a:fillRect/>
          </a:stretch>
        </p:blipFill>
        <p:spPr>
          <a:xfrm>
            <a:off x="1250315" y="1683385"/>
            <a:ext cx="6893560" cy="3397885"/>
          </a:xfrm>
          <a:prstGeom prst="rect">
            <a:avLst/>
          </a:prstGeom>
          <a:noFill/>
          <a:ln>
            <a:noFill/>
          </a:ln>
        </p:spPr>
      </p:pic>
      <p:sp>
        <p:nvSpPr>
          <p:cNvPr id="3" name="文本框 2"/>
          <p:cNvSpPr txBox="1"/>
          <p:nvPr/>
        </p:nvSpPr>
        <p:spPr>
          <a:xfrm>
            <a:off x="2496185" y="5132705"/>
            <a:ext cx="5080000" cy="337185"/>
          </a:xfrm>
          <a:prstGeom prst="rect">
            <a:avLst/>
          </a:prstGeom>
          <a:noFill/>
          <a:ln w="9525">
            <a:noFill/>
          </a:ln>
        </p:spPr>
        <p:txBody>
          <a:bodyPr>
            <a:spAutoFit/>
          </a:bodyPr>
          <a:p>
            <a:pPr algn="ctr"/>
            <a:r>
              <a:rPr lang="zh-CN" sz="1600">
                <a:solidFill>
                  <a:srgbClr val="000000"/>
                </a:solidFill>
                <a:latin typeface="Times New Roman" panose="02020603050405020304" charset="0"/>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5-14 </a:t>
            </a:r>
            <a:r>
              <a:rPr lang="zh-CN" sz="1600">
                <a:solidFill>
                  <a:srgbClr val="000000"/>
                </a:solidFill>
                <a:latin typeface="Times New Roman" panose="02020603050405020304" charset="0"/>
                <a:ea typeface="宋体" panose="02010600030101010101" pitchFamily="2" charset="-122"/>
              </a:rPr>
              <a:t>带有</a:t>
            </a:r>
            <a:r>
              <a:rPr lang="en-US" sz="1600" i="1">
                <a:solidFill>
                  <a:srgbClr val="000000"/>
                </a:solidFill>
                <a:latin typeface="Times New Roman" panose="02020603050405020304" charset="0"/>
                <a:ea typeface="宋体" panose="02010600030101010101" pitchFamily="2" charset="-122"/>
                <a:cs typeface="Times New Roman" panose="02020603050405020304" charset="0"/>
              </a:rPr>
              <a:t>R</a:t>
            </a:r>
            <a:r>
              <a:rPr lang="en-US" sz="1600" baseline="-25000">
                <a:solidFill>
                  <a:srgbClr val="000000"/>
                </a:solidFill>
                <a:latin typeface="Times New Roman" panose="02020603050405020304" charset="0"/>
                <a:ea typeface="宋体" panose="02010600030101010101" pitchFamily="2" charset="-122"/>
                <a:cs typeface="Times New Roman" panose="02020603050405020304" charset="0"/>
              </a:rPr>
              <a:t>D</a:t>
            </a:r>
            <a:r>
              <a:rPr lang="zh-CN" sz="1600">
                <a:solidFill>
                  <a:srgbClr val="000000"/>
                </a:solidFill>
                <a:latin typeface="Times New Roman" panose="02020603050405020304" charset="0"/>
                <a:ea typeface="宋体" panose="02010600030101010101" pitchFamily="2" charset="-122"/>
              </a:rPr>
              <a:t>和</a:t>
            </a:r>
            <a:r>
              <a:rPr lang="en-US" sz="1600" i="1">
                <a:solidFill>
                  <a:srgbClr val="000000"/>
                </a:solidFill>
                <a:latin typeface="Times New Roman" panose="02020603050405020304" charset="0"/>
                <a:ea typeface="宋体" panose="02010600030101010101" pitchFamily="2" charset="-122"/>
                <a:cs typeface="Times New Roman" panose="02020603050405020304" charset="0"/>
              </a:rPr>
              <a:t>S</a:t>
            </a:r>
            <a:r>
              <a:rPr lang="en-US" sz="1600" baseline="-25000">
                <a:solidFill>
                  <a:srgbClr val="000000"/>
                </a:solidFill>
                <a:latin typeface="Times New Roman" panose="02020603050405020304" charset="0"/>
                <a:ea typeface="宋体" panose="02010600030101010101" pitchFamily="2" charset="-122"/>
                <a:cs typeface="Times New Roman" panose="02020603050405020304" charset="0"/>
              </a:rPr>
              <a:t>D</a:t>
            </a:r>
            <a:r>
              <a:rPr lang="zh-CN" sz="1600">
                <a:solidFill>
                  <a:srgbClr val="000000"/>
                </a:solidFill>
                <a:latin typeface="Times New Roman" panose="02020603050405020304" charset="0"/>
                <a:ea typeface="宋体" panose="02010600030101010101" pitchFamily="2" charset="-122"/>
              </a:rPr>
              <a:t>的</a:t>
            </a:r>
            <a:r>
              <a:rPr lang="en-US" sz="1600">
                <a:solidFill>
                  <a:srgbClr val="000000"/>
                </a:solidFill>
                <a:latin typeface="Times New Roman" panose="02020603050405020304" charset="0"/>
                <a:ea typeface="宋体" panose="02010600030101010101" pitchFamily="2" charset="-122"/>
                <a:cs typeface="Times New Roman" panose="02020603050405020304" charset="0"/>
              </a:rPr>
              <a:t>CMOS</a:t>
            </a:r>
            <a:r>
              <a:rPr lang="zh-CN" sz="1600">
                <a:solidFill>
                  <a:srgbClr val="000000"/>
                </a:solidFill>
                <a:latin typeface="Times New Roman" panose="02020603050405020304" charset="0"/>
                <a:ea typeface="宋体" panose="02010600030101010101" pitchFamily="2" charset="-122"/>
              </a:rPr>
              <a:t>边沿触发器</a:t>
            </a:r>
            <a:endParaRPr lang="zh-CN" altLang="en-US" sz="1600"/>
          </a:p>
        </p:txBody>
      </p:sp>
      <p:sp>
        <p:nvSpPr>
          <p:cNvPr id="4" name="文本框 3"/>
          <p:cNvSpPr txBox="1"/>
          <p:nvPr/>
        </p:nvSpPr>
        <p:spPr>
          <a:xfrm>
            <a:off x="923925" y="5469890"/>
            <a:ext cx="8009890" cy="1346835"/>
          </a:xfrm>
          <a:prstGeom prst="rect">
            <a:avLst/>
          </a:prstGeom>
          <a:noFill/>
          <a:ln w="9525">
            <a:noFill/>
          </a:ln>
        </p:spPr>
        <p:txBody>
          <a:bodyPr wrap="square">
            <a:spAutoFit/>
          </a:bodyPr>
          <a:p>
            <a:pPr>
              <a:lnSpc>
                <a:spcPct val="120000"/>
              </a:lnSpc>
            </a:pPr>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将传输门的控制信号</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400" b="1">
                <a:gradFill>
                  <a:gsLst>
                    <a:gs pos="0">
                      <a:srgbClr val="012D86"/>
                    </a:gs>
                    <a:gs pos="100000">
                      <a:srgbClr val="0E2557"/>
                    </a:gs>
                  </a:gsLst>
                  <a:lin scaled="0"/>
                </a:gradFill>
                <a:ea typeface="宋体" panose="02010600030101010101" pitchFamily="2" charset="-122"/>
              </a:rPr>
              <a:t>和    </a:t>
            </a:r>
            <a:r>
              <a:rPr lang="zh-CN" sz="2400" b="1">
                <a:gradFill>
                  <a:gsLst>
                    <a:gs pos="0">
                      <a:srgbClr val="012D86"/>
                    </a:gs>
                    <a:gs pos="100000">
                      <a:srgbClr val="0E2557"/>
                    </a:gs>
                  </a:gsLst>
                  <a:lin scaled="0"/>
                </a:gradFill>
                <a:sym typeface="+mn-ea"/>
              </a:rPr>
              <a:t>互换，触发器变为</a:t>
            </a:r>
            <a:r>
              <a:rPr lang="en-US" sz="2400" b="1" i="1">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上升沿触发的</a:t>
            </a:r>
            <a:r>
              <a:rPr lang="en-US" sz="2400" b="1">
                <a:gradFill>
                  <a:gsLst>
                    <a:gs pos="0">
                      <a:srgbClr val="012D86"/>
                    </a:gs>
                    <a:gs pos="100000">
                      <a:srgbClr val="0E2557"/>
                    </a:gs>
                  </a:gsLst>
                  <a:lin scaled="0"/>
                </a:gradFill>
                <a:latin typeface="Times New Roman" panose="02020603050405020304" charset="0"/>
                <a:sym typeface="+mn-ea"/>
              </a:rPr>
              <a:t>CMOS</a:t>
            </a:r>
            <a:r>
              <a:rPr lang="zh-CN" sz="2400" b="1">
                <a:gradFill>
                  <a:gsLst>
                    <a:gs pos="0">
                      <a:srgbClr val="012D86"/>
                    </a:gs>
                    <a:gs pos="100000">
                      <a:srgbClr val="0E2557"/>
                    </a:gs>
                  </a:gsLst>
                  <a:lin scaled="0"/>
                </a:gradFill>
                <a:sym typeface="+mn-ea"/>
              </a:rPr>
              <a:t>边沿</a:t>
            </a:r>
            <a:r>
              <a:rPr lang="en-US" sz="2400" b="1" i="1">
                <a:gradFill>
                  <a:gsLst>
                    <a:gs pos="0">
                      <a:srgbClr val="012D86"/>
                    </a:gs>
                    <a:gs pos="100000">
                      <a:srgbClr val="0E2557"/>
                    </a:gs>
                  </a:gsLst>
                  <a:lin scaled="0"/>
                </a:gradFill>
                <a:latin typeface="Times New Roman" panose="02020603050405020304" charset="0"/>
                <a:sym typeface="+mn-ea"/>
              </a:rPr>
              <a:t>D</a:t>
            </a:r>
            <a:r>
              <a:rPr lang="zh-CN" sz="2400" b="1">
                <a:gradFill>
                  <a:gsLst>
                    <a:gs pos="0">
                      <a:srgbClr val="012D86"/>
                    </a:gs>
                    <a:gs pos="100000">
                      <a:srgbClr val="0E2557"/>
                    </a:gs>
                  </a:gsLst>
                  <a:lin scaled="0"/>
                </a:gradFill>
                <a:sym typeface="+mn-ea"/>
              </a:rPr>
              <a:t>触发器。</a:t>
            </a:r>
            <a:endParaRPr lang="zh-CN" altLang="en-US" sz="2400" b="1">
              <a:gradFill>
                <a:gsLst>
                  <a:gs pos="0">
                    <a:srgbClr val="012D86"/>
                  </a:gs>
                  <a:gs pos="100000">
                    <a:srgbClr val="0E2557"/>
                  </a:gs>
                </a:gsLst>
                <a:lin scaled="0"/>
              </a:gradFill>
            </a:endParaRPr>
          </a:p>
          <a:p>
            <a:endParaRPr lang="zh-CN" altLang="en-US" sz="2400" b="1">
              <a:gradFill>
                <a:gsLst>
                  <a:gs pos="0">
                    <a:srgbClr val="012D86"/>
                  </a:gs>
                  <a:gs pos="100000">
                    <a:srgbClr val="0E2557"/>
                  </a:gs>
                </a:gsLst>
                <a:lin scaled="0"/>
              </a:gradFill>
            </a:endParaRPr>
          </a:p>
        </p:txBody>
      </p:sp>
      <p:pic>
        <p:nvPicPr>
          <p:cNvPr id="6" name="图片 5"/>
          <p:cNvPicPr/>
          <p:nvPr/>
        </p:nvPicPr>
        <p:blipFill>
          <a:blip r:embed="rId2"/>
          <a:stretch>
            <a:fillRect/>
          </a:stretch>
        </p:blipFill>
        <p:spPr>
          <a:xfrm>
            <a:off x="5032375" y="5555615"/>
            <a:ext cx="433705" cy="415925"/>
          </a:xfrm>
          <a:prstGeom prst="rect">
            <a:avLst/>
          </a:prstGeom>
          <a:noFill/>
          <a:ln w="9525">
            <a:noFill/>
          </a:ln>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 name="矩形 4"/>
          <p:cNvSpPr/>
          <p:nvPr/>
        </p:nvSpPr>
        <p:spPr>
          <a:xfrm>
            <a:off x="2362200" y="2726690"/>
            <a:ext cx="304800" cy="76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7" name="直接连接符 6"/>
          <p:cNvCxnSpPr/>
          <p:nvPr/>
        </p:nvCxnSpPr>
        <p:spPr>
          <a:xfrm>
            <a:off x="2496185" y="2616200"/>
            <a:ext cx="0" cy="215265"/>
          </a:xfrm>
          <a:prstGeom prst="line">
            <a:avLst/>
          </a:prstGeom>
          <a:ln w="158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0" name="文本框 99"/>
          <p:cNvSpPr txBox="1"/>
          <p:nvPr/>
        </p:nvSpPr>
        <p:spPr>
          <a:xfrm>
            <a:off x="124460" y="4708525"/>
            <a:ext cx="6575425" cy="460375"/>
          </a:xfrm>
          <a:prstGeom prst="rect">
            <a:avLst/>
          </a:prstGeom>
          <a:noFill/>
          <a:ln w="9525">
            <a:noFill/>
          </a:ln>
        </p:spPr>
        <p:txBody>
          <a:bodyPr wrap="square">
            <a:spAutoFit/>
          </a:bodyPr>
          <a:p>
            <a:pPr>
              <a:buClrTx/>
              <a:buSzTx/>
              <a:buFontTx/>
            </a:pPr>
            <a:r>
              <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以直接置0</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功能</a:t>
            </a:r>
            <a:r>
              <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为例</a:t>
            </a:r>
            <a:endPar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endParaRPr>
          </a:p>
        </p:txBody>
      </p:sp>
      <p:sp>
        <p:nvSpPr>
          <p:cNvPr id="2"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52" name="图片 2789"/>
          <p:cNvPicPr>
            <a:picLocks noChangeAspect="1"/>
          </p:cNvPicPr>
          <p:nvPr/>
        </p:nvPicPr>
        <p:blipFill>
          <a:blip r:embed="rId1"/>
          <a:srcRect r="19584" b="7176"/>
          <a:stretch>
            <a:fillRect/>
          </a:stretch>
        </p:blipFill>
        <p:spPr>
          <a:xfrm>
            <a:off x="3450590" y="1683385"/>
            <a:ext cx="5543550" cy="3154045"/>
          </a:xfrm>
          <a:prstGeom prst="rect">
            <a:avLst/>
          </a:prstGeom>
          <a:noFill/>
          <a:ln>
            <a:noFill/>
          </a:ln>
        </p:spPr>
      </p:pic>
      <p:sp>
        <p:nvSpPr>
          <p:cNvPr id="101" name="文本框 100"/>
          <p:cNvSpPr txBox="1"/>
          <p:nvPr/>
        </p:nvSpPr>
        <p:spPr>
          <a:xfrm>
            <a:off x="124460" y="1911985"/>
            <a:ext cx="3378200" cy="1198880"/>
          </a:xfrm>
          <a:prstGeom prst="rect">
            <a:avLst/>
          </a:prstGeom>
          <a:noFill/>
          <a:ln w="9525">
            <a:noFill/>
          </a:ln>
        </p:spPr>
        <p:txBody>
          <a:bodyPr wrap="square">
            <a:spAutoFit/>
          </a:bodyPr>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时，不影响或非门的输出，</a:t>
            </a:r>
            <a:r>
              <a:rPr lang="zh-CN" sz="2400" b="1">
                <a:gradFill>
                  <a:gsLst>
                    <a:gs pos="0">
                      <a:srgbClr val="012D86"/>
                    </a:gs>
                    <a:gs pos="100000">
                      <a:srgbClr val="0E2557"/>
                    </a:gs>
                  </a:gsLst>
                  <a:lin scaled="0"/>
                </a:gradFill>
                <a:latin typeface="Times New Roman" panose="02020603050405020304" charset="0"/>
                <a:ea typeface="宋体" panose="02010600030101010101" pitchFamily="2" charset="-122"/>
              </a:rPr>
              <a:t>电路</a:t>
            </a:r>
            <a:r>
              <a:rPr lang="zh-CN" sz="2400" b="1">
                <a:gradFill>
                  <a:gsLst>
                    <a:gs pos="0">
                      <a:srgbClr val="012D86"/>
                    </a:gs>
                    <a:gs pos="100000">
                      <a:srgbClr val="0E2557"/>
                    </a:gs>
                  </a:gsLst>
                  <a:lin scaled="0"/>
                </a:gradFill>
                <a:ea typeface="宋体" panose="02010600030101010101" pitchFamily="2" charset="-122"/>
              </a:rPr>
              <a:t>按照</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触发器逻辑功能变化</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5" name="文本框 4"/>
          <p:cNvSpPr txBox="1"/>
          <p:nvPr/>
        </p:nvSpPr>
        <p:spPr>
          <a:xfrm>
            <a:off x="124460" y="3110865"/>
            <a:ext cx="5080000" cy="460375"/>
          </a:xfrm>
          <a:prstGeom prst="rect">
            <a:avLst/>
          </a:prstGeom>
          <a:noFill/>
          <a:ln w="9525">
            <a:noFill/>
          </a:ln>
        </p:spPr>
        <p:txBody>
          <a:bodyPr>
            <a:spAutoFit/>
          </a:bodyPr>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时，触发器置</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7" name="文本框 6"/>
          <p:cNvSpPr txBox="1"/>
          <p:nvPr/>
        </p:nvSpPr>
        <p:spPr>
          <a:xfrm>
            <a:off x="124460" y="3655695"/>
            <a:ext cx="5080000" cy="460375"/>
          </a:xfrm>
          <a:prstGeom prst="rect">
            <a:avLst/>
          </a:prstGeom>
          <a:noFill/>
          <a:ln w="9525">
            <a:noFill/>
          </a:ln>
        </p:spPr>
        <p:txBody>
          <a:bodyPr>
            <a:spAutoFit/>
          </a:bodyPr>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时，触发器置</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8" name="文本框 7"/>
          <p:cNvSpPr txBox="1"/>
          <p:nvPr/>
        </p:nvSpPr>
        <p:spPr>
          <a:xfrm>
            <a:off x="48260" y="4116070"/>
            <a:ext cx="5080000" cy="460375"/>
          </a:xfrm>
          <a:prstGeom prst="rect">
            <a:avLst/>
          </a:prstGeom>
          <a:noFill/>
          <a:ln w="9525">
            <a:noFill/>
          </a:ln>
        </p:spPr>
        <p:txBody>
          <a:bodyPr>
            <a:spAutoFit/>
          </a:bodyPr>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时，</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，非定义状态。</a:t>
            </a:r>
            <a:endParaRPr lang="zh-CN" altLang="en-US" sz="2400" b="1">
              <a:gradFill>
                <a:gsLst>
                  <a:gs pos="0">
                    <a:srgbClr val="012D86"/>
                  </a:gs>
                  <a:gs pos="100000">
                    <a:srgbClr val="0E2557"/>
                  </a:gs>
                </a:gsLst>
                <a:lin scaled="0"/>
              </a:gradFill>
              <a:sym typeface="+mn-ea"/>
            </a:endParaRPr>
          </a:p>
        </p:txBody>
      </p:sp>
      <p:pic>
        <p:nvPicPr>
          <p:cNvPr id="9" name="图片 8"/>
          <p:cNvPicPr/>
          <p:nvPr/>
        </p:nvPicPr>
        <p:blipFill>
          <a:blip r:embed="rId2"/>
          <a:stretch>
            <a:fillRect/>
          </a:stretch>
        </p:blipFill>
        <p:spPr>
          <a:xfrm>
            <a:off x="2273935" y="4150360"/>
            <a:ext cx="266065" cy="426085"/>
          </a:xfrm>
          <a:prstGeom prst="rect">
            <a:avLst/>
          </a:prstGeom>
          <a:noFill/>
          <a:ln w="9525">
            <a:noFill/>
          </a:ln>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 name="矩形 2"/>
          <p:cNvSpPr/>
          <p:nvPr/>
        </p:nvSpPr>
        <p:spPr>
          <a:xfrm>
            <a:off x="4516755" y="2724785"/>
            <a:ext cx="304800" cy="76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4" name="直接连接符 3"/>
          <p:cNvCxnSpPr/>
          <p:nvPr/>
        </p:nvCxnSpPr>
        <p:spPr>
          <a:xfrm>
            <a:off x="4693920" y="2593975"/>
            <a:ext cx="0" cy="215265"/>
          </a:xfrm>
          <a:prstGeom prst="line">
            <a:avLst/>
          </a:prstGeom>
          <a:ln w="158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par>
                                <p:cTn id="22" presetID="1"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5" grpId="0"/>
      <p:bldP spid="7" grpId="0"/>
      <p:bldP spid="8" grpId="0"/>
      <p:bldP spid="10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0" name="文本框 99"/>
          <p:cNvSpPr txBox="1"/>
          <p:nvPr/>
        </p:nvSpPr>
        <p:spPr>
          <a:xfrm>
            <a:off x="219075" y="1683385"/>
            <a:ext cx="6575425" cy="460375"/>
          </a:xfrm>
          <a:prstGeom prst="rect">
            <a:avLst/>
          </a:prstGeom>
          <a:noFill/>
          <a:ln w="9525">
            <a:noFill/>
          </a:ln>
        </p:spPr>
        <p:txBody>
          <a:bodyPr wrap="square">
            <a:spAutoFit/>
          </a:bodyPr>
          <a:p>
            <a:pPr>
              <a:buClrTx/>
              <a:buSzTx/>
              <a:buFontTx/>
            </a:pPr>
            <a:r>
              <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以直接置0</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功能</a:t>
            </a:r>
            <a:r>
              <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为例</a:t>
            </a:r>
            <a:endPar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endParaRPr>
          </a:p>
        </p:txBody>
      </p:sp>
      <p:sp>
        <p:nvSpPr>
          <p:cNvPr id="2"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52" name="图片 2789"/>
          <p:cNvPicPr>
            <a:picLocks noChangeAspect="1"/>
          </p:cNvPicPr>
          <p:nvPr/>
        </p:nvPicPr>
        <p:blipFill>
          <a:blip r:embed="rId1"/>
          <a:srcRect r="19584" b="7176"/>
          <a:stretch>
            <a:fillRect/>
          </a:stretch>
        </p:blipFill>
        <p:spPr>
          <a:xfrm>
            <a:off x="2917190" y="1683385"/>
            <a:ext cx="5543550" cy="3154045"/>
          </a:xfrm>
          <a:prstGeom prst="rect">
            <a:avLst/>
          </a:prstGeom>
          <a:noFill/>
          <a:ln>
            <a:noFill/>
          </a:ln>
        </p:spPr>
      </p:pic>
      <p:grpSp>
        <p:nvGrpSpPr>
          <p:cNvPr id="23" name="组合 22"/>
          <p:cNvGrpSpPr/>
          <p:nvPr/>
        </p:nvGrpSpPr>
        <p:grpSpPr>
          <a:xfrm>
            <a:off x="271145" y="2676525"/>
            <a:ext cx="5109845" cy="460375"/>
            <a:chOff x="427" y="4215"/>
            <a:chExt cx="8047" cy="725"/>
          </a:xfrm>
        </p:grpSpPr>
        <p:sp>
          <p:nvSpPr>
            <p:cNvPr id="515075" name="矩形 515074"/>
            <p:cNvSpPr/>
            <p:nvPr/>
          </p:nvSpPr>
          <p:spPr>
            <a:xfrm>
              <a:off x="427" y="4215"/>
              <a:ext cx="8047" cy="725"/>
            </a:xfrm>
            <a:prstGeom prst="rect">
              <a:avLst/>
            </a:prstGeom>
            <a:noFill/>
            <a:ln w="38100">
              <a:noFill/>
            </a:ln>
          </p:spPr>
          <p:txBody>
            <a:bodyPr wrap="square" anchor="t">
              <a:spAutoFit/>
            </a:bodyPr>
            <a:p>
              <a:pPr>
                <a:spcBef>
                  <a:spcPct val="50000"/>
                </a:spcBef>
              </a:pPr>
              <a:r>
                <a:rPr lang="en-US" altLang="zh-CN" sz="2400" b="1" i="1">
                  <a:gradFill>
                    <a:gsLst>
                      <a:gs pos="0">
                        <a:srgbClr val="012D86"/>
                      </a:gs>
                      <a:gs pos="100000">
                        <a:srgbClr val="0E2557"/>
                      </a:gs>
                    </a:gsLst>
                    <a:lin scaled="0"/>
                  </a:gradFill>
                  <a:latin typeface="Times New Roman" panose="02020603050405020304" charset="0"/>
                  <a:ea typeface="楷体_GB2312" pitchFamily="49" charset="-122"/>
                </a:rPr>
                <a:t>CP</a:t>
              </a:r>
              <a:r>
                <a:rPr lang="en-US" sz="2400" b="1" dirty="0">
                  <a:gradFill>
                    <a:gsLst>
                      <a:gs pos="0">
                        <a:srgbClr val="012D86"/>
                      </a:gs>
                      <a:gs pos="100000">
                        <a:srgbClr val="0E2557"/>
                      </a:gs>
                    </a:gsLst>
                    <a:lin scaled="0"/>
                  </a:gradFill>
                  <a:latin typeface="Tahoma" panose="020B0604030504040204" pitchFamily="34" charset="0"/>
                  <a:ea typeface="楷体_GB2312" pitchFamily="49" charset="-122"/>
                </a:rPr>
                <a:t>=</a:t>
              </a:r>
              <a:r>
                <a:rPr lang="en-US" altLang="zh-CN" sz="2400" b="1">
                  <a:gradFill>
                    <a:gsLst>
                      <a:gs pos="0">
                        <a:srgbClr val="012D86"/>
                      </a:gs>
                      <a:gs pos="100000">
                        <a:srgbClr val="0E2557"/>
                      </a:gs>
                    </a:gsLst>
                    <a:lin scaled="0"/>
                  </a:gradFill>
                  <a:latin typeface="Times New Roman" panose="02020603050405020304" charset="0"/>
                  <a:ea typeface="楷体_GB2312" pitchFamily="49" charset="-122"/>
                </a:rPr>
                <a:t>0</a:t>
              </a:r>
              <a:r>
                <a:rPr lang="zh-CN" altLang="en-US" sz="2400" b="1">
                  <a:gradFill>
                    <a:gsLst>
                      <a:gs pos="0">
                        <a:srgbClr val="012D86"/>
                      </a:gs>
                      <a:gs pos="100000">
                        <a:srgbClr val="0E2557"/>
                      </a:gs>
                    </a:gsLst>
                    <a:lin scaled="0"/>
                  </a:gradFill>
                  <a:latin typeface="Times New Roman" panose="02020603050405020304" charset="0"/>
                  <a:ea typeface="楷体_GB2312" pitchFamily="49" charset="-122"/>
                </a:rPr>
                <a:t>，   </a:t>
              </a:r>
              <a:r>
                <a:rPr lang="en-US" altLang="zh-CN" sz="2400" b="1">
                  <a:gradFill>
                    <a:gsLst>
                      <a:gs pos="0">
                        <a:srgbClr val="012D86"/>
                      </a:gs>
                      <a:gs pos="100000">
                        <a:srgbClr val="0E2557"/>
                      </a:gs>
                    </a:gsLst>
                    <a:lin scaled="0"/>
                  </a:gradFill>
                  <a:latin typeface="Times New Roman" panose="02020603050405020304" charset="0"/>
                  <a:ea typeface="楷体_GB2312" pitchFamily="49" charset="-122"/>
                </a:rPr>
                <a:t>=1</a:t>
              </a:r>
              <a:endParaRPr lang="en-US" altLang="zh-CN" sz="2400" b="1">
                <a:gradFill>
                  <a:gsLst>
                    <a:gs pos="0">
                      <a:srgbClr val="012D86"/>
                    </a:gs>
                    <a:gs pos="100000">
                      <a:srgbClr val="0E2557"/>
                    </a:gs>
                  </a:gsLst>
                  <a:lin scaled="0"/>
                </a:gradFill>
                <a:latin typeface="Times New Roman" panose="02020603050405020304" charset="0"/>
                <a:ea typeface="楷体_GB2312" pitchFamily="49" charset="-122"/>
              </a:endParaRPr>
            </a:p>
          </p:txBody>
        </p:sp>
        <p:pic>
          <p:nvPicPr>
            <p:cNvPr id="6" name="图片 5"/>
            <p:cNvPicPr/>
            <p:nvPr/>
          </p:nvPicPr>
          <p:blipFill>
            <a:blip r:embed="rId2"/>
            <a:stretch>
              <a:fillRect/>
            </a:stretch>
          </p:blipFill>
          <p:spPr>
            <a:xfrm>
              <a:off x="1974" y="4285"/>
              <a:ext cx="683" cy="655"/>
            </a:xfrm>
            <a:prstGeom prst="rect">
              <a:avLst/>
            </a:prstGeom>
            <a:noFill/>
            <a:ln w="9525">
              <a:noFill/>
            </a:ln>
          </p:spPr>
        </p:pic>
      </p:grpSp>
      <p:sp>
        <p:nvSpPr>
          <p:cNvPr id="10" name="文本框 9"/>
          <p:cNvSpPr txBox="1"/>
          <p:nvPr/>
        </p:nvSpPr>
        <p:spPr>
          <a:xfrm>
            <a:off x="271145" y="2216150"/>
            <a:ext cx="2399030" cy="460375"/>
          </a:xfrm>
          <a:prstGeom prst="rect">
            <a:avLst/>
          </a:prstGeom>
          <a:noFill/>
          <a:ln w="9525">
            <a:noFill/>
          </a:ln>
        </p:spPr>
        <p:txBody>
          <a:bodyPr wrap="square">
            <a:spAutoFit/>
          </a:bodyPr>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3" name="文本框 2"/>
          <p:cNvSpPr txBox="1"/>
          <p:nvPr/>
        </p:nvSpPr>
        <p:spPr>
          <a:xfrm>
            <a:off x="271145" y="3136900"/>
            <a:ext cx="239903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触发器置</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endParaRPr lang="en-US" altLang="en-US" sz="2400" b="1">
              <a:gradFill>
                <a:gsLst>
                  <a:gs pos="0">
                    <a:srgbClr val="012D86"/>
                  </a:gs>
                  <a:gs pos="100000">
                    <a:srgbClr val="0E2557"/>
                  </a:gs>
                </a:gsLst>
                <a:lin scaled="0"/>
              </a:gradFill>
              <a:latin typeface="Times New Roman" panose="02020603050405020304" charset="0"/>
              <a:ea typeface="宋体" panose="02010600030101010101" pitchFamily="2" charset="-122"/>
            </a:endParaRPr>
          </a:p>
        </p:txBody>
      </p:sp>
      <p:sp>
        <p:nvSpPr>
          <p:cNvPr id="4" name="椭圆 3"/>
          <p:cNvSpPr/>
          <p:nvPr/>
        </p:nvSpPr>
        <p:spPr>
          <a:xfrm>
            <a:off x="4047491" y="126873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37" name="椭圆 36"/>
          <p:cNvSpPr/>
          <p:nvPr/>
        </p:nvSpPr>
        <p:spPr>
          <a:xfrm>
            <a:off x="4047491" y="474599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514064" name="圆角矩形 514063"/>
          <p:cNvSpPr/>
          <p:nvPr/>
        </p:nvSpPr>
        <p:spPr>
          <a:xfrm>
            <a:off x="6356350" y="2772410"/>
            <a:ext cx="729615" cy="643890"/>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sp>
        <p:nvSpPr>
          <p:cNvPr id="514066" name="圆角矩形 514065"/>
          <p:cNvSpPr/>
          <p:nvPr/>
        </p:nvSpPr>
        <p:spPr>
          <a:xfrm>
            <a:off x="5572125" y="1932305"/>
            <a:ext cx="784225" cy="666750"/>
          </a:xfrm>
          <a:prstGeom prst="roundRect">
            <a:avLst>
              <a:gd name="adj" fmla="val 16667"/>
            </a:avLst>
          </a:prstGeom>
          <a:noFill/>
          <a:ln w="28575" cap="flat" cmpd="sng">
            <a:solidFill>
              <a:srgbClr val="FF0000"/>
            </a:solidFill>
            <a:prstDash val="dash"/>
            <a:headEnd type="none" w="med" len="med"/>
            <a:tailEnd type="none" w="med" len="med"/>
          </a:ln>
        </p:spPr>
        <p:txBody>
          <a:bodyPr/>
          <a:p>
            <a:endParaRPr lang="zh-CN" altLang="en-US"/>
          </a:p>
        </p:txBody>
      </p:sp>
      <p:sp>
        <p:nvSpPr>
          <p:cNvPr id="11" name="矩形 10"/>
          <p:cNvSpPr/>
          <p:nvPr/>
        </p:nvSpPr>
        <p:spPr>
          <a:xfrm>
            <a:off x="4038600" y="265049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6" name="直接连接符 15"/>
          <p:cNvCxnSpPr/>
          <p:nvPr/>
        </p:nvCxnSpPr>
        <p:spPr>
          <a:xfrm flipV="1">
            <a:off x="4173220" y="4522470"/>
            <a:ext cx="0" cy="22352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173220" y="4522470"/>
            <a:ext cx="135763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530850" y="1821180"/>
            <a:ext cx="0" cy="270129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530850" y="1821180"/>
            <a:ext cx="10312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562090" y="1821180"/>
            <a:ext cx="0" cy="2838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562090" y="2143760"/>
            <a:ext cx="43878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91541" name="椭圆 491540"/>
          <p:cNvSpPr/>
          <p:nvPr/>
        </p:nvSpPr>
        <p:spPr>
          <a:xfrm>
            <a:off x="8400733" y="200660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35" name="椭圆 491534"/>
          <p:cNvSpPr/>
          <p:nvPr/>
        </p:nvSpPr>
        <p:spPr>
          <a:xfrm>
            <a:off x="7288848" y="1755458"/>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22" name="直接连接符 21"/>
          <p:cNvCxnSpPr/>
          <p:nvPr/>
        </p:nvCxnSpPr>
        <p:spPr>
          <a:xfrm>
            <a:off x="4164965" y="2574290"/>
            <a:ext cx="0" cy="2838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6518276" y="4180205"/>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25" name="椭圆 24"/>
          <p:cNvSpPr/>
          <p:nvPr/>
        </p:nvSpPr>
        <p:spPr>
          <a:xfrm>
            <a:off x="6255703" y="3642043"/>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26" name="椭圆 25"/>
          <p:cNvSpPr/>
          <p:nvPr/>
        </p:nvSpPr>
        <p:spPr>
          <a:xfrm>
            <a:off x="7695248" y="388747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27" name="直接连接符 26"/>
          <p:cNvCxnSpPr/>
          <p:nvPr/>
        </p:nvCxnSpPr>
        <p:spPr>
          <a:xfrm flipV="1">
            <a:off x="7492365" y="3708400"/>
            <a:ext cx="0" cy="34861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514064" idx="2"/>
          </p:cNvCxnSpPr>
          <p:nvPr/>
        </p:nvCxnSpPr>
        <p:spPr>
          <a:xfrm flipH="1" flipV="1">
            <a:off x="6721475" y="3416300"/>
            <a:ext cx="761365" cy="2616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6720840" y="2680970"/>
            <a:ext cx="0" cy="6654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662420" y="2676525"/>
            <a:ext cx="983615" cy="0"/>
          </a:xfrm>
          <a:prstGeom prst="line">
            <a:avLst/>
          </a:prstGeom>
          <a:noFill/>
          <a:ln w="15875"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sp>
        <p:nvSpPr>
          <p:cNvPr id="31" name="椭圆 30"/>
          <p:cNvSpPr/>
          <p:nvPr/>
        </p:nvSpPr>
        <p:spPr>
          <a:xfrm>
            <a:off x="8460423" y="2508568"/>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514066"/>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1500"/>
                                  </p:stCondLst>
                                  <p:childTnLst>
                                    <p:set>
                                      <p:cBhvr>
                                        <p:cTn id="12" dur="1" fill="hold">
                                          <p:stCondLst>
                                            <p:cond delay="0"/>
                                          </p:stCondLst>
                                        </p:cTn>
                                        <p:tgtEl>
                                          <p:spTgt spid="514064"/>
                                        </p:tgtEl>
                                        <p:attrNameLst>
                                          <p:attrName>style.visibility</p:attrName>
                                        </p:attrNameLst>
                                      </p:cBhvr>
                                      <p:to>
                                        <p:strVal val="visible"/>
                                      </p:to>
                                    </p:set>
                                  </p:childTnLst>
                                </p:cTn>
                              </p:par>
                            </p:childTnLst>
                          </p:cTn>
                        </p:par>
                        <p:par>
                          <p:cTn id="13" fill="hold">
                            <p:stCondLst>
                              <p:cond delay="2500"/>
                            </p:stCondLst>
                            <p:childTnLst>
                              <p:par>
                                <p:cTn id="14" presetID="22" presetClass="entr" presetSubtype="4" fill="hold" nodeType="afterEffect">
                                  <p:stCondLst>
                                    <p:cond delay="500"/>
                                  </p:stCondLst>
                                  <p:childTnLst>
                                    <p:set>
                                      <p:cBhvr>
                                        <p:cTn id="15" dur="1000" fill="hold">
                                          <p:stCondLst>
                                            <p:cond delay="0"/>
                                          </p:stCondLst>
                                        </p:cTn>
                                        <p:tgtEl>
                                          <p:spTgt spid="16"/>
                                        </p:tgtEl>
                                        <p:attrNameLst>
                                          <p:attrName>style.visibility</p:attrName>
                                        </p:attrNameLst>
                                      </p:cBhvr>
                                      <p:to>
                                        <p:strVal val="visible"/>
                                      </p:to>
                                    </p:set>
                                    <p:animEffect transition="in" filter="wipe(down)">
                                      <p:cBhvr>
                                        <p:cTn id="16" dur="1000"/>
                                        <p:tgtEl>
                                          <p:spTgt spid="16"/>
                                        </p:tgtEl>
                                      </p:cBhvr>
                                    </p:animEffect>
                                  </p:childTnLst>
                                </p:cTn>
                              </p:par>
                            </p:childTnLst>
                          </p:cTn>
                        </p:par>
                        <p:par>
                          <p:cTn id="17" fill="hold">
                            <p:stCondLst>
                              <p:cond delay="4000"/>
                            </p:stCondLst>
                            <p:childTnLst>
                              <p:par>
                                <p:cTn id="18" presetID="22" presetClass="entr" presetSubtype="8" fill="hold" nodeType="afterEffect">
                                  <p:stCondLst>
                                    <p:cond delay="0"/>
                                  </p:stCondLst>
                                  <p:childTnLst>
                                    <p:set>
                                      <p:cBhvr>
                                        <p:cTn id="19" dur="1000" fill="hold">
                                          <p:stCondLst>
                                            <p:cond delay="0"/>
                                          </p:stCondLst>
                                        </p:cTn>
                                        <p:tgtEl>
                                          <p:spTgt spid="17"/>
                                        </p:tgtEl>
                                        <p:attrNameLst>
                                          <p:attrName>style.visibility</p:attrName>
                                        </p:attrNameLst>
                                      </p:cBhvr>
                                      <p:to>
                                        <p:strVal val="visible"/>
                                      </p:to>
                                    </p:set>
                                    <p:animEffect transition="in" filter="wipe(left)">
                                      <p:cBhvr>
                                        <p:cTn id="20" dur="1000"/>
                                        <p:tgtEl>
                                          <p:spTgt spid="17"/>
                                        </p:tgtEl>
                                      </p:cBhvr>
                                    </p:animEffect>
                                  </p:childTnLst>
                                </p:cTn>
                              </p:par>
                            </p:childTnLst>
                          </p:cTn>
                        </p:par>
                        <p:par>
                          <p:cTn id="21" fill="hold">
                            <p:stCondLst>
                              <p:cond delay="5000"/>
                            </p:stCondLst>
                            <p:childTnLst>
                              <p:par>
                                <p:cTn id="22" presetID="22" presetClass="entr" presetSubtype="4" fill="hold" nodeType="afterEffect">
                                  <p:stCondLst>
                                    <p:cond delay="0"/>
                                  </p:stCondLst>
                                  <p:childTnLst>
                                    <p:set>
                                      <p:cBhvr>
                                        <p:cTn id="23" dur="1000" fill="hold">
                                          <p:stCondLst>
                                            <p:cond delay="0"/>
                                          </p:stCondLst>
                                        </p:cTn>
                                        <p:tgtEl>
                                          <p:spTgt spid="18"/>
                                        </p:tgtEl>
                                        <p:attrNameLst>
                                          <p:attrName>style.visibility</p:attrName>
                                        </p:attrNameLst>
                                      </p:cBhvr>
                                      <p:to>
                                        <p:strVal val="visible"/>
                                      </p:to>
                                    </p:set>
                                    <p:animEffect transition="in" filter="wipe(down)">
                                      <p:cBhvr>
                                        <p:cTn id="24" dur="1000"/>
                                        <p:tgtEl>
                                          <p:spTgt spid="18"/>
                                        </p:tgtEl>
                                      </p:cBhvr>
                                    </p:animEffect>
                                  </p:childTnLst>
                                </p:cTn>
                              </p:par>
                            </p:childTnLst>
                          </p:cTn>
                        </p:par>
                        <p:par>
                          <p:cTn id="25" fill="hold">
                            <p:stCondLst>
                              <p:cond delay="6000"/>
                            </p:stCondLst>
                            <p:childTnLst>
                              <p:par>
                                <p:cTn id="26" presetID="22" presetClass="entr" presetSubtype="8" fill="hold" nodeType="afterEffect">
                                  <p:stCondLst>
                                    <p:cond delay="0"/>
                                  </p:stCondLst>
                                  <p:childTnLst>
                                    <p:set>
                                      <p:cBhvr>
                                        <p:cTn id="27" dur="1000" fill="hold">
                                          <p:stCondLst>
                                            <p:cond delay="0"/>
                                          </p:stCondLst>
                                        </p:cTn>
                                        <p:tgtEl>
                                          <p:spTgt spid="19"/>
                                        </p:tgtEl>
                                        <p:attrNameLst>
                                          <p:attrName>style.visibility</p:attrName>
                                        </p:attrNameLst>
                                      </p:cBhvr>
                                      <p:to>
                                        <p:strVal val="visible"/>
                                      </p:to>
                                    </p:set>
                                    <p:animEffect transition="in" filter="wipe(left)">
                                      <p:cBhvr>
                                        <p:cTn id="28" dur="1000"/>
                                        <p:tgtEl>
                                          <p:spTgt spid="19"/>
                                        </p:tgtEl>
                                      </p:cBhvr>
                                    </p:animEffect>
                                  </p:childTnLst>
                                </p:cTn>
                              </p:par>
                            </p:childTnLst>
                          </p:cTn>
                        </p:par>
                        <p:par>
                          <p:cTn id="29" fill="hold">
                            <p:stCondLst>
                              <p:cond delay="7000"/>
                            </p:stCondLst>
                            <p:childTnLst>
                              <p:par>
                                <p:cTn id="30" presetID="22" presetClass="entr" presetSubtype="1" fill="hold" nodeType="afterEffect">
                                  <p:stCondLst>
                                    <p:cond delay="0"/>
                                  </p:stCondLst>
                                  <p:childTnLst>
                                    <p:set>
                                      <p:cBhvr>
                                        <p:cTn id="31" dur="1000" fill="hold">
                                          <p:stCondLst>
                                            <p:cond delay="0"/>
                                          </p:stCondLst>
                                        </p:cTn>
                                        <p:tgtEl>
                                          <p:spTgt spid="20"/>
                                        </p:tgtEl>
                                        <p:attrNameLst>
                                          <p:attrName>style.visibility</p:attrName>
                                        </p:attrNameLst>
                                      </p:cBhvr>
                                      <p:to>
                                        <p:strVal val="visible"/>
                                      </p:to>
                                    </p:set>
                                    <p:animEffect transition="in" filter="wipe(up)">
                                      <p:cBhvr>
                                        <p:cTn id="32" dur="1000"/>
                                        <p:tgtEl>
                                          <p:spTgt spid="20"/>
                                        </p:tgtEl>
                                      </p:cBhvr>
                                    </p:animEffect>
                                  </p:childTnLst>
                                </p:cTn>
                              </p:par>
                            </p:childTnLst>
                          </p:cTn>
                        </p:par>
                        <p:par>
                          <p:cTn id="33" fill="hold">
                            <p:stCondLst>
                              <p:cond delay="8000"/>
                            </p:stCondLst>
                            <p:childTnLst>
                              <p:par>
                                <p:cTn id="34" presetID="22" presetClass="entr" presetSubtype="8" fill="hold" nodeType="afterEffect">
                                  <p:stCondLst>
                                    <p:cond delay="0"/>
                                  </p:stCondLst>
                                  <p:childTnLst>
                                    <p:set>
                                      <p:cBhvr>
                                        <p:cTn id="35" dur="1000" fill="hold">
                                          <p:stCondLst>
                                            <p:cond delay="0"/>
                                          </p:stCondLst>
                                        </p:cTn>
                                        <p:tgtEl>
                                          <p:spTgt spid="21"/>
                                        </p:tgtEl>
                                        <p:attrNameLst>
                                          <p:attrName>style.visibility</p:attrName>
                                        </p:attrNameLst>
                                      </p:cBhvr>
                                      <p:to>
                                        <p:strVal val="visible"/>
                                      </p:to>
                                    </p:set>
                                    <p:animEffect transition="in" filter="wipe(left)">
                                      <p:cBhvr>
                                        <p:cTn id="36" dur="1000"/>
                                        <p:tgtEl>
                                          <p:spTgt spid="21"/>
                                        </p:tgtEl>
                                      </p:cBhvr>
                                    </p:animEffect>
                                  </p:childTnLst>
                                </p:cTn>
                              </p:par>
                            </p:childTnLst>
                          </p:cTn>
                        </p:par>
                        <p:par>
                          <p:cTn id="37" fill="hold">
                            <p:stCondLst>
                              <p:cond delay="9000"/>
                            </p:stCondLst>
                            <p:childTnLst>
                              <p:par>
                                <p:cTn id="38" presetID="1" presetClass="entr" presetSubtype="0" fill="hold" grpId="1" nodeType="afterEffect">
                                  <p:stCondLst>
                                    <p:cond delay="1500"/>
                                  </p:stCondLst>
                                  <p:childTnLst>
                                    <p:set>
                                      <p:cBhvr>
                                        <p:cTn id="39" dur="1" fill="hold">
                                          <p:stCondLst>
                                            <p:cond delay="0"/>
                                          </p:stCondLst>
                                        </p:cTn>
                                        <p:tgtEl>
                                          <p:spTgt spid="491535"/>
                                        </p:tgtEl>
                                        <p:attrNameLst>
                                          <p:attrName>style.visibility</p:attrName>
                                        </p:attrNameLst>
                                      </p:cBhvr>
                                      <p:to>
                                        <p:strVal val="visible"/>
                                      </p:to>
                                    </p:set>
                                  </p:childTnLst>
                                </p:cTn>
                              </p:par>
                            </p:childTnLst>
                          </p:cTn>
                        </p:par>
                        <p:par>
                          <p:cTn id="40" fill="hold">
                            <p:stCondLst>
                              <p:cond delay="10500"/>
                            </p:stCondLst>
                            <p:childTnLst>
                              <p:par>
                                <p:cTn id="41" presetID="1" presetClass="entr" presetSubtype="0" fill="hold" grpId="0" nodeType="afterEffect">
                                  <p:stCondLst>
                                    <p:cond delay="1500"/>
                                  </p:stCondLst>
                                  <p:childTnLst>
                                    <p:set>
                                      <p:cBhvr>
                                        <p:cTn id="42" dur="1" fill="hold">
                                          <p:stCondLst>
                                            <p:cond delay="0"/>
                                          </p:stCondLst>
                                        </p:cTn>
                                        <p:tgtEl>
                                          <p:spTgt spid="491535"/>
                                        </p:tgtEl>
                                        <p:attrNameLst>
                                          <p:attrName>style.visibility</p:attrName>
                                        </p:attrNameLst>
                                      </p:cBhvr>
                                      <p:to>
                                        <p:strVal val="visible"/>
                                      </p:to>
                                    </p:set>
                                  </p:childTnLst>
                                </p:cTn>
                              </p:par>
                            </p:childTnLst>
                          </p:cTn>
                        </p:par>
                        <p:par>
                          <p:cTn id="43" fill="hold">
                            <p:stCondLst>
                              <p:cond delay="12000"/>
                            </p:stCondLst>
                            <p:childTnLst>
                              <p:par>
                                <p:cTn id="44" presetID="1" presetClass="entr" presetSubtype="0" fill="hold" grpId="0" nodeType="afterEffect">
                                  <p:stCondLst>
                                    <p:cond delay="1000"/>
                                  </p:stCondLst>
                                  <p:childTnLst>
                                    <p:set>
                                      <p:cBhvr>
                                        <p:cTn id="45" dur="1" fill="hold">
                                          <p:stCondLst>
                                            <p:cond delay="0"/>
                                          </p:stCondLst>
                                        </p:cTn>
                                        <p:tgtEl>
                                          <p:spTgt spid="491541"/>
                                        </p:tgtEl>
                                        <p:attrNameLst>
                                          <p:attrName>style.visibility</p:attrName>
                                        </p:attrNameLst>
                                      </p:cBhvr>
                                      <p:to>
                                        <p:strVal val="visible"/>
                                      </p:to>
                                    </p:set>
                                  </p:childTnLst>
                                </p:cTn>
                              </p:par>
                            </p:childTnLst>
                          </p:cTn>
                        </p:par>
                        <p:par>
                          <p:cTn id="46" fill="hold">
                            <p:stCondLst>
                              <p:cond delay="13000"/>
                            </p:stCondLst>
                            <p:childTnLst>
                              <p:par>
                                <p:cTn id="47" presetID="1" presetClass="entr" presetSubtype="0" fill="hold" grpId="1" nodeType="afterEffect">
                                  <p:stCondLst>
                                    <p:cond delay="150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1500"/>
                                  </p:stCondLst>
                                  <p:childTnLst>
                                    <p:set>
                                      <p:cBhvr>
                                        <p:cTn id="52" dur="1" fill="hold">
                                          <p:stCondLst>
                                            <p:cond delay="0"/>
                                          </p:stCondLst>
                                        </p:cTn>
                                        <p:tgtEl>
                                          <p:spTgt spid="25"/>
                                        </p:tgtEl>
                                        <p:attrNameLst>
                                          <p:attrName>style.visibility</p:attrName>
                                        </p:attrNameLst>
                                      </p:cBhvr>
                                      <p:to>
                                        <p:strVal val="visible"/>
                                      </p:to>
                                    </p:set>
                                  </p:childTnLst>
                                </p:cTn>
                              </p:par>
                            </p:childTnLst>
                          </p:cTn>
                        </p:par>
                        <p:par>
                          <p:cTn id="53" fill="hold">
                            <p:stCondLst>
                              <p:cond delay="1500"/>
                            </p:stCondLst>
                            <p:childTnLst>
                              <p:par>
                                <p:cTn id="54" presetID="1" presetClass="entr" presetSubtype="0" fill="hold" grpId="0" nodeType="afterEffect">
                                  <p:stCondLst>
                                    <p:cond delay="1500"/>
                                  </p:stCondLst>
                                  <p:childTnLst>
                                    <p:set>
                                      <p:cBhvr>
                                        <p:cTn id="55" dur="1" fill="hold">
                                          <p:stCondLst>
                                            <p:cond delay="0"/>
                                          </p:stCondLst>
                                        </p:cTn>
                                        <p:tgtEl>
                                          <p:spTgt spid="26"/>
                                        </p:tgtEl>
                                        <p:attrNameLst>
                                          <p:attrName>style.visibility</p:attrName>
                                        </p:attrNameLst>
                                      </p:cBhvr>
                                      <p:to>
                                        <p:strVal val="visible"/>
                                      </p:to>
                                    </p:set>
                                  </p:childTnLst>
                                </p:cTn>
                              </p:par>
                            </p:childTnLst>
                          </p:cTn>
                        </p:par>
                        <p:par>
                          <p:cTn id="56" fill="hold">
                            <p:stCondLst>
                              <p:cond delay="3000"/>
                            </p:stCondLst>
                            <p:childTnLst>
                              <p:par>
                                <p:cTn id="57" presetID="22" presetClass="entr" presetSubtype="4" fill="hold" nodeType="afterEffect">
                                  <p:stCondLst>
                                    <p:cond delay="500"/>
                                  </p:stCondLst>
                                  <p:childTnLst>
                                    <p:set>
                                      <p:cBhvr>
                                        <p:cTn id="58" dur="1000" fill="hold">
                                          <p:stCondLst>
                                            <p:cond delay="0"/>
                                          </p:stCondLst>
                                        </p:cTn>
                                        <p:tgtEl>
                                          <p:spTgt spid="27"/>
                                        </p:tgtEl>
                                        <p:attrNameLst>
                                          <p:attrName>style.visibility</p:attrName>
                                        </p:attrNameLst>
                                      </p:cBhvr>
                                      <p:to>
                                        <p:strVal val="visible"/>
                                      </p:to>
                                    </p:set>
                                    <p:animEffect transition="in" filter="wipe(down)">
                                      <p:cBhvr>
                                        <p:cTn id="59" dur="1000"/>
                                        <p:tgtEl>
                                          <p:spTgt spid="27"/>
                                        </p:tgtEl>
                                      </p:cBhvr>
                                    </p:animEffect>
                                  </p:childTnLst>
                                </p:cTn>
                              </p:par>
                            </p:childTnLst>
                          </p:cTn>
                        </p:par>
                        <p:par>
                          <p:cTn id="60" fill="hold">
                            <p:stCondLst>
                              <p:cond delay="4500"/>
                            </p:stCondLst>
                            <p:childTnLst>
                              <p:par>
                                <p:cTn id="61" presetID="22" presetClass="entr" presetSubtype="4" fill="hold" nodeType="afterEffect">
                                  <p:stCondLst>
                                    <p:cond delay="500"/>
                                  </p:stCondLst>
                                  <p:childTnLst>
                                    <p:set>
                                      <p:cBhvr>
                                        <p:cTn id="62" dur="1" fill="hold">
                                          <p:stCondLst>
                                            <p:cond delay="0"/>
                                          </p:stCondLst>
                                        </p:cTn>
                                        <p:tgtEl>
                                          <p:spTgt spid="28"/>
                                        </p:tgtEl>
                                        <p:attrNameLst>
                                          <p:attrName>style.visibility</p:attrName>
                                        </p:attrNameLst>
                                      </p:cBhvr>
                                      <p:to>
                                        <p:strVal val="visible"/>
                                      </p:to>
                                    </p:set>
                                    <p:animEffect transition="in" filter="wipe(down)">
                                      <p:cBhvr>
                                        <p:cTn id="63" dur="500"/>
                                        <p:tgtEl>
                                          <p:spTgt spid="28"/>
                                        </p:tgtEl>
                                      </p:cBhvr>
                                    </p:animEffect>
                                  </p:childTnLst>
                                </p:cTn>
                              </p:par>
                            </p:childTnLst>
                          </p:cTn>
                        </p:par>
                        <p:par>
                          <p:cTn id="64" fill="hold">
                            <p:stCondLst>
                              <p:cond delay="5500"/>
                            </p:stCondLst>
                            <p:childTnLst>
                              <p:par>
                                <p:cTn id="65" presetID="22" presetClass="entr" presetSubtype="4" fill="hold" nodeType="afterEffect">
                                  <p:stCondLst>
                                    <p:cond delay="500"/>
                                  </p:stCondLst>
                                  <p:childTnLst>
                                    <p:set>
                                      <p:cBhvr>
                                        <p:cTn id="66" dur="1000" fill="hold">
                                          <p:stCondLst>
                                            <p:cond delay="0"/>
                                          </p:stCondLst>
                                        </p:cTn>
                                        <p:tgtEl>
                                          <p:spTgt spid="29"/>
                                        </p:tgtEl>
                                        <p:attrNameLst>
                                          <p:attrName>style.visibility</p:attrName>
                                        </p:attrNameLst>
                                      </p:cBhvr>
                                      <p:to>
                                        <p:strVal val="visible"/>
                                      </p:to>
                                    </p:set>
                                    <p:animEffect transition="in" filter="wipe(down)">
                                      <p:cBhvr>
                                        <p:cTn id="67" dur="1000"/>
                                        <p:tgtEl>
                                          <p:spTgt spid="29"/>
                                        </p:tgtEl>
                                      </p:cBhvr>
                                    </p:animEffect>
                                  </p:childTnLst>
                                </p:cTn>
                              </p:par>
                            </p:childTnLst>
                          </p:cTn>
                        </p:par>
                        <p:par>
                          <p:cTn id="68" fill="hold">
                            <p:stCondLst>
                              <p:cond delay="7000"/>
                            </p:stCondLst>
                            <p:childTnLst>
                              <p:par>
                                <p:cTn id="69" presetID="22" presetClass="entr" presetSubtype="8" fill="hold" nodeType="afterEffect">
                                  <p:stCondLst>
                                    <p:cond delay="0"/>
                                  </p:stCondLst>
                                  <p:childTnLst>
                                    <p:set>
                                      <p:cBhvr>
                                        <p:cTn id="70" dur="1000" fill="hold">
                                          <p:stCondLst>
                                            <p:cond delay="0"/>
                                          </p:stCondLst>
                                        </p:cTn>
                                        <p:tgtEl>
                                          <p:spTgt spid="30"/>
                                        </p:tgtEl>
                                        <p:attrNameLst>
                                          <p:attrName>style.visibility</p:attrName>
                                        </p:attrNameLst>
                                      </p:cBhvr>
                                      <p:to>
                                        <p:strVal val="visible"/>
                                      </p:to>
                                    </p:set>
                                    <p:animEffect transition="in" filter="wipe(left)">
                                      <p:cBhvr>
                                        <p:cTn id="71" dur="1000"/>
                                        <p:tgtEl>
                                          <p:spTgt spid="30"/>
                                        </p:tgtEl>
                                      </p:cBhvr>
                                    </p:animEffect>
                                  </p:childTnLst>
                                </p:cTn>
                              </p:par>
                            </p:childTnLst>
                          </p:cTn>
                        </p:par>
                        <p:par>
                          <p:cTn id="72" fill="hold">
                            <p:stCondLst>
                              <p:cond delay="8000"/>
                            </p:stCondLst>
                            <p:childTnLst>
                              <p:par>
                                <p:cTn id="73" presetID="1" presetClass="entr" presetSubtype="0" fill="hold" grpId="1" nodeType="afterEffect">
                                  <p:stCondLst>
                                    <p:cond delay="1500"/>
                                  </p:stCondLst>
                                  <p:childTnLst>
                                    <p:set>
                                      <p:cBhvr>
                                        <p:cTn id="74" dur="1" fill="hold">
                                          <p:stCondLst>
                                            <p:cond delay="0"/>
                                          </p:stCondLst>
                                        </p:cTn>
                                        <p:tgtEl>
                                          <p:spTgt spid="31"/>
                                        </p:tgtEl>
                                        <p:attrNameLst>
                                          <p:attrName>style.visibility</p:attrName>
                                        </p:attrNameLst>
                                      </p:cBhvr>
                                      <p:to>
                                        <p:strVal val="visible"/>
                                      </p:to>
                                    </p:set>
                                  </p:childTnLst>
                                </p:cTn>
                              </p:par>
                            </p:childTnLst>
                          </p:cTn>
                        </p:par>
                        <p:par>
                          <p:cTn id="75" fill="hold">
                            <p:stCondLst>
                              <p:cond delay="9500"/>
                            </p:stCondLst>
                            <p:childTnLst>
                              <p:par>
                                <p:cTn id="76" presetID="1" presetClass="entr" presetSubtype="0" fill="hold" grpId="0" nodeType="afterEffect">
                                  <p:stCondLst>
                                    <p:cond delay="1500"/>
                                  </p:stCondLst>
                                  <p:childTnLst>
                                    <p:set>
                                      <p:cBhvr>
                                        <p:cTn id="77" dur="1" fill="hold">
                                          <p:stCondLst>
                                            <p:cond delay="0"/>
                                          </p:stCondLst>
                                        </p:cTn>
                                        <p:tgtEl>
                                          <p:spTgt spid="3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66" grpId="0" bldLvl="0" animBg="1"/>
      <p:bldP spid="514064" grpId="0" bldLvl="0" animBg="1"/>
      <p:bldP spid="491535" grpId="0" bldLvl="0" animBg="1"/>
      <p:bldP spid="491541" grpId="0" bldLvl="0" animBg="1"/>
      <p:bldP spid="491535" grpId="1" animBg="1"/>
      <p:bldP spid="25" grpId="0" bldLvl="0" animBg="1"/>
      <p:bldP spid="25" grpId="1" bldLvl="0" animBg="1"/>
      <p:bldP spid="26" grpId="0" bldLvl="0" animBg="1"/>
      <p:bldP spid="31" grpId="0" bldLvl="0" animBg="1"/>
      <p:bldP spid="31" grpId="1" bldLvl="0" animBg="1"/>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0" name="文本框 99"/>
          <p:cNvSpPr txBox="1"/>
          <p:nvPr/>
        </p:nvSpPr>
        <p:spPr>
          <a:xfrm>
            <a:off x="232410" y="1884680"/>
            <a:ext cx="6575425" cy="460375"/>
          </a:xfrm>
          <a:prstGeom prst="rect">
            <a:avLst/>
          </a:prstGeom>
          <a:noFill/>
          <a:ln w="9525">
            <a:noFill/>
          </a:ln>
        </p:spPr>
        <p:txBody>
          <a:bodyPr wrap="square">
            <a:spAutoFit/>
          </a:bodyPr>
          <a:p>
            <a:pPr>
              <a:buClrTx/>
              <a:buSzTx/>
              <a:buFontTx/>
            </a:pPr>
            <a:r>
              <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以直接置0</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功能</a:t>
            </a:r>
            <a:r>
              <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为例</a:t>
            </a:r>
            <a:endParaRPr lang="zh-CN"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endParaRPr>
          </a:p>
        </p:txBody>
      </p:sp>
      <p:sp>
        <p:nvSpPr>
          <p:cNvPr id="2" name="TextBox 6"/>
          <p:cNvSpPr txBox="1"/>
          <p:nvPr/>
        </p:nvSpPr>
        <p:spPr>
          <a:xfrm>
            <a:off x="3383280" y="559435"/>
            <a:ext cx="242252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5.3 </a:t>
            </a:r>
            <a:r>
              <a:rPr lang="zh-CN" altLang="en-US" b="1" dirty="0">
                <a:solidFill>
                  <a:srgbClr val="FF0000"/>
                </a:solidFill>
                <a:latin typeface="黑体" panose="02010609060101010101" pitchFamily="49" charset="-122"/>
                <a:ea typeface="黑体" panose="02010609060101010101" pitchFamily="49" charset="-122"/>
                <a:sym typeface="+mn-ea"/>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352" name="图片 2789"/>
          <p:cNvPicPr>
            <a:picLocks noChangeAspect="1"/>
          </p:cNvPicPr>
          <p:nvPr/>
        </p:nvPicPr>
        <p:blipFill>
          <a:blip r:embed="rId1"/>
          <a:srcRect r="19584" b="7176"/>
          <a:stretch>
            <a:fillRect/>
          </a:stretch>
        </p:blipFill>
        <p:spPr>
          <a:xfrm>
            <a:off x="2917190" y="1683385"/>
            <a:ext cx="5543550" cy="3154045"/>
          </a:xfrm>
          <a:prstGeom prst="rect">
            <a:avLst/>
          </a:prstGeom>
          <a:noFill/>
          <a:ln>
            <a:noFill/>
          </a:ln>
        </p:spPr>
      </p:pic>
      <p:grpSp>
        <p:nvGrpSpPr>
          <p:cNvPr id="23" name="组合 22"/>
          <p:cNvGrpSpPr/>
          <p:nvPr/>
        </p:nvGrpSpPr>
        <p:grpSpPr>
          <a:xfrm>
            <a:off x="271145" y="2463165"/>
            <a:ext cx="5109845" cy="471805"/>
            <a:chOff x="427" y="3987"/>
            <a:chExt cx="8047" cy="743"/>
          </a:xfrm>
        </p:grpSpPr>
        <p:sp>
          <p:nvSpPr>
            <p:cNvPr id="515075" name="矩形 515074"/>
            <p:cNvSpPr/>
            <p:nvPr/>
          </p:nvSpPr>
          <p:spPr>
            <a:xfrm>
              <a:off x="427" y="3987"/>
              <a:ext cx="8047" cy="725"/>
            </a:xfrm>
            <a:prstGeom prst="rect">
              <a:avLst/>
            </a:prstGeom>
            <a:noFill/>
            <a:ln w="38100">
              <a:noFill/>
            </a:ln>
          </p:spPr>
          <p:txBody>
            <a:bodyPr wrap="square" anchor="t">
              <a:spAutoFit/>
            </a:bodyPr>
            <a:p>
              <a:pPr>
                <a:spcBef>
                  <a:spcPct val="50000"/>
                </a:spcBef>
              </a:pPr>
              <a:r>
                <a:rPr lang="en-US" altLang="zh-CN" sz="2400" b="1" i="1">
                  <a:gradFill>
                    <a:gsLst>
                      <a:gs pos="0">
                        <a:srgbClr val="012D86"/>
                      </a:gs>
                      <a:gs pos="100000">
                        <a:srgbClr val="0E2557"/>
                      </a:gs>
                    </a:gsLst>
                    <a:lin scaled="0"/>
                  </a:gradFill>
                  <a:latin typeface="Times New Roman" panose="02020603050405020304" charset="0"/>
                  <a:ea typeface="楷体_GB2312" pitchFamily="49" charset="-122"/>
                </a:rPr>
                <a:t>CP</a:t>
              </a:r>
              <a:r>
                <a:rPr lang="en-US" sz="2400" b="1" dirty="0">
                  <a:gradFill>
                    <a:gsLst>
                      <a:gs pos="0">
                        <a:srgbClr val="012D86"/>
                      </a:gs>
                      <a:gs pos="100000">
                        <a:srgbClr val="0E2557"/>
                      </a:gs>
                    </a:gsLst>
                    <a:lin scaled="0"/>
                  </a:gradFill>
                  <a:latin typeface="Tahoma" panose="020B0604030504040204" pitchFamily="34" charset="0"/>
                  <a:ea typeface="楷体_GB2312" pitchFamily="49" charset="-122"/>
                </a:rPr>
                <a:t>=</a:t>
              </a:r>
              <a:r>
                <a:rPr lang="en-US" altLang="zh-CN" sz="2400" b="1">
                  <a:gradFill>
                    <a:gsLst>
                      <a:gs pos="0">
                        <a:srgbClr val="012D86"/>
                      </a:gs>
                      <a:gs pos="100000">
                        <a:srgbClr val="0E2557"/>
                      </a:gs>
                    </a:gsLst>
                    <a:lin scaled="0"/>
                  </a:gradFill>
                  <a:latin typeface="Times New Roman" panose="02020603050405020304" charset="0"/>
                  <a:ea typeface="楷体_GB2312" pitchFamily="49" charset="-122"/>
                </a:rPr>
                <a:t>0</a:t>
              </a:r>
              <a:r>
                <a:rPr lang="zh-CN" altLang="en-US" sz="2400" b="1">
                  <a:gradFill>
                    <a:gsLst>
                      <a:gs pos="0">
                        <a:srgbClr val="012D86"/>
                      </a:gs>
                      <a:gs pos="100000">
                        <a:srgbClr val="0E2557"/>
                      </a:gs>
                    </a:gsLst>
                    <a:lin scaled="0"/>
                  </a:gradFill>
                  <a:latin typeface="Times New Roman" panose="02020603050405020304" charset="0"/>
                  <a:ea typeface="楷体_GB2312" pitchFamily="49" charset="-122"/>
                </a:rPr>
                <a:t>，   </a:t>
              </a:r>
              <a:r>
                <a:rPr lang="en-US" altLang="zh-CN" sz="2400" b="1">
                  <a:gradFill>
                    <a:gsLst>
                      <a:gs pos="0">
                        <a:srgbClr val="012D86"/>
                      </a:gs>
                      <a:gs pos="100000">
                        <a:srgbClr val="0E2557"/>
                      </a:gs>
                    </a:gsLst>
                    <a:lin scaled="0"/>
                  </a:gradFill>
                  <a:latin typeface="Times New Roman" panose="02020603050405020304" charset="0"/>
                  <a:ea typeface="楷体_GB2312" pitchFamily="49" charset="-122"/>
                </a:rPr>
                <a:t>=1</a:t>
              </a:r>
              <a:endParaRPr lang="en-US" altLang="zh-CN" sz="2400" b="1">
                <a:gradFill>
                  <a:gsLst>
                    <a:gs pos="0">
                      <a:srgbClr val="012D86"/>
                    </a:gs>
                    <a:gs pos="100000">
                      <a:srgbClr val="0E2557"/>
                    </a:gs>
                  </a:gsLst>
                  <a:lin scaled="0"/>
                </a:gradFill>
                <a:latin typeface="Times New Roman" panose="02020603050405020304" charset="0"/>
                <a:ea typeface="楷体_GB2312" pitchFamily="49" charset="-122"/>
              </a:endParaRPr>
            </a:p>
          </p:txBody>
        </p:sp>
        <p:pic>
          <p:nvPicPr>
            <p:cNvPr id="6" name="图片 5"/>
            <p:cNvPicPr/>
            <p:nvPr/>
          </p:nvPicPr>
          <p:blipFill>
            <a:blip r:embed="rId2"/>
            <a:stretch>
              <a:fillRect/>
            </a:stretch>
          </p:blipFill>
          <p:spPr>
            <a:xfrm>
              <a:off x="1974" y="4075"/>
              <a:ext cx="683" cy="655"/>
            </a:xfrm>
            <a:prstGeom prst="rect">
              <a:avLst/>
            </a:prstGeom>
            <a:noFill/>
            <a:ln w="9525">
              <a:noFill/>
            </a:ln>
          </p:spPr>
        </p:pic>
      </p:grpSp>
      <p:sp>
        <p:nvSpPr>
          <p:cNvPr id="10" name="文本框 9"/>
          <p:cNvSpPr txBox="1"/>
          <p:nvPr/>
        </p:nvSpPr>
        <p:spPr>
          <a:xfrm>
            <a:off x="270510" y="2955925"/>
            <a:ext cx="2399030" cy="460375"/>
          </a:xfrm>
          <a:prstGeom prst="rect">
            <a:avLst/>
          </a:prstGeom>
          <a:noFill/>
          <a:ln w="9525">
            <a:noFill/>
          </a:ln>
        </p:spPr>
        <p:txBody>
          <a:bodyPr wrap="square">
            <a:spAutoFit/>
          </a:bodyPr>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3" name="文本框 2"/>
          <p:cNvSpPr txBox="1"/>
          <p:nvPr/>
        </p:nvSpPr>
        <p:spPr>
          <a:xfrm>
            <a:off x="271145" y="3517900"/>
            <a:ext cx="239903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触发器置</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endParaRPr lang="en-US" altLang="en-US" sz="2400" b="1">
              <a:gradFill>
                <a:gsLst>
                  <a:gs pos="0">
                    <a:srgbClr val="012D86"/>
                  </a:gs>
                  <a:gs pos="100000">
                    <a:srgbClr val="0E2557"/>
                  </a:gs>
                </a:gsLst>
                <a:lin scaled="0"/>
              </a:gradFill>
              <a:latin typeface="Times New Roman" panose="02020603050405020304" charset="0"/>
              <a:ea typeface="宋体" panose="02010600030101010101" pitchFamily="2" charset="-122"/>
            </a:endParaRPr>
          </a:p>
        </p:txBody>
      </p:sp>
      <p:sp>
        <p:nvSpPr>
          <p:cNvPr id="4" name="椭圆 3"/>
          <p:cNvSpPr/>
          <p:nvPr/>
        </p:nvSpPr>
        <p:spPr>
          <a:xfrm>
            <a:off x="4047491" y="126873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37" name="椭圆 36"/>
          <p:cNvSpPr/>
          <p:nvPr/>
        </p:nvSpPr>
        <p:spPr>
          <a:xfrm>
            <a:off x="4159251" y="467233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514064" name="圆角矩形 514063"/>
          <p:cNvSpPr/>
          <p:nvPr/>
        </p:nvSpPr>
        <p:spPr>
          <a:xfrm>
            <a:off x="6356350" y="2772410"/>
            <a:ext cx="729615" cy="643890"/>
          </a:xfrm>
          <a:prstGeom prst="roundRect">
            <a:avLst>
              <a:gd name="adj" fmla="val 16667"/>
            </a:avLst>
          </a:prstGeom>
          <a:noFill/>
          <a:ln w="28575" cap="flat" cmpd="sng">
            <a:solidFill>
              <a:srgbClr val="FF0000"/>
            </a:solidFill>
            <a:prstDash val="dash"/>
            <a:headEnd type="none" w="med" len="med"/>
            <a:tailEnd type="none" w="med" len="med"/>
          </a:ln>
        </p:spPr>
        <p:txBody>
          <a:bodyPr/>
          <a:p>
            <a:endParaRPr lang="zh-CN" altLang="en-US"/>
          </a:p>
        </p:txBody>
      </p:sp>
      <p:sp>
        <p:nvSpPr>
          <p:cNvPr id="514066" name="圆角矩形 514065"/>
          <p:cNvSpPr/>
          <p:nvPr/>
        </p:nvSpPr>
        <p:spPr>
          <a:xfrm>
            <a:off x="5572125" y="1932305"/>
            <a:ext cx="784225" cy="666750"/>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sp>
        <p:nvSpPr>
          <p:cNvPr id="11" name="矩形 10"/>
          <p:cNvSpPr/>
          <p:nvPr/>
        </p:nvSpPr>
        <p:spPr>
          <a:xfrm>
            <a:off x="4038600" y="265049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6" name="直接连接符 15"/>
          <p:cNvCxnSpPr/>
          <p:nvPr/>
        </p:nvCxnSpPr>
        <p:spPr>
          <a:xfrm flipV="1">
            <a:off x="4173220" y="4522470"/>
            <a:ext cx="0" cy="22352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173220" y="4522470"/>
            <a:ext cx="135763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530850" y="1821180"/>
            <a:ext cx="0" cy="270129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530850" y="1821180"/>
            <a:ext cx="10312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562090" y="1821180"/>
            <a:ext cx="0" cy="2838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562090" y="2143760"/>
            <a:ext cx="43878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91541" name="椭圆 491540"/>
          <p:cNvSpPr/>
          <p:nvPr/>
        </p:nvSpPr>
        <p:spPr>
          <a:xfrm>
            <a:off x="8400733" y="2006600"/>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491535" name="椭圆 491534"/>
          <p:cNvSpPr/>
          <p:nvPr/>
        </p:nvSpPr>
        <p:spPr>
          <a:xfrm>
            <a:off x="7288848" y="1755458"/>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22" name="直接连接符 21"/>
          <p:cNvCxnSpPr/>
          <p:nvPr/>
        </p:nvCxnSpPr>
        <p:spPr>
          <a:xfrm>
            <a:off x="4164965" y="2574290"/>
            <a:ext cx="0" cy="2838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4821873" y="3708083"/>
            <a:ext cx="406400" cy="414338"/>
          </a:xfrm>
          <a:prstGeom prst="ellipse">
            <a:avLst/>
          </a:prstGeom>
          <a:solidFill>
            <a:srgbClr val="FFCCFF">
              <a:alpha val="48000"/>
            </a:srgbClr>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26" name="椭圆 25"/>
          <p:cNvSpPr/>
          <p:nvPr/>
        </p:nvSpPr>
        <p:spPr>
          <a:xfrm>
            <a:off x="4935538" y="1801495"/>
            <a:ext cx="406400" cy="414338"/>
          </a:xfrm>
          <a:prstGeom prst="ellipse">
            <a:avLst/>
          </a:prstGeom>
          <a:solidFill>
            <a:srgbClr val="FFCCFF">
              <a:alpha val="50000"/>
            </a:srgbClr>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1</a:t>
            </a:r>
            <a:endParaRPr lang="en-US" altLang="zh-CN" sz="2400">
              <a:solidFill>
                <a:srgbClr val="000066"/>
              </a:solidFill>
              <a:latin typeface="黑体" panose="02010609060101010101" pitchFamily="49" charset="-122"/>
              <a:ea typeface="黑体" panose="02010609060101010101" pitchFamily="49" charset="-122"/>
            </a:endParaRPr>
          </a:p>
        </p:txBody>
      </p:sp>
      <p:cxnSp>
        <p:nvCxnSpPr>
          <p:cNvPr id="27" name="直接连接符 26"/>
          <p:cNvCxnSpPr/>
          <p:nvPr/>
        </p:nvCxnSpPr>
        <p:spPr>
          <a:xfrm flipV="1">
            <a:off x="4935855" y="3708400"/>
            <a:ext cx="0" cy="34861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flipV="1">
            <a:off x="4164965" y="3416300"/>
            <a:ext cx="761365" cy="2616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4164330" y="2328545"/>
            <a:ext cx="0" cy="101790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662420" y="2676525"/>
            <a:ext cx="983615" cy="0"/>
          </a:xfrm>
          <a:prstGeom prst="line">
            <a:avLst/>
          </a:prstGeom>
          <a:noFill/>
          <a:ln w="15875"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sp>
        <p:nvSpPr>
          <p:cNvPr id="31" name="椭圆 30"/>
          <p:cNvSpPr/>
          <p:nvPr/>
        </p:nvSpPr>
        <p:spPr>
          <a:xfrm>
            <a:off x="8460423" y="2508568"/>
            <a:ext cx="406400" cy="414338"/>
          </a:xfrm>
          <a:prstGeom prst="ellipse">
            <a:avLst/>
          </a:prstGeom>
          <a:solidFill>
            <a:srgbClr val="FFCCFF"/>
          </a:solidFill>
          <a:ln w="9525">
            <a:noFill/>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grpSp>
        <p:nvGrpSpPr>
          <p:cNvPr id="8" name="组合 7"/>
          <p:cNvGrpSpPr/>
          <p:nvPr/>
        </p:nvGrpSpPr>
        <p:grpSpPr>
          <a:xfrm>
            <a:off x="232410" y="4005580"/>
            <a:ext cx="5109845" cy="460375"/>
            <a:chOff x="174" y="5858"/>
            <a:chExt cx="8047" cy="725"/>
          </a:xfrm>
        </p:grpSpPr>
        <p:sp>
          <p:nvSpPr>
            <p:cNvPr id="5" name="矩形 4"/>
            <p:cNvSpPr/>
            <p:nvPr/>
          </p:nvSpPr>
          <p:spPr>
            <a:xfrm>
              <a:off x="174" y="5858"/>
              <a:ext cx="8047" cy="725"/>
            </a:xfrm>
            <a:prstGeom prst="rect">
              <a:avLst/>
            </a:prstGeom>
            <a:noFill/>
            <a:ln w="38100">
              <a:noFill/>
            </a:ln>
          </p:spPr>
          <p:txBody>
            <a:bodyPr wrap="square" anchor="t">
              <a:spAutoFit/>
            </a:bodyPr>
            <a:p>
              <a:pPr>
                <a:spcBef>
                  <a:spcPct val="50000"/>
                </a:spcBef>
              </a:pPr>
              <a:r>
                <a:rPr lang="en-US" altLang="zh-CN" sz="2400" b="1" i="1">
                  <a:gradFill>
                    <a:gsLst>
                      <a:gs pos="0">
                        <a:srgbClr val="012D86"/>
                      </a:gs>
                      <a:gs pos="100000">
                        <a:srgbClr val="0E2557"/>
                      </a:gs>
                    </a:gsLst>
                    <a:lin scaled="0"/>
                  </a:gradFill>
                  <a:latin typeface="Times New Roman" panose="02020603050405020304" charset="0"/>
                  <a:ea typeface="楷体_GB2312" pitchFamily="49" charset="-122"/>
                </a:rPr>
                <a:t>CP</a:t>
              </a:r>
              <a:r>
                <a:rPr lang="zh-CN" altLang="en-US" sz="2400" b="1" dirty="0">
                  <a:gradFill>
                    <a:gsLst>
                      <a:gs pos="0">
                        <a:srgbClr val="012D86"/>
                      </a:gs>
                      <a:gs pos="100000">
                        <a:srgbClr val="0E2557"/>
                      </a:gs>
                    </a:gsLst>
                    <a:lin scaled="0"/>
                  </a:gradFill>
                  <a:latin typeface="Tahoma" panose="020B0604030504040204" pitchFamily="34" charset="0"/>
                  <a:ea typeface="楷体_GB2312" pitchFamily="49" charset="-122"/>
                </a:rPr>
                <a:t>由</a:t>
              </a:r>
              <a:r>
                <a:rPr lang="en-US" altLang="zh-CN" sz="2400" b="1" dirty="0">
                  <a:gradFill>
                    <a:gsLst>
                      <a:gs pos="0">
                        <a:srgbClr val="012D86"/>
                      </a:gs>
                      <a:gs pos="100000">
                        <a:srgbClr val="0E2557"/>
                      </a:gs>
                    </a:gsLst>
                    <a:lin scaled="0"/>
                  </a:gradFill>
                  <a:latin typeface="Times New Roman" panose="02020603050405020304" charset="0"/>
                  <a:ea typeface="楷体_GB2312" pitchFamily="49" charset="-122"/>
                </a:rPr>
                <a:t>0</a:t>
              </a:r>
              <a:r>
                <a:rPr lang="zh-CN" altLang="en-US" sz="2400" b="1" dirty="0">
                  <a:gradFill>
                    <a:gsLst>
                      <a:gs pos="0">
                        <a:srgbClr val="012D86"/>
                      </a:gs>
                      <a:gs pos="100000">
                        <a:srgbClr val="0E2557"/>
                      </a:gs>
                    </a:gsLst>
                    <a:lin scaled="0"/>
                  </a:gradFill>
                  <a:latin typeface="Times New Roman" panose="02020603050405020304" charset="0"/>
                  <a:ea typeface="楷体_GB2312" pitchFamily="49" charset="-122"/>
                </a:rPr>
                <a:t>跳变到</a:t>
              </a:r>
              <a:r>
                <a:rPr lang="en-US" altLang="zh-CN" sz="2400" b="1">
                  <a:gradFill>
                    <a:gsLst>
                      <a:gs pos="0">
                        <a:srgbClr val="012D86"/>
                      </a:gs>
                      <a:gs pos="100000">
                        <a:srgbClr val="0E2557"/>
                      </a:gs>
                    </a:gsLst>
                    <a:lin scaled="0"/>
                  </a:gradFill>
                  <a:latin typeface="Times New Roman" panose="02020603050405020304" charset="0"/>
                  <a:ea typeface="楷体_GB2312" pitchFamily="49" charset="-122"/>
                </a:rPr>
                <a:t>1</a:t>
              </a:r>
              <a:r>
                <a:rPr lang="zh-CN" altLang="en-US" sz="2400" b="1">
                  <a:gradFill>
                    <a:gsLst>
                      <a:gs pos="0">
                        <a:srgbClr val="012D86"/>
                      </a:gs>
                      <a:gs pos="100000">
                        <a:srgbClr val="0E2557"/>
                      </a:gs>
                    </a:gsLst>
                    <a:lin scaled="0"/>
                  </a:gradFill>
                  <a:latin typeface="Times New Roman" panose="02020603050405020304" charset="0"/>
                  <a:ea typeface="楷体_GB2312" pitchFamily="49" charset="-122"/>
                </a:rPr>
                <a:t>，   </a:t>
              </a:r>
              <a:r>
                <a:rPr lang="en-US" altLang="zh-CN" sz="2400" b="1">
                  <a:gradFill>
                    <a:gsLst>
                      <a:gs pos="0">
                        <a:srgbClr val="012D86"/>
                      </a:gs>
                      <a:gs pos="100000">
                        <a:srgbClr val="0E2557"/>
                      </a:gs>
                    </a:gsLst>
                    <a:lin scaled="0"/>
                  </a:gradFill>
                  <a:latin typeface="Times New Roman" panose="02020603050405020304" charset="0"/>
                  <a:ea typeface="楷体_GB2312" pitchFamily="49" charset="-122"/>
                </a:rPr>
                <a:t>=0</a:t>
              </a:r>
              <a:endParaRPr lang="en-US" altLang="zh-CN" sz="2400" b="1">
                <a:gradFill>
                  <a:gsLst>
                    <a:gs pos="0">
                      <a:srgbClr val="012D86"/>
                    </a:gs>
                    <a:gs pos="100000">
                      <a:srgbClr val="0E2557"/>
                    </a:gs>
                  </a:gsLst>
                  <a:lin scaled="0"/>
                </a:gradFill>
                <a:latin typeface="Times New Roman" panose="02020603050405020304" charset="0"/>
                <a:ea typeface="楷体_GB2312" pitchFamily="49" charset="-122"/>
              </a:endParaRPr>
            </a:p>
          </p:txBody>
        </p:sp>
        <p:pic>
          <p:nvPicPr>
            <p:cNvPr id="7" name="图片 6"/>
            <p:cNvPicPr/>
            <p:nvPr/>
          </p:nvPicPr>
          <p:blipFill>
            <a:blip r:embed="rId2"/>
            <a:stretch>
              <a:fillRect/>
            </a:stretch>
          </p:blipFill>
          <p:spPr>
            <a:xfrm>
              <a:off x="3522" y="5893"/>
              <a:ext cx="683" cy="655"/>
            </a:xfrm>
            <a:prstGeom prst="rect">
              <a:avLst/>
            </a:prstGeom>
            <a:noFill/>
            <a:ln w="9525">
              <a:noFill/>
            </a:ln>
          </p:spPr>
        </p:pic>
      </p:grpSp>
      <p:sp>
        <p:nvSpPr>
          <p:cNvPr id="12" name="圆角矩形 11"/>
          <p:cNvSpPr/>
          <p:nvPr/>
        </p:nvSpPr>
        <p:spPr>
          <a:xfrm>
            <a:off x="3781425" y="2749550"/>
            <a:ext cx="784225" cy="666750"/>
          </a:xfrm>
          <a:prstGeom prst="roundRect">
            <a:avLst>
              <a:gd name="adj" fmla="val 16667"/>
            </a:avLst>
          </a:prstGeom>
          <a:noFill/>
          <a:ln w="28575" cap="flat" cmpd="sng">
            <a:solidFill>
              <a:srgbClr val="00B050"/>
            </a:solidFill>
            <a:prstDash val="dash"/>
            <a:headEnd type="none" w="med" len="med"/>
            <a:tailEnd type="none" w="med" len="med"/>
          </a:ln>
        </p:spPr>
        <p:txBody>
          <a:bodyPr/>
          <a:p>
            <a:endParaRPr lang="zh-CN" altLang="en-US"/>
          </a:p>
        </p:txBody>
      </p:sp>
      <p:cxnSp>
        <p:nvCxnSpPr>
          <p:cNvPr id="13" name="直接连接符 12"/>
          <p:cNvCxnSpPr/>
          <p:nvPr/>
        </p:nvCxnSpPr>
        <p:spPr>
          <a:xfrm flipV="1">
            <a:off x="4173220" y="4107180"/>
            <a:ext cx="0" cy="41529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173220" y="4107180"/>
            <a:ext cx="1765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173220" y="2328545"/>
            <a:ext cx="26289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4850130" y="2216150"/>
            <a:ext cx="36766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228590" y="2225040"/>
            <a:ext cx="0" cy="11176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5228590" y="2336800"/>
            <a:ext cx="1476375" cy="0"/>
          </a:xfrm>
          <a:prstGeom prst="line">
            <a:avLst/>
          </a:prstGeom>
          <a:noFill/>
          <a:ln w="19050" cap="flat" cmpd="sng" algn="ctr">
            <a:solidFill>
              <a:srgbClr val="FF0000"/>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721475" y="2345055"/>
            <a:ext cx="0" cy="2838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71145" y="4488180"/>
            <a:ext cx="239903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触发器置</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endParaRPr lang="en-US" altLang="en-US" sz="2400" b="1">
              <a:gradFill>
                <a:gsLst>
                  <a:gs pos="0">
                    <a:srgbClr val="012D86"/>
                  </a:gs>
                  <a:gs pos="100000">
                    <a:srgbClr val="0E2557"/>
                  </a:gs>
                </a:gsLst>
                <a:lin scaled="0"/>
              </a:gradFill>
              <a:latin typeface="Times New Roman" panose="02020603050405020304" charset="0"/>
              <a:ea typeface="宋体" panose="02010600030101010101" pitchFamily="2" charset="-122"/>
            </a:endParaRPr>
          </a:p>
        </p:txBody>
      </p:sp>
      <p:sp>
        <p:nvSpPr>
          <p:cNvPr id="38" name="文本框 37"/>
          <p:cNvSpPr txBox="1"/>
          <p:nvPr/>
        </p:nvSpPr>
        <p:spPr>
          <a:xfrm>
            <a:off x="391795" y="5034915"/>
            <a:ext cx="8121015" cy="460375"/>
          </a:xfrm>
          <a:prstGeom prst="rect">
            <a:avLst/>
          </a:prstGeom>
          <a:noFill/>
          <a:ln w="9525">
            <a:noFill/>
          </a:ln>
        </p:spPr>
        <p:txBody>
          <a:bodyPr wrap="square">
            <a:spAutoFit/>
          </a:bodyPr>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a:t>
            </a:r>
            <a:r>
              <a:rPr lang="zh-CN" sz="2400" b="1">
                <a:gradFill>
                  <a:gsLst>
                    <a:gs pos="0">
                      <a:srgbClr val="012D86"/>
                    </a:gs>
                    <a:gs pos="100000">
                      <a:srgbClr val="0E2557"/>
                    </a:gs>
                  </a:gsLst>
                  <a:lin scaled="0"/>
                </a:gradFill>
                <a:sym typeface="+mn-ea"/>
              </a:rPr>
              <a:t>触发器置</a:t>
            </a:r>
            <a:r>
              <a:rPr lang="en-US" sz="2400" b="1">
                <a:gradFill>
                  <a:gsLst>
                    <a:gs pos="0">
                      <a:srgbClr val="012D86"/>
                    </a:gs>
                    <a:gs pos="100000">
                      <a:srgbClr val="0E2557"/>
                    </a:gs>
                  </a:gsLst>
                  <a:lin scaled="0"/>
                </a:gradFill>
                <a:latin typeface="Times New Roman" panose="02020603050405020304" charset="0"/>
                <a:sym typeface="+mn-ea"/>
              </a:rPr>
              <a:t>0</a:t>
            </a:r>
            <a:r>
              <a:rPr lang="zh-CN" altLang="en-US" sz="2400" b="1">
                <a:gradFill>
                  <a:gsLst>
                    <a:gs pos="0">
                      <a:srgbClr val="012D86"/>
                    </a:gs>
                    <a:gs pos="100000">
                      <a:srgbClr val="0E2557"/>
                    </a:gs>
                  </a:gsLst>
                  <a:lin scaled="0"/>
                </a:gradFill>
                <a:latin typeface="Times New Roman" panose="02020603050405020304" charset="0"/>
                <a:sym typeface="+mn-ea"/>
              </a:rPr>
              <a:t>，与时钟脉冲无关，</a:t>
            </a:r>
            <a:r>
              <a:rPr lang="zh-CN" altLang="zh-CN" sz="2400" b="1">
                <a:gradFill>
                  <a:gsLst>
                    <a:gs pos="0">
                      <a:srgbClr val="012D86"/>
                    </a:gs>
                    <a:gs pos="100000">
                      <a:srgbClr val="0E2557"/>
                    </a:gs>
                  </a:gsLst>
                  <a:lin scaled="0"/>
                </a:gradFill>
                <a:latin typeface="Times New Roman" panose="02020603050405020304" charset="0"/>
                <a:sym typeface="+mn-ea"/>
              </a:rPr>
              <a:t>称为</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sym typeface="+mn-ea"/>
              </a:rPr>
              <a:t>直接置0</a:t>
            </a:r>
            <a:r>
              <a:rPr lang="zh-CN" altLang="en-US" sz="2400" b="1">
                <a:gradFill>
                  <a:gsLst>
                    <a:gs pos="0">
                      <a:srgbClr val="012D86"/>
                    </a:gs>
                    <a:gs pos="100000">
                      <a:srgbClr val="0E2557"/>
                    </a:gs>
                  </a:gsLst>
                  <a:lin scaled="0"/>
                </a:gradFill>
                <a:latin typeface="Times New Roman" panose="02020603050405020304" charset="0"/>
                <a:sym typeface="+mn-ea"/>
              </a:rPr>
              <a:t>。</a:t>
            </a:r>
            <a:endParaRPr lang="zh-CN" altLang="en-US" sz="2400" b="1">
              <a:gradFill>
                <a:gsLst>
                  <a:gs pos="0">
                    <a:srgbClr val="012D86"/>
                  </a:gs>
                  <a:gs pos="100000">
                    <a:srgbClr val="0E2557"/>
                  </a:gs>
                </a:gsLst>
                <a:lin scaled="0"/>
              </a:gradFill>
              <a:latin typeface="Times New Roman" panose="02020603050405020304" charset="0"/>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514066"/>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grpId="0" nodeType="afterEffect">
                                  <p:stCondLst>
                                    <p:cond delay="1500"/>
                                  </p:stCondLst>
                                  <p:childTnLst>
                                    <p:set>
                                      <p:cBhvr>
                                        <p:cTn id="15" dur="1" fill="hold">
                                          <p:stCondLst>
                                            <p:cond delay="0"/>
                                          </p:stCondLst>
                                        </p:cTn>
                                        <p:tgtEl>
                                          <p:spTgt spid="514064"/>
                                        </p:tgtEl>
                                        <p:attrNameLst>
                                          <p:attrName>style.visibility</p:attrName>
                                        </p:attrNameLst>
                                      </p:cBhvr>
                                      <p:to>
                                        <p:strVal val="visible"/>
                                      </p:to>
                                    </p:set>
                                  </p:childTnLst>
                                </p:cTn>
                              </p:par>
                            </p:childTnLst>
                          </p:cTn>
                        </p:par>
                        <p:par>
                          <p:cTn id="16" fill="hold">
                            <p:stCondLst>
                              <p:cond delay="3500"/>
                            </p:stCondLst>
                            <p:childTnLst>
                              <p:par>
                                <p:cTn id="17" presetID="22" presetClass="entr" presetSubtype="4" fill="hold" nodeType="afterEffect">
                                  <p:stCondLst>
                                    <p:cond delay="500"/>
                                  </p:stCondLst>
                                  <p:childTnLst>
                                    <p:set>
                                      <p:cBhvr>
                                        <p:cTn id="18" dur="1000" fill="hold">
                                          <p:stCondLst>
                                            <p:cond delay="0"/>
                                          </p:stCondLst>
                                        </p:cTn>
                                        <p:tgtEl>
                                          <p:spTgt spid="16"/>
                                        </p:tgtEl>
                                        <p:attrNameLst>
                                          <p:attrName>style.visibility</p:attrName>
                                        </p:attrNameLst>
                                      </p:cBhvr>
                                      <p:to>
                                        <p:strVal val="visible"/>
                                      </p:to>
                                    </p:set>
                                    <p:animEffect transition="in" filter="wipe(down)">
                                      <p:cBhvr>
                                        <p:cTn id="19" dur="1000"/>
                                        <p:tgtEl>
                                          <p:spTgt spid="16"/>
                                        </p:tgtEl>
                                      </p:cBhvr>
                                    </p:animEffect>
                                  </p:childTnLst>
                                </p:cTn>
                              </p:par>
                            </p:childTnLst>
                          </p:cTn>
                        </p:par>
                        <p:par>
                          <p:cTn id="20" fill="hold">
                            <p:stCondLst>
                              <p:cond delay="5000"/>
                            </p:stCondLst>
                            <p:childTnLst>
                              <p:par>
                                <p:cTn id="21" presetID="22" presetClass="entr" presetSubtype="8" fill="hold" nodeType="afterEffect">
                                  <p:stCondLst>
                                    <p:cond delay="0"/>
                                  </p:stCondLst>
                                  <p:childTnLst>
                                    <p:set>
                                      <p:cBhvr>
                                        <p:cTn id="22" dur="1000" fill="hold">
                                          <p:stCondLst>
                                            <p:cond delay="0"/>
                                          </p:stCondLst>
                                        </p:cTn>
                                        <p:tgtEl>
                                          <p:spTgt spid="17"/>
                                        </p:tgtEl>
                                        <p:attrNameLst>
                                          <p:attrName>style.visibility</p:attrName>
                                        </p:attrNameLst>
                                      </p:cBhvr>
                                      <p:to>
                                        <p:strVal val="visible"/>
                                      </p:to>
                                    </p:set>
                                    <p:animEffect transition="in" filter="wipe(left)">
                                      <p:cBhvr>
                                        <p:cTn id="23" dur="1000"/>
                                        <p:tgtEl>
                                          <p:spTgt spid="17"/>
                                        </p:tgtEl>
                                      </p:cBhvr>
                                    </p:animEffect>
                                  </p:childTnLst>
                                </p:cTn>
                              </p:par>
                            </p:childTnLst>
                          </p:cTn>
                        </p:par>
                        <p:par>
                          <p:cTn id="24" fill="hold">
                            <p:stCondLst>
                              <p:cond delay="6000"/>
                            </p:stCondLst>
                            <p:childTnLst>
                              <p:par>
                                <p:cTn id="25" presetID="22" presetClass="entr" presetSubtype="4" fill="hold" nodeType="afterEffect">
                                  <p:stCondLst>
                                    <p:cond delay="0"/>
                                  </p:stCondLst>
                                  <p:childTnLst>
                                    <p:set>
                                      <p:cBhvr>
                                        <p:cTn id="26" dur="1000" fill="hold">
                                          <p:stCondLst>
                                            <p:cond delay="0"/>
                                          </p:stCondLst>
                                        </p:cTn>
                                        <p:tgtEl>
                                          <p:spTgt spid="18"/>
                                        </p:tgtEl>
                                        <p:attrNameLst>
                                          <p:attrName>style.visibility</p:attrName>
                                        </p:attrNameLst>
                                      </p:cBhvr>
                                      <p:to>
                                        <p:strVal val="visible"/>
                                      </p:to>
                                    </p:set>
                                    <p:animEffect transition="in" filter="wipe(down)">
                                      <p:cBhvr>
                                        <p:cTn id="27" dur="1000"/>
                                        <p:tgtEl>
                                          <p:spTgt spid="18"/>
                                        </p:tgtEl>
                                      </p:cBhvr>
                                    </p:animEffect>
                                  </p:childTnLst>
                                </p:cTn>
                              </p:par>
                            </p:childTnLst>
                          </p:cTn>
                        </p:par>
                        <p:par>
                          <p:cTn id="28" fill="hold">
                            <p:stCondLst>
                              <p:cond delay="7000"/>
                            </p:stCondLst>
                            <p:childTnLst>
                              <p:par>
                                <p:cTn id="29" presetID="22" presetClass="entr" presetSubtype="8" fill="hold" nodeType="afterEffect">
                                  <p:stCondLst>
                                    <p:cond delay="0"/>
                                  </p:stCondLst>
                                  <p:childTnLst>
                                    <p:set>
                                      <p:cBhvr>
                                        <p:cTn id="30" dur="1000" fill="hold">
                                          <p:stCondLst>
                                            <p:cond delay="0"/>
                                          </p:stCondLst>
                                        </p:cTn>
                                        <p:tgtEl>
                                          <p:spTgt spid="19"/>
                                        </p:tgtEl>
                                        <p:attrNameLst>
                                          <p:attrName>style.visibility</p:attrName>
                                        </p:attrNameLst>
                                      </p:cBhvr>
                                      <p:to>
                                        <p:strVal val="visible"/>
                                      </p:to>
                                    </p:set>
                                    <p:animEffect transition="in" filter="wipe(left)">
                                      <p:cBhvr>
                                        <p:cTn id="31" dur="1000"/>
                                        <p:tgtEl>
                                          <p:spTgt spid="19"/>
                                        </p:tgtEl>
                                      </p:cBhvr>
                                    </p:animEffect>
                                  </p:childTnLst>
                                </p:cTn>
                              </p:par>
                            </p:childTnLst>
                          </p:cTn>
                        </p:par>
                        <p:par>
                          <p:cTn id="32" fill="hold">
                            <p:stCondLst>
                              <p:cond delay="8000"/>
                            </p:stCondLst>
                            <p:childTnLst>
                              <p:par>
                                <p:cTn id="33" presetID="22" presetClass="entr" presetSubtype="1" fill="hold" nodeType="afterEffect">
                                  <p:stCondLst>
                                    <p:cond delay="0"/>
                                  </p:stCondLst>
                                  <p:childTnLst>
                                    <p:set>
                                      <p:cBhvr>
                                        <p:cTn id="34" dur="1000" fill="hold">
                                          <p:stCondLst>
                                            <p:cond delay="0"/>
                                          </p:stCondLst>
                                        </p:cTn>
                                        <p:tgtEl>
                                          <p:spTgt spid="20"/>
                                        </p:tgtEl>
                                        <p:attrNameLst>
                                          <p:attrName>style.visibility</p:attrName>
                                        </p:attrNameLst>
                                      </p:cBhvr>
                                      <p:to>
                                        <p:strVal val="visible"/>
                                      </p:to>
                                    </p:set>
                                    <p:animEffect transition="in" filter="wipe(up)">
                                      <p:cBhvr>
                                        <p:cTn id="35" dur="1000"/>
                                        <p:tgtEl>
                                          <p:spTgt spid="20"/>
                                        </p:tgtEl>
                                      </p:cBhvr>
                                    </p:animEffect>
                                  </p:childTnLst>
                                </p:cTn>
                              </p:par>
                            </p:childTnLst>
                          </p:cTn>
                        </p:par>
                        <p:par>
                          <p:cTn id="36" fill="hold">
                            <p:stCondLst>
                              <p:cond delay="9000"/>
                            </p:stCondLst>
                            <p:childTnLst>
                              <p:par>
                                <p:cTn id="37" presetID="22" presetClass="entr" presetSubtype="8" fill="hold" nodeType="afterEffect">
                                  <p:stCondLst>
                                    <p:cond delay="0"/>
                                  </p:stCondLst>
                                  <p:childTnLst>
                                    <p:set>
                                      <p:cBhvr>
                                        <p:cTn id="38" dur="1000" fill="hold">
                                          <p:stCondLst>
                                            <p:cond delay="0"/>
                                          </p:stCondLst>
                                        </p:cTn>
                                        <p:tgtEl>
                                          <p:spTgt spid="21"/>
                                        </p:tgtEl>
                                        <p:attrNameLst>
                                          <p:attrName>style.visibility</p:attrName>
                                        </p:attrNameLst>
                                      </p:cBhvr>
                                      <p:to>
                                        <p:strVal val="visible"/>
                                      </p:to>
                                    </p:set>
                                    <p:animEffect transition="in" filter="wipe(left)">
                                      <p:cBhvr>
                                        <p:cTn id="39" dur="1000"/>
                                        <p:tgtEl>
                                          <p:spTgt spid="21"/>
                                        </p:tgtEl>
                                      </p:cBhvr>
                                    </p:animEffect>
                                  </p:childTnLst>
                                </p:cTn>
                              </p:par>
                            </p:childTnLst>
                          </p:cTn>
                        </p:par>
                        <p:par>
                          <p:cTn id="40" fill="hold">
                            <p:stCondLst>
                              <p:cond delay="10000"/>
                            </p:stCondLst>
                            <p:childTnLst>
                              <p:par>
                                <p:cTn id="41" presetID="1" presetClass="entr" presetSubtype="0" fill="hold" grpId="1" nodeType="afterEffect">
                                  <p:stCondLst>
                                    <p:cond delay="1500"/>
                                  </p:stCondLst>
                                  <p:childTnLst>
                                    <p:set>
                                      <p:cBhvr>
                                        <p:cTn id="42" dur="1" fill="hold">
                                          <p:stCondLst>
                                            <p:cond delay="0"/>
                                          </p:stCondLst>
                                        </p:cTn>
                                        <p:tgtEl>
                                          <p:spTgt spid="491535"/>
                                        </p:tgtEl>
                                        <p:attrNameLst>
                                          <p:attrName>style.visibility</p:attrName>
                                        </p:attrNameLst>
                                      </p:cBhvr>
                                      <p:to>
                                        <p:strVal val="visible"/>
                                      </p:to>
                                    </p:set>
                                  </p:childTnLst>
                                </p:cTn>
                              </p:par>
                            </p:childTnLst>
                          </p:cTn>
                        </p:par>
                        <p:par>
                          <p:cTn id="43" fill="hold">
                            <p:stCondLst>
                              <p:cond delay="11500"/>
                            </p:stCondLst>
                            <p:childTnLst>
                              <p:par>
                                <p:cTn id="44" presetID="1" presetClass="entr" presetSubtype="0" fill="hold" grpId="0" nodeType="afterEffect">
                                  <p:stCondLst>
                                    <p:cond delay="1500"/>
                                  </p:stCondLst>
                                  <p:childTnLst>
                                    <p:set>
                                      <p:cBhvr>
                                        <p:cTn id="45" dur="1" fill="hold">
                                          <p:stCondLst>
                                            <p:cond delay="0"/>
                                          </p:stCondLst>
                                        </p:cTn>
                                        <p:tgtEl>
                                          <p:spTgt spid="491535"/>
                                        </p:tgtEl>
                                        <p:attrNameLst>
                                          <p:attrName>style.visibility</p:attrName>
                                        </p:attrNameLst>
                                      </p:cBhvr>
                                      <p:to>
                                        <p:strVal val="visible"/>
                                      </p:to>
                                    </p:set>
                                  </p:childTnLst>
                                </p:cTn>
                              </p:par>
                            </p:childTnLst>
                          </p:cTn>
                        </p:par>
                        <p:par>
                          <p:cTn id="46" fill="hold">
                            <p:stCondLst>
                              <p:cond delay="13000"/>
                            </p:stCondLst>
                            <p:childTnLst>
                              <p:par>
                                <p:cTn id="47" presetID="1" presetClass="entr" presetSubtype="0" fill="hold" grpId="0" nodeType="afterEffect">
                                  <p:stCondLst>
                                    <p:cond delay="1000"/>
                                  </p:stCondLst>
                                  <p:childTnLst>
                                    <p:set>
                                      <p:cBhvr>
                                        <p:cTn id="48" dur="1" fill="hold">
                                          <p:stCondLst>
                                            <p:cond delay="0"/>
                                          </p:stCondLst>
                                        </p:cTn>
                                        <p:tgtEl>
                                          <p:spTgt spid="4915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500"/>
                                  </p:stCondLst>
                                  <p:childTnLst>
                                    <p:set>
                                      <p:cBhvr>
                                        <p:cTn id="52" dur="1000" fill="hold">
                                          <p:stCondLst>
                                            <p:cond delay="0"/>
                                          </p:stCondLst>
                                        </p:cTn>
                                        <p:tgtEl>
                                          <p:spTgt spid="13"/>
                                        </p:tgtEl>
                                        <p:attrNameLst>
                                          <p:attrName>style.visibility</p:attrName>
                                        </p:attrNameLst>
                                      </p:cBhvr>
                                      <p:to>
                                        <p:strVal val="visible"/>
                                      </p:to>
                                    </p:set>
                                    <p:animEffect transition="in" filter="wipe(down)">
                                      <p:cBhvr>
                                        <p:cTn id="53" dur="1000"/>
                                        <p:tgtEl>
                                          <p:spTgt spid="13"/>
                                        </p:tgtEl>
                                      </p:cBhvr>
                                    </p:animEffect>
                                  </p:childTnLst>
                                </p:cTn>
                              </p:par>
                            </p:childTnLst>
                          </p:cTn>
                        </p:par>
                        <p:par>
                          <p:cTn id="54" fill="hold">
                            <p:stCondLst>
                              <p:cond delay="1500"/>
                            </p:stCondLst>
                            <p:childTnLst>
                              <p:par>
                                <p:cTn id="55" presetID="22" presetClass="entr" presetSubtype="8" fill="hold" nodeType="afterEffect">
                                  <p:stCondLst>
                                    <p:cond delay="0"/>
                                  </p:stCondLst>
                                  <p:childTnLst>
                                    <p:set>
                                      <p:cBhvr>
                                        <p:cTn id="56" dur="1000" fill="hold">
                                          <p:stCondLst>
                                            <p:cond delay="0"/>
                                          </p:stCondLst>
                                        </p:cTn>
                                        <p:tgtEl>
                                          <p:spTgt spid="14"/>
                                        </p:tgtEl>
                                        <p:attrNameLst>
                                          <p:attrName>style.visibility</p:attrName>
                                        </p:attrNameLst>
                                      </p:cBhvr>
                                      <p:to>
                                        <p:strVal val="visible"/>
                                      </p:to>
                                    </p:set>
                                    <p:animEffect transition="in" filter="wipe(left)">
                                      <p:cBhvr>
                                        <p:cTn id="57" dur="1000"/>
                                        <p:tgtEl>
                                          <p:spTgt spid="14"/>
                                        </p:tgtEl>
                                      </p:cBhvr>
                                    </p:animEffect>
                                  </p:childTnLst>
                                </p:cTn>
                              </p:par>
                            </p:childTnLst>
                          </p:cTn>
                        </p:par>
                        <p:par>
                          <p:cTn id="58" fill="hold">
                            <p:stCondLst>
                              <p:cond delay="2500"/>
                            </p:stCondLst>
                            <p:childTnLst>
                              <p:par>
                                <p:cTn id="59" presetID="1" presetClass="entr" presetSubtype="0" fill="hold" grpId="1" nodeType="afterEffect">
                                  <p:stCondLst>
                                    <p:cond delay="1500"/>
                                  </p:stCondLst>
                                  <p:childTnLst>
                                    <p:set>
                                      <p:cBhvr>
                                        <p:cTn id="60" dur="1" fill="hold">
                                          <p:stCondLst>
                                            <p:cond delay="0"/>
                                          </p:stCondLst>
                                        </p:cTn>
                                        <p:tgtEl>
                                          <p:spTgt spid="25"/>
                                        </p:tgtEl>
                                        <p:attrNameLst>
                                          <p:attrName>style.visibility</p:attrName>
                                        </p:attrNameLst>
                                      </p:cBhvr>
                                      <p:to>
                                        <p:strVal val="visible"/>
                                      </p:to>
                                    </p:set>
                                  </p:childTnLst>
                                </p:cTn>
                              </p:par>
                            </p:childTnLst>
                          </p:cTn>
                        </p:par>
                        <p:par>
                          <p:cTn id="61" fill="hold">
                            <p:stCondLst>
                              <p:cond delay="4000"/>
                            </p:stCondLst>
                            <p:childTnLst>
                              <p:par>
                                <p:cTn id="62" presetID="22" presetClass="entr" presetSubtype="4" fill="hold" nodeType="afterEffect">
                                  <p:stCondLst>
                                    <p:cond delay="500"/>
                                  </p:stCondLst>
                                  <p:childTnLst>
                                    <p:set>
                                      <p:cBhvr>
                                        <p:cTn id="63" dur="1000" fill="hold">
                                          <p:stCondLst>
                                            <p:cond delay="0"/>
                                          </p:stCondLst>
                                        </p:cTn>
                                        <p:tgtEl>
                                          <p:spTgt spid="27"/>
                                        </p:tgtEl>
                                        <p:attrNameLst>
                                          <p:attrName>style.visibility</p:attrName>
                                        </p:attrNameLst>
                                      </p:cBhvr>
                                      <p:to>
                                        <p:strVal val="visible"/>
                                      </p:to>
                                    </p:set>
                                    <p:animEffect transition="in" filter="wipe(down)">
                                      <p:cBhvr>
                                        <p:cTn id="64" dur="1000"/>
                                        <p:tgtEl>
                                          <p:spTgt spid="27"/>
                                        </p:tgtEl>
                                      </p:cBhvr>
                                    </p:animEffect>
                                  </p:childTnLst>
                                </p:cTn>
                              </p:par>
                            </p:childTnLst>
                          </p:cTn>
                        </p:par>
                        <p:par>
                          <p:cTn id="65" fill="hold">
                            <p:stCondLst>
                              <p:cond delay="5500"/>
                            </p:stCondLst>
                            <p:childTnLst>
                              <p:par>
                                <p:cTn id="66" presetID="22" presetClass="entr" presetSubtype="4" fill="hold" nodeType="afterEffect">
                                  <p:stCondLst>
                                    <p:cond delay="500"/>
                                  </p:stCondLst>
                                  <p:childTnLst>
                                    <p:set>
                                      <p:cBhvr>
                                        <p:cTn id="67" dur="1" fill="hold">
                                          <p:stCondLst>
                                            <p:cond delay="0"/>
                                          </p:stCondLst>
                                        </p:cTn>
                                        <p:tgtEl>
                                          <p:spTgt spid="28"/>
                                        </p:tgtEl>
                                        <p:attrNameLst>
                                          <p:attrName>style.visibility</p:attrName>
                                        </p:attrNameLst>
                                      </p:cBhvr>
                                      <p:to>
                                        <p:strVal val="visible"/>
                                      </p:to>
                                    </p:set>
                                    <p:animEffect transition="in" filter="wipe(down)">
                                      <p:cBhvr>
                                        <p:cTn id="68" dur="500"/>
                                        <p:tgtEl>
                                          <p:spTgt spid="28"/>
                                        </p:tgtEl>
                                      </p:cBhvr>
                                    </p:animEffect>
                                  </p:childTnLst>
                                </p:cTn>
                              </p:par>
                            </p:childTnLst>
                          </p:cTn>
                        </p:par>
                        <p:par>
                          <p:cTn id="69" fill="hold">
                            <p:stCondLst>
                              <p:cond delay="6500"/>
                            </p:stCondLst>
                            <p:childTnLst>
                              <p:par>
                                <p:cTn id="70" presetID="22" presetClass="entr" presetSubtype="4" fill="hold" nodeType="afterEffect">
                                  <p:stCondLst>
                                    <p:cond delay="500"/>
                                  </p:stCondLst>
                                  <p:childTnLst>
                                    <p:set>
                                      <p:cBhvr>
                                        <p:cTn id="71" dur="1000" fill="hold">
                                          <p:stCondLst>
                                            <p:cond delay="0"/>
                                          </p:stCondLst>
                                        </p:cTn>
                                        <p:tgtEl>
                                          <p:spTgt spid="29"/>
                                        </p:tgtEl>
                                        <p:attrNameLst>
                                          <p:attrName>style.visibility</p:attrName>
                                        </p:attrNameLst>
                                      </p:cBhvr>
                                      <p:to>
                                        <p:strVal val="visible"/>
                                      </p:to>
                                    </p:set>
                                    <p:animEffect transition="in" filter="wipe(down)">
                                      <p:cBhvr>
                                        <p:cTn id="72" dur="1000"/>
                                        <p:tgtEl>
                                          <p:spTgt spid="29"/>
                                        </p:tgtEl>
                                      </p:cBhvr>
                                    </p:animEffect>
                                  </p:childTnLst>
                                </p:cTn>
                              </p:par>
                            </p:childTnLst>
                          </p:cTn>
                        </p:par>
                        <p:par>
                          <p:cTn id="73" fill="hold">
                            <p:stCondLst>
                              <p:cond delay="8000"/>
                            </p:stCondLst>
                            <p:childTnLst>
                              <p:par>
                                <p:cTn id="74" presetID="22" presetClass="entr" presetSubtype="8" fill="hold" nodeType="afterEffect">
                                  <p:stCondLst>
                                    <p:cond delay="0"/>
                                  </p:stCondLst>
                                  <p:childTnLst>
                                    <p:set>
                                      <p:cBhvr>
                                        <p:cTn id="75" dur="1000" fill="hold">
                                          <p:stCondLst>
                                            <p:cond delay="0"/>
                                          </p:stCondLst>
                                        </p:cTn>
                                        <p:tgtEl>
                                          <p:spTgt spid="15"/>
                                        </p:tgtEl>
                                        <p:attrNameLst>
                                          <p:attrName>style.visibility</p:attrName>
                                        </p:attrNameLst>
                                      </p:cBhvr>
                                      <p:to>
                                        <p:strVal val="visible"/>
                                      </p:to>
                                    </p:set>
                                    <p:animEffect transition="in" filter="wipe(left)">
                                      <p:cBhvr>
                                        <p:cTn id="76" dur="1000"/>
                                        <p:tgtEl>
                                          <p:spTgt spid="15"/>
                                        </p:tgtEl>
                                      </p:cBhvr>
                                    </p:animEffect>
                                  </p:childTnLst>
                                </p:cTn>
                              </p:par>
                            </p:childTnLst>
                          </p:cTn>
                        </p:par>
                        <p:par>
                          <p:cTn id="77" fill="hold">
                            <p:stCondLst>
                              <p:cond delay="9000"/>
                            </p:stCondLst>
                            <p:childTnLst>
                              <p:par>
                                <p:cTn id="78" presetID="1" presetClass="entr" presetSubtype="0" fill="hold" grpId="0" nodeType="afterEffect">
                                  <p:stCondLst>
                                    <p:cond delay="1500"/>
                                  </p:stCondLst>
                                  <p:childTnLst>
                                    <p:set>
                                      <p:cBhvr>
                                        <p:cTn id="79" dur="1" fill="hold">
                                          <p:stCondLst>
                                            <p:cond delay="0"/>
                                          </p:stCondLst>
                                        </p:cTn>
                                        <p:tgtEl>
                                          <p:spTgt spid="26"/>
                                        </p:tgtEl>
                                        <p:attrNameLst>
                                          <p:attrName>style.visibility</p:attrName>
                                        </p:attrNameLst>
                                      </p:cBhvr>
                                      <p:to>
                                        <p:strVal val="visible"/>
                                      </p:to>
                                    </p:set>
                                  </p:childTnLst>
                                </p:cTn>
                              </p:par>
                            </p:childTnLst>
                          </p:cTn>
                        </p:par>
                        <p:par>
                          <p:cTn id="80" fill="hold">
                            <p:stCondLst>
                              <p:cond delay="10500"/>
                            </p:stCondLst>
                            <p:childTnLst>
                              <p:par>
                                <p:cTn id="81" presetID="22" presetClass="entr" presetSubtype="8" fill="hold" nodeType="afterEffect">
                                  <p:stCondLst>
                                    <p:cond delay="0"/>
                                  </p:stCondLst>
                                  <p:childTnLst>
                                    <p:set>
                                      <p:cBhvr>
                                        <p:cTn id="82" dur="1000" fill="hold">
                                          <p:stCondLst>
                                            <p:cond delay="0"/>
                                          </p:stCondLst>
                                        </p:cTn>
                                        <p:tgtEl>
                                          <p:spTgt spid="32"/>
                                        </p:tgtEl>
                                        <p:attrNameLst>
                                          <p:attrName>style.visibility</p:attrName>
                                        </p:attrNameLst>
                                      </p:cBhvr>
                                      <p:to>
                                        <p:strVal val="visible"/>
                                      </p:to>
                                    </p:set>
                                    <p:animEffect transition="in" filter="wipe(left)">
                                      <p:cBhvr>
                                        <p:cTn id="83" dur="1000"/>
                                        <p:tgtEl>
                                          <p:spTgt spid="32"/>
                                        </p:tgtEl>
                                      </p:cBhvr>
                                    </p:animEffect>
                                  </p:childTnLst>
                                </p:cTn>
                              </p:par>
                            </p:childTnLst>
                          </p:cTn>
                        </p:par>
                        <p:par>
                          <p:cTn id="84" fill="hold">
                            <p:stCondLst>
                              <p:cond delay="11500"/>
                            </p:stCondLst>
                            <p:childTnLst>
                              <p:par>
                                <p:cTn id="85" presetID="22" presetClass="entr" presetSubtype="1" fill="hold" nodeType="afterEffect">
                                  <p:stCondLst>
                                    <p:cond delay="0"/>
                                  </p:stCondLst>
                                  <p:childTnLst>
                                    <p:set>
                                      <p:cBhvr>
                                        <p:cTn id="86" dur="1000" fill="hold">
                                          <p:stCondLst>
                                            <p:cond delay="0"/>
                                          </p:stCondLst>
                                        </p:cTn>
                                        <p:tgtEl>
                                          <p:spTgt spid="33"/>
                                        </p:tgtEl>
                                        <p:attrNameLst>
                                          <p:attrName>style.visibility</p:attrName>
                                        </p:attrNameLst>
                                      </p:cBhvr>
                                      <p:to>
                                        <p:strVal val="visible"/>
                                      </p:to>
                                    </p:set>
                                    <p:animEffect transition="in" filter="wipe(up)">
                                      <p:cBhvr>
                                        <p:cTn id="87" dur="1000"/>
                                        <p:tgtEl>
                                          <p:spTgt spid="33"/>
                                        </p:tgtEl>
                                      </p:cBhvr>
                                    </p:animEffect>
                                  </p:childTnLst>
                                </p:cTn>
                              </p:par>
                            </p:childTnLst>
                          </p:cTn>
                        </p:par>
                        <p:par>
                          <p:cTn id="88" fill="hold">
                            <p:stCondLst>
                              <p:cond delay="12500"/>
                            </p:stCondLst>
                            <p:childTnLst>
                              <p:par>
                                <p:cTn id="89" presetID="22" presetClass="entr" presetSubtype="8" fill="hold" nodeType="afterEffect">
                                  <p:stCondLst>
                                    <p:cond delay="0"/>
                                  </p:stCondLst>
                                  <p:childTnLst>
                                    <p:set>
                                      <p:cBhvr>
                                        <p:cTn id="90" dur="1000" fill="hold">
                                          <p:stCondLst>
                                            <p:cond delay="0"/>
                                          </p:stCondLst>
                                        </p:cTn>
                                        <p:tgtEl>
                                          <p:spTgt spid="34"/>
                                        </p:tgtEl>
                                        <p:attrNameLst>
                                          <p:attrName>style.visibility</p:attrName>
                                        </p:attrNameLst>
                                      </p:cBhvr>
                                      <p:to>
                                        <p:strVal val="visible"/>
                                      </p:to>
                                    </p:set>
                                    <p:animEffect transition="in" filter="wipe(left)">
                                      <p:cBhvr>
                                        <p:cTn id="91" dur="1000"/>
                                        <p:tgtEl>
                                          <p:spTgt spid="34"/>
                                        </p:tgtEl>
                                      </p:cBhvr>
                                    </p:animEffect>
                                  </p:childTnLst>
                                </p:cTn>
                              </p:par>
                            </p:childTnLst>
                          </p:cTn>
                        </p:par>
                        <p:par>
                          <p:cTn id="92" fill="hold">
                            <p:stCondLst>
                              <p:cond delay="13500"/>
                            </p:stCondLst>
                            <p:childTnLst>
                              <p:par>
                                <p:cTn id="93" presetID="22" presetClass="entr" presetSubtype="1" fill="hold" nodeType="afterEffect">
                                  <p:stCondLst>
                                    <p:cond delay="0"/>
                                  </p:stCondLst>
                                  <p:childTnLst>
                                    <p:set>
                                      <p:cBhvr>
                                        <p:cTn id="94" dur="1000" fill="hold">
                                          <p:stCondLst>
                                            <p:cond delay="0"/>
                                          </p:stCondLst>
                                        </p:cTn>
                                        <p:tgtEl>
                                          <p:spTgt spid="35"/>
                                        </p:tgtEl>
                                        <p:attrNameLst>
                                          <p:attrName>style.visibility</p:attrName>
                                        </p:attrNameLst>
                                      </p:cBhvr>
                                      <p:to>
                                        <p:strVal val="visible"/>
                                      </p:to>
                                    </p:set>
                                    <p:animEffect transition="in" filter="wipe(up)">
                                      <p:cBhvr>
                                        <p:cTn id="95" dur="1000"/>
                                        <p:tgtEl>
                                          <p:spTgt spid="35"/>
                                        </p:tgtEl>
                                      </p:cBhvr>
                                    </p:animEffect>
                                  </p:childTnLst>
                                </p:cTn>
                              </p:par>
                            </p:childTnLst>
                          </p:cTn>
                        </p:par>
                        <p:par>
                          <p:cTn id="96" fill="hold">
                            <p:stCondLst>
                              <p:cond delay="14500"/>
                            </p:stCondLst>
                            <p:childTnLst>
                              <p:par>
                                <p:cTn id="97" presetID="22" presetClass="entr" presetSubtype="8" fill="hold" nodeType="afterEffect">
                                  <p:stCondLst>
                                    <p:cond delay="0"/>
                                  </p:stCondLst>
                                  <p:childTnLst>
                                    <p:set>
                                      <p:cBhvr>
                                        <p:cTn id="98" dur="1000" fill="hold">
                                          <p:stCondLst>
                                            <p:cond delay="0"/>
                                          </p:stCondLst>
                                        </p:cTn>
                                        <p:tgtEl>
                                          <p:spTgt spid="30"/>
                                        </p:tgtEl>
                                        <p:attrNameLst>
                                          <p:attrName>style.visibility</p:attrName>
                                        </p:attrNameLst>
                                      </p:cBhvr>
                                      <p:to>
                                        <p:strVal val="visible"/>
                                      </p:to>
                                    </p:set>
                                    <p:animEffect transition="in" filter="wipe(left)">
                                      <p:cBhvr>
                                        <p:cTn id="99" dur="1000"/>
                                        <p:tgtEl>
                                          <p:spTgt spid="30"/>
                                        </p:tgtEl>
                                      </p:cBhvr>
                                    </p:animEffect>
                                  </p:childTnLst>
                                </p:cTn>
                              </p:par>
                            </p:childTnLst>
                          </p:cTn>
                        </p:par>
                        <p:par>
                          <p:cTn id="100" fill="hold">
                            <p:stCondLst>
                              <p:cond delay="15500"/>
                            </p:stCondLst>
                            <p:childTnLst>
                              <p:par>
                                <p:cTn id="101" presetID="1" presetClass="entr" presetSubtype="0" fill="hold" grpId="1" nodeType="afterEffect">
                                  <p:stCondLst>
                                    <p:cond delay="1500"/>
                                  </p:stCondLst>
                                  <p:childTnLst>
                                    <p:set>
                                      <p:cBhvr>
                                        <p:cTn id="102" dur="1" fill="hold">
                                          <p:stCondLst>
                                            <p:cond delay="0"/>
                                          </p:stCondLst>
                                        </p:cTn>
                                        <p:tgtEl>
                                          <p:spTgt spid="31"/>
                                        </p:tgtEl>
                                        <p:attrNameLst>
                                          <p:attrName>style.visibility</p:attrName>
                                        </p:attrNameLst>
                                      </p:cBhvr>
                                      <p:to>
                                        <p:strVal val="visible"/>
                                      </p:to>
                                    </p:set>
                                  </p:childTnLst>
                                </p:cTn>
                              </p:par>
                            </p:childTnLst>
                          </p:cTn>
                        </p:par>
                        <p:par>
                          <p:cTn id="103" fill="hold">
                            <p:stCondLst>
                              <p:cond delay="17000"/>
                            </p:stCondLst>
                            <p:childTnLst>
                              <p:par>
                                <p:cTn id="104" presetID="1" presetClass="entr" presetSubtype="0" fill="hold" grpId="0" nodeType="afterEffect">
                                  <p:stCondLst>
                                    <p:cond delay="1500"/>
                                  </p:stCondLst>
                                  <p:childTnLst>
                                    <p:set>
                                      <p:cBhvr>
                                        <p:cTn id="105" dur="1" fill="hold">
                                          <p:stCondLst>
                                            <p:cond delay="0"/>
                                          </p:stCondLst>
                                        </p:cTn>
                                        <p:tgtEl>
                                          <p:spTgt spid="31"/>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1500"/>
                                  </p:stCondLst>
                                  <p:childTnLst>
                                    <p:set>
                                      <p:cBhvr>
                                        <p:cTn id="109" dur="1" fill="hold">
                                          <p:stCondLst>
                                            <p:cond delay="0"/>
                                          </p:stCondLst>
                                        </p:cTn>
                                        <p:tgtEl>
                                          <p:spTgt spid="36"/>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66" grpId="0" bldLvl="0" animBg="1"/>
      <p:bldP spid="514064" grpId="0" bldLvl="0" animBg="1"/>
      <p:bldP spid="491535" grpId="0" bldLvl="0" animBg="1"/>
      <p:bldP spid="491541" grpId="0" bldLvl="0" animBg="1"/>
      <p:bldP spid="491535" grpId="1" bldLvl="0" animBg="1"/>
      <p:bldP spid="25" grpId="1" bldLvl="0" animBg="1"/>
      <p:bldP spid="26" grpId="0" bldLvl="0" animBg="1"/>
      <p:bldP spid="31" grpId="0" bldLvl="0" animBg="1"/>
      <p:bldP spid="31" grpId="1" bldLvl="0" animBg="1"/>
      <p:bldP spid="12" grpId="0" bldLvl="0" animBg="1"/>
      <p:bldP spid="36" grpId="0"/>
      <p:bldP spid="3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5.4 触发器逻辑功能表示方法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785495" y="1151890"/>
            <a:ext cx="5080000" cy="460375"/>
          </a:xfrm>
          <a:prstGeom prst="rect">
            <a:avLst/>
          </a:prstGeom>
          <a:noFill/>
          <a:ln w="9525">
            <a:noFill/>
          </a:ln>
        </p:spPr>
        <p:txBody>
          <a:bodyPr wrap="square">
            <a:spAutoFit/>
          </a:bodyPr>
          <a:p>
            <a:pPr indent="266700"/>
            <a:r>
              <a:rPr lang="en-US" sz="2400" b="1" dirty="0">
                <a:solidFill>
                  <a:srgbClr val="FE09D6"/>
                </a:solidFill>
                <a:latin typeface="Times New Roman" panose="02020603050405020304" charset="0"/>
                <a:ea typeface="楷体_GB2312" pitchFamily="49" charset="-122"/>
                <a:cs typeface="Times New Roman" panose="02020603050405020304" charset="0"/>
              </a:rPr>
              <a:t>1. </a:t>
            </a:r>
            <a:r>
              <a:rPr lang="en-US" sz="2400" b="1" i="1" dirty="0">
                <a:solidFill>
                  <a:srgbClr val="FE09D6"/>
                </a:solidFill>
                <a:latin typeface="Times New Roman" panose="02020603050405020304" charset="0"/>
                <a:ea typeface="楷体_GB2312" pitchFamily="49" charset="-122"/>
                <a:cs typeface="Times New Roman" panose="02020603050405020304" charset="0"/>
              </a:rPr>
              <a:t>RS</a:t>
            </a:r>
            <a:r>
              <a:rPr lang="en-US" sz="2400" b="1" dirty="0">
                <a:solidFill>
                  <a:srgbClr val="FE09D6"/>
                </a:solidFill>
                <a:latin typeface="Times New Roman" panose="02020603050405020304" charset="0"/>
                <a:ea typeface="楷体_GB2312" pitchFamily="49" charset="-122"/>
                <a:cs typeface="Times New Roman" panose="02020603050405020304" charset="0"/>
              </a:rPr>
              <a:t>触发器逻辑功能表示方法</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2" name="文本框 1"/>
          <p:cNvSpPr txBox="1"/>
          <p:nvPr/>
        </p:nvSpPr>
        <p:spPr>
          <a:xfrm>
            <a:off x="785495" y="1612265"/>
            <a:ext cx="5080000" cy="460375"/>
          </a:xfrm>
          <a:prstGeom prst="rect">
            <a:avLst/>
          </a:prstGeom>
          <a:noFill/>
          <a:ln w="9525">
            <a:noFill/>
          </a:ln>
        </p:spPr>
        <p:txBody>
          <a:bodyPr>
            <a:spAutoFit/>
          </a:bodyPr>
          <a:p>
            <a:pPr indent="266700"/>
            <a:r>
              <a:rPr lang="en-US" sz="2400">
                <a:solidFill>
                  <a:srgbClr val="000000"/>
                </a:solidFill>
                <a:latin typeface="Times New Roman" panose="02020603050405020304" charset="0"/>
                <a:ea typeface="宋体" panose="02010600030101010101" pitchFamily="2" charset="-122"/>
              </a:rPr>
              <a:t>(1) </a:t>
            </a:r>
            <a:r>
              <a:rPr lang="zh-CN" sz="2400">
                <a:solidFill>
                  <a:srgbClr val="000000"/>
                </a:solidFill>
                <a:ea typeface="宋体" panose="02010600030101010101" pitchFamily="2" charset="-122"/>
              </a:rPr>
              <a:t>特性方程</a:t>
            </a:r>
            <a:endParaRPr lang="zh-CN" altLang="en-US" sz="2400"/>
          </a:p>
        </p:txBody>
      </p:sp>
      <p:grpSp>
        <p:nvGrpSpPr>
          <p:cNvPr id="533564" name="组合 533563"/>
          <p:cNvGrpSpPr/>
          <p:nvPr/>
        </p:nvGrpSpPr>
        <p:grpSpPr>
          <a:xfrm>
            <a:off x="4413885" y="2553018"/>
            <a:ext cx="2789238" cy="1036637"/>
            <a:chOff x="1746" y="2931"/>
            <a:chExt cx="1757" cy="653"/>
          </a:xfrm>
        </p:grpSpPr>
        <p:graphicFrame>
          <p:nvGraphicFramePr>
            <p:cNvPr id="533565" name="对象 533564"/>
            <p:cNvGraphicFramePr/>
            <p:nvPr/>
          </p:nvGraphicFramePr>
          <p:xfrm>
            <a:off x="1837" y="2931"/>
            <a:ext cx="1410" cy="355"/>
          </p:xfrm>
          <a:graphic>
            <a:graphicData uri="http://schemas.openxmlformats.org/presentationml/2006/ole">
              <mc:AlternateContent xmlns:mc="http://schemas.openxmlformats.org/markup-compatibility/2006">
                <mc:Choice xmlns:v="urn:schemas-microsoft-com:vml" Requires="v">
                  <p:oleObj spid="_x0000_s3158" name="" r:id="rId1" imgW="901065" imgH="228600" progId="Equation.3">
                    <p:embed/>
                  </p:oleObj>
                </mc:Choice>
                <mc:Fallback>
                  <p:oleObj name="" r:id="rId1" imgW="901065" imgH="228600" progId="Equation.3">
                    <p:embed/>
                    <p:pic>
                      <p:nvPicPr>
                        <p:cNvPr id="0" name="图片 3157"/>
                        <p:cNvPicPr/>
                        <p:nvPr/>
                      </p:nvPicPr>
                      <p:blipFill>
                        <a:blip r:embed="rId2"/>
                        <a:stretch>
                          <a:fillRect/>
                        </a:stretch>
                      </p:blipFill>
                      <p:spPr>
                        <a:xfrm>
                          <a:off x="1837" y="2931"/>
                          <a:ext cx="1410" cy="355"/>
                        </a:xfrm>
                        <a:prstGeom prst="rect">
                          <a:avLst/>
                        </a:prstGeom>
                        <a:noFill/>
                        <a:ln w="38100">
                          <a:noFill/>
                          <a:miter/>
                        </a:ln>
                      </p:spPr>
                    </p:pic>
                  </p:oleObj>
                </mc:Fallback>
              </mc:AlternateContent>
            </a:graphicData>
          </a:graphic>
        </p:graphicFrame>
        <p:sp>
          <p:nvSpPr>
            <p:cNvPr id="533566" name="左大括号 533565"/>
            <p:cNvSpPr/>
            <p:nvPr/>
          </p:nvSpPr>
          <p:spPr>
            <a:xfrm>
              <a:off x="1746" y="3067"/>
              <a:ext cx="45" cy="408"/>
            </a:xfrm>
            <a:prstGeom prst="leftBrace">
              <a:avLst>
                <a:gd name="adj1" fmla="val 75555"/>
                <a:gd name="adj2" fmla="val 50000"/>
              </a:avLst>
            </a:prstGeom>
            <a:noFill/>
            <a:ln w="19050" cap="flat" cmpd="sng">
              <a:solidFill>
                <a:srgbClr val="0000CC"/>
              </a:solidFill>
              <a:prstDash val="solid"/>
              <a:headEnd type="none" w="med" len="med"/>
              <a:tailEnd type="none" w="med" len="med"/>
            </a:ln>
          </p:spPr>
          <p:txBody>
            <a:bodyPr/>
            <a:p>
              <a:endParaRPr lang="zh-CN" altLang="en-US"/>
            </a:p>
          </p:txBody>
        </p:sp>
        <p:sp>
          <p:nvSpPr>
            <p:cNvPr id="533567" name="矩形 533566"/>
            <p:cNvSpPr/>
            <p:nvPr/>
          </p:nvSpPr>
          <p:spPr>
            <a:xfrm>
              <a:off x="1791" y="3294"/>
              <a:ext cx="1712" cy="290"/>
            </a:xfrm>
            <a:prstGeom prst="rect">
              <a:avLst/>
            </a:prstGeom>
            <a:noFill/>
            <a:ln w="9525">
              <a:noFill/>
            </a:ln>
          </p:spPr>
          <p:txBody>
            <a:bodyPr wrap="none" anchor="t">
              <a:spAutoFit/>
            </a:bodyPr>
            <a:p>
              <a:r>
                <a:rPr lang="en-US" altLang="zh-CN" sz="2400" b="1" i="1">
                  <a:solidFill>
                    <a:srgbClr val="000066"/>
                  </a:solidFill>
                  <a:latin typeface="Times New Roman" panose="02020603050405020304" charset="0"/>
                  <a:ea typeface="楷体_GB2312" pitchFamily="49" charset="-122"/>
                </a:rPr>
                <a:t>SR</a:t>
              </a:r>
              <a:r>
                <a:rPr lang="en-US" altLang="zh-CN" sz="2400" b="1" dirty="0">
                  <a:solidFill>
                    <a:srgbClr val="000066"/>
                  </a:solidFill>
                  <a:latin typeface="Times New Roman" panose="02020603050405020304" charset="0"/>
                  <a:ea typeface="楷体_GB2312" pitchFamily="49" charset="-122"/>
                </a:rPr>
                <a:t>=0</a:t>
              </a:r>
              <a:r>
                <a:rPr lang="zh-CN" altLang="en-US" sz="2400" b="1" dirty="0">
                  <a:solidFill>
                    <a:srgbClr val="000066"/>
                  </a:solidFill>
                  <a:latin typeface="Times New Roman" panose="02020603050405020304" charset="0"/>
                  <a:ea typeface="楷体_GB2312" pitchFamily="49" charset="-122"/>
                </a:rPr>
                <a:t>（约束条件）</a:t>
              </a:r>
              <a:endParaRPr lang="zh-CN" altLang="en-US" sz="2400" b="1" dirty="0">
                <a:solidFill>
                  <a:srgbClr val="000066"/>
                </a:solidFill>
                <a:latin typeface="Times New Roman" panose="02020603050405020304" charset="0"/>
                <a:ea typeface="楷体_GB2312" pitchFamily="49" charset="-122"/>
              </a:endParaRPr>
            </a:p>
          </p:txBody>
        </p:sp>
      </p:grpSp>
      <p:sp>
        <p:nvSpPr>
          <p:cNvPr id="533509" name="矩形 533508"/>
          <p:cNvSpPr/>
          <p:nvPr/>
        </p:nvSpPr>
        <p:spPr>
          <a:xfrm>
            <a:off x="1207770" y="3940176"/>
            <a:ext cx="2214880" cy="460375"/>
          </a:xfrm>
          <a:prstGeom prst="rect">
            <a:avLst/>
          </a:prstGeom>
          <a:noFill/>
          <a:ln w="9525">
            <a:noFill/>
          </a:ln>
        </p:spPr>
        <p:txBody>
          <a:bodyPr wrap="none" anchor="ctr">
            <a:spAutoFit/>
          </a:bodyPr>
          <a:p>
            <a:pPr algn="l" defTabSz="914400">
              <a:tabLst>
                <a:tab pos="5130800" algn="r"/>
              </a:tabLst>
            </a:pPr>
            <a:r>
              <a:rPr lang="en-US" sz="2400">
                <a:solidFill>
                  <a:srgbClr val="000000"/>
                </a:solidFill>
                <a:latin typeface="Times New Roman" panose="02020603050405020304" charset="0"/>
                <a:sym typeface="+mn-ea"/>
              </a:rPr>
              <a:t>(2) </a:t>
            </a:r>
            <a:r>
              <a:rPr lang="en-US" altLang="zh-CN" sz="2400" dirty="0">
                <a:solidFill>
                  <a:srgbClr val="000066"/>
                </a:solidFill>
                <a:latin typeface="Times New Roman" panose="02020603050405020304" charset="0"/>
                <a:ea typeface="楷体_GB2312" pitchFamily="49" charset="-122"/>
              </a:rPr>
              <a:t> </a:t>
            </a:r>
            <a:r>
              <a:rPr lang="zh-CN" altLang="en-US" sz="2400" dirty="0">
                <a:solidFill>
                  <a:srgbClr val="000066"/>
                </a:solidFill>
                <a:latin typeface="Times New Roman" panose="02020603050405020304" charset="0"/>
                <a:ea typeface="楷体_GB2312" pitchFamily="49" charset="-122"/>
              </a:rPr>
              <a:t>状态转换图</a:t>
            </a:r>
            <a:endParaRPr lang="zh-CN" altLang="en-US" sz="2400" dirty="0">
              <a:solidFill>
                <a:srgbClr val="000066"/>
              </a:solidFill>
              <a:latin typeface="Times New Roman" panose="02020603050405020304" charset="0"/>
              <a:ea typeface="楷体_GB2312" pitchFamily="49" charset="-122"/>
            </a:endParaRPr>
          </a:p>
        </p:txBody>
      </p:sp>
      <p:pic>
        <p:nvPicPr>
          <p:cNvPr id="9354" name="图片 2791"/>
          <p:cNvPicPr>
            <a:picLocks noChangeAspect="1"/>
          </p:cNvPicPr>
          <p:nvPr/>
        </p:nvPicPr>
        <p:blipFill>
          <a:blip r:embed="rId3"/>
          <a:stretch>
            <a:fillRect/>
          </a:stretch>
        </p:blipFill>
        <p:spPr>
          <a:xfrm>
            <a:off x="1107440" y="2060575"/>
            <a:ext cx="2553335" cy="1633220"/>
          </a:xfrm>
          <a:prstGeom prst="rect">
            <a:avLst/>
          </a:prstGeom>
          <a:noFill/>
          <a:ln>
            <a:noFill/>
          </a:ln>
        </p:spPr>
      </p:pic>
      <p:pic>
        <p:nvPicPr>
          <p:cNvPr id="9355" name="图片 2792"/>
          <p:cNvPicPr>
            <a:picLocks noChangeAspect="1"/>
          </p:cNvPicPr>
          <p:nvPr/>
        </p:nvPicPr>
        <p:blipFill>
          <a:blip r:embed="rId4"/>
          <a:stretch>
            <a:fillRect/>
          </a:stretch>
        </p:blipFill>
        <p:spPr>
          <a:xfrm>
            <a:off x="4060825" y="4112260"/>
            <a:ext cx="3234055" cy="1786890"/>
          </a:xfrm>
          <a:prstGeom prst="rect">
            <a:avLst/>
          </a:prstGeom>
          <a:noFill/>
          <a:ln>
            <a:noFill/>
          </a:ln>
        </p:spPr>
      </p:pic>
      <p:sp>
        <p:nvSpPr>
          <p:cNvPr id="3" name="文本框 2"/>
          <p:cNvSpPr txBox="1"/>
          <p:nvPr/>
        </p:nvSpPr>
        <p:spPr>
          <a:xfrm>
            <a:off x="4485640" y="5899150"/>
            <a:ext cx="2879090" cy="337185"/>
          </a:xfrm>
          <a:prstGeom prst="rect">
            <a:avLst/>
          </a:prstGeom>
          <a:noFill/>
          <a:ln w="9525">
            <a:noFill/>
          </a:ln>
        </p:spPr>
        <p:txBody>
          <a:bodyPr wrap="square">
            <a:spAutoFit/>
          </a:bodyPr>
          <a:p>
            <a:r>
              <a:rPr lang="zh-CN" sz="1600">
                <a:solidFill>
                  <a:srgbClr val="000000"/>
                </a:solidFill>
                <a:latin typeface="Times New Roman" panose="02020603050405020304" charset="0"/>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5-17 </a:t>
            </a:r>
            <a:r>
              <a:rPr lang="en-US" sz="1600" i="1">
                <a:solidFill>
                  <a:srgbClr val="000000"/>
                </a:solidFill>
                <a:latin typeface="Times New Roman" panose="02020603050405020304" charset="0"/>
                <a:ea typeface="宋体" panose="02010600030101010101" pitchFamily="2" charset="-122"/>
                <a:cs typeface="Times New Roman" panose="02020603050405020304" charset="0"/>
              </a:rPr>
              <a:t>RS</a:t>
            </a:r>
            <a:r>
              <a:rPr lang="zh-CN" sz="1600">
                <a:solidFill>
                  <a:srgbClr val="000000"/>
                </a:solidFill>
                <a:latin typeface="Times New Roman" panose="02020603050405020304" charset="0"/>
                <a:ea typeface="宋体" panose="02010600030101010101" pitchFamily="2" charset="-122"/>
              </a:rPr>
              <a:t>触发器的状态转换图</a:t>
            </a:r>
            <a:endParaRPr lang="zh-CN" altLang="en-US" sz="1600"/>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33564"/>
                                        </p:tgtEl>
                                        <p:attrNameLst>
                                          <p:attrName>style.visibility</p:attrName>
                                        </p:attrNameLst>
                                      </p:cBhvr>
                                      <p:to>
                                        <p:strVal val="visible"/>
                                      </p:to>
                                    </p:set>
                                    <p:animEffect transition="in" filter="strips(downRight)">
                                      <p:cBhvr>
                                        <p:cTn id="7" dur="500"/>
                                        <p:tgtEl>
                                          <p:spTgt spid="53356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33509"/>
                                        </p:tgtEl>
                                        <p:attrNameLst>
                                          <p:attrName>style.visibility</p:attrName>
                                        </p:attrNameLst>
                                      </p:cBhvr>
                                      <p:to>
                                        <p:strVal val="visible"/>
                                      </p:to>
                                    </p:set>
                                    <p:animEffect transition="in" filter="strips(downRight)">
                                      <p:cBhvr>
                                        <p:cTn id="12" dur="500"/>
                                        <p:tgtEl>
                                          <p:spTgt spid="53350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355"/>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9" grpId="0"/>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5.4 触发器逻辑功能表示方法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1007745" y="1250950"/>
            <a:ext cx="2540000" cy="460375"/>
          </a:xfrm>
          <a:prstGeom prst="rect">
            <a:avLst/>
          </a:prstGeom>
          <a:noFill/>
        </p:spPr>
        <p:txBody>
          <a:bodyPr wrap="square" rtlCol="0" anchor="t">
            <a:spAutoFit/>
          </a:bodyPr>
          <a:p>
            <a:r>
              <a:rPr lang="en-US" sz="2400">
                <a:solidFill>
                  <a:srgbClr val="000000"/>
                </a:solidFill>
                <a:latin typeface="Times New Roman" panose="02020603050405020304" charset="0"/>
                <a:sym typeface="+mn-ea"/>
              </a:rPr>
              <a:t>(3)</a:t>
            </a:r>
            <a:r>
              <a:rPr lang="zh-CN" altLang="en-US" sz="2400"/>
              <a:t>激励表</a:t>
            </a:r>
            <a:endParaRPr lang="zh-CN" altLang="en-US" sz="2400"/>
          </a:p>
        </p:txBody>
      </p:sp>
      <p:pic>
        <p:nvPicPr>
          <p:cNvPr id="3" name="图片 2"/>
          <p:cNvPicPr>
            <a:picLocks noChangeAspect="1"/>
          </p:cNvPicPr>
          <p:nvPr/>
        </p:nvPicPr>
        <p:blipFill>
          <a:blip r:embed="rId1"/>
          <a:stretch>
            <a:fillRect/>
          </a:stretch>
        </p:blipFill>
        <p:spPr>
          <a:xfrm>
            <a:off x="1391920" y="1711325"/>
            <a:ext cx="5105400" cy="2143125"/>
          </a:xfrm>
          <a:prstGeom prst="rect">
            <a:avLst/>
          </a:prstGeom>
        </p:spPr>
      </p:pic>
      <p:sp>
        <p:nvSpPr>
          <p:cNvPr id="100" name="文本框 99"/>
          <p:cNvSpPr txBox="1"/>
          <p:nvPr/>
        </p:nvSpPr>
        <p:spPr>
          <a:xfrm>
            <a:off x="1206500" y="3997960"/>
            <a:ext cx="1625600" cy="460375"/>
          </a:xfrm>
          <a:prstGeom prst="rect">
            <a:avLst/>
          </a:prstGeom>
          <a:noFill/>
          <a:ln w="9525">
            <a:noFill/>
          </a:ln>
        </p:spPr>
        <p:txBody>
          <a:bodyPr wrap="square">
            <a:spAutoFit/>
          </a:bodyPr>
          <a:p>
            <a:r>
              <a:rPr lang="en-US" sz="2400">
                <a:solidFill>
                  <a:srgbClr val="000000"/>
                </a:solidFill>
                <a:latin typeface="Times New Roman" panose="02020603050405020304" charset="0"/>
                <a:sym typeface="+mn-ea"/>
              </a:rPr>
              <a:t>(4)</a:t>
            </a:r>
            <a:r>
              <a:rPr lang="zh-CN" sz="2400">
                <a:solidFill>
                  <a:srgbClr val="000000"/>
                </a:solidFill>
                <a:ea typeface="宋体" panose="02010600030101010101" pitchFamily="2" charset="-122"/>
              </a:rPr>
              <a:t>波形图</a:t>
            </a:r>
            <a:endParaRPr lang="zh-CN" altLang="en-US" sz="2400"/>
          </a:p>
        </p:txBody>
      </p:sp>
      <p:pic>
        <p:nvPicPr>
          <p:cNvPr id="9356" name="图片 2793"/>
          <p:cNvPicPr>
            <a:picLocks noChangeAspect="1"/>
          </p:cNvPicPr>
          <p:nvPr/>
        </p:nvPicPr>
        <p:blipFill>
          <a:blip r:embed="rId2"/>
          <a:stretch>
            <a:fillRect/>
          </a:stretch>
        </p:blipFill>
        <p:spPr>
          <a:xfrm>
            <a:off x="2959735" y="4286250"/>
            <a:ext cx="2752090" cy="1656715"/>
          </a:xfrm>
          <a:prstGeom prst="rect">
            <a:avLst/>
          </a:prstGeom>
          <a:noFill/>
          <a:ln>
            <a:noFill/>
          </a:ln>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9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5.4 触发器逻辑功能表示方法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1078230" y="1151890"/>
            <a:ext cx="5080000" cy="460375"/>
          </a:xfrm>
          <a:prstGeom prst="rect">
            <a:avLst/>
          </a:prstGeom>
          <a:noFill/>
          <a:ln w="9525">
            <a:noFill/>
          </a:ln>
        </p:spPr>
        <p:txBody>
          <a:bodyPr>
            <a:spAutoFit/>
          </a:bodyPr>
          <a:p>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2. </a:t>
            </a:r>
            <a:r>
              <a:rPr lang="en-US" sz="2400" b="1" i="1" dirty="0">
                <a:solidFill>
                  <a:srgbClr val="FE09D6"/>
                </a:solidFill>
                <a:latin typeface="Times New Roman" panose="02020603050405020304" charset="0"/>
                <a:ea typeface="楷体_GB2312" pitchFamily="49" charset="-122"/>
                <a:cs typeface="Times New Roman" panose="02020603050405020304" charset="0"/>
              </a:rPr>
              <a:t>JK</a:t>
            </a:r>
            <a:r>
              <a:rPr lang="en-US" sz="2400" b="1" dirty="0">
                <a:solidFill>
                  <a:srgbClr val="FE09D6"/>
                </a:solidFill>
                <a:latin typeface="Times New Roman" panose="02020603050405020304" charset="0"/>
                <a:ea typeface="楷体_GB2312" pitchFamily="49" charset="-122"/>
                <a:cs typeface="Times New Roman" panose="02020603050405020304" charset="0"/>
              </a:rPr>
              <a:t>触发器逻辑功能表示方法</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2" name="文本框 1"/>
          <p:cNvSpPr txBox="1"/>
          <p:nvPr/>
        </p:nvSpPr>
        <p:spPr>
          <a:xfrm>
            <a:off x="785495" y="1612265"/>
            <a:ext cx="5080000" cy="460375"/>
          </a:xfrm>
          <a:prstGeom prst="rect">
            <a:avLst/>
          </a:prstGeom>
          <a:noFill/>
          <a:ln w="9525">
            <a:noFill/>
          </a:ln>
        </p:spPr>
        <p:txBody>
          <a:bodyPr>
            <a:spAutoFit/>
          </a:bodyPr>
          <a:p>
            <a:pPr indent="266700"/>
            <a:r>
              <a:rPr lang="en-US" sz="2400">
                <a:solidFill>
                  <a:srgbClr val="000000"/>
                </a:solidFill>
                <a:latin typeface="Times New Roman" panose="02020603050405020304" charset="0"/>
                <a:ea typeface="宋体" panose="02010600030101010101" pitchFamily="2" charset="-122"/>
              </a:rPr>
              <a:t>(1) </a:t>
            </a:r>
            <a:r>
              <a:rPr lang="zh-CN" sz="2400">
                <a:solidFill>
                  <a:srgbClr val="000000"/>
                </a:solidFill>
                <a:ea typeface="宋体" panose="02010600030101010101" pitchFamily="2" charset="-122"/>
              </a:rPr>
              <a:t>特性方程</a:t>
            </a:r>
            <a:endParaRPr lang="zh-CN" altLang="en-US" sz="2400"/>
          </a:p>
        </p:txBody>
      </p:sp>
      <p:sp>
        <p:nvSpPr>
          <p:cNvPr id="533509" name="矩形 533508"/>
          <p:cNvSpPr/>
          <p:nvPr/>
        </p:nvSpPr>
        <p:spPr>
          <a:xfrm>
            <a:off x="1207770" y="3940176"/>
            <a:ext cx="2214880" cy="460375"/>
          </a:xfrm>
          <a:prstGeom prst="rect">
            <a:avLst/>
          </a:prstGeom>
          <a:noFill/>
          <a:ln w="9525">
            <a:noFill/>
          </a:ln>
        </p:spPr>
        <p:txBody>
          <a:bodyPr wrap="none" anchor="ctr">
            <a:spAutoFit/>
          </a:bodyPr>
          <a:p>
            <a:pPr algn="l" defTabSz="914400">
              <a:tabLst>
                <a:tab pos="5130800" algn="r"/>
              </a:tabLst>
            </a:pPr>
            <a:r>
              <a:rPr lang="en-US" sz="2400">
                <a:solidFill>
                  <a:srgbClr val="000000"/>
                </a:solidFill>
                <a:latin typeface="Times New Roman" panose="02020603050405020304" charset="0"/>
                <a:sym typeface="+mn-ea"/>
              </a:rPr>
              <a:t>(2) </a:t>
            </a:r>
            <a:r>
              <a:rPr lang="en-US" altLang="zh-CN" sz="2400" dirty="0">
                <a:solidFill>
                  <a:srgbClr val="000066"/>
                </a:solidFill>
                <a:latin typeface="Times New Roman" panose="02020603050405020304" charset="0"/>
                <a:ea typeface="楷体_GB2312" pitchFamily="49" charset="-122"/>
              </a:rPr>
              <a:t> </a:t>
            </a:r>
            <a:r>
              <a:rPr lang="zh-CN" altLang="en-US" sz="2400" dirty="0">
                <a:solidFill>
                  <a:srgbClr val="000066"/>
                </a:solidFill>
                <a:latin typeface="Times New Roman" panose="02020603050405020304" charset="0"/>
                <a:ea typeface="楷体_GB2312" pitchFamily="49" charset="-122"/>
              </a:rPr>
              <a:t>状态转换图</a:t>
            </a:r>
            <a:endParaRPr lang="zh-CN" altLang="en-US" sz="2400" dirty="0">
              <a:solidFill>
                <a:srgbClr val="000066"/>
              </a:solidFill>
              <a:latin typeface="Times New Roman" panose="02020603050405020304" charset="0"/>
              <a:ea typeface="楷体_GB2312" pitchFamily="49" charset="-122"/>
            </a:endParaRPr>
          </a:p>
        </p:txBody>
      </p:sp>
      <p:pic>
        <p:nvPicPr>
          <p:cNvPr id="9357" name="图片 2794"/>
          <p:cNvPicPr>
            <a:picLocks noChangeAspect="1"/>
          </p:cNvPicPr>
          <p:nvPr/>
        </p:nvPicPr>
        <p:blipFill>
          <a:blip r:embed="rId1"/>
          <a:stretch>
            <a:fillRect/>
          </a:stretch>
        </p:blipFill>
        <p:spPr>
          <a:xfrm>
            <a:off x="1306195" y="2143760"/>
            <a:ext cx="2459990" cy="1572895"/>
          </a:xfrm>
          <a:prstGeom prst="rect">
            <a:avLst/>
          </a:prstGeom>
          <a:noFill/>
          <a:ln>
            <a:noFill/>
          </a:ln>
        </p:spPr>
      </p:pic>
      <p:graphicFrame>
        <p:nvGraphicFramePr>
          <p:cNvPr id="529460" name="对象 529459"/>
          <p:cNvGraphicFramePr/>
          <p:nvPr/>
        </p:nvGraphicFramePr>
        <p:xfrm>
          <a:off x="4554855" y="2875598"/>
          <a:ext cx="2844800" cy="633412"/>
        </p:xfrm>
        <a:graphic>
          <a:graphicData uri="http://schemas.openxmlformats.org/presentationml/2006/ole">
            <mc:AlternateContent xmlns:mc="http://schemas.openxmlformats.org/markup-compatibility/2006">
              <mc:Choice xmlns:v="urn:schemas-microsoft-com:vml" Requires="v">
                <p:oleObj spid="_x0000_s3146" name="" r:id="rId2" imgW="1141730" imgH="254000" progId="Equation.DSMT4">
                  <p:embed/>
                </p:oleObj>
              </mc:Choice>
              <mc:Fallback>
                <p:oleObj name="" r:id="rId2" imgW="1141730" imgH="254000" progId="Equation.DSMT4">
                  <p:embed/>
                  <p:pic>
                    <p:nvPicPr>
                      <p:cNvPr id="0" name="图片 3145"/>
                      <p:cNvPicPr/>
                      <p:nvPr/>
                    </p:nvPicPr>
                    <p:blipFill>
                      <a:blip r:embed="rId3"/>
                      <a:stretch>
                        <a:fillRect/>
                      </a:stretch>
                    </p:blipFill>
                    <p:spPr>
                      <a:xfrm>
                        <a:off x="4554855" y="2875598"/>
                        <a:ext cx="2844800" cy="633412"/>
                      </a:xfrm>
                      <a:prstGeom prst="rect">
                        <a:avLst/>
                      </a:prstGeom>
                      <a:noFill/>
                      <a:ln w="38100">
                        <a:noFill/>
                        <a:miter/>
                      </a:ln>
                    </p:spPr>
                  </p:pic>
                </p:oleObj>
              </mc:Fallback>
            </mc:AlternateContent>
          </a:graphicData>
        </a:graphic>
      </p:graphicFrame>
      <p:pic>
        <p:nvPicPr>
          <p:cNvPr id="9358" name="图片 2795"/>
          <p:cNvPicPr>
            <a:picLocks noChangeAspect="1"/>
          </p:cNvPicPr>
          <p:nvPr/>
        </p:nvPicPr>
        <p:blipFill>
          <a:blip r:embed="rId4"/>
          <a:stretch>
            <a:fillRect/>
          </a:stretch>
        </p:blipFill>
        <p:spPr>
          <a:xfrm>
            <a:off x="3632200" y="4287520"/>
            <a:ext cx="3948430" cy="2089150"/>
          </a:xfrm>
          <a:prstGeom prst="rect">
            <a:avLst/>
          </a:prstGeom>
          <a:noFill/>
          <a:ln>
            <a:noFill/>
          </a:ln>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29460"/>
                                        </p:tgtEl>
                                        <p:attrNameLst>
                                          <p:attrName>style.visibility</p:attrName>
                                        </p:attrNameLst>
                                      </p:cBhvr>
                                      <p:to>
                                        <p:strVal val="visible"/>
                                      </p:to>
                                    </p:set>
                                    <p:animEffect transition="in" filter="strips(downRight)">
                                      <p:cBhvr>
                                        <p:cTn id="7" dur="500"/>
                                        <p:tgtEl>
                                          <p:spTgt spid="52946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33509"/>
                                        </p:tgtEl>
                                        <p:attrNameLst>
                                          <p:attrName>style.visibility</p:attrName>
                                        </p:attrNameLst>
                                      </p:cBhvr>
                                      <p:to>
                                        <p:strVal val="visible"/>
                                      </p:to>
                                    </p:set>
                                    <p:animEffect transition="in" filter="strips(downRight)">
                                      <p:cBhvr>
                                        <p:cTn id="12" dur="500"/>
                                        <p:tgtEl>
                                          <p:spTgt spid="53350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1000"/>
                                  </p:stCondLst>
                                  <p:childTnLst>
                                    <p:set>
                                      <p:cBhvr>
                                        <p:cTn id="16" dur="1" fill="hold">
                                          <p:stCondLst>
                                            <p:cond delay="0"/>
                                          </p:stCondLst>
                                        </p:cTn>
                                        <p:tgtEl>
                                          <p:spTgt spid="93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5.4 触发器逻辑功能表示方法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1007745" y="1250950"/>
            <a:ext cx="2540000" cy="460375"/>
          </a:xfrm>
          <a:prstGeom prst="rect">
            <a:avLst/>
          </a:prstGeom>
          <a:noFill/>
        </p:spPr>
        <p:txBody>
          <a:bodyPr wrap="square" rtlCol="0" anchor="t">
            <a:spAutoFit/>
          </a:bodyPr>
          <a:p>
            <a:r>
              <a:rPr lang="en-US" sz="2400">
                <a:solidFill>
                  <a:srgbClr val="000000"/>
                </a:solidFill>
                <a:latin typeface="Times New Roman" panose="02020603050405020304" charset="0"/>
                <a:sym typeface="+mn-ea"/>
              </a:rPr>
              <a:t>(3) </a:t>
            </a:r>
            <a:r>
              <a:rPr lang="zh-CN" altLang="en-US" sz="2400"/>
              <a:t>激励表</a:t>
            </a:r>
            <a:endParaRPr lang="zh-CN" altLang="en-US" sz="2400"/>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819150" y="1912620"/>
            <a:ext cx="7505700" cy="2619375"/>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5.4 触发器逻辑功能表示方法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1078230" y="1151890"/>
            <a:ext cx="5080000" cy="460375"/>
          </a:xfrm>
          <a:prstGeom prst="rect">
            <a:avLst/>
          </a:prstGeom>
          <a:noFill/>
          <a:ln w="9525">
            <a:noFill/>
          </a:ln>
        </p:spPr>
        <p:txBody>
          <a:bodyPr>
            <a:spAutoFit/>
          </a:bodyPr>
          <a:p>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3. </a:t>
            </a:r>
            <a:r>
              <a:rPr lang="en-US" sz="2400" b="1" i="1" dirty="0">
                <a:solidFill>
                  <a:srgbClr val="FE09D6"/>
                </a:solidFill>
                <a:latin typeface="Times New Roman" panose="02020603050405020304" charset="0"/>
                <a:ea typeface="楷体_GB2312" pitchFamily="49" charset="-122"/>
                <a:cs typeface="Times New Roman" panose="02020603050405020304" charset="0"/>
              </a:rPr>
              <a:t>D</a:t>
            </a:r>
            <a:r>
              <a:rPr lang="en-US" sz="2400" b="1" dirty="0">
                <a:solidFill>
                  <a:srgbClr val="FE09D6"/>
                </a:solidFill>
                <a:latin typeface="Times New Roman" panose="02020603050405020304" charset="0"/>
                <a:ea typeface="楷体_GB2312" pitchFamily="49" charset="-122"/>
                <a:cs typeface="Times New Roman" panose="02020603050405020304" charset="0"/>
              </a:rPr>
              <a:t>触发器逻辑功能表示方法</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2" name="文本框 1"/>
          <p:cNvSpPr txBox="1"/>
          <p:nvPr/>
        </p:nvSpPr>
        <p:spPr>
          <a:xfrm>
            <a:off x="785495" y="1612265"/>
            <a:ext cx="5080000" cy="460375"/>
          </a:xfrm>
          <a:prstGeom prst="rect">
            <a:avLst/>
          </a:prstGeom>
          <a:noFill/>
          <a:ln w="9525">
            <a:noFill/>
          </a:ln>
        </p:spPr>
        <p:txBody>
          <a:bodyPr>
            <a:spAutoFit/>
          </a:bodyPr>
          <a:p>
            <a:pPr indent="266700"/>
            <a:r>
              <a:rPr lang="en-US" sz="2400">
                <a:solidFill>
                  <a:srgbClr val="000000"/>
                </a:solidFill>
                <a:latin typeface="Times New Roman" panose="02020603050405020304" charset="0"/>
                <a:ea typeface="宋体" panose="02010600030101010101" pitchFamily="2" charset="-122"/>
              </a:rPr>
              <a:t>(1) </a:t>
            </a:r>
            <a:r>
              <a:rPr lang="zh-CN" sz="2400">
                <a:solidFill>
                  <a:srgbClr val="000000"/>
                </a:solidFill>
                <a:ea typeface="宋体" panose="02010600030101010101" pitchFamily="2" charset="-122"/>
              </a:rPr>
              <a:t>特性方程</a:t>
            </a:r>
            <a:endParaRPr lang="zh-CN" altLang="en-US" sz="2400"/>
          </a:p>
        </p:txBody>
      </p:sp>
      <p:sp>
        <p:nvSpPr>
          <p:cNvPr id="533509" name="矩形 533508"/>
          <p:cNvSpPr/>
          <p:nvPr/>
        </p:nvSpPr>
        <p:spPr>
          <a:xfrm>
            <a:off x="4561205" y="1612266"/>
            <a:ext cx="2214880" cy="460375"/>
          </a:xfrm>
          <a:prstGeom prst="rect">
            <a:avLst/>
          </a:prstGeom>
          <a:noFill/>
          <a:ln w="9525">
            <a:noFill/>
          </a:ln>
        </p:spPr>
        <p:txBody>
          <a:bodyPr wrap="none" anchor="ctr">
            <a:spAutoFit/>
          </a:bodyPr>
          <a:p>
            <a:pPr algn="l" defTabSz="914400">
              <a:tabLst>
                <a:tab pos="5130800" algn="r"/>
              </a:tabLst>
            </a:pPr>
            <a:r>
              <a:rPr lang="en-US" sz="2400">
                <a:solidFill>
                  <a:srgbClr val="000000"/>
                </a:solidFill>
                <a:latin typeface="Times New Roman" panose="02020603050405020304" charset="0"/>
                <a:sym typeface="+mn-ea"/>
              </a:rPr>
              <a:t>(2) </a:t>
            </a:r>
            <a:r>
              <a:rPr lang="en-US" altLang="zh-CN" sz="2400" dirty="0">
                <a:solidFill>
                  <a:srgbClr val="000066"/>
                </a:solidFill>
                <a:latin typeface="Times New Roman" panose="02020603050405020304" charset="0"/>
                <a:ea typeface="楷体_GB2312" pitchFamily="49" charset="-122"/>
              </a:rPr>
              <a:t> </a:t>
            </a:r>
            <a:r>
              <a:rPr lang="zh-CN" altLang="en-US" sz="2400" dirty="0">
                <a:solidFill>
                  <a:srgbClr val="000066"/>
                </a:solidFill>
                <a:latin typeface="Times New Roman" panose="02020603050405020304" charset="0"/>
                <a:ea typeface="楷体_GB2312" pitchFamily="49" charset="-122"/>
              </a:rPr>
              <a:t>状态转换图</a:t>
            </a:r>
            <a:endParaRPr lang="zh-CN" altLang="en-US" sz="2400" dirty="0">
              <a:solidFill>
                <a:srgbClr val="000066"/>
              </a:solidFill>
              <a:latin typeface="Times New Roman" panose="02020603050405020304" charset="0"/>
              <a:ea typeface="楷体_GB2312" pitchFamily="49" charset="-122"/>
            </a:endParaRPr>
          </a:p>
        </p:txBody>
      </p:sp>
      <p:sp>
        <p:nvSpPr>
          <p:cNvPr id="528415" name="矩形 528414"/>
          <p:cNvSpPr/>
          <p:nvPr/>
        </p:nvSpPr>
        <p:spPr>
          <a:xfrm>
            <a:off x="1516380" y="2274253"/>
            <a:ext cx="1357313" cy="457200"/>
          </a:xfrm>
          <a:prstGeom prst="rect">
            <a:avLst/>
          </a:prstGeom>
          <a:noFill/>
          <a:ln w="9525">
            <a:noFill/>
          </a:ln>
        </p:spPr>
        <p:txBody>
          <a:bodyPr wrap="none" anchor="ctr">
            <a:spAutoFit/>
          </a:bodyPr>
          <a:p>
            <a:pPr algn="l"/>
            <a:r>
              <a:rPr lang="en-US" altLang="zh-CN" sz="2400" i="1">
                <a:solidFill>
                  <a:srgbClr val="000066"/>
                </a:solidFill>
                <a:latin typeface="Times New Roman" panose="02020603050405020304" charset="0"/>
              </a:rPr>
              <a:t>Q</a:t>
            </a:r>
            <a:r>
              <a:rPr lang="en-US" altLang="zh-CN" sz="2400" i="1" baseline="30000">
                <a:solidFill>
                  <a:srgbClr val="000066"/>
                </a:solidFill>
                <a:latin typeface="Times New Roman" panose="02020603050405020304" charset="0"/>
              </a:rPr>
              <a:t>n</a:t>
            </a:r>
            <a:r>
              <a:rPr lang="en-US" altLang="zh-CN" sz="2400" baseline="30000">
                <a:solidFill>
                  <a:srgbClr val="000066"/>
                </a:solidFill>
                <a:latin typeface="Times New Roman" panose="02020603050405020304" charset="0"/>
              </a:rPr>
              <a:t>+1</a:t>
            </a:r>
            <a:r>
              <a:rPr lang="en-US" altLang="zh-CN" sz="2400">
                <a:solidFill>
                  <a:srgbClr val="000066"/>
                </a:solidFill>
                <a:latin typeface="Times New Roman" panose="02020603050405020304" charset="0"/>
              </a:rPr>
              <a:t> = </a:t>
            </a:r>
            <a:r>
              <a:rPr lang="en-US" altLang="zh-CN" sz="2400" i="1">
                <a:solidFill>
                  <a:srgbClr val="000066"/>
                </a:solidFill>
                <a:latin typeface="Times New Roman" panose="02020603050405020304" charset="0"/>
              </a:rPr>
              <a:t>D</a:t>
            </a:r>
            <a:r>
              <a:rPr lang="en-US" altLang="zh-CN" sz="2400">
                <a:solidFill>
                  <a:srgbClr val="000066"/>
                </a:solidFill>
                <a:latin typeface="Times New Roman" panose="02020603050405020304" charset="0"/>
              </a:rPr>
              <a:t> </a:t>
            </a:r>
            <a:endParaRPr lang="en-US" altLang="zh-CN" sz="2400">
              <a:solidFill>
                <a:srgbClr val="000066"/>
              </a:solidFill>
              <a:latin typeface="Times New Roman" panose="02020603050405020304" charset="0"/>
            </a:endParaRPr>
          </a:p>
        </p:txBody>
      </p:sp>
      <p:pic>
        <p:nvPicPr>
          <p:cNvPr id="9359" name="图片 2796"/>
          <p:cNvPicPr>
            <a:picLocks noChangeAspect="1"/>
          </p:cNvPicPr>
          <p:nvPr/>
        </p:nvPicPr>
        <p:blipFill>
          <a:blip r:embed="rId1"/>
          <a:stretch>
            <a:fillRect/>
          </a:stretch>
        </p:blipFill>
        <p:spPr>
          <a:xfrm>
            <a:off x="4113530" y="2274570"/>
            <a:ext cx="4302125" cy="1660525"/>
          </a:xfrm>
          <a:prstGeom prst="rect">
            <a:avLst/>
          </a:prstGeom>
          <a:noFill/>
          <a:ln>
            <a:noFill/>
          </a:ln>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1078230" y="3562350"/>
            <a:ext cx="2540000" cy="460375"/>
          </a:xfrm>
          <a:prstGeom prst="rect">
            <a:avLst/>
          </a:prstGeom>
          <a:noFill/>
        </p:spPr>
        <p:txBody>
          <a:bodyPr wrap="square" rtlCol="0" anchor="t">
            <a:spAutoFit/>
          </a:bodyPr>
          <a:p>
            <a:r>
              <a:rPr lang="en-US" sz="2400">
                <a:solidFill>
                  <a:srgbClr val="000000"/>
                </a:solidFill>
                <a:latin typeface="Times New Roman" panose="02020603050405020304" charset="0"/>
                <a:sym typeface="+mn-ea"/>
              </a:rPr>
              <a:t>(3) </a:t>
            </a:r>
            <a:r>
              <a:rPr lang="zh-CN" altLang="en-US" sz="2400"/>
              <a:t>激励表</a:t>
            </a:r>
            <a:endParaRPr lang="zh-CN" altLang="en-US" sz="2400"/>
          </a:p>
        </p:txBody>
      </p:sp>
      <p:pic>
        <p:nvPicPr>
          <p:cNvPr id="4" name="图片 3"/>
          <p:cNvPicPr>
            <a:picLocks noChangeAspect="1"/>
          </p:cNvPicPr>
          <p:nvPr/>
        </p:nvPicPr>
        <p:blipFill>
          <a:blip r:embed="rId2"/>
          <a:stretch>
            <a:fillRect/>
          </a:stretch>
        </p:blipFill>
        <p:spPr>
          <a:xfrm>
            <a:off x="1268730" y="4022725"/>
            <a:ext cx="4596765" cy="23825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28415"/>
                                        </p:tgtEl>
                                        <p:attrNameLst>
                                          <p:attrName>style.visibility</p:attrName>
                                        </p:attrNameLst>
                                      </p:cBhvr>
                                      <p:to>
                                        <p:strVal val="visible"/>
                                      </p:to>
                                    </p:set>
                                    <p:animEffect transition="in" filter="strips(downRight)">
                                      <p:cBhvr>
                                        <p:cTn id="7" dur="500"/>
                                        <p:tgtEl>
                                          <p:spTgt spid="5284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33509"/>
                                        </p:tgtEl>
                                        <p:attrNameLst>
                                          <p:attrName>style.visibility</p:attrName>
                                        </p:attrNameLst>
                                      </p:cBhvr>
                                      <p:to>
                                        <p:strVal val="visible"/>
                                      </p:to>
                                    </p:set>
                                    <p:animEffect transition="in" filter="strips(downRight)">
                                      <p:cBhvr>
                                        <p:cTn id="12" dur="500"/>
                                        <p:tgtEl>
                                          <p:spTgt spid="53350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500"/>
                                  </p:stCondLst>
                                  <p:childTnLst>
                                    <p:set>
                                      <p:cBhvr>
                                        <p:cTn id="16" dur="1" fill="hold">
                                          <p:stCondLst>
                                            <p:cond delay="0"/>
                                          </p:stCondLst>
                                        </p:cTn>
                                        <p:tgtEl>
                                          <p:spTgt spid="935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9" grpId="0"/>
      <p:bldP spid="528415" grpId="0"/>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5.4 触发器逻辑功能表示方法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1078230" y="1151890"/>
            <a:ext cx="5080000" cy="460375"/>
          </a:xfrm>
          <a:prstGeom prst="rect">
            <a:avLst/>
          </a:prstGeom>
          <a:noFill/>
          <a:ln w="9525">
            <a:noFill/>
          </a:ln>
        </p:spPr>
        <p:txBody>
          <a:bodyPr>
            <a:spAutoFit/>
          </a:bodyPr>
          <a:p>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4. </a:t>
            </a:r>
            <a:r>
              <a:rPr lang="en-US" sz="2400" b="1" i="1" dirty="0">
                <a:solidFill>
                  <a:srgbClr val="FE09D6"/>
                </a:solidFill>
                <a:latin typeface="Times New Roman" panose="02020603050405020304" charset="0"/>
                <a:ea typeface="楷体_GB2312" pitchFamily="49" charset="-122"/>
                <a:cs typeface="Times New Roman" panose="02020603050405020304" charset="0"/>
              </a:rPr>
              <a:t>T</a:t>
            </a:r>
            <a:r>
              <a:rPr lang="en-US" sz="2400" b="1" dirty="0">
                <a:solidFill>
                  <a:srgbClr val="FE09D6"/>
                </a:solidFill>
                <a:latin typeface="Times New Roman" panose="02020603050405020304" charset="0"/>
                <a:ea typeface="楷体_GB2312" pitchFamily="49" charset="-122"/>
                <a:cs typeface="Times New Roman" panose="02020603050405020304" charset="0"/>
              </a:rPr>
              <a:t>触发器逻辑功能表示方法</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文本框 2"/>
          <p:cNvSpPr txBox="1"/>
          <p:nvPr/>
        </p:nvSpPr>
        <p:spPr>
          <a:xfrm>
            <a:off x="973455" y="1738630"/>
            <a:ext cx="5289550" cy="460375"/>
          </a:xfrm>
          <a:prstGeom prst="rect">
            <a:avLst/>
          </a:prstGeom>
          <a:noFill/>
        </p:spPr>
        <p:txBody>
          <a:bodyPr wrap="square" rtlCol="0" anchor="t">
            <a:spAutoFit/>
          </a:bodyPr>
          <a:p>
            <a:r>
              <a:rPr lang="zh-CN" altLang="en-US" sz="2400" i="1"/>
              <a:t>Ｔ</a:t>
            </a:r>
            <a:r>
              <a:rPr lang="zh-CN" altLang="en-US" sz="2400"/>
              <a:t>触发器功能及逻辑符号</a:t>
            </a:r>
            <a:endParaRPr lang="zh-CN" altLang="en-US" sz="2400"/>
          </a:p>
        </p:txBody>
      </p:sp>
      <p:pic>
        <p:nvPicPr>
          <p:cNvPr id="4" name="图片 3"/>
          <p:cNvPicPr>
            <a:picLocks noChangeAspect="1"/>
          </p:cNvPicPr>
          <p:nvPr/>
        </p:nvPicPr>
        <p:blipFill>
          <a:blip r:embed="rId1"/>
          <a:stretch>
            <a:fillRect/>
          </a:stretch>
        </p:blipFill>
        <p:spPr>
          <a:xfrm>
            <a:off x="786130" y="2324735"/>
            <a:ext cx="4895850" cy="2609850"/>
          </a:xfrm>
          <a:prstGeom prst="rect">
            <a:avLst/>
          </a:prstGeom>
        </p:spPr>
      </p:pic>
      <p:pic>
        <p:nvPicPr>
          <p:cNvPr id="9361" name="图片 2798"/>
          <p:cNvPicPr>
            <a:picLocks noChangeAspect="1"/>
          </p:cNvPicPr>
          <p:nvPr/>
        </p:nvPicPr>
        <p:blipFill>
          <a:blip r:embed="rId2"/>
          <a:stretch>
            <a:fillRect/>
          </a:stretch>
        </p:blipFill>
        <p:spPr>
          <a:xfrm>
            <a:off x="6499225" y="2404110"/>
            <a:ext cx="1431925" cy="2267585"/>
          </a:xfrm>
          <a:prstGeom prst="rect">
            <a:avLst/>
          </a:prstGeom>
          <a:noFill/>
          <a:ln>
            <a:noFill/>
          </a:ln>
        </p:spPr>
      </p:pic>
      <p:sp>
        <p:nvSpPr>
          <p:cNvPr id="6" name="文本框 5"/>
          <p:cNvSpPr txBox="1"/>
          <p:nvPr/>
        </p:nvSpPr>
        <p:spPr>
          <a:xfrm>
            <a:off x="4876800" y="4733290"/>
            <a:ext cx="5080000" cy="337185"/>
          </a:xfrm>
          <a:prstGeom prst="rect">
            <a:avLst/>
          </a:prstGeom>
          <a:noFill/>
          <a:ln w="9525">
            <a:noFill/>
          </a:ln>
        </p:spPr>
        <p:txBody>
          <a:bodyPr>
            <a:spAutoFit/>
          </a:bodyPr>
          <a:p>
            <a:pPr algn="ctr"/>
            <a:r>
              <a:rPr lang="zh-CN" sz="1600">
                <a:solidFill>
                  <a:srgbClr val="000000"/>
                </a:solidFill>
                <a:latin typeface="Times New Roman" panose="02020603050405020304" charset="0"/>
                <a:ea typeface="宋体" panose="02010600030101010101" pitchFamily="2" charset="-122"/>
              </a:rPr>
              <a:t>图</a:t>
            </a:r>
            <a:r>
              <a:rPr lang="en-US" sz="1600">
                <a:solidFill>
                  <a:srgbClr val="000000"/>
                </a:solidFill>
                <a:latin typeface="Times New Roman" panose="02020603050405020304" charset="0"/>
                <a:ea typeface="宋体" panose="02010600030101010101" pitchFamily="2" charset="-122"/>
                <a:cs typeface="Times New Roman" panose="02020603050405020304" charset="0"/>
              </a:rPr>
              <a:t>5-22</a:t>
            </a:r>
            <a:r>
              <a:rPr lang="en-US" sz="1600" i="1">
                <a:solidFill>
                  <a:srgbClr val="000000"/>
                </a:solidFill>
                <a:latin typeface="Times New Roman" panose="02020603050405020304" charset="0"/>
                <a:ea typeface="宋体" panose="02010600030101010101" pitchFamily="2" charset="-122"/>
                <a:cs typeface="Times New Roman" panose="02020603050405020304" charset="0"/>
              </a:rPr>
              <a:t> T</a:t>
            </a:r>
            <a:r>
              <a:rPr lang="zh-CN" sz="1600">
                <a:solidFill>
                  <a:srgbClr val="000000"/>
                </a:solidFill>
                <a:latin typeface="Times New Roman" panose="02020603050405020304" charset="0"/>
                <a:ea typeface="宋体" panose="02010600030101010101" pitchFamily="2" charset="-122"/>
              </a:rPr>
              <a:t>触发器逻辑符号</a:t>
            </a:r>
            <a:endParaRPr lang="zh-CN" altLang="en-US" sz="1600"/>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5.4 触发器逻辑功能表示方法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770255" y="1362710"/>
            <a:ext cx="5080000" cy="460375"/>
          </a:xfrm>
          <a:prstGeom prst="rect">
            <a:avLst/>
          </a:prstGeom>
          <a:noFill/>
          <a:ln w="9525">
            <a:noFill/>
          </a:ln>
        </p:spPr>
        <p:txBody>
          <a:bodyPr>
            <a:spAutoFit/>
          </a:bodyPr>
          <a:p>
            <a:pPr indent="266700"/>
            <a:r>
              <a:rPr lang="en-US" sz="2400">
                <a:solidFill>
                  <a:srgbClr val="000000"/>
                </a:solidFill>
                <a:latin typeface="Times New Roman" panose="02020603050405020304" charset="0"/>
                <a:ea typeface="宋体" panose="02010600030101010101" pitchFamily="2" charset="-122"/>
              </a:rPr>
              <a:t>(1) </a:t>
            </a:r>
            <a:r>
              <a:rPr lang="zh-CN" sz="2400">
                <a:solidFill>
                  <a:srgbClr val="000000"/>
                </a:solidFill>
                <a:ea typeface="宋体" panose="02010600030101010101" pitchFamily="2" charset="-122"/>
              </a:rPr>
              <a:t>特性方程</a:t>
            </a:r>
            <a:endParaRPr lang="zh-CN" altLang="en-US" sz="2400"/>
          </a:p>
        </p:txBody>
      </p:sp>
      <p:sp>
        <p:nvSpPr>
          <p:cNvPr id="533509" name="矩形 533508"/>
          <p:cNvSpPr/>
          <p:nvPr/>
        </p:nvSpPr>
        <p:spPr>
          <a:xfrm>
            <a:off x="1059815" y="2639061"/>
            <a:ext cx="2214880" cy="460375"/>
          </a:xfrm>
          <a:prstGeom prst="rect">
            <a:avLst/>
          </a:prstGeom>
          <a:noFill/>
          <a:ln w="9525">
            <a:noFill/>
          </a:ln>
        </p:spPr>
        <p:txBody>
          <a:bodyPr wrap="none" anchor="ctr">
            <a:spAutoFit/>
          </a:bodyPr>
          <a:p>
            <a:pPr algn="l" defTabSz="914400">
              <a:tabLst>
                <a:tab pos="5130800" algn="r"/>
              </a:tabLst>
            </a:pPr>
            <a:r>
              <a:rPr lang="en-US" sz="2400">
                <a:solidFill>
                  <a:srgbClr val="000000"/>
                </a:solidFill>
                <a:latin typeface="Times New Roman" panose="02020603050405020304" charset="0"/>
                <a:sym typeface="+mn-ea"/>
              </a:rPr>
              <a:t>(2) </a:t>
            </a:r>
            <a:r>
              <a:rPr lang="en-US" altLang="zh-CN" sz="2400" dirty="0">
                <a:solidFill>
                  <a:srgbClr val="000066"/>
                </a:solidFill>
                <a:latin typeface="Times New Roman" panose="02020603050405020304" charset="0"/>
                <a:ea typeface="楷体_GB2312" pitchFamily="49" charset="-122"/>
              </a:rPr>
              <a:t> </a:t>
            </a:r>
            <a:r>
              <a:rPr lang="zh-CN" altLang="en-US" sz="2400" dirty="0">
                <a:solidFill>
                  <a:srgbClr val="000066"/>
                </a:solidFill>
                <a:latin typeface="Times New Roman" panose="02020603050405020304" charset="0"/>
                <a:ea typeface="楷体_GB2312" pitchFamily="49" charset="-122"/>
              </a:rPr>
              <a:t>状态转换图</a:t>
            </a:r>
            <a:endParaRPr lang="zh-CN" altLang="en-US" sz="2400" dirty="0">
              <a:solidFill>
                <a:srgbClr val="000066"/>
              </a:solidFill>
              <a:latin typeface="Times New Roman" panose="02020603050405020304" charset="0"/>
              <a:ea typeface="楷体_GB2312" pitchFamily="49" charset="-122"/>
            </a:endParaRPr>
          </a:p>
        </p:txBody>
      </p:sp>
      <p:pic>
        <p:nvPicPr>
          <p:cNvPr id="9362" name="图片 2799"/>
          <p:cNvPicPr>
            <a:picLocks noChangeAspect="1"/>
          </p:cNvPicPr>
          <p:nvPr/>
        </p:nvPicPr>
        <p:blipFill>
          <a:blip r:embed="rId1"/>
          <a:stretch>
            <a:fillRect/>
          </a:stretch>
        </p:blipFill>
        <p:spPr>
          <a:xfrm>
            <a:off x="3858895" y="2496185"/>
            <a:ext cx="4295140" cy="1631950"/>
          </a:xfrm>
          <a:prstGeom prst="rect">
            <a:avLst/>
          </a:prstGeom>
          <a:noFill/>
          <a:ln>
            <a:noFill/>
          </a:ln>
        </p:spPr>
      </p:pic>
      <p:pic>
        <p:nvPicPr>
          <p:cNvPr id="3" name="对象 1689"/>
          <p:cNvPicPr>
            <a:picLocks noChangeAspect="1"/>
          </p:cNvPicPr>
          <p:nvPr/>
        </p:nvPicPr>
        <p:blipFill>
          <a:blip r:embed="rId2"/>
          <a:stretch>
            <a:fillRect/>
          </a:stretch>
        </p:blipFill>
        <p:spPr>
          <a:xfrm>
            <a:off x="1221740" y="1823085"/>
            <a:ext cx="2637155" cy="601345"/>
          </a:xfrm>
          <a:prstGeom prst="rect">
            <a:avLst/>
          </a:prstGeom>
          <a:noFill/>
          <a:ln w="9525">
            <a:noFill/>
          </a:ln>
        </p:spPr>
      </p:pic>
      <p:sp>
        <p:nvSpPr>
          <p:cNvPr id="4" name="文本框 3"/>
          <p:cNvSpPr txBox="1"/>
          <p:nvPr/>
        </p:nvSpPr>
        <p:spPr>
          <a:xfrm>
            <a:off x="1059815" y="4308475"/>
            <a:ext cx="2540000" cy="460375"/>
          </a:xfrm>
          <a:prstGeom prst="rect">
            <a:avLst/>
          </a:prstGeom>
          <a:noFill/>
        </p:spPr>
        <p:txBody>
          <a:bodyPr wrap="square" rtlCol="0" anchor="t">
            <a:spAutoFit/>
          </a:bodyPr>
          <a:p>
            <a:r>
              <a:rPr lang="en-US" sz="2400">
                <a:solidFill>
                  <a:srgbClr val="000000"/>
                </a:solidFill>
                <a:latin typeface="Times New Roman" panose="02020603050405020304" charset="0"/>
                <a:sym typeface="+mn-ea"/>
              </a:rPr>
              <a:t>(3) </a:t>
            </a:r>
            <a:r>
              <a:rPr lang="zh-CN" altLang="en-US" sz="2400"/>
              <a:t>激励表</a:t>
            </a:r>
            <a:endParaRPr lang="zh-CN" altLang="en-US" sz="2400"/>
          </a:p>
        </p:txBody>
      </p:sp>
      <p:pic>
        <p:nvPicPr>
          <p:cNvPr id="6" name="图片 5"/>
          <p:cNvPicPr>
            <a:picLocks noChangeAspect="1"/>
          </p:cNvPicPr>
          <p:nvPr/>
        </p:nvPicPr>
        <p:blipFill>
          <a:blip r:embed="rId3"/>
          <a:stretch>
            <a:fillRect/>
          </a:stretch>
        </p:blipFill>
        <p:spPr>
          <a:xfrm>
            <a:off x="3086100" y="4384675"/>
            <a:ext cx="4191000" cy="2095500"/>
          </a:xfrm>
          <a:prstGeom prst="rect">
            <a:avLst/>
          </a:prstGeom>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533509"/>
                                        </p:tgtEl>
                                        <p:attrNameLst>
                                          <p:attrName>style.visibility</p:attrName>
                                        </p:attrNameLst>
                                      </p:cBhvr>
                                      <p:to>
                                        <p:strVal val="visible"/>
                                      </p:to>
                                    </p:set>
                                    <p:animEffect transition="in" filter="strips(downRight)">
                                      <p:cBhvr>
                                        <p:cTn id="11" dur="500"/>
                                        <p:tgtEl>
                                          <p:spTgt spid="533509"/>
                                        </p:tgtEl>
                                      </p:cBhvr>
                                    </p:animEffect>
                                  </p:childTnLst>
                                </p:cTn>
                              </p:par>
                            </p:childTnLst>
                          </p:cTn>
                        </p:par>
                        <p:par>
                          <p:cTn id="12" fill="hold">
                            <p:stCondLst>
                              <p:cond delay="500"/>
                            </p:stCondLst>
                            <p:childTnLst>
                              <p:par>
                                <p:cTn id="13" presetID="1" presetClass="entr" presetSubtype="0" fill="hold" nodeType="afterEffect">
                                  <p:stCondLst>
                                    <p:cond delay="1000"/>
                                  </p:stCondLst>
                                  <p:childTnLst>
                                    <p:set>
                                      <p:cBhvr>
                                        <p:cTn id="14" dur="1" fill="hold">
                                          <p:stCondLst>
                                            <p:cond delay="0"/>
                                          </p:stCondLst>
                                        </p:cTn>
                                        <p:tgtEl>
                                          <p:spTgt spid="93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50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9" grpId="0"/>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5.4 触发器逻辑功能表示方法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1078230" y="1151890"/>
            <a:ext cx="5080000" cy="460375"/>
          </a:xfrm>
          <a:prstGeom prst="rect">
            <a:avLst/>
          </a:prstGeom>
          <a:noFill/>
          <a:ln w="9525">
            <a:noFill/>
          </a:ln>
        </p:spPr>
        <p:txBody>
          <a:bodyPr>
            <a:spAutoFit/>
          </a:bodyPr>
          <a:p>
            <a:r>
              <a:rPr lang="en-US" sz="2400" b="1" dirty="0">
                <a:solidFill>
                  <a:srgbClr val="FE09D6"/>
                </a:solidFill>
                <a:latin typeface="Times New Roman" panose="02020603050405020304" charset="0"/>
                <a:ea typeface="楷体_GB2312" pitchFamily="49" charset="-122"/>
                <a:cs typeface="Times New Roman" panose="02020603050405020304" charset="0"/>
                <a:sym typeface="+mn-ea"/>
              </a:rPr>
              <a:t>4. </a:t>
            </a:r>
            <a:r>
              <a:rPr lang="en-US" sz="2400" b="1" i="1" dirty="0">
                <a:solidFill>
                  <a:srgbClr val="FE09D6"/>
                </a:solidFill>
                <a:latin typeface="Times New Roman" panose="02020603050405020304" charset="0"/>
                <a:ea typeface="楷体_GB2312" pitchFamily="49" charset="-122"/>
                <a:cs typeface="Times New Roman" panose="02020603050405020304" charset="0"/>
              </a:rPr>
              <a:t>T' </a:t>
            </a:r>
            <a:r>
              <a:rPr lang="en-US" sz="2400" b="1" dirty="0">
                <a:solidFill>
                  <a:srgbClr val="FE09D6"/>
                </a:solidFill>
                <a:latin typeface="Times New Roman" panose="02020603050405020304" charset="0"/>
                <a:ea typeface="楷体_GB2312" pitchFamily="49" charset="-122"/>
                <a:cs typeface="Times New Roman" panose="02020603050405020304" charset="0"/>
              </a:rPr>
              <a:t>触发器逻辑功能表示方法</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文本框 2"/>
          <p:cNvSpPr txBox="1"/>
          <p:nvPr/>
        </p:nvSpPr>
        <p:spPr>
          <a:xfrm>
            <a:off x="973455" y="1738630"/>
            <a:ext cx="5289550" cy="460375"/>
          </a:xfrm>
          <a:prstGeom prst="rect">
            <a:avLst/>
          </a:prstGeom>
          <a:noFill/>
        </p:spPr>
        <p:txBody>
          <a:bodyPr wrap="square" rtlCol="0" anchor="t">
            <a:spAutoFit/>
          </a:bodyPr>
          <a:p>
            <a:r>
              <a:rPr lang="zh-CN" altLang="en-US" sz="2400" i="1"/>
              <a:t>Ｔ</a:t>
            </a:r>
            <a:r>
              <a:rPr lang="en-US" sz="2400" b="1" i="1" dirty="0">
                <a:latin typeface="Times New Roman" panose="02020603050405020304" charset="0"/>
                <a:ea typeface="楷体_GB2312" pitchFamily="49" charset="-122"/>
                <a:cs typeface="Times New Roman" panose="02020603050405020304" charset="0"/>
                <a:sym typeface="+mn-ea"/>
              </a:rPr>
              <a:t>'</a:t>
            </a:r>
            <a:r>
              <a:rPr lang="zh-CN" altLang="en-US" sz="2400"/>
              <a:t>触发器功能及逻辑符号</a:t>
            </a:r>
            <a:endParaRPr lang="zh-CN" altLang="en-US" sz="2400"/>
          </a:p>
        </p:txBody>
      </p:sp>
      <p:pic>
        <p:nvPicPr>
          <p:cNvPr id="4" name="图片 3"/>
          <p:cNvPicPr>
            <a:picLocks noChangeAspect="1"/>
          </p:cNvPicPr>
          <p:nvPr/>
        </p:nvPicPr>
        <p:blipFill>
          <a:blip r:embed="rId1"/>
          <a:stretch>
            <a:fillRect/>
          </a:stretch>
        </p:blipFill>
        <p:spPr>
          <a:xfrm>
            <a:off x="447675" y="2280920"/>
            <a:ext cx="4619625" cy="1971675"/>
          </a:xfrm>
          <a:prstGeom prst="rect">
            <a:avLst/>
          </a:prstGeom>
        </p:spPr>
      </p:pic>
      <p:pic>
        <p:nvPicPr>
          <p:cNvPr id="9363" name="图片 2800"/>
          <p:cNvPicPr>
            <a:picLocks noChangeAspect="1"/>
          </p:cNvPicPr>
          <p:nvPr/>
        </p:nvPicPr>
        <p:blipFill>
          <a:blip r:embed="rId2"/>
          <a:stretch>
            <a:fillRect/>
          </a:stretch>
        </p:blipFill>
        <p:spPr>
          <a:xfrm>
            <a:off x="5759450" y="2382520"/>
            <a:ext cx="2183765" cy="1330960"/>
          </a:xfrm>
          <a:prstGeom prst="rect">
            <a:avLst/>
          </a:prstGeom>
          <a:noFill/>
          <a:ln>
            <a:noFill/>
          </a:ln>
        </p:spPr>
      </p:pic>
      <p:sp>
        <p:nvSpPr>
          <p:cNvPr id="6" name="文本框 5"/>
          <p:cNvSpPr txBox="1"/>
          <p:nvPr/>
        </p:nvSpPr>
        <p:spPr>
          <a:xfrm>
            <a:off x="5759450" y="3915410"/>
            <a:ext cx="2536825"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5-24 </a:t>
            </a:r>
            <a:r>
              <a:rPr lang="en-US" sz="1600" i="1">
                <a:latin typeface="Times New Roman" panose="02020603050405020304" charset="0"/>
                <a:ea typeface="宋体" panose="02010600030101010101" pitchFamily="2" charset="-122"/>
                <a:cs typeface="Times New Roman" panose="02020603050405020304" charset="0"/>
              </a:rPr>
              <a:t>T</a:t>
            </a:r>
            <a:r>
              <a:rPr lang="en-US" sz="1600" i="1">
                <a:latin typeface="Times New Roman" panose="02020603050405020304" charset="0"/>
                <a:ea typeface="宋体" panose="02010600030101010101" pitchFamily="2" charset="-122"/>
              </a:rPr>
              <a:t>'</a:t>
            </a:r>
            <a:r>
              <a:rPr lang="zh-CN" sz="1600">
                <a:latin typeface="Times New Roman" panose="02020603050405020304" charset="0"/>
                <a:ea typeface="宋体" panose="02010600030101010101" pitchFamily="2" charset="-122"/>
              </a:rPr>
              <a:t>触发器逻辑符号</a:t>
            </a:r>
            <a:endParaRPr lang="zh-CN" altLang="en-US" sz="1600"/>
          </a:p>
        </p:txBody>
      </p:sp>
      <p:sp>
        <p:nvSpPr>
          <p:cNvPr id="7" name="文本框 6"/>
          <p:cNvSpPr txBox="1"/>
          <p:nvPr/>
        </p:nvSpPr>
        <p:spPr>
          <a:xfrm>
            <a:off x="1313180" y="4441190"/>
            <a:ext cx="5080000" cy="460375"/>
          </a:xfrm>
          <a:prstGeom prst="rect">
            <a:avLst/>
          </a:prstGeom>
          <a:noFill/>
          <a:ln w="9525">
            <a:noFill/>
          </a:ln>
        </p:spPr>
        <p:txBody>
          <a:bodyPr>
            <a:spAutoFit/>
          </a:bodyPr>
          <a:p>
            <a:pPr indent="266700"/>
            <a:r>
              <a:rPr lang="en-US" sz="2400">
                <a:solidFill>
                  <a:srgbClr val="000000"/>
                </a:solidFill>
                <a:latin typeface="Times New Roman" panose="02020603050405020304" charset="0"/>
                <a:ea typeface="宋体" panose="02010600030101010101" pitchFamily="2" charset="-122"/>
              </a:rPr>
              <a:t> </a:t>
            </a:r>
            <a:r>
              <a:rPr lang="zh-CN" sz="2400">
                <a:solidFill>
                  <a:srgbClr val="000000"/>
                </a:solidFill>
                <a:ea typeface="宋体" panose="02010600030101010101" pitchFamily="2" charset="-122"/>
              </a:rPr>
              <a:t>特性方程</a:t>
            </a:r>
            <a:endParaRPr lang="zh-CN" altLang="en-US" sz="2400"/>
          </a:p>
        </p:txBody>
      </p:sp>
      <p:grpSp>
        <p:nvGrpSpPr>
          <p:cNvPr id="10" name="组合 9"/>
          <p:cNvGrpSpPr/>
          <p:nvPr/>
        </p:nvGrpSpPr>
        <p:grpSpPr>
          <a:xfrm>
            <a:off x="3216275" y="5090160"/>
            <a:ext cx="5080000" cy="466090"/>
            <a:chOff x="2435" y="7791"/>
            <a:chExt cx="8000" cy="734"/>
          </a:xfrm>
        </p:grpSpPr>
        <p:sp>
          <p:nvSpPr>
            <p:cNvPr id="8" name="文本框 7"/>
            <p:cNvSpPr txBox="1"/>
            <p:nvPr/>
          </p:nvSpPr>
          <p:spPr>
            <a:xfrm>
              <a:off x="2435" y="7800"/>
              <a:ext cx="8000" cy="725"/>
            </a:xfrm>
            <a:prstGeom prst="rect">
              <a:avLst/>
            </a:prstGeom>
            <a:noFill/>
            <a:ln w="9525">
              <a:noFill/>
            </a:ln>
          </p:spPr>
          <p:txBody>
            <a:bodyPr>
              <a:spAutoFit/>
            </a:bodyPr>
            <a:p>
              <a:r>
                <a:rPr lang="en-US" sz="2400" i="1">
                  <a:solidFill>
                    <a:srgbClr val="000000"/>
                  </a:solidFill>
                  <a:latin typeface="Times New Roman" panose="02020603050405020304" charset="0"/>
                  <a:ea typeface="宋体" panose="02010600030101010101" pitchFamily="2" charset="-122"/>
                </a:rPr>
                <a:t>Q</a:t>
              </a:r>
              <a:r>
                <a:rPr lang="en-US" sz="2400" i="1" baseline="30000">
                  <a:solidFill>
                    <a:srgbClr val="000000"/>
                  </a:solidFill>
                  <a:latin typeface="Times New Roman" panose="02020603050405020304" charset="0"/>
                  <a:ea typeface="宋体" panose="02010600030101010101" pitchFamily="2" charset="-122"/>
                </a:rPr>
                <a:t>n</a:t>
              </a:r>
              <a:r>
                <a:rPr lang="en-US" sz="2400" baseline="30000">
                  <a:solidFill>
                    <a:srgbClr val="000000"/>
                  </a:solidFill>
                  <a:latin typeface="Times New Roman" panose="02020603050405020304" charset="0"/>
                  <a:ea typeface="宋体" panose="02010600030101010101" pitchFamily="2" charset="-122"/>
                </a:rPr>
                <a:t>+1</a:t>
              </a:r>
              <a:r>
                <a:rPr lang="en-US" sz="2400">
                  <a:solidFill>
                    <a:srgbClr val="000000"/>
                  </a:solidFill>
                  <a:latin typeface="Times New Roman" panose="02020603050405020304" charset="0"/>
                  <a:ea typeface="宋体" panose="02010600030101010101" pitchFamily="2" charset="-122"/>
                </a:rPr>
                <a:t> = </a:t>
              </a:r>
              <a:endParaRPr lang="zh-CN" altLang="en-US" sz="2400"/>
            </a:p>
          </p:txBody>
        </p:sp>
        <p:pic>
          <p:nvPicPr>
            <p:cNvPr id="9" name="图片 8"/>
            <p:cNvPicPr/>
            <p:nvPr/>
          </p:nvPicPr>
          <p:blipFill>
            <a:blip r:embed="rId3"/>
            <a:stretch>
              <a:fillRect/>
            </a:stretch>
          </p:blipFill>
          <p:spPr>
            <a:xfrm>
              <a:off x="4058" y="7791"/>
              <a:ext cx="569" cy="734"/>
            </a:xfrm>
            <a:prstGeom prst="rect">
              <a:avLst/>
            </a:prstGeom>
            <a:noFill/>
            <a:ln w="9525">
              <a:noFill/>
            </a:ln>
          </p:spPr>
        </p:pic>
      </p:gr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5.5 触发器逻辑功能</a:t>
            </a:r>
            <a:r>
              <a:rPr lang="zh-CN" altLang="en-US" b="1" dirty="0">
                <a:solidFill>
                  <a:srgbClr val="FF0000"/>
                </a:solidFill>
                <a:latin typeface="黑体" panose="02010609060101010101" pitchFamily="49" charset="-122"/>
                <a:ea typeface="黑体" panose="02010609060101010101" pitchFamily="49" charset="-122"/>
                <a:sym typeface="+mn-ea"/>
              </a:rPr>
              <a:t>的转换</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965835" y="1480185"/>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触发器功能转换关系框图</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364" name="图片 2801"/>
          <p:cNvPicPr>
            <a:picLocks noChangeAspect="1"/>
          </p:cNvPicPr>
          <p:nvPr/>
        </p:nvPicPr>
        <p:blipFill>
          <a:blip r:embed="rId1"/>
          <a:stretch>
            <a:fillRect/>
          </a:stretch>
        </p:blipFill>
        <p:spPr>
          <a:xfrm>
            <a:off x="1907540" y="2087245"/>
            <a:ext cx="4138295" cy="2232025"/>
          </a:xfrm>
          <a:prstGeom prst="rect">
            <a:avLst/>
          </a:prstGeom>
          <a:noFill/>
          <a:ln>
            <a:noFill/>
          </a:ln>
        </p:spPr>
      </p:pic>
      <p:sp>
        <p:nvSpPr>
          <p:cNvPr id="2" name="文本框 1"/>
          <p:cNvSpPr txBox="1"/>
          <p:nvPr/>
        </p:nvSpPr>
        <p:spPr>
          <a:xfrm>
            <a:off x="669925" y="4585335"/>
            <a:ext cx="7933055" cy="1568450"/>
          </a:xfrm>
          <a:prstGeom prst="rect">
            <a:avLst/>
          </a:prstGeom>
          <a:noFill/>
          <a:ln w="9525">
            <a:noFill/>
          </a:ln>
        </p:spPr>
        <p:txBody>
          <a:bodyPr wrap="square">
            <a:spAutoFit/>
          </a:bodyPr>
          <a:p>
            <a:pPr indent="266700"/>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写出原触发器和新触发器特性方程，因为原触发器和</a:t>
            </a:r>
            <a:endParaRPr lang="zh-CN" sz="2400" b="1">
              <a:gradFill>
                <a:gsLst>
                  <a:gs pos="0">
                    <a:srgbClr val="012D86"/>
                  </a:gs>
                  <a:gs pos="100000">
                    <a:srgbClr val="0E2557"/>
                  </a:gs>
                </a:gsLst>
                <a:lin scaled="0"/>
              </a:gradFill>
              <a:ea typeface="宋体" panose="02010600030101010101" pitchFamily="2" charset="-122"/>
            </a:endParaRPr>
          </a:p>
          <a:p>
            <a:pPr indent="266700"/>
            <a:r>
              <a:rPr lang="zh-CN" sz="2400" b="1">
                <a:gradFill>
                  <a:gsLst>
                    <a:gs pos="0">
                      <a:srgbClr val="012D86"/>
                    </a:gs>
                    <a:gs pos="100000">
                      <a:srgbClr val="0E2557"/>
                    </a:gs>
                  </a:gsLst>
                  <a:lin scaled="0"/>
                </a:gradFill>
                <a:ea typeface="宋体" panose="02010600030101010101" pitchFamily="2" charset="-122"/>
              </a:rPr>
              <a:t>新触发器输出端相同，故这两方程是相等的，根据函数</a:t>
            </a:r>
            <a:endParaRPr lang="zh-CN" sz="2400" b="1">
              <a:gradFill>
                <a:gsLst>
                  <a:gs pos="0">
                    <a:srgbClr val="012D86"/>
                  </a:gs>
                  <a:gs pos="100000">
                    <a:srgbClr val="0E2557"/>
                  </a:gs>
                </a:gsLst>
                <a:lin scaled="0"/>
              </a:gradFill>
              <a:ea typeface="宋体" panose="02010600030101010101" pitchFamily="2" charset="-122"/>
            </a:endParaRPr>
          </a:p>
          <a:p>
            <a:pPr indent="266700"/>
            <a:r>
              <a:rPr lang="zh-CN" sz="2400" b="1">
                <a:gradFill>
                  <a:gsLst>
                    <a:gs pos="0">
                      <a:srgbClr val="012D86"/>
                    </a:gs>
                    <a:gs pos="100000">
                      <a:srgbClr val="0E2557"/>
                    </a:gs>
                  </a:gsLst>
                  <a:lin scaled="0"/>
                </a:gradFill>
                <a:ea typeface="宋体" panose="02010600030101010101" pitchFamily="2" charset="-122"/>
              </a:rPr>
              <a:t>关系式可确定在原触发器的输入端加的转换逻辑电路，</a:t>
            </a:r>
            <a:endParaRPr lang="zh-CN" sz="2400" b="1">
              <a:gradFill>
                <a:gsLst>
                  <a:gs pos="0">
                    <a:srgbClr val="012D86"/>
                  </a:gs>
                  <a:gs pos="100000">
                    <a:srgbClr val="0E2557"/>
                  </a:gs>
                </a:gsLst>
                <a:lin scaled="0"/>
              </a:gradFill>
              <a:ea typeface="宋体" panose="02010600030101010101" pitchFamily="2" charset="-122"/>
            </a:endParaRPr>
          </a:p>
          <a:p>
            <a:pPr indent="266700"/>
            <a:r>
              <a:rPr lang="zh-CN" sz="2400" b="1">
                <a:gradFill>
                  <a:gsLst>
                    <a:gs pos="0">
                      <a:srgbClr val="012D86"/>
                    </a:gs>
                    <a:gs pos="100000">
                      <a:srgbClr val="0E2557"/>
                    </a:gs>
                  </a:gsLst>
                  <a:lin scaled="0"/>
                </a:gradFill>
                <a:ea typeface="宋体" panose="02010600030101010101" pitchFamily="2" charset="-122"/>
              </a:rPr>
              <a:t>于是就构成了具有新的逻辑功能的触发器。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000" fill="hold">
                                          <p:stCondLst>
                                            <p:cond delay="0"/>
                                          </p:stCondLst>
                                        </p:cTn>
                                        <p:tgtEl>
                                          <p:spTgt spid="2">
                                            <p:txEl>
                                              <p:pRg st="0" end="0"/>
                                            </p:txEl>
                                          </p:spTgt>
                                        </p:tgtEl>
                                        <p:attrNameLst>
                                          <p:attrName>style.visibility</p:attrName>
                                        </p:attrNameLst>
                                      </p:cBhvr>
                                      <p:to>
                                        <p:strVal val="visible"/>
                                      </p:to>
                                    </p:set>
                                    <p:animEffect transition="in" filter="wipe(left)">
                                      <p:cBhvr>
                                        <p:cTn id="7" dur="1000"/>
                                        <p:tgtEl>
                                          <p:spTgt spid="2">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500"/>
                                  </p:stCondLst>
                                  <p:childTnLst>
                                    <p:set>
                                      <p:cBhvr>
                                        <p:cTn id="10" dur="1000" fill="hold">
                                          <p:stCondLst>
                                            <p:cond delay="0"/>
                                          </p:stCondLst>
                                        </p:cTn>
                                        <p:tgtEl>
                                          <p:spTgt spid="2">
                                            <p:txEl>
                                              <p:pRg st="1" end="1"/>
                                            </p:txEl>
                                          </p:spTgt>
                                        </p:tgtEl>
                                        <p:attrNameLst>
                                          <p:attrName>style.visibility</p:attrName>
                                        </p:attrNameLst>
                                      </p:cBhvr>
                                      <p:to>
                                        <p:strVal val="visible"/>
                                      </p:to>
                                    </p:set>
                                    <p:animEffect transition="in" filter="wipe(left)">
                                      <p:cBhvr>
                                        <p:cTn id="11" dur="1000"/>
                                        <p:tgtEl>
                                          <p:spTgt spid="2">
                                            <p:txEl>
                                              <p:pRg st="1" end="1"/>
                                            </p:txEl>
                                          </p:spTgt>
                                        </p:tgtEl>
                                      </p:cBhvr>
                                    </p:animEffect>
                                  </p:childTnLst>
                                </p:cTn>
                              </p:par>
                            </p:childTnLst>
                          </p:cTn>
                        </p:par>
                        <p:par>
                          <p:cTn id="12" fill="hold">
                            <p:stCondLst>
                              <p:cond delay="2500"/>
                            </p:stCondLst>
                            <p:childTnLst>
                              <p:par>
                                <p:cTn id="13" presetID="22" presetClass="entr" presetSubtype="8" fill="hold" grpId="0" nodeType="afterEffect">
                                  <p:stCondLst>
                                    <p:cond delay="500"/>
                                  </p:stCondLst>
                                  <p:childTnLst>
                                    <p:set>
                                      <p:cBhvr>
                                        <p:cTn id="14" dur="1000" fill="hold">
                                          <p:stCondLst>
                                            <p:cond delay="0"/>
                                          </p:stCondLst>
                                        </p:cTn>
                                        <p:tgtEl>
                                          <p:spTgt spid="2">
                                            <p:txEl>
                                              <p:pRg st="2" end="2"/>
                                            </p:txEl>
                                          </p:spTgt>
                                        </p:tgtEl>
                                        <p:attrNameLst>
                                          <p:attrName>style.visibility</p:attrName>
                                        </p:attrNameLst>
                                      </p:cBhvr>
                                      <p:to>
                                        <p:strVal val="visible"/>
                                      </p:to>
                                    </p:set>
                                    <p:animEffect transition="in" filter="wipe(left)">
                                      <p:cBhvr>
                                        <p:cTn id="15" dur="1000"/>
                                        <p:tgtEl>
                                          <p:spTgt spid="2">
                                            <p:txEl>
                                              <p:pRg st="2" end="2"/>
                                            </p:txEl>
                                          </p:spTgt>
                                        </p:tgtEl>
                                      </p:cBhvr>
                                    </p:animEffect>
                                  </p:childTnLst>
                                </p:cTn>
                              </p:par>
                            </p:childTnLst>
                          </p:cTn>
                        </p:par>
                        <p:par>
                          <p:cTn id="16" fill="hold">
                            <p:stCondLst>
                              <p:cond delay="4000"/>
                            </p:stCondLst>
                            <p:childTnLst>
                              <p:par>
                                <p:cTn id="17" presetID="22" presetClass="entr" presetSubtype="8" fill="hold" grpId="0" nodeType="afterEffect">
                                  <p:stCondLst>
                                    <p:cond delay="500"/>
                                  </p:stCondLst>
                                  <p:childTnLst>
                                    <p:set>
                                      <p:cBhvr>
                                        <p:cTn id="18" dur="1000" fill="hold">
                                          <p:stCondLst>
                                            <p:cond delay="0"/>
                                          </p:stCondLst>
                                        </p:cTn>
                                        <p:tgtEl>
                                          <p:spTgt spid="2">
                                            <p:txEl>
                                              <p:pRg st="3" end="3"/>
                                            </p:txEl>
                                          </p:spTgt>
                                        </p:tgtEl>
                                        <p:attrNameLst>
                                          <p:attrName>style.visibility</p:attrName>
                                        </p:attrNameLst>
                                      </p:cBhvr>
                                      <p:to>
                                        <p:strVal val="visible"/>
                                      </p:to>
                                    </p:set>
                                    <p:animEffect transition="in" filter="wipe(left)">
                                      <p:cBhvr>
                                        <p:cTn id="19" dur="1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5.5 触发器逻辑功能</a:t>
            </a:r>
            <a:r>
              <a:rPr lang="zh-CN" altLang="en-US" b="1" dirty="0">
                <a:solidFill>
                  <a:srgbClr val="FF0000"/>
                </a:solidFill>
                <a:latin typeface="黑体" panose="02010609060101010101" pitchFamily="49" charset="-122"/>
                <a:ea typeface="黑体" panose="02010609060101010101" pitchFamily="49" charset="-122"/>
                <a:sym typeface="+mn-ea"/>
              </a:rPr>
              <a:t>的转换</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751840" y="1300480"/>
            <a:ext cx="6368415" cy="460375"/>
          </a:xfrm>
          <a:prstGeom prst="rect">
            <a:avLst/>
          </a:prstGeom>
          <a:noFill/>
          <a:ln w="9525">
            <a:noFill/>
          </a:ln>
        </p:spPr>
        <p:txBody>
          <a:bodyPr wrap="square">
            <a:spAutoFit/>
          </a:bodyPr>
          <a:p>
            <a:pPr indent="267970"/>
            <a:r>
              <a:rPr lang="en-US" sz="2400" b="1">
                <a:solidFill>
                  <a:schemeClr val="accent2">
                    <a:lumMod val="60000"/>
                    <a:lumOff val="40000"/>
                  </a:schemeClr>
                </a:solidFill>
                <a:latin typeface="Times New Roman" panose="02020603050405020304" charset="0"/>
                <a:ea typeface="宋体" panose="02010600030101010101" pitchFamily="2" charset="-122"/>
              </a:rPr>
              <a:t>1. </a:t>
            </a:r>
            <a:r>
              <a:rPr lang="zh-CN" sz="2400" b="1">
                <a:solidFill>
                  <a:schemeClr val="accent2">
                    <a:lumMod val="60000"/>
                    <a:lumOff val="40000"/>
                  </a:schemeClr>
                </a:solidFill>
                <a:ea typeface="宋体" panose="02010600030101010101" pitchFamily="2" charset="-122"/>
              </a:rPr>
              <a:t>用</a:t>
            </a:r>
            <a:r>
              <a:rPr lang="en-US" sz="2400" b="1" i="1">
                <a:solidFill>
                  <a:schemeClr val="accent2">
                    <a:lumMod val="60000"/>
                    <a:lumOff val="40000"/>
                  </a:schemeClr>
                </a:solidFill>
                <a:latin typeface="Times New Roman" panose="02020603050405020304" charset="0"/>
                <a:ea typeface="宋体" panose="02010600030101010101" pitchFamily="2" charset="-122"/>
              </a:rPr>
              <a:t>JK</a:t>
            </a:r>
            <a:r>
              <a:rPr lang="zh-CN" sz="2400" b="1">
                <a:solidFill>
                  <a:schemeClr val="accent2">
                    <a:lumMod val="60000"/>
                    <a:lumOff val="40000"/>
                  </a:schemeClr>
                </a:solidFill>
                <a:ea typeface="宋体" panose="02010600030101010101" pitchFamily="2" charset="-122"/>
              </a:rPr>
              <a:t>触发器转换成其它功能的触发器</a:t>
            </a:r>
            <a:endParaRPr lang="zh-CN" altLang="en-US" sz="2400" b="1">
              <a:solidFill>
                <a:schemeClr val="accent2">
                  <a:lumMod val="60000"/>
                  <a:lumOff val="40000"/>
                </a:schemeClr>
              </a:solidFill>
              <a:ea typeface="宋体" panose="02010600030101010101" pitchFamily="2" charset="-122"/>
            </a:endParaRPr>
          </a:p>
        </p:txBody>
      </p:sp>
      <p:sp>
        <p:nvSpPr>
          <p:cNvPr id="2" name="文本框 1"/>
          <p:cNvSpPr txBox="1"/>
          <p:nvPr/>
        </p:nvSpPr>
        <p:spPr>
          <a:xfrm>
            <a:off x="958215" y="1823720"/>
            <a:ext cx="5080000" cy="460375"/>
          </a:xfrm>
          <a:prstGeom prst="rect">
            <a:avLst/>
          </a:prstGeom>
          <a:noFill/>
          <a:ln w="9525">
            <a:noFill/>
          </a:ln>
        </p:spPr>
        <p:txBody>
          <a:bodyPr>
            <a:spAutoFit/>
          </a:bodyPr>
          <a:p>
            <a:r>
              <a:rPr lang="en-US" altLang="zh-CN" sz="2400" b="1">
                <a:gradFill>
                  <a:gsLst>
                    <a:gs pos="0">
                      <a:srgbClr val="012D86"/>
                    </a:gs>
                    <a:gs pos="100000">
                      <a:srgbClr val="0E2557"/>
                    </a:gs>
                  </a:gsLst>
                  <a:lin scaled="0"/>
                </a:gradFill>
                <a:latin typeface="Times New Roman" panose="02020603050405020304" charset="0"/>
                <a:cs typeface="Times New Roman" panose="02020603050405020304" charset="0"/>
                <a:sym typeface="+mn-ea"/>
              </a:rPr>
              <a:t>(1)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JK</a:t>
            </a:r>
            <a:r>
              <a:rPr lang="zh-CN" sz="2400" b="1">
                <a:gradFill>
                  <a:gsLst>
                    <a:gs pos="0">
                      <a:srgbClr val="012D86"/>
                    </a:gs>
                    <a:gs pos="100000">
                      <a:srgbClr val="0E2557"/>
                    </a:gs>
                  </a:gsLst>
                  <a:lin scaled="0"/>
                </a:gradFill>
                <a:ea typeface="宋体" panose="02010600030101010101" pitchFamily="2" charset="-122"/>
              </a:rPr>
              <a:t>触发器转换成</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触发器</a:t>
            </a:r>
            <a:endParaRPr lang="zh-CN" altLang="zh-CN" sz="2400" b="1">
              <a:gradFill>
                <a:gsLst>
                  <a:gs pos="0">
                    <a:srgbClr val="012D86"/>
                  </a:gs>
                  <a:gs pos="100000">
                    <a:srgbClr val="0E2557"/>
                  </a:gs>
                </a:gsLst>
                <a:lin scaled="0"/>
              </a:gradFill>
              <a:ea typeface="宋体" panose="02010600030101010101" pitchFamily="2" charset="-122"/>
            </a:endParaRPr>
          </a:p>
        </p:txBody>
      </p:sp>
      <p:sp>
        <p:nvSpPr>
          <p:cNvPr id="3" name="文本框 2"/>
          <p:cNvSpPr txBox="1"/>
          <p:nvPr/>
        </p:nvSpPr>
        <p:spPr>
          <a:xfrm>
            <a:off x="1396365" y="2284095"/>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原</a:t>
            </a:r>
            <a:r>
              <a:rPr lang="en-US" sz="2400" b="1" i="1">
                <a:gradFill>
                  <a:gsLst>
                    <a:gs pos="0">
                      <a:srgbClr val="012D86"/>
                    </a:gs>
                    <a:gs pos="100000">
                      <a:srgbClr val="0E2557"/>
                    </a:gs>
                  </a:gsLst>
                  <a:lin scaled="0"/>
                </a:gradFill>
                <a:latin typeface="Times New Roman" panose="02020603050405020304" charset="0"/>
                <a:sym typeface="+mn-ea"/>
              </a:rPr>
              <a:t>JK</a:t>
            </a:r>
            <a:r>
              <a:rPr lang="zh-CN" sz="2400" b="1">
                <a:gradFill>
                  <a:gsLst>
                    <a:gs pos="0">
                      <a:srgbClr val="012D86"/>
                    </a:gs>
                    <a:gs pos="100000">
                      <a:srgbClr val="0E2557"/>
                    </a:gs>
                  </a:gsLst>
                  <a:lin scaled="0"/>
                </a:gradFill>
                <a:ea typeface="宋体" panose="02010600030101010101" pitchFamily="2" charset="-122"/>
              </a:rPr>
              <a:t>触发器的特性方程：</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4" name="对象 1692"/>
          <p:cNvPicPr>
            <a:picLocks noChangeAspect="1"/>
          </p:cNvPicPr>
          <p:nvPr/>
        </p:nvPicPr>
        <p:blipFill>
          <a:blip r:embed="rId1"/>
          <a:stretch>
            <a:fillRect/>
          </a:stretch>
        </p:blipFill>
        <p:spPr>
          <a:xfrm>
            <a:off x="4716145" y="2284095"/>
            <a:ext cx="1853565" cy="398780"/>
          </a:xfrm>
          <a:prstGeom prst="rect">
            <a:avLst/>
          </a:prstGeom>
          <a:noFill/>
          <a:ln w="9525">
            <a:noFill/>
          </a:ln>
        </p:spPr>
      </p:pic>
      <p:sp>
        <p:nvSpPr>
          <p:cNvPr id="6" name="文本框 5"/>
          <p:cNvSpPr txBox="1"/>
          <p:nvPr/>
        </p:nvSpPr>
        <p:spPr>
          <a:xfrm>
            <a:off x="1396365" y="2744470"/>
            <a:ext cx="7391400"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写出新触发器的特性方程并变换为原触发器特性方程相似的形式：</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7" name="图片 6"/>
          <p:cNvPicPr/>
          <p:nvPr/>
        </p:nvPicPr>
        <p:blipFill>
          <a:blip r:embed="rId2"/>
          <a:stretch>
            <a:fillRect/>
          </a:stretch>
        </p:blipFill>
        <p:spPr>
          <a:xfrm>
            <a:off x="1784350" y="3574415"/>
            <a:ext cx="904875" cy="400050"/>
          </a:xfrm>
          <a:prstGeom prst="rect">
            <a:avLst/>
          </a:prstGeom>
          <a:noFill/>
          <a:ln w="9525">
            <a:noFill/>
          </a:ln>
        </p:spPr>
      </p:pic>
      <p:pic>
        <p:nvPicPr>
          <p:cNvPr id="101" name="图片 100"/>
          <p:cNvPicPr/>
          <p:nvPr/>
        </p:nvPicPr>
        <p:blipFill>
          <a:blip r:embed="rId3"/>
          <a:stretch>
            <a:fillRect/>
          </a:stretch>
        </p:blipFill>
        <p:spPr>
          <a:xfrm>
            <a:off x="2689225" y="3571875"/>
            <a:ext cx="1334770" cy="412115"/>
          </a:xfrm>
          <a:prstGeom prst="rect">
            <a:avLst/>
          </a:prstGeom>
          <a:noFill/>
          <a:ln w="9525">
            <a:noFill/>
          </a:ln>
        </p:spPr>
      </p:pic>
      <p:pic>
        <p:nvPicPr>
          <p:cNvPr id="102" name="图片 101"/>
          <p:cNvPicPr/>
          <p:nvPr/>
        </p:nvPicPr>
        <p:blipFill>
          <a:blip r:embed="rId4"/>
          <a:stretch>
            <a:fillRect/>
          </a:stretch>
        </p:blipFill>
        <p:spPr>
          <a:xfrm>
            <a:off x="3986530" y="3571875"/>
            <a:ext cx="1300480" cy="403860"/>
          </a:xfrm>
          <a:prstGeom prst="rect">
            <a:avLst/>
          </a:prstGeom>
          <a:noFill/>
          <a:ln w="9525">
            <a:noFill/>
          </a:ln>
        </p:spPr>
      </p:pic>
      <p:sp>
        <p:nvSpPr>
          <p:cNvPr id="8" name="文本框 7"/>
          <p:cNvSpPr txBox="1"/>
          <p:nvPr/>
        </p:nvSpPr>
        <p:spPr>
          <a:xfrm>
            <a:off x="1473200" y="4164965"/>
            <a:ext cx="5080000" cy="82994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比较以上两式得：</a:t>
            </a:r>
            <a:endParaRPr lang="zh-CN" sz="2400" b="1">
              <a:gradFill>
                <a:gsLst>
                  <a:gs pos="0">
                    <a:srgbClr val="012D86"/>
                  </a:gs>
                  <a:gs pos="100000">
                    <a:srgbClr val="0E2557"/>
                  </a:gs>
                </a:gsLst>
                <a:lin scaled="0"/>
              </a:gradFill>
              <a:ea typeface="宋体" panose="02010600030101010101" pitchFamily="2" charset="-122"/>
            </a:endParaRPr>
          </a:p>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endParaRPr lang="en-US" altLang="en-US" sz="2400" b="1">
              <a:gradFill>
                <a:gsLst>
                  <a:gs pos="0">
                    <a:srgbClr val="012D86"/>
                  </a:gs>
                  <a:gs pos="100000">
                    <a:srgbClr val="0E2557"/>
                  </a:gs>
                </a:gsLst>
                <a:lin scaled="0"/>
              </a:gradFill>
              <a:latin typeface="Times New Roman" panose="02020603050405020304" charset="0"/>
              <a:ea typeface="宋体" panose="02010600030101010101" pitchFamily="2" charset="-122"/>
            </a:endParaRPr>
          </a:p>
        </p:txBody>
      </p:sp>
      <p:pic>
        <p:nvPicPr>
          <p:cNvPr id="9" name="图片 8"/>
          <p:cNvPicPr/>
          <p:nvPr/>
        </p:nvPicPr>
        <p:blipFill>
          <a:blip r:embed="rId5"/>
          <a:stretch>
            <a:fillRect/>
          </a:stretch>
        </p:blipFill>
        <p:spPr>
          <a:xfrm>
            <a:off x="2977515" y="4580255"/>
            <a:ext cx="278765" cy="335280"/>
          </a:xfrm>
          <a:prstGeom prst="rect">
            <a:avLst/>
          </a:prstGeom>
          <a:noFill/>
          <a:ln w="9525">
            <a:noFill/>
          </a:ln>
        </p:spPr>
      </p:pic>
      <p:pic>
        <p:nvPicPr>
          <p:cNvPr id="9365" name="图片 2802"/>
          <p:cNvPicPr>
            <a:picLocks noChangeAspect="1"/>
          </p:cNvPicPr>
          <p:nvPr/>
        </p:nvPicPr>
        <p:blipFill>
          <a:blip r:embed="rId6"/>
          <a:srcRect r="51299" b="52295"/>
          <a:stretch>
            <a:fillRect/>
          </a:stretch>
        </p:blipFill>
        <p:spPr>
          <a:xfrm>
            <a:off x="4332605" y="4399915"/>
            <a:ext cx="3581400" cy="1884680"/>
          </a:xfrm>
          <a:prstGeom prst="rect">
            <a:avLst/>
          </a:prstGeom>
          <a:noFill/>
          <a:ln>
            <a:noFill/>
          </a:ln>
        </p:spPr>
      </p:pic>
      <p:sp>
        <p:nvSpPr>
          <p:cNvPr id="10" name="文本框 9"/>
          <p:cNvSpPr txBox="1"/>
          <p:nvPr/>
        </p:nvSpPr>
        <p:spPr>
          <a:xfrm>
            <a:off x="1395730" y="499491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转换后的逻辑图：</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1000"/>
                                  </p:stCondLst>
                                  <p:childTnLst>
                                    <p:set>
                                      <p:cBhvr>
                                        <p:cTn id="13" dur="1000" fill="hold">
                                          <p:stCondLst>
                                            <p:cond delay="0"/>
                                          </p:stCondLst>
                                        </p:cTn>
                                        <p:tgtEl>
                                          <p:spTgt spid="6"/>
                                        </p:tgtEl>
                                        <p:attrNameLst>
                                          <p:attrName>style.visibility</p:attrName>
                                        </p:attrNameLst>
                                      </p:cBhvr>
                                      <p:to>
                                        <p:strVal val="visible"/>
                                      </p:to>
                                    </p:set>
                                    <p:animEffect transition="in" filter="wipe(left)">
                                      <p:cBhvr>
                                        <p:cTn id="14" dur="1000"/>
                                        <p:tgtEl>
                                          <p:spTgt spid="6"/>
                                        </p:tgtEl>
                                      </p:cBhvr>
                                    </p:animEffect>
                                  </p:childTnLst>
                                </p:cTn>
                              </p:par>
                            </p:childTnLst>
                          </p:cTn>
                        </p:par>
                        <p:par>
                          <p:cTn id="15" fill="hold">
                            <p:stCondLst>
                              <p:cond delay="2000"/>
                            </p:stCondLst>
                            <p:childTnLst>
                              <p:par>
                                <p:cTn id="16" presetID="1" presetClass="entr" presetSubtype="0" fill="hold" grpId="0" nodeType="afterEffect">
                                  <p:stCondLst>
                                    <p:cond delay="1000"/>
                                  </p:stCondLst>
                                  <p:childTnLst>
                                    <p:set>
                                      <p:cBhvr>
                                        <p:cTn id="17" dur="1" fill="hold">
                                          <p:stCondLst>
                                            <p:cond delay="0"/>
                                          </p:stCondLst>
                                        </p:cTn>
                                        <p:tgtEl>
                                          <p:spTgt spid="7"/>
                                        </p:tgtEl>
                                        <p:attrNameLst>
                                          <p:attrName>style.visibility</p:attrName>
                                        </p:attrNameLst>
                                      </p:cBhvr>
                                      <p:to>
                                        <p:strVal val="visible"/>
                                      </p:to>
                                    </p:set>
                                  </p:childTnLst>
                                </p:cTn>
                              </p:par>
                            </p:childTnLst>
                          </p:cTn>
                        </p:par>
                        <p:par>
                          <p:cTn id="18" fill="hold">
                            <p:stCondLst>
                              <p:cond delay="3000"/>
                            </p:stCondLst>
                            <p:childTnLst>
                              <p:par>
                                <p:cTn id="19" presetID="22" presetClass="entr" presetSubtype="8" fill="hold" nodeType="afterEffect">
                                  <p:stCondLst>
                                    <p:cond delay="1000"/>
                                  </p:stCondLst>
                                  <p:childTnLst>
                                    <p:set>
                                      <p:cBhvr>
                                        <p:cTn id="20" dur="1000" fill="hold">
                                          <p:stCondLst>
                                            <p:cond delay="0"/>
                                          </p:stCondLst>
                                        </p:cTn>
                                        <p:tgtEl>
                                          <p:spTgt spid="101"/>
                                        </p:tgtEl>
                                        <p:attrNameLst>
                                          <p:attrName>style.visibility</p:attrName>
                                        </p:attrNameLst>
                                      </p:cBhvr>
                                      <p:to>
                                        <p:strVal val="visible"/>
                                      </p:to>
                                    </p:set>
                                    <p:animEffect transition="in" filter="wipe(left)">
                                      <p:cBhvr>
                                        <p:cTn id="21" dur="1000"/>
                                        <p:tgtEl>
                                          <p:spTgt spid="101"/>
                                        </p:tgtEl>
                                      </p:cBhvr>
                                    </p:animEffect>
                                  </p:childTnLst>
                                </p:cTn>
                              </p:par>
                            </p:childTnLst>
                          </p:cTn>
                        </p:par>
                        <p:par>
                          <p:cTn id="22" fill="hold">
                            <p:stCondLst>
                              <p:cond delay="5000"/>
                            </p:stCondLst>
                            <p:childTnLst>
                              <p:par>
                                <p:cTn id="23" presetID="22" presetClass="entr" presetSubtype="8" fill="hold" nodeType="afterEffect">
                                  <p:stCondLst>
                                    <p:cond delay="1000"/>
                                  </p:stCondLst>
                                  <p:childTnLst>
                                    <p:set>
                                      <p:cBhvr>
                                        <p:cTn id="24" dur="1000" fill="hold">
                                          <p:stCondLst>
                                            <p:cond delay="0"/>
                                          </p:stCondLst>
                                        </p:cTn>
                                        <p:tgtEl>
                                          <p:spTgt spid="102"/>
                                        </p:tgtEl>
                                        <p:attrNameLst>
                                          <p:attrName>style.visibility</p:attrName>
                                        </p:attrNameLst>
                                      </p:cBhvr>
                                      <p:to>
                                        <p:strVal val="visible"/>
                                      </p:to>
                                    </p:set>
                                    <p:animEffect transition="in" filter="wipe(left)">
                                      <p:cBhvr>
                                        <p:cTn id="25" dur="1000"/>
                                        <p:tgtEl>
                                          <p:spTgt spid="102"/>
                                        </p:tgtEl>
                                      </p:cBhvr>
                                    </p:animEffect>
                                  </p:childTnLst>
                                </p:cTn>
                              </p:par>
                            </p:childTnLst>
                          </p:cTn>
                        </p:par>
                        <p:par>
                          <p:cTn id="26" fill="hold">
                            <p:stCondLst>
                              <p:cond delay="7000"/>
                            </p:stCondLst>
                            <p:childTnLst>
                              <p:par>
                                <p:cTn id="27" presetID="1" presetClass="entr" presetSubtype="0" fill="hold" nodeType="afterEffect">
                                  <p:stCondLst>
                                    <p:cond delay="150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1500"/>
                                  </p:stCondLst>
                                  <p:childTnLst>
                                    <p:set>
                                      <p:cBhvr>
                                        <p:cTn id="35" dur="1" fill="hold">
                                          <p:stCondLst>
                                            <p:cond delay="0"/>
                                          </p:stCondLst>
                                        </p:cTn>
                                        <p:tgtEl>
                                          <p:spTgt spid="93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bldLvl="0" animBg="1"/>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5.5 触发器逻辑功能</a:t>
            </a:r>
            <a:r>
              <a:rPr lang="zh-CN" altLang="en-US" b="1" dirty="0">
                <a:solidFill>
                  <a:srgbClr val="FF0000"/>
                </a:solidFill>
                <a:latin typeface="黑体" panose="02010609060101010101" pitchFamily="49" charset="-122"/>
                <a:ea typeface="黑体" panose="02010609060101010101" pitchFamily="49" charset="-122"/>
                <a:sym typeface="+mn-ea"/>
              </a:rPr>
              <a:t>的转换</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04" name="文本框 103"/>
          <p:cNvSpPr txBox="1"/>
          <p:nvPr/>
        </p:nvSpPr>
        <p:spPr>
          <a:xfrm>
            <a:off x="631190" y="1351915"/>
            <a:ext cx="5080000" cy="460375"/>
          </a:xfrm>
          <a:prstGeom prst="rect">
            <a:avLst/>
          </a:prstGeom>
          <a:noFill/>
          <a:ln w="9525">
            <a:noFill/>
          </a:ln>
        </p:spPr>
        <p:txBody>
          <a:bodyPr>
            <a:spAutoFit/>
          </a:bodyPr>
          <a:p>
            <a:pPr indent="266700"/>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(2)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JK</a:t>
            </a:r>
            <a:r>
              <a:rPr lang="zh-CN" sz="2400" b="1">
                <a:gradFill>
                  <a:gsLst>
                    <a:gs pos="0">
                      <a:srgbClr val="012D86"/>
                    </a:gs>
                    <a:gs pos="100000">
                      <a:srgbClr val="0E2557"/>
                    </a:gs>
                  </a:gsLst>
                  <a:lin scaled="0"/>
                </a:gradFill>
                <a:ea typeface="宋体" panose="02010600030101010101" pitchFamily="2" charset="-122"/>
              </a:rPr>
              <a:t>触发器转换成</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a:t>
            </a:r>
            <a:r>
              <a:rPr lang="zh-CN" sz="2400" b="1">
                <a:gradFill>
                  <a:gsLst>
                    <a:gs pos="0">
                      <a:srgbClr val="012D86"/>
                    </a:gs>
                    <a:gs pos="100000">
                      <a:srgbClr val="0E2557"/>
                    </a:gs>
                  </a:gsLst>
                  <a:lin scaled="0"/>
                </a:gradFill>
                <a:ea typeface="宋体" panose="02010600030101010101" pitchFamily="2" charset="-122"/>
              </a:rPr>
              <a:t>和</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a:t>
            </a:r>
            <a:r>
              <a:rPr lang="en-US" sz="2400" b="1" i="1" baseline="-25000">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触发器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3" name="文本框 2"/>
          <p:cNvSpPr txBox="1"/>
          <p:nvPr/>
        </p:nvSpPr>
        <p:spPr>
          <a:xfrm>
            <a:off x="1301750" y="1888490"/>
            <a:ext cx="5080000" cy="460375"/>
          </a:xfrm>
          <a:prstGeom prst="rect">
            <a:avLst/>
          </a:prstGeom>
          <a:noFill/>
          <a:ln w="9525">
            <a:noFill/>
          </a:ln>
        </p:spPr>
        <p:txBody>
          <a:bodyPr>
            <a:spAutoFit/>
          </a:bodyPr>
          <a:p>
            <a:r>
              <a:rPr lang="en-US" sz="2400" b="1" i="1">
                <a:gradFill>
                  <a:gsLst>
                    <a:gs pos="0">
                      <a:srgbClr val="012D86"/>
                    </a:gs>
                    <a:gs pos="100000">
                      <a:srgbClr val="0E2557"/>
                    </a:gs>
                  </a:gsLst>
                  <a:lin scaled="0"/>
                </a:gradFill>
                <a:latin typeface="Times New Roman" panose="02020603050405020304" charset="0"/>
                <a:sym typeface="+mn-ea"/>
              </a:rPr>
              <a:t>T</a:t>
            </a:r>
            <a:r>
              <a:rPr lang="zh-CN" sz="2400" b="1">
                <a:gradFill>
                  <a:gsLst>
                    <a:gs pos="0">
                      <a:srgbClr val="012D86"/>
                    </a:gs>
                    <a:gs pos="100000">
                      <a:srgbClr val="0E2557"/>
                    </a:gs>
                  </a:gsLst>
                  <a:lin scaled="0"/>
                </a:gradFill>
                <a:ea typeface="宋体" panose="02010600030101010101" pitchFamily="2" charset="-122"/>
              </a:rPr>
              <a:t>触发器的特性方程：</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2" name="对象 1697"/>
          <p:cNvPicPr>
            <a:picLocks noChangeAspect="1"/>
          </p:cNvPicPr>
          <p:nvPr/>
        </p:nvPicPr>
        <p:blipFill>
          <a:blip r:embed="rId1"/>
          <a:stretch>
            <a:fillRect/>
          </a:stretch>
        </p:blipFill>
        <p:spPr>
          <a:xfrm>
            <a:off x="4250055" y="1812290"/>
            <a:ext cx="2131695" cy="468630"/>
          </a:xfrm>
          <a:prstGeom prst="rect">
            <a:avLst/>
          </a:prstGeom>
          <a:noFill/>
          <a:ln w="9525">
            <a:noFill/>
          </a:ln>
        </p:spPr>
      </p:pic>
      <p:sp>
        <p:nvSpPr>
          <p:cNvPr id="4" name="文本框 3"/>
          <p:cNvSpPr txBox="1"/>
          <p:nvPr/>
        </p:nvSpPr>
        <p:spPr>
          <a:xfrm>
            <a:off x="1216025" y="2348865"/>
            <a:ext cx="707263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与</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JK</a:t>
            </a:r>
            <a:r>
              <a:rPr lang="zh-CN" sz="2400" b="1">
                <a:gradFill>
                  <a:gsLst>
                    <a:gs pos="0">
                      <a:srgbClr val="012D86"/>
                    </a:gs>
                    <a:gs pos="100000">
                      <a:srgbClr val="0E2557"/>
                    </a:gs>
                  </a:gsLst>
                  <a:lin scaled="0"/>
                </a:gradFill>
                <a:ea typeface="宋体" panose="02010600030101010101" pitchFamily="2" charset="-122"/>
              </a:rPr>
              <a:t>触发器的特性方程比较得：</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a:t>
            </a:r>
            <a:r>
              <a:rPr 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a:t>
            </a:r>
            <a:endParaRPr lang="en-US" altLang="en-US" sz="2400" b="1" i="1">
              <a:gradFill>
                <a:gsLst>
                  <a:gs pos="0">
                    <a:srgbClr val="012D86"/>
                  </a:gs>
                  <a:gs pos="100000">
                    <a:srgbClr val="0E2557"/>
                  </a:gs>
                </a:gsLst>
                <a:lin scaled="0"/>
              </a:gradFill>
              <a:latin typeface="Times New Roman" panose="02020603050405020304" charset="0"/>
              <a:ea typeface="宋体" panose="02010600030101010101" pitchFamily="2" charset="-122"/>
            </a:endParaRPr>
          </a:p>
        </p:txBody>
      </p:sp>
      <p:pic>
        <p:nvPicPr>
          <p:cNvPr id="9365" name="图片 2802"/>
          <p:cNvPicPr>
            <a:picLocks noChangeAspect="1"/>
          </p:cNvPicPr>
          <p:nvPr/>
        </p:nvPicPr>
        <p:blipFill>
          <a:blip r:embed="rId2"/>
          <a:srcRect l="63925" b="49494"/>
          <a:stretch>
            <a:fillRect/>
          </a:stretch>
        </p:blipFill>
        <p:spPr>
          <a:xfrm>
            <a:off x="4025265" y="2809240"/>
            <a:ext cx="2356485" cy="1772285"/>
          </a:xfrm>
          <a:prstGeom prst="rect">
            <a:avLst/>
          </a:prstGeom>
          <a:noFill/>
          <a:ln>
            <a:noFill/>
          </a:ln>
        </p:spPr>
      </p:pic>
      <p:pic>
        <p:nvPicPr>
          <p:cNvPr id="6" name="图片 2802"/>
          <p:cNvPicPr>
            <a:picLocks noChangeAspect="1"/>
          </p:cNvPicPr>
          <p:nvPr/>
        </p:nvPicPr>
        <p:blipFill>
          <a:blip r:embed="rId2"/>
          <a:srcRect l="11291" t="51226" r="49468"/>
          <a:stretch>
            <a:fillRect/>
          </a:stretch>
        </p:blipFill>
        <p:spPr>
          <a:xfrm>
            <a:off x="4323080" y="4486275"/>
            <a:ext cx="2846705" cy="1902460"/>
          </a:xfrm>
          <a:prstGeom prst="rect">
            <a:avLst/>
          </a:prstGeom>
          <a:noFill/>
          <a:ln>
            <a:noFill/>
          </a:ln>
        </p:spPr>
      </p:pic>
      <p:sp>
        <p:nvSpPr>
          <p:cNvPr id="7" name="文本框 6"/>
          <p:cNvSpPr txBox="1"/>
          <p:nvPr/>
        </p:nvSpPr>
        <p:spPr>
          <a:xfrm>
            <a:off x="1160145" y="4937125"/>
            <a:ext cx="3352165"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令</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a:t>
            </a:r>
            <a:r>
              <a:rPr lang="zh-CN" sz="2400" b="1">
                <a:gradFill>
                  <a:gsLst>
                    <a:gs pos="0">
                      <a:srgbClr val="012D86"/>
                    </a:gs>
                    <a:gs pos="100000">
                      <a:srgbClr val="0E2557"/>
                    </a:gs>
                  </a:gsLst>
                  <a:lin scaled="0"/>
                </a:gradFill>
                <a:ea typeface="宋体" panose="02010600030101010101" pitchFamily="2" charset="-122"/>
              </a:rPr>
              <a:t>触发器的输入</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1</a:t>
            </a:r>
            <a:r>
              <a:rPr lang="zh-CN" sz="2400" b="1">
                <a:gradFill>
                  <a:gsLst>
                    <a:gs pos="0">
                      <a:srgbClr val="012D86"/>
                    </a:gs>
                    <a:gs pos="100000">
                      <a:srgbClr val="0E2557"/>
                    </a:gs>
                  </a:gsLst>
                  <a:lin scaled="0"/>
                </a:gradFill>
                <a:ea typeface="宋体" panose="02010600030101010101" pitchFamily="2" charset="-122"/>
              </a:rPr>
              <a:t>，即可得到</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a:t>
            </a:r>
            <a:r>
              <a:rPr lang="en-US" sz="2400" b="1" i="1" baseline="-25000">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触发器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8" name="文本框 7"/>
          <p:cNvSpPr txBox="1"/>
          <p:nvPr/>
        </p:nvSpPr>
        <p:spPr>
          <a:xfrm>
            <a:off x="1362710" y="280924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转换后的逻辑图：</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2000" fill="hold">
                                          <p:stCondLst>
                                            <p:cond delay="0"/>
                                          </p:stCondLst>
                                        </p:cTn>
                                        <p:tgtEl>
                                          <p:spTgt spid="2"/>
                                        </p:tgtEl>
                                        <p:attrNameLst>
                                          <p:attrName>style.visibility</p:attrName>
                                        </p:attrNameLst>
                                      </p:cBhvr>
                                      <p:to>
                                        <p:strVal val="visible"/>
                                      </p:to>
                                    </p:set>
                                    <p:animEffect transition="in" filter="wipe(left)">
                                      <p:cBhvr>
                                        <p:cTn id="10" dur="2000"/>
                                        <p:tgtEl>
                                          <p:spTgt spid="2"/>
                                        </p:tgtEl>
                                      </p:cBhvr>
                                    </p:animEffect>
                                  </p:childTnLst>
                                </p:cTn>
                              </p:par>
                            </p:childTnLst>
                          </p:cTn>
                        </p:par>
                        <p:par>
                          <p:cTn id="11" fill="hold">
                            <p:stCondLst>
                              <p:cond delay="2000"/>
                            </p:stCondLst>
                            <p:childTnLst>
                              <p:par>
                                <p:cTn id="12" presetID="1" presetClass="entr" presetSubtype="0" fill="hold" nodeType="afterEffect">
                                  <p:stCondLst>
                                    <p:cond delay="100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1500"/>
                                  </p:stCondLst>
                                  <p:childTnLst>
                                    <p:set>
                                      <p:cBhvr>
                                        <p:cTn id="20" dur="1" fill="hold">
                                          <p:stCondLst>
                                            <p:cond delay="0"/>
                                          </p:stCondLst>
                                        </p:cTn>
                                        <p:tgtEl>
                                          <p:spTgt spid="93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bldLvl="0" animBg="1"/>
      <p:bldP spid="8"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1336675" y="2297430"/>
            <a:ext cx="5080000" cy="460375"/>
          </a:xfrm>
          <a:prstGeom prst="rect">
            <a:avLst/>
          </a:prstGeom>
          <a:noFill/>
          <a:ln w="9525">
            <a:noFill/>
          </a:ln>
        </p:spPr>
        <p:txBody>
          <a:bodyPr>
            <a:spAutoFit/>
          </a:bodyPr>
          <a:p>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RS</a:t>
            </a:r>
            <a:r>
              <a:rPr lang="zh-CN" sz="2400" b="1">
                <a:gradFill>
                  <a:gsLst>
                    <a:gs pos="0">
                      <a:srgbClr val="012D86"/>
                    </a:gs>
                    <a:gs pos="100000">
                      <a:srgbClr val="0E2557"/>
                    </a:gs>
                  </a:gsLst>
                  <a:lin scaled="0"/>
                </a:gradFill>
                <a:ea typeface="宋体" panose="02010600030101010101" pitchFamily="2" charset="-122"/>
              </a:rPr>
              <a:t>触发器的特性方程：</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5.5 触发器逻辑功能</a:t>
            </a:r>
            <a:r>
              <a:rPr lang="zh-CN" altLang="en-US" b="1" dirty="0">
                <a:solidFill>
                  <a:srgbClr val="FF0000"/>
                </a:solidFill>
                <a:latin typeface="黑体" panose="02010609060101010101" pitchFamily="49" charset="-122"/>
                <a:ea typeface="黑体" panose="02010609060101010101" pitchFamily="49" charset="-122"/>
                <a:sym typeface="+mn-ea"/>
              </a:rPr>
              <a:t>的转换</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04" name="文本框 103"/>
          <p:cNvSpPr txBox="1"/>
          <p:nvPr/>
        </p:nvSpPr>
        <p:spPr>
          <a:xfrm>
            <a:off x="983615" y="1334770"/>
            <a:ext cx="5080000" cy="460375"/>
          </a:xfrm>
          <a:prstGeom prst="rect">
            <a:avLst/>
          </a:prstGeom>
          <a:noFill/>
          <a:ln w="9525">
            <a:noFill/>
          </a:ln>
        </p:spPr>
        <p:txBody>
          <a:bodyPr>
            <a:spAutoFit/>
          </a:bodyPr>
          <a:p>
            <a:r>
              <a:rPr lang="en-US" altLang="zh-CN" sz="2400" b="1">
                <a:gradFill>
                  <a:gsLst>
                    <a:gs pos="0">
                      <a:srgbClr val="012D86"/>
                    </a:gs>
                    <a:gs pos="100000">
                      <a:srgbClr val="0E2557"/>
                    </a:gs>
                  </a:gsLst>
                  <a:lin scaled="0"/>
                </a:gradFill>
                <a:latin typeface="Times New Roman" panose="02020603050405020304" charset="0"/>
                <a:cs typeface="Times New Roman" panose="02020603050405020304" charset="0"/>
                <a:sym typeface="+mn-ea"/>
              </a:rPr>
              <a:t>(3)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JK</a:t>
            </a:r>
            <a:r>
              <a:rPr lang="zh-CN" sz="2400" b="1">
                <a:gradFill>
                  <a:gsLst>
                    <a:gs pos="0">
                      <a:srgbClr val="012D86"/>
                    </a:gs>
                    <a:gs pos="100000">
                      <a:srgbClr val="0E2557"/>
                    </a:gs>
                  </a:gsLst>
                  <a:lin scaled="0"/>
                </a:gradFill>
                <a:ea typeface="宋体" panose="02010600030101010101" pitchFamily="2" charset="-122"/>
              </a:rPr>
              <a:t>触发器转换成</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RS</a:t>
            </a:r>
            <a:r>
              <a:rPr lang="zh-CN" sz="2400" b="1">
                <a:gradFill>
                  <a:gsLst>
                    <a:gs pos="0">
                      <a:srgbClr val="012D86"/>
                    </a:gs>
                    <a:gs pos="100000">
                      <a:srgbClr val="0E2557"/>
                    </a:gs>
                  </a:gsLst>
                  <a:lin scaled="0"/>
                </a:gradFill>
                <a:ea typeface="宋体" panose="02010600030101010101" pitchFamily="2" charset="-122"/>
              </a:rPr>
              <a:t>触发器</a:t>
            </a:r>
            <a:endParaRPr lang="zh-CN" altLang="zh-CN"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endParaRPr>
          </a:p>
        </p:txBody>
      </p:sp>
      <p:sp>
        <p:nvSpPr>
          <p:cNvPr id="3" name="文本框 2"/>
          <p:cNvSpPr txBox="1"/>
          <p:nvPr/>
        </p:nvSpPr>
        <p:spPr>
          <a:xfrm>
            <a:off x="1336675" y="1795145"/>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原</a:t>
            </a:r>
            <a:r>
              <a:rPr lang="en-US" sz="2400" b="1" i="1">
                <a:gradFill>
                  <a:gsLst>
                    <a:gs pos="0">
                      <a:srgbClr val="012D86"/>
                    </a:gs>
                    <a:gs pos="100000">
                      <a:srgbClr val="0E2557"/>
                    </a:gs>
                  </a:gsLst>
                  <a:lin scaled="0"/>
                </a:gradFill>
                <a:latin typeface="Times New Roman" panose="02020603050405020304" charset="0"/>
                <a:sym typeface="+mn-ea"/>
              </a:rPr>
              <a:t>JK</a:t>
            </a:r>
            <a:r>
              <a:rPr lang="zh-CN" sz="2400" b="1">
                <a:gradFill>
                  <a:gsLst>
                    <a:gs pos="0">
                      <a:srgbClr val="012D86"/>
                    </a:gs>
                    <a:gs pos="100000">
                      <a:srgbClr val="0E2557"/>
                    </a:gs>
                  </a:gsLst>
                  <a:lin scaled="0"/>
                </a:gradFill>
                <a:ea typeface="宋体" panose="02010600030101010101" pitchFamily="2" charset="-122"/>
              </a:rPr>
              <a:t>触发器的特性方程：</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2" name="对象 1692"/>
          <p:cNvPicPr>
            <a:picLocks noChangeAspect="1"/>
          </p:cNvPicPr>
          <p:nvPr/>
        </p:nvPicPr>
        <p:blipFill>
          <a:blip r:embed="rId1"/>
          <a:stretch>
            <a:fillRect/>
          </a:stretch>
        </p:blipFill>
        <p:spPr>
          <a:xfrm>
            <a:off x="4699635" y="1795145"/>
            <a:ext cx="1853565" cy="398780"/>
          </a:xfrm>
          <a:prstGeom prst="rect">
            <a:avLst/>
          </a:prstGeom>
          <a:noFill/>
          <a:ln w="9525">
            <a:noFill/>
          </a:ln>
        </p:spPr>
      </p:pic>
      <p:pic>
        <p:nvPicPr>
          <p:cNvPr id="4" name="对象 1699"/>
          <p:cNvPicPr>
            <a:picLocks noChangeAspect="1"/>
          </p:cNvPicPr>
          <p:nvPr/>
        </p:nvPicPr>
        <p:blipFill>
          <a:blip r:embed="rId2"/>
          <a:stretch>
            <a:fillRect/>
          </a:stretch>
        </p:blipFill>
        <p:spPr>
          <a:xfrm>
            <a:off x="4699635" y="2297430"/>
            <a:ext cx="1717040" cy="418465"/>
          </a:xfrm>
          <a:prstGeom prst="rect">
            <a:avLst/>
          </a:prstGeom>
          <a:noFill/>
          <a:ln w="9525">
            <a:noFill/>
          </a:ln>
        </p:spPr>
      </p:pic>
      <p:sp>
        <p:nvSpPr>
          <p:cNvPr id="100" name="文本框 99"/>
          <p:cNvSpPr txBox="1"/>
          <p:nvPr/>
        </p:nvSpPr>
        <p:spPr>
          <a:xfrm>
            <a:off x="1688465" y="2757805"/>
            <a:ext cx="5080000" cy="460375"/>
          </a:xfrm>
          <a:prstGeom prst="rect">
            <a:avLst/>
          </a:prstGeom>
          <a:noFill/>
          <a:ln w="9525">
            <a:noFill/>
          </a:ln>
        </p:spPr>
        <p:txBody>
          <a:bodyPr>
            <a:spAutoFit/>
          </a:bodyPr>
          <a:p>
            <a:pPr indent="1266825"/>
            <a:r>
              <a:rPr lang="zh-CN" sz="2400" b="1">
                <a:gradFill>
                  <a:gsLst>
                    <a:gs pos="0">
                      <a:srgbClr val="012D86"/>
                    </a:gs>
                    <a:gs pos="100000">
                      <a:srgbClr val="0E2557"/>
                    </a:gs>
                  </a:gsLst>
                  <a:lin scaled="0"/>
                </a:gradFill>
                <a:ea typeface="宋体" panose="02010600030101010101" pitchFamily="2" charset="-122"/>
              </a:rPr>
              <a:t>约束条件：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RS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endParaRPr lang="en-US" altLang="en-US" sz="2400" b="1">
              <a:gradFill>
                <a:gsLst>
                  <a:gs pos="0">
                    <a:srgbClr val="012D86"/>
                  </a:gs>
                  <a:gs pos="100000">
                    <a:srgbClr val="0E2557"/>
                  </a:gs>
                </a:gsLst>
                <a:lin scaled="0"/>
              </a:gradFill>
              <a:latin typeface="Times New Roman" panose="02020603050405020304" charset="0"/>
              <a:ea typeface="宋体" panose="02010600030101010101" pitchFamily="2" charset="-122"/>
            </a:endParaRPr>
          </a:p>
        </p:txBody>
      </p:sp>
      <p:pic>
        <p:nvPicPr>
          <p:cNvPr id="7" name="对象 1700"/>
          <p:cNvPicPr>
            <a:picLocks noChangeAspect="1"/>
          </p:cNvPicPr>
          <p:nvPr/>
        </p:nvPicPr>
        <p:blipFill>
          <a:blip r:embed="rId3"/>
          <a:stretch>
            <a:fillRect/>
          </a:stretch>
        </p:blipFill>
        <p:spPr>
          <a:xfrm>
            <a:off x="1388110" y="3376295"/>
            <a:ext cx="6846570" cy="1039495"/>
          </a:xfrm>
          <a:prstGeom prst="rect">
            <a:avLst/>
          </a:prstGeom>
          <a:noFill/>
          <a:ln w="9525">
            <a:noFill/>
          </a:ln>
        </p:spPr>
      </p:pic>
      <p:pic>
        <p:nvPicPr>
          <p:cNvPr id="8" name="对象 1701"/>
          <p:cNvPicPr>
            <a:picLocks noChangeAspect="1"/>
          </p:cNvPicPr>
          <p:nvPr/>
        </p:nvPicPr>
        <p:blipFill>
          <a:blip r:embed="rId4"/>
          <a:stretch>
            <a:fillRect/>
          </a:stretch>
        </p:blipFill>
        <p:spPr>
          <a:xfrm>
            <a:off x="1937385" y="4415790"/>
            <a:ext cx="2550160" cy="485775"/>
          </a:xfrm>
          <a:prstGeom prst="rect">
            <a:avLst/>
          </a:prstGeom>
          <a:noFill/>
          <a:ln w="9525">
            <a:noFill/>
          </a:ln>
        </p:spPr>
      </p:pic>
      <p:sp>
        <p:nvSpPr>
          <p:cNvPr id="9" name="文本框 8"/>
          <p:cNvSpPr txBox="1"/>
          <p:nvPr/>
        </p:nvSpPr>
        <p:spPr>
          <a:xfrm>
            <a:off x="4411345" y="444119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（利用约束条件</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RS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10" name="对象 1703"/>
          <p:cNvPicPr>
            <a:picLocks noChangeAspect="1"/>
          </p:cNvPicPr>
          <p:nvPr/>
        </p:nvPicPr>
        <p:blipFill>
          <a:blip r:embed="rId5"/>
          <a:stretch>
            <a:fillRect/>
          </a:stretch>
        </p:blipFill>
        <p:spPr>
          <a:xfrm>
            <a:off x="1937385" y="4901565"/>
            <a:ext cx="1936115" cy="545465"/>
          </a:xfrm>
          <a:prstGeom prst="rect">
            <a:avLst/>
          </a:prstGeom>
          <a:noFill/>
          <a:ln w="9525">
            <a:noFill/>
          </a:ln>
        </p:spPr>
      </p:pic>
      <p:sp>
        <p:nvSpPr>
          <p:cNvPr id="11" name="文本框 10"/>
          <p:cNvSpPr txBox="1"/>
          <p:nvPr/>
        </p:nvSpPr>
        <p:spPr>
          <a:xfrm>
            <a:off x="983615" y="5520055"/>
            <a:ext cx="5080000" cy="460375"/>
          </a:xfrm>
          <a:prstGeom prst="rect">
            <a:avLst/>
          </a:prstGeom>
          <a:noFill/>
          <a:ln w="9525">
            <a:noFill/>
          </a:ln>
        </p:spPr>
        <p:txBody>
          <a:bodyPr>
            <a:spAutoFit/>
          </a:bodyPr>
          <a:p>
            <a:pPr indent="266700"/>
            <a:r>
              <a:rPr lang="zh-CN" sz="2400" b="1">
                <a:gradFill>
                  <a:gsLst>
                    <a:gs pos="0">
                      <a:srgbClr val="012D86"/>
                    </a:gs>
                    <a:gs pos="100000">
                      <a:srgbClr val="0E2557"/>
                    </a:gs>
                  </a:gsLst>
                  <a:lin scaled="0"/>
                </a:gradFill>
                <a:ea typeface="宋体" panose="02010600030101010101" pitchFamily="2" charset="-122"/>
              </a:rPr>
              <a:t>得：</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K </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R</a:t>
            </a:r>
            <a:endParaRPr lang="en-US" altLang="en-US" sz="2400" b="1" i="1">
              <a:gradFill>
                <a:gsLst>
                  <a:gs pos="0">
                    <a:srgbClr val="012D86"/>
                  </a:gs>
                  <a:gs pos="100000">
                    <a:srgbClr val="0E2557"/>
                  </a:gs>
                </a:gsLst>
                <a:lin scaled="0"/>
              </a:gradFill>
              <a:latin typeface="Times New Roman" panose="02020603050405020304" charset="0"/>
              <a:ea typeface="宋体" panose="02010600030101010101" pitchFamily="2" charset="-122"/>
            </a:endParaRPr>
          </a:p>
        </p:txBody>
      </p:sp>
      <p:pic>
        <p:nvPicPr>
          <p:cNvPr id="9365" name="图片 2802"/>
          <p:cNvPicPr>
            <a:picLocks noChangeAspect="1"/>
          </p:cNvPicPr>
          <p:nvPr/>
        </p:nvPicPr>
        <p:blipFill>
          <a:blip r:embed="rId6"/>
          <a:srcRect l="64759" t="53206"/>
          <a:stretch>
            <a:fillRect/>
          </a:stretch>
        </p:blipFill>
        <p:spPr>
          <a:xfrm>
            <a:off x="5427345" y="4873625"/>
            <a:ext cx="2332355" cy="1663700"/>
          </a:xfrm>
          <a:prstGeom prst="rect">
            <a:avLst/>
          </a:prstGeom>
          <a:noFill/>
          <a:ln>
            <a:noFill/>
          </a:ln>
        </p:spPr>
      </p:pic>
      <p:sp>
        <p:nvSpPr>
          <p:cNvPr id="12" name="文本框 11"/>
          <p:cNvSpPr txBox="1"/>
          <p:nvPr/>
        </p:nvSpPr>
        <p:spPr>
          <a:xfrm>
            <a:off x="1336675" y="5925185"/>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转换后的逻辑图：</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2000" fill="hold">
                                          <p:stCondLst>
                                            <p:cond delay="0"/>
                                          </p:stCondLst>
                                        </p:cTn>
                                        <p:tgtEl>
                                          <p:spTgt spid="2"/>
                                        </p:tgtEl>
                                        <p:attrNameLst>
                                          <p:attrName>style.visibility</p:attrName>
                                        </p:attrNameLst>
                                      </p:cBhvr>
                                      <p:to>
                                        <p:strVal val="visible"/>
                                      </p:to>
                                    </p:set>
                                    <p:animEffect transition="in" filter="wipe(left)">
                                      <p:cBhvr>
                                        <p:cTn id="10" dur="2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22" presetClass="entr" presetSubtype="8" fill="hold" nodeType="afterEffect">
                                  <p:stCondLst>
                                    <p:cond delay="0"/>
                                  </p:stCondLst>
                                  <p:childTnLst>
                                    <p:set>
                                      <p:cBhvr>
                                        <p:cTn id="17" dur="2000" fill="hold">
                                          <p:stCondLst>
                                            <p:cond delay="0"/>
                                          </p:stCondLst>
                                        </p:cTn>
                                        <p:tgtEl>
                                          <p:spTgt spid="4"/>
                                        </p:tgtEl>
                                        <p:attrNameLst>
                                          <p:attrName>style.visibility</p:attrName>
                                        </p:attrNameLst>
                                      </p:cBhvr>
                                      <p:to>
                                        <p:strVal val="visible"/>
                                      </p:to>
                                    </p:set>
                                    <p:animEffect transition="in" filter="wipe(left)">
                                      <p:cBhvr>
                                        <p:cTn id="18" dur="2000"/>
                                        <p:tgtEl>
                                          <p:spTgt spid="4"/>
                                        </p:tgtEl>
                                      </p:cBhvr>
                                    </p:animEffect>
                                  </p:childTnLst>
                                </p:cTn>
                              </p:par>
                            </p:childTnLst>
                          </p:cTn>
                        </p:par>
                        <p:par>
                          <p:cTn id="19" fill="hold">
                            <p:stCondLst>
                              <p:cond delay="2000"/>
                            </p:stCondLst>
                            <p:childTnLst>
                              <p:par>
                                <p:cTn id="20" presetID="1" presetClass="entr" presetSubtype="0" fill="hold" grpId="0" nodeType="afterEffect">
                                  <p:stCondLst>
                                    <p:cond delay="1000"/>
                                  </p:stCondLst>
                                  <p:childTnLst>
                                    <p:set>
                                      <p:cBhvr>
                                        <p:cTn id="21" dur="1" fill="hold">
                                          <p:stCondLst>
                                            <p:cond delay="0"/>
                                          </p:stCondLst>
                                        </p:cTn>
                                        <p:tgtEl>
                                          <p:spTgt spid="10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1000"/>
                                  </p:stCondLst>
                                  <p:childTnLst>
                                    <p:set>
                                      <p:cBhvr>
                                        <p:cTn id="25" dur="1" fill="hold">
                                          <p:stCondLst>
                                            <p:cond delay="0"/>
                                          </p:stCondLst>
                                        </p:cTn>
                                        <p:tgtEl>
                                          <p:spTgt spid="7"/>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grpId="0" nodeType="afterEffect">
                                  <p:stCondLst>
                                    <p:cond delay="1000"/>
                                  </p:stCondLst>
                                  <p:childTnLst>
                                    <p:set>
                                      <p:cBhvr>
                                        <p:cTn id="28" dur="1" fill="hold">
                                          <p:stCondLst>
                                            <p:cond delay="0"/>
                                          </p:stCondLst>
                                        </p:cTn>
                                        <p:tgtEl>
                                          <p:spTgt spid="9"/>
                                        </p:tgtEl>
                                        <p:attrNameLst>
                                          <p:attrName>style.visibility</p:attrName>
                                        </p:attrNameLst>
                                      </p:cBhvr>
                                      <p:to>
                                        <p:strVal val="visible"/>
                                      </p:to>
                                    </p:set>
                                  </p:childTnLst>
                                </p:cTn>
                              </p:par>
                            </p:childTnLst>
                          </p:cTn>
                        </p:par>
                        <p:par>
                          <p:cTn id="29" fill="hold">
                            <p:stCondLst>
                              <p:cond delay="2000"/>
                            </p:stCondLst>
                            <p:childTnLst>
                              <p:par>
                                <p:cTn id="30" presetID="1" presetClass="entr" presetSubtype="0" fill="hold" grpId="0" nodeType="afterEffect">
                                  <p:stCondLst>
                                    <p:cond delay="1000"/>
                                  </p:stCondLst>
                                  <p:childTnLst>
                                    <p:set>
                                      <p:cBhvr>
                                        <p:cTn id="31" dur="1" fill="hold">
                                          <p:stCondLst>
                                            <p:cond delay="0"/>
                                          </p:stCondLst>
                                        </p:cTn>
                                        <p:tgtEl>
                                          <p:spTgt spid="8"/>
                                        </p:tgtEl>
                                        <p:attrNameLst>
                                          <p:attrName>style.visibility</p:attrName>
                                        </p:attrNameLst>
                                      </p:cBhvr>
                                      <p:to>
                                        <p:strVal val="visible"/>
                                      </p:to>
                                    </p:set>
                                  </p:childTnLst>
                                </p:cTn>
                              </p:par>
                            </p:childTnLst>
                          </p:cTn>
                        </p:par>
                        <p:par>
                          <p:cTn id="32" fill="hold">
                            <p:stCondLst>
                              <p:cond delay="3000"/>
                            </p:stCondLst>
                            <p:childTnLst>
                              <p:par>
                                <p:cTn id="33" presetID="22" presetClass="entr" presetSubtype="8" fill="hold" nodeType="afterEffect">
                                  <p:stCondLst>
                                    <p:cond delay="500"/>
                                  </p:stCondLst>
                                  <p:childTnLst>
                                    <p:set>
                                      <p:cBhvr>
                                        <p:cTn id="34" dur="2000" fill="hold">
                                          <p:stCondLst>
                                            <p:cond delay="0"/>
                                          </p:stCondLst>
                                        </p:cTn>
                                        <p:tgtEl>
                                          <p:spTgt spid="10"/>
                                        </p:tgtEl>
                                        <p:attrNameLst>
                                          <p:attrName>style.visibility</p:attrName>
                                        </p:attrNameLst>
                                      </p:cBhvr>
                                      <p:to>
                                        <p:strVal val="visible"/>
                                      </p:to>
                                    </p:set>
                                    <p:animEffect transition="in" filter="wipe(left)">
                                      <p:cBhvr>
                                        <p:cTn id="35" dur="20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1" nodeType="clickEffect">
                                  <p:stCondLst>
                                    <p:cond delay="0"/>
                                  </p:stCondLst>
                                  <p:childTnLst>
                                    <p:set>
                                      <p:cBhvr>
                                        <p:cTn id="44" dur="1000" fill="hold">
                                          <p:stCondLst>
                                            <p:cond delay="0"/>
                                          </p:stCondLst>
                                        </p:cTn>
                                        <p:tgtEl>
                                          <p:spTgt spid="11"/>
                                        </p:tgtEl>
                                        <p:attrNameLst>
                                          <p:attrName>style.visibility</p:attrName>
                                        </p:attrNameLst>
                                      </p:cBhvr>
                                      <p:to>
                                        <p:strVal val="visible"/>
                                      </p:to>
                                    </p:set>
                                    <p:animEffect transition="in" filter="wipe(left)">
                                      <p:cBhvr>
                                        <p:cTn id="45" dur="10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000" fill="hold">
                                          <p:stCondLst>
                                            <p:cond delay="0"/>
                                          </p:stCondLst>
                                        </p:cTn>
                                        <p:tgtEl>
                                          <p:spTgt spid="12"/>
                                        </p:tgtEl>
                                        <p:attrNameLst>
                                          <p:attrName>style.visibility</p:attrName>
                                        </p:attrNameLst>
                                      </p:cBhvr>
                                      <p:to>
                                        <p:strVal val="visible"/>
                                      </p:to>
                                    </p:set>
                                    <p:animEffect transition="in" filter="wipe(left)">
                                      <p:cBhvr>
                                        <p:cTn id="50" dur="1000"/>
                                        <p:tgtEl>
                                          <p:spTgt spid="12"/>
                                        </p:tgtEl>
                                      </p:cBhvr>
                                    </p:animEffect>
                                  </p:childTnLst>
                                </p:cTn>
                              </p:par>
                            </p:childTnLst>
                          </p:cTn>
                        </p:par>
                        <p:par>
                          <p:cTn id="51" fill="hold">
                            <p:stCondLst>
                              <p:cond delay="1000"/>
                            </p:stCondLst>
                            <p:childTnLst>
                              <p:par>
                                <p:cTn id="52" presetID="2" presetClass="entr" presetSubtype="4" fill="hold" nodeType="afterEffect">
                                  <p:stCondLst>
                                    <p:cond delay="1500"/>
                                  </p:stCondLst>
                                  <p:childTnLst>
                                    <p:set>
                                      <p:cBhvr>
                                        <p:cTn id="53" dur="1" fill="hold">
                                          <p:stCondLst>
                                            <p:cond delay="0"/>
                                          </p:stCondLst>
                                        </p:cTn>
                                        <p:tgtEl>
                                          <p:spTgt spid="9365"/>
                                        </p:tgtEl>
                                        <p:attrNameLst>
                                          <p:attrName>style.visibility</p:attrName>
                                        </p:attrNameLst>
                                      </p:cBhvr>
                                      <p:to>
                                        <p:strVal val="visible"/>
                                      </p:to>
                                    </p:set>
                                    <p:anim calcmode="lin" valueType="num">
                                      <p:cBhvr additive="base">
                                        <p:cTn id="54" dur="500" fill="hold"/>
                                        <p:tgtEl>
                                          <p:spTgt spid="9365"/>
                                        </p:tgtEl>
                                        <p:attrNameLst>
                                          <p:attrName>ppt_x</p:attrName>
                                        </p:attrNameLst>
                                      </p:cBhvr>
                                      <p:tavLst>
                                        <p:tav tm="0">
                                          <p:val>
                                            <p:strVal val="#ppt_x"/>
                                          </p:val>
                                        </p:tav>
                                        <p:tav tm="100000">
                                          <p:val>
                                            <p:strVal val="#ppt_x"/>
                                          </p:val>
                                        </p:tav>
                                      </p:tavLst>
                                    </p:anim>
                                    <p:anim calcmode="lin" valueType="num">
                                      <p:cBhvr additive="base">
                                        <p:cTn id="55" dur="500" fill="hold"/>
                                        <p:tgtEl>
                                          <p:spTgt spid="93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00" grpId="0"/>
      <p:bldP spid="7" grpId="0"/>
      <p:bldP spid="8" grpId="0"/>
      <p:bldP spid="9" grpId="0"/>
      <p:bldP spid="11" grpId="0"/>
      <p:bldP spid="11" grpId="1"/>
      <p:bldP spid="1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5.5 触发器逻辑功能</a:t>
            </a:r>
            <a:r>
              <a:rPr lang="zh-CN" altLang="en-US" b="1" dirty="0">
                <a:solidFill>
                  <a:srgbClr val="FF0000"/>
                </a:solidFill>
                <a:latin typeface="黑体" panose="02010609060101010101" pitchFamily="49" charset="-122"/>
                <a:ea typeface="黑体" panose="02010609060101010101" pitchFamily="49" charset="-122"/>
                <a:sym typeface="+mn-ea"/>
              </a:rPr>
              <a:t>的转换</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751840" y="1300480"/>
            <a:ext cx="6368415" cy="460375"/>
          </a:xfrm>
          <a:prstGeom prst="rect">
            <a:avLst/>
          </a:prstGeom>
          <a:noFill/>
          <a:ln w="9525">
            <a:noFill/>
          </a:ln>
        </p:spPr>
        <p:txBody>
          <a:bodyPr wrap="square">
            <a:spAutoFit/>
          </a:bodyPr>
          <a:p>
            <a:pPr indent="267970"/>
            <a:r>
              <a:rPr lang="en-US" sz="2400" b="1">
                <a:solidFill>
                  <a:schemeClr val="accent2">
                    <a:lumMod val="60000"/>
                    <a:lumOff val="40000"/>
                  </a:schemeClr>
                </a:solidFill>
                <a:latin typeface="Times New Roman" panose="02020603050405020304" charset="0"/>
                <a:ea typeface="宋体" panose="02010600030101010101" pitchFamily="2" charset="-122"/>
              </a:rPr>
              <a:t>2. </a:t>
            </a:r>
            <a:r>
              <a:rPr lang="zh-CN" sz="2400" b="1">
                <a:solidFill>
                  <a:schemeClr val="accent2">
                    <a:lumMod val="60000"/>
                    <a:lumOff val="40000"/>
                  </a:schemeClr>
                </a:solidFill>
                <a:ea typeface="宋体" panose="02010600030101010101" pitchFamily="2" charset="-122"/>
              </a:rPr>
              <a:t>用</a:t>
            </a:r>
            <a:r>
              <a:rPr lang="en-US" sz="2400" b="1" i="1">
                <a:solidFill>
                  <a:schemeClr val="accent2">
                    <a:lumMod val="60000"/>
                    <a:lumOff val="40000"/>
                  </a:schemeClr>
                </a:solidFill>
                <a:latin typeface="Times New Roman" panose="02020603050405020304" charset="0"/>
                <a:ea typeface="宋体" panose="02010600030101010101" pitchFamily="2" charset="-122"/>
              </a:rPr>
              <a:t>D</a:t>
            </a:r>
            <a:r>
              <a:rPr lang="zh-CN" sz="2400" b="1">
                <a:solidFill>
                  <a:schemeClr val="accent2">
                    <a:lumMod val="60000"/>
                    <a:lumOff val="40000"/>
                  </a:schemeClr>
                </a:solidFill>
                <a:ea typeface="宋体" panose="02010600030101010101" pitchFamily="2" charset="-122"/>
              </a:rPr>
              <a:t>触发器转换成其它功能的触发器</a:t>
            </a:r>
            <a:endParaRPr lang="zh-CN" altLang="en-US" sz="2400" b="1">
              <a:solidFill>
                <a:schemeClr val="accent2">
                  <a:lumMod val="60000"/>
                  <a:lumOff val="40000"/>
                </a:schemeClr>
              </a:solidFill>
              <a:ea typeface="宋体" panose="02010600030101010101" pitchFamily="2" charset="-122"/>
            </a:endParaRPr>
          </a:p>
        </p:txBody>
      </p:sp>
      <p:sp>
        <p:nvSpPr>
          <p:cNvPr id="2" name="文本框 1"/>
          <p:cNvSpPr txBox="1"/>
          <p:nvPr/>
        </p:nvSpPr>
        <p:spPr>
          <a:xfrm>
            <a:off x="751840" y="1760855"/>
            <a:ext cx="5080000" cy="460375"/>
          </a:xfrm>
          <a:prstGeom prst="rect">
            <a:avLst/>
          </a:prstGeom>
          <a:noFill/>
          <a:ln w="9525">
            <a:noFill/>
          </a:ln>
        </p:spPr>
        <p:txBody>
          <a:bodyPr>
            <a:spAutoFit/>
          </a:bodyPr>
          <a:p>
            <a:pPr indent="266700"/>
            <a:r>
              <a:rPr lang="en-US" sz="2400" b="1">
                <a:gradFill>
                  <a:gsLst>
                    <a:gs pos="0">
                      <a:srgbClr val="012D86"/>
                    </a:gs>
                    <a:gs pos="100000">
                      <a:srgbClr val="0E2557"/>
                    </a:gs>
                  </a:gsLst>
                  <a:lin scaled="0"/>
                </a:gradFill>
                <a:latin typeface="Times New Roman" panose="02020603050405020304" charset="0"/>
                <a:cs typeface="楷体_GB2312" charset="0"/>
              </a:rPr>
              <a:t>(1) </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触发器转换成</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JK</a:t>
            </a:r>
            <a:r>
              <a:rPr lang="zh-CN" sz="2400" b="1">
                <a:gradFill>
                  <a:gsLst>
                    <a:gs pos="0">
                      <a:srgbClr val="012D86"/>
                    </a:gs>
                    <a:gs pos="100000">
                      <a:srgbClr val="0E2557"/>
                    </a:gs>
                  </a:gsLst>
                  <a:lin scaled="0"/>
                </a:gradFill>
                <a:ea typeface="宋体" panose="02010600030101010101" pitchFamily="2" charset="-122"/>
              </a:rPr>
              <a:t>触发器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3" name="文本框 2"/>
          <p:cNvSpPr txBox="1"/>
          <p:nvPr/>
        </p:nvSpPr>
        <p:spPr>
          <a:xfrm>
            <a:off x="1146175" y="2221230"/>
            <a:ext cx="6445885" cy="460375"/>
          </a:xfrm>
          <a:prstGeom prst="rect">
            <a:avLst/>
          </a:prstGeom>
          <a:noFill/>
          <a:ln w="9525">
            <a:noFill/>
          </a:ln>
        </p:spPr>
        <p:txBody>
          <a:bodyPr wrap="square">
            <a:spAutoFit/>
          </a:bodyPr>
          <a:p>
            <a:pPr indent="266700"/>
            <a:r>
              <a:rPr lang="zh-CN" sz="2400" b="1">
                <a:gradFill>
                  <a:gsLst>
                    <a:gs pos="0">
                      <a:srgbClr val="012D86"/>
                    </a:gs>
                    <a:gs pos="100000">
                      <a:srgbClr val="0E2557"/>
                    </a:gs>
                  </a:gsLst>
                  <a:lin scaled="0"/>
                </a:gradFill>
                <a:ea typeface="宋体" panose="02010600030101010101" pitchFamily="2" charset="-122"/>
              </a:rPr>
              <a:t>写出</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触发器和</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JK</a:t>
            </a:r>
            <a:r>
              <a:rPr lang="zh-CN" sz="2400" b="1">
                <a:gradFill>
                  <a:gsLst>
                    <a:gs pos="0">
                      <a:srgbClr val="012D86"/>
                    </a:gs>
                    <a:gs pos="100000">
                      <a:srgbClr val="0E2557"/>
                    </a:gs>
                  </a:gsLst>
                  <a:lin scaled="0"/>
                </a:gradFill>
                <a:ea typeface="宋体" panose="02010600030101010101" pitchFamily="2" charset="-122"/>
              </a:rPr>
              <a:t>触发器的特性方程：</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1073756224" name="对象 29254"/>
          <p:cNvPicPr>
            <a:picLocks noChangeAspect="1"/>
          </p:cNvPicPr>
          <p:nvPr/>
        </p:nvPicPr>
        <p:blipFill>
          <a:blip r:embed="rId1"/>
          <a:stretch>
            <a:fillRect/>
          </a:stretch>
        </p:blipFill>
        <p:spPr>
          <a:xfrm>
            <a:off x="2710180" y="2681605"/>
            <a:ext cx="1163320" cy="443230"/>
          </a:xfrm>
          <a:prstGeom prst="rect">
            <a:avLst/>
          </a:prstGeom>
          <a:noFill/>
          <a:ln w="9525">
            <a:noFill/>
          </a:ln>
        </p:spPr>
      </p:pic>
      <p:pic>
        <p:nvPicPr>
          <p:cNvPr id="1073756225" name="对象 29255"/>
          <p:cNvPicPr>
            <a:picLocks noChangeAspect="1"/>
          </p:cNvPicPr>
          <p:nvPr/>
        </p:nvPicPr>
        <p:blipFill>
          <a:blip r:embed="rId2"/>
          <a:stretch>
            <a:fillRect/>
          </a:stretch>
        </p:blipFill>
        <p:spPr>
          <a:xfrm>
            <a:off x="2672080" y="3124835"/>
            <a:ext cx="2374900" cy="517525"/>
          </a:xfrm>
          <a:prstGeom prst="rect">
            <a:avLst/>
          </a:prstGeom>
          <a:noFill/>
          <a:ln w="9525">
            <a:noFill/>
          </a:ln>
        </p:spPr>
      </p:pic>
      <p:sp>
        <p:nvSpPr>
          <p:cNvPr id="4" name="文本框 3"/>
          <p:cNvSpPr txBox="1"/>
          <p:nvPr/>
        </p:nvSpPr>
        <p:spPr>
          <a:xfrm>
            <a:off x="1216025" y="3642360"/>
            <a:ext cx="5080000" cy="460375"/>
          </a:xfrm>
          <a:prstGeom prst="rect">
            <a:avLst/>
          </a:prstGeom>
          <a:noFill/>
          <a:ln w="9525">
            <a:noFill/>
          </a:ln>
        </p:spPr>
        <p:txBody>
          <a:bodyPr>
            <a:spAutoFit/>
          </a:bodyPr>
          <a:p>
            <a:pPr indent="266700"/>
            <a:r>
              <a:rPr lang="zh-CN" sz="2400" b="1">
                <a:gradFill>
                  <a:gsLst>
                    <a:gs pos="0">
                      <a:srgbClr val="012D86"/>
                    </a:gs>
                    <a:gs pos="100000">
                      <a:srgbClr val="0E2557"/>
                    </a:gs>
                  </a:gsLst>
                  <a:lin scaled="0"/>
                </a:gradFill>
                <a:ea typeface="宋体" panose="02010600030101010101" pitchFamily="2" charset="-122"/>
              </a:rPr>
              <a:t>将</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作为转换逻辑电路的输出，得：</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1073756226" name="对象 29256"/>
          <p:cNvPicPr>
            <a:picLocks noChangeAspect="1"/>
          </p:cNvPicPr>
          <p:nvPr/>
        </p:nvPicPr>
        <p:blipFill>
          <a:blip r:embed="rId3"/>
          <a:stretch>
            <a:fillRect/>
          </a:stretch>
        </p:blipFill>
        <p:spPr>
          <a:xfrm>
            <a:off x="2710180" y="4102735"/>
            <a:ext cx="1934845" cy="488315"/>
          </a:xfrm>
          <a:prstGeom prst="rect">
            <a:avLst/>
          </a:prstGeom>
          <a:noFill/>
          <a:ln w="9525">
            <a:noFill/>
          </a:ln>
        </p:spPr>
      </p:pic>
      <p:sp>
        <p:nvSpPr>
          <p:cNvPr id="6" name="文本框 5"/>
          <p:cNvSpPr txBox="1"/>
          <p:nvPr/>
        </p:nvSpPr>
        <p:spPr>
          <a:xfrm>
            <a:off x="1576070" y="4704715"/>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转换后的逻辑图：</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366" name="图片 2803"/>
          <p:cNvPicPr>
            <a:picLocks noChangeAspect="1"/>
          </p:cNvPicPr>
          <p:nvPr/>
        </p:nvPicPr>
        <p:blipFill>
          <a:blip r:embed="rId4"/>
          <a:srcRect r="69554"/>
          <a:stretch>
            <a:fillRect/>
          </a:stretch>
        </p:blipFill>
        <p:spPr>
          <a:xfrm>
            <a:off x="6450330" y="2681605"/>
            <a:ext cx="2066925" cy="3444875"/>
          </a:xfrm>
          <a:prstGeom prst="rect">
            <a:avLst/>
          </a:prstGeom>
          <a:noFill/>
          <a:ln>
            <a:noFill/>
          </a:ln>
        </p:spPr>
      </p:pic>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2000" fill="hold">
                                          <p:stCondLst>
                                            <p:cond delay="0"/>
                                          </p:stCondLst>
                                        </p:cTn>
                                        <p:tgtEl>
                                          <p:spTgt spid="1073756224"/>
                                        </p:tgtEl>
                                        <p:attrNameLst>
                                          <p:attrName>style.visibility</p:attrName>
                                        </p:attrNameLst>
                                      </p:cBhvr>
                                      <p:to>
                                        <p:strVal val="visible"/>
                                      </p:to>
                                    </p:set>
                                    <p:animEffect transition="in" filter="wipe(left)">
                                      <p:cBhvr>
                                        <p:cTn id="10" dur="2000"/>
                                        <p:tgtEl>
                                          <p:spTgt spid="1073756224"/>
                                        </p:tgtEl>
                                      </p:cBhvr>
                                    </p:animEffect>
                                  </p:childTnLst>
                                </p:cTn>
                              </p:par>
                            </p:childTnLst>
                          </p:cTn>
                        </p:par>
                        <p:par>
                          <p:cTn id="11" fill="hold">
                            <p:stCondLst>
                              <p:cond delay="2000"/>
                            </p:stCondLst>
                            <p:childTnLst>
                              <p:par>
                                <p:cTn id="12" presetID="22" presetClass="entr" presetSubtype="8" fill="hold" nodeType="afterEffect">
                                  <p:stCondLst>
                                    <p:cond delay="500"/>
                                  </p:stCondLst>
                                  <p:childTnLst>
                                    <p:set>
                                      <p:cBhvr>
                                        <p:cTn id="13" dur="2000" fill="hold">
                                          <p:stCondLst>
                                            <p:cond delay="0"/>
                                          </p:stCondLst>
                                        </p:cTn>
                                        <p:tgtEl>
                                          <p:spTgt spid="1073756225"/>
                                        </p:tgtEl>
                                        <p:attrNameLst>
                                          <p:attrName>style.visibility</p:attrName>
                                        </p:attrNameLst>
                                      </p:cBhvr>
                                      <p:to>
                                        <p:strVal val="visible"/>
                                      </p:to>
                                    </p:set>
                                    <p:animEffect transition="in" filter="wipe(left)">
                                      <p:cBhvr>
                                        <p:cTn id="14" dur="2000"/>
                                        <p:tgtEl>
                                          <p:spTgt spid="107375622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nodeType="afterEffect">
                                  <p:stCondLst>
                                    <p:cond delay="0"/>
                                  </p:stCondLst>
                                  <p:childTnLst>
                                    <p:set>
                                      <p:cBhvr>
                                        <p:cTn id="21" dur="2000" fill="hold">
                                          <p:stCondLst>
                                            <p:cond delay="0"/>
                                          </p:stCondLst>
                                        </p:cTn>
                                        <p:tgtEl>
                                          <p:spTgt spid="1073756226"/>
                                        </p:tgtEl>
                                        <p:attrNameLst>
                                          <p:attrName>style.visibility</p:attrName>
                                        </p:attrNameLst>
                                      </p:cBhvr>
                                      <p:to>
                                        <p:strVal val="visible"/>
                                      </p:to>
                                    </p:set>
                                    <p:animEffect transition="in" filter="wipe(left)">
                                      <p:cBhvr>
                                        <p:cTn id="22" dur="2000"/>
                                        <p:tgtEl>
                                          <p:spTgt spid="107375622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9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5.5 触发器逻辑功能</a:t>
            </a:r>
            <a:r>
              <a:rPr lang="zh-CN" altLang="en-US" b="1" dirty="0">
                <a:solidFill>
                  <a:srgbClr val="FF0000"/>
                </a:solidFill>
                <a:latin typeface="黑体" panose="02010609060101010101" pitchFamily="49" charset="-122"/>
                <a:ea typeface="黑体" panose="02010609060101010101" pitchFamily="49" charset="-122"/>
                <a:sym typeface="+mn-ea"/>
              </a:rPr>
              <a:t>的转换</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pic>
        <p:nvPicPr>
          <p:cNvPr id="9366" name="图片 2803"/>
          <p:cNvPicPr>
            <a:picLocks noChangeAspect="1"/>
          </p:cNvPicPr>
          <p:nvPr/>
        </p:nvPicPr>
        <p:blipFill>
          <a:blip r:embed="rId1"/>
          <a:srcRect l="41206" t="5800" r="35054"/>
          <a:stretch>
            <a:fillRect/>
          </a:stretch>
        </p:blipFill>
        <p:spPr>
          <a:xfrm>
            <a:off x="5125720" y="2824480"/>
            <a:ext cx="1652270" cy="3326765"/>
          </a:xfrm>
          <a:prstGeom prst="rect">
            <a:avLst/>
          </a:prstGeom>
          <a:noFill/>
          <a:ln>
            <a:noFill/>
          </a:ln>
        </p:spPr>
      </p:pic>
      <p:pic>
        <p:nvPicPr>
          <p:cNvPr id="1073756228" name="对象 29258"/>
          <p:cNvPicPr>
            <a:picLocks noChangeAspect="1"/>
          </p:cNvPicPr>
          <p:nvPr/>
        </p:nvPicPr>
        <p:blipFill>
          <a:blip r:embed="rId2"/>
          <a:stretch>
            <a:fillRect/>
          </a:stretch>
        </p:blipFill>
        <p:spPr>
          <a:xfrm>
            <a:off x="2520950" y="2763520"/>
            <a:ext cx="2150745" cy="480060"/>
          </a:xfrm>
          <a:prstGeom prst="rect">
            <a:avLst/>
          </a:prstGeom>
          <a:noFill/>
          <a:ln w="9525">
            <a:noFill/>
          </a:ln>
        </p:spPr>
      </p:pic>
      <p:sp>
        <p:nvSpPr>
          <p:cNvPr id="3" name="文本框 2"/>
          <p:cNvSpPr txBox="1"/>
          <p:nvPr/>
        </p:nvSpPr>
        <p:spPr>
          <a:xfrm>
            <a:off x="1111250" y="1859915"/>
            <a:ext cx="6445885" cy="460375"/>
          </a:xfrm>
          <a:prstGeom prst="rect">
            <a:avLst/>
          </a:prstGeom>
          <a:noFill/>
          <a:ln w="9525">
            <a:noFill/>
          </a:ln>
        </p:spPr>
        <p:txBody>
          <a:bodyPr wrap="square">
            <a:spAutoFit/>
          </a:bodyPr>
          <a:p>
            <a:pPr indent="266700"/>
            <a:r>
              <a:rPr lang="zh-CN" sz="2400" b="1">
                <a:gradFill>
                  <a:gsLst>
                    <a:gs pos="0">
                      <a:srgbClr val="012D86"/>
                    </a:gs>
                    <a:gs pos="100000">
                      <a:srgbClr val="0E2557"/>
                    </a:gs>
                  </a:gsLst>
                  <a:lin scaled="0"/>
                </a:gradFill>
                <a:ea typeface="宋体" panose="02010600030101010101" pitchFamily="2" charset="-122"/>
              </a:rPr>
              <a:t>写出</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触发器和</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a:t>
            </a:r>
            <a:r>
              <a:rPr lang="zh-CN" sz="2400" b="1">
                <a:gradFill>
                  <a:gsLst>
                    <a:gs pos="0">
                      <a:srgbClr val="012D86"/>
                    </a:gs>
                    <a:gs pos="100000">
                      <a:srgbClr val="0E2557"/>
                    </a:gs>
                  </a:gsLst>
                  <a:lin scaled="0"/>
                </a:gradFill>
                <a:ea typeface="宋体" panose="02010600030101010101" pitchFamily="2" charset="-122"/>
              </a:rPr>
              <a:t>触发器的特性方程：</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1073756224" name="对象 29254"/>
          <p:cNvPicPr>
            <a:picLocks noChangeAspect="1"/>
          </p:cNvPicPr>
          <p:nvPr/>
        </p:nvPicPr>
        <p:blipFill>
          <a:blip r:embed="rId3"/>
          <a:stretch>
            <a:fillRect/>
          </a:stretch>
        </p:blipFill>
        <p:spPr>
          <a:xfrm>
            <a:off x="2520950" y="2320290"/>
            <a:ext cx="1163320" cy="443230"/>
          </a:xfrm>
          <a:prstGeom prst="rect">
            <a:avLst/>
          </a:prstGeom>
          <a:noFill/>
          <a:ln w="9525">
            <a:noFill/>
          </a:ln>
        </p:spPr>
      </p:pic>
      <p:sp>
        <p:nvSpPr>
          <p:cNvPr id="2" name="文本框 1"/>
          <p:cNvSpPr txBox="1"/>
          <p:nvPr/>
        </p:nvSpPr>
        <p:spPr>
          <a:xfrm>
            <a:off x="742950" y="1339850"/>
            <a:ext cx="5080000" cy="460375"/>
          </a:xfrm>
          <a:prstGeom prst="rect">
            <a:avLst/>
          </a:prstGeom>
          <a:noFill/>
          <a:ln w="9525">
            <a:noFill/>
          </a:ln>
        </p:spPr>
        <p:txBody>
          <a:bodyPr>
            <a:spAutoFit/>
          </a:bodyPr>
          <a:p>
            <a:pPr indent="266700"/>
            <a:r>
              <a:rPr lang="en-US" sz="2400" b="1">
                <a:solidFill>
                  <a:srgbClr val="000000"/>
                </a:solidFill>
                <a:latin typeface="Times New Roman" panose="02020603050405020304" charset="0"/>
                <a:cs typeface="楷体_GB2312" charset="0"/>
              </a:rPr>
              <a:t>(2) </a:t>
            </a:r>
            <a:r>
              <a:rPr lang="en-US" sz="2400" b="1" i="1">
                <a:solidFill>
                  <a:srgbClr val="000000"/>
                </a:solidFill>
                <a:latin typeface="Times New Roman" panose="02020603050405020304" charset="0"/>
                <a:ea typeface="宋体" panose="02010600030101010101" pitchFamily="2" charset="-122"/>
              </a:rPr>
              <a:t>D</a:t>
            </a:r>
            <a:r>
              <a:rPr lang="zh-CN" sz="2400" b="1">
                <a:solidFill>
                  <a:srgbClr val="000000"/>
                </a:solidFill>
                <a:ea typeface="宋体" panose="02010600030101010101" pitchFamily="2" charset="-122"/>
              </a:rPr>
              <a:t>触发器转换成</a:t>
            </a:r>
            <a:r>
              <a:rPr lang="en-US" sz="2400" b="1" i="1">
                <a:solidFill>
                  <a:srgbClr val="000000"/>
                </a:solidFill>
                <a:latin typeface="Times New Roman" panose="02020603050405020304" charset="0"/>
                <a:ea typeface="宋体" panose="02010600030101010101" pitchFamily="2" charset="-122"/>
              </a:rPr>
              <a:t>T</a:t>
            </a:r>
            <a:r>
              <a:rPr lang="zh-CN" sz="2400" b="1">
                <a:solidFill>
                  <a:srgbClr val="000000"/>
                </a:solidFill>
                <a:ea typeface="宋体" panose="02010600030101010101" pitchFamily="2" charset="-122"/>
              </a:rPr>
              <a:t>触发器</a:t>
            </a:r>
            <a:endParaRPr lang="zh-CN" altLang="en-US" sz="2400" b="1"/>
          </a:p>
        </p:txBody>
      </p:sp>
      <p:sp>
        <p:nvSpPr>
          <p:cNvPr id="100" name="文本框 99"/>
          <p:cNvSpPr txBox="1"/>
          <p:nvPr/>
        </p:nvSpPr>
        <p:spPr>
          <a:xfrm>
            <a:off x="1473200" y="324358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联立两式，得：</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4" name="对象 1705"/>
          <p:cNvPicPr>
            <a:picLocks noChangeAspect="1"/>
          </p:cNvPicPr>
          <p:nvPr/>
        </p:nvPicPr>
        <p:blipFill>
          <a:blip r:embed="rId4"/>
          <a:stretch>
            <a:fillRect/>
          </a:stretch>
        </p:blipFill>
        <p:spPr>
          <a:xfrm>
            <a:off x="1535430" y="3594100"/>
            <a:ext cx="2884805" cy="461645"/>
          </a:xfrm>
          <a:prstGeom prst="rect">
            <a:avLst/>
          </a:prstGeom>
          <a:noFill/>
          <a:ln w="9525">
            <a:noFill/>
          </a:ln>
        </p:spPr>
      </p:pic>
      <p:sp>
        <p:nvSpPr>
          <p:cNvPr id="6" name="文本框 5"/>
          <p:cNvSpPr txBox="1"/>
          <p:nvPr/>
        </p:nvSpPr>
        <p:spPr>
          <a:xfrm>
            <a:off x="1536065" y="417068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转换后的逻辑图：</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2000" fill="hold">
                                          <p:stCondLst>
                                            <p:cond delay="0"/>
                                          </p:stCondLst>
                                        </p:cTn>
                                        <p:tgtEl>
                                          <p:spTgt spid="1073756224"/>
                                        </p:tgtEl>
                                        <p:attrNameLst>
                                          <p:attrName>style.visibility</p:attrName>
                                        </p:attrNameLst>
                                      </p:cBhvr>
                                      <p:to>
                                        <p:strVal val="visible"/>
                                      </p:to>
                                    </p:set>
                                    <p:animEffect transition="in" filter="wipe(left)">
                                      <p:cBhvr>
                                        <p:cTn id="10" dur="2000"/>
                                        <p:tgtEl>
                                          <p:spTgt spid="1073756224"/>
                                        </p:tgtEl>
                                      </p:cBhvr>
                                    </p:animEffect>
                                  </p:childTnLst>
                                </p:cTn>
                              </p:par>
                            </p:childTnLst>
                          </p:cTn>
                        </p:par>
                        <p:par>
                          <p:cTn id="11" fill="hold">
                            <p:stCondLst>
                              <p:cond delay="2000"/>
                            </p:stCondLst>
                            <p:childTnLst>
                              <p:par>
                                <p:cTn id="12" presetID="22" presetClass="entr" presetSubtype="8" fill="hold" nodeType="afterEffect">
                                  <p:stCondLst>
                                    <p:cond delay="0"/>
                                  </p:stCondLst>
                                  <p:childTnLst>
                                    <p:set>
                                      <p:cBhvr>
                                        <p:cTn id="13" dur="2000" fill="hold">
                                          <p:stCondLst>
                                            <p:cond delay="0"/>
                                          </p:stCondLst>
                                        </p:cTn>
                                        <p:tgtEl>
                                          <p:spTgt spid="1073756228"/>
                                        </p:tgtEl>
                                        <p:attrNameLst>
                                          <p:attrName>style.visibility</p:attrName>
                                        </p:attrNameLst>
                                      </p:cBhvr>
                                      <p:to>
                                        <p:strVal val="visible"/>
                                      </p:to>
                                    </p:set>
                                    <p:animEffect transition="in" filter="wipe(left)">
                                      <p:cBhvr>
                                        <p:cTn id="14" dur="2000"/>
                                        <p:tgtEl>
                                          <p:spTgt spid="107375622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0"/>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nodeType="afterEffect">
                                  <p:stCondLst>
                                    <p:cond delay="0"/>
                                  </p:stCondLst>
                                  <p:childTnLst>
                                    <p:set>
                                      <p:cBhvr>
                                        <p:cTn id="21" dur="1000" fill="hold">
                                          <p:stCondLst>
                                            <p:cond delay="0"/>
                                          </p:stCondLst>
                                        </p:cTn>
                                        <p:tgtEl>
                                          <p:spTgt spid="4"/>
                                        </p:tgtEl>
                                        <p:attrNameLst>
                                          <p:attrName>style.visibility</p:attrName>
                                        </p:attrNameLst>
                                      </p:cBhvr>
                                      <p:to>
                                        <p:strVal val="visible"/>
                                      </p:to>
                                    </p:set>
                                    <p:animEffect transition="in" filter="wipe(left)">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500"/>
                                  </p:stCondLst>
                                  <p:childTnLst>
                                    <p:set>
                                      <p:cBhvr>
                                        <p:cTn id="29" dur="1" fill="hold">
                                          <p:stCondLst>
                                            <p:cond delay="0"/>
                                          </p:stCondLst>
                                        </p:cTn>
                                        <p:tgtEl>
                                          <p:spTgt spid="9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0" grpId="0"/>
      <p:bldP spid="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5.5 触发器逻辑功能</a:t>
            </a:r>
            <a:r>
              <a:rPr lang="zh-CN" altLang="en-US" b="1" dirty="0">
                <a:solidFill>
                  <a:srgbClr val="FF0000"/>
                </a:solidFill>
                <a:latin typeface="黑体" panose="02010609060101010101" pitchFamily="49" charset="-122"/>
                <a:ea typeface="黑体" panose="02010609060101010101" pitchFamily="49" charset="-122"/>
                <a:sym typeface="+mn-ea"/>
              </a:rPr>
              <a:t>的转换</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pic>
        <p:nvPicPr>
          <p:cNvPr id="9366" name="图片 2803"/>
          <p:cNvPicPr>
            <a:picLocks noChangeAspect="1"/>
          </p:cNvPicPr>
          <p:nvPr/>
        </p:nvPicPr>
        <p:blipFill>
          <a:blip r:embed="rId1"/>
          <a:srcRect l="75947" t="6133"/>
          <a:stretch>
            <a:fillRect/>
          </a:stretch>
        </p:blipFill>
        <p:spPr>
          <a:xfrm>
            <a:off x="5178425" y="2686050"/>
            <a:ext cx="1747520" cy="3461385"/>
          </a:xfrm>
          <a:prstGeom prst="rect">
            <a:avLst/>
          </a:prstGeom>
          <a:noFill/>
          <a:ln>
            <a:noFill/>
          </a:ln>
        </p:spPr>
      </p:pic>
      <p:sp>
        <p:nvSpPr>
          <p:cNvPr id="2" name="文本框 1"/>
          <p:cNvSpPr txBox="1"/>
          <p:nvPr/>
        </p:nvSpPr>
        <p:spPr>
          <a:xfrm>
            <a:off x="742950" y="1339850"/>
            <a:ext cx="5080000" cy="460375"/>
          </a:xfrm>
          <a:prstGeom prst="rect">
            <a:avLst/>
          </a:prstGeom>
          <a:noFill/>
          <a:ln w="9525">
            <a:noFill/>
          </a:ln>
        </p:spPr>
        <p:txBody>
          <a:bodyPr>
            <a:spAutoFit/>
          </a:bodyPr>
          <a:p>
            <a:pPr indent="266700"/>
            <a:r>
              <a:rPr lang="en-US" sz="2400" b="1">
                <a:solidFill>
                  <a:srgbClr val="000000"/>
                </a:solidFill>
                <a:latin typeface="Times New Roman" panose="02020603050405020304" charset="0"/>
                <a:cs typeface="楷体_GB2312" charset="0"/>
              </a:rPr>
              <a:t>(3) </a:t>
            </a:r>
            <a:r>
              <a:rPr lang="en-US" sz="2400" b="1" i="1">
                <a:solidFill>
                  <a:srgbClr val="000000"/>
                </a:solidFill>
                <a:latin typeface="Times New Roman" panose="02020603050405020304" charset="0"/>
                <a:ea typeface="宋体" panose="02010600030101010101" pitchFamily="2" charset="-122"/>
              </a:rPr>
              <a:t>D</a:t>
            </a:r>
            <a:r>
              <a:rPr lang="zh-CN" sz="2400" b="1">
                <a:solidFill>
                  <a:srgbClr val="000000"/>
                </a:solidFill>
                <a:ea typeface="宋体" panose="02010600030101010101" pitchFamily="2" charset="-122"/>
              </a:rPr>
              <a:t>触发器转换成</a:t>
            </a:r>
            <a:r>
              <a:rPr lang="en-US" sz="2400" b="1" i="1">
                <a:solidFill>
                  <a:srgbClr val="000000"/>
                </a:solidFill>
                <a:latin typeface="Times New Roman" panose="02020603050405020304" charset="0"/>
                <a:ea typeface="宋体" panose="02010600030101010101" pitchFamily="2" charset="-122"/>
              </a:rPr>
              <a:t>T</a:t>
            </a:r>
            <a:r>
              <a:rPr lang="zh-CN" sz="2400" b="1">
                <a:solidFill>
                  <a:srgbClr val="000000"/>
                </a:solidFill>
                <a:ea typeface="宋体" panose="02010600030101010101" pitchFamily="2" charset="-122"/>
              </a:rPr>
              <a:t>触发器</a:t>
            </a:r>
            <a:endParaRPr lang="zh-CN" altLang="en-US" sz="2400" b="1"/>
          </a:p>
        </p:txBody>
      </p:sp>
      <p:sp>
        <p:nvSpPr>
          <p:cNvPr id="4" name="文本框 3"/>
          <p:cNvSpPr txBox="1"/>
          <p:nvPr/>
        </p:nvSpPr>
        <p:spPr>
          <a:xfrm>
            <a:off x="1111250" y="1859915"/>
            <a:ext cx="6445885" cy="460375"/>
          </a:xfrm>
          <a:prstGeom prst="rect">
            <a:avLst/>
          </a:prstGeom>
          <a:noFill/>
          <a:ln w="9525">
            <a:noFill/>
          </a:ln>
        </p:spPr>
        <p:txBody>
          <a:bodyPr wrap="square">
            <a:spAutoFit/>
          </a:bodyPr>
          <a:p>
            <a:pPr indent="266700"/>
            <a:r>
              <a:rPr lang="zh-CN" sz="2400" b="1">
                <a:gradFill>
                  <a:gsLst>
                    <a:gs pos="0">
                      <a:srgbClr val="012D86"/>
                    </a:gs>
                    <a:gs pos="100000">
                      <a:srgbClr val="0E2557"/>
                    </a:gs>
                  </a:gsLst>
                  <a:lin scaled="0"/>
                </a:gradFill>
                <a:ea typeface="宋体" panose="02010600030101010101" pitchFamily="2" charset="-122"/>
              </a:rPr>
              <a:t>写出</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触发器和</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 </a:t>
            </a:r>
            <a:r>
              <a:rPr lang="zh-CN" sz="2400" b="1">
                <a:gradFill>
                  <a:gsLst>
                    <a:gs pos="0">
                      <a:srgbClr val="012D86"/>
                    </a:gs>
                    <a:gs pos="100000">
                      <a:srgbClr val="0E2557"/>
                    </a:gs>
                  </a:gsLst>
                  <a:lin scaled="0"/>
                </a:gradFill>
                <a:ea typeface="宋体" panose="02010600030101010101" pitchFamily="2" charset="-122"/>
              </a:rPr>
              <a:t>触发器的特性方程：</a:t>
            </a:r>
            <a:endParaRPr lang="zh-CN" altLang="en-US" sz="2400" b="1">
              <a:gradFill>
                <a:gsLst>
                  <a:gs pos="0">
                    <a:srgbClr val="012D86"/>
                  </a:gs>
                  <a:gs pos="100000">
                    <a:srgbClr val="0E2557"/>
                  </a:gs>
                </a:gsLst>
                <a:lin scaled="0"/>
              </a:gradFill>
              <a:ea typeface="宋体" panose="02010600030101010101" pitchFamily="2" charset="-122"/>
            </a:endParaRPr>
          </a:p>
        </p:txBody>
      </p:sp>
      <p:grpSp>
        <p:nvGrpSpPr>
          <p:cNvPr id="1073756229" name="组合 29259"/>
          <p:cNvGrpSpPr/>
          <p:nvPr/>
        </p:nvGrpSpPr>
        <p:grpSpPr>
          <a:xfrm>
            <a:off x="2679700" y="2320290"/>
            <a:ext cx="1405255" cy="990600"/>
            <a:chOff x="3720" y="9596"/>
            <a:chExt cx="1035" cy="844"/>
          </a:xfrm>
        </p:grpSpPr>
        <p:pic>
          <p:nvPicPr>
            <p:cNvPr id="1073756230" name="对象 29260"/>
            <p:cNvPicPr>
              <a:picLocks noChangeAspect="1"/>
            </p:cNvPicPr>
            <p:nvPr/>
          </p:nvPicPr>
          <p:blipFill>
            <a:blip r:embed="rId2"/>
            <a:stretch>
              <a:fillRect/>
            </a:stretch>
          </p:blipFill>
          <p:spPr>
            <a:xfrm>
              <a:off x="3720" y="10035"/>
              <a:ext cx="1035" cy="405"/>
            </a:xfrm>
            <a:prstGeom prst="rect">
              <a:avLst/>
            </a:prstGeom>
            <a:noFill/>
            <a:ln w="9525">
              <a:noFill/>
            </a:ln>
          </p:spPr>
        </p:pic>
        <p:pic>
          <p:nvPicPr>
            <p:cNvPr id="1073756231" name="对象 29261"/>
            <p:cNvPicPr>
              <a:picLocks noChangeAspect="1"/>
            </p:cNvPicPr>
            <p:nvPr/>
          </p:nvPicPr>
          <p:blipFill>
            <a:blip r:embed="rId3"/>
            <a:stretch>
              <a:fillRect/>
            </a:stretch>
          </p:blipFill>
          <p:spPr>
            <a:xfrm>
              <a:off x="3764" y="9596"/>
              <a:ext cx="945" cy="360"/>
            </a:xfrm>
            <a:prstGeom prst="rect">
              <a:avLst/>
            </a:prstGeom>
            <a:noFill/>
            <a:ln w="9525">
              <a:noFill/>
            </a:ln>
          </p:spPr>
        </p:pic>
      </p:grpSp>
      <p:sp>
        <p:nvSpPr>
          <p:cNvPr id="100" name="文本框 99"/>
          <p:cNvSpPr txBox="1"/>
          <p:nvPr/>
        </p:nvSpPr>
        <p:spPr>
          <a:xfrm>
            <a:off x="1473200" y="339598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联立两式，得：</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3" name="对象 1706"/>
          <p:cNvPicPr>
            <a:picLocks noChangeAspect="1"/>
          </p:cNvPicPr>
          <p:nvPr/>
        </p:nvPicPr>
        <p:blipFill>
          <a:blip r:embed="rId4"/>
          <a:stretch>
            <a:fillRect/>
          </a:stretch>
        </p:blipFill>
        <p:spPr>
          <a:xfrm>
            <a:off x="3611880" y="3380740"/>
            <a:ext cx="952500" cy="476250"/>
          </a:xfrm>
          <a:prstGeom prst="rect">
            <a:avLst/>
          </a:prstGeom>
          <a:noFill/>
          <a:ln w="9525">
            <a:noFill/>
          </a:ln>
        </p:spPr>
      </p:pic>
      <p:sp>
        <p:nvSpPr>
          <p:cNvPr id="6" name="文本框 5"/>
          <p:cNvSpPr txBox="1"/>
          <p:nvPr/>
        </p:nvSpPr>
        <p:spPr>
          <a:xfrm>
            <a:off x="1473200" y="393827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转换后的逻辑图：</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107375622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00"/>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500"/>
                                  </p:stCondLst>
                                  <p:childTnLst>
                                    <p:set>
                                      <p:cBhvr>
                                        <p:cTn id="22" dur="1" fill="hold">
                                          <p:stCondLst>
                                            <p:cond delay="0"/>
                                          </p:stCondLst>
                                        </p:cTn>
                                        <p:tgtEl>
                                          <p:spTgt spid="9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0" grpId="0"/>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b="1" dirty="0">
                <a:solidFill>
                  <a:srgbClr val="FF0000"/>
                </a:solidFill>
                <a:latin typeface="黑体" panose="02010609060101010101" pitchFamily="49" charset="-122"/>
                <a:ea typeface="黑体" panose="02010609060101010101" pitchFamily="49" charset="-122"/>
                <a:sym typeface="+mn-ea"/>
              </a:rPr>
              <a:t>本章小结</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323215" y="1151890"/>
            <a:ext cx="8497570" cy="5851525"/>
          </a:xfrm>
          <a:prstGeom prst="rect">
            <a:avLst/>
          </a:prstGeom>
          <a:noFill/>
          <a:ln w="9525">
            <a:noFill/>
          </a:ln>
        </p:spPr>
        <p:txBody>
          <a:bodyPr wrap="square">
            <a:spAutoFit/>
          </a:bodyPr>
          <a:p>
            <a:pPr indent="609600" algn="l">
              <a:lnSpc>
                <a:spcPct val="120000"/>
              </a:lnSpc>
              <a:spcBef>
                <a:spcPts val="0"/>
              </a:spcBef>
              <a:buClr>
                <a:schemeClr val="folHlink"/>
              </a:buClr>
              <a:buSzTx/>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b="1" dirty="0">
                <a:solidFill>
                  <a:srgbClr val="000066"/>
                </a:solidFill>
                <a:ea typeface="楷体_GB2312" pitchFamily="49" charset="-122"/>
              </a:rPr>
              <a:t>1．锁存器和触发器是构成时序逻辑电路的基本单元，每个锁存器和触发器都能够存储一位二值信号。</a:t>
            </a:r>
            <a:endParaRPr lang="zh-CN" altLang="en-US" sz="2400" b="1" dirty="0">
              <a:solidFill>
                <a:srgbClr val="000066"/>
              </a:solidFill>
              <a:ea typeface="楷体_GB2312" pitchFamily="49" charset="-122"/>
            </a:endParaRPr>
          </a:p>
          <a:p>
            <a:pPr indent="609600" algn="l">
              <a:lnSpc>
                <a:spcPct val="120000"/>
              </a:lnSpc>
              <a:spcBef>
                <a:spcPts val="0"/>
              </a:spcBef>
              <a:buClr>
                <a:schemeClr val="folHlink"/>
              </a:buClr>
              <a:buSzTx/>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b="1" dirty="0">
                <a:solidFill>
                  <a:srgbClr val="000066"/>
                </a:solidFill>
                <a:ea typeface="楷体_GB2312" pitchFamily="49" charset="-122"/>
              </a:rPr>
              <a:t>2． 锁存器和触发器有两个基本性质：</a:t>
            </a:r>
            <a:endParaRPr lang="zh-CN" altLang="en-US" sz="2400" b="1" dirty="0">
              <a:solidFill>
                <a:srgbClr val="000066"/>
              </a:solidFill>
              <a:ea typeface="楷体_GB2312" pitchFamily="49" charset="-122"/>
            </a:endParaRPr>
          </a:p>
          <a:p>
            <a:pPr indent="609600" algn="l">
              <a:lnSpc>
                <a:spcPct val="120000"/>
              </a:lnSpc>
              <a:spcBef>
                <a:spcPts val="0"/>
              </a:spcBef>
              <a:buClr>
                <a:schemeClr val="folHlink"/>
              </a:buClr>
              <a:buSzTx/>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b="1" dirty="0">
                <a:solidFill>
                  <a:srgbClr val="000066"/>
                </a:solidFill>
                <a:ea typeface="楷体_GB2312" pitchFamily="49" charset="-122"/>
              </a:rPr>
              <a:t>(1)在一定条件下，锁存器和触发器可维持在两种稳定状态之一而保持不变；</a:t>
            </a:r>
            <a:endParaRPr lang="zh-CN" altLang="en-US" sz="2400" b="1" dirty="0">
              <a:solidFill>
                <a:srgbClr val="000066"/>
              </a:solidFill>
              <a:ea typeface="楷体_GB2312" pitchFamily="49" charset="-122"/>
            </a:endParaRPr>
          </a:p>
          <a:p>
            <a:pPr indent="609600" algn="l">
              <a:lnSpc>
                <a:spcPct val="120000"/>
              </a:lnSpc>
              <a:spcBef>
                <a:spcPts val="0"/>
              </a:spcBef>
              <a:buClr>
                <a:schemeClr val="folHlink"/>
              </a:buClr>
              <a:buSzTx/>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b="1" dirty="0">
                <a:solidFill>
                  <a:srgbClr val="000066"/>
                </a:solidFill>
                <a:ea typeface="楷体_GB2312" pitchFamily="49" charset="-122"/>
              </a:rPr>
              <a:t>(2)在一定的外加信号作用下，锁存器和触发器可从一种稳定状态转变到另一种稳定状态。</a:t>
            </a:r>
            <a:endParaRPr lang="zh-CN" altLang="en-US" sz="2400" b="1" dirty="0">
              <a:solidFill>
                <a:srgbClr val="000066"/>
              </a:solidFill>
              <a:ea typeface="楷体_GB2312" pitchFamily="49" charset="-122"/>
            </a:endParaRPr>
          </a:p>
          <a:p>
            <a:pPr indent="609600" algn="l">
              <a:lnSpc>
                <a:spcPct val="120000"/>
              </a:lnSpc>
              <a:spcBef>
                <a:spcPts val="0"/>
              </a:spcBef>
              <a:buClr>
                <a:schemeClr val="folHlink"/>
              </a:buClr>
              <a:buSzTx/>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b="1" dirty="0">
                <a:solidFill>
                  <a:srgbClr val="000066"/>
                </a:solidFill>
                <a:ea typeface="楷体_GB2312" pitchFamily="49" charset="-122"/>
              </a:rPr>
              <a:t>3．触发器的逻辑功能是指触发器输出的次态与输出的现态及输入信号之间的逻辑关系。描写触发器逻辑功能的方法主要有激励表、特性方程、状态转换图和波形图等。</a:t>
            </a:r>
            <a:endParaRPr lang="zh-CN" altLang="en-US" sz="2400" b="1" dirty="0">
              <a:solidFill>
                <a:srgbClr val="000066"/>
              </a:solidFill>
              <a:ea typeface="楷体_GB2312" pitchFamily="49" charset="-122"/>
            </a:endParaRPr>
          </a:p>
          <a:p>
            <a:pPr indent="609600" algn="l">
              <a:lnSpc>
                <a:spcPct val="120000"/>
              </a:lnSpc>
              <a:spcBef>
                <a:spcPts val="0"/>
              </a:spcBef>
              <a:buClr>
                <a:schemeClr val="folHlink"/>
              </a:buClr>
              <a:buSzTx/>
              <a:buFont typeface="Wingdings" panose="05000000000000000000" pitchFamily="2" charset="2"/>
              <a:extLst>
                <a:ext uri="{35155182-B16C-46BC-9424-99874614C6A1}">
                  <wpsdc:indentchars xmlns:wpsdc="http://www.wps.cn/officeDocument/2017/drawingmlCustomData" val="200" checksum="4158780845"/>
                </a:ext>
              </a:extLst>
            </a:pPr>
            <a:r>
              <a:rPr lang="zh-CN" altLang="en-US" sz="2400" b="1" dirty="0">
                <a:solidFill>
                  <a:srgbClr val="000066"/>
                </a:solidFill>
                <a:ea typeface="楷体_GB2312" pitchFamily="49" charset="-122"/>
                <a:sym typeface="+mn-ea"/>
              </a:rPr>
              <a:t>4．按照结构不同，锁存器和触发器可分为：①基本</a:t>
            </a:r>
            <a:r>
              <a:rPr lang="zh-CN" altLang="en-US" sz="2400" b="1" i="1" dirty="0">
                <a:solidFill>
                  <a:srgbClr val="000066"/>
                </a:solidFill>
                <a:ea typeface="楷体_GB2312" pitchFamily="49" charset="-122"/>
                <a:sym typeface="+mn-ea"/>
              </a:rPr>
              <a:t>RS</a:t>
            </a:r>
            <a:r>
              <a:rPr lang="zh-CN" altLang="en-US" sz="2400" b="1" dirty="0">
                <a:solidFill>
                  <a:srgbClr val="000066"/>
                </a:solidFill>
                <a:ea typeface="楷体_GB2312" pitchFamily="49" charset="-122"/>
                <a:sym typeface="+mn-ea"/>
              </a:rPr>
              <a:t>锁存器，为电平触发方式；②钟控锁存器，为时钟脉冲的高电平</a:t>
            </a:r>
            <a:endParaRPr lang="zh-CN" altLang="en-US" sz="2400" b="1" dirty="0">
              <a:solidFill>
                <a:srgbClr val="000066"/>
              </a:solidFill>
              <a:ea typeface="楷体_GB2312" pitchFamily="49" charset="-122"/>
            </a:endParaRPr>
          </a:p>
          <a:p>
            <a:endParaRPr lang="zh-CN" altLang="en-US" sz="2400" b="1" dirty="0">
              <a:solidFill>
                <a:srgbClr val="000066"/>
              </a:solidFill>
              <a:ea typeface="楷体_GB2312" pitchFamily="49"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b="1" dirty="0">
                <a:solidFill>
                  <a:srgbClr val="FF0000"/>
                </a:solidFill>
                <a:latin typeface="黑体" panose="02010609060101010101" pitchFamily="49" charset="-122"/>
                <a:ea typeface="黑体" panose="02010609060101010101" pitchFamily="49" charset="-122"/>
                <a:sym typeface="+mn-ea"/>
              </a:rPr>
              <a:t>本章小结</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159385" y="1209675"/>
            <a:ext cx="8954135" cy="5408295"/>
          </a:xfrm>
          <a:prstGeom prst="rect">
            <a:avLst/>
          </a:prstGeom>
          <a:noFill/>
          <a:ln w="9525">
            <a:noFill/>
          </a:ln>
        </p:spPr>
        <p:txBody>
          <a:bodyPr wrap="square">
            <a:spAutoFit/>
          </a:bodyPr>
          <a:p>
            <a:pPr algn="l">
              <a:lnSpc>
                <a:spcPct val="120000"/>
              </a:lnSpc>
              <a:spcBef>
                <a:spcPts val="0"/>
              </a:spcBef>
              <a:buClr>
                <a:schemeClr val="folHlink"/>
              </a:buClr>
              <a:buSzTx/>
              <a:buFont typeface="Wingdings" panose="05000000000000000000" pitchFamily="2" charset="2"/>
            </a:pPr>
            <a:r>
              <a:rPr lang="zh-CN" altLang="en-US" sz="2400" b="1" dirty="0">
                <a:solidFill>
                  <a:srgbClr val="000066"/>
                </a:solidFill>
                <a:ea typeface="楷体_GB2312" pitchFamily="49" charset="-122"/>
                <a:sym typeface="+mn-ea"/>
              </a:rPr>
              <a:t>或者</a:t>
            </a:r>
            <a:r>
              <a:rPr lang="zh-CN" altLang="en-US" sz="2400" b="1" dirty="0">
                <a:solidFill>
                  <a:srgbClr val="000066"/>
                </a:solidFill>
                <a:ea typeface="楷体_GB2312" pitchFamily="49" charset="-122"/>
              </a:rPr>
              <a:t>低电平触发方式；③主从触发器，为脉冲触发方式；④边沿触发器，为边沿触发方式。根据逻辑功能的不同，触发器可分为：</a:t>
            </a:r>
            <a:r>
              <a:rPr lang="zh-CN" altLang="en-US" sz="2400" b="1" i="1" dirty="0">
                <a:solidFill>
                  <a:srgbClr val="000066"/>
                </a:solidFill>
                <a:ea typeface="楷体_GB2312" pitchFamily="49" charset="-122"/>
              </a:rPr>
              <a:t>RS</a:t>
            </a:r>
            <a:r>
              <a:rPr lang="zh-CN" altLang="en-US" sz="2400" b="1" dirty="0">
                <a:solidFill>
                  <a:srgbClr val="000066"/>
                </a:solidFill>
                <a:ea typeface="楷体_GB2312" pitchFamily="49" charset="-122"/>
              </a:rPr>
              <a:t>触发器、</a:t>
            </a:r>
            <a:r>
              <a:rPr lang="zh-CN" altLang="en-US" sz="2400" b="1" i="1" dirty="0">
                <a:solidFill>
                  <a:srgbClr val="000066"/>
                </a:solidFill>
                <a:ea typeface="楷体_GB2312" pitchFamily="49" charset="-122"/>
              </a:rPr>
              <a:t>JK</a:t>
            </a:r>
            <a:r>
              <a:rPr lang="zh-CN" altLang="en-US" sz="2400" b="1" dirty="0">
                <a:solidFill>
                  <a:srgbClr val="000066"/>
                </a:solidFill>
                <a:ea typeface="楷体_GB2312" pitchFamily="49" charset="-122"/>
              </a:rPr>
              <a:t>触发器、</a:t>
            </a:r>
            <a:r>
              <a:rPr lang="zh-CN" altLang="en-US" sz="2400" b="1" i="1" dirty="0">
                <a:solidFill>
                  <a:srgbClr val="000066"/>
                </a:solidFill>
                <a:ea typeface="楷体_GB2312" pitchFamily="49" charset="-122"/>
              </a:rPr>
              <a:t>D</a:t>
            </a:r>
            <a:r>
              <a:rPr lang="zh-CN" altLang="en-US" sz="2400" b="1" dirty="0">
                <a:solidFill>
                  <a:srgbClr val="000066"/>
                </a:solidFill>
                <a:ea typeface="楷体_GB2312" pitchFamily="49" charset="-122"/>
              </a:rPr>
              <a:t>触发器、</a:t>
            </a:r>
            <a:r>
              <a:rPr lang="zh-CN" altLang="en-US" sz="2400" b="1" i="1" dirty="0">
                <a:solidFill>
                  <a:srgbClr val="000066"/>
                </a:solidFill>
                <a:ea typeface="楷体_GB2312" pitchFamily="49" charset="-122"/>
              </a:rPr>
              <a:t>T</a:t>
            </a:r>
            <a:r>
              <a:rPr lang="zh-CN" altLang="en-US" sz="2400" b="1" dirty="0">
                <a:solidFill>
                  <a:srgbClr val="000066"/>
                </a:solidFill>
                <a:ea typeface="楷体_GB2312" pitchFamily="49" charset="-122"/>
              </a:rPr>
              <a:t>触发器、</a:t>
            </a:r>
            <a:r>
              <a:rPr lang="zh-CN" altLang="en-US" sz="2400" b="1" i="1" dirty="0">
                <a:solidFill>
                  <a:srgbClr val="000066"/>
                </a:solidFill>
                <a:ea typeface="楷体_GB2312" pitchFamily="49" charset="-122"/>
              </a:rPr>
              <a:t>T</a:t>
            </a:r>
            <a:r>
              <a:rPr lang="zh-CN" altLang="en-US" sz="2400" b="1" dirty="0">
                <a:solidFill>
                  <a:srgbClr val="000066"/>
                </a:solidFill>
                <a:ea typeface="楷体_GB2312" pitchFamily="49" charset="-122"/>
              </a:rPr>
              <a:t>′触发器。主从触发器和边沿触发器的触发翻转虽然都发生在脉冲有效沿，但对加入输入信号的时间有所不同，对于主从触发器，如果是下降沿触发，输入信号必须在</a:t>
            </a:r>
            <a:r>
              <a:rPr lang="zh-CN" altLang="en-US" sz="2400" b="1" i="1" dirty="0">
                <a:solidFill>
                  <a:srgbClr val="000066"/>
                </a:solidFill>
                <a:ea typeface="楷体_GB2312" pitchFamily="49" charset="-122"/>
              </a:rPr>
              <a:t>CP</a:t>
            </a:r>
            <a:r>
              <a:rPr lang="zh-CN" altLang="en-US" sz="2400" b="1" dirty="0">
                <a:solidFill>
                  <a:srgbClr val="000066"/>
                </a:solidFill>
                <a:ea typeface="楷体_GB2312" pitchFamily="49" charset="-122"/>
              </a:rPr>
              <a:t>=1期间加入，而边沿触发器可只在脉冲有效沿到来前一瞬间加入，因此边沿触发器抗干扰能力强。</a:t>
            </a:r>
            <a:endParaRPr lang="zh-CN" altLang="en-US" sz="2400" b="1" dirty="0">
              <a:solidFill>
                <a:srgbClr val="000066"/>
              </a:solidFill>
              <a:ea typeface="楷体_GB2312" pitchFamily="49" charset="-122"/>
            </a:endParaRPr>
          </a:p>
          <a:p>
            <a:pPr indent="609600" algn="l">
              <a:lnSpc>
                <a:spcPct val="120000"/>
              </a:lnSpc>
              <a:spcBef>
                <a:spcPts val="0"/>
              </a:spcBef>
              <a:buClr>
                <a:schemeClr val="folHlink"/>
              </a:buClr>
              <a:buSzTx/>
              <a:buFont typeface="Wingdings" panose="05000000000000000000" pitchFamily="2" charset="2"/>
            </a:pPr>
            <a:r>
              <a:rPr lang="zh-CN" altLang="en-US" sz="2400" b="1" dirty="0">
                <a:solidFill>
                  <a:srgbClr val="000066"/>
                </a:solidFill>
                <a:ea typeface="楷体_GB2312" pitchFamily="49" charset="-122"/>
              </a:rPr>
              <a:t>5．同一逻辑功能的触发器可以用不同的电路结构来实现；利用特性方程可实现不同功能触发器之间逻辑功能的相互转换。不同结构的触发器具有不同的触发条件和动作特点，触发器逻辑符号中时钟脉冲输入端有小圆圈的为下降沿触发；没有小圆圈的为上升沿触发。</a:t>
            </a:r>
            <a:endParaRPr lang="zh-CN" altLang="en-US" sz="2400" b="1" dirty="0">
              <a:solidFill>
                <a:srgbClr val="000066"/>
              </a:solidFill>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本章作业</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920115" y="2007235"/>
            <a:ext cx="8003540" cy="2486025"/>
          </a:xfrm>
        </p:spPr>
        <p:txBody>
          <a:bodyPr vert="horz" wrap="square" lIns="91440" tIns="45720" rIns="91440" bIns="45720" anchor="t" anchorCtr="0"/>
          <a:p>
            <a:pPr marL="0" indent="0" algn="ctr" eaLnBrk="1" latinLnBrk="0" hangingPunct="1">
              <a:lnSpc>
                <a:spcPct val="100000"/>
              </a:lnSpc>
              <a:spcBef>
                <a:spcPts val="0"/>
              </a:spcBef>
              <a:buNone/>
            </a:pPr>
            <a:r>
              <a:rPr lang="en-US" altLang="zh-CN" b="1" kern="1200" dirty="0">
                <a:solidFill>
                  <a:srgbClr val="000066"/>
                </a:solidFill>
                <a:latin typeface="Arial" panose="020B0604020202020204" pitchFamily="34" charset="0"/>
                <a:ea typeface="楷体_GB2312" pitchFamily="49" charset="-122"/>
              </a:rPr>
              <a:t>P134-137</a:t>
            </a:r>
            <a:endParaRPr lang="en-US" altLang="zh-CN" b="1" kern="1200" dirty="0">
              <a:solidFill>
                <a:srgbClr val="000066"/>
              </a:solidFill>
              <a:latin typeface="Arial" panose="020B0604020202020204" pitchFamily="34" charset="0"/>
              <a:ea typeface="楷体_GB2312" pitchFamily="49" charset="-122"/>
            </a:endParaRPr>
          </a:p>
          <a:p>
            <a:pPr marL="0" indent="0" algn="ctr" eaLnBrk="1" latinLnBrk="0" hangingPunct="1">
              <a:lnSpc>
                <a:spcPct val="100000"/>
              </a:lnSpc>
              <a:spcBef>
                <a:spcPts val="0"/>
              </a:spcBef>
              <a:buNone/>
            </a:pPr>
            <a:endParaRPr lang="en-US" altLang="zh-CN" sz="16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spcAft>
                <a:spcPts val="600"/>
              </a:spcAft>
              <a:buNone/>
            </a:pPr>
            <a:r>
              <a:rPr lang="en-US" altLang="zh-CN" sz="2400" b="1" kern="1200" dirty="0">
                <a:solidFill>
                  <a:srgbClr val="000066"/>
                </a:solidFill>
                <a:latin typeface="Arial" panose="020B0604020202020204" pitchFamily="34" charset="0"/>
                <a:ea typeface="楷体_GB2312" pitchFamily="49" charset="-122"/>
              </a:rPr>
              <a:t>         </a:t>
            </a:r>
            <a:r>
              <a:rPr lang="en-US" altLang="zh-CN" sz="2800" b="1" kern="1200" dirty="0">
                <a:solidFill>
                  <a:srgbClr val="000066"/>
                </a:solidFill>
                <a:latin typeface="Arial" panose="020B0604020202020204" pitchFamily="34" charset="0"/>
                <a:ea typeface="楷体_GB2312" pitchFamily="49" charset="-122"/>
              </a:rPr>
              <a:t>  </a:t>
            </a:r>
            <a:r>
              <a:rPr lang="zh-CN" altLang="en-US" sz="2800" b="1" kern="1200" dirty="0">
                <a:solidFill>
                  <a:srgbClr val="000066"/>
                </a:solidFill>
                <a:latin typeface="Arial" panose="020B0604020202020204" pitchFamily="34" charset="0"/>
                <a:ea typeface="楷体_GB2312" pitchFamily="49" charset="-122"/>
              </a:rPr>
              <a:t>题</a:t>
            </a:r>
            <a:r>
              <a:rPr lang="en-US" altLang="zh-CN" sz="2800" b="1" kern="1200" dirty="0">
                <a:solidFill>
                  <a:srgbClr val="000066"/>
                </a:solidFill>
                <a:latin typeface="Arial" panose="020B0604020202020204" pitchFamily="34" charset="0"/>
                <a:ea typeface="楷体_GB2312" pitchFamily="49" charset="-122"/>
              </a:rPr>
              <a:t>5-2 </a:t>
            </a:r>
            <a:r>
              <a:rPr lang="zh-CN" altLang="en-US" sz="2800" b="1" kern="1200" dirty="0">
                <a:solidFill>
                  <a:srgbClr val="000066"/>
                </a:solidFill>
                <a:latin typeface="Arial" panose="020B0604020202020204" pitchFamily="34" charset="0"/>
                <a:ea typeface="楷体_GB2312" pitchFamily="49" charset="-122"/>
              </a:rPr>
              <a:t>、</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5-8 </a:t>
            </a:r>
            <a:r>
              <a:rPr lang="zh-CN" altLang="en-US" sz="2800" b="1" kern="1200" dirty="0">
                <a:solidFill>
                  <a:srgbClr val="000066"/>
                </a:solidFill>
                <a:latin typeface="Arial" panose="020B0604020202020204" pitchFamily="34" charset="0"/>
                <a:ea typeface="楷体_GB2312" pitchFamily="49" charset="-122"/>
                <a:sym typeface="+mn-ea"/>
              </a:rPr>
              <a:t>、 题</a:t>
            </a:r>
            <a:r>
              <a:rPr lang="en-US" altLang="zh-CN" sz="2800" b="1" kern="1200" dirty="0">
                <a:solidFill>
                  <a:srgbClr val="000066"/>
                </a:solidFill>
                <a:latin typeface="Arial" panose="020B0604020202020204" pitchFamily="34" charset="0"/>
                <a:ea typeface="楷体_GB2312" pitchFamily="49" charset="-122"/>
                <a:sym typeface="+mn-ea"/>
              </a:rPr>
              <a:t>5-9 </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5-1</a:t>
            </a:r>
            <a:r>
              <a:rPr lang="en-US" sz="2800" b="1" kern="1200" dirty="0">
                <a:solidFill>
                  <a:srgbClr val="000066"/>
                </a:solidFill>
                <a:latin typeface="Arial" panose="020B0604020202020204" pitchFamily="34" charset="0"/>
                <a:ea typeface="楷体_GB2312" pitchFamily="49" charset="-122"/>
                <a:sym typeface="+mn-ea"/>
              </a:rPr>
              <a:t>1</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5-1</a:t>
            </a:r>
            <a:r>
              <a:rPr lang="en-US" sz="2800" b="1" kern="1200" dirty="0">
                <a:solidFill>
                  <a:srgbClr val="000066"/>
                </a:solidFill>
                <a:latin typeface="Arial" panose="020B0604020202020204" pitchFamily="34" charset="0"/>
                <a:ea typeface="楷体_GB2312" pitchFamily="49" charset="-122"/>
                <a:sym typeface="+mn-ea"/>
              </a:rPr>
              <a:t>2</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5-1</a:t>
            </a:r>
            <a:r>
              <a:rPr lang="en-US" sz="2800" b="1" kern="1200" dirty="0">
                <a:solidFill>
                  <a:srgbClr val="000066"/>
                </a:solidFill>
                <a:latin typeface="Arial" panose="020B0604020202020204" pitchFamily="34" charset="0"/>
                <a:ea typeface="楷体_GB2312" pitchFamily="49" charset="-122"/>
                <a:sym typeface="+mn-ea"/>
              </a:rPr>
              <a:t>3</a:t>
            </a:r>
            <a:r>
              <a:rPr lang="zh-CN" altLang="en-US" sz="2800" b="1" kern="1200" dirty="0">
                <a:solidFill>
                  <a:srgbClr val="000066"/>
                </a:solidFill>
                <a:latin typeface="Arial" panose="020B0604020202020204" pitchFamily="34" charset="0"/>
                <a:ea typeface="楷体_GB2312" pitchFamily="49" charset="-122"/>
                <a:sym typeface="+mn-ea"/>
              </a:rPr>
              <a:t>、</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5-1</a:t>
            </a:r>
            <a:r>
              <a:rPr lang="en-US" sz="2800" b="1" kern="1200" dirty="0">
                <a:solidFill>
                  <a:srgbClr val="000066"/>
                </a:solidFill>
                <a:latin typeface="Arial" panose="020B0604020202020204" pitchFamily="34" charset="0"/>
                <a:ea typeface="楷体_GB2312" pitchFamily="49" charset="-122"/>
                <a:sym typeface="+mn-ea"/>
              </a:rPr>
              <a:t>4</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6583</Words>
  <Application>WPS 演示</Application>
  <PresentationFormat>全屏显示(4:3)</PresentationFormat>
  <Paragraphs>1036</Paragraphs>
  <Slides>62</Slides>
  <Notes>8</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24</vt:i4>
      </vt:variant>
      <vt:variant>
        <vt:lpstr>幻灯片标题</vt:lpstr>
      </vt:variant>
      <vt:variant>
        <vt:i4>62</vt:i4>
      </vt:variant>
    </vt:vector>
  </HeadingPairs>
  <TitlesOfParts>
    <vt:vector size="103" baseType="lpstr">
      <vt:lpstr>Arial</vt:lpstr>
      <vt:lpstr>宋体</vt:lpstr>
      <vt:lpstr>Wingdings</vt:lpstr>
      <vt:lpstr>黑体</vt:lpstr>
      <vt:lpstr>Times New Roman</vt:lpstr>
      <vt:lpstr>楷体_GB2312</vt:lpstr>
      <vt:lpstr>新宋体</vt:lpstr>
      <vt:lpstr>Tahoma</vt:lpstr>
      <vt:lpstr>Verdana</vt:lpstr>
      <vt:lpstr>微软雅黑</vt:lpstr>
      <vt:lpstr>Arial Unicode MS</vt:lpstr>
      <vt:lpstr>Calibri</vt:lpstr>
      <vt:lpstr>Arial Narrow</vt:lpstr>
      <vt:lpstr>Times New Roman</vt:lpstr>
      <vt:lpstr>Symbol</vt:lpstr>
      <vt:lpstr>楷体_GB2312</vt:lpstr>
      <vt:lpstr>Default Design</vt:lpstr>
      <vt:lpstr>Word.Picture.8</vt:lpstr>
      <vt:lpstr>Equation.KSEE3</vt:lpstr>
      <vt:lpstr>Equation.KSEE3</vt:lpstr>
      <vt:lpstr>Equation.KSEE3</vt:lpstr>
      <vt:lpstr>Equation.KSEE3</vt:lpstr>
      <vt:lpstr>Equation.KSEE3</vt:lpstr>
      <vt:lpstr>Equation.3</vt:lpstr>
      <vt:lpstr>Equation.3</vt:lpstr>
      <vt:lpstr>Equation.3</vt:lpstr>
      <vt:lpstr>Equation.3</vt:lpstr>
      <vt:lpstr>Equation.3</vt:lpstr>
      <vt:lpstr>Word.Picture.8</vt:lpstr>
      <vt:lpstr>Equation.3</vt:lpstr>
      <vt:lpstr>Equation.3</vt:lpstr>
      <vt:lpstr>Equation.3</vt:lpstr>
      <vt:lpstr>Equation.3</vt:lpstr>
      <vt:lpstr>Equation.DSMT4</vt:lpstr>
      <vt:lpstr>Equation.KSEE3</vt:lpstr>
      <vt:lpstr>Equation.KSEE3</vt:lpstr>
      <vt:lpstr>Equation.KSEE3</vt:lpstr>
      <vt:lpstr>Equation.KSEE3</vt:lpstr>
      <vt:lpstr>Equation.3</vt:lpstr>
      <vt:lpstr>Equation.3</vt:lpstr>
      <vt:lpstr>Equation.KSEE3</vt:lpstr>
      <vt:lpstr>第5章 锁存器和触发器</vt:lpstr>
      <vt:lpstr>PowerPoint 演示文稿</vt:lpstr>
      <vt:lpstr>PowerPoint 演示文稿</vt:lpstr>
      <vt:lpstr>PowerPoint 演示文稿</vt:lpstr>
      <vt:lpstr>5.2.1 基本RS锁存器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5.2.2 钟控锁存器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 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周来秀</cp:lastModifiedBy>
  <cp:revision>603</cp:revision>
  <dcterms:created xsi:type="dcterms:W3CDTF">2007-02-20T07:59:00Z</dcterms:created>
  <dcterms:modified xsi:type="dcterms:W3CDTF">2022-02-27T08:05:33Z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D7810DE3FFD04D61A08384750A2B3197</vt:lpwstr>
  </property>
  <property fmtid="{D5CDD505-2E9C-101B-9397-08002B2CF9AE}" pid="3" name="KSOProductBuildVer">
    <vt:lpwstr>2052-11.1.0.9999</vt:lpwstr>
  </property>
</Properties>
</file>
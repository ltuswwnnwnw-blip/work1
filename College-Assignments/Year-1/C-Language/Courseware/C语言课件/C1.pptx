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68" r:id="rId4"/>
    <p:sldMasterId id="2147483678" r:id="rId5"/>
    <p:sldMasterId id="2147483688" r:id="rId6"/>
    <p:sldMasterId id="2147483698" r:id="rId7"/>
    <p:sldMasterId id="2147483708" r:id="rId8"/>
    <p:sldMasterId id="2147483718" r:id="rId9"/>
    <p:sldMasterId id="2147483728" r:id="rId10"/>
    <p:sldMasterId id="2147483738" r:id="rId11"/>
  </p:sldMasterIdLst>
  <p:notesMasterIdLst>
    <p:notesMasterId r:id="rId13"/>
  </p:notesMasterIdLst>
  <p:sldIdLst>
    <p:sldId id="256" r:id="rId12"/>
    <p:sldId id="551" r:id="rId14"/>
    <p:sldId id="500" r:id="rId15"/>
    <p:sldId id="501" r:id="rId16"/>
    <p:sldId id="569" r:id="rId17"/>
    <p:sldId id="488" r:id="rId18"/>
    <p:sldId id="572" r:id="rId19"/>
    <p:sldId id="573" r:id="rId20"/>
    <p:sldId id="578" r:id="rId21"/>
    <p:sldId id="574" r:id="rId22"/>
    <p:sldId id="575" r:id="rId23"/>
    <p:sldId id="576" r:id="rId24"/>
    <p:sldId id="536" r:id="rId25"/>
    <p:sldId id="571" r:id="rId26"/>
    <p:sldId id="490" r:id="rId27"/>
    <p:sldId id="491" r:id="rId28"/>
    <p:sldId id="492" r:id="rId29"/>
    <p:sldId id="493" r:id="rId30"/>
    <p:sldId id="494" r:id="rId31"/>
    <p:sldId id="537" r:id="rId32"/>
    <p:sldId id="495" r:id="rId33"/>
    <p:sldId id="496" r:id="rId34"/>
    <p:sldId id="546" r:id="rId35"/>
    <p:sldId id="547" r:id="rId36"/>
    <p:sldId id="271" r:id="rId37"/>
  </p:sldIdLst>
  <p:sldSz cx="12192000" cy="6858000"/>
  <p:notesSz cx="6858000" cy="9144000"/>
  <p:custDataLst>
    <p:tags r:id="rId4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3" userDrawn="1">
          <p15:clr>
            <a:srgbClr val="A4A3A4"/>
          </p15:clr>
        </p15:guide>
        <p15:guide id="2" pos="37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83763"/>
    <a:srgbClr val="025AA2"/>
    <a:srgbClr val="1C1C1C"/>
    <a:srgbClr val="D16809"/>
    <a:srgbClr val="319095"/>
    <a:srgbClr val="F5F5F5"/>
    <a:srgbClr val="5FCACB"/>
    <a:srgbClr val="F5841C"/>
    <a:srgbClr val="A0BF0D"/>
    <a:srgbClr val="FDB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130"/>
    <p:restoredTop sz="83721"/>
  </p:normalViewPr>
  <p:slideViewPr>
    <p:cSldViewPr snapToGrid="0" showGuides="1">
      <p:cViewPr varScale="1">
        <p:scale>
          <a:sx n="95" d="100"/>
          <a:sy n="95" d="100"/>
        </p:scale>
        <p:origin x="954" y="96"/>
      </p:cViewPr>
      <p:guideLst>
        <p:guide orient="horz" pos="2063"/>
        <p:guide pos="37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1" Type="http://schemas.openxmlformats.org/officeDocument/2006/relationships/tags" Target="tags/tag1.xml"/><Relationship Id="rId40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25.xml"/><Relationship Id="rId36" Type="http://schemas.openxmlformats.org/officeDocument/2006/relationships/slide" Target="slides/slide24.xml"/><Relationship Id="rId35" Type="http://schemas.openxmlformats.org/officeDocument/2006/relationships/slide" Target="slides/slide23.xml"/><Relationship Id="rId34" Type="http://schemas.openxmlformats.org/officeDocument/2006/relationships/slide" Target="slides/slide22.xml"/><Relationship Id="rId33" Type="http://schemas.openxmlformats.org/officeDocument/2006/relationships/slide" Target="slides/slide21.xml"/><Relationship Id="rId32" Type="http://schemas.openxmlformats.org/officeDocument/2006/relationships/slide" Target="slides/slide20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0" Type="http://schemas.openxmlformats.org/officeDocument/2006/relationships/slide" Target="slides/slide8.xml"/><Relationship Id="rId2" Type="http://schemas.openxmlformats.org/officeDocument/2006/relationships/theme" Target="theme/theme1.xml"/><Relationship Id="rId19" Type="http://schemas.openxmlformats.org/officeDocument/2006/relationships/slide" Target="slides/slide7.xml"/><Relationship Id="rId18" Type="http://schemas.openxmlformats.org/officeDocument/2006/relationships/slide" Target="slides/slide6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73FA7645-52C7-40DE-A730-3565A4F631A6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93188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3189" name="Notes Placeholder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 indent="0"/>
            <a:r>
              <a:rPr lang="en-US" altLang="zh-CN"/>
              <a:t>Second level</a:t>
            </a:r>
            <a:endParaRPr lang="en-US" altLang="zh-CN"/>
          </a:p>
          <a:p>
            <a:pPr lvl="2" indent="0"/>
            <a:r>
              <a:rPr lang="en-US" altLang="zh-CN"/>
              <a:t>Third level</a:t>
            </a:r>
            <a:endParaRPr lang="en-US" altLang="zh-CN"/>
          </a:p>
          <a:p>
            <a:pPr lvl="3" indent="0"/>
            <a:r>
              <a:rPr lang="en-US" altLang="zh-CN"/>
              <a:t>Fourth level</a:t>
            </a:r>
            <a:endParaRPr lang="en-US" altLang="zh-CN"/>
          </a:p>
          <a:p>
            <a:pPr lvl="4" indent="0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B0009764-4815-4F90-93AA-0D9752993797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95234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952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</a:rPr>
            </a:fld>
            <a:endParaRPr lang="en-US" altLang="zh-CN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1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Calibri" panose="020F0502020204030204" pitchFamily="34" charset="0"/>
              </a:rPr>
            </a:fld>
            <a:endParaRPr lang="en-US" altLang="zh-CN" sz="1200" dirty="0">
              <a:latin typeface="Calibri" panose="020F0502020204030204" pitchFamily="34" charset="0"/>
            </a:endParaRPr>
          </a:p>
        </p:txBody>
      </p:sp>
      <p:sp>
        <p:nvSpPr>
          <p:cNvPr id="97282" name="幻灯片图像占位符 78850"/>
          <p:cNvSpPr>
            <a:spLocks noGrp="1" noRot="1" noTextEdit="1"/>
          </p:cNvSpPr>
          <p:nvPr>
            <p:ph type="sldImg"/>
          </p:nvPr>
        </p:nvSpPr>
        <p:spPr>
          <a:ln/>
        </p:spPr>
      </p:sp>
      <p:sp>
        <p:nvSpPr>
          <p:cNvPr id="97283" name="文本占位符 78849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2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99330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9933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</a:rPr>
            </a:fld>
            <a:endParaRPr lang="en-US" altLang="zh-CN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02402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102403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</a:rPr>
            </a:fld>
            <a:endParaRPr lang="en-US" altLang="zh-CN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49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Calibri" panose="020F0502020204030204" pitchFamily="34" charset="0"/>
              </a:rPr>
            </a:fld>
            <a:endParaRPr lang="en-US" altLang="zh-CN" sz="1200" dirty="0">
              <a:latin typeface="Calibri" panose="020F0502020204030204" pitchFamily="34" charset="0"/>
            </a:endParaRPr>
          </a:p>
        </p:txBody>
      </p:sp>
      <p:sp>
        <p:nvSpPr>
          <p:cNvPr id="104450" name="幻灯片图像占位符 1026"/>
          <p:cNvSpPr>
            <a:spLocks noGrp="1" noRot="1" noTextEdit="1"/>
          </p:cNvSpPr>
          <p:nvPr>
            <p:ph type="sldImg"/>
          </p:nvPr>
        </p:nvSpPr>
        <p:spPr>
          <a:ln/>
        </p:spPr>
      </p:sp>
      <p:sp>
        <p:nvSpPr>
          <p:cNvPr id="104451" name="文本占位符 1025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r>
              <a:rPr lang="en-US" altLang="zh-CN" dirty="0"/>
              <a:t>1946</a:t>
            </a:r>
            <a:r>
              <a:rPr lang="zh-CN" altLang="en-US" dirty="0"/>
              <a:t>年，第一台电子计算机问世，应用领域迅速扩大，软硬件飞速发展，程序设计语言相继问世。</a:t>
            </a:r>
            <a:endParaRPr lang="zh-CN" altLang="en-US" dirty="0"/>
          </a:p>
          <a:p>
            <a:pPr lvl="0"/>
            <a:r>
              <a:rPr lang="zh-CN" altLang="en-US" dirty="0"/>
              <a:t>程序设计语言</a:t>
            </a:r>
            <a:r>
              <a:rPr lang="en-US" altLang="zh-CN" dirty="0"/>
              <a:t>:</a:t>
            </a:r>
            <a:r>
              <a:rPr lang="zh-CN" altLang="en-US" dirty="0"/>
              <a:t>将自然语言形式化为有格式的语言</a:t>
            </a:r>
            <a:endParaRPr lang="zh-CN" altLang="en-US" dirty="0"/>
          </a:p>
          <a:p>
            <a:pPr lvl="0"/>
            <a:r>
              <a:rPr lang="en-US" altLang="zh-CN" dirty="0"/>
              <a:t>1</a:t>
            </a:r>
            <a:r>
              <a:rPr lang="zh-CN" altLang="en-US" dirty="0"/>
              <a:t>。机器语言：</a:t>
            </a:r>
            <a:endParaRPr lang="zh-CN" altLang="en-US" dirty="0"/>
          </a:p>
          <a:p>
            <a:pPr lvl="2" indent="0">
              <a:buChar char="•"/>
            </a:pPr>
            <a:r>
              <a:rPr lang="zh-CN" altLang="en-US" dirty="0"/>
              <a:t>计算机能够认识的语言</a:t>
            </a:r>
            <a:endParaRPr lang="zh-CN" altLang="en-US" dirty="0"/>
          </a:p>
          <a:p>
            <a:pPr lvl="2" indent="0">
              <a:buChar char="•"/>
            </a:pPr>
            <a:r>
              <a:rPr lang="zh-CN" altLang="en-US" dirty="0"/>
              <a:t>计算机的基础是数字电路</a:t>
            </a:r>
            <a:endParaRPr lang="zh-CN" altLang="en-US" dirty="0"/>
          </a:p>
          <a:p>
            <a:pPr lvl="2" indent="0">
              <a:buChar char="•"/>
            </a:pPr>
            <a:r>
              <a:rPr lang="zh-CN" altLang="en-US" dirty="0"/>
              <a:t>机器语言就是数字电路里的电信号</a:t>
            </a:r>
            <a:endParaRPr lang="zh-CN" altLang="en-US" dirty="0"/>
          </a:p>
          <a:p>
            <a:pPr lvl="2" indent="0">
              <a:buChar char="•"/>
            </a:pPr>
            <a:r>
              <a:rPr lang="zh-CN" altLang="en-US" dirty="0"/>
              <a:t>将在</a:t>
            </a:r>
            <a:r>
              <a:rPr lang="en-US" altLang="zh-CN" dirty="0"/>
              <a:t>《</a:t>
            </a:r>
            <a:r>
              <a:rPr lang="zh-CN" altLang="en-US" dirty="0"/>
              <a:t>计算机组成</a:t>
            </a:r>
            <a:r>
              <a:rPr lang="en-US" altLang="zh-CN" dirty="0"/>
              <a:t>》</a:t>
            </a:r>
            <a:r>
              <a:rPr lang="zh-CN" altLang="en-US" dirty="0"/>
              <a:t>课程中学习</a:t>
            </a:r>
            <a:endParaRPr lang="zh-CN" altLang="en-US" dirty="0"/>
          </a:p>
          <a:p>
            <a:pPr lvl="2" indent="0">
              <a:buChar char="•"/>
            </a:pPr>
            <a:r>
              <a:rPr lang="zh-CN" altLang="en-US" dirty="0"/>
              <a:t>都是二进制文件</a:t>
            </a:r>
            <a:endParaRPr lang="zh-CN" altLang="en-US" dirty="0"/>
          </a:p>
          <a:p>
            <a:pPr lvl="2" indent="0">
              <a:buChar char="•"/>
            </a:pPr>
            <a:r>
              <a:rPr lang="zh-CN" altLang="en-US" dirty="0"/>
              <a:t>一条机器语言成为一条指令</a:t>
            </a:r>
            <a:endParaRPr lang="zh-CN" altLang="en-US" dirty="0"/>
          </a:p>
          <a:p>
            <a:pPr lvl="2" indent="0">
              <a:buChar char="•"/>
            </a:pPr>
            <a:r>
              <a:rPr lang="zh-CN" altLang="en-US" dirty="0"/>
              <a:t>指令是不可分割的最小功能单元</a:t>
            </a:r>
            <a:endParaRPr lang="zh-CN" altLang="en-US" dirty="0"/>
          </a:p>
          <a:p>
            <a:pPr lvl="0"/>
            <a:r>
              <a:rPr lang="zh-CN" altLang="en-US" dirty="0"/>
              <a:t>定义：一种</a:t>
            </a:r>
            <a:r>
              <a:rPr lang="en-US" altLang="zh-CN" dirty="0"/>
              <a:t>CPU</a:t>
            </a:r>
            <a:r>
              <a:rPr lang="zh-CN" altLang="en-US" dirty="0"/>
              <a:t>的指令系统，由该</a:t>
            </a:r>
            <a:r>
              <a:rPr lang="en-US" altLang="zh-CN" dirty="0"/>
              <a:t>CPU</a:t>
            </a:r>
            <a:r>
              <a:rPr lang="zh-CN" altLang="en-US" dirty="0"/>
              <a:t>可识别的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序列构成的指令码组成。</a:t>
            </a:r>
            <a:endParaRPr lang="zh-CN" altLang="en-US" dirty="0"/>
          </a:p>
          <a:p>
            <a:pPr lvl="0"/>
            <a:r>
              <a:rPr lang="zh-CN" altLang="en-US" dirty="0"/>
              <a:t>特点：</a:t>
            </a:r>
            <a:endParaRPr lang="zh-CN" altLang="en-US" dirty="0"/>
          </a:p>
          <a:p>
            <a:pPr lvl="0"/>
            <a:r>
              <a:rPr lang="zh-CN" altLang="en-US" dirty="0"/>
              <a:t>执行效率高</a:t>
            </a:r>
            <a:endParaRPr lang="zh-CN" altLang="en-US" dirty="0"/>
          </a:p>
          <a:p>
            <a:pPr lvl="0"/>
            <a:r>
              <a:rPr lang="zh-CN" altLang="en-US" dirty="0"/>
              <a:t>不直观，不易查错，生产效率低。</a:t>
            </a:r>
            <a:endParaRPr lang="zh-CN" altLang="en-US" dirty="0"/>
          </a:p>
          <a:p>
            <a:pPr lvl="0"/>
            <a:r>
              <a:rPr lang="en-US" altLang="zh-CN" dirty="0"/>
              <a:t>2</a:t>
            </a:r>
            <a:r>
              <a:rPr lang="zh-CN" altLang="en-US" dirty="0"/>
              <a:t>。汇编语言</a:t>
            </a:r>
            <a:endParaRPr lang="zh-CN" altLang="en-US" dirty="0"/>
          </a:p>
          <a:p>
            <a:pPr lvl="0"/>
            <a:r>
              <a:rPr lang="zh-CN" altLang="en-US" dirty="0"/>
              <a:t>定义：用助记符号描述的指令系统</a:t>
            </a:r>
            <a:endParaRPr lang="zh-CN" altLang="en-US" dirty="0"/>
          </a:p>
          <a:p>
            <a:pPr lvl="0"/>
            <a:r>
              <a:rPr lang="zh-CN" altLang="en-US" dirty="0"/>
              <a:t>特点：</a:t>
            </a:r>
            <a:endParaRPr lang="zh-CN" altLang="en-US" dirty="0"/>
          </a:p>
          <a:p>
            <a:pPr lvl="0"/>
            <a:r>
              <a:rPr lang="zh-CN" altLang="en-US" dirty="0"/>
              <a:t>生产效率高，质量好，执行效率较高；</a:t>
            </a:r>
            <a:endParaRPr lang="zh-CN" altLang="en-US" dirty="0"/>
          </a:p>
          <a:p>
            <a:pPr lvl="0"/>
            <a:r>
              <a:rPr lang="zh-CN" altLang="en-US" dirty="0"/>
              <a:t>要经汇编程序汇编成目标程序（机器语言）才能执行，依赖硬件。</a:t>
            </a:r>
            <a:endParaRPr lang="zh-CN" altLang="en-US" dirty="0"/>
          </a:p>
          <a:p>
            <a:pPr lvl="0"/>
            <a:r>
              <a:rPr lang="zh-CN" altLang="en-US" dirty="0"/>
              <a:t>（面向机器的语言</a:t>
            </a:r>
            <a:r>
              <a:rPr lang="en-US" altLang="zh-CN" dirty="0"/>
              <a:t>----</a:t>
            </a:r>
            <a:r>
              <a:rPr lang="zh-CN" altLang="en-US" dirty="0"/>
              <a:t>依</a:t>
            </a:r>
            <a:r>
              <a:rPr lang="en-US" altLang="zh-CN" dirty="0"/>
              <a:t>CPU</a:t>
            </a:r>
            <a:r>
              <a:rPr lang="zh-CN" altLang="en-US" dirty="0"/>
              <a:t>不同而异）</a:t>
            </a:r>
            <a:endParaRPr lang="zh-CN" altLang="en-US" dirty="0"/>
          </a:p>
          <a:p>
            <a:pPr lvl="0"/>
            <a:r>
              <a:rPr lang="en-US" altLang="zh-CN" dirty="0"/>
              <a:t>3</a:t>
            </a:r>
            <a:r>
              <a:rPr lang="zh-CN" altLang="en-US" dirty="0"/>
              <a:t>。高级语言</a:t>
            </a:r>
            <a:endParaRPr lang="zh-CN" altLang="en-US" dirty="0"/>
          </a:p>
          <a:p>
            <a:pPr lvl="0"/>
            <a:r>
              <a:rPr lang="zh-CN" altLang="en-US" dirty="0"/>
              <a:t>特点：</a:t>
            </a:r>
            <a:endParaRPr lang="zh-CN" altLang="en-US" dirty="0"/>
          </a:p>
          <a:p>
            <a:pPr lvl="0"/>
            <a:r>
              <a:rPr lang="zh-CN" altLang="en-US" dirty="0"/>
              <a:t>编程效率高，不必考虑硬件；</a:t>
            </a:r>
            <a:endParaRPr lang="zh-CN" altLang="en-US" dirty="0"/>
          </a:p>
          <a:p>
            <a:pPr lvl="0"/>
            <a:r>
              <a:rPr lang="zh-CN" altLang="en-US" dirty="0"/>
              <a:t>执行效率低，要经编译、连接后才能执行。</a:t>
            </a:r>
            <a:endParaRPr lang="zh-CN" altLang="en-US" dirty="0"/>
          </a:p>
          <a:p>
            <a:pPr lvl="0"/>
            <a:r>
              <a:rPr lang="zh-CN" altLang="en-US" dirty="0"/>
              <a:t>面向过程的程序设计语言</a:t>
            </a:r>
            <a:endParaRPr lang="zh-CN" altLang="en-US" dirty="0"/>
          </a:p>
          <a:p>
            <a:pPr lvl="0"/>
            <a:r>
              <a:rPr lang="zh-CN" altLang="en-US" dirty="0"/>
              <a:t>认为解题过程是数据被加工的过程</a:t>
            </a:r>
            <a:endParaRPr lang="zh-CN" altLang="en-US" dirty="0"/>
          </a:p>
          <a:p>
            <a:pPr lvl="0"/>
            <a:r>
              <a:rPr lang="zh-CN" altLang="en-US" dirty="0"/>
              <a:t>程序</a:t>
            </a:r>
            <a:r>
              <a:rPr lang="en-US" altLang="zh-CN" dirty="0"/>
              <a:t>=</a:t>
            </a:r>
            <a:r>
              <a:rPr lang="zh-CN" altLang="en-US" dirty="0"/>
              <a:t>数据结构</a:t>
            </a:r>
            <a:r>
              <a:rPr lang="en-US" altLang="zh-CN" dirty="0"/>
              <a:t>+</a:t>
            </a:r>
            <a:r>
              <a:rPr lang="zh-CN" altLang="en-US" dirty="0"/>
              <a:t>算法</a:t>
            </a:r>
            <a:endParaRPr lang="zh-CN" altLang="en-US" dirty="0"/>
          </a:p>
          <a:p>
            <a:pPr lvl="0"/>
            <a:r>
              <a:rPr lang="en-US" altLang="zh-CN" dirty="0"/>
              <a:t>C</a:t>
            </a:r>
            <a:r>
              <a:rPr lang="zh-CN" altLang="en-US" dirty="0"/>
              <a:t>语言是面向过程的高级语言</a:t>
            </a:r>
            <a:endParaRPr lang="zh-CN" altLang="en-US" dirty="0"/>
          </a:p>
          <a:p>
            <a:pPr lvl="0"/>
            <a:r>
              <a:rPr lang="zh-CN" altLang="en-US" dirty="0"/>
              <a:t>           面向对象的程序设计语言</a:t>
            </a:r>
            <a:endParaRPr lang="zh-CN" altLang="en-US" dirty="0"/>
          </a:p>
          <a:p>
            <a:pPr lvl="0"/>
            <a:r>
              <a:rPr lang="zh-CN" altLang="en-US" dirty="0"/>
              <a:t>一种结构模拟方法。认为：现实世界由对象组成，对象是数据和方法的封装体；客观世界可以分类，每个对象是类的一个实例。</a:t>
            </a:r>
            <a:endParaRPr lang="zh-CN" altLang="en-US" dirty="0"/>
          </a:p>
          <a:p>
            <a:pPr lvl="0"/>
            <a:r>
              <a:rPr lang="zh-CN" altLang="en-US" dirty="0"/>
              <a:t>特点：比面向过程的语言更清晰、易懂，适宜编更大规模程序，是程序设计的主流</a:t>
            </a:r>
            <a:endParaRPr lang="zh-CN" altLang="en-US" dirty="0"/>
          </a:p>
          <a:p>
            <a:pPr lvl="0"/>
            <a:endParaRPr lang="zh-CN" altLang="en-US" dirty="0"/>
          </a:p>
          <a:p>
            <a:pPr lvl="0"/>
            <a:r>
              <a:rPr lang="zh-CN" altLang="en-US" dirty="0"/>
              <a:t>程序设计语言基本成分：</a:t>
            </a:r>
            <a:endParaRPr lang="zh-CN" altLang="en-US" dirty="0"/>
          </a:p>
          <a:p>
            <a:pPr lvl="0"/>
            <a:r>
              <a:rPr lang="zh-CN" altLang="en-US" dirty="0"/>
              <a:t>。数据成分</a:t>
            </a:r>
            <a:endParaRPr lang="zh-CN" altLang="en-US" dirty="0"/>
          </a:p>
          <a:p>
            <a:pPr lvl="0"/>
            <a:r>
              <a:rPr lang="zh-CN" altLang="en-US" dirty="0"/>
              <a:t>。运算成分</a:t>
            </a:r>
            <a:endParaRPr lang="zh-CN" altLang="en-US" dirty="0"/>
          </a:p>
          <a:p>
            <a:pPr lvl="0"/>
            <a:r>
              <a:rPr lang="zh-CN" altLang="en-US" dirty="0"/>
              <a:t>。控制成分</a:t>
            </a:r>
            <a:endParaRPr lang="zh-CN" altLang="en-US" dirty="0"/>
          </a:p>
          <a:p>
            <a:pPr lvl="0"/>
            <a:r>
              <a:rPr lang="zh-CN" altLang="en-US" dirty="0"/>
              <a:t>。传输成分	</a:t>
            </a:r>
            <a:endParaRPr lang="zh-CN" altLang="en-US" dirty="0"/>
          </a:p>
          <a:p>
            <a:pPr lvl="0"/>
            <a:endParaRPr lang="zh-CN" altLang="en-US" dirty="0"/>
          </a:p>
          <a:p>
            <a:pPr lvl="0"/>
            <a:r>
              <a:rPr lang="zh-CN" altLang="en-US" dirty="0"/>
              <a:t>程序设计语言定义：用于书写计算机程序的语言。通常指实现高级语言。</a:t>
            </a:r>
            <a:endParaRPr lang="zh-CN" altLang="en-US" dirty="0"/>
          </a:p>
          <a:p>
            <a:pPr lvl="0"/>
            <a:r>
              <a:rPr lang="zh-CN" altLang="en-US" dirty="0"/>
              <a:t>语言的基础是一组记号与一组规则。</a:t>
            </a:r>
            <a:endParaRPr lang="zh-CN" altLang="en-US" dirty="0"/>
          </a:p>
          <a:p>
            <a:pPr lvl="0"/>
            <a:r>
              <a:rPr lang="zh-CN" altLang="en-US" dirty="0"/>
              <a:t>程序设计语言包括：</a:t>
            </a:r>
            <a:endParaRPr lang="zh-CN" altLang="en-US" dirty="0"/>
          </a:p>
          <a:p>
            <a:pPr lvl="0"/>
            <a:r>
              <a:rPr lang="zh-CN" altLang="en-US" dirty="0"/>
              <a:t>语法：记号的组合规则</a:t>
            </a:r>
            <a:endParaRPr lang="zh-CN" altLang="en-US" dirty="0"/>
          </a:p>
          <a:p>
            <a:pPr lvl="0"/>
            <a:r>
              <a:rPr lang="zh-CN" altLang="en-US" dirty="0"/>
              <a:t>语义：记号的特定意义</a:t>
            </a:r>
            <a:endParaRPr lang="zh-CN" altLang="en-US" dirty="0"/>
          </a:p>
          <a:p>
            <a:pPr lvl="0"/>
            <a:r>
              <a:rPr lang="zh-CN" altLang="en-US" dirty="0"/>
              <a:t>语用：程序与使用者的关系</a:t>
            </a:r>
            <a:endParaRPr lang="zh-CN" altLang="en-US" dirty="0"/>
          </a:p>
          <a:p>
            <a:pPr lvl="0"/>
            <a:endParaRPr lang="zh-CN" altLang="en-US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11618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111619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</a:rPr>
            </a:fld>
            <a:endParaRPr lang="en-US" altLang="zh-CN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5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Calibri" panose="020F0502020204030204" pitchFamily="34" charset="0"/>
              </a:rPr>
            </a:fld>
            <a:endParaRPr lang="en-US" altLang="zh-CN" sz="1200" dirty="0">
              <a:latin typeface="Calibri" panose="020F0502020204030204" pitchFamily="34" charset="0"/>
            </a:endParaRPr>
          </a:p>
        </p:txBody>
      </p:sp>
      <p:sp>
        <p:nvSpPr>
          <p:cNvPr id="113666" name="幻灯片图像占位符 46081"/>
          <p:cNvSpPr>
            <a:spLocks noGrp="1" noRot="1" noTextEdit="1"/>
          </p:cNvSpPr>
          <p:nvPr>
            <p:ph type="sldImg"/>
          </p:nvPr>
        </p:nvSpPr>
        <p:spPr>
          <a:ln/>
        </p:spPr>
      </p:sp>
      <p:sp>
        <p:nvSpPr>
          <p:cNvPr id="113667" name="文本占位符 4608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20834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1208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</a:rPr>
            </a:fld>
            <a:endParaRPr lang="en-US" altLang="zh-CN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5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Calibri" panose="020F0502020204030204" pitchFamily="34" charset="0"/>
              </a:rPr>
            </a:fld>
            <a:endParaRPr lang="en-US" altLang="zh-CN" sz="1200" dirty="0">
              <a:latin typeface="Calibri" panose="020F0502020204030204" pitchFamily="34" charset="0"/>
            </a:endParaRPr>
          </a:p>
        </p:txBody>
      </p:sp>
      <p:sp>
        <p:nvSpPr>
          <p:cNvPr id="123906" name="幻灯片图像占位符 78850"/>
          <p:cNvSpPr>
            <a:spLocks noGrp="1" noRot="1" noTextEdit="1"/>
          </p:cNvSpPr>
          <p:nvPr>
            <p:ph type="sldImg"/>
          </p:nvPr>
        </p:nvSpPr>
        <p:spPr>
          <a:ln/>
        </p:spPr>
      </p:sp>
      <p:sp>
        <p:nvSpPr>
          <p:cNvPr id="123907" name="文本占位符 78849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25954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12595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</a:rPr>
            </a:fld>
            <a:endParaRPr lang="en-US" altLang="zh-CN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1" Type="http://schemas.openxmlformats.org/officeDocument/2006/relationships/theme" Target="../theme/theme3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1" Type="http://schemas.openxmlformats.org/officeDocument/2006/relationships/theme" Target="../theme/theme4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1" Type="http://schemas.openxmlformats.org/officeDocument/2006/relationships/theme" Target="../theme/theme5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1" Type="http://schemas.openxmlformats.org/officeDocument/2006/relationships/theme" Target="../theme/theme6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4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1" Type="http://schemas.openxmlformats.org/officeDocument/2006/relationships/theme" Target="../theme/theme7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55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0.xml"/><Relationship Id="rId6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1" Type="http://schemas.openxmlformats.org/officeDocument/2006/relationships/theme" Target="../theme/theme8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64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1" Type="http://schemas.openxmlformats.org/officeDocument/2006/relationships/theme" Target="../theme/theme9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73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0.xml"/><Relationship Id="rId8" Type="http://schemas.openxmlformats.org/officeDocument/2006/relationships/slideLayout" Target="../slideLayouts/slideLayout89.xml"/><Relationship Id="rId7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3.xml"/><Relationship Id="rId11" Type="http://schemas.openxmlformats.org/officeDocument/2006/relationships/theme" Target="../theme/theme10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8"/>
            <a:ext cx="661486" cy="1681198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9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5" y="388794"/>
            <a:ext cx="212642" cy="605296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8"/>
            <a:ext cx="661486" cy="1681198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9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5" y="388794"/>
            <a:ext cx="212642" cy="605296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8"/>
            <a:ext cx="661486" cy="1681198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9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6" y="388794"/>
            <a:ext cx="212642" cy="605296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8"/>
            <a:ext cx="661486" cy="1681198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9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6" y="388794"/>
            <a:ext cx="212642" cy="605296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8"/>
            <a:ext cx="661486" cy="1681198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9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6" y="388794"/>
            <a:ext cx="212642" cy="605296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8"/>
            <a:ext cx="661486" cy="1681198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9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6" y="388794"/>
            <a:ext cx="212642" cy="605296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8"/>
            <a:ext cx="661486" cy="1681198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9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6" y="388794"/>
            <a:ext cx="212642" cy="605296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8"/>
            <a:ext cx="661486" cy="1681198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9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6" y="388794"/>
            <a:ext cx="212642" cy="605296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8"/>
            <a:ext cx="661486" cy="1681198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9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6" y="388794"/>
            <a:ext cx="212642" cy="605296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8"/>
            <a:ext cx="661486" cy="1681198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9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6" y="388794"/>
            <a:ext cx="212642" cy="605296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6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slide" Target="slide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audio" Target="../media/audio2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4.xml"/><Relationship Id="rId2" Type="http://schemas.openxmlformats.org/officeDocument/2006/relationships/audio" Target="../media/audio2.wav"/><Relationship Id="rId1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17.xml"/><Relationship Id="rId6" Type="http://schemas.openxmlformats.org/officeDocument/2006/relationships/audio" Target="../media/audio3.wav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" Target="slide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94210" name="media1.mp3">
            <a:hlinkClick r:id="" action="ppaction://media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5062" y="61913"/>
            <a:ext cx="6096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211" name="文本框 41"/>
          <p:cNvSpPr txBox="1"/>
          <p:nvPr/>
        </p:nvSpPr>
        <p:spPr>
          <a:xfrm flipH="1">
            <a:off x="4154488" y="2397125"/>
            <a:ext cx="4251325" cy="8302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4800" b="1" dirty="0">
                <a:solidFill>
                  <a:srgbClr val="0838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800" b="1" dirty="0">
                <a:solidFill>
                  <a:srgbClr val="0838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endParaRPr lang="zh-CN" altLang="en-US" sz="4800" b="1" dirty="0">
              <a:solidFill>
                <a:srgbClr val="0838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395"/>
          <p:cNvSpPr>
            <a:spLocks noChangeArrowheads="1"/>
          </p:cNvSpPr>
          <p:nvPr/>
        </p:nvSpPr>
        <p:spPr bwMode="auto">
          <a:xfrm>
            <a:off x="4479925" y="3870325"/>
            <a:ext cx="3475038" cy="4349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0"/>
              </a:spcBef>
              <a:buFontTx/>
              <a:buNone/>
            </a:pPr>
            <a:r>
              <a:rPr lang="zh-CN" altLang="en-US" sz="18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主讲：谢志伟</a:t>
            </a:r>
            <a:endParaRPr lang="zh-CN" altLang="zh-CN" sz="1800" b="1" strike="noStrike" noProof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 advClick="0" advTm="7825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7" name="文本框 28676"/>
          <p:cNvSpPr txBox="1"/>
          <p:nvPr/>
        </p:nvSpPr>
        <p:spPr>
          <a:xfrm>
            <a:off x="2409825" y="632302"/>
            <a:ext cx="8223250" cy="6185535"/>
          </a:xfrm>
          <a:prstGeom prst="rect">
            <a:avLst/>
          </a:prstGeom>
          <a:solidFill>
            <a:srgbClr val="C8E3FB"/>
          </a:solidFill>
          <a:ln w="38100" cap="sq" cmpd="sng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 anchor="ctr" anchorCtr="0">
            <a:spAutoFit/>
          </a:bodyPr>
          <a:p>
            <a:pPr eaLnBrk="0" hangingPunct="0"/>
            <a:r>
              <a:rPr lang="en-US" altLang="zh-CN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#include &lt;stdio.h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&gt;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  main()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     </a:t>
            </a:r>
            <a:r>
              <a:rPr lang="en-US" altLang="zh-CN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a,b,c;                                       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/*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定义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个整型变量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int max(int,int);                               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/*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函数声明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printf(“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请输入第一个整数：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”);        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/*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显示提示信息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scanf(“%d”,&amp;a);                             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/*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从键盘获得一个整数，赋给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 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printf(”</a:t>
            </a:r>
            <a:r>
              <a:rPr lang="zh-CN" altLang="en-US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请输入第二个整数：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”);        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/*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显示提示信息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scanf(“%d”,&amp;b);                              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/*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从键盘获得一个整数，赋给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c=max(a,b);                                    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/*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调用函数，求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与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的最大值，赋给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printf(”</a:t>
            </a:r>
            <a:r>
              <a:rPr lang="zh-CN" altLang="en-US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整数</a:t>
            </a:r>
            <a:r>
              <a:rPr lang="en-US" altLang="zh-CN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%d</a:t>
            </a:r>
            <a:r>
              <a:rPr lang="zh-CN" altLang="en-US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%d</a:t>
            </a:r>
            <a:r>
              <a:rPr lang="zh-CN" altLang="en-US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的最大值是：</a:t>
            </a:r>
            <a:r>
              <a:rPr lang="en-US" altLang="zh-CN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%d\n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”,a,b,c);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              /* 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输出最大值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*/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return 0;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max(int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x,int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y)                            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/*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求最大值的函数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  </a:t>
            </a:r>
            <a:r>
              <a:rPr lang="en-US" altLang="zh-CN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int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z;                                           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/*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定义临时变量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z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if(x&gt;y)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z=x;                                           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/*x&gt;y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时，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z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的值等于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x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else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z=y;                                           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/*x&lt;y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时，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z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的值等于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y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return z;                                       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/*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结束函数，返回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z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8" name="文本框 28677"/>
          <p:cNvSpPr txBox="1"/>
          <p:nvPr/>
        </p:nvSpPr>
        <p:spPr>
          <a:xfrm>
            <a:off x="6837363" y="5367338"/>
            <a:ext cx="3522662" cy="1198562"/>
          </a:xfrm>
          <a:prstGeom prst="rect">
            <a:avLst/>
          </a:prstGeom>
          <a:solidFill>
            <a:srgbClr val="33CCCC"/>
          </a:solidFill>
          <a:ln w="12700">
            <a:noFill/>
          </a:ln>
        </p:spPr>
        <p:txBody>
          <a:bodyPr wrap="square" anchor="ctr" anchorCtr="0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运行结果：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请输入第一个整数：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请输入第二个整数：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整数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和整数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的最大值是：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259" name="Text Box 5"/>
          <p:cNvSpPr txBox="1"/>
          <p:nvPr/>
        </p:nvSpPr>
        <p:spPr>
          <a:xfrm>
            <a:off x="1704975" y="79375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引例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bldLvl="0" animBg="1"/>
      <p:bldP spid="28678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63" name="平行四边形 62"/>
          <p:cNvSpPr/>
          <p:nvPr/>
        </p:nvSpPr>
        <p:spPr>
          <a:xfrm rot="10800000" flipH="1">
            <a:off x="0" y="0"/>
            <a:ext cx="2173288" cy="1644650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98307" name="组合 5"/>
          <p:cNvGrpSpPr/>
          <p:nvPr/>
        </p:nvGrpSpPr>
        <p:grpSpPr>
          <a:xfrm>
            <a:off x="5888038" y="2243138"/>
            <a:ext cx="2540000" cy="603250"/>
            <a:chOff x="5947496" y="2541467"/>
            <a:chExt cx="2541161" cy="602565"/>
          </a:xfrm>
        </p:grpSpPr>
        <p:sp>
          <p:nvSpPr>
            <p:cNvPr id="98308" name="文本框 66"/>
            <p:cNvSpPr txBox="1"/>
            <p:nvPr/>
          </p:nvSpPr>
          <p:spPr>
            <a:xfrm>
              <a:off x="6933919" y="2582317"/>
              <a:ext cx="1554738" cy="459852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" action="ppaction://hlinksldjump"/>
                </a:rPr>
                <a:t>C语言特点</a:t>
              </a:r>
              <a:endPara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5947496" y="2541467"/>
              <a:ext cx="602565" cy="602565"/>
              <a:chOff x="7935669" y="3889888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84" name="圆角矩形 83"/>
              <p:cNvSpPr/>
              <p:nvPr/>
            </p:nvSpPr>
            <p:spPr>
              <a:xfrm rot="2700000">
                <a:off x="7935669" y="3889888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8038546" y="4023280"/>
                <a:ext cx="339880" cy="398327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2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  <p:sp>
        <p:nvSpPr>
          <p:cNvPr id="26" name="平行四边形 25"/>
          <p:cNvSpPr/>
          <p:nvPr/>
        </p:nvSpPr>
        <p:spPr>
          <a:xfrm rot="10800000" flipH="1">
            <a:off x="889000" y="227013"/>
            <a:ext cx="2174875" cy="1644650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98311" name="组合 2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325" y="1863725"/>
            <a:ext cx="2944813" cy="33162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8312" name="组合 4"/>
          <p:cNvGrpSpPr/>
          <p:nvPr/>
        </p:nvGrpSpPr>
        <p:grpSpPr>
          <a:xfrm>
            <a:off x="5888038" y="3227388"/>
            <a:ext cx="4064000" cy="603250"/>
            <a:chOff x="6053982" y="3572061"/>
            <a:chExt cx="4065298" cy="602565"/>
          </a:xfrm>
        </p:grpSpPr>
        <p:sp>
          <p:nvSpPr>
            <p:cNvPr id="98313" name="文本框 66"/>
            <p:cNvSpPr txBox="1"/>
            <p:nvPr/>
          </p:nvSpPr>
          <p:spPr>
            <a:xfrm>
              <a:off x="7040405" y="3612911"/>
              <a:ext cx="3078875" cy="459852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" action="ppaction://hlinksldjump"/>
                </a:rPr>
                <a:t>C程序格式和结构特点</a:t>
              </a:r>
              <a:endPara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053982" y="3572061"/>
              <a:ext cx="602565" cy="602565"/>
              <a:chOff x="7935669" y="3889888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22" name="圆角矩形 21"/>
              <p:cNvSpPr/>
              <p:nvPr/>
            </p:nvSpPr>
            <p:spPr>
              <a:xfrm rot="2700000">
                <a:off x="7935669" y="3889888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23" name="文本框 84"/>
              <p:cNvSpPr txBox="1"/>
              <p:nvPr/>
            </p:nvSpPr>
            <p:spPr>
              <a:xfrm>
                <a:off x="8020440" y="4023280"/>
                <a:ext cx="339834" cy="398327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3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  <p:grpSp>
        <p:nvGrpSpPr>
          <p:cNvPr id="98315" name="组合 29"/>
          <p:cNvGrpSpPr/>
          <p:nvPr/>
        </p:nvGrpSpPr>
        <p:grpSpPr>
          <a:xfrm>
            <a:off x="5927725" y="4229100"/>
            <a:ext cx="3149600" cy="603250"/>
            <a:chOff x="6053982" y="3572061"/>
            <a:chExt cx="3151281" cy="602565"/>
          </a:xfrm>
        </p:grpSpPr>
        <p:sp>
          <p:nvSpPr>
            <p:cNvPr id="98316" name="文本框 66"/>
            <p:cNvSpPr txBox="1"/>
            <p:nvPr/>
          </p:nvSpPr>
          <p:spPr>
            <a:xfrm>
              <a:off x="7040405" y="3612911"/>
              <a:ext cx="2164858" cy="459852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" action="ppaction://hlinksldjump"/>
                </a:rPr>
                <a:t>C程序上机步骤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6053982" y="3572061"/>
              <a:ext cx="602565" cy="602565"/>
              <a:chOff x="7935669" y="3889888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33" name="圆角矩形 32"/>
              <p:cNvSpPr/>
              <p:nvPr/>
            </p:nvSpPr>
            <p:spPr>
              <a:xfrm rot="2700000">
                <a:off x="7935669" y="3889888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34" name="文本框 84"/>
              <p:cNvSpPr txBox="1"/>
              <p:nvPr/>
            </p:nvSpPr>
            <p:spPr>
              <a:xfrm>
                <a:off x="8020440" y="4023280"/>
                <a:ext cx="339906" cy="398327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4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2384717" y="2136073"/>
            <a:ext cx="3068422" cy="2718682"/>
            <a:chOff x="2384717" y="2136073"/>
            <a:chExt cx="3068428" cy="27186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六边形 1"/>
            <p:cNvSpPr/>
            <p:nvPr/>
          </p:nvSpPr>
          <p:spPr>
            <a:xfrm rot="1800000">
              <a:off x="2384717" y="2136073"/>
              <a:ext cx="3068428" cy="2718682"/>
            </a:xfrm>
            <a:prstGeom prst="hexagon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28" name="六边形 27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29" name="TextBox 5"/>
            <p:cNvSpPr txBox="1"/>
            <p:nvPr/>
          </p:nvSpPr>
          <p:spPr>
            <a:xfrm>
              <a:off x="2728061" y="2705823"/>
              <a:ext cx="2316555" cy="141577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zh-CN" altLang="en-US" sz="5400" b="1" strike="noStrike" noProof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  <a:endParaRPr lang="en-US" altLang="zh-CN" sz="4400" b="1" strike="noStrike" noProof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/>
              <a:r>
                <a:rPr lang="en-US" altLang="zh-CN" sz="3200" b="1" strike="noStrike" noProof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Contents</a:t>
              </a:r>
              <a:endParaRPr lang="zh-CN" altLang="en-US" sz="3200" b="1" strike="noStrike" noProof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8319" name="组合 5"/>
          <p:cNvGrpSpPr/>
          <p:nvPr/>
        </p:nvGrpSpPr>
        <p:grpSpPr>
          <a:xfrm>
            <a:off x="5907088" y="1266825"/>
            <a:ext cx="3911600" cy="603250"/>
            <a:chOff x="5947496" y="2541467"/>
            <a:chExt cx="3913840" cy="602565"/>
          </a:xfrm>
        </p:grpSpPr>
        <p:sp>
          <p:nvSpPr>
            <p:cNvPr id="98320" name="文本框 66"/>
            <p:cNvSpPr txBox="1"/>
            <p:nvPr/>
          </p:nvSpPr>
          <p:spPr>
            <a:xfrm>
              <a:off x="6933919" y="2582317"/>
              <a:ext cx="2927417" cy="459852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2" action="ppaction://hlinksldjump"/>
                </a:rPr>
                <a:t>程序与程序设计语言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5947496" y="2541467"/>
              <a:ext cx="602565" cy="602565"/>
              <a:chOff x="7935669" y="3889888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7" name="圆角矩形 6"/>
              <p:cNvSpPr/>
              <p:nvPr/>
            </p:nvSpPr>
            <p:spPr>
              <a:xfrm rot="2700000">
                <a:off x="7935669" y="3889888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8038546" y="4023280"/>
                <a:ext cx="339880" cy="398327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1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 advClick="0" advTm="6608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3" name="Text Box 10"/>
          <p:cNvSpPr txBox="1"/>
          <p:nvPr/>
        </p:nvSpPr>
        <p:spPr>
          <a:xfrm>
            <a:off x="3186113" y="87313"/>
            <a:ext cx="5667375" cy="554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000" b="1" dirty="0">
                <a:latin typeface="方正兰亭中黑_GBK" pitchFamily="2" charset="-122"/>
                <a:ea typeface="方正兰亭中黑_GBK" pitchFamily="2" charset="-122"/>
              </a:rPr>
              <a:t>课堂学习目标</a:t>
            </a:r>
            <a:endParaRPr lang="zh-CN" altLang="en-US" sz="3000" b="1" dirty="0">
              <a:latin typeface="方正兰亭中黑_GBK" pitchFamily="2" charset="-122"/>
              <a:ea typeface="方正兰亭中黑_GBK" pitchFamily="2" charset="-122"/>
            </a:endParaRPr>
          </a:p>
        </p:txBody>
      </p:sp>
      <p:sp>
        <p:nvSpPr>
          <p:cNvPr id="16386" name="Text Box 8"/>
          <p:cNvSpPr txBox="1"/>
          <p:nvPr/>
        </p:nvSpPr>
        <p:spPr>
          <a:xfrm>
            <a:off x="2732088" y="1738313"/>
            <a:ext cx="6575425" cy="26304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457200" indent="-528955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了解</a:t>
            </a:r>
            <a:r>
              <a:rPr lang="en-US" altLang="zh-CN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C</a:t>
            </a: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语言的发展历史</a:t>
            </a:r>
            <a:endParaRPr lang="zh-CN" altLang="en-US" sz="2200" b="1" noProof="1" dirty="0">
              <a:latin typeface="方正兰亭纤黑简体" pitchFamily="65" charset="-122"/>
              <a:ea typeface="方正兰亭纤黑简体" pitchFamily="65" charset="-122"/>
            </a:endParaRPr>
          </a:p>
          <a:p>
            <a:pPr marL="457200" indent="-528955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了解</a:t>
            </a:r>
            <a:r>
              <a:rPr lang="en-US" altLang="zh-CN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C</a:t>
            </a: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语言的特点</a:t>
            </a:r>
            <a:endParaRPr lang="zh-CN" altLang="en-US" sz="2200" b="1" noProof="1" dirty="0">
              <a:latin typeface="方正兰亭纤黑简体" pitchFamily="65" charset="-122"/>
              <a:ea typeface="方正兰亭纤黑简体" pitchFamily="65" charset="-122"/>
            </a:endParaRPr>
          </a:p>
          <a:p>
            <a:pPr marL="457200" indent="-528955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掌握</a:t>
            </a:r>
            <a:r>
              <a:rPr lang="en-US" altLang="zh-CN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C</a:t>
            </a: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程序的格式和结构特点</a:t>
            </a:r>
            <a:endParaRPr lang="en-US" altLang="zh-CN" sz="2200" b="1" noProof="1" dirty="0">
              <a:latin typeface="方正兰亭纤黑简体" pitchFamily="65" charset="-122"/>
              <a:ea typeface="方正兰亭纤黑简体" pitchFamily="65" charset="-122"/>
            </a:endParaRPr>
          </a:p>
          <a:p>
            <a:pPr marL="457200" indent="-528955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掌握</a:t>
            </a:r>
            <a:r>
              <a:rPr lang="en-US" altLang="zh-CN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C</a:t>
            </a:r>
            <a:r>
              <a:rPr lang="zh-CN" altLang="en-US" sz="2200" b="1" noProof="1" dirty="0">
                <a:latin typeface="方正兰亭纤黑简体" pitchFamily="65" charset="-122"/>
                <a:ea typeface="方正兰亭纤黑简体" pitchFamily="65" charset="-122"/>
                <a:cs typeface="+mn-cs"/>
              </a:rPr>
              <a:t>程序的上机步骤</a:t>
            </a:r>
            <a:endParaRPr lang="en-US" altLang="zh-CN" sz="2200" b="1" noProof="1" dirty="0">
              <a:latin typeface="方正兰亭纤黑简体" pitchFamily="65" charset="-122"/>
              <a:ea typeface="方正兰亭纤黑简体" pitchFamily="65" charset="-122"/>
            </a:endParaRPr>
          </a:p>
          <a:p>
            <a:pPr>
              <a:lnSpc>
                <a:spcPct val="150000"/>
              </a:lnSpc>
              <a:buFontTx/>
            </a:pPr>
            <a:endParaRPr lang="zh-CN" altLang="en-US" sz="2200" b="1" noProof="1" dirty="0">
              <a:latin typeface="方正兰亭纤黑简体" pitchFamily="65" charset="-122"/>
              <a:ea typeface="方正兰亭纤黑简体" pitchFamily="65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01379" name="文本框 1"/>
          <p:cNvSpPr/>
          <p:nvPr/>
        </p:nvSpPr>
        <p:spPr>
          <a:xfrm>
            <a:off x="5973763" y="2432050"/>
            <a:ext cx="4754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程序与程序设计语言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1380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01</a:t>
              </a:r>
              <a:endParaRPr lang="zh-CN" alt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 spd="med" advClick="0" advTm="5561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9" name="文本占位符 14338"/>
          <p:cNvSpPr>
            <a:spLocks noGrp="1"/>
          </p:cNvSpPr>
          <p:nvPr>
            <p:ph type="body" idx="4294967295"/>
          </p:nvPr>
        </p:nvSpPr>
        <p:spPr>
          <a:xfrm>
            <a:off x="685800" y="793750"/>
            <a:ext cx="7772400" cy="1219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en-US" altLang="zh-CN" dirty="0"/>
          </a:p>
          <a:p>
            <a:pPr marL="457200" lvl="1" indent="0">
              <a:buNone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）程序设计语言的发展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363" name="组合 14362"/>
          <p:cNvGrpSpPr/>
          <p:nvPr/>
        </p:nvGrpSpPr>
        <p:grpSpPr>
          <a:xfrm>
            <a:off x="3022600" y="2438400"/>
            <a:ext cx="6654800" cy="1774825"/>
            <a:chOff x="848" y="2496"/>
            <a:chExt cx="4192" cy="1118"/>
          </a:xfrm>
        </p:grpSpPr>
        <p:sp>
          <p:nvSpPr>
            <p:cNvPr id="103427" name="文本框 14352"/>
            <p:cNvSpPr txBox="1"/>
            <p:nvPr/>
          </p:nvSpPr>
          <p:spPr>
            <a:xfrm>
              <a:off x="848" y="2496"/>
              <a:ext cx="290" cy="1118"/>
            </a:xfrm>
            <a:prstGeom prst="rect">
              <a:avLst/>
            </a:prstGeom>
            <a:gradFill rotWithShape="0">
              <a:gsLst>
                <a:gs pos="0">
                  <a:srgbClr val="0B4F8D"/>
                </a:gs>
                <a:gs pos="50000">
                  <a:schemeClr val="accent1"/>
                </a:gs>
                <a:gs pos="100000">
                  <a:srgbClr val="0B4F8D"/>
                </a:gs>
              </a:gsLst>
              <a:lin ang="5400000" scaled="1"/>
              <a:tileRect/>
            </a:gradFill>
            <a:ln w="12700"/>
            <a:scene3d>
              <a:camera prst="legacyObliqueTopRight">
                <a:rot lat="0" lon="0" rev="0"/>
              </a:camera>
              <a:lightRig rig="legacyFlat2" dir="t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vert="eaVert" anchor="ctr" anchorCtr="0">
              <a:spAutoFit/>
              <a:flatTx/>
            </a:bodyPr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机器语言</a:t>
              </a:r>
              <a:endParaRPr lang="zh-CN" altLang="en-US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103428" name="文本框 14353"/>
            <p:cNvSpPr txBox="1"/>
            <p:nvPr/>
          </p:nvSpPr>
          <p:spPr>
            <a:xfrm>
              <a:off x="1904" y="2496"/>
              <a:ext cx="290" cy="1118"/>
            </a:xfrm>
            <a:prstGeom prst="rect">
              <a:avLst/>
            </a:prstGeom>
            <a:gradFill rotWithShape="0">
              <a:gsLst>
                <a:gs pos="0">
                  <a:srgbClr val="0B4F8D"/>
                </a:gs>
                <a:gs pos="50000">
                  <a:schemeClr val="accent1"/>
                </a:gs>
                <a:gs pos="100000">
                  <a:srgbClr val="0B4F8D"/>
                </a:gs>
              </a:gsLst>
              <a:lin ang="5400000" scaled="1"/>
              <a:tileRect/>
            </a:gradFill>
            <a:ln w="12700"/>
            <a:scene3d>
              <a:camera prst="legacyObliqueTopRight">
                <a:rot lat="0" lon="0" rev="0"/>
              </a:camera>
              <a:lightRig rig="legacyFlat2" dir="t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vert="eaVert" anchor="ctr" anchorCtr="0">
              <a:spAutoFit/>
              <a:flatTx/>
            </a:bodyPr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汇编语言</a:t>
              </a:r>
              <a:endParaRPr lang="zh-CN" altLang="en-US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103429" name="文本框 14354"/>
            <p:cNvSpPr txBox="1"/>
            <p:nvPr/>
          </p:nvSpPr>
          <p:spPr>
            <a:xfrm>
              <a:off x="2960" y="2496"/>
              <a:ext cx="290" cy="1118"/>
            </a:xfrm>
            <a:prstGeom prst="rect">
              <a:avLst/>
            </a:prstGeom>
            <a:gradFill rotWithShape="0">
              <a:gsLst>
                <a:gs pos="0">
                  <a:srgbClr val="0B4F8D"/>
                </a:gs>
                <a:gs pos="50000">
                  <a:schemeClr val="accent1"/>
                </a:gs>
                <a:gs pos="100000">
                  <a:srgbClr val="0B4F8D"/>
                </a:gs>
              </a:gsLst>
              <a:lin ang="5400000" scaled="1"/>
              <a:tileRect/>
            </a:gradFill>
            <a:ln w="12700"/>
            <a:scene3d>
              <a:camera prst="legacyObliqueTopRight">
                <a:rot lat="0" lon="0" rev="0"/>
              </a:camera>
              <a:lightRig rig="legacyFlat2" dir="t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vert="eaVert" anchor="ctr" anchorCtr="0">
              <a:spAutoFit/>
              <a:flatTx/>
            </a:bodyPr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高级语言</a:t>
              </a:r>
              <a:endParaRPr lang="zh-CN" altLang="en-US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103430" name="右箭头 14355"/>
            <p:cNvSpPr/>
            <p:nvPr/>
          </p:nvSpPr>
          <p:spPr>
            <a:xfrm>
              <a:off x="1296" y="2976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431" name="右箭头 14356"/>
            <p:cNvSpPr/>
            <p:nvPr/>
          </p:nvSpPr>
          <p:spPr>
            <a:xfrm>
              <a:off x="2400" y="2976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432" name="文本框 14358"/>
            <p:cNvSpPr txBox="1"/>
            <p:nvPr/>
          </p:nvSpPr>
          <p:spPr>
            <a:xfrm>
              <a:off x="3888" y="2672"/>
              <a:ext cx="1152" cy="232"/>
            </a:xfrm>
            <a:prstGeom prst="rect">
              <a:avLst/>
            </a:prstGeom>
            <a:gradFill rotWithShape="0">
              <a:gsLst>
                <a:gs pos="0">
                  <a:srgbClr val="0A4982"/>
                </a:gs>
                <a:gs pos="50000">
                  <a:schemeClr val="accent1"/>
                </a:gs>
                <a:gs pos="100000">
                  <a:srgbClr val="0A4982"/>
                </a:gs>
              </a:gsLst>
              <a:lin ang="5400000" scaled="1"/>
              <a:tileRect/>
            </a:gradFill>
            <a:ln w="12700"/>
            <a:scene3d>
              <a:camera prst="legacyObliqueTopRight">
                <a:rot lat="0" lon="0" rev="0"/>
              </a:camera>
              <a:lightRig rig="legacyFlat2" dir="t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anchor="ctr" anchorCtr="0">
              <a:spAutoFit/>
              <a:flatTx/>
            </a:bodyPr>
            <a:p>
              <a:pPr algn="ctr"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面向过程</a:t>
              </a:r>
              <a:endParaRPr lang="zh-CN" altLang="en-US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103433" name="文本框 14359"/>
            <p:cNvSpPr txBox="1"/>
            <p:nvPr/>
          </p:nvSpPr>
          <p:spPr>
            <a:xfrm>
              <a:off x="3888" y="3344"/>
              <a:ext cx="1152" cy="232"/>
            </a:xfrm>
            <a:prstGeom prst="rect">
              <a:avLst/>
            </a:prstGeom>
            <a:gradFill rotWithShape="0">
              <a:gsLst>
                <a:gs pos="0">
                  <a:srgbClr val="0A4982"/>
                </a:gs>
                <a:gs pos="50000">
                  <a:schemeClr val="accent1"/>
                </a:gs>
                <a:gs pos="100000">
                  <a:srgbClr val="0A4982"/>
                </a:gs>
              </a:gsLst>
              <a:lin ang="5400000" scaled="1"/>
              <a:tileRect/>
            </a:gradFill>
            <a:ln w="12700"/>
            <a:scene3d>
              <a:camera prst="legacyObliqueTopRight">
                <a:rot lat="0" lon="0" rev="0"/>
              </a:camera>
              <a:lightRig rig="legacyFlat2" dir="t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anchor="ctr" anchorCtr="0">
              <a:spAutoFit/>
              <a:flatTx/>
            </a:bodyPr>
            <a:p>
              <a:pPr algn="ctr"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面向对象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34" name="右箭头 14360"/>
            <p:cNvSpPr/>
            <p:nvPr/>
          </p:nvSpPr>
          <p:spPr>
            <a:xfrm rot="1521747">
              <a:off x="3408" y="3216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435" name="右箭头 14361"/>
            <p:cNvSpPr/>
            <p:nvPr/>
          </p:nvSpPr>
          <p:spPr>
            <a:xfrm rot="-2247786">
              <a:off x="3408" y="2784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510" name="矩形标注 14509"/>
          <p:cNvSpPr/>
          <p:nvPr/>
        </p:nvSpPr>
        <p:spPr>
          <a:xfrm>
            <a:off x="2330450" y="4465638"/>
            <a:ext cx="4800600" cy="922338"/>
          </a:xfrm>
          <a:prstGeom prst="wedgeRectCallout">
            <a:avLst>
              <a:gd name="adj1" fmla="val -32190"/>
              <a:gd name="adj2" fmla="val -77333"/>
            </a:avLst>
          </a:prstGeom>
          <a:solidFill>
            <a:schemeClr val="accent6">
              <a:lumMod val="40000"/>
              <a:lumOff val="60000"/>
            </a:schemeClr>
          </a:solidFill>
          <a:ln w="19050" cap="sq" cmpd="sng">
            <a:solidFill>
              <a:srgbClr val="025AA2"/>
            </a:solidFill>
            <a:prstDash val="dashDot"/>
            <a:miter/>
            <a:headEnd type="none" w="sm" len="sm"/>
            <a:tailEnd type="none" w="sm" len="sm"/>
          </a:ln>
        </p:spPr>
        <p:txBody>
          <a:bodyPr wrap="none" anchor="ctr">
            <a:spAutoFit/>
          </a:bodyPr>
          <a:p>
            <a:pPr lvl="0" algn="l" fontAlgn="base">
              <a:buClrTx/>
              <a:buSzTx/>
              <a:buFontTx/>
            </a:pP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CPU</a:t>
            </a: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指令系统，由</a:t>
            </a: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0</a:t>
            </a: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、</a:t>
            </a: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1</a:t>
            </a: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序列构成的指令码组成</a:t>
            </a:r>
            <a:endParaRPr lang="zh-CN" altLang="en-US" sz="1800" strike="noStrike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fontAlgn="base">
              <a:buClrTx/>
              <a:buSzTx/>
              <a:buFontTx/>
            </a:pP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如：</a:t>
            </a: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10000000      </a:t>
            </a: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加</a:t>
            </a:r>
            <a:endParaRPr lang="zh-CN" altLang="en-US" sz="1800" strike="noStrike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fontAlgn="base">
              <a:buClrTx/>
              <a:buSzTx/>
              <a:buFontTx/>
            </a:pP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       </a:t>
            </a: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10010000      </a:t>
            </a: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减</a:t>
            </a:r>
            <a:endParaRPr lang="zh-CN" altLang="en-US" sz="1800" strike="noStrike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511" name="矩形标注 14510"/>
          <p:cNvSpPr/>
          <p:nvPr/>
        </p:nvSpPr>
        <p:spPr>
          <a:xfrm>
            <a:off x="3841750" y="5002213"/>
            <a:ext cx="2925763" cy="644525"/>
          </a:xfrm>
          <a:prstGeom prst="wedgeRectCallout">
            <a:avLst>
              <a:gd name="adj1" fmla="val -17621"/>
              <a:gd name="adj2" fmla="val -142224"/>
            </a:avLst>
          </a:prstGeom>
          <a:solidFill>
            <a:schemeClr val="accent6">
              <a:lumMod val="40000"/>
              <a:lumOff val="60000"/>
            </a:schemeClr>
          </a:solidFill>
          <a:ln w="19050" cap="sq" cmpd="sng">
            <a:solidFill>
              <a:srgbClr val="025AA2"/>
            </a:solidFill>
            <a:prstDash val="dashDot"/>
            <a:miter/>
            <a:headEnd type="none" w="sm" len="sm"/>
            <a:tailEnd type="none" w="sm" len="sm"/>
          </a:ln>
        </p:spPr>
        <p:txBody>
          <a:bodyPr wrap="square" anchor="ctr">
            <a:spAutoFit/>
          </a:bodyPr>
          <a:p>
            <a:pPr lvl="0" algn="l" fontAlgn="base">
              <a:buClrTx/>
              <a:buSzTx/>
              <a:buFontTx/>
            </a:pP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用助记符号描述的指令系统</a:t>
            </a:r>
            <a:endParaRPr lang="zh-CN" altLang="en-US" sz="1800" strike="noStrike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fontAlgn="base">
              <a:buClrTx/>
              <a:buSzTx/>
              <a:buFontTx/>
            </a:pP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如  </a:t>
            </a: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ADD    A,  B</a:t>
            </a:r>
            <a:endParaRPr lang="zh-CN" altLang="en-US" sz="1800" strike="noStrike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4514" name="组合 14513"/>
          <p:cNvGrpSpPr/>
          <p:nvPr/>
        </p:nvGrpSpPr>
        <p:grpSpPr>
          <a:xfrm>
            <a:off x="3233738" y="4249738"/>
            <a:ext cx="1916112" cy="1008062"/>
            <a:chOff x="1004" y="2689"/>
            <a:chExt cx="2312" cy="600"/>
          </a:xfrm>
        </p:grpSpPr>
        <p:cxnSp>
          <p:nvCxnSpPr>
            <p:cNvPr id="17423" name="曲线连接符 14511"/>
            <p:cNvCxnSpPr>
              <a:stCxn id="14510" idx="4"/>
              <a:endCxn id="103428" idx="2"/>
            </p:cNvCxnSpPr>
            <p:nvPr/>
          </p:nvCxnSpPr>
          <p:spPr>
            <a:xfrm rot="5400000" flipV="1">
              <a:off x="2049" y="1633"/>
              <a:ext cx="2" cy="2103"/>
            </a:xfrm>
            <a:prstGeom prst="curvedConnector3">
              <a:avLst>
                <a:gd name="adj1" fmla="val 4037508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 cap="sq" cmpd="sng">
              <a:solidFill>
                <a:srgbClr val="025AA2"/>
              </a:solidFill>
              <a:prstDash val="dashDot"/>
              <a:miter/>
              <a:headEnd type="none" w="sm" len="sm"/>
              <a:tailEnd type="none" w="sm" len="sm"/>
            </a:ln>
          </p:spPr>
        </p:cxnSp>
        <p:sp>
          <p:nvSpPr>
            <p:cNvPr id="17424" name="矩形标注 14512"/>
            <p:cNvSpPr/>
            <p:nvPr/>
          </p:nvSpPr>
          <p:spPr>
            <a:xfrm>
              <a:off x="1166" y="3070"/>
              <a:ext cx="2150" cy="219"/>
            </a:xfrm>
            <a:prstGeom prst="wedgeRectCallout">
              <a:avLst>
                <a:gd name="adj1" fmla="val -13005"/>
                <a:gd name="adj2" fmla="val -9166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 cap="sq" cmpd="sng">
              <a:solidFill>
                <a:srgbClr val="025AA2"/>
              </a:solidFill>
              <a:prstDash val="dashDot"/>
              <a:miter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p>
              <a:pPr lvl="0" algn="l" fontAlgn="base">
                <a:buClrTx/>
                <a:buSzTx/>
                <a:buFontTx/>
              </a:pPr>
              <a:r>
                <a:rPr lang="zh-CN" altLang="en-US" sz="1800" strike="noStrike" noProof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面向机器的语言</a:t>
              </a:r>
              <a:endPara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4515" name="矩形标注 14514"/>
          <p:cNvSpPr/>
          <p:nvPr/>
        </p:nvSpPr>
        <p:spPr>
          <a:xfrm>
            <a:off x="6478588" y="1844675"/>
            <a:ext cx="3154363" cy="368300"/>
          </a:xfrm>
          <a:prstGeom prst="wedgeRectCallout">
            <a:avLst>
              <a:gd name="adj1" fmla="val -1403"/>
              <a:gd name="adj2" fmla="val 100639"/>
            </a:avLst>
          </a:prstGeom>
          <a:solidFill>
            <a:schemeClr val="accent6">
              <a:lumMod val="40000"/>
              <a:lumOff val="60000"/>
            </a:schemeClr>
          </a:solidFill>
          <a:ln w="19050" cap="sq" cmpd="sng">
            <a:solidFill>
              <a:srgbClr val="025AA2"/>
            </a:solidFill>
            <a:prstDash val="dashDot"/>
            <a:miter/>
            <a:headEnd type="none" w="sm" len="sm"/>
            <a:tailEnd type="none" w="sm" len="sm"/>
          </a:ln>
        </p:spPr>
        <p:txBody>
          <a:bodyPr wrap="none" anchor="ctr">
            <a:spAutoFit/>
          </a:bodyPr>
          <a:p>
            <a:pPr fontAlgn="base"/>
            <a:r>
              <a:rPr lang="zh-CN" altLang="en-US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程序设计是数据被加工的过程</a:t>
            </a:r>
            <a:endParaRPr lang="zh-CN" altLang="en-US" strike="noStrike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16" name="矩形标注 14515"/>
          <p:cNvSpPr/>
          <p:nvPr/>
        </p:nvSpPr>
        <p:spPr>
          <a:xfrm>
            <a:off x="5149850" y="4813300"/>
            <a:ext cx="3840163" cy="920750"/>
          </a:xfrm>
          <a:prstGeom prst="wedgeRectCallout">
            <a:avLst>
              <a:gd name="adj1" fmla="val 22867"/>
              <a:gd name="adj2" fmla="val -121281"/>
            </a:avLst>
          </a:prstGeom>
          <a:solidFill>
            <a:schemeClr val="accent6">
              <a:lumMod val="40000"/>
              <a:lumOff val="60000"/>
            </a:schemeClr>
          </a:solidFill>
          <a:ln w="19050" cap="sq" cmpd="sng">
            <a:solidFill>
              <a:srgbClr val="025AA2"/>
            </a:solidFill>
            <a:prstDash val="dashDot"/>
            <a:miter/>
            <a:headEnd type="none" w="sm" len="sm"/>
            <a:tailEnd type="none" w="sm" len="sm"/>
          </a:ln>
        </p:spPr>
        <p:txBody>
          <a:bodyPr wrap="square" anchor="ctr">
            <a:spAutoFit/>
          </a:bodyPr>
          <a:p>
            <a:pPr lvl="0" algn="l" fontAlgn="base">
              <a:buClrTx/>
              <a:buSzTx/>
              <a:buFontTx/>
            </a:pP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客观世界可以分类，对象是类的实例</a:t>
            </a:r>
            <a:endParaRPr lang="zh-CN" altLang="en-US" sz="1800" strike="noStrike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fontAlgn="base">
              <a:buClrTx/>
              <a:buSzTx/>
              <a:buFontTx/>
            </a:pP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对象是数据和方法的封装</a:t>
            </a:r>
            <a:endParaRPr lang="zh-CN" altLang="en-US" sz="1800" strike="noStrike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 fontAlgn="base">
              <a:buClrTx/>
              <a:buSzTx/>
              <a:buFontTx/>
            </a:pP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对象间通过发送和接受消息发生联系</a:t>
            </a:r>
            <a:endParaRPr lang="zh-CN" altLang="en-US" sz="1800" strike="noStrike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518" name="矩形标注 14517"/>
          <p:cNvSpPr/>
          <p:nvPr/>
        </p:nvSpPr>
        <p:spPr>
          <a:xfrm>
            <a:off x="5308600" y="4633913"/>
            <a:ext cx="4298950" cy="368300"/>
          </a:xfrm>
          <a:prstGeom prst="wedgeRectCallout">
            <a:avLst>
              <a:gd name="adj1" fmla="val 36687"/>
              <a:gd name="adj2" fmla="val -156379"/>
            </a:avLst>
          </a:prstGeom>
          <a:solidFill>
            <a:schemeClr val="accent6">
              <a:lumMod val="40000"/>
              <a:lumOff val="60000"/>
            </a:schemeClr>
          </a:solidFill>
          <a:ln w="19050" cap="sq" cmpd="sng">
            <a:solidFill>
              <a:srgbClr val="025AA2"/>
            </a:solidFill>
            <a:prstDash val="dashDot"/>
            <a:miter/>
            <a:headEnd type="none" w="sm" len="sm"/>
            <a:tailEnd type="none" w="sm" len="sm"/>
          </a:ln>
        </p:spPr>
        <p:txBody>
          <a:bodyPr wrap="square" anchor="ctr">
            <a:spAutoFit/>
          </a:bodyPr>
          <a:p>
            <a:pPr lvl="0" algn="l" fontAlgn="base">
              <a:buClrTx/>
              <a:buSzTx/>
              <a:buFontTx/>
            </a:pPr>
            <a:r>
              <a:rPr lang="zh-CN" altLang="en-US" sz="1800" strike="noStrike" noProof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程序设计关键是定义类，并由类派生对象</a:t>
            </a:r>
            <a:endParaRPr lang="zh-CN" altLang="en-US" sz="1800" strike="noStrike" noProof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4534" name="组合 14533"/>
          <p:cNvGrpSpPr/>
          <p:nvPr/>
        </p:nvGrpSpPr>
        <p:grpSpPr>
          <a:xfrm>
            <a:off x="3616325" y="3200400"/>
            <a:ext cx="7448550" cy="3371850"/>
            <a:chOff x="804" y="756"/>
            <a:chExt cx="4692" cy="2124"/>
          </a:xfrm>
        </p:grpSpPr>
        <p:sp>
          <p:nvSpPr>
            <p:cNvPr id="103445" name="矩形 14534"/>
            <p:cNvSpPr/>
            <p:nvPr/>
          </p:nvSpPr>
          <p:spPr>
            <a:xfrm>
              <a:off x="804" y="756"/>
              <a:ext cx="4692" cy="2124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rgbClr val="00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03446" name="组合 14535"/>
            <p:cNvGrpSpPr/>
            <p:nvPr/>
          </p:nvGrpSpPr>
          <p:grpSpPr>
            <a:xfrm>
              <a:off x="1076" y="866"/>
              <a:ext cx="4032" cy="1738"/>
              <a:chOff x="1076" y="866"/>
              <a:chExt cx="4032" cy="1738"/>
            </a:xfrm>
          </p:grpSpPr>
          <p:sp>
            <p:nvSpPr>
              <p:cNvPr id="103447" name="文本框 14536"/>
              <p:cNvSpPr txBox="1"/>
              <p:nvPr/>
            </p:nvSpPr>
            <p:spPr>
              <a:xfrm>
                <a:off x="1076" y="866"/>
                <a:ext cx="1159" cy="232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ctr"/>
                <a:r>
                  <a:rPr lang="zh-CN" altLang="en-US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隶书" pitchFamily="49" charset="-122"/>
                  </a:rPr>
                  <a:t>冯</a:t>
                </a:r>
                <a:r>
                  <a:rPr lang="en-US" altLang="zh-CN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隶书" pitchFamily="49" charset="-122"/>
                  </a:rPr>
                  <a:t>.</a:t>
                </a:r>
                <a:r>
                  <a:rPr lang="zh-CN" altLang="en-US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隶书" pitchFamily="49" charset="-122"/>
                  </a:rPr>
                  <a:t>诺依曼结构</a:t>
                </a:r>
                <a:r>
                  <a:rPr lang="zh-CN" altLang="en-US" dirty="0">
                    <a:latin typeface="Times New Roman" panose="02020603050405020304" pitchFamily="18" charset="0"/>
                    <a:ea typeface="隶书" pitchFamily="49" charset="-122"/>
                  </a:rPr>
                  <a:t>：</a:t>
                </a:r>
                <a:endParaRPr lang="zh-CN" altLang="en-US" dirty="0">
                  <a:latin typeface="Times New Roman" panose="02020603050405020304" pitchFamily="18" charset="0"/>
                  <a:ea typeface="隶书" pitchFamily="49" charset="-122"/>
                </a:endParaRPr>
              </a:p>
            </p:txBody>
          </p:sp>
          <p:sp>
            <p:nvSpPr>
              <p:cNvPr id="103448" name="文本框 14537"/>
              <p:cNvSpPr txBox="1"/>
              <p:nvPr/>
            </p:nvSpPr>
            <p:spPr>
              <a:xfrm>
                <a:off x="1273" y="1861"/>
                <a:ext cx="526" cy="232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ea typeface="隶书" pitchFamily="49" charset="-122"/>
                  </a:rPr>
                  <a:t>计算机</a:t>
                </a:r>
                <a:endParaRPr lang="zh-CN" altLang="en-US" dirty="0">
                  <a:latin typeface="Times New Roman" panose="02020603050405020304" pitchFamily="18" charset="0"/>
                  <a:ea typeface="隶书" pitchFamily="49" charset="-122"/>
                </a:endParaRPr>
              </a:p>
            </p:txBody>
          </p:sp>
          <p:sp>
            <p:nvSpPr>
              <p:cNvPr id="103449" name="左大括号 14538"/>
              <p:cNvSpPr/>
              <p:nvPr/>
            </p:nvSpPr>
            <p:spPr>
              <a:xfrm>
                <a:off x="1944" y="1500"/>
                <a:ext cx="252" cy="1104"/>
              </a:xfrm>
              <a:prstGeom prst="leftBrace">
                <a:avLst>
                  <a:gd name="adj1" fmla="val 36365"/>
                  <a:gd name="adj2" fmla="val 50000"/>
                </a:avLst>
              </a:prstGeom>
              <a:solidFill>
                <a:schemeClr val="bg1"/>
              </a:solidFill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450" name="文本框 14539"/>
              <p:cNvSpPr txBox="1"/>
              <p:nvPr/>
            </p:nvSpPr>
            <p:spPr>
              <a:xfrm>
                <a:off x="3085" y="1129"/>
                <a:ext cx="526" cy="232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ea typeface="隶书" pitchFamily="49" charset="-122"/>
                  </a:rPr>
                  <a:t>运算器</a:t>
                </a:r>
                <a:endParaRPr lang="zh-CN" altLang="en-US" dirty="0">
                  <a:latin typeface="Times New Roman" panose="02020603050405020304" pitchFamily="18" charset="0"/>
                  <a:ea typeface="隶书" pitchFamily="49" charset="-122"/>
                </a:endParaRPr>
              </a:p>
            </p:txBody>
          </p:sp>
          <p:sp>
            <p:nvSpPr>
              <p:cNvPr id="103451" name="文本框 14540"/>
              <p:cNvSpPr txBox="1"/>
              <p:nvPr/>
            </p:nvSpPr>
            <p:spPr>
              <a:xfrm>
                <a:off x="3085" y="1507"/>
                <a:ext cx="526" cy="232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ea typeface="隶书" pitchFamily="49" charset="-122"/>
                  </a:rPr>
                  <a:t>控制器</a:t>
                </a:r>
                <a:endParaRPr lang="zh-CN" altLang="en-US" dirty="0">
                  <a:latin typeface="Times New Roman" panose="02020603050405020304" pitchFamily="18" charset="0"/>
                  <a:ea typeface="隶书" pitchFamily="49" charset="-122"/>
                </a:endParaRPr>
              </a:p>
            </p:txBody>
          </p:sp>
          <p:sp>
            <p:nvSpPr>
              <p:cNvPr id="103452" name="文本框 14541"/>
              <p:cNvSpPr txBox="1"/>
              <p:nvPr/>
            </p:nvSpPr>
            <p:spPr>
              <a:xfrm>
                <a:off x="3085" y="1885"/>
                <a:ext cx="526" cy="232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ea typeface="隶书" pitchFamily="49" charset="-122"/>
                  </a:rPr>
                  <a:t>存储器</a:t>
                </a:r>
                <a:endParaRPr lang="zh-CN" altLang="en-US" dirty="0">
                  <a:latin typeface="Times New Roman" panose="02020603050405020304" pitchFamily="18" charset="0"/>
                  <a:ea typeface="隶书" pitchFamily="49" charset="-122"/>
                </a:endParaRPr>
              </a:p>
            </p:txBody>
          </p:sp>
          <p:sp>
            <p:nvSpPr>
              <p:cNvPr id="103453" name="文本框 14542"/>
              <p:cNvSpPr txBox="1"/>
              <p:nvPr/>
            </p:nvSpPr>
            <p:spPr>
              <a:xfrm>
                <a:off x="2377" y="1507"/>
                <a:ext cx="526" cy="232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ea typeface="隶书" pitchFamily="49" charset="-122"/>
                  </a:rPr>
                  <a:t>主机：</a:t>
                </a:r>
                <a:endParaRPr lang="zh-CN" altLang="en-US" dirty="0">
                  <a:latin typeface="Times New Roman" panose="02020603050405020304" pitchFamily="18" charset="0"/>
                  <a:ea typeface="隶书" pitchFamily="49" charset="-122"/>
                </a:endParaRPr>
              </a:p>
            </p:txBody>
          </p:sp>
          <p:sp>
            <p:nvSpPr>
              <p:cNvPr id="103454" name="文本框 14543"/>
              <p:cNvSpPr txBox="1"/>
              <p:nvPr/>
            </p:nvSpPr>
            <p:spPr>
              <a:xfrm>
                <a:off x="2582" y="2330"/>
                <a:ext cx="1678" cy="232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</a:ln>
            </p:spPr>
            <p:txBody>
              <a:bodyPr wrap="none" anchor="t" anchorCtr="0">
                <a:spAutoFit/>
              </a:bodyPr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ea typeface="隶书" pitchFamily="49" charset="-122"/>
                  </a:rPr>
                  <a:t>I/O</a:t>
                </a:r>
                <a:r>
                  <a:rPr lang="zh-CN" altLang="en-US" dirty="0">
                    <a:latin typeface="Times New Roman" panose="02020603050405020304" pitchFamily="18" charset="0"/>
                    <a:ea typeface="隶书" pitchFamily="49" charset="-122"/>
                  </a:rPr>
                  <a:t>设备：键盘、显示器等</a:t>
                </a:r>
                <a:endParaRPr lang="zh-CN" altLang="en-US" dirty="0">
                  <a:latin typeface="Times New Roman" panose="02020603050405020304" pitchFamily="18" charset="0"/>
                  <a:ea typeface="隶书" pitchFamily="49" charset="-122"/>
                </a:endParaRPr>
              </a:p>
            </p:txBody>
          </p:sp>
          <p:sp>
            <p:nvSpPr>
              <p:cNvPr id="103455" name="左大括号 14544"/>
              <p:cNvSpPr/>
              <p:nvPr/>
            </p:nvSpPr>
            <p:spPr>
              <a:xfrm>
                <a:off x="2869" y="1272"/>
                <a:ext cx="131" cy="804"/>
              </a:xfrm>
              <a:prstGeom prst="leftBrace">
                <a:avLst>
                  <a:gd name="adj1" fmla="val 50946"/>
                  <a:gd name="adj2" fmla="val 50000"/>
                </a:avLst>
              </a:prstGeom>
              <a:solidFill>
                <a:schemeClr val="bg1"/>
              </a:solidFill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03456" name="组合 14545"/>
              <p:cNvGrpSpPr/>
              <p:nvPr/>
            </p:nvGrpSpPr>
            <p:grpSpPr>
              <a:xfrm>
                <a:off x="3756" y="1248"/>
                <a:ext cx="1352" cy="444"/>
                <a:chOff x="3756" y="1248"/>
                <a:chExt cx="1352" cy="444"/>
              </a:xfrm>
            </p:grpSpPr>
            <p:sp>
              <p:nvSpPr>
                <p:cNvPr id="103457" name="右大括号 14546"/>
                <p:cNvSpPr/>
                <p:nvPr/>
              </p:nvSpPr>
              <p:spPr>
                <a:xfrm>
                  <a:off x="3756" y="1248"/>
                  <a:ext cx="107" cy="444"/>
                </a:xfrm>
                <a:prstGeom prst="rightBrace">
                  <a:avLst>
                    <a:gd name="adj1" fmla="val 34444"/>
                    <a:gd name="adj2" fmla="val 50000"/>
                  </a:avLst>
                </a:prstGeom>
                <a:solidFill>
                  <a:schemeClr val="bg1"/>
                </a:solidFill>
                <a:ln w="38100" cap="flat" cmpd="sng">
                  <a:solidFill>
                    <a:srgbClr val="3333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>
                    <a:latin typeface="Calibri" panose="020F050202020403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3458" name="文本框 14547"/>
                <p:cNvSpPr txBox="1"/>
                <p:nvPr/>
              </p:nvSpPr>
              <p:spPr>
                <a:xfrm>
                  <a:off x="4037" y="1322"/>
                  <a:ext cx="1071" cy="23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noFill/>
                </a:ln>
              </p:spPr>
              <p:txBody>
                <a:bodyPr wrap="none" anchor="t" anchorCtr="0">
                  <a:spAutoFit/>
                </a:bodyPr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  <a:ea typeface="隶书" pitchFamily="49" charset="-122"/>
                    </a:rPr>
                    <a:t>中央处理器</a:t>
                  </a:r>
                  <a:r>
                    <a:rPr lang="en-US" altLang="zh-CN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隶书" pitchFamily="49" charset="-122"/>
                    </a:rPr>
                    <a:t>CPU</a:t>
                  </a:r>
                  <a:endParaRPr lang="en-US" altLang="zh-CN">
                    <a:latin typeface="Times New Roman" panose="02020603050405020304" pitchFamily="18" charset="0"/>
                    <a:ea typeface="隶书" pitchFamily="49" charset="-122"/>
                  </a:endParaRPr>
                </a:p>
              </p:txBody>
            </p:sp>
          </p:grpSp>
        </p:grpSp>
      </p:grpSp>
      <p:sp>
        <p:nvSpPr>
          <p:cNvPr id="103459" name="圆角矩形 14380">
            <a:hlinkClick r:id="" action="ppaction://hlinksldjump"/>
          </p:cNvPr>
          <p:cNvSpPr/>
          <p:nvPr/>
        </p:nvSpPr>
        <p:spPr>
          <a:xfrm>
            <a:off x="3200400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60" name="圆角矩形 14516"/>
          <p:cNvSpPr/>
          <p:nvPr/>
        </p:nvSpPr>
        <p:spPr>
          <a:xfrm>
            <a:off x="2628900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61" name="Text Box 5"/>
          <p:cNvSpPr txBox="1"/>
          <p:nvPr/>
        </p:nvSpPr>
        <p:spPr>
          <a:xfrm>
            <a:off x="862013" y="114300"/>
            <a:ext cx="10467975" cy="124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 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程序与程序设计语言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  <a:p>
            <a:pPr marL="342900" indent="-342900" algn="ctr">
              <a:spcBef>
                <a:spcPct val="50000"/>
              </a:spcBef>
            </a:pP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45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45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45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45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45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4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45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ldLvl="5" build="p"/>
      <p:bldP spid="14510" grpId="0" bldLvl="0" animBg="1"/>
      <p:bldP spid="14511" grpId="0" bldLvl="0" animBg="1"/>
      <p:bldP spid="14515" grpId="0" bldLvl="0" animBg="1"/>
      <p:bldP spid="14516" grpId="0" bldLvl="0" animBg="1"/>
      <p:bldP spid="1451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文本占位符 22529"/>
          <p:cNvSpPr>
            <a:spLocks noGrp="1"/>
          </p:cNvSpPr>
          <p:nvPr>
            <p:ph type="body" idx="4294967295"/>
          </p:nvPr>
        </p:nvSpPr>
        <p:spPr>
          <a:xfrm>
            <a:off x="2433638" y="4035425"/>
            <a:ext cx="6400800" cy="2419350"/>
          </a:xfrm>
          <a:prstGeom prst="rect">
            <a:avLst/>
          </a:prstGeom>
          <a:noFill/>
          <a:ln w="9525" cap="flat" cmpd="sng" algn="ctr">
            <a:noFill/>
            <a:prstDash val="solid"/>
          </a:ln>
        </p:spPr>
        <p:txBody>
          <a:bodyPr anchor="t"/>
          <a:p>
            <a:pPr marL="466725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这三种结构的共同特点是：</a:t>
            </a: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  <a:p>
            <a:pPr marL="466725" marR="0" indent="236855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只有单一的入口和单一的出口；</a:t>
            </a: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结构中的每个部分都有被执行的可能；</a:t>
            </a: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结构内不应出现永不终止的死循环。</a:t>
            </a: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105474" name="Text Box 5"/>
          <p:cNvSpPr txBox="1"/>
          <p:nvPr/>
        </p:nvSpPr>
        <p:spPr>
          <a:xfrm>
            <a:off x="1704975" y="79375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、程序与程序设计语言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4339" name="文本占位符 14338"/>
          <p:cNvSpPr>
            <a:spLocks noGrp="1"/>
          </p:cNvSpPr>
          <p:nvPr/>
        </p:nvSpPr>
        <p:spPr>
          <a:xfrm>
            <a:off x="685800" y="793750"/>
            <a:ext cx="7772400" cy="1219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1" indent="0" algn="l" rtl="0" eaLnBrk="1" latinLnBrk="0" hangingPunct="1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）程序设计语言的功能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363" name="组合 14362"/>
          <p:cNvGrpSpPr/>
          <p:nvPr/>
        </p:nvGrpSpPr>
        <p:grpSpPr>
          <a:xfrm>
            <a:off x="2590800" y="1800225"/>
            <a:ext cx="3302000" cy="2235200"/>
            <a:chOff x="2960" y="2496"/>
            <a:chExt cx="2080" cy="1408"/>
          </a:xfrm>
        </p:grpSpPr>
        <p:sp>
          <p:nvSpPr>
            <p:cNvPr id="105477" name="文本框 14354"/>
            <p:cNvSpPr txBox="1"/>
            <p:nvPr/>
          </p:nvSpPr>
          <p:spPr>
            <a:xfrm>
              <a:off x="2960" y="2496"/>
              <a:ext cx="290" cy="1408"/>
            </a:xfrm>
            <a:prstGeom prst="rect">
              <a:avLst/>
            </a:prstGeom>
            <a:gradFill rotWithShape="0">
              <a:gsLst>
                <a:gs pos="0">
                  <a:srgbClr val="0B4F8D"/>
                </a:gs>
                <a:gs pos="50000">
                  <a:schemeClr val="accent1"/>
                </a:gs>
                <a:gs pos="100000">
                  <a:srgbClr val="0B4F8D"/>
                </a:gs>
              </a:gsLst>
              <a:lin ang="5400000" scaled="1"/>
              <a:tileRect/>
            </a:gradFill>
            <a:ln w="12700"/>
            <a:scene3d>
              <a:camera prst="legacyObliqueTopRight">
                <a:rot lat="0" lon="0" rev="0"/>
              </a:camera>
              <a:lightRig rig="legacyFlat2" dir="t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vert="eaVert" wrap="square" anchor="ctr" anchorCtr="0">
              <a:spAutoFit/>
              <a:flatTx/>
            </a:bodyPr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程序设计语言的功能</a:t>
              </a:r>
              <a:endParaRPr lang="zh-CN" altLang="en-US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105478" name="文本框 14358"/>
            <p:cNvSpPr txBox="1"/>
            <p:nvPr/>
          </p:nvSpPr>
          <p:spPr>
            <a:xfrm>
              <a:off x="3888" y="2672"/>
              <a:ext cx="1152" cy="232"/>
            </a:xfrm>
            <a:prstGeom prst="rect">
              <a:avLst/>
            </a:prstGeom>
            <a:gradFill rotWithShape="0">
              <a:gsLst>
                <a:gs pos="0">
                  <a:srgbClr val="0A4982"/>
                </a:gs>
                <a:gs pos="50000">
                  <a:schemeClr val="accent1"/>
                </a:gs>
                <a:gs pos="100000">
                  <a:srgbClr val="0A4982"/>
                </a:gs>
              </a:gsLst>
              <a:lin ang="5400000" scaled="1"/>
              <a:tileRect/>
            </a:gradFill>
            <a:ln w="12700"/>
            <a:scene3d>
              <a:camera prst="legacyObliqueTopRight">
                <a:rot lat="0" lon="0" rev="0"/>
              </a:camera>
              <a:lightRig rig="legacyFlat2" dir="t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anchor="ctr" anchorCtr="0">
              <a:spAutoFit/>
              <a:flatTx/>
            </a:bodyPr>
            <a:p>
              <a:pPr algn="ctr"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数据表达</a:t>
              </a:r>
              <a:endParaRPr lang="zh-CN" altLang="en-US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105479" name="文本框 14359"/>
            <p:cNvSpPr txBox="1"/>
            <p:nvPr/>
          </p:nvSpPr>
          <p:spPr>
            <a:xfrm>
              <a:off x="3888" y="3344"/>
              <a:ext cx="1152" cy="232"/>
            </a:xfrm>
            <a:prstGeom prst="rect">
              <a:avLst/>
            </a:prstGeom>
            <a:gradFill rotWithShape="0">
              <a:gsLst>
                <a:gs pos="0">
                  <a:srgbClr val="0A4982"/>
                </a:gs>
                <a:gs pos="50000">
                  <a:schemeClr val="accent1"/>
                </a:gs>
                <a:gs pos="100000">
                  <a:srgbClr val="0A4982"/>
                </a:gs>
              </a:gsLst>
              <a:lin ang="5400000" scaled="1"/>
              <a:tileRect/>
            </a:gradFill>
            <a:ln w="12700"/>
            <a:scene3d>
              <a:camera prst="legacyObliqueTopRight">
                <a:rot lat="0" lon="0" rev="0"/>
              </a:camera>
              <a:lightRig rig="legacyFlat2" dir="t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anchor="ctr" anchorCtr="0">
              <a:spAutoFit/>
              <a:flatTx/>
            </a:bodyPr>
            <a:p>
              <a:pPr algn="ctr"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流程控制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480" name="右箭头 14360"/>
            <p:cNvSpPr/>
            <p:nvPr/>
          </p:nvSpPr>
          <p:spPr>
            <a:xfrm rot="1521747">
              <a:off x="3408" y="3216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481" name="右箭头 14361"/>
            <p:cNvSpPr/>
            <p:nvPr/>
          </p:nvSpPr>
          <p:spPr>
            <a:xfrm rot="-2247786">
              <a:off x="3408" y="2784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5482" name="右箭头 14355"/>
          <p:cNvSpPr/>
          <p:nvPr/>
        </p:nvSpPr>
        <p:spPr>
          <a:xfrm>
            <a:off x="6127750" y="3146425"/>
            <a:ext cx="762000" cy="3048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anchor="t" anchorCtr="0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5483" name="右箭头 14361"/>
          <p:cNvSpPr/>
          <p:nvPr/>
        </p:nvSpPr>
        <p:spPr>
          <a:xfrm rot="-2247786">
            <a:off x="6070600" y="2640013"/>
            <a:ext cx="762000" cy="3048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anchor="t" anchorCtr="0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5484" name="右箭头 14360"/>
          <p:cNvSpPr/>
          <p:nvPr/>
        </p:nvSpPr>
        <p:spPr>
          <a:xfrm rot="1521747">
            <a:off x="6099175" y="3544888"/>
            <a:ext cx="762000" cy="3048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anchor="t" anchorCtr="0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5485" name="文本框 14358"/>
          <p:cNvSpPr txBox="1"/>
          <p:nvPr/>
        </p:nvSpPr>
        <p:spPr>
          <a:xfrm>
            <a:off x="6846888" y="2393950"/>
            <a:ext cx="1828800" cy="368300"/>
          </a:xfrm>
          <a:prstGeom prst="rect">
            <a:avLst/>
          </a:prstGeom>
          <a:gradFill rotWithShape="0">
            <a:gsLst>
              <a:gs pos="0">
                <a:srgbClr val="0A4982"/>
              </a:gs>
              <a:gs pos="50000">
                <a:schemeClr val="accent1"/>
              </a:gs>
              <a:gs pos="100000">
                <a:srgbClr val="0A4982"/>
              </a:gs>
            </a:gsLst>
            <a:lin ang="5400000" scaled="1"/>
            <a:tileRect/>
          </a:gradFill>
          <a:ln w="12700"/>
          <a:scene3d>
            <a:camera prst="legacyObliqueTopRight">
              <a:rot lat="0" lon="0" rev="0"/>
            </a:camera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 anchorCtr="0">
            <a:spAutoFit/>
            <a:flatTx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顺序控制结构</a:t>
            </a:r>
            <a:endParaRPr lang="zh-CN" altLang="en-US" dirty="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5486" name="文本框 14358"/>
          <p:cNvSpPr txBox="1"/>
          <p:nvPr/>
        </p:nvSpPr>
        <p:spPr>
          <a:xfrm>
            <a:off x="6889750" y="3027363"/>
            <a:ext cx="1828800" cy="368300"/>
          </a:xfrm>
          <a:prstGeom prst="rect">
            <a:avLst/>
          </a:prstGeom>
          <a:gradFill rotWithShape="0">
            <a:gsLst>
              <a:gs pos="0">
                <a:srgbClr val="0A4982"/>
              </a:gs>
              <a:gs pos="50000">
                <a:schemeClr val="accent1"/>
              </a:gs>
              <a:gs pos="100000">
                <a:srgbClr val="0A4982"/>
              </a:gs>
            </a:gsLst>
            <a:lin ang="5400000" scaled="1"/>
            <a:tileRect/>
          </a:gradFill>
          <a:ln w="12700"/>
          <a:scene3d>
            <a:camera prst="legacyObliqueTopRight">
              <a:rot lat="0" lon="0" rev="0"/>
            </a:camera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 anchorCtr="0">
            <a:spAutoFit/>
            <a:flatTx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分支控制结构</a:t>
            </a:r>
            <a:endParaRPr lang="zh-CN" altLang="en-US" dirty="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5487" name="文本框 14358"/>
          <p:cNvSpPr txBox="1"/>
          <p:nvPr/>
        </p:nvSpPr>
        <p:spPr>
          <a:xfrm>
            <a:off x="6889750" y="3667125"/>
            <a:ext cx="1828800" cy="368300"/>
          </a:xfrm>
          <a:prstGeom prst="rect">
            <a:avLst/>
          </a:prstGeom>
          <a:gradFill rotWithShape="0">
            <a:gsLst>
              <a:gs pos="0">
                <a:srgbClr val="0A4982"/>
              </a:gs>
              <a:gs pos="50000">
                <a:schemeClr val="accent1"/>
              </a:gs>
              <a:gs pos="100000">
                <a:srgbClr val="0A4982"/>
              </a:gs>
            </a:gsLst>
            <a:lin ang="5400000" scaled="1"/>
            <a:tileRect/>
          </a:gradFill>
          <a:ln w="12700"/>
          <a:scene3d>
            <a:camera prst="legacyObliqueTopRight">
              <a:rot lat="0" lon="0" rev="0"/>
            </a:camera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 anchorCtr="0">
            <a:spAutoFit/>
            <a:flatTx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循环控制结构</a:t>
            </a:r>
            <a:endParaRPr lang="zh-CN" altLang="en-US" dirty="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7" grpId="0" build="p"/>
      <p:bldP spid="14339" grpId="0" bldLvl="5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文本占位符 22529"/>
          <p:cNvSpPr>
            <a:spLocks noGrp="1"/>
          </p:cNvSpPr>
          <p:nvPr>
            <p:ph type="body" idx="4294967295"/>
          </p:nvPr>
        </p:nvSpPr>
        <p:spPr>
          <a:xfrm>
            <a:off x="2057400" y="172878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6725" indent="0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2000" b="1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、用文字描述算法</a:t>
            </a:r>
            <a:endParaRPr lang="zh-CN" altLang="en-US" sz="2000" b="1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6498" name="Text Box 5"/>
          <p:cNvSpPr txBox="1"/>
          <p:nvPr/>
        </p:nvSpPr>
        <p:spPr>
          <a:xfrm>
            <a:off x="1704975" y="79375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、程序与程序设计语言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4339" name="文本占位符 14338"/>
          <p:cNvSpPr>
            <a:spLocks noGrp="1"/>
          </p:cNvSpPr>
          <p:nvPr/>
        </p:nvSpPr>
        <p:spPr>
          <a:xfrm>
            <a:off x="685800" y="803275"/>
            <a:ext cx="7772400" cy="1219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1" indent="0" algn="l" rtl="0" eaLnBrk="1" latinLnBrk="0" hangingPunct="1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）程序的算法表示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22529"/>
          <p:cNvSpPr>
            <a:spLocks noGrp="1"/>
          </p:cNvSpPr>
          <p:nvPr/>
        </p:nvSpPr>
        <p:spPr>
          <a:xfrm>
            <a:off x="2057400" y="2219325"/>
            <a:ext cx="6400800" cy="592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6725">
              <a:lnSpc>
                <a:spcPct val="15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【算法】交换两个变量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的值。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9" name="文本占位符 22529"/>
          <p:cNvSpPr>
            <a:spLocks noGrp="1"/>
          </p:cNvSpPr>
          <p:nvPr/>
        </p:nvSpPr>
        <p:spPr>
          <a:xfrm>
            <a:off x="2193925" y="2811463"/>
            <a:ext cx="6400800" cy="2689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685800" lvl="1" indent="-228600" algn="l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输入变量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的值；</a:t>
            </a:r>
            <a:endParaRPr lang="zh-CN" altLang="en-US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685800" lvl="1" indent="-228600" algn="l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将变量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的值赋给变量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t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；</a:t>
            </a:r>
            <a:endParaRPr lang="zh-CN" altLang="en-US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685800" lvl="1" indent="-228600" algn="l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将变量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的值赋给变量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；</a:t>
            </a:r>
            <a:endParaRPr lang="zh-CN" altLang="en-US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685800" lvl="1" indent="-228600" algn="l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将变量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t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的值赋给变量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；</a:t>
            </a:r>
            <a:endParaRPr lang="zh-CN" altLang="en-US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685800" lvl="1" indent="-228600" algn="l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输出变量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与</a:t>
            </a:r>
            <a:r>
              <a:rPr lang="en-US" altLang="zh-CN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的值。</a:t>
            </a:r>
            <a:endParaRPr lang="zh-CN" altLang="en-US" sz="200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505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7" grpId="0" build="p"/>
      <p:bldP spid="14339" grpId="0" bldLvl="5" build="p"/>
      <p:bldP spid="45057" grpId="1" build="p"/>
      <p:bldP spid="5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83995" y="787718"/>
            <a:ext cx="8229600" cy="712787"/>
          </a:xfrm>
        </p:spPr>
        <p:txBody>
          <a:bodyPr/>
          <a:lstStyle/>
          <a:p>
            <a:pPr marL="466725" algn="l" defTabSz="914400" eaLnBrk="1" hangingPunct="1">
              <a:lnSpc>
                <a:spcPct val="15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2000" b="1" kern="12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B</a:t>
            </a:r>
            <a:r>
              <a:rPr lang="zh-CN" altLang="en-US" sz="2000" b="1" kern="12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．用流程图描述算法 </a:t>
            </a:r>
            <a:endParaRPr lang="zh-CN" altLang="en-US" sz="2000" b="1" kern="12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14339" name="Group 12"/>
          <p:cNvGrpSpPr/>
          <p:nvPr/>
        </p:nvGrpSpPr>
        <p:grpSpPr bwMode="auto">
          <a:xfrm>
            <a:off x="1870075" y="1500188"/>
            <a:ext cx="8634413" cy="1138237"/>
            <a:chOff x="1512" y="8148"/>
            <a:chExt cx="7920" cy="1404"/>
          </a:xfrm>
        </p:grpSpPr>
        <p:sp>
          <p:nvSpPr>
            <p:cNvPr id="14380" name="Rectangle 13"/>
            <p:cNvSpPr>
              <a:spLocks noChangeArrowheads="1"/>
            </p:cNvSpPr>
            <p:nvPr/>
          </p:nvSpPr>
          <p:spPr bwMode="auto">
            <a:xfrm>
              <a:off x="6012" y="8616"/>
              <a:ext cx="126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cs typeface="Angsana New" pitchFamily="18" charset="-34"/>
                </a:rPr>
                <a:t>判断框</a:t>
              </a:r>
              <a:endParaRPr lang="zh-CN" altLang="en-US" sz="2400">
                <a:cs typeface="Angsana New" pitchFamily="18" charset="-34"/>
              </a:endParaRPr>
            </a:p>
          </p:txBody>
        </p:sp>
        <p:sp>
          <p:nvSpPr>
            <p:cNvPr id="14381" name="Rectangle 14"/>
            <p:cNvSpPr>
              <a:spLocks noChangeArrowheads="1"/>
            </p:cNvSpPr>
            <p:nvPr/>
          </p:nvSpPr>
          <p:spPr bwMode="auto">
            <a:xfrm>
              <a:off x="2952" y="8616"/>
              <a:ext cx="90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cs typeface="Angsana New" pitchFamily="18" charset="-34"/>
                </a:rPr>
                <a:t>处理框</a:t>
              </a:r>
              <a:endParaRPr lang="zh-CN" altLang="en-US" sz="2400">
                <a:cs typeface="Angsana New" pitchFamily="18" charset="-34"/>
              </a:endParaRPr>
            </a:p>
          </p:txBody>
        </p:sp>
        <p:sp>
          <p:nvSpPr>
            <p:cNvPr id="14382" name="Rectangle 15"/>
            <p:cNvSpPr>
              <a:spLocks noChangeArrowheads="1"/>
            </p:cNvSpPr>
            <p:nvPr/>
          </p:nvSpPr>
          <p:spPr bwMode="auto">
            <a:xfrm>
              <a:off x="4212" y="8616"/>
              <a:ext cx="14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cs typeface="Angsana New" pitchFamily="18" charset="-34"/>
                </a:rPr>
                <a:t>输入输出框</a:t>
              </a:r>
              <a:endParaRPr lang="zh-CN" altLang="en-US" sz="2400">
                <a:cs typeface="Angsana New" pitchFamily="18" charset="-34"/>
              </a:endParaRPr>
            </a:p>
          </p:txBody>
        </p:sp>
        <p:sp>
          <p:nvSpPr>
            <p:cNvPr id="14383" name="AutoShape 16"/>
            <p:cNvSpPr>
              <a:spLocks noChangeAspect="1" noChangeArrowheads="1"/>
            </p:cNvSpPr>
            <p:nvPr/>
          </p:nvSpPr>
          <p:spPr bwMode="auto">
            <a:xfrm>
              <a:off x="8532" y="8304"/>
              <a:ext cx="283" cy="245"/>
            </a:xfrm>
            <a:prstGeom prst="flowChartConnector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14384" name="Freeform 17"/>
            <p:cNvSpPr/>
            <p:nvPr/>
          </p:nvSpPr>
          <p:spPr bwMode="auto">
            <a:xfrm>
              <a:off x="7440" y="8400"/>
              <a:ext cx="750" cy="1"/>
            </a:xfrm>
            <a:custGeom>
              <a:avLst/>
              <a:gdLst>
                <a:gd name="T0" fmla="*/ 0 w 750"/>
                <a:gd name="T1" fmla="*/ 0 h 1"/>
                <a:gd name="T2" fmla="*/ 750 w 75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50" h="1">
                  <a:moveTo>
                    <a:pt x="0" y="0"/>
                  </a:moveTo>
                  <a:lnTo>
                    <a:pt x="75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5" name="AutoShape 18"/>
            <p:cNvSpPr>
              <a:spLocks noChangeArrowheads="1"/>
            </p:cNvSpPr>
            <p:nvPr/>
          </p:nvSpPr>
          <p:spPr bwMode="auto">
            <a:xfrm>
              <a:off x="5652" y="8148"/>
              <a:ext cx="1440" cy="468"/>
            </a:xfrm>
            <a:prstGeom prst="flowChartDecision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14386" name="AutoShape 19"/>
            <p:cNvSpPr>
              <a:spLocks noChangeArrowheads="1"/>
            </p:cNvSpPr>
            <p:nvPr/>
          </p:nvSpPr>
          <p:spPr bwMode="auto">
            <a:xfrm>
              <a:off x="4212" y="8148"/>
              <a:ext cx="1260" cy="468"/>
            </a:xfrm>
            <a:prstGeom prst="flowChartInputOutpu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14387" name="AutoShape 20"/>
            <p:cNvSpPr>
              <a:spLocks noChangeArrowheads="1"/>
            </p:cNvSpPr>
            <p:nvPr/>
          </p:nvSpPr>
          <p:spPr bwMode="auto">
            <a:xfrm>
              <a:off x="2952" y="8148"/>
              <a:ext cx="900" cy="468"/>
            </a:xfrm>
            <a:prstGeom prst="flowChartProcess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14388" name="AutoShape 21"/>
            <p:cNvSpPr>
              <a:spLocks noChangeArrowheads="1"/>
            </p:cNvSpPr>
            <p:nvPr/>
          </p:nvSpPr>
          <p:spPr bwMode="auto">
            <a:xfrm>
              <a:off x="1692" y="8148"/>
              <a:ext cx="945" cy="385"/>
            </a:xfrm>
            <a:prstGeom prst="flowChartTerminator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6000" tIns="0" bIns="10800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14389" name="Rectangle 22"/>
            <p:cNvSpPr>
              <a:spLocks noChangeArrowheads="1"/>
            </p:cNvSpPr>
            <p:nvPr/>
          </p:nvSpPr>
          <p:spPr bwMode="auto">
            <a:xfrm>
              <a:off x="1512" y="8616"/>
              <a:ext cx="14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cs typeface="Angsana New" pitchFamily="18" charset="-34"/>
                </a:rPr>
                <a:t>开始终止框</a:t>
              </a:r>
              <a:endParaRPr lang="zh-CN" altLang="en-US" sz="2400">
                <a:cs typeface="Angsana New" pitchFamily="18" charset="-34"/>
              </a:endParaRPr>
            </a:p>
          </p:txBody>
        </p:sp>
        <p:sp>
          <p:nvSpPr>
            <p:cNvPr id="14390" name="Rectangle 23"/>
            <p:cNvSpPr>
              <a:spLocks noChangeArrowheads="1"/>
            </p:cNvSpPr>
            <p:nvPr/>
          </p:nvSpPr>
          <p:spPr bwMode="auto">
            <a:xfrm>
              <a:off x="7272" y="8616"/>
              <a:ext cx="126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cs typeface="Angsana New" pitchFamily="18" charset="-34"/>
                </a:rPr>
                <a:t>流程线</a:t>
              </a:r>
              <a:endParaRPr lang="zh-CN" altLang="en-US" sz="2400">
                <a:cs typeface="Angsana New" pitchFamily="18" charset="-34"/>
              </a:endParaRPr>
            </a:p>
          </p:txBody>
        </p:sp>
        <p:sp>
          <p:nvSpPr>
            <p:cNvPr id="14391" name="Rectangle 24"/>
            <p:cNvSpPr>
              <a:spLocks noChangeArrowheads="1"/>
            </p:cNvSpPr>
            <p:nvPr/>
          </p:nvSpPr>
          <p:spPr bwMode="auto">
            <a:xfrm>
              <a:off x="8352" y="8616"/>
              <a:ext cx="108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cs typeface="Angsana New" pitchFamily="18" charset="-34"/>
                </a:rPr>
                <a:t>连接点</a:t>
              </a:r>
              <a:endParaRPr lang="zh-CN" altLang="en-US" sz="2400">
                <a:cs typeface="Angsana New" pitchFamily="18" charset="-34"/>
              </a:endParaRPr>
            </a:p>
          </p:txBody>
        </p:sp>
        <p:sp>
          <p:nvSpPr>
            <p:cNvPr id="14392" name="Rectangle 25"/>
            <p:cNvSpPr>
              <a:spLocks noChangeArrowheads="1"/>
            </p:cNvSpPr>
            <p:nvPr/>
          </p:nvSpPr>
          <p:spPr bwMode="auto">
            <a:xfrm>
              <a:off x="4392" y="9084"/>
              <a:ext cx="306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cs typeface="Angsana New" pitchFamily="18" charset="-34"/>
                </a:rPr>
                <a:t>图</a:t>
              </a:r>
              <a:r>
                <a:rPr lang="en-US" altLang="zh-CN" sz="2400">
                  <a:latin typeface="Times New Roman" panose="02020603050405020304" pitchFamily="18" charset="0"/>
                  <a:cs typeface="Angsana New" pitchFamily="18" charset="-34"/>
                </a:rPr>
                <a:t>1.1 </a:t>
              </a:r>
              <a:r>
                <a:rPr lang="zh-CN" altLang="en-US" sz="2400">
                  <a:latin typeface="Times New Roman" panose="02020603050405020304" pitchFamily="18" charset="0"/>
                  <a:cs typeface="Angsana New" pitchFamily="18" charset="-34"/>
                </a:rPr>
                <a:t>流程图基本框架</a:t>
              </a:r>
              <a:endParaRPr lang="zh-CN" altLang="en-US" sz="2400">
                <a:cs typeface="Angsana New" pitchFamily="18" charset="-34"/>
              </a:endParaRPr>
            </a:p>
          </p:txBody>
        </p:sp>
      </p:grpSp>
      <p:grpSp>
        <p:nvGrpSpPr>
          <p:cNvPr id="14340" name="Group 26"/>
          <p:cNvGrpSpPr/>
          <p:nvPr/>
        </p:nvGrpSpPr>
        <p:grpSpPr bwMode="auto">
          <a:xfrm>
            <a:off x="2560638" y="2779713"/>
            <a:ext cx="7392987" cy="4078287"/>
            <a:chOff x="2007" y="2844"/>
            <a:chExt cx="7258" cy="3424"/>
          </a:xfrm>
        </p:grpSpPr>
        <p:sp>
          <p:nvSpPr>
            <p:cNvPr id="14341" name="Text Box 27"/>
            <p:cNvSpPr txBox="1">
              <a:spLocks noChangeArrowheads="1"/>
            </p:cNvSpPr>
            <p:nvPr/>
          </p:nvSpPr>
          <p:spPr bwMode="auto">
            <a:xfrm>
              <a:off x="5682" y="3312"/>
              <a:ext cx="525" cy="4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defTabSz="71755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175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1755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175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1755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175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175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175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175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400">
                  <a:latin typeface="Times New Roman" panose="02020603050405020304" pitchFamily="18" charset="0"/>
                  <a:cs typeface="Angsana New" pitchFamily="18" charset="-34"/>
                </a:rPr>
                <a:t>假</a:t>
              </a:r>
              <a:endParaRPr kumimoji="1" lang="zh-CN" altLang="en-US" sz="1400">
                <a:cs typeface="Angsana New" pitchFamily="18" charset="-34"/>
              </a:endParaRPr>
            </a:p>
          </p:txBody>
        </p:sp>
        <p:grpSp>
          <p:nvGrpSpPr>
            <p:cNvPr id="14342" name="Group 28"/>
            <p:cNvGrpSpPr/>
            <p:nvPr/>
          </p:nvGrpSpPr>
          <p:grpSpPr bwMode="auto">
            <a:xfrm>
              <a:off x="2007" y="2844"/>
              <a:ext cx="7258" cy="3424"/>
              <a:chOff x="2217" y="10964"/>
              <a:chExt cx="7258" cy="3424"/>
            </a:xfrm>
          </p:grpSpPr>
          <p:grpSp>
            <p:nvGrpSpPr>
              <p:cNvPr id="14343" name="Group 29"/>
              <p:cNvGrpSpPr/>
              <p:nvPr/>
            </p:nvGrpSpPr>
            <p:grpSpPr bwMode="auto">
              <a:xfrm>
                <a:off x="2440" y="11123"/>
                <a:ext cx="840" cy="2337"/>
                <a:chOff x="2217" y="11115"/>
                <a:chExt cx="840" cy="2337"/>
              </a:xfrm>
            </p:grpSpPr>
            <p:sp>
              <p:nvSpPr>
                <p:cNvPr id="14375" name="Line 30"/>
                <p:cNvSpPr>
                  <a:spLocks noChangeShapeType="1"/>
                </p:cNvSpPr>
                <p:nvPr/>
              </p:nvSpPr>
              <p:spPr bwMode="auto">
                <a:xfrm>
                  <a:off x="2637" y="11115"/>
                  <a:ext cx="0" cy="5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6" name="Rectangle 31"/>
                <p:cNvSpPr>
                  <a:spLocks noChangeArrowheads="1"/>
                </p:cNvSpPr>
                <p:nvPr/>
              </p:nvSpPr>
              <p:spPr bwMode="auto">
                <a:xfrm>
                  <a:off x="2217" y="11652"/>
                  <a:ext cx="840" cy="360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baseline="30000">
                      <a:latin typeface="Times New Roman" panose="02020603050405020304" pitchFamily="18" charset="0"/>
                      <a:cs typeface="Angsana New" pitchFamily="18" charset="-34"/>
                    </a:rPr>
                    <a:t>语句</a:t>
                  </a:r>
                  <a:r>
                    <a:rPr lang="en-US" altLang="zh-CN" sz="2400" baseline="30000">
                      <a:latin typeface="Times New Roman" panose="02020603050405020304" pitchFamily="18" charset="0"/>
                      <a:cs typeface="Angsana New" pitchFamily="18" charset="-34"/>
                    </a:rPr>
                    <a:t>1</a:t>
                  </a:r>
                  <a:endParaRPr lang="en-US" altLang="zh-CN" sz="2400">
                    <a:cs typeface="Angsana New" pitchFamily="18" charset="-34"/>
                  </a:endParaRPr>
                </a:p>
              </p:txBody>
            </p:sp>
            <p:sp>
              <p:nvSpPr>
                <p:cNvPr id="14377" name="Line 32"/>
                <p:cNvSpPr>
                  <a:spLocks noChangeShapeType="1"/>
                </p:cNvSpPr>
                <p:nvPr/>
              </p:nvSpPr>
              <p:spPr bwMode="auto">
                <a:xfrm>
                  <a:off x="2637" y="12012"/>
                  <a:ext cx="0" cy="5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8" name="Rectangle 33"/>
                <p:cNvSpPr>
                  <a:spLocks noChangeArrowheads="1"/>
                </p:cNvSpPr>
                <p:nvPr/>
              </p:nvSpPr>
              <p:spPr bwMode="auto">
                <a:xfrm>
                  <a:off x="2217" y="12552"/>
                  <a:ext cx="840" cy="360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baseline="30000">
                      <a:latin typeface="Times New Roman" panose="02020603050405020304" pitchFamily="18" charset="0"/>
                      <a:cs typeface="Angsana New" pitchFamily="18" charset="-34"/>
                    </a:rPr>
                    <a:t>语句</a:t>
                  </a:r>
                  <a:r>
                    <a:rPr lang="en-US" altLang="zh-CN" sz="2400" baseline="30000">
                      <a:latin typeface="Times New Roman" panose="02020603050405020304" pitchFamily="18" charset="0"/>
                      <a:cs typeface="Angsana New" pitchFamily="18" charset="-34"/>
                    </a:rPr>
                    <a:t>2</a:t>
                  </a:r>
                  <a:endParaRPr lang="en-US" altLang="zh-CN" sz="2400">
                    <a:cs typeface="Angsana New" pitchFamily="18" charset="-34"/>
                  </a:endParaRPr>
                </a:p>
              </p:txBody>
            </p:sp>
            <p:sp>
              <p:nvSpPr>
                <p:cNvPr id="14379" name="Line 34"/>
                <p:cNvSpPr>
                  <a:spLocks noChangeShapeType="1"/>
                </p:cNvSpPr>
                <p:nvPr/>
              </p:nvSpPr>
              <p:spPr bwMode="auto">
                <a:xfrm>
                  <a:off x="2637" y="12912"/>
                  <a:ext cx="0" cy="5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344" name="Group 35"/>
              <p:cNvGrpSpPr/>
              <p:nvPr/>
            </p:nvGrpSpPr>
            <p:grpSpPr bwMode="auto">
              <a:xfrm>
                <a:off x="3805" y="11123"/>
                <a:ext cx="3150" cy="2337"/>
                <a:chOff x="3582" y="11115"/>
                <a:chExt cx="3150" cy="2337"/>
              </a:xfrm>
            </p:grpSpPr>
            <p:sp>
              <p:nvSpPr>
                <p:cNvPr id="14362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107" y="11424"/>
                  <a:ext cx="420" cy="4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defTabSz="7175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defTabSz="7175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defTabSz="7175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defTabSz="7175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defTabSz="7175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defTabSz="71755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defTabSz="71755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defTabSz="71755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defTabSz="71755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zh-CN" altLang="en-US" sz="1400">
                      <a:latin typeface="Times New Roman" panose="02020603050405020304" pitchFamily="18" charset="0"/>
                      <a:cs typeface="Angsana New" pitchFamily="18" charset="-34"/>
                    </a:rPr>
                    <a:t>真</a:t>
                  </a:r>
                  <a:endParaRPr kumimoji="1" lang="zh-CN" altLang="en-US" sz="1400">
                    <a:cs typeface="Angsana New" pitchFamily="18" charset="-34"/>
                  </a:endParaRPr>
                </a:p>
              </p:txBody>
            </p:sp>
            <p:sp>
              <p:nvSpPr>
                <p:cNvPr id="14363" name="AutoShape 37"/>
                <p:cNvSpPr>
                  <a:spLocks noChangeArrowheads="1"/>
                </p:cNvSpPr>
                <p:nvPr/>
              </p:nvSpPr>
              <p:spPr bwMode="auto">
                <a:xfrm>
                  <a:off x="4425" y="11587"/>
                  <a:ext cx="1470" cy="475"/>
                </a:xfrm>
                <a:prstGeom prst="flowChartDecision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baseline="30000">
                      <a:latin typeface="Times New Roman" panose="02020603050405020304" pitchFamily="18" charset="0"/>
                      <a:cs typeface="Angsana New" pitchFamily="18" charset="-34"/>
                    </a:rPr>
                    <a:t>条件？</a:t>
                  </a:r>
                  <a:endParaRPr lang="zh-CN" altLang="en-US" sz="2400">
                    <a:cs typeface="Angsana New" pitchFamily="18" charset="-34"/>
                  </a:endParaRPr>
                </a:p>
              </p:txBody>
            </p:sp>
            <p:sp>
              <p:nvSpPr>
                <p:cNvPr id="14364" name="Line 38"/>
                <p:cNvSpPr>
                  <a:spLocks noChangeShapeType="1"/>
                </p:cNvSpPr>
                <p:nvPr/>
              </p:nvSpPr>
              <p:spPr bwMode="auto">
                <a:xfrm>
                  <a:off x="5160" y="11115"/>
                  <a:ext cx="0" cy="47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5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4002" y="11830"/>
                  <a:ext cx="4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6" name="Line 40"/>
                <p:cNvSpPr>
                  <a:spLocks noChangeShapeType="1"/>
                </p:cNvSpPr>
                <p:nvPr/>
              </p:nvSpPr>
              <p:spPr bwMode="auto">
                <a:xfrm>
                  <a:off x="5892" y="11830"/>
                  <a:ext cx="4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7" name="Line 41"/>
                <p:cNvSpPr>
                  <a:spLocks noChangeShapeType="1"/>
                </p:cNvSpPr>
                <p:nvPr/>
              </p:nvSpPr>
              <p:spPr bwMode="auto">
                <a:xfrm>
                  <a:off x="3999" y="11830"/>
                  <a:ext cx="0" cy="3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8" name="Line 42"/>
                <p:cNvSpPr>
                  <a:spLocks noChangeShapeType="1"/>
                </p:cNvSpPr>
                <p:nvPr/>
              </p:nvSpPr>
              <p:spPr bwMode="auto">
                <a:xfrm>
                  <a:off x="6312" y="11830"/>
                  <a:ext cx="0" cy="3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9" name="Rectangle 43"/>
                <p:cNvSpPr>
                  <a:spLocks noChangeArrowheads="1"/>
                </p:cNvSpPr>
                <p:nvPr/>
              </p:nvSpPr>
              <p:spPr bwMode="auto">
                <a:xfrm>
                  <a:off x="3582" y="12190"/>
                  <a:ext cx="840" cy="36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baseline="30000">
                      <a:latin typeface="Times New Roman" panose="02020603050405020304" pitchFamily="18" charset="0"/>
                      <a:cs typeface="Angsana New" pitchFamily="18" charset="-34"/>
                    </a:rPr>
                    <a:t>语句</a:t>
                  </a:r>
                  <a:r>
                    <a:rPr lang="en-US" altLang="zh-CN" sz="2400" baseline="30000">
                      <a:latin typeface="Times New Roman" panose="02020603050405020304" pitchFamily="18" charset="0"/>
                      <a:cs typeface="Angsana New" pitchFamily="18" charset="-34"/>
                    </a:rPr>
                    <a:t>1</a:t>
                  </a:r>
                  <a:endParaRPr lang="en-US" altLang="zh-CN" sz="2400">
                    <a:cs typeface="Angsana New" pitchFamily="18" charset="-34"/>
                  </a:endParaRPr>
                </a:p>
              </p:txBody>
            </p:sp>
            <p:sp>
              <p:nvSpPr>
                <p:cNvPr id="14370" name="Rectangle 44"/>
                <p:cNvSpPr>
                  <a:spLocks noChangeArrowheads="1"/>
                </p:cNvSpPr>
                <p:nvPr/>
              </p:nvSpPr>
              <p:spPr bwMode="auto">
                <a:xfrm>
                  <a:off x="5892" y="12190"/>
                  <a:ext cx="840" cy="36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baseline="30000">
                      <a:latin typeface="Times New Roman" panose="02020603050405020304" pitchFamily="18" charset="0"/>
                      <a:cs typeface="Angsana New" pitchFamily="18" charset="-34"/>
                    </a:rPr>
                    <a:t>语句</a:t>
                  </a:r>
                  <a:r>
                    <a:rPr lang="en-US" altLang="zh-CN" sz="2400" baseline="30000">
                      <a:latin typeface="Times New Roman" panose="02020603050405020304" pitchFamily="18" charset="0"/>
                      <a:cs typeface="Angsana New" pitchFamily="18" charset="-34"/>
                    </a:rPr>
                    <a:t>2</a:t>
                  </a:r>
                  <a:endParaRPr lang="en-US" altLang="zh-CN" sz="2400">
                    <a:cs typeface="Angsana New" pitchFamily="18" charset="-34"/>
                  </a:endParaRPr>
                </a:p>
              </p:txBody>
            </p:sp>
            <p:sp>
              <p:nvSpPr>
                <p:cNvPr id="14371" name="Line 45"/>
                <p:cNvSpPr>
                  <a:spLocks noChangeShapeType="1"/>
                </p:cNvSpPr>
                <p:nvPr/>
              </p:nvSpPr>
              <p:spPr bwMode="auto">
                <a:xfrm>
                  <a:off x="3999" y="12551"/>
                  <a:ext cx="0" cy="3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2" name="Line 46"/>
                <p:cNvSpPr>
                  <a:spLocks noChangeShapeType="1"/>
                </p:cNvSpPr>
                <p:nvPr/>
              </p:nvSpPr>
              <p:spPr bwMode="auto">
                <a:xfrm>
                  <a:off x="6312" y="12551"/>
                  <a:ext cx="0" cy="3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3" name="Line 47"/>
                <p:cNvSpPr>
                  <a:spLocks noChangeShapeType="1"/>
                </p:cNvSpPr>
                <p:nvPr/>
              </p:nvSpPr>
              <p:spPr bwMode="auto">
                <a:xfrm>
                  <a:off x="4002" y="12911"/>
                  <a:ext cx="231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4" name="Line 48"/>
                <p:cNvSpPr>
                  <a:spLocks noChangeShapeType="1"/>
                </p:cNvSpPr>
                <p:nvPr/>
              </p:nvSpPr>
              <p:spPr bwMode="auto">
                <a:xfrm>
                  <a:off x="5157" y="12911"/>
                  <a:ext cx="0" cy="54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345" name="Group 49"/>
              <p:cNvGrpSpPr/>
              <p:nvPr/>
            </p:nvGrpSpPr>
            <p:grpSpPr bwMode="auto">
              <a:xfrm>
                <a:off x="7480" y="10964"/>
                <a:ext cx="1995" cy="2496"/>
                <a:chOff x="7480" y="10964"/>
                <a:chExt cx="1995" cy="2496"/>
              </a:xfrm>
            </p:grpSpPr>
            <p:sp>
              <p:nvSpPr>
                <p:cNvPr id="14350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8320" y="12056"/>
                  <a:ext cx="420" cy="4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defTabSz="7175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defTabSz="7175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defTabSz="7175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defTabSz="7175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defTabSz="7175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defTabSz="71755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defTabSz="71755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defTabSz="71755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defTabSz="71755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zh-CN" altLang="en-US" sz="1400">
                      <a:latin typeface="Times New Roman" panose="02020603050405020304" pitchFamily="18" charset="0"/>
                      <a:cs typeface="Angsana New" pitchFamily="18" charset="-34"/>
                    </a:rPr>
                    <a:t>真</a:t>
                  </a:r>
                  <a:endParaRPr kumimoji="1" lang="zh-CN" altLang="en-US" sz="1400">
                    <a:cs typeface="Angsana New" pitchFamily="18" charset="-34"/>
                  </a:endParaRPr>
                </a:p>
              </p:txBody>
            </p:sp>
            <p:sp>
              <p:nvSpPr>
                <p:cNvPr id="14351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8950" y="11432"/>
                  <a:ext cx="525" cy="4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defTabSz="7175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defTabSz="7175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defTabSz="7175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defTabSz="7175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defTabSz="7175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defTabSz="71755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defTabSz="71755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defTabSz="71755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defTabSz="71755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zh-CN" altLang="en-US" sz="1400">
                      <a:latin typeface="Times New Roman" panose="02020603050405020304" pitchFamily="18" charset="0"/>
                      <a:cs typeface="Angsana New" pitchFamily="18" charset="-34"/>
                    </a:rPr>
                    <a:t>假</a:t>
                  </a:r>
                  <a:endParaRPr kumimoji="1" lang="zh-CN" altLang="en-US" sz="1400">
                    <a:cs typeface="Angsana New" pitchFamily="18" charset="-34"/>
                  </a:endParaRPr>
                </a:p>
              </p:txBody>
            </p:sp>
            <p:sp>
              <p:nvSpPr>
                <p:cNvPr id="14352" name="Line 52"/>
                <p:cNvSpPr>
                  <a:spLocks noChangeShapeType="1"/>
                </p:cNvSpPr>
                <p:nvPr/>
              </p:nvSpPr>
              <p:spPr bwMode="auto">
                <a:xfrm>
                  <a:off x="8320" y="10964"/>
                  <a:ext cx="0" cy="66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3" name="Line 53"/>
                <p:cNvSpPr>
                  <a:spLocks noChangeShapeType="1"/>
                </p:cNvSpPr>
                <p:nvPr/>
              </p:nvSpPr>
              <p:spPr bwMode="auto">
                <a:xfrm>
                  <a:off x="8320" y="12134"/>
                  <a:ext cx="0" cy="3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4" name="Rectangle 54"/>
                <p:cNvSpPr>
                  <a:spLocks noChangeArrowheads="1"/>
                </p:cNvSpPr>
                <p:nvPr/>
              </p:nvSpPr>
              <p:spPr bwMode="auto">
                <a:xfrm>
                  <a:off x="7795" y="12472"/>
                  <a:ext cx="945" cy="3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baseline="30000">
                      <a:latin typeface="Times New Roman" panose="02020603050405020304" pitchFamily="18" charset="0"/>
                      <a:cs typeface="Angsana New" pitchFamily="18" charset="-34"/>
                    </a:rPr>
                    <a:t>语 句</a:t>
                  </a:r>
                  <a:endParaRPr lang="zh-CN" altLang="en-US" sz="2400">
                    <a:cs typeface="Angsana New" pitchFamily="18" charset="-34"/>
                  </a:endParaRPr>
                </a:p>
              </p:txBody>
            </p:sp>
            <p:sp>
              <p:nvSpPr>
                <p:cNvPr id="14355" name="Line 55"/>
                <p:cNvSpPr>
                  <a:spLocks noChangeShapeType="1"/>
                </p:cNvSpPr>
                <p:nvPr/>
              </p:nvSpPr>
              <p:spPr bwMode="auto">
                <a:xfrm>
                  <a:off x="8320" y="12810"/>
                  <a:ext cx="0" cy="3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6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7480" y="13148"/>
                  <a:ext cx="84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7" name="Line 57"/>
                <p:cNvSpPr>
                  <a:spLocks noChangeShapeType="1"/>
                </p:cNvSpPr>
                <p:nvPr/>
              </p:nvSpPr>
              <p:spPr bwMode="auto">
                <a:xfrm>
                  <a:off x="7483" y="11289"/>
                  <a:ext cx="84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8" name="Freeform 58"/>
                <p:cNvSpPr/>
                <p:nvPr/>
              </p:nvSpPr>
              <p:spPr bwMode="auto">
                <a:xfrm>
                  <a:off x="9073" y="11873"/>
                  <a:ext cx="285" cy="1"/>
                </a:xfrm>
                <a:custGeom>
                  <a:avLst/>
                  <a:gdLst>
                    <a:gd name="T0" fmla="*/ 0 w 285"/>
                    <a:gd name="T1" fmla="*/ 0 h 1"/>
                    <a:gd name="T2" fmla="*/ 285 w 285"/>
                    <a:gd name="T3" fmla="*/ 0 h 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85" h="1">
                      <a:moveTo>
                        <a:pt x="0" y="0"/>
                      </a:moveTo>
                      <a:lnTo>
                        <a:pt x="285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9" name="Freeform 59"/>
                <p:cNvSpPr/>
                <p:nvPr/>
              </p:nvSpPr>
              <p:spPr bwMode="auto">
                <a:xfrm>
                  <a:off x="9360" y="11865"/>
                  <a:ext cx="11" cy="1595"/>
                </a:xfrm>
                <a:custGeom>
                  <a:avLst/>
                  <a:gdLst>
                    <a:gd name="T0" fmla="*/ 0 w 11"/>
                    <a:gd name="T1" fmla="*/ 0 h 1595"/>
                    <a:gd name="T2" fmla="*/ 11 w 11"/>
                    <a:gd name="T3" fmla="*/ 1595 h 1595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1" h="1595">
                      <a:moveTo>
                        <a:pt x="0" y="0"/>
                      </a:moveTo>
                      <a:lnTo>
                        <a:pt x="11" y="1595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0" name="AutoShape 60"/>
                <p:cNvSpPr>
                  <a:spLocks noChangeArrowheads="1"/>
                </p:cNvSpPr>
                <p:nvPr/>
              </p:nvSpPr>
              <p:spPr bwMode="auto">
                <a:xfrm>
                  <a:off x="7585" y="11627"/>
                  <a:ext cx="1470" cy="507"/>
                </a:xfrm>
                <a:prstGeom prst="flowChartDecision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baseline="30000">
                      <a:latin typeface="Times New Roman" panose="02020603050405020304" pitchFamily="18" charset="0"/>
                      <a:cs typeface="Angsana New" pitchFamily="18" charset="-34"/>
                    </a:rPr>
                    <a:t>条件？</a:t>
                  </a:r>
                  <a:endParaRPr lang="zh-CN" altLang="en-US" sz="2400">
                    <a:cs typeface="Angsana New" pitchFamily="18" charset="-34"/>
                  </a:endParaRPr>
                </a:p>
              </p:txBody>
            </p:sp>
            <p:sp>
              <p:nvSpPr>
                <p:cNvPr id="14361" name="Line 61"/>
                <p:cNvSpPr>
                  <a:spLocks noChangeShapeType="1"/>
                </p:cNvSpPr>
                <p:nvPr/>
              </p:nvSpPr>
              <p:spPr bwMode="auto">
                <a:xfrm flipV="1">
                  <a:off x="7480" y="11289"/>
                  <a:ext cx="0" cy="185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346" name="Rectangle 62"/>
              <p:cNvSpPr>
                <a:spLocks noChangeArrowheads="1"/>
              </p:cNvSpPr>
              <p:nvPr/>
            </p:nvSpPr>
            <p:spPr bwMode="auto">
              <a:xfrm>
                <a:off x="3743" y="13920"/>
                <a:ext cx="3409" cy="4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solidFill>
                      <a:srgbClr val="000000"/>
                    </a:solidFill>
                    <a:latin typeface="宋体" panose="02010600030101010101" pitchFamily="2" charset="-122"/>
                    <a:cs typeface="Angsana New" pitchFamily="18" charset="-34"/>
                  </a:rPr>
                  <a:t>图</a:t>
                </a:r>
                <a:r>
                  <a:rPr lang="en-US" altLang="zh-CN" sz="2400">
                    <a:solidFill>
                      <a:srgbClr val="000000"/>
                    </a:solidFill>
                    <a:latin typeface="宋体" panose="02010600030101010101" pitchFamily="2" charset="-122"/>
                    <a:cs typeface="Angsana New" pitchFamily="18" charset="-34"/>
                  </a:rPr>
                  <a:t>1.2</a:t>
                </a:r>
                <a:r>
                  <a:rPr lang="zh-CN" altLang="en-US" sz="2400">
                    <a:solidFill>
                      <a:srgbClr val="000000"/>
                    </a:solidFill>
                    <a:latin typeface="宋体" panose="02010600030101010101" pitchFamily="2" charset="-122"/>
                    <a:cs typeface="Angsana New" pitchFamily="18" charset="-34"/>
                  </a:rPr>
                  <a:t>三种基本控制结构</a:t>
                </a:r>
                <a:endParaRPr lang="zh-CN" altLang="en-US" sz="2400">
                  <a:cs typeface="Angsana New" pitchFamily="18" charset="-34"/>
                </a:endParaRPr>
              </a:p>
            </p:txBody>
          </p:sp>
          <p:sp>
            <p:nvSpPr>
              <p:cNvPr id="14347" name="Text Box 63"/>
              <p:cNvSpPr txBox="1">
                <a:spLocks noChangeArrowheads="1"/>
              </p:cNvSpPr>
              <p:nvPr/>
            </p:nvSpPr>
            <p:spPr bwMode="auto">
              <a:xfrm>
                <a:off x="2217" y="13452"/>
                <a:ext cx="1995" cy="4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717550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1755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17550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1755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17550" eaLnBrk="0" hangingPunct="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1755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1755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1755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1755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400">
                    <a:latin typeface="Times New Roman" panose="02020603050405020304" pitchFamily="18" charset="0"/>
                    <a:cs typeface="Angsana New" pitchFamily="18" charset="-34"/>
                  </a:rPr>
                  <a:t>(a)</a:t>
                </a:r>
                <a:r>
                  <a:rPr kumimoji="1" lang="zh-CN" altLang="en-US" sz="1400">
                    <a:latin typeface="Times New Roman" panose="02020603050405020304" pitchFamily="18" charset="0"/>
                    <a:cs typeface="Angsana New" pitchFamily="18" charset="-34"/>
                  </a:rPr>
                  <a:t>顺序结构</a:t>
                </a:r>
                <a:endParaRPr kumimoji="1" lang="zh-CN" altLang="en-US" sz="1400">
                  <a:cs typeface="Angsana New" pitchFamily="18" charset="-34"/>
                </a:endParaRPr>
              </a:p>
            </p:txBody>
          </p:sp>
          <p:sp>
            <p:nvSpPr>
              <p:cNvPr id="14348" name="Text Box 64"/>
              <p:cNvSpPr txBox="1">
                <a:spLocks noChangeArrowheads="1"/>
              </p:cNvSpPr>
              <p:nvPr/>
            </p:nvSpPr>
            <p:spPr bwMode="auto">
              <a:xfrm>
                <a:off x="4632" y="13452"/>
                <a:ext cx="1680" cy="4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717550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1755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17550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1755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17550" eaLnBrk="0" hangingPunct="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1755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1755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1755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1755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400">
                    <a:latin typeface="Times New Roman" panose="02020603050405020304" pitchFamily="18" charset="0"/>
                    <a:cs typeface="Angsana New" pitchFamily="18" charset="-34"/>
                  </a:rPr>
                  <a:t>(b)</a:t>
                </a:r>
                <a:r>
                  <a:rPr kumimoji="1" lang="zh-CN" altLang="en-US" sz="1400">
                    <a:latin typeface="Times New Roman" panose="02020603050405020304" pitchFamily="18" charset="0"/>
                    <a:cs typeface="Angsana New" pitchFamily="18" charset="-34"/>
                  </a:rPr>
                  <a:t>选择结构</a:t>
                </a:r>
                <a:endParaRPr kumimoji="1" lang="zh-CN" altLang="en-US" sz="1400">
                  <a:cs typeface="Angsana New" pitchFamily="18" charset="-34"/>
                </a:endParaRPr>
              </a:p>
            </p:txBody>
          </p:sp>
          <p:sp>
            <p:nvSpPr>
              <p:cNvPr id="14349" name="Text Box 65"/>
              <p:cNvSpPr txBox="1">
                <a:spLocks noChangeArrowheads="1"/>
              </p:cNvSpPr>
              <p:nvPr/>
            </p:nvSpPr>
            <p:spPr bwMode="auto">
              <a:xfrm>
                <a:off x="7467" y="13452"/>
                <a:ext cx="1470" cy="4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defTabSz="717550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1755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17550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1755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17550" eaLnBrk="0" hangingPunct="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1755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1755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1755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1755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400">
                    <a:latin typeface="Times New Roman" panose="02020603050405020304" pitchFamily="18" charset="0"/>
                    <a:cs typeface="Angsana New" pitchFamily="18" charset="-34"/>
                  </a:rPr>
                  <a:t>(c)</a:t>
                </a:r>
                <a:r>
                  <a:rPr kumimoji="1" lang="zh-CN" altLang="en-US" sz="1400">
                    <a:latin typeface="Times New Roman" panose="02020603050405020304" pitchFamily="18" charset="0"/>
                    <a:cs typeface="Angsana New" pitchFamily="18" charset="-34"/>
                  </a:rPr>
                  <a:t>循环结构</a:t>
                </a:r>
                <a:endParaRPr kumimoji="1" lang="zh-CN" altLang="en-US" sz="1400">
                  <a:cs typeface="Angsana New" pitchFamily="18" charset="-34"/>
                </a:endParaRPr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Text Box 5"/>
          <p:cNvSpPr txBox="1"/>
          <p:nvPr/>
        </p:nvSpPr>
        <p:spPr>
          <a:xfrm>
            <a:off x="1704975" y="79375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、程序与程序设计语言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4339" name="文本占位符 14338"/>
          <p:cNvSpPr>
            <a:spLocks noGrp="1"/>
          </p:cNvSpPr>
          <p:nvPr/>
        </p:nvSpPr>
        <p:spPr>
          <a:xfrm>
            <a:off x="685800" y="777875"/>
            <a:ext cx="7772400" cy="1219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程序的算法表示：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算法：找最大数的流程。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7525" name="组合 42"/>
          <p:cNvGrpSpPr/>
          <p:nvPr/>
        </p:nvGrpSpPr>
        <p:grpSpPr>
          <a:xfrm>
            <a:off x="7080250" y="736600"/>
            <a:ext cx="2789238" cy="5978525"/>
            <a:chOff x="12680" y="1159"/>
            <a:chExt cx="4392" cy="9416"/>
          </a:xfrm>
        </p:grpSpPr>
        <p:grpSp>
          <p:nvGrpSpPr>
            <p:cNvPr id="107526" name="组合 34"/>
            <p:cNvGrpSpPr/>
            <p:nvPr/>
          </p:nvGrpSpPr>
          <p:grpSpPr>
            <a:xfrm>
              <a:off x="12680" y="1159"/>
              <a:ext cx="4393" cy="9417"/>
              <a:chOff x="10526" y="1324"/>
              <a:chExt cx="4393" cy="9417"/>
            </a:xfrm>
          </p:grpSpPr>
          <p:sp>
            <p:nvSpPr>
              <p:cNvPr id="107527" name="圆角矩形 1"/>
              <p:cNvSpPr/>
              <p:nvPr/>
            </p:nvSpPr>
            <p:spPr>
              <a:xfrm>
                <a:off x="11507" y="1324"/>
                <a:ext cx="2107" cy="590"/>
              </a:xfrm>
              <a:prstGeom prst="roundRect">
                <a:avLst>
                  <a:gd name="adj" fmla="val 16667"/>
                </a:avLst>
              </a:prstGeom>
              <a:noFill/>
              <a:ln w="12700" cap="sq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pPr algn="ctr"/>
                <a:r>
                  <a:rPr lang="zh-CN" altLang="en-US" sz="1600">
                    <a:latin typeface="微软雅黑 Light" panose="020B0502040204020203" charset="-122"/>
                    <a:ea typeface="微软雅黑 Light" panose="020B0502040204020203" charset="-122"/>
                  </a:rPr>
                  <a:t>开始</a:t>
                </a:r>
                <a:endParaRPr lang="zh-CN" altLang="en-US" sz="1600">
                  <a:latin typeface="微软雅黑 Light" panose="020B0502040204020203" charset="-122"/>
                  <a:ea typeface="微软雅黑 Light" panose="020B0502040204020203" charset="-122"/>
                </a:endParaRPr>
              </a:p>
            </p:txBody>
          </p:sp>
          <p:cxnSp>
            <p:nvCxnSpPr>
              <p:cNvPr id="3" name="直接箭头连接符 2"/>
              <p:cNvCxnSpPr>
                <a:stCxn id="107527" idx="2"/>
              </p:cNvCxnSpPr>
              <p:nvPr/>
            </p:nvCxnSpPr>
            <p:spPr>
              <a:xfrm>
                <a:off x="12561" y="1929"/>
                <a:ext cx="0" cy="28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529" name="平行四边形 3"/>
              <p:cNvSpPr/>
              <p:nvPr/>
            </p:nvSpPr>
            <p:spPr>
              <a:xfrm>
                <a:off x="10526" y="2226"/>
                <a:ext cx="4070" cy="618"/>
              </a:xfrm>
              <a:prstGeom prst="parallelogram">
                <a:avLst>
                  <a:gd name="adj" fmla="val 24999"/>
                </a:avLst>
              </a:prstGeom>
              <a:noFill/>
              <a:ln w="12700" cap="sq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r>
                  <a:rPr lang="zh-CN" altLang="en-US" sz="1600">
                    <a:latin typeface="微软雅黑 Light" panose="020B0502040204020203" charset="-122"/>
                    <a:ea typeface="微软雅黑 Light" panose="020B0502040204020203" charset="-122"/>
                  </a:rPr>
                  <a:t>输入一个数给</a:t>
                </a:r>
                <a:r>
                  <a:rPr lang="en-US" altLang="zh-CN" sz="1600">
                    <a:latin typeface="微软雅黑 Light" panose="020B0502040204020203" charset="-122"/>
                    <a:ea typeface="微软雅黑 Light" panose="020B0502040204020203" charset="-122"/>
                  </a:rPr>
                  <a:t>max</a:t>
                </a:r>
                <a:endParaRPr lang="en-US" altLang="zh-CN" sz="1600">
                  <a:latin typeface="微软雅黑 Light" panose="020B0502040204020203" charset="-122"/>
                  <a:ea typeface="微软雅黑 Light" panose="020B0502040204020203" charset="-122"/>
                </a:endParaRPr>
              </a:p>
            </p:txBody>
          </p:sp>
          <p:cxnSp>
            <p:nvCxnSpPr>
              <p:cNvPr id="6" name="直接箭头连接符 5"/>
              <p:cNvCxnSpPr>
                <a:stCxn id="107527" idx="2"/>
              </p:cNvCxnSpPr>
              <p:nvPr/>
            </p:nvCxnSpPr>
            <p:spPr>
              <a:xfrm>
                <a:off x="12561" y="2813"/>
                <a:ext cx="0" cy="28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531" name="矩形 7"/>
              <p:cNvSpPr/>
              <p:nvPr/>
            </p:nvSpPr>
            <p:spPr>
              <a:xfrm>
                <a:off x="11570" y="3070"/>
                <a:ext cx="2091" cy="580"/>
              </a:xfrm>
              <a:prstGeom prst="rect">
                <a:avLst/>
              </a:prstGeom>
              <a:noFill/>
              <a:ln w="12700" cap="sq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600">
                    <a:latin typeface="微软雅黑 Light" panose="020B0502040204020203" charset="-122"/>
                    <a:ea typeface="微软雅黑 Light" panose="020B0502040204020203" charset="-122"/>
                  </a:rPr>
                  <a:t> i=1</a:t>
                </a:r>
                <a:endParaRPr lang="en-US" altLang="zh-CN" sz="1600">
                  <a:latin typeface="微软雅黑 Light" panose="020B0502040204020203" charset="-122"/>
                  <a:ea typeface="微软雅黑 Light" panose="020B0502040204020203" charset="-122"/>
                </a:endParaRPr>
              </a:p>
            </p:txBody>
          </p:sp>
          <p:cxnSp>
            <p:nvCxnSpPr>
              <p:cNvPr id="12" name="直接箭头连接符 11"/>
              <p:cNvCxnSpPr>
                <a:stCxn id="107527" idx="2"/>
              </p:cNvCxnSpPr>
              <p:nvPr/>
            </p:nvCxnSpPr>
            <p:spPr>
              <a:xfrm flipH="1">
                <a:off x="12560" y="3651"/>
                <a:ext cx="1" cy="40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533" name="菱形 12"/>
              <p:cNvSpPr/>
              <p:nvPr/>
            </p:nvSpPr>
            <p:spPr>
              <a:xfrm>
                <a:off x="11420" y="4045"/>
                <a:ext cx="2280" cy="637"/>
              </a:xfrm>
              <a:prstGeom prst="diamond">
                <a:avLst/>
              </a:prstGeom>
              <a:noFill/>
              <a:ln w="12700" cap="sq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r>
                  <a:rPr lang="en-US" altLang="zh-CN" sz="1600">
                    <a:latin typeface="微软雅黑 Light" panose="020B0502040204020203" charset="-122"/>
                    <a:ea typeface="微软雅黑 Light" panose="020B0502040204020203" charset="-122"/>
                  </a:rPr>
                  <a:t>i&lt;=9?</a:t>
                </a:r>
                <a:endParaRPr lang="en-US" altLang="zh-CN" sz="1600">
                  <a:latin typeface="微软雅黑 Light" panose="020B0502040204020203" charset="-122"/>
                  <a:ea typeface="微软雅黑 Light" panose="020B0502040204020203" charset="-122"/>
                </a:endParaRPr>
              </a:p>
            </p:txBody>
          </p:sp>
          <p:cxnSp>
            <p:nvCxnSpPr>
              <p:cNvPr id="14" name="直接箭头连接符 13"/>
              <p:cNvCxnSpPr>
                <a:stCxn id="107527" idx="2"/>
              </p:cNvCxnSpPr>
              <p:nvPr/>
            </p:nvCxnSpPr>
            <p:spPr>
              <a:xfrm>
                <a:off x="12575" y="4668"/>
                <a:ext cx="0" cy="28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535" name="矩形 14"/>
              <p:cNvSpPr/>
              <p:nvPr/>
            </p:nvSpPr>
            <p:spPr>
              <a:xfrm>
                <a:off x="11538" y="4951"/>
                <a:ext cx="2091" cy="551"/>
              </a:xfrm>
              <a:prstGeom prst="rect">
                <a:avLst/>
              </a:prstGeom>
              <a:noFill/>
              <a:ln w="12700" cap="sq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 sz="1600">
                    <a:latin typeface="微软雅黑 Light" panose="020B0502040204020203" charset="-122"/>
                    <a:ea typeface="微软雅黑 Light" panose="020B0502040204020203" charset="-122"/>
                    <a:sym typeface="宋体" panose="02010600030101010101" pitchFamily="2" charset="-122"/>
                  </a:rPr>
                  <a:t> </a:t>
                </a:r>
                <a:r>
                  <a:rPr lang="zh-CN" altLang="en-US" sz="1600">
                    <a:latin typeface="微软雅黑 Light" panose="020B0502040204020203" charset="-122"/>
                    <a:ea typeface="微软雅黑 Light" panose="020B0502040204020203" charset="-122"/>
                    <a:sym typeface="宋体" panose="02010600030101010101" pitchFamily="2" charset="-122"/>
                  </a:rPr>
                  <a:t>输入</a:t>
                </a:r>
                <a:r>
                  <a:rPr lang="en-US" altLang="zh-CN" sz="1600">
                    <a:latin typeface="微软雅黑 Light" panose="020B0502040204020203" charset="-122"/>
                    <a:ea typeface="微软雅黑 Light" panose="020B0502040204020203" charset="-122"/>
                    <a:sym typeface="宋体" panose="02010600030101010101" pitchFamily="2" charset="-122"/>
                  </a:rPr>
                  <a:t>x</a:t>
                </a:r>
                <a:endParaRPr lang="en-US" altLang="zh-CN" sz="1600">
                  <a:latin typeface="微软雅黑 Light" panose="020B0502040204020203" charset="-122"/>
                  <a:ea typeface="微软雅黑 Light" panose="020B0502040204020203" charset="-122"/>
                  <a:sym typeface="宋体" panose="02010600030101010101" pitchFamily="2" charset="-122"/>
                </a:endParaRPr>
              </a:p>
            </p:txBody>
          </p:sp>
          <p:cxnSp>
            <p:nvCxnSpPr>
              <p:cNvPr id="16" name="直接箭头连接符 15"/>
              <p:cNvCxnSpPr>
                <a:stCxn id="107527" idx="2"/>
              </p:cNvCxnSpPr>
              <p:nvPr/>
            </p:nvCxnSpPr>
            <p:spPr>
              <a:xfrm>
                <a:off x="12575" y="5502"/>
                <a:ext cx="0" cy="28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537" name="菱形 16"/>
              <p:cNvSpPr/>
              <p:nvPr/>
            </p:nvSpPr>
            <p:spPr>
              <a:xfrm>
                <a:off x="11279" y="5770"/>
                <a:ext cx="2579" cy="893"/>
              </a:xfrm>
              <a:prstGeom prst="diamond">
                <a:avLst/>
              </a:prstGeom>
              <a:noFill/>
              <a:ln w="12700" cap="sq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en-US" altLang="zh-CN" sz="1600">
                  <a:latin typeface="微软雅黑 Light" panose="020B0502040204020203" charset="-122"/>
                  <a:ea typeface="微软雅黑 Light" panose="020B0502040204020203" charset="-122"/>
                </a:endParaRPr>
              </a:p>
            </p:txBody>
          </p:sp>
          <p:sp>
            <p:nvSpPr>
              <p:cNvPr id="107538" name="文本框 18"/>
              <p:cNvSpPr txBox="1"/>
              <p:nvPr/>
            </p:nvSpPr>
            <p:spPr>
              <a:xfrm rot="-5400000">
                <a:off x="12292" y="5306"/>
                <a:ext cx="675" cy="1826"/>
              </a:xfrm>
              <a:prstGeom prst="rect">
                <a:avLst/>
              </a:prstGeom>
              <a:noFill/>
              <a:ln w="12700">
                <a:noFill/>
              </a:ln>
              <a:scene3d>
                <a:camera prst="legacyObliqueTopRight">
                  <a:rot lat="0" lon="0" rev="0"/>
                </a:camera>
                <a:lightRig rig="legacyFlat2" dir="t"/>
              </a:scene3d>
              <a:sp3d extrusionH="2270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</a:sp3d>
            </p:spPr>
            <p:txBody>
              <a:bodyPr vert="eaVert" wrap="square" anchor="ctr" anchorCtr="0">
                <a:spAutoFit/>
                <a:flatTx/>
              </a:bodyPr>
              <a:p>
                <a:pPr algn="ctr"/>
                <a:r>
                  <a:rPr lang="en-US" altLang="zh-CN" sz="1600" dirty="0">
                    <a:latin typeface="微软雅黑 Light" panose="020B0502040204020203" charset="-122"/>
                    <a:ea typeface="微软雅黑 Light" panose="020B0502040204020203" charset="-122"/>
                  </a:rPr>
                  <a:t>x</a:t>
                </a:r>
                <a:r>
                  <a:rPr lang="zh-CN" altLang="en-US" sz="1600" dirty="0">
                    <a:latin typeface="微软雅黑 Light" panose="020B0502040204020203" charset="-122"/>
                    <a:ea typeface="微软雅黑 Light" panose="020B0502040204020203" charset="-122"/>
                  </a:rPr>
                  <a:t>大于</a:t>
                </a:r>
                <a:r>
                  <a:rPr lang="en-US" altLang="zh-CN" sz="1600" dirty="0">
                    <a:latin typeface="微软雅黑 Light" panose="020B0502040204020203" charset="-122"/>
                    <a:ea typeface="微软雅黑 Light" panose="020B0502040204020203" charset="-122"/>
                  </a:rPr>
                  <a:t>max?</a:t>
                </a:r>
                <a:endParaRPr lang="en-US" altLang="zh-CN" sz="1600" dirty="0">
                  <a:latin typeface="微软雅黑 Light" panose="020B0502040204020203" charset="-122"/>
                  <a:ea typeface="微软雅黑 Light" panose="020B0502040204020203" charset="-122"/>
                </a:endParaRPr>
              </a:p>
            </p:txBody>
          </p:sp>
          <p:cxnSp>
            <p:nvCxnSpPr>
              <p:cNvPr id="20" name="直接箭头连接符 19"/>
              <p:cNvCxnSpPr>
                <a:stCxn id="107527" idx="2"/>
              </p:cNvCxnSpPr>
              <p:nvPr/>
            </p:nvCxnSpPr>
            <p:spPr>
              <a:xfrm>
                <a:off x="12575" y="6648"/>
                <a:ext cx="0" cy="28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540" name="矩形 20"/>
              <p:cNvSpPr/>
              <p:nvPr/>
            </p:nvSpPr>
            <p:spPr>
              <a:xfrm>
                <a:off x="11586" y="6961"/>
                <a:ext cx="2091" cy="551"/>
              </a:xfrm>
              <a:prstGeom prst="rect">
                <a:avLst/>
              </a:prstGeom>
              <a:noFill/>
              <a:ln w="12700" cap="sq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>
                    <a:latin typeface="微软雅黑 Light" panose="020B0502040204020203" charset="-122"/>
                    <a:ea typeface="微软雅黑 Light" panose="020B0502040204020203" charset="-122"/>
                    <a:sym typeface="宋体" panose="02010600030101010101" pitchFamily="2" charset="-122"/>
                  </a:rPr>
                  <a:t> max=x</a:t>
                </a:r>
                <a:endParaRPr lang="en-US" altLang="zh-CN">
                  <a:latin typeface="微软雅黑 Light" panose="020B0502040204020203" charset="-122"/>
                  <a:ea typeface="微软雅黑 Light" panose="020B0502040204020203" charset="-122"/>
                  <a:sym typeface="宋体" panose="02010600030101010101" pitchFamily="2" charset="-122"/>
                </a:endParaRPr>
              </a:p>
            </p:txBody>
          </p:sp>
          <p:cxnSp>
            <p:nvCxnSpPr>
              <p:cNvPr id="22" name="直接连接符 21"/>
              <p:cNvCxnSpPr>
                <a:stCxn id="107533" idx="3"/>
              </p:cNvCxnSpPr>
              <p:nvPr/>
            </p:nvCxnSpPr>
            <p:spPr>
              <a:xfrm>
                <a:off x="13700" y="4364"/>
                <a:ext cx="121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>
                <a:stCxn id="107537" idx="3"/>
              </p:cNvCxnSpPr>
              <p:nvPr/>
            </p:nvCxnSpPr>
            <p:spPr>
              <a:xfrm>
                <a:off x="13858" y="6217"/>
                <a:ext cx="59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>
                <a:stCxn id="107537" idx="3"/>
              </p:cNvCxnSpPr>
              <p:nvPr/>
            </p:nvCxnSpPr>
            <p:spPr>
              <a:xfrm>
                <a:off x="14479" y="6205"/>
                <a:ext cx="0" cy="154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>
                <a:stCxn id="107537" idx="3"/>
              </p:cNvCxnSpPr>
              <p:nvPr/>
            </p:nvCxnSpPr>
            <p:spPr>
              <a:xfrm flipH="1">
                <a:off x="12623" y="7730"/>
                <a:ext cx="1887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/>
              <p:cNvCxnSpPr>
                <a:stCxn id="107537" idx="3"/>
              </p:cNvCxnSpPr>
              <p:nvPr/>
            </p:nvCxnSpPr>
            <p:spPr>
              <a:xfrm>
                <a:off x="12584" y="7512"/>
                <a:ext cx="0" cy="60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546" name="矩形 26"/>
              <p:cNvSpPr/>
              <p:nvPr/>
            </p:nvSpPr>
            <p:spPr>
              <a:xfrm>
                <a:off x="11624" y="8090"/>
                <a:ext cx="2091" cy="551"/>
              </a:xfrm>
              <a:prstGeom prst="rect">
                <a:avLst/>
              </a:prstGeom>
              <a:noFill/>
              <a:ln w="12700" cap="sq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pPr algn="ctr">
                  <a:buSzTx/>
                </a:pPr>
                <a:r>
                  <a:rPr lang="en-US" altLang="zh-CN">
                    <a:latin typeface="微软雅黑 Light" panose="020B0502040204020203" charset="-122"/>
                    <a:ea typeface="微软雅黑 Light" panose="020B0502040204020203" charset="-122"/>
                    <a:sym typeface="宋体" panose="02010600030101010101" pitchFamily="2" charset="-122"/>
                  </a:rPr>
                  <a:t> i=i+1</a:t>
                </a:r>
                <a:endParaRPr lang="en-US" altLang="zh-CN">
                  <a:latin typeface="微软雅黑 Light" panose="020B0502040204020203" charset="-122"/>
                  <a:ea typeface="微软雅黑 Light" panose="020B0502040204020203" charset="-122"/>
                  <a:sym typeface="宋体" panose="02010600030101010101" pitchFamily="2" charset="-122"/>
                </a:endParaRPr>
              </a:p>
            </p:txBody>
          </p:sp>
          <p:cxnSp>
            <p:nvCxnSpPr>
              <p:cNvPr id="28" name="直接连接符 27"/>
              <p:cNvCxnSpPr>
                <a:stCxn id="107537" idx="3"/>
              </p:cNvCxnSpPr>
              <p:nvPr/>
            </p:nvCxnSpPr>
            <p:spPr>
              <a:xfrm flipH="1">
                <a:off x="14888" y="4355"/>
                <a:ext cx="16" cy="46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>
                <a:stCxn id="107537" idx="3"/>
              </p:cNvCxnSpPr>
              <p:nvPr/>
            </p:nvCxnSpPr>
            <p:spPr>
              <a:xfrm flipH="1">
                <a:off x="12592" y="9012"/>
                <a:ext cx="231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>
                <a:stCxn id="107537" idx="3"/>
              </p:cNvCxnSpPr>
              <p:nvPr/>
            </p:nvCxnSpPr>
            <p:spPr>
              <a:xfrm>
                <a:off x="12608" y="8997"/>
                <a:ext cx="0" cy="28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550" name="平行四边形 31"/>
              <p:cNvSpPr/>
              <p:nvPr/>
            </p:nvSpPr>
            <p:spPr>
              <a:xfrm>
                <a:off x="11421" y="9250"/>
                <a:ext cx="2109" cy="618"/>
              </a:xfrm>
              <a:prstGeom prst="parallelogram">
                <a:avLst>
                  <a:gd name="adj" fmla="val 24994"/>
                </a:avLst>
              </a:prstGeom>
              <a:noFill/>
              <a:ln w="12700" cap="sq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r>
                  <a:rPr lang="zh-CN" altLang="en-US" sz="1600">
                    <a:latin typeface="微软雅黑 Light" panose="020B0502040204020203" charset="-122"/>
                    <a:ea typeface="微软雅黑 Light" panose="020B0502040204020203" charset="-122"/>
                  </a:rPr>
                  <a:t>输出</a:t>
                </a:r>
                <a:r>
                  <a:rPr lang="en-US" altLang="zh-CN" sz="1600">
                    <a:latin typeface="微软雅黑 Light" panose="020B0502040204020203" charset="-122"/>
                    <a:ea typeface="微软雅黑 Light" panose="020B0502040204020203" charset="-122"/>
                  </a:rPr>
                  <a:t>max</a:t>
                </a:r>
                <a:endParaRPr lang="en-US" altLang="zh-CN" sz="1600">
                  <a:latin typeface="微软雅黑 Light" panose="020B0502040204020203" charset="-122"/>
                  <a:ea typeface="微软雅黑 Light" panose="020B0502040204020203" charset="-122"/>
                </a:endParaRPr>
              </a:p>
            </p:txBody>
          </p:sp>
          <p:cxnSp>
            <p:nvCxnSpPr>
              <p:cNvPr id="33" name="直接箭头连接符 32"/>
              <p:cNvCxnSpPr>
                <a:stCxn id="107537" idx="3"/>
              </p:cNvCxnSpPr>
              <p:nvPr/>
            </p:nvCxnSpPr>
            <p:spPr>
              <a:xfrm>
                <a:off x="12615" y="9868"/>
                <a:ext cx="0" cy="28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552" name="圆角矩形 33"/>
              <p:cNvSpPr/>
              <p:nvPr/>
            </p:nvSpPr>
            <p:spPr>
              <a:xfrm>
                <a:off x="11570" y="10151"/>
                <a:ext cx="2107" cy="590"/>
              </a:xfrm>
              <a:prstGeom prst="roundRect">
                <a:avLst>
                  <a:gd name="adj" fmla="val 16667"/>
                </a:avLst>
              </a:prstGeom>
              <a:noFill/>
              <a:ln w="12700" cap="sq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pPr algn="ctr"/>
                <a:r>
                  <a:rPr lang="zh-CN" altLang="en-US" sz="1600">
                    <a:latin typeface="微软雅黑 Light" panose="020B0502040204020203" charset="-122"/>
                    <a:ea typeface="微软雅黑 Light" panose="020B0502040204020203" charset="-122"/>
                  </a:rPr>
                  <a:t>结束</a:t>
                </a:r>
                <a:endParaRPr lang="zh-CN" altLang="en-US" sz="1600">
                  <a:latin typeface="微软雅黑 Light" panose="020B0502040204020203" charset="-122"/>
                  <a:ea typeface="微软雅黑 Light" panose="020B0502040204020203" charset="-122"/>
                </a:endParaRPr>
              </a:p>
            </p:txBody>
          </p:sp>
          <p:sp>
            <p:nvSpPr>
              <p:cNvPr id="107553" name="文本框 40"/>
              <p:cNvSpPr txBox="1"/>
              <p:nvPr/>
            </p:nvSpPr>
            <p:spPr>
              <a:xfrm rot="-5400000">
                <a:off x="13766" y="3664"/>
                <a:ext cx="675" cy="983"/>
              </a:xfrm>
              <a:prstGeom prst="rect">
                <a:avLst/>
              </a:prstGeom>
              <a:noFill/>
              <a:ln w="12700">
                <a:noFill/>
              </a:ln>
              <a:scene3d>
                <a:camera prst="legacyObliqueTopRight">
                  <a:rot lat="0" lon="0" rev="0"/>
                </a:camera>
                <a:lightRig rig="legacyFlat2" dir="t"/>
              </a:scene3d>
              <a:sp3d extrusionH="2270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</a:sp3d>
            </p:spPr>
            <p:txBody>
              <a:bodyPr vert="eaVert" wrap="square" anchor="ctr" anchorCtr="0">
                <a:spAutoFit/>
                <a:flatTx/>
              </a:bodyPr>
              <a:p>
                <a:pPr algn="ctr"/>
                <a:r>
                  <a:rPr lang="zh-CN" altLang="en-US" sz="1600" dirty="0">
                    <a:latin typeface="微软雅黑 Light" panose="020B0502040204020203" charset="-122"/>
                    <a:ea typeface="微软雅黑 Light" panose="020B0502040204020203" charset="-122"/>
                  </a:rPr>
                  <a:t>假</a:t>
                </a:r>
                <a:endParaRPr lang="zh-CN" altLang="en-US" sz="1600" dirty="0">
                  <a:latin typeface="微软雅黑 Light" panose="020B0502040204020203" charset="-122"/>
                  <a:ea typeface="微软雅黑 Light" panose="020B0502040204020203" charset="-122"/>
                </a:endParaRPr>
              </a:p>
            </p:txBody>
          </p:sp>
          <p:sp>
            <p:nvSpPr>
              <p:cNvPr id="107554" name="文本框 41"/>
              <p:cNvSpPr txBox="1"/>
              <p:nvPr/>
            </p:nvSpPr>
            <p:spPr>
              <a:xfrm rot="-5400000">
                <a:off x="13782" y="5537"/>
                <a:ext cx="675" cy="983"/>
              </a:xfrm>
              <a:prstGeom prst="rect">
                <a:avLst/>
              </a:prstGeom>
              <a:noFill/>
              <a:ln w="12700">
                <a:noFill/>
              </a:ln>
              <a:scene3d>
                <a:camera prst="legacyObliqueTopRight">
                  <a:rot lat="0" lon="0" rev="0"/>
                </a:camera>
                <a:lightRig rig="legacyFlat2" dir="t"/>
              </a:scene3d>
              <a:sp3d extrusionH="2270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</a:sp3d>
            </p:spPr>
            <p:txBody>
              <a:bodyPr vert="eaVert" wrap="square" anchor="ctr" anchorCtr="0">
                <a:spAutoFit/>
                <a:flatTx/>
              </a:bodyPr>
              <a:p>
                <a:pPr algn="ctr"/>
                <a:r>
                  <a:rPr lang="zh-CN" altLang="en-US" sz="1600" dirty="0">
                    <a:latin typeface="微软雅黑 Light" panose="020B0502040204020203" charset="-122"/>
                    <a:ea typeface="微软雅黑 Light" panose="020B0502040204020203" charset="-122"/>
                  </a:rPr>
                  <a:t>假</a:t>
                </a:r>
                <a:endParaRPr lang="zh-CN" altLang="en-US" sz="1600" dirty="0">
                  <a:latin typeface="微软雅黑 Light" panose="020B0502040204020203" charset="-122"/>
                  <a:ea typeface="微软雅黑 Light" panose="020B0502040204020203" charset="-122"/>
                </a:endParaRPr>
              </a:p>
            </p:txBody>
          </p:sp>
        </p:grpSp>
        <p:cxnSp>
          <p:nvCxnSpPr>
            <p:cNvPr id="37" name="直接连接符 36"/>
            <p:cNvCxnSpPr>
              <a:stCxn id="107546" idx="2"/>
            </p:cNvCxnSpPr>
            <p:nvPr/>
          </p:nvCxnSpPr>
          <p:spPr>
            <a:xfrm>
              <a:off x="14824" y="8476"/>
              <a:ext cx="0" cy="2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>
              <a:stCxn id="107546" idx="2"/>
            </p:cNvCxnSpPr>
            <p:nvPr/>
          </p:nvCxnSpPr>
          <p:spPr>
            <a:xfrm flipH="1">
              <a:off x="12969" y="8703"/>
              <a:ext cx="187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>
              <a:stCxn id="107546" idx="2"/>
            </p:cNvCxnSpPr>
            <p:nvPr/>
          </p:nvCxnSpPr>
          <p:spPr>
            <a:xfrm flipH="1" flipV="1">
              <a:off x="12922" y="3655"/>
              <a:ext cx="32" cy="5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stCxn id="107546" idx="2"/>
            </p:cNvCxnSpPr>
            <p:nvPr/>
          </p:nvCxnSpPr>
          <p:spPr>
            <a:xfrm>
              <a:off x="12938" y="3661"/>
              <a:ext cx="174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ldLvl="5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文本占位符 22529"/>
          <p:cNvSpPr>
            <a:spLocks noGrp="1"/>
          </p:cNvSpPr>
          <p:nvPr>
            <p:ph type="body" idx="4294967295"/>
          </p:nvPr>
        </p:nvSpPr>
        <p:spPr>
          <a:xfrm>
            <a:off x="2057400" y="172878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6725" indent="0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b="1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、伪代码表示</a:t>
            </a:r>
            <a:endParaRPr lang="zh-CN" altLang="en-US" sz="2000" b="1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8546" name="Text Box 5"/>
          <p:cNvSpPr txBox="1"/>
          <p:nvPr/>
        </p:nvSpPr>
        <p:spPr>
          <a:xfrm>
            <a:off x="1704975" y="79375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、程序与程序设计语言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4339" name="文本占位符 14338"/>
          <p:cNvSpPr>
            <a:spLocks noGrp="1"/>
          </p:cNvSpPr>
          <p:nvPr/>
        </p:nvSpPr>
        <p:spPr>
          <a:xfrm>
            <a:off x="685800" y="777875"/>
            <a:ext cx="7772400" cy="1219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1" indent="0" algn="l" rtl="0" eaLnBrk="1" latinLnBrk="0" hangingPunct="1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）程序的算法表示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22529"/>
          <p:cNvSpPr>
            <a:spLocks noGrp="1"/>
          </p:cNvSpPr>
          <p:nvPr/>
        </p:nvSpPr>
        <p:spPr>
          <a:xfrm>
            <a:off x="2057400" y="2219325"/>
            <a:ext cx="8886825" cy="592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6725">
              <a:lnSpc>
                <a:spcPct val="150000"/>
              </a:lnSpc>
              <a:spcBef>
                <a:spcPts val="1000"/>
              </a:spcBef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伪代码是一种近似高级语言但又不受语法约束的语言描述方式。它不能在计算机中运行，但是可以用来描述算法。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8549" name="矩形 6"/>
          <p:cNvSpPr/>
          <p:nvPr/>
        </p:nvSpPr>
        <p:spPr>
          <a:xfrm>
            <a:off x="2566988" y="3279775"/>
            <a:ext cx="5891212" cy="2686050"/>
          </a:xfrm>
          <a:prstGeom prst="rect">
            <a:avLst/>
          </a:prstGeom>
          <a:solidFill>
            <a:schemeClr val="bg1"/>
          </a:solidFill>
          <a:ln w="15875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 anchorCtr="0"/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{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          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输入第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个数赋给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max;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          for( i=1; i&lt;=9 ; i++)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          {    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输入第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i+1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个数赋给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x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；</a:t>
            </a: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                        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if( x&gt;max)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                   max=x;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           }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           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输出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max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；</a:t>
            </a: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}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505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7" grpId="0" build="p"/>
      <p:bldP spid="14339" grpId="0" bldLvl="5" build="p"/>
      <p:bldP spid="45057" grpId="1" build="p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文本占位符 22529"/>
          <p:cNvSpPr>
            <a:spLocks noGrp="1"/>
          </p:cNvSpPr>
          <p:nvPr>
            <p:ph type="body" idx="4294967295"/>
          </p:nvPr>
        </p:nvSpPr>
        <p:spPr>
          <a:xfrm>
            <a:off x="2057400" y="172878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6725" indent="0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D</a:t>
            </a:r>
            <a:r>
              <a:rPr lang="zh-CN" altLang="en-US" sz="2000" b="1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、程序设计语言表示</a:t>
            </a:r>
            <a:endParaRPr lang="zh-CN" altLang="en-US" sz="2000" b="1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9570" name="Text Box 5"/>
          <p:cNvSpPr txBox="1"/>
          <p:nvPr/>
        </p:nvSpPr>
        <p:spPr>
          <a:xfrm>
            <a:off x="1704975" y="79375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、程序与程序设计语言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4339" name="文本占位符 14338"/>
          <p:cNvSpPr>
            <a:spLocks noGrp="1"/>
          </p:cNvSpPr>
          <p:nvPr/>
        </p:nvSpPr>
        <p:spPr>
          <a:xfrm>
            <a:off x="685800" y="777875"/>
            <a:ext cx="7772400" cy="1219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1" indent="0" algn="l" rtl="0" eaLnBrk="1" latinLnBrk="0" hangingPunct="1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）程序的算法表示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572" name="矩形 6"/>
          <p:cNvSpPr/>
          <p:nvPr/>
        </p:nvSpPr>
        <p:spPr>
          <a:xfrm>
            <a:off x="2503488" y="2371725"/>
            <a:ext cx="6929437" cy="3005138"/>
          </a:xfrm>
          <a:prstGeom prst="rect">
            <a:avLst/>
          </a:prstGeom>
          <a:solidFill>
            <a:schemeClr val="bg1"/>
          </a:solidFill>
          <a:ln w="15875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 anchorCtr="0"/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#including&lt;stdio.h&gt;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int main( )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{     int  a,b,t;                              /* 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定义所用的变量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*/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a=3; b=5;                             /* 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给变量赋值  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*/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t=a;                                      /* 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变量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的值存入变量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t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中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*/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a=b;                                    /* 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变量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b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的值存入变量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中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*/ 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b=t;                                     /* 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变量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t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的值存入变量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b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中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*/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printf(“%d %d”, a,b);       /* 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输出交换后的变量的值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*/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     return 0;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 }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charRg st="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505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7" grpId="0" build="p"/>
      <p:bldP spid="14339" grpId="0" bldLvl="5" build="p"/>
      <p:bldP spid="45057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10595" name="文本框 1"/>
          <p:cNvSpPr/>
          <p:nvPr/>
        </p:nvSpPr>
        <p:spPr>
          <a:xfrm>
            <a:off x="5973763" y="2432050"/>
            <a:ext cx="30654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语言的特点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10596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02</a:t>
              </a:r>
              <a:endParaRPr lang="zh-CN" alt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 spd="med" advClick="0" advTm="5561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2641" name="组合 20489"/>
          <p:cNvGrpSpPr/>
          <p:nvPr/>
        </p:nvGrpSpPr>
        <p:grpSpPr>
          <a:xfrm>
            <a:off x="9515475" y="6105525"/>
            <a:ext cx="714375" cy="381000"/>
            <a:chOff x="4530" y="3822"/>
            <a:chExt cx="450" cy="240"/>
          </a:xfrm>
        </p:grpSpPr>
        <p:sp>
          <p:nvSpPr>
            <p:cNvPr id="112642" name="任意多边形 20490"/>
            <p:cNvSpPr/>
            <p:nvPr/>
          </p:nvSpPr>
          <p:spPr>
            <a:xfrm rot="-5400000">
              <a:off x="4536" y="3816"/>
              <a:ext cx="240" cy="252"/>
            </a:xfrm>
            <a:custGeom>
              <a:avLst/>
              <a:gdLst/>
              <a:ahLst/>
              <a:cxnLst>
                <a:cxn ang="270">
                  <a:pos x="15126" y="0"/>
                </a:cxn>
                <a:cxn ang="90">
                  <a:pos x="15126" y="12158"/>
                </a:cxn>
                <a:cxn ang="90">
                  <a:pos x="3237" y="21600"/>
                </a:cxn>
                <a:cxn ang="0">
                  <a:pos x="21600" y="6079"/>
                </a:cxn>
              </a:cxnLst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rgbClr val="00CC00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643" name="椭圆 20491"/>
            <p:cNvSpPr/>
            <p:nvPr/>
          </p:nvSpPr>
          <p:spPr>
            <a:xfrm>
              <a:off x="4800" y="3984"/>
              <a:ext cx="72" cy="72"/>
            </a:xfrm>
            <a:prstGeom prst="ellipse">
              <a:avLst/>
            </a:prstGeom>
            <a:solidFill>
              <a:srgbClr val="00CC00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644" name="椭圆 20492"/>
            <p:cNvSpPr/>
            <p:nvPr/>
          </p:nvSpPr>
          <p:spPr>
            <a:xfrm>
              <a:off x="4908" y="3984"/>
              <a:ext cx="72" cy="72"/>
            </a:xfrm>
            <a:prstGeom prst="ellipse">
              <a:avLst/>
            </a:prstGeom>
            <a:solidFill>
              <a:srgbClr val="00CC00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文本占位符 20481"/>
          <p:cNvSpPr>
            <a:spLocks noGrp="1"/>
          </p:cNvSpPr>
          <p:nvPr>
            <p:ph type="body" idx="4294967295"/>
          </p:nvPr>
        </p:nvSpPr>
        <p:spPr>
          <a:xfrm>
            <a:off x="2608263" y="1131888"/>
            <a:ext cx="7772400" cy="5032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/>
            <a:r>
              <a:rPr lang="zh-CN" altLang="en-US" dirty="0"/>
              <a:t>产生背景</a:t>
            </a:r>
            <a:endParaRPr lang="zh-CN" altLang="en-US" dirty="0"/>
          </a:p>
          <a:p>
            <a:pPr lvl="2"/>
            <a:r>
              <a:rPr lang="zh-CN" altLang="en-US" dirty="0"/>
              <a:t>产生过程</a:t>
            </a:r>
            <a:endParaRPr lang="zh-CN" altLang="en-US" dirty="0"/>
          </a:p>
          <a:p>
            <a:pPr lvl="3"/>
            <a:r>
              <a:rPr lang="zh-CN" altLang="en-US" dirty="0"/>
              <a:t>时间</a:t>
            </a:r>
            <a:r>
              <a:rPr lang="en-US" altLang="zh-CN"/>
              <a:t>:1972~1973</a:t>
            </a:r>
            <a:endParaRPr lang="en-US" altLang="zh-CN"/>
          </a:p>
          <a:p>
            <a:pPr lvl="3"/>
            <a:r>
              <a:rPr lang="zh-CN" altLang="en-US" dirty="0"/>
              <a:t>地点</a:t>
            </a:r>
            <a:r>
              <a:rPr lang="en-US" altLang="zh-CN" dirty="0"/>
              <a:t>:</a:t>
            </a:r>
            <a:r>
              <a:rPr lang="zh-CN" altLang="en-US" dirty="0"/>
              <a:t>美国贝尔实验室</a:t>
            </a:r>
            <a:endParaRPr lang="zh-CN" altLang="en-US" dirty="0"/>
          </a:p>
          <a:p>
            <a:pPr lvl="3"/>
            <a:r>
              <a:rPr lang="zh-CN" altLang="en-US" dirty="0"/>
              <a:t>目的</a:t>
            </a:r>
            <a:r>
              <a:rPr lang="en-US" altLang="zh-CN" dirty="0"/>
              <a:t>:UNIX</a:t>
            </a:r>
            <a:r>
              <a:rPr lang="zh-CN" altLang="en-US" dirty="0"/>
              <a:t>操作系统</a:t>
            </a:r>
            <a:endParaRPr lang="zh-CN" altLang="en-US" dirty="0"/>
          </a:p>
          <a:p>
            <a:pPr lvl="3"/>
            <a:r>
              <a:rPr lang="zh-CN" altLang="en-US" dirty="0"/>
              <a:t>设计人</a:t>
            </a:r>
            <a:r>
              <a:rPr lang="en-US" altLang="zh-CN"/>
              <a:t>: Ken.Thompson</a:t>
            </a:r>
            <a:r>
              <a:rPr lang="zh-CN" altLang="en-US"/>
              <a:t>和</a:t>
            </a:r>
            <a:r>
              <a:rPr lang="en-US" altLang="zh-CN"/>
              <a:t>Dennis.M.Ritchie</a:t>
            </a:r>
            <a:endParaRPr lang="en-US" altLang="zh-CN"/>
          </a:p>
          <a:p>
            <a:pPr lvl="2"/>
            <a:r>
              <a:rPr lang="en-US" altLang="zh-CN" dirty="0"/>
              <a:t>C</a:t>
            </a:r>
            <a:r>
              <a:rPr lang="zh-CN" altLang="en-US" dirty="0"/>
              <a:t>标准</a:t>
            </a:r>
            <a:endParaRPr lang="zh-CN" altLang="en-US" dirty="0"/>
          </a:p>
          <a:p>
            <a:pPr lvl="3"/>
            <a:r>
              <a:rPr lang="zh-CN" altLang="en-US" dirty="0"/>
              <a:t>标准</a:t>
            </a:r>
            <a:r>
              <a:rPr lang="en-US" altLang="zh-CN" dirty="0"/>
              <a:t>C: K&amp;R</a:t>
            </a:r>
            <a:r>
              <a:rPr lang="zh-CN" altLang="en-US" dirty="0"/>
              <a:t>合著</a:t>
            </a:r>
            <a:r>
              <a:rPr lang="en-US" altLang="zh-CN"/>
              <a:t>《The C Programming Language》</a:t>
            </a:r>
            <a:endParaRPr lang="en-US" altLang="zh-CN"/>
          </a:p>
          <a:p>
            <a:pPr lvl="3"/>
            <a:r>
              <a:rPr lang="en-US" altLang="zh-CN" dirty="0"/>
              <a:t>ANSI C: 1983</a:t>
            </a:r>
            <a:r>
              <a:rPr lang="zh-CN" altLang="en-US" dirty="0"/>
              <a:t>年</a:t>
            </a:r>
            <a:endParaRPr lang="zh-CN" altLang="en-US" dirty="0"/>
          </a:p>
          <a:p>
            <a:pPr lvl="3"/>
            <a:r>
              <a:rPr lang="en-US" altLang="zh-CN" dirty="0"/>
              <a:t>87 ANSI C: 1987</a:t>
            </a:r>
            <a:r>
              <a:rPr lang="zh-CN" altLang="en-US" dirty="0"/>
              <a:t>年</a:t>
            </a:r>
            <a:endParaRPr lang="zh-CN" altLang="en-US" dirty="0"/>
          </a:p>
          <a:p>
            <a:pPr lvl="3"/>
            <a:r>
              <a:rPr lang="en-US" altLang="zh-CN" dirty="0"/>
              <a:t>1990</a:t>
            </a:r>
            <a:r>
              <a:rPr lang="zh-CN" altLang="en-US" dirty="0"/>
              <a:t>年国际标准的</a:t>
            </a:r>
            <a:r>
              <a:rPr lang="en-US" altLang="zh-CN"/>
              <a:t>ANSI C</a:t>
            </a:r>
            <a:endParaRPr lang="en-US" altLang="zh-CN"/>
          </a:p>
        </p:txBody>
      </p:sp>
      <p:sp>
        <p:nvSpPr>
          <p:cNvPr id="112646" name="圆角矩形 20486"/>
          <p:cNvSpPr/>
          <p:nvPr/>
        </p:nvSpPr>
        <p:spPr>
          <a:xfrm>
            <a:off x="2590800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7" name="圆角矩形 20487">
            <a:hlinkClick r:id="" action="ppaction://hlinkshowjump?jump=nextslide"/>
          </p:cNvPr>
          <p:cNvSpPr/>
          <p:nvPr/>
        </p:nvSpPr>
        <p:spPr>
          <a:xfrm>
            <a:off x="3200400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8" name="圆角矩形 20488">
            <a:hlinkClick r:id="rId1" action="ppaction://hlinksldjump"/>
          </p:cNvPr>
          <p:cNvSpPr/>
          <p:nvPr/>
        </p:nvSpPr>
        <p:spPr>
          <a:xfrm>
            <a:off x="9372600" y="6057900"/>
            <a:ext cx="1047750" cy="51435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 anchorCtr="0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12649" name="标题 20495"/>
          <p:cNvSpPr>
            <a:spLocks noGrp="1"/>
          </p:cNvSpPr>
          <p:nvPr>
            <p:ph type="title" idx="4294967295"/>
          </p:nvPr>
        </p:nvSpPr>
        <p:spPr>
          <a:xfrm>
            <a:off x="1228725" y="858838"/>
            <a:ext cx="76200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语言发展过程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50" name="Text Box 5"/>
          <p:cNvSpPr txBox="1"/>
          <p:nvPr/>
        </p:nvSpPr>
        <p:spPr>
          <a:xfrm>
            <a:off x="774700" y="104775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 C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语言的特点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charRg st="1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3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charRg st="23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34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charRg st="34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6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charRg st="46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81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charRg st="81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85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charRg st="85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24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charRg st="124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38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charRg st="138" end="1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55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charRg st="155" end="1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3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9" name="文本占位符 22529"/>
          <p:cNvSpPr>
            <a:spLocks noGrp="1"/>
          </p:cNvSpPr>
          <p:nvPr>
            <p:ph type="body" idx="4294967295"/>
          </p:nvPr>
        </p:nvSpPr>
        <p:spPr>
          <a:xfrm>
            <a:off x="2303463" y="942975"/>
            <a:ext cx="6400800" cy="2419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6725" indent="236855">
              <a:lnSpc>
                <a:spcPct val="150000"/>
              </a:lnSpc>
            </a:pP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语言简洁、紧凑、灵活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运算符和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数据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类型丰富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程序设计结构化、模块化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生成目标代码质量高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可移植性好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14690" name="圆角矩形 22535">
            <a:hlinkClick r:id="" action="ppaction://hlinkshowjump?jump=previousslide"/>
          </p:cNvPr>
          <p:cNvSpPr/>
          <p:nvPr/>
        </p:nvSpPr>
        <p:spPr>
          <a:xfrm>
            <a:off x="2590800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1" name="圆角矩形 22536">
            <a:hlinkClick r:id="" action="ppaction://hlinkshowjump?jump=nextslide"/>
          </p:cNvPr>
          <p:cNvSpPr/>
          <p:nvPr/>
        </p:nvSpPr>
        <p:spPr>
          <a:xfrm>
            <a:off x="3200400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75" name="椭圆 22574">
            <a:hlinkClick r:id="" action="ppaction://hlinkshowjump?jump=nextslide"/>
          </p:cNvPr>
          <p:cNvSpPr/>
          <p:nvPr/>
        </p:nvSpPr>
        <p:spPr>
          <a:xfrm>
            <a:off x="7086600" y="1562100"/>
            <a:ext cx="533400" cy="381000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rgbClr val="0087BA"/>
              </a:gs>
            </a:gsLst>
            <a:path path="shape">
              <a:fillToRect l="50000" t="50000" r="50000" b="50000"/>
            </a:path>
            <a:tileRect/>
          </a:gra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76" name="椭圆 22575">
            <a:hlinkClick r:id="" action="ppaction://hlinksldjump"/>
          </p:cNvPr>
          <p:cNvSpPr/>
          <p:nvPr/>
        </p:nvSpPr>
        <p:spPr>
          <a:xfrm>
            <a:off x="7696200" y="1562100"/>
            <a:ext cx="533400" cy="381000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rgbClr val="0087BA"/>
              </a:gs>
            </a:gsLst>
            <a:path path="shape">
              <a:fillToRect l="50000" t="50000" r="50000" b="50000"/>
            </a:path>
            <a:tileRect/>
          </a:gra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77" name="椭圆 22576"/>
          <p:cNvSpPr/>
          <p:nvPr/>
        </p:nvSpPr>
        <p:spPr>
          <a:xfrm>
            <a:off x="8305800" y="1562100"/>
            <a:ext cx="533400" cy="381000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rgbClr val="0087BA"/>
              </a:gs>
            </a:gsLst>
            <a:path path="shape">
              <a:fillToRect l="50000" t="50000" r="50000" b="50000"/>
            </a:path>
            <a:tileRect/>
          </a:gra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78" name="椭圆 22577">
            <a:hlinkClick r:id="" action="ppaction://hlinksldjump"/>
          </p:cNvPr>
          <p:cNvSpPr/>
          <p:nvPr/>
        </p:nvSpPr>
        <p:spPr>
          <a:xfrm>
            <a:off x="7696200" y="2076450"/>
            <a:ext cx="533400" cy="381000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rgbClr val="0087BA"/>
              </a:gs>
            </a:gsLst>
            <a:path path="shape">
              <a:fillToRect l="50000" t="50000" r="50000" b="50000"/>
            </a:path>
            <a:tileRect/>
          </a:gra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79" name="椭圆 22578">
            <a:hlinkClick r:id="" action="ppaction://hlinksldjump"/>
          </p:cNvPr>
          <p:cNvSpPr/>
          <p:nvPr/>
        </p:nvSpPr>
        <p:spPr>
          <a:xfrm>
            <a:off x="7086600" y="2057400"/>
            <a:ext cx="533400" cy="381000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rgbClr val="0087BA"/>
              </a:gs>
            </a:gsLst>
            <a:path path="shape">
              <a:fillToRect l="50000" t="50000" r="50000" b="50000"/>
            </a:path>
            <a:tileRect/>
          </a:gra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582" name="组合 22581"/>
          <p:cNvGrpSpPr/>
          <p:nvPr/>
        </p:nvGrpSpPr>
        <p:grpSpPr>
          <a:xfrm>
            <a:off x="6210300" y="571500"/>
            <a:ext cx="2647950" cy="990600"/>
            <a:chOff x="2952" y="360"/>
            <a:chExt cx="1668" cy="624"/>
          </a:xfrm>
        </p:grpSpPr>
        <p:sp>
          <p:nvSpPr>
            <p:cNvPr id="114698" name="爆炸形 2 22579"/>
            <p:cNvSpPr/>
            <p:nvPr/>
          </p:nvSpPr>
          <p:spPr>
            <a:xfrm>
              <a:off x="3276" y="360"/>
              <a:ext cx="1344" cy="624"/>
            </a:xfrm>
            <a:prstGeom prst="irregularSeal2">
              <a:avLst/>
            </a:prstGeom>
            <a:noFill/>
            <a:ln w="38100" cap="sq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zh-CN" altLang="en-US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中级语言</a:t>
              </a:r>
              <a:endPara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699" name="直接连接符 22580"/>
            <p:cNvSpPr/>
            <p:nvPr/>
          </p:nvSpPr>
          <p:spPr>
            <a:xfrm>
              <a:off x="2952" y="768"/>
              <a:ext cx="396" cy="0"/>
            </a:xfrm>
            <a:prstGeom prst="line">
              <a:avLst/>
            </a:prstGeom>
            <a:ln w="38100" cap="sq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22590" name="椭圆 22589"/>
          <p:cNvSpPr/>
          <p:nvPr/>
        </p:nvSpPr>
        <p:spPr>
          <a:xfrm>
            <a:off x="7380288" y="2597150"/>
            <a:ext cx="533400" cy="381000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rgbClr val="0087BA"/>
              </a:gs>
            </a:gsLst>
            <a:path path="shape">
              <a:fillToRect l="50000" t="50000" r="50000" b="50000"/>
            </a:path>
            <a:tileRect/>
          </a:gra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701" name="Text Box 5"/>
          <p:cNvSpPr txBox="1"/>
          <p:nvPr/>
        </p:nvSpPr>
        <p:spPr>
          <a:xfrm>
            <a:off x="1704975" y="79375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C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语言的特点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25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89" grpId="0" build="p"/>
      <p:bldP spid="22575" grpId="0" bldLvl="0" animBg="1"/>
      <p:bldP spid="22576" grpId="0" bldLvl="0" animBg="1"/>
      <p:bldP spid="22577" grpId="0" bldLvl="0" animBg="1"/>
      <p:bldP spid="22578" grpId="0" bldLvl="0" animBg="1"/>
      <p:bldP spid="22579" grpId="0" bldLvl="0" animBg="1"/>
      <p:bldP spid="22590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96" name="文本框 41995"/>
          <p:cNvSpPr txBox="1"/>
          <p:nvPr/>
        </p:nvSpPr>
        <p:spPr>
          <a:xfrm>
            <a:off x="2767013" y="1033463"/>
            <a:ext cx="7823200" cy="513873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ctr">
            <a:spAutoFit/>
          </a:bodyPr>
          <a:p>
            <a:pPr lvl="1" eaLnBrk="0" fontAlgn="base" hangingPunct="0"/>
            <a:r>
              <a:rPr lang="zh-CN" altLang="en-US" sz="2800" strike="noStrike" noProof="1" dirty="0">
                <a:solidFill>
                  <a:schemeClr val="tx2"/>
                </a:solidFill>
                <a:latin typeface="Arial" panose="020B0604020202020204" pitchFamily="34" charset="0"/>
                <a:ea typeface="隶书" pitchFamily="49" charset="-122"/>
                <a:cs typeface="+mn-cs"/>
              </a:rPr>
              <a:t>：</a:t>
            </a:r>
            <a:r>
              <a:rPr lang="en-US" altLang="zh-CN" sz="1800" strike="noStrike" noProof="1">
                <a:solidFill>
                  <a:schemeClr val="tx2"/>
                </a:solidFill>
                <a:latin typeface="Arial" panose="020B0604020202020204" pitchFamily="34" charset="0"/>
                <a:ea typeface="隶书" pitchFamily="49" charset="-122"/>
                <a:cs typeface="+mn-cs"/>
              </a:rPr>
              <a:t>(</a:t>
            </a:r>
            <a:r>
              <a:rPr lang="zh-CN" altLang="en-US" sz="1800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由系统定义，不能重作其它定义</a:t>
            </a:r>
            <a:r>
              <a:rPr lang="en-US" altLang="zh-CN" sz="1800" strike="noStrike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lang="en-US" altLang="zh-CN" sz="2800" strike="noStrike" noProof="1">
              <a:solidFill>
                <a:schemeClr val="tx2"/>
              </a:solidFill>
              <a:latin typeface="Arial" panose="020B0604020202020204" pitchFamily="34" charset="0"/>
              <a:ea typeface="隶书" pitchFamily="49" charset="-122"/>
            </a:endParaRPr>
          </a:p>
          <a:p>
            <a:pPr lvl="1" eaLnBrk="0" fontAlgn="base" hangingPunct="0"/>
            <a:r>
              <a:rPr lang="en-US" altLang="zh-CN" sz="2800" strike="noStrike" noProof="1">
                <a:solidFill>
                  <a:schemeClr val="tx2"/>
                </a:solidFill>
                <a:latin typeface="Arial" panose="020B0604020202020204" pitchFamily="34" charset="0"/>
                <a:ea typeface="隶书" pitchFamily="49" charset="-122"/>
                <a:cs typeface="+mn-cs"/>
              </a:rPr>
              <a:t>auto          break       case        char         const</a:t>
            </a:r>
            <a:endParaRPr lang="en-US" altLang="zh-CN" sz="2800" strike="noStrike" noProof="1">
              <a:solidFill>
                <a:schemeClr val="tx2"/>
              </a:solidFill>
              <a:latin typeface="Arial" panose="020B0604020202020204" pitchFamily="34" charset="0"/>
              <a:ea typeface="隶书" pitchFamily="49" charset="-122"/>
            </a:endParaRPr>
          </a:p>
          <a:p>
            <a:pPr lvl="1" eaLnBrk="0" fontAlgn="base" hangingPunct="0"/>
            <a:r>
              <a:rPr lang="en-US" altLang="zh-CN" sz="2800" strike="noStrike" noProof="1">
                <a:solidFill>
                  <a:schemeClr val="tx2"/>
                </a:solidFill>
                <a:latin typeface="Arial" panose="020B0604020202020204" pitchFamily="34" charset="0"/>
                <a:ea typeface="隶书" pitchFamily="49" charset="-122"/>
                <a:cs typeface="+mn-cs"/>
              </a:rPr>
              <a:t>continue   default      do            double     else</a:t>
            </a:r>
            <a:endParaRPr lang="en-US" altLang="zh-CN" sz="2800" strike="noStrike" noProof="1">
              <a:solidFill>
                <a:schemeClr val="tx2"/>
              </a:solidFill>
              <a:latin typeface="Arial" panose="020B0604020202020204" pitchFamily="34" charset="0"/>
              <a:ea typeface="隶书" pitchFamily="49" charset="-122"/>
            </a:endParaRPr>
          </a:p>
          <a:p>
            <a:pPr lvl="1" eaLnBrk="0" fontAlgn="base" hangingPunct="0"/>
            <a:r>
              <a:rPr lang="en-US" altLang="zh-CN" sz="2800" strike="noStrike" noProof="1" err="1">
                <a:solidFill>
                  <a:schemeClr val="tx2"/>
                </a:solidFill>
                <a:latin typeface="Arial" panose="020B0604020202020204" pitchFamily="34" charset="0"/>
                <a:ea typeface="隶书" pitchFamily="49" charset="-122"/>
                <a:cs typeface="+mn-cs"/>
              </a:rPr>
              <a:t>enum        extern      float          for           goto</a:t>
            </a:r>
            <a:endParaRPr lang="en-US" altLang="zh-CN" sz="2800" strike="noStrike" noProof="1">
              <a:solidFill>
                <a:schemeClr val="tx2"/>
              </a:solidFill>
              <a:latin typeface="Arial" panose="020B0604020202020204" pitchFamily="34" charset="0"/>
              <a:ea typeface="隶书" pitchFamily="49" charset="-122"/>
            </a:endParaRPr>
          </a:p>
          <a:p>
            <a:pPr lvl="1" eaLnBrk="0" fontAlgn="base" hangingPunct="0"/>
            <a:r>
              <a:rPr lang="en-US" altLang="zh-CN" sz="2800" strike="noStrike" noProof="1" err="1">
                <a:solidFill>
                  <a:schemeClr val="tx2"/>
                </a:solidFill>
                <a:latin typeface="Arial" panose="020B0604020202020204" pitchFamily="34" charset="0"/>
                <a:ea typeface="隶书" pitchFamily="49" charset="-122"/>
                <a:cs typeface="+mn-cs"/>
              </a:rPr>
              <a:t>if               int</a:t>
            </a:r>
            <a:r>
              <a:rPr lang="en-US" altLang="zh-CN" sz="2800" strike="noStrike" noProof="1">
                <a:solidFill>
                  <a:schemeClr val="tx2"/>
                </a:solidFill>
                <a:latin typeface="Arial" panose="020B0604020202020204" pitchFamily="34" charset="0"/>
                <a:ea typeface="隶书" pitchFamily="49" charset="-122"/>
                <a:cs typeface="+mn-cs"/>
              </a:rPr>
              <a:t>             long         register    return</a:t>
            </a:r>
            <a:endParaRPr lang="en-US" altLang="zh-CN" sz="2800" strike="noStrike" noProof="1">
              <a:solidFill>
                <a:schemeClr val="tx2"/>
              </a:solidFill>
              <a:latin typeface="Arial" panose="020B0604020202020204" pitchFamily="34" charset="0"/>
              <a:ea typeface="隶书" pitchFamily="49" charset="-122"/>
            </a:endParaRPr>
          </a:p>
          <a:p>
            <a:pPr lvl="1" eaLnBrk="0" fontAlgn="base" hangingPunct="0"/>
            <a:r>
              <a:rPr lang="en-US" altLang="zh-CN" sz="2800" strike="noStrike" noProof="1" err="1">
                <a:solidFill>
                  <a:schemeClr val="tx2"/>
                </a:solidFill>
                <a:latin typeface="Arial" panose="020B0604020202020204" pitchFamily="34" charset="0"/>
                <a:ea typeface="隶书" pitchFamily="49" charset="-122"/>
                <a:cs typeface="+mn-cs"/>
              </a:rPr>
              <a:t>short         signed     sizeof       static        struct</a:t>
            </a:r>
            <a:endParaRPr lang="en-US" altLang="zh-CN" sz="2800" strike="noStrike" noProof="1">
              <a:solidFill>
                <a:schemeClr val="tx2"/>
              </a:solidFill>
              <a:latin typeface="Arial" panose="020B0604020202020204" pitchFamily="34" charset="0"/>
              <a:ea typeface="隶书" pitchFamily="49" charset="-122"/>
            </a:endParaRPr>
          </a:p>
          <a:p>
            <a:pPr lvl="1" eaLnBrk="0" fontAlgn="base" hangingPunct="0"/>
            <a:r>
              <a:rPr lang="en-US" altLang="zh-CN" sz="2800" strike="noStrike" noProof="1" err="1">
                <a:solidFill>
                  <a:schemeClr val="tx2"/>
                </a:solidFill>
                <a:latin typeface="Arial" panose="020B0604020202020204" pitchFamily="34" charset="0"/>
                <a:ea typeface="隶书" pitchFamily="49" charset="-122"/>
                <a:cs typeface="+mn-cs"/>
              </a:rPr>
              <a:t>switch       typedef</a:t>
            </a:r>
            <a:r>
              <a:rPr lang="en-US" altLang="zh-CN" sz="2800" strike="noStrike" noProof="1">
                <a:solidFill>
                  <a:schemeClr val="tx2"/>
                </a:solidFill>
                <a:latin typeface="Arial" panose="020B0604020202020204" pitchFamily="34" charset="0"/>
                <a:ea typeface="隶书" pitchFamily="49" charset="-122"/>
                <a:cs typeface="+mn-cs"/>
              </a:rPr>
              <a:t>    unsigned   union      void</a:t>
            </a:r>
            <a:endParaRPr lang="en-US" altLang="zh-CN" sz="2800" strike="noStrike" noProof="1">
              <a:solidFill>
                <a:schemeClr val="tx2"/>
              </a:solidFill>
              <a:latin typeface="Arial" panose="020B0604020202020204" pitchFamily="34" charset="0"/>
              <a:ea typeface="隶书" pitchFamily="49" charset="-122"/>
            </a:endParaRPr>
          </a:p>
          <a:p>
            <a:pPr lvl="1" eaLnBrk="0" fontAlgn="base" hangingPunct="0"/>
            <a:r>
              <a:rPr lang="en-US" altLang="zh-CN" sz="2800" strike="noStrike" noProof="1">
                <a:solidFill>
                  <a:schemeClr val="tx2"/>
                </a:solidFill>
                <a:latin typeface="Arial" panose="020B0604020202020204" pitchFamily="34" charset="0"/>
                <a:ea typeface="隶书" pitchFamily="49" charset="-122"/>
                <a:cs typeface="+mn-cs"/>
              </a:rPr>
              <a:t>volatile      while</a:t>
            </a:r>
            <a:endParaRPr lang="en-US" altLang="zh-CN" strike="noStrike" noProof="1">
              <a:solidFill>
                <a:schemeClr val="tx2"/>
              </a:solidFill>
              <a:latin typeface="Times New Roman" panose="02020603050405020304" pitchFamily="18" charset="0"/>
              <a:ea typeface="隶书" pitchFamily="49" charset="-122"/>
            </a:endParaRPr>
          </a:p>
          <a:p>
            <a:pPr eaLnBrk="0" hangingPunct="0"/>
            <a:endParaRPr lang="en-US" altLang="zh-CN" sz="2000" noProof="1">
              <a:latin typeface="Times New Roman" panose="02020603050405020304" pitchFamily="18" charset="0"/>
            </a:endParaRPr>
          </a:p>
        </p:txBody>
      </p:sp>
      <p:sp>
        <p:nvSpPr>
          <p:cNvPr id="115714" name="椭圆 41996">
            <a:hlinkClick r:id="" action="ppaction://hlinksldjump"/>
          </p:cNvPr>
          <p:cNvSpPr/>
          <p:nvPr/>
        </p:nvSpPr>
        <p:spPr>
          <a:xfrm>
            <a:off x="2590800" y="6172200"/>
            <a:ext cx="533400" cy="381000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rgbClr val="0087BA"/>
              </a:gs>
            </a:gsLst>
            <a:path path="shape">
              <a:fillToRect l="50000" t="50000" r="50000" b="50000"/>
            </a:path>
            <a:tileRect/>
          </a:gra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15" name="标题 41999"/>
          <p:cNvSpPr>
            <a:spLocks noGrp="1"/>
          </p:cNvSpPr>
          <p:nvPr>
            <p:ph type="title" idx="4294967295"/>
          </p:nvPr>
        </p:nvSpPr>
        <p:spPr>
          <a:xfrm>
            <a:off x="1389063" y="631825"/>
            <a:ext cx="2705100" cy="4905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800" dirty="0">
                <a:solidFill>
                  <a:srgbClr val="008000"/>
                </a:solidFill>
                <a:latin typeface="Arial" panose="020B0604020202020204" pitchFamily="34" charset="0"/>
                <a:ea typeface="隶书" pitchFamily="49" charset="-122"/>
              </a:rPr>
              <a:t>32</a:t>
            </a:r>
            <a:r>
              <a:rPr lang="zh-CN" altLang="en-US" sz="2800" dirty="0">
                <a:solidFill>
                  <a:srgbClr val="008000"/>
                </a:solidFill>
                <a:latin typeface="Arial" panose="020B0604020202020204" pitchFamily="34" charset="0"/>
                <a:ea typeface="隶书" pitchFamily="49" charset="-122"/>
              </a:rPr>
              <a:t>个关键字</a:t>
            </a:r>
            <a:endParaRPr lang="zh-CN" altLang="en-US" dirty="0"/>
          </a:p>
        </p:txBody>
      </p:sp>
      <p:sp>
        <p:nvSpPr>
          <p:cNvPr id="115716" name="Text Box 5"/>
          <p:cNvSpPr txBox="1"/>
          <p:nvPr/>
        </p:nvSpPr>
        <p:spPr>
          <a:xfrm>
            <a:off x="1704975" y="79375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C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语言的特点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7" name="文本框 23554"/>
          <p:cNvSpPr txBox="1"/>
          <p:nvPr/>
        </p:nvSpPr>
        <p:spPr>
          <a:xfrm>
            <a:off x="4403725" y="1814513"/>
            <a:ext cx="2387600" cy="440055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p>
            <a:pPr lvl="1" indent="0" eaLnBrk="0" hangingPunct="0"/>
            <a:endParaRPr lang="en-US" altLang="zh-CN" sz="280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if( )~else~</a:t>
            </a:r>
            <a:endParaRPr lang="en-US" altLang="zh-CN" sz="280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for( )~</a:t>
            </a:r>
            <a:endParaRPr lang="en-US" altLang="zh-CN" sz="280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while( )~</a:t>
            </a:r>
            <a:endParaRPr lang="en-US" altLang="zh-CN" sz="280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do~while( )</a:t>
            </a:r>
            <a:endParaRPr lang="en-US" altLang="zh-CN" sz="280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continue</a:t>
            </a:r>
            <a:endParaRPr lang="en-US" altLang="zh-CN" sz="280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break</a:t>
            </a:r>
            <a:endParaRPr lang="en-US" altLang="zh-CN" sz="280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switch</a:t>
            </a:r>
            <a:endParaRPr lang="en-US" altLang="zh-CN" sz="280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 sz="2800" err="1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goto</a:t>
            </a:r>
            <a:endParaRPr lang="en-US" altLang="zh-CN" sz="280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return</a:t>
            </a:r>
            <a:endParaRPr lang="en-US" altLang="zh-CN" sz="280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6738" name="椭圆 23566">
            <a:hlinkClick r:id="" action="ppaction://hlinksldjump"/>
          </p:cNvPr>
          <p:cNvSpPr/>
          <p:nvPr/>
        </p:nvSpPr>
        <p:spPr>
          <a:xfrm>
            <a:off x="2590800" y="6172200"/>
            <a:ext cx="533400" cy="381000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rgbClr val="0087BA"/>
              </a:gs>
            </a:gsLst>
            <a:path path="shape">
              <a:fillToRect l="50000" t="50000" r="50000" b="50000"/>
            </a:path>
            <a:tileRect/>
          </a:gra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6739" name="标题 23569"/>
          <p:cNvSpPr>
            <a:spLocks noGrp="1"/>
          </p:cNvSpPr>
          <p:nvPr>
            <p:ph type="title" idx="4294967295"/>
          </p:nvPr>
        </p:nvSpPr>
        <p:spPr>
          <a:xfrm>
            <a:off x="2444750" y="854075"/>
            <a:ext cx="5284788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800" dirty="0">
                <a:solidFill>
                  <a:srgbClr val="008000"/>
                </a:solidFill>
                <a:latin typeface="隶书" pitchFamily="49" charset="-122"/>
                <a:ea typeface="隶书" pitchFamily="49" charset="-122"/>
              </a:rPr>
              <a:t>9</a:t>
            </a:r>
            <a:r>
              <a:rPr lang="zh-CN" altLang="en-US" sz="2800" dirty="0">
                <a:solidFill>
                  <a:srgbClr val="008000"/>
                </a:solidFill>
                <a:latin typeface="隶书" pitchFamily="49" charset="-122"/>
                <a:ea typeface="隶书" pitchFamily="49" charset="-122"/>
              </a:rPr>
              <a:t>种控制语句</a:t>
            </a:r>
            <a:endParaRPr lang="zh-CN" altLang="en-US" dirty="0"/>
          </a:p>
        </p:txBody>
      </p:sp>
      <p:sp>
        <p:nvSpPr>
          <p:cNvPr id="116740" name="Text Box 5"/>
          <p:cNvSpPr txBox="1"/>
          <p:nvPr/>
        </p:nvSpPr>
        <p:spPr>
          <a:xfrm>
            <a:off x="1704975" y="79375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C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语言的特点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1" name="文本框 25602"/>
          <p:cNvSpPr txBox="1"/>
          <p:nvPr/>
        </p:nvSpPr>
        <p:spPr>
          <a:xfrm>
            <a:off x="3563938" y="1730375"/>
            <a:ext cx="4297362" cy="396875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en-US" altLang="zh-CN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算术运算符：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 -  *  /  %  ++  --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关系运算符：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  &lt;=   ==   &gt;   &gt;=   !=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逻辑运算符：！  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&amp;&amp;  ||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位运算符  ：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   &gt;&gt;   ~  |  ^  &amp;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赋值运算符：</a:t>
            </a:r>
            <a:r>
              <a:rPr lang="en-US" altLang="zh-CN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及其扩展</a:t>
            </a:r>
            <a:endParaRPr lang="zh-CN" altLang="en-US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条件运算符：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?: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逗号运算符：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指针运算符：</a:t>
            </a:r>
            <a:r>
              <a:rPr lang="en-US" altLang="zh-CN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  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求字节数  ：</a:t>
            </a:r>
            <a:r>
              <a:rPr lang="en-US" altLang="zh-CN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强制类型转换：</a:t>
            </a:r>
            <a:r>
              <a:rPr lang="en-US" altLang="zh-CN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类型）</a:t>
            </a:r>
            <a:endParaRPr lang="zh-CN" altLang="en-US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分量运算符：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  -&gt;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下标运算符：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其它     ：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 )  -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762" name="椭圆 25614">
            <a:hlinkClick r:id="" action="ppaction://hlinksldjump"/>
          </p:cNvPr>
          <p:cNvSpPr/>
          <p:nvPr/>
        </p:nvSpPr>
        <p:spPr>
          <a:xfrm>
            <a:off x="2590800" y="6172200"/>
            <a:ext cx="533400" cy="381000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rgbClr val="0087BA"/>
              </a:gs>
            </a:gsLst>
            <a:path path="shape">
              <a:fillToRect l="50000" t="50000" r="50000" b="50000"/>
            </a:path>
            <a:tileRect/>
          </a:gra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7763" name="标题 25617"/>
          <p:cNvSpPr>
            <a:spLocks noGrp="1"/>
          </p:cNvSpPr>
          <p:nvPr>
            <p:ph type="title" idx="4294967295"/>
          </p:nvPr>
        </p:nvSpPr>
        <p:spPr>
          <a:xfrm>
            <a:off x="2884488" y="725488"/>
            <a:ext cx="2803525" cy="441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800" dirty="0">
                <a:solidFill>
                  <a:srgbClr val="008000"/>
                </a:solidFill>
                <a:latin typeface="隶书" pitchFamily="49" charset="-122"/>
                <a:ea typeface="隶书" pitchFamily="49" charset="-122"/>
              </a:rPr>
              <a:t>34</a:t>
            </a:r>
            <a:r>
              <a:rPr lang="zh-CN" altLang="en-US" sz="2800" dirty="0">
                <a:solidFill>
                  <a:srgbClr val="008000"/>
                </a:solidFill>
                <a:latin typeface="隶书" pitchFamily="49" charset="-122"/>
                <a:ea typeface="隶书" pitchFamily="49" charset="-122"/>
              </a:rPr>
              <a:t>种运算符：</a:t>
            </a:r>
            <a:endParaRPr lang="zh-CN" altLang="en-US" dirty="0"/>
          </a:p>
        </p:txBody>
      </p:sp>
      <p:sp>
        <p:nvSpPr>
          <p:cNvPr id="117764" name="Text Box 5"/>
          <p:cNvSpPr txBox="1"/>
          <p:nvPr/>
        </p:nvSpPr>
        <p:spPr>
          <a:xfrm>
            <a:off x="1704975" y="79375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C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语言的特点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8785" name="组合 26626"/>
          <p:cNvGrpSpPr/>
          <p:nvPr/>
        </p:nvGrpSpPr>
        <p:grpSpPr>
          <a:xfrm>
            <a:off x="3257550" y="782638"/>
            <a:ext cx="6996113" cy="5640387"/>
            <a:chOff x="864" y="192"/>
            <a:chExt cx="4407" cy="3771"/>
          </a:xfrm>
        </p:grpSpPr>
        <p:sp>
          <p:nvSpPr>
            <p:cNvPr id="118786" name="文本框 26627"/>
            <p:cNvSpPr txBox="1"/>
            <p:nvPr/>
          </p:nvSpPr>
          <p:spPr>
            <a:xfrm>
              <a:off x="864" y="2112"/>
              <a:ext cx="195" cy="2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endParaRPr lang="zh-CN" altLang="zh-CN" sz="2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8787" name="左大括号 26628"/>
            <p:cNvSpPr/>
            <p:nvPr/>
          </p:nvSpPr>
          <p:spPr>
            <a:xfrm>
              <a:off x="1104" y="1248"/>
              <a:ext cx="192" cy="2688"/>
            </a:xfrm>
            <a:prstGeom prst="leftBrace">
              <a:avLst>
                <a:gd name="adj1" fmla="val 116212"/>
                <a:gd name="adj2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8788" name="文本框 26629"/>
            <p:cNvSpPr txBox="1"/>
            <p:nvPr/>
          </p:nvSpPr>
          <p:spPr>
            <a:xfrm>
              <a:off x="1344" y="1344"/>
              <a:ext cx="755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基本类型</a:t>
              </a:r>
              <a:endParaRPr lang="zh-CN" altLang="en-US" sz="4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789" name="文本框 26630"/>
            <p:cNvSpPr txBox="1"/>
            <p:nvPr/>
          </p:nvSpPr>
          <p:spPr>
            <a:xfrm>
              <a:off x="1344" y="2400"/>
              <a:ext cx="816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构造类型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790" name="文本框 26631"/>
            <p:cNvSpPr txBox="1"/>
            <p:nvPr/>
          </p:nvSpPr>
          <p:spPr>
            <a:xfrm>
              <a:off x="1344" y="3024"/>
              <a:ext cx="755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指针类型</a:t>
              </a:r>
              <a:endParaRPr lang="zh-CN" altLang="en-US" sz="4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791" name="文本框 26632"/>
            <p:cNvSpPr txBox="1"/>
            <p:nvPr/>
          </p:nvSpPr>
          <p:spPr>
            <a:xfrm>
              <a:off x="1344" y="3312"/>
              <a:ext cx="880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空类型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void</a:t>
              </a:r>
              <a:endParaRPr lang="en-US" altLang="zh-CN" sz="4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792" name="文本框 26633"/>
            <p:cNvSpPr txBox="1"/>
            <p:nvPr/>
          </p:nvSpPr>
          <p:spPr>
            <a:xfrm>
              <a:off x="1344" y="3696"/>
              <a:ext cx="1235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定义类型</a:t>
              </a:r>
              <a:r>
                <a:rPr lang="en-US" altLang="zh-CN" sz="2000" err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typedef</a:t>
              </a:r>
              <a:endParaRPr lang="en-US" altLang="zh-CN" sz="4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793" name="文本框 26634"/>
            <p:cNvSpPr txBox="1"/>
            <p:nvPr/>
          </p:nvSpPr>
          <p:spPr>
            <a:xfrm>
              <a:off x="2400" y="864"/>
              <a:ext cx="756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数值类型</a:t>
              </a:r>
              <a:endParaRPr lang="zh-CN" altLang="en-US" sz="4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794" name="文本框 26635"/>
            <p:cNvSpPr txBox="1"/>
            <p:nvPr/>
          </p:nvSpPr>
          <p:spPr>
            <a:xfrm>
              <a:off x="2400" y="1536"/>
              <a:ext cx="1031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字符类型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char</a:t>
              </a:r>
              <a:endParaRPr lang="en-US" altLang="zh-CN" sz="4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795" name="文本框 26636"/>
            <p:cNvSpPr txBox="1"/>
            <p:nvPr/>
          </p:nvSpPr>
          <p:spPr>
            <a:xfrm>
              <a:off x="2352" y="2736"/>
              <a:ext cx="1111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枚举类型</a:t>
              </a:r>
              <a:r>
                <a:rPr lang="en-US" altLang="zh-CN" sz="2000" err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enum</a:t>
              </a:r>
              <a:endParaRPr lang="en-US" altLang="zh-CN" sz="4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796" name="文本框 26637"/>
            <p:cNvSpPr txBox="1"/>
            <p:nvPr/>
          </p:nvSpPr>
          <p:spPr>
            <a:xfrm>
              <a:off x="3360" y="480"/>
              <a:ext cx="555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整   型</a:t>
              </a:r>
              <a:endParaRPr lang="zh-CN" altLang="en-US" sz="4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797" name="文本框 26638"/>
            <p:cNvSpPr txBox="1"/>
            <p:nvPr/>
          </p:nvSpPr>
          <p:spPr>
            <a:xfrm>
              <a:off x="3360" y="1248"/>
              <a:ext cx="595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浮点型</a:t>
              </a:r>
              <a:endParaRPr lang="zh-CN" altLang="en-US" sz="4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798" name="文本框 26639"/>
            <p:cNvSpPr txBox="1"/>
            <p:nvPr/>
          </p:nvSpPr>
          <p:spPr>
            <a:xfrm>
              <a:off x="4080" y="1056"/>
              <a:ext cx="1048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单精度型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float</a:t>
              </a:r>
              <a:endParaRPr lang="en-US" altLang="zh-CN" sz="4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799" name="文本框 26640"/>
            <p:cNvSpPr txBox="1"/>
            <p:nvPr/>
          </p:nvSpPr>
          <p:spPr>
            <a:xfrm>
              <a:off x="4080" y="1392"/>
              <a:ext cx="1191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双精度型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double</a:t>
              </a:r>
              <a:endParaRPr lang="en-US" altLang="zh-CN" sz="4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0" name="文本框 26641"/>
            <p:cNvSpPr txBox="1"/>
            <p:nvPr/>
          </p:nvSpPr>
          <p:spPr>
            <a:xfrm>
              <a:off x="4080" y="192"/>
              <a:ext cx="915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短整型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short</a:t>
              </a:r>
              <a:endParaRPr lang="en-US" altLang="zh-CN" sz="4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1" name="文本框 26642"/>
            <p:cNvSpPr txBox="1"/>
            <p:nvPr/>
          </p:nvSpPr>
          <p:spPr>
            <a:xfrm>
              <a:off x="4080" y="768"/>
              <a:ext cx="880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长整型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long</a:t>
              </a:r>
              <a:endParaRPr lang="en-US" altLang="zh-CN" sz="4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2" name="文本框 26643"/>
            <p:cNvSpPr txBox="1"/>
            <p:nvPr/>
          </p:nvSpPr>
          <p:spPr>
            <a:xfrm>
              <a:off x="4080" y="480"/>
              <a:ext cx="604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整型</a:t>
              </a:r>
              <a:r>
                <a:rPr lang="en-US" altLang="zh-CN" sz="2000" err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int</a:t>
              </a:r>
              <a:endParaRPr lang="en-US" altLang="zh-CN" sz="4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3" name="左大括号 26644"/>
            <p:cNvSpPr/>
            <p:nvPr/>
          </p:nvSpPr>
          <p:spPr>
            <a:xfrm>
              <a:off x="2256" y="912"/>
              <a:ext cx="96" cy="816"/>
            </a:xfrm>
            <a:prstGeom prst="leftBrace">
              <a:avLst>
                <a:gd name="adj1" fmla="val 70557"/>
                <a:gd name="adj2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8804" name="左大括号 26645"/>
            <p:cNvSpPr/>
            <p:nvPr/>
          </p:nvSpPr>
          <p:spPr>
            <a:xfrm>
              <a:off x="3216" y="576"/>
              <a:ext cx="96" cy="864"/>
            </a:xfrm>
            <a:prstGeom prst="leftBrace">
              <a:avLst>
                <a:gd name="adj1" fmla="val 75000"/>
                <a:gd name="adj2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8805" name="左大括号 26646"/>
            <p:cNvSpPr/>
            <p:nvPr/>
          </p:nvSpPr>
          <p:spPr>
            <a:xfrm>
              <a:off x="3984" y="192"/>
              <a:ext cx="48" cy="816"/>
            </a:xfrm>
            <a:prstGeom prst="leftBrace">
              <a:avLst>
                <a:gd name="adj1" fmla="val 141115"/>
                <a:gd name="adj2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8806" name="左大括号 26647"/>
            <p:cNvSpPr/>
            <p:nvPr/>
          </p:nvSpPr>
          <p:spPr>
            <a:xfrm>
              <a:off x="3984" y="1056"/>
              <a:ext cx="48" cy="624"/>
            </a:xfrm>
            <a:prstGeom prst="leftBrace">
              <a:avLst>
                <a:gd name="adj1" fmla="val 107912"/>
                <a:gd name="adj2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8807" name="左大括号 26648"/>
            <p:cNvSpPr/>
            <p:nvPr/>
          </p:nvSpPr>
          <p:spPr>
            <a:xfrm>
              <a:off x="2208" y="1920"/>
              <a:ext cx="96" cy="1008"/>
            </a:xfrm>
            <a:prstGeom prst="leftBrace">
              <a:avLst>
                <a:gd name="adj1" fmla="val 87500"/>
                <a:gd name="adj2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8808" name="文本框 26649"/>
            <p:cNvSpPr txBox="1"/>
            <p:nvPr/>
          </p:nvSpPr>
          <p:spPr>
            <a:xfrm>
              <a:off x="2352" y="1872"/>
              <a:ext cx="435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数组</a:t>
              </a:r>
              <a:endParaRPr lang="zh-CN" altLang="en-US" sz="4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9" name="文本框 26650"/>
            <p:cNvSpPr txBox="1"/>
            <p:nvPr/>
          </p:nvSpPr>
          <p:spPr>
            <a:xfrm>
              <a:off x="2352" y="2160"/>
              <a:ext cx="951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结构体</a:t>
              </a:r>
              <a:r>
                <a:rPr lang="en-US" altLang="zh-CN" sz="2000" err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struct</a:t>
              </a:r>
              <a:endParaRPr lang="en-US" altLang="zh-CN" sz="4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10" name="文本框 26651"/>
            <p:cNvSpPr txBox="1"/>
            <p:nvPr/>
          </p:nvSpPr>
          <p:spPr>
            <a:xfrm>
              <a:off x="2352" y="2448"/>
              <a:ext cx="960" cy="26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共用体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union</a:t>
              </a:r>
              <a:endParaRPr lang="en-US" altLang="zh-CN" sz="4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8811" name="椭圆 26656">
            <a:hlinkClick r:id="" action="ppaction://hlinksldjump"/>
          </p:cNvPr>
          <p:cNvSpPr/>
          <p:nvPr/>
        </p:nvSpPr>
        <p:spPr>
          <a:xfrm>
            <a:off x="2590800" y="6172200"/>
            <a:ext cx="533400" cy="381000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rgbClr val="0087BA"/>
              </a:gs>
            </a:gsLst>
            <a:path path="shape">
              <a:fillToRect l="50000" t="50000" r="50000" b="50000"/>
            </a:path>
            <a:tileRect/>
          </a:gradFill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812" name="标题 26659"/>
          <p:cNvSpPr>
            <a:spLocks noGrp="1"/>
          </p:cNvSpPr>
          <p:nvPr>
            <p:ph type="title" idx="4294967295"/>
          </p:nvPr>
        </p:nvSpPr>
        <p:spPr>
          <a:xfrm>
            <a:off x="2338388" y="915988"/>
            <a:ext cx="1862137" cy="6365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br>
              <a:rPr lang="en-US" altLang="zh-CN" sz="2000" dirty="0">
                <a:solidFill>
                  <a:srgbClr val="0000FF"/>
                </a:solidFill>
                <a:latin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宋体" panose="02010600030101010101" pitchFamily="2" charset="-122"/>
              </a:rPr>
              <a:t> C </a:t>
            </a: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</a:rPr>
              <a:t>数据类型：</a:t>
            </a:r>
            <a:endParaRPr lang="zh-CN" altLang="en-US" dirty="0"/>
          </a:p>
        </p:txBody>
      </p:sp>
      <p:sp>
        <p:nvSpPr>
          <p:cNvPr id="118813" name="Text Box 5"/>
          <p:cNvSpPr txBox="1"/>
          <p:nvPr/>
        </p:nvSpPr>
        <p:spPr>
          <a:xfrm>
            <a:off x="1704975" y="79375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C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语言的特点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19811" name="文本框 1"/>
          <p:cNvSpPr/>
          <p:nvPr/>
        </p:nvSpPr>
        <p:spPr>
          <a:xfrm>
            <a:off x="5973763" y="2432050"/>
            <a:ext cx="50974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程序格式和结构特点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19812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03</a:t>
              </a:r>
              <a:endParaRPr lang="zh-CN" alt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 spd="med" advClick="0" advTm="5561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矩形 70657"/>
          <p:cNvSpPr/>
          <p:nvPr/>
        </p:nvSpPr>
        <p:spPr>
          <a:xfrm>
            <a:off x="2347913" y="733425"/>
            <a:ext cx="7772400" cy="4175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§"/>
            </a:pPr>
            <a:endParaRPr lang="en-US" altLang="zh-CN" sz="3200" dirty="0">
              <a:latin typeface="Arial" panose="020B0604020202020204" pitchFamily="34" charset="0"/>
              <a:ea typeface="隶书" pitchFamily="49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zh-CN" altLang="en-US" dirty="0">
                <a:latin typeface="隶书" pitchFamily="49" charset="-122"/>
                <a:ea typeface="隶书" pitchFamily="49" charset="-122"/>
              </a:rPr>
              <a:t>例</a:t>
            </a:r>
            <a:r>
              <a:rPr lang="en-US" altLang="zh-CN" sz="2000" dirty="0">
                <a:latin typeface="隶书" pitchFamily="49" charset="-122"/>
                <a:ea typeface="隶书" pitchFamily="49" charset="-122"/>
              </a:rPr>
              <a:t>  </a:t>
            </a:r>
            <a:r>
              <a:rPr lang="zh-CN" altLang="en-US" sz="2000" dirty="0">
                <a:latin typeface="隶书" pitchFamily="49" charset="-122"/>
                <a:ea typeface="隶书" pitchFamily="49" charset="-122"/>
              </a:rPr>
              <a:t>第一个程序  </a:t>
            </a:r>
            <a:r>
              <a:rPr lang="en-US" altLang="zh-CN" sz="200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Hello,World!</a:t>
            </a:r>
            <a:endParaRPr lang="en-US" altLang="zh-CN" sz="3200">
              <a:latin typeface="Arial" panose="020B0604020202020204" pitchFamily="34" charset="0"/>
              <a:ea typeface="隶书" pitchFamily="49" charset="-122"/>
            </a:endParaRPr>
          </a:p>
        </p:txBody>
      </p:sp>
      <p:sp>
        <p:nvSpPr>
          <p:cNvPr id="70660" name="文本框 70659"/>
          <p:cNvSpPr txBox="1"/>
          <p:nvPr/>
        </p:nvSpPr>
        <p:spPr>
          <a:xfrm>
            <a:off x="2327275" y="2043113"/>
            <a:ext cx="7069138" cy="1752600"/>
          </a:xfrm>
          <a:prstGeom prst="rect">
            <a:avLst/>
          </a:prstGeom>
          <a:solidFill>
            <a:schemeClr val="bg1"/>
          </a:solidFill>
          <a:ln w="38100" cap="sq" cmpd="sng">
            <a:solidFill>
              <a:srgbClr val="00CC00"/>
            </a:solidFill>
            <a:prstDash val="solid"/>
            <a:miter/>
            <a:headEnd type="none" w="sm" len="sm"/>
            <a:tailEnd type="none" w="sm" len="sm"/>
          </a:ln>
        </p:spPr>
        <p:txBody>
          <a:bodyPr anchor="ctr" anchorCtr="0">
            <a:spAutoFit/>
          </a:bodyPr>
          <a:p>
            <a:pPr eaLnBrk="0" hangingPunct="0"/>
            <a:r>
              <a:rPr lang="en-US" altLang="zh-CN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/* example1.1   The  first  C  Program*/</a:t>
            </a:r>
            <a:endParaRPr lang="en-US" altLang="zh-CN">
              <a:solidFill>
                <a:srgbClr val="3333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err="1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#include &lt;stdio.h</a:t>
            </a:r>
            <a:r>
              <a:rPr lang="en-US" altLang="zh-CN">
                <a:solidFill>
                  <a:srgbClr val="33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&gt;</a:t>
            </a:r>
            <a:endParaRPr lang="en-US" altLang="zh-CN">
              <a:solidFill>
                <a:srgbClr val="3366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main()</a:t>
            </a:r>
            <a:endParaRPr lang="en-US" altLang="zh-CN">
              <a:solidFill>
                <a:srgbClr val="3333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endParaRPr lang="en-US" altLang="zh-CN">
              <a:solidFill>
                <a:srgbClr val="3333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err="1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printf(“Hello,World</a:t>
            </a:r>
            <a:r>
              <a:rPr lang="en-US" altLang="zh-CN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!”)</a:t>
            </a:r>
            <a:r>
              <a:rPr lang="en-US" altLang="zh-CN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>
              <a:solidFill>
                <a:srgbClr val="3333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>
              <a:solidFill>
                <a:srgbClr val="3333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1859" name="圆角矩形 70677">
            <a:hlinkClick r:id="" action="ppaction://hlinksldjump"/>
          </p:cNvPr>
          <p:cNvSpPr/>
          <p:nvPr/>
        </p:nvSpPr>
        <p:spPr>
          <a:xfrm>
            <a:off x="2500313" y="6246813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0681" name="组合 70680"/>
          <p:cNvGrpSpPr/>
          <p:nvPr/>
        </p:nvGrpSpPr>
        <p:grpSpPr>
          <a:xfrm>
            <a:off x="7793038" y="1870075"/>
            <a:ext cx="1239837" cy="368300"/>
            <a:chOff x="4057" y="1073"/>
            <a:chExt cx="781" cy="232"/>
          </a:xfrm>
        </p:grpSpPr>
        <p:sp>
          <p:nvSpPr>
            <p:cNvPr id="121861" name="直接连接符 70678"/>
            <p:cNvSpPr/>
            <p:nvPr/>
          </p:nvSpPr>
          <p:spPr>
            <a:xfrm flipH="1">
              <a:off x="4057" y="1247"/>
              <a:ext cx="3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1862" name="文本框 70679"/>
            <p:cNvSpPr txBox="1"/>
            <p:nvPr/>
          </p:nvSpPr>
          <p:spPr>
            <a:xfrm>
              <a:off x="4435" y="1073"/>
              <a:ext cx="403" cy="23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 eaLnBrk="0" hangingPunct="0"/>
              <a:r>
                <a:rPr lang="zh-CN" altLang="en-US" dirty="0">
                  <a:latin typeface="Times New Roman" panose="02020603050405020304" pitchFamily="18" charset="0"/>
                  <a:ea typeface="隶书" pitchFamily="49" charset="-122"/>
                </a:rPr>
                <a:t>注释</a:t>
              </a:r>
              <a:endParaRPr lang="zh-CN" altLang="en-US" dirty="0">
                <a:latin typeface="Times New Roman" panose="02020603050405020304" pitchFamily="18" charset="0"/>
                <a:ea typeface="隶书" pitchFamily="49" charset="-122"/>
              </a:endParaRPr>
            </a:p>
          </p:txBody>
        </p:sp>
      </p:grpSp>
      <p:grpSp>
        <p:nvGrpSpPr>
          <p:cNvPr id="70685" name="组合 70684"/>
          <p:cNvGrpSpPr/>
          <p:nvPr/>
        </p:nvGrpSpPr>
        <p:grpSpPr>
          <a:xfrm>
            <a:off x="5240338" y="2200275"/>
            <a:ext cx="2111375" cy="368300"/>
            <a:chOff x="2341" y="1386"/>
            <a:chExt cx="1330" cy="232"/>
          </a:xfrm>
        </p:grpSpPr>
        <p:sp>
          <p:nvSpPr>
            <p:cNvPr id="121864" name="直接连接符 70682"/>
            <p:cNvSpPr/>
            <p:nvPr/>
          </p:nvSpPr>
          <p:spPr>
            <a:xfrm flipH="1">
              <a:off x="2341" y="1544"/>
              <a:ext cx="3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1865" name="文本框 70683"/>
            <p:cNvSpPr txBox="1"/>
            <p:nvPr/>
          </p:nvSpPr>
          <p:spPr>
            <a:xfrm>
              <a:off x="2836" y="1386"/>
              <a:ext cx="835" cy="23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 eaLnBrk="0" hangingPunct="0"/>
              <a:r>
                <a:rPr lang="zh-CN" altLang="en-US" dirty="0">
                  <a:latin typeface="Times New Roman" panose="02020603050405020304" pitchFamily="18" charset="0"/>
                  <a:ea typeface="隶书" pitchFamily="49" charset="-122"/>
                </a:rPr>
                <a:t>编译预处理</a:t>
              </a:r>
              <a:endParaRPr lang="zh-CN" altLang="en-US" dirty="0">
                <a:latin typeface="Times New Roman" panose="02020603050405020304" pitchFamily="18" charset="0"/>
                <a:ea typeface="隶书" pitchFamily="49" charset="-122"/>
              </a:endParaRPr>
            </a:p>
          </p:txBody>
        </p:sp>
      </p:grpSp>
      <p:grpSp>
        <p:nvGrpSpPr>
          <p:cNvPr id="70689" name="组合 70688"/>
          <p:cNvGrpSpPr/>
          <p:nvPr/>
        </p:nvGrpSpPr>
        <p:grpSpPr>
          <a:xfrm>
            <a:off x="3592513" y="2520950"/>
            <a:ext cx="1239837" cy="368300"/>
            <a:chOff x="4057" y="1073"/>
            <a:chExt cx="781" cy="232"/>
          </a:xfrm>
        </p:grpSpPr>
        <p:sp>
          <p:nvSpPr>
            <p:cNvPr id="121867" name="直接连接符 70689"/>
            <p:cNvSpPr/>
            <p:nvPr/>
          </p:nvSpPr>
          <p:spPr>
            <a:xfrm flipH="1">
              <a:off x="4057" y="1247"/>
              <a:ext cx="3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1868" name="文本框 70690"/>
            <p:cNvSpPr txBox="1"/>
            <p:nvPr/>
          </p:nvSpPr>
          <p:spPr>
            <a:xfrm>
              <a:off x="4435" y="1073"/>
              <a:ext cx="403" cy="23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 eaLnBrk="0" hangingPunct="0"/>
              <a:r>
                <a:rPr lang="zh-CN" altLang="en-US" dirty="0">
                  <a:latin typeface="Times New Roman" panose="02020603050405020304" pitchFamily="18" charset="0"/>
                  <a:ea typeface="隶书" pitchFamily="49" charset="-122"/>
                </a:rPr>
                <a:t>函数</a:t>
              </a:r>
              <a:endParaRPr lang="zh-CN" altLang="en-US" dirty="0">
                <a:latin typeface="Times New Roman" panose="02020603050405020304" pitchFamily="18" charset="0"/>
                <a:ea typeface="隶书" pitchFamily="49" charset="-122"/>
              </a:endParaRPr>
            </a:p>
          </p:txBody>
        </p:sp>
      </p:grpSp>
      <p:grpSp>
        <p:nvGrpSpPr>
          <p:cNvPr id="70692" name="组合 70691"/>
          <p:cNvGrpSpPr/>
          <p:nvPr/>
        </p:nvGrpSpPr>
        <p:grpSpPr>
          <a:xfrm>
            <a:off x="5945188" y="3073400"/>
            <a:ext cx="1239837" cy="368300"/>
            <a:chOff x="4057" y="1073"/>
            <a:chExt cx="781" cy="232"/>
          </a:xfrm>
        </p:grpSpPr>
        <p:sp>
          <p:nvSpPr>
            <p:cNvPr id="121870" name="直接连接符 70692"/>
            <p:cNvSpPr/>
            <p:nvPr/>
          </p:nvSpPr>
          <p:spPr>
            <a:xfrm flipH="1">
              <a:off x="4057" y="1247"/>
              <a:ext cx="3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1871" name="文本框 70693"/>
            <p:cNvSpPr txBox="1"/>
            <p:nvPr/>
          </p:nvSpPr>
          <p:spPr>
            <a:xfrm>
              <a:off x="4435" y="1073"/>
              <a:ext cx="403" cy="23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 eaLnBrk="0" hangingPunct="0"/>
              <a:r>
                <a:rPr lang="zh-CN" altLang="en-US" dirty="0">
                  <a:latin typeface="Times New Roman" panose="02020603050405020304" pitchFamily="18" charset="0"/>
                  <a:ea typeface="隶书" pitchFamily="49" charset="-122"/>
                </a:rPr>
                <a:t>语句</a:t>
              </a:r>
              <a:endParaRPr lang="zh-CN" altLang="en-US" dirty="0">
                <a:latin typeface="Times New Roman" panose="02020603050405020304" pitchFamily="18" charset="0"/>
                <a:ea typeface="隶书" pitchFamily="49" charset="-122"/>
              </a:endParaRPr>
            </a:p>
          </p:txBody>
        </p:sp>
      </p:grpSp>
      <p:sp>
        <p:nvSpPr>
          <p:cNvPr id="70695" name="文本框 70694"/>
          <p:cNvSpPr txBox="1"/>
          <p:nvPr/>
        </p:nvSpPr>
        <p:spPr>
          <a:xfrm>
            <a:off x="2578100" y="4348163"/>
            <a:ext cx="1390650" cy="64452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输出：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Hello,World!</a:t>
            </a:r>
            <a:endParaRPr lang="en-US" altLang="zh-CN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873" name="Text Box 5"/>
          <p:cNvSpPr txBox="1"/>
          <p:nvPr/>
        </p:nvSpPr>
        <p:spPr>
          <a:xfrm>
            <a:off x="1704975" y="79375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C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程序格式和结构特点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21874" name="标题 20495"/>
          <p:cNvSpPr>
            <a:spLocks noGrp="1"/>
          </p:cNvSpPr>
          <p:nvPr/>
        </p:nvSpPr>
        <p:spPr>
          <a:xfrm>
            <a:off x="1219200" y="733425"/>
            <a:ext cx="5386388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lnSpc>
                <a:spcPct val="9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程序的格式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charRg st="1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658">
                                            <p:txEl>
                                              <p:charRg st="1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658">
                                            <p:txEl>
                                              <p:charRg st="1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06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06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706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706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706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bldLvl="5" build="p"/>
      <p:bldP spid="70660" grpId="0" bldLvl="0" animBg="1"/>
      <p:bldP spid="70695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7" name="文本框 28676"/>
          <p:cNvSpPr txBox="1"/>
          <p:nvPr/>
        </p:nvSpPr>
        <p:spPr>
          <a:xfrm>
            <a:off x="2590800" y="1260475"/>
            <a:ext cx="8223250" cy="4522788"/>
          </a:xfrm>
          <a:prstGeom prst="rect">
            <a:avLst/>
          </a:prstGeom>
          <a:solidFill>
            <a:schemeClr val="tx1"/>
          </a:solidFill>
          <a:ln w="38100" cap="sq" cmpd="sng">
            <a:solidFill>
              <a:srgbClr val="00CC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 anchor="ctr" anchorCtr="0">
            <a:spAutoFit/>
          </a:bodyPr>
          <a:p>
            <a:pPr eaLnBrk="0" hangingPunct="0"/>
            <a:r>
              <a:rPr lang="en-US" altLang="zh-CN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/*      example1.1    calculate the sum of a and b*/</a:t>
            </a:r>
            <a:endParaRPr lang="en-US" altLang="zh-CN">
              <a:solidFill>
                <a:srgbClr val="00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err="1">
                <a:solidFill>
                  <a:srgbClr val="33CC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#include &lt;stdio.h</a:t>
            </a:r>
            <a:r>
              <a:rPr lang="en-US" altLang="zh-CN">
                <a:solidFill>
                  <a:srgbClr val="33CC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&gt;</a:t>
            </a:r>
            <a:endParaRPr lang="en-US" altLang="zh-CN">
              <a:solidFill>
                <a:srgbClr val="33CC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/*  This is the main program  */</a:t>
            </a:r>
            <a:endParaRPr lang="en-US" altLang="zh-CN">
              <a:solidFill>
                <a:srgbClr val="00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main()</a:t>
            </a:r>
            <a:endParaRPr lang="en-US" altLang="zh-CN">
              <a:solidFill>
                <a:srgbClr val="00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a,b,sum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en-US" altLang="zh-CN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en-US" altLang="zh-CN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24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sum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en-US" altLang="zh-CN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add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en-US" altLang="zh-CN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err="1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printf</a:t>
            </a:r>
            <a:r>
              <a:rPr lang="en-US" altLang="zh-CN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en-US" altLang="zh-CN" err="1">
                <a:solidFill>
                  <a:srgbClr val="33CC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sum</a:t>
            </a:r>
            <a:r>
              <a:rPr lang="en-US" altLang="zh-CN">
                <a:solidFill>
                  <a:srgbClr val="33CC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%d\n</a:t>
            </a:r>
            <a:r>
              <a:rPr lang="en-US" altLang="zh-CN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"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en-US" altLang="zh-CN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sum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>
              <a:solidFill>
                <a:srgbClr val="33CC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/* This function calculates the sum of x and y   */</a:t>
            </a:r>
            <a:endParaRPr lang="en-US" altLang="zh-CN">
              <a:solidFill>
                <a:srgbClr val="00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err="1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add</a:t>
            </a:r>
            <a:r>
              <a:rPr lang="en-US" altLang="zh-CN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(int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err="1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,int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int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z;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z=x+y; 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return(</a:t>
            </a:r>
            <a:r>
              <a:rPr lang="en-US" altLang="zh-CN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8" name="文本框 28677"/>
          <p:cNvSpPr txBox="1"/>
          <p:nvPr/>
        </p:nvSpPr>
        <p:spPr>
          <a:xfrm>
            <a:off x="8355013" y="5613400"/>
            <a:ext cx="1325562" cy="644525"/>
          </a:xfrm>
          <a:prstGeom prst="rect">
            <a:avLst/>
          </a:prstGeom>
          <a:solidFill>
            <a:srgbClr val="33CCCC"/>
          </a:solidFill>
          <a:ln w="12700">
            <a:noFill/>
          </a:ln>
        </p:spPr>
        <p:txBody>
          <a:bodyPr wrap="none" anchor="ctr" anchorCtr="0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运行结果：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sum=34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8709" name="组合 28708"/>
          <p:cNvGrpSpPr/>
          <p:nvPr/>
        </p:nvGrpSpPr>
        <p:grpSpPr>
          <a:xfrm>
            <a:off x="4406900" y="1768475"/>
            <a:ext cx="3825875" cy="2978150"/>
            <a:chOff x="1663" y="1044"/>
            <a:chExt cx="2561" cy="1972"/>
          </a:xfrm>
        </p:grpSpPr>
        <p:sp>
          <p:nvSpPr>
            <p:cNvPr id="122884" name="直接连接符 28679"/>
            <p:cNvSpPr/>
            <p:nvPr/>
          </p:nvSpPr>
          <p:spPr>
            <a:xfrm flipH="1" flipV="1">
              <a:off x="1945" y="1044"/>
              <a:ext cx="1800" cy="145"/>
            </a:xfrm>
            <a:prstGeom prst="line">
              <a:avLst/>
            </a:prstGeom>
            <a:ln w="38100" cap="sq" cmpd="sng">
              <a:solidFill>
                <a:schemeClr val="bg1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122885" name="直接连接符 28680"/>
            <p:cNvSpPr/>
            <p:nvPr/>
          </p:nvSpPr>
          <p:spPr>
            <a:xfrm flipH="1">
              <a:off x="1663" y="1233"/>
              <a:ext cx="2104" cy="1783"/>
            </a:xfrm>
            <a:prstGeom prst="line">
              <a:avLst/>
            </a:prstGeom>
            <a:ln w="38100" cap="sq" cmpd="sng">
              <a:solidFill>
                <a:schemeClr val="bg1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122886" name="文本框 28681"/>
            <p:cNvSpPr txBox="1"/>
            <p:nvPr/>
          </p:nvSpPr>
          <p:spPr>
            <a:xfrm>
              <a:off x="3823" y="1067"/>
              <a:ext cx="401" cy="24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lIns="90000" tIns="46800" rIns="90000" bIns="46800" anchor="ctr" anchorCtr="0">
              <a:spAutoFit/>
            </a:bodyPr>
            <a:p>
              <a:pPr algn="ctr" eaLnBrk="0" hangingPunct="0"/>
              <a:r>
                <a:rPr lang="zh-CN" altLang="en-US" dirty="0">
                  <a:solidFill>
                    <a:srgbClr val="FFFF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函数</a:t>
              </a:r>
              <a:endParaRPr lang="zh-CN" altLang="en-US" dirty="0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710" name="组合 28709"/>
          <p:cNvGrpSpPr/>
          <p:nvPr/>
        </p:nvGrpSpPr>
        <p:grpSpPr>
          <a:xfrm>
            <a:off x="6121400" y="2898775"/>
            <a:ext cx="1976438" cy="369888"/>
            <a:chOff x="3014" y="1814"/>
            <a:chExt cx="1245" cy="233"/>
          </a:xfrm>
        </p:grpSpPr>
        <p:sp>
          <p:nvSpPr>
            <p:cNvPr id="122888" name="直接连接符 28683"/>
            <p:cNvSpPr/>
            <p:nvPr/>
          </p:nvSpPr>
          <p:spPr>
            <a:xfrm flipH="1">
              <a:off x="3014" y="1941"/>
              <a:ext cx="733" cy="0"/>
            </a:xfrm>
            <a:prstGeom prst="line">
              <a:avLst/>
            </a:prstGeom>
            <a:ln w="38100" cap="sq" cmpd="sng">
              <a:solidFill>
                <a:srgbClr val="FFFFCC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122889" name="文本框 28684"/>
            <p:cNvSpPr txBox="1"/>
            <p:nvPr/>
          </p:nvSpPr>
          <p:spPr>
            <a:xfrm>
              <a:off x="3858" y="1814"/>
              <a:ext cx="401" cy="23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 eaLnBrk="0" hangingPunct="0"/>
              <a:r>
                <a:rPr lang="zh-CN" altLang="en-US" dirty="0">
                  <a:solidFill>
                    <a:srgbClr val="FFFF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语句</a:t>
              </a:r>
              <a:endParaRPr lang="zh-CN" altLang="en-US" dirty="0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707" name="组合 28706"/>
          <p:cNvGrpSpPr/>
          <p:nvPr/>
        </p:nvGrpSpPr>
        <p:grpSpPr>
          <a:xfrm>
            <a:off x="8740775" y="1287463"/>
            <a:ext cx="2662238" cy="369887"/>
            <a:chOff x="2826" y="454"/>
            <a:chExt cx="1677" cy="233"/>
          </a:xfrm>
        </p:grpSpPr>
        <p:sp>
          <p:nvSpPr>
            <p:cNvPr id="122891" name="直接连接符 28686"/>
            <p:cNvSpPr/>
            <p:nvPr/>
          </p:nvSpPr>
          <p:spPr>
            <a:xfrm flipH="1">
              <a:off x="2826" y="571"/>
              <a:ext cx="723" cy="0"/>
            </a:xfrm>
            <a:prstGeom prst="line">
              <a:avLst/>
            </a:prstGeom>
            <a:ln w="38100" cap="sq" cmpd="sng">
              <a:solidFill>
                <a:srgbClr val="66FFFF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122892" name="文本框 28687"/>
            <p:cNvSpPr txBox="1"/>
            <p:nvPr/>
          </p:nvSpPr>
          <p:spPr>
            <a:xfrm>
              <a:off x="3670" y="454"/>
              <a:ext cx="833" cy="23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 eaLnBrk="0" hangingPunct="0"/>
              <a:r>
                <a:rPr lang="zh-CN" altLang="en-US" dirty="0">
                  <a:solidFill>
                    <a:srgbClr val="66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预处理命令</a:t>
              </a:r>
              <a:endParaRPr lang="zh-CN" altLang="en-US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708" name="组合 28707"/>
          <p:cNvGrpSpPr/>
          <p:nvPr/>
        </p:nvGrpSpPr>
        <p:grpSpPr>
          <a:xfrm>
            <a:off x="6675438" y="1411288"/>
            <a:ext cx="2973387" cy="3057525"/>
            <a:chOff x="3456" y="412"/>
            <a:chExt cx="1873" cy="2373"/>
          </a:xfrm>
        </p:grpSpPr>
        <p:sp>
          <p:nvSpPr>
            <p:cNvPr id="122894" name="直接连接符 28690"/>
            <p:cNvSpPr/>
            <p:nvPr/>
          </p:nvSpPr>
          <p:spPr>
            <a:xfrm flipH="1" flipV="1">
              <a:off x="4115" y="412"/>
              <a:ext cx="752" cy="732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122895" name="直接连接符 28691"/>
            <p:cNvSpPr/>
            <p:nvPr/>
          </p:nvSpPr>
          <p:spPr>
            <a:xfrm flipH="1" flipV="1">
              <a:off x="3456" y="867"/>
              <a:ext cx="1378" cy="322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122896" name="文本框 28692"/>
            <p:cNvSpPr txBox="1"/>
            <p:nvPr/>
          </p:nvSpPr>
          <p:spPr>
            <a:xfrm>
              <a:off x="4928" y="1035"/>
              <a:ext cx="401" cy="287"/>
            </a:xfrm>
            <a:prstGeom prst="rect">
              <a:avLst/>
            </a:prstGeom>
            <a:noFill/>
            <a:ln w="38100" cap="sq" cmpd="sng">
              <a:solidFill>
                <a:srgbClr val="00CCFF"/>
              </a:solidFill>
              <a:prstDash val="solid"/>
              <a:miter/>
              <a:headEnd type="none" w="sm" len="sm"/>
              <a:tailEnd type="none" w="med" len="med"/>
            </a:ln>
          </p:spPr>
          <p:txBody>
            <a:bodyPr wrap="square" lIns="90000" tIns="46800" rIns="90000" bIns="46800" anchor="ctr" anchorCtr="0">
              <a:spAutoFit/>
            </a:bodyPr>
            <a:p>
              <a:pPr algn="ctr" eaLnBrk="0" hangingPunct="0"/>
              <a:r>
                <a:rPr lang="zh-CN" altLang="en-US" dirty="0">
                  <a:solidFill>
                    <a:srgbClr val="00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注释</a:t>
              </a:r>
              <a:endParaRPr lang="zh-CN" altLang="en-US" dirty="0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897" name="直接连接符 28693"/>
            <p:cNvSpPr/>
            <p:nvPr/>
          </p:nvSpPr>
          <p:spPr>
            <a:xfrm flipH="1">
              <a:off x="4338" y="1255"/>
              <a:ext cx="485" cy="1530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122898" name="圆角矩形 28711">
            <a:hlinkClick r:id="" action="ppaction://hlinksldjump"/>
          </p:cNvPr>
          <p:cNvSpPr/>
          <p:nvPr/>
        </p:nvSpPr>
        <p:spPr>
          <a:xfrm>
            <a:off x="2500313" y="6246813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899" name="标题 28714"/>
          <p:cNvSpPr>
            <a:spLocks noGrp="1"/>
          </p:cNvSpPr>
          <p:nvPr>
            <p:ph type="title" idx="4294967295"/>
          </p:nvPr>
        </p:nvSpPr>
        <p:spPr>
          <a:xfrm>
            <a:off x="2590800" y="381000"/>
            <a:ext cx="76200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sz="2000" dirty="0">
                <a:latin typeface="隶书" pitchFamily="49" charset="-122"/>
              </a:rPr>
              <a:t>例</a:t>
            </a:r>
            <a:r>
              <a:rPr lang="en-US" altLang="zh-CN" sz="2000">
                <a:latin typeface="隶书" pitchFamily="49" charset="-122"/>
              </a:rPr>
              <a:t>1.2</a:t>
            </a:r>
            <a:endParaRPr lang="en-US" altLang="zh-CN" sz="2000"/>
          </a:p>
        </p:txBody>
      </p:sp>
      <p:sp>
        <p:nvSpPr>
          <p:cNvPr id="122900" name="Text Box 5"/>
          <p:cNvSpPr txBox="1"/>
          <p:nvPr/>
        </p:nvSpPr>
        <p:spPr>
          <a:xfrm>
            <a:off x="1704975" y="79375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C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程序格式和结构特点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bldLvl="0" animBg="1"/>
      <p:bldP spid="28678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24931" name="文本框 1"/>
          <p:cNvSpPr/>
          <p:nvPr/>
        </p:nvSpPr>
        <p:spPr>
          <a:xfrm>
            <a:off x="5973763" y="2432050"/>
            <a:ext cx="50974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程序格式和结构特点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24932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</a:t>
              </a:r>
              <a:r>
                <a:rPr lang="en-US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4</a:t>
              </a:r>
              <a:endParaRPr 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 spd="med" advClick="0" advTm="5561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6977" name="组合 37024"/>
          <p:cNvGrpSpPr/>
          <p:nvPr/>
        </p:nvGrpSpPr>
        <p:grpSpPr>
          <a:xfrm>
            <a:off x="9620250" y="6343650"/>
            <a:ext cx="1047750" cy="514350"/>
            <a:chOff x="4944" y="3816"/>
            <a:chExt cx="660" cy="324"/>
          </a:xfrm>
        </p:grpSpPr>
        <p:sp>
          <p:nvSpPr>
            <p:cNvPr id="126978" name="圆角矩形 37025">
              <a:hlinkClick r:id="rId1" action="ppaction://hlinksldjump"/>
            </p:cNvPr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26979" name="组合 37026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126980" name="任意多边形 37027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6981" name="椭圆 37028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6982" name="椭圆 37029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37001" name="组合 37000"/>
          <p:cNvGrpSpPr/>
          <p:nvPr/>
        </p:nvGrpSpPr>
        <p:grpSpPr>
          <a:xfrm>
            <a:off x="6904038" y="1257300"/>
            <a:ext cx="1263650" cy="3225800"/>
            <a:chOff x="3844" y="634"/>
            <a:chExt cx="796" cy="2032"/>
          </a:xfrm>
        </p:grpSpPr>
        <p:sp>
          <p:nvSpPr>
            <p:cNvPr id="126984" name="文本框 37001"/>
            <p:cNvSpPr txBox="1"/>
            <p:nvPr/>
          </p:nvSpPr>
          <p:spPr>
            <a:xfrm>
              <a:off x="3844" y="634"/>
              <a:ext cx="796" cy="232"/>
            </a:xfrm>
            <a:prstGeom prst="rect">
              <a:avLst/>
            </a:prstGeom>
            <a:solidFill>
              <a:schemeClr val="accent2"/>
            </a:solidFill>
            <a:ln w="44450" cap="sq" cmpd="sng">
              <a:solidFill>
                <a:schemeClr val="hlink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编辑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6985" name="文本框 37002"/>
            <p:cNvSpPr txBox="1"/>
            <p:nvPr/>
          </p:nvSpPr>
          <p:spPr>
            <a:xfrm>
              <a:off x="3844" y="1834"/>
              <a:ext cx="796" cy="232"/>
            </a:xfrm>
            <a:prstGeom prst="rect">
              <a:avLst/>
            </a:prstGeom>
            <a:solidFill>
              <a:schemeClr val="accent2"/>
            </a:solidFill>
            <a:ln w="44450" cap="sq" cmpd="sng">
              <a:solidFill>
                <a:schemeClr val="hlink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链接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6986" name="文本框 37003"/>
            <p:cNvSpPr txBox="1"/>
            <p:nvPr/>
          </p:nvSpPr>
          <p:spPr>
            <a:xfrm>
              <a:off x="3844" y="1234"/>
              <a:ext cx="796" cy="232"/>
            </a:xfrm>
            <a:prstGeom prst="rect">
              <a:avLst/>
            </a:prstGeom>
            <a:solidFill>
              <a:schemeClr val="accent2"/>
            </a:solidFill>
            <a:ln w="44450" cap="sq" cmpd="sng">
              <a:solidFill>
                <a:schemeClr val="hlink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编译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6987" name="文本框 37004"/>
            <p:cNvSpPr txBox="1"/>
            <p:nvPr/>
          </p:nvSpPr>
          <p:spPr>
            <a:xfrm>
              <a:off x="3844" y="2434"/>
              <a:ext cx="796" cy="232"/>
            </a:xfrm>
            <a:prstGeom prst="rect">
              <a:avLst/>
            </a:prstGeom>
            <a:solidFill>
              <a:schemeClr val="accent2"/>
            </a:solidFill>
            <a:ln w="44450" cap="sq" cmpd="sng">
              <a:solidFill>
                <a:schemeClr val="hlink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执行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6988" name="下箭头 37005"/>
            <p:cNvSpPr/>
            <p:nvPr/>
          </p:nvSpPr>
          <p:spPr>
            <a:xfrm>
              <a:off x="4200" y="900"/>
              <a:ext cx="96" cy="276"/>
            </a:xfrm>
            <a:prstGeom prst="downArrow">
              <a:avLst>
                <a:gd name="adj1" fmla="val 50000"/>
                <a:gd name="adj2" fmla="val 71875"/>
              </a:avLst>
            </a:prstGeom>
            <a:solidFill>
              <a:schemeClr val="accent2"/>
            </a:solidFill>
            <a:ln w="12700" cap="sq" cmpd="sng">
              <a:solidFill>
                <a:schemeClr val="accent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6989" name="下箭头 37006"/>
            <p:cNvSpPr/>
            <p:nvPr/>
          </p:nvSpPr>
          <p:spPr>
            <a:xfrm>
              <a:off x="4200" y="1506"/>
              <a:ext cx="96" cy="276"/>
            </a:xfrm>
            <a:prstGeom prst="downArrow">
              <a:avLst>
                <a:gd name="adj1" fmla="val 50000"/>
                <a:gd name="adj2" fmla="val 71875"/>
              </a:avLst>
            </a:prstGeom>
            <a:solidFill>
              <a:schemeClr val="accent2"/>
            </a:solidFill>
            <a:ln w="12700" cap="sq" cmpd="sng">
              <a:solidFill>
                <a:schemeClr val="accent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6990" name="下箭头 37007"/>
            <p:cNvSpPr/>
            <p:nvPr/>
          </p:nvSpPr>
          <p:spPr>
            <a:xfrm>
              <a:off x="4200" y="2112"/>
              <a:ext cx="96" cy="276"/>
            </a:xfrm>
            <a:prstGeom prst="downArrow">
              <a:avLst>
                <a:gd name="adj1" fmla="val 50000"/>
                <a:gd name="adj2" fmla="val 71875"/>
              </a:avLst>
            </a:prstGeom>
            <a:solidFill>
              <a:schemeClr val="accent2"/>
            </a:solidFill>
            <a:ln w="12700" cap="sq" cmpd="sng">
              <a:solidFill>
                <a:schemeClr val="accent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7009" name="矩形 37008"/>
          <p:cNvSpPr/>
          <p:nvPr/>
        </p:nvSpPr>
        <p:spPr>
          <a:xfrm>
            <a:off x="2895600" y="342900"/>
            <a:ext cx="7772400" cy="106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§"/>
            </a:pPr>
            <a:endParaRPr lang="en-US" altLang="zh-CN" sz="3200">
              <a:latin typeface="Arial" panose="020B0604020202020204" pitchFamily="34" charset="0"/>
              <a:ea typeface="隶书" pitchFamily="49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en-US" altLang="zh-CN" sz="2800" dirty="0">
                <a:latin typeface="Arial" panose="020B0604020202020204" pitchFamily="34" charset="0"/>
                <a:ea typeface="隶书" pitchFamily="49" charset="-122"/>
              </a:rPr>
              <a:t>C</a:t>
            </a:r>
            <a:r>
              <a:rPr lang="zh-CN" altLang="en-US" sz="2800" dirty="0">
                <a:latin typeface="Arial" panose="020B0604020202020204" pitchFamily="34" charset="0"/>
                <a:ea typeface="隶书" pitchFamily="49" charset="-122"/>
              </a:rPr>
              <a:t>程序开发步骤</a:t>
            </a:r>
            <a:endParaRPr lang="zh-CN" altLang="en-US" sz="2800" dirty="0">
              <a:latin typeface="Arial" panose="020B0604020202020204" pitchFamily="34" charset="0"/>
              <a:ea typeface="隶书" pitchFamily="49" charset="-122"/>
            </a:endParaRPr>
          </a:p>
        </p:txBody>
      </p:sp>
      <p:sp>
        <p:nvSpPr>
          <p:cNvPr id="126992" name="圆角矩形 37009">
            <a:hlinkClick r:id="" action="ppaction://hlinkshowjump?jump=previousslide"/>
          </p:cNvPr>
          <p:cNvSpPr/>
          <p:nvPr/>
        </p:nvSpPr>
        <p:spPr>
          <a:xfrm>
            <a:off x="1790700" y="62293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993" name="圆角矩形 37010">
            <a:hlinkClick r:id="" action="ppaction://hlinkshowjump?jump=nextslide"/>
          </p:cNvPr>
          <p:cNvSpPr/>
          <p:nvPr/>
        </p:nvSpPr>
        <p:spPr>
          <a:xfrm>
            <a:off x="2400300" y="622935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pPr algn="ctr"/>
            <a:r>
              <a:rPr lang="en-US" altLang="zh-CN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7012" name="组合 37011"/>
          <p:cNvGrpSpPr/>
          <p:nvPr/>
        </p:nvGrpSpPr>
        <p:grpSpPr>
          <a:xfrm>
            <a:off x="2209800" y="1376363"/>
            <a:ext cx="6154738" cy="5481637"/>
            <a:chOff x="376" y="867"/>
            <a:chExt cx="3877" cy="3453"/>
          </a:xfrm>
        </p:grpSpPr>
        <p:graphicFrame>
          <p:nvGraphicFramePr>
            <p:cNvPr id="126995" name="对象 37012"/>
            <p:cNvGraphicFramePr/>
            <p:nvPr/>
          </p:nvGraphicFramePr>
          <p:xfrm>
            <a:off x="376" y="867"/>
            <a:ext cx="3877" cy="3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2" imgW="6543675" imgH="5343525" progId="Word.Document.8">
                    <p:embed/>
                  </p:oleObj>
                </mc:Choice>
                <mc:Fallback>
                  <p:oleObj name="" r:id="rId2" imgW="6543675" imgH="5343525" progId="Word.Document.8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76" y="867"/>
                          <a:ext cx="3877" cy="34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6996" name="文本框 37013"/>
            <p:cNvSpPr txBox="1"/>
            <p:nvPr/>
          </p:nvSpPr>
          <p:spPr>
            <a:xfrm>
              <a:off x="534" y="2899"/>
              <a:ext cx="448" cy="19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/>
              <a:r>
                <a:rPr lang="en-US" altLang="zh-CN" sz="1400">
                  <a:latin typeface="Times New Roman" panose="02020603050405020304" pitchFamily="18" charset="0"/>
                  <a:ea typeface="隶书" pitchFamily="49" charset="-122"/>
                </a:rPr>
                <a:t>file.exe</a:t>
              </a:r>
              <a:endParaRPr lang="en-US" altLang="zh-CN" sz="1400">
                <a:latin typeface="Times New Roman" panose="02020603050405020304" pitchFamily="18" charset="0"/>
                <a:ea typeface="隶书" pitchFamily="49" charset="-122"/>
              </a:endParaRPr>
            </a:p>
          </p:txBody>
        </p:sp>
      </p:grpSp>
      <p:sp>
        <p:nvSpPr>
          <p:cNvPr id="37016" name="文本框 37015"/>
          <p:cNvSpPr txBox="1"/>
          <p:nvPr/>
        </p:nvSpPr>
        <p:spPr>
          <a:xfrm>
            <a:off x="8229600" y="1160463"/>
            <a:ext cx="2024063" cy="706437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Times New Roman" panose="02020603050405020304" pitchFamily="18" charset="0"/>
                <a:ea typeface="隶书" pitchFamily="49" charset="-122"/>
              </a:rPr>
              <a:t>程序代码的录入</a:t>
            </a:r>
            <a:r>
              <a:rPr lang="en-US" altLang="zh-CN" sz="2000">
                <a:latin typeface="Times New Roman" panose="02020603050405020304" pitchFamily="18" charset="0"/>
                <a:ea typeface="隶书" pitchFamily="49" charset="-122"/>
              </a:rPr>
              <a:t>,</a:t>
            </a:r>
            <a:endParaRPr lang="en-US" altLang="zh-CN" sz="2000">
              <a:latin typeface="Times New Roman" panose="02020603050405020304" pitchFamily="18" charset="0"/>
              <a:ea typeface="隶书" pitchFamily="49" charset="-122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隶书" pitchFamily="49" charset="-122"/>
              </a:rPr>
              <a:t>生成源程序</a:t>
            </a:r>
            <a:r>
              <a:rPr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*</a:t>
            </a:r>
            <a:r>
              <a:rPr lang="en-US" altLang="zh-CN" sz="200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.c</a:t>
            </a:r>
            <a:endParaRPr lang="en-US" altLang="zh-CN" sz="2000">
              <a:solidFill>
                <a:srgbClr val="FF3300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37017" name="文本框 37016"/>
          <p:cNvSpPr txBox="1"/>
          <p:nvPr/>
        </p:nvSpPr>
        <p:spPr>
          <a:xfrm>
            <a:off x="8186738" y="1984375"/>
            <a:ext cx="2468562" cy="706438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Times New Roman" panose="02020603050405020304" pitchFamily="18" charset="0"/>
                <a:ea typeface="隶书" pitchFamily="49" charset="-122"/>
              </a:rPr>
              <a:t>语法分析查错，翻译</a:t>
            </a:r>
            <a:endParaRPr lang="zh-CN" altLang="en-US" sz="2000" dirty="0">
              <a:latin typeface="Times New Roman" panose="02020603050405020304" pitchFamily="18" charset="0"/>
              <a:ea typeface="隶书" pitchFamily="49" charset="-122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隶书" pitchFamily="49" charset="-122"/>
              </a:rPr>
              <a:t>生成目标程序</a:t>
            </a:r>
            <a:r>
              <a:rPr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*</a:t>
            </a:r>
            <a:r>
              <a:rPr lang="en-US" altLang="zh-CN" sz="2000" dirty="0" err="1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.obj</a:t>
            </a:r>
            <a:endParaRPr lang="en-US" altLang="zh-CN" sz="2000">
              <a:solidFill>
                <a:srgbClr val="FF3300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37018" name="文本框 37017"/>
          <p:cNvSpPr txBox="1"/>
          <p:nvPr/>
        </p:nvSpPr>
        <p:spPr>
          <a:xfrm>
            <a:off x="8228013" y="2951163"/>
            <a:ext cx="2532062" cy="1014412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latin typeface="Times New Roman" panose="02020603050405020304" pitchFamily="18" charset="0"/>
                <a:ea typeface="隶书" pitchFamily="49" charset="-122"/>
              </a:rPr>
              <a:t>与其它目标程序或库</a:t>
            </a:r>
            <a:endParaRPr lang="zh-CN" altLang="en-US" sz="2000" dirty="0">
              <a:latin typeface="Times New Roman" panose="02020603050405020304" pitchFamily="18" charset="0"/>
              <a:ea typeface="隶书" pitchFamily="49" charset="-122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隶书" pitchFamily="49" charset="-122"/>
              </a:rPr>
              <a:t>链接装配</a:t>
            </a:r>
            <a:r>
              <a:rPr lang="en-US" altLang="zh-CN" sz="2000" dirty="0">
                <a:latin typeface="Times New Roman" panose="02020603050405020304" pitchFamily="18" charset="0"/>
                <a:ea typeface="隶书" pitchFamily="49" charset="-122"/>
              </a:rPr>
              <a:t>,</a:t>
            </a:r>
            <a:r>
              <a:rPr lang="zh-CN" altLang="en-US" sz="2000" dirty="0">
                <a:latin typeface="Times New Roman" panose="02020603050405020304" pitchFamily="18" charset="0"/>
                <a:ea typeface="隶书" pitchFamily="49" charset="-122"/>
              </a:rPr>
              <a:t>生成可执行</a:t>
            </a:r>
            <a:endParaRPr lang="zh-CN" altLang="en-US" sz="2000" dirty="0">
              <a:latin typeface="Times New Roman" panose="02020603050405020304" pitchFamily="18" charset="0"/>
              <a:ea typeface="隶书" pitchFamily="49" charset="-122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隶书" pitchFamily="49" charset="-122"/>
              </a:rPr>
              <a:t>程序</a:t>
            </a:r>
            <a:r>
              <a:rPr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*</a:t>
            </a:r>
            <a:r>
              <a:rPr lang="en-US" altLang="zh-CN" sz="200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</a:rPr>
              <a:t>.exe</a:t>
            </a:r>
            <a:endParaRPr lang="en-US" altLang="zh-CN" sz="2000">
              <a:solidFill>
                <a:srgbClr val="FF3300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graphicFrame>
        <p:nvGraphicFramePr>
          <p:cNvPr id="37019" name="对象 37018"/>
          <p:cNvGraphicFramePr/>
          <p:nvPr/>
        </p:nvGraphicFramePr>
        <p:xfrm>
          <a:off x="4038600" y="5029200"/>
          <a:ext cx="6310313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4" imgW="3495675" imgH="762000" progId="Excel.Sheet.8">
                  <p:embed/>
                </p:oleObj>
              </mc:Choice>
              <mc:Fallback>
                <p:oleObj name="" r:id="rId4" imgW="3495675" imgH="762000" progId="Excel.Shee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38600" y="5029200"/>
                        <a:ext cx="6310313" cy="1466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 cap="flat" cmpd="sng">
                        <a:solidFill>
                          <a:srgbClr val="FF99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001" name="Text Box 5"/>
          <p:cNvSpPr txBox="1"/>
          <p:nvPr/>
        </p:nvSpPr>
        <p:spPr>
          <a:xfrm>
            <a:off x="1924050" y="69850"/>
            <a:ext cx="82391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4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C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程序的上机步骤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cover/>
    <p:sndAc>
      <p:stSnd>
        <p:snd r:embed="rId6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09">
                                            <p:txEl>
                                              <p:charRg st="1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009">
                                            <p:txEl>
                                              <p:charRg st="1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009">
                                            <p:txEl>
                                              <p:charRg st="1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37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70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370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370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370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370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09" grpId="0" bldLvl="5" build="p"/>
      <p:bldP spid="37016" grpId="0"/>
      <p:bldP spid="37017" grpId="0"/>
      <p:bldP spid="370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 l="-23000" r="-23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28002" name="文本框 39"/>
          <p:cNvSpPr txBox="1"/>
          <p:nvPr/>
        </p:nvSpPr>
        <p:spPr>
          <a:xfrm flipH="1">
            <a:off x="3678238" y="2095500"/>
            <a:ext cx="4705350" cy="1200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72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 聆 听</a:t>
            </a:r>
            <a:endParaRPr lang="zh-CN" altLang="en-US" sz="72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p="http://schemas.openxmlformats.org/presentationml/2006/main">
  <p:tag name="ISPRING_PRESENTATION_TITLE" val="模板074.pptx"/>
</p:tagLst>
</file>

<file path=ppt/theme/theme1.xml><?xml version="1.0" encoding="utf-8"?>
<a:theme xmlns:a="http://schemas.openxmlformats.org/drawingml/2006/main" name="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4293</Words>
  <Application>WPS 演示</Application>
  <PresentationFormat>宽屏</PresentationFormat>
  <Paragraphs>504</Paragraphs>
  <Slides>25</Slides>
  <Notes>7</Notes>
  <HiddenSlides>0</HiddenSlides>
  <MMClips>1</MMClips>
  <ScaleCrop>false</ScaleCrop>
  <HeadingPairs>
    <vt:vector size="8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10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71" baseType="lpstr">
      <vt:lpstr>Arial</vt:lpstr>
      <vt:lpstr>宋体</vt:lpstr>
      <vt:lpstr>Wingdings</vt:lpstr>
      <vt:lpstr>方正中等线简体</vt:lpstr>
      <vt:lpstr>微软雅黑</vt:lpstr>
      <vt:lpstr>Kartika</vt:lpstr>
      <vt:lpstr>Segoe Print</vt:lpstr>
      <vt:lpstr>Cookie Dough</vt:lpstr>
      <vt:lpstr>qtquickcontrols</vt:lpstr>
      <vt:lpstr>方正姚体</vt:lpstr>
      <vt:lpstr>方正兰亭中黑_GBK</vt:lpstr>
      <vt:lpstr>黑体</vt:lpstr>
      <vt:lpstr>方正兰亭纤黑简体</vt:lpstr>
      <vt:lpstr>Calibri</vt:lpstr>
      <vt:lpstr>方正兰亭黑简体</vt:lpstr>
      <vt:lpstr>Times New Roman</vt:lpstr>
      <vt:lpstr>Arial Unicode MS</vt:lpstr>
      <vt:lpstr>Calibri Light</vt:lpstr>
      <vt:lpstr>隶书</vt:lpstr>
      <vt:lpstr>Webdings</vt:lpstr>
      <vt:lpstr>华文仿宋</vt:lpstr>
      <vt:lpstr>仿宋</vt:lpstr>
      <vt:lpstr>华文中宋</vt:lpstr>
      <vt:lpstr>华康海报体W12(P)</vt:lpstr>
      <vt:lpstr>微软雅黑 Light</vt:lpstr>
      <vt:lpstr>Wingdings</vt:lpstr>
      <vt:lpstr>Arial Unicode MS</vt:lpstr>
      <vt:lpstr>Lato</vt:lpstr>
      <vt:lpstr>汉仪雅酷黑简</vt:lpstr>
      <vt:lpstr>汉仪雁翎体简</vt:lpstr>
      <vt:lpstr>楷体_GB2312</vt:lpstr>
      <vt:lpstr>新宋体</vt:lpstr>
      <vt:lpstr>Angsana New</vt:lpstr>
      <vt:lpstr>Microsoft Sans Serif</vt:lpstr>
      <vt:lpstr>Office 主题</vt:lpstr>
      <vt:lpstr>1_Office 主题</vt:lpstr>
      <vt:lpstr>2_Office 主题</vt:lpstr>
      <vt:lpstr>3_Office 主题</vt:lpstr>
      <vt:lpstr>5_Office 主题</vt:lpstr>
      <vt:lpstr>6_Office 主题</vt:lpstr>
      <vt:lpstr>4_Office 主题</vt:lpstr>
      <vt:lpstr>7_Office 主题</vt:lpstr>
      <vt:lpstr>8_Office 主题</vt:lpstr>
      <vt:lpstr>9_Office 主题</vt:lpstr>
      <vt:lpstr>Word.Document.8</vt:lpstr>
      <vt:lpstr>Excel.Sheet.8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2．用流程图描述算法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模板074.pptx</dc:title>
  <dc:creator/>
  <cp:lastModifiedBy>Administrator</cp:lastModifiedBy>
  <cp:revision>45</cp:revision>
  <dcterms:created xsi:type="dcterms:W3CDTF">2016-11-27T09:22:00Z</dcterms:created>
  <dcterms:modified xsi:type="dcterms:W3CDTF">2025-10-09T08:20:17Z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A435206C5DDE4AB797D735D16442AF63_12</vt:lpwstr>
  </property>
</Properties>
</file>
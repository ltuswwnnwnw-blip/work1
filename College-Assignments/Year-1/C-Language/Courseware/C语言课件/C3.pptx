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  <p:sldMasterId id="2147483668" r:id="rId4"/>
    <p:sldMasterId id="2147483678" r:id="rId5"/>
    <p:sldMasterId id="2147483688" r:id="rId6"/>
    <p:sldMasterId id="2147483698" r:id="rId7"/>
    <p:sldMasterId id="2147483708" r:id="rId8"/>
    <p:sldMasterId id="2147483718" r:id="rId9"/>
    <p:sldMasterId id="2147483728" r:id="rId10"/>
    <p:sldMasterId id="2147483738" r:id="rId11"/>
    <p:sldMasterId id="2147483748" r:id="rId12"/>
    <p:sldMasterId id="2147483758" r:id="rId13"/>
    <p:sldMasterId id="2147483768" r:id="rId14"/>
    <p:sldMasterId id="2147483778" r:id="rId15"/>
    <p:sldMasterId id="2147483788" r:id="rId16"/>
    <p:sldMasterId id="2147483798" r:id="rId17"/>
  </p:sldMasterIdLst>
  <p:notesMasterIdLst>
    <p:notesMasterId r:id="rId19"/>
  </p:notesMasterIdLst>
  <p:sldIdLst>
    <p:sldId id="256" r:id="rId18"/>
    <p:sldId id="613" r:id="rId20"/>
    <p:sldId id="500" r:id="rId21"/>
    <p:sldId id="609" r:id="rId22"/>
    <p:sldId id="610" r:id="rId23"/>
    <p:sldId id="614" r:id="rId24"/>
    <p:sldId id="615" r:id="rId25"/>
    <p:sldId id="439" r:id="rId26"/>
    <p:sldId id="595" r:id="rId27"/>
    <p:sldId id="617" r:id="rId28"/>
    <p:sldId id="618" r:id="rId29"/>
    <p:sldId id="619" r:id="rId30"/>
    <p:sldId id="620" r:id="rId31"/>
    <p:sldId id="623" r:id="rId32"/>
    <p:sldId id="597" r:id="rId33"/>
    <p:sldId id="598" r:id="rId34"/>
    <p:sldId id="599" r:id="rId35"/>
    <p:sldId id="602" r:id="rId36"/>
    <p:sldId id="603" r:id="rId37"/>
    <p:sldId id="604" r:id="rId38"/>
    <p:sldId id="605" r:id="rId39"/>
    <p:sldId id="611" r:id="rId40"/>
    <p:sldId id="625" r:id="rId41"/>
    <p:sldId id="626" r:id="rId42"/>
    <p:sldId id="637" r:id="rId43"/>
    <p:sldId id="638" r:id="rId44"/>
    <p:sldId id="639" r:id="rId45"/>
    <p:sldId id="271" r:id="rId46"/>
  </p:sldIdLst>
  <p:sldSz cx="12192000" cy="6858000"/>
  <p:notesSz cx="6858000" cy="9144000"/>
  <p:custDataLst>
    <p:tags r:id="rId5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3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83763"/>
    <a:srgbClr val="025AA2"/>
    <a:srgbClr val="1C1C1C"/>
    <a:srgbClr val="D16809"/>
    <a:srgbClr val="319095"/>
    <a:srgbClr val="F5F5F5"/>
    <a:srgbClr val="5FCACB"/>
    <a:srgbClr val="F5841C"/>
    <a:srgbClr val="A0BF0D"/>
    <a:srgbClr val="FDB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130"/>
    <p:restoredTop sz="83721"/>
  </p:normalViewPr>
  <p:slideViewPr>
    <p:cSldViewPr snapToGrid="0" showGuides="1">
      <p:cViewPr varScale="1">
        <p:scale>
          <a:sx n="95" d="100"/>
          <a:sy n="95" d="100"/>
        </p:scale>
        <p:origin x="954" y="96"/>
      </p:cViewPr>
      <p:guideLst>
        <p:guide orient="horz" pos="2200"/>
        <p:guide pos="37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604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0" Type="http://schemas.openxmlformats.org/officeDocument/2006/relationships/tags" Target="tags/tag1.xml"/><Relationship Id="rId5" Type="http://schemas.openxmlformats.org/officeDocument/2006/relationships/slideMaster" Target="slideMasters/slideMaster4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28.xml"/><Relationship Id="rId45" Type="http://schemas.openxmlformats.org/officeDocument/2006/relationships/slide" Target="slides/slide27.xml"/><Relationship Id="rId44" Type="http://schemas.openxmlformats.org/officeDocument/2006/relationships/slide" Target="slides/slide26.xml"/><Relationship Id="rId43" Type="http://schemas.openxmlformats.org/officeDocument/2006/relationships/slide" Target="slides/slide25.xml"/><Relationship Id="rId42" Type="http://schemas.openxmlformats.org/officeDocument/2006/relationships/slide" Target="slides/slide24.xml"/><Relationship Id="rId41" Type="http://schemas.openxmlformats.org/officeDocument/2006/relationships/slide" Target="slides/slide23.xml"/><Relationship Id="rId40" Type="http://schemas.openxmlformats.org/officeDocument/2006/relationships/slide" Target="slides/slide22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1.xml"/><Relationship Id="rId38" Type="http://schemas.openxmlformats.org/officeDocument/2006/relationships/slide" Target="slides/slide20.xml"/><Relationship Id="rId37" Type="http://schemas.openxmlformats.org/officeDocument/2006/relationships/slide" Target="slides/slide19.xml"/><Relationship Id="rId36" Type="http://schemas.openxmlformats.org/officeDocument/2006/relationships/slide" Target="slides/slide18.xml"/><Relationship Id="rId35" Type="http://schemas.openxmlformats.org/officeDocument/2006/relationships/slide" Target="slides/slide17.xml"/><Relationship Id="rId34" Type="http://schemas.openxmlformats.org/officeDocument/2006/relationships/slide" Target="slides/slide16.xml"/><Relationship Id="rId33" Type="http://schemas.openxmlformats.org/officeDocument/2006/relationships/slide" Target="slides/slide15.xml"/><Relationship Id="rId32" Type="http://schemas.openxmlformats.org/officeDocument/2006/relationships/slide" Target="slides/slide14.xml"/><Relationship Id="rId31" Type="http://schemas.openxmlformats.org/officeDocument/2006/relationships/slide" Target="slides/slide13.xml"/><Relationship Id="rId30" Type="http://schemas.openxmlformats.org/officeDocument/2006/relationships/slide" Target="slides/slide1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1.xml"/><Relationship Id="rId28" Type="http://schemas.openxmlformats.org/officeDocument/2006/relationships/slide" Target="slides/slide10.xml"/><Relationship Id="rId27" Type="http://schemas.openxmlformats.org/officeDocument/2006/relationships/slide" Target="slides/slide9.xml"/><Relationship Id="rId26" Type="http://schemas.openxmlformats.org/officeDocument/2006/relationships/slide" Target="slides/slide8.xml"/><Relationship Id="rId25" Type="http://schemas.openxmlformats.org/officeDocument/2006/relationships/slide" Target="slides/slide7.xml"/><Relationship Id="rId24" Type="http://schemas.openxmlformats.org/officeDocument/2006/relationships/slide" Target="slides/slide6.xml"/><Relationship Id="rId23" Type="http://schemas.openxmlformats.org/officeDocument/2006/relationships/slide" Target="slides/slide5.xml"/><Relationship Id="rId22" Type="http://schemas.openxmlformats.org/officeDocument/2006/relationships/slide" Target="slides/slide4.xml"/><Relationship Id="rId21" Type="http://schemas.openxmlformats.org/officeDocument/2006/relationships/slide" Target="slides/slide3.xml"/><Relationship Id="rId20" Type="http://schemas.openxmlformats.org/officeDocument/2006/relationships/slide" Target="slides/slide2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73FA7645-52C7-40DE-A730-3565A4F631A6}" type="datetimeFigureOut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14848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8485" name="Notes Placeholder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 indent="0"/>
            <a:r>
              <a:rPr lang="en-US" altLang="zh-CN"/>
              <a:t>Second level</a:t>
            </a:r>
            <a:endParaRPr lang="en-US" altLang="zh-CN"/>
          </a:p>
          <a:p>
            <a:pPr lvl="2" indent="0"/>
            <a:r>
              <a:rPr lang="en-US" altLang="zh-CN"/>
              <a:t>Third level</a:t>
            </a:r>
            <a:endParaRPr lang="en-US" altLang="zh-CN"/>
          </a:p>
          <a:p>
            <a:pPr lvl="3" indent="0"/>
            <a:r>
              <a:rPr lang="en-US" altLang="zh-CN"/>
              <a:t>Fourth level</a:t>
            </a:r>
            <a:endParaRPr lang="en-US" altLang="zh-CN"/>
          </a:p>
          <a:p>
            <a:pPr lvl="4" indent="0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B0009764-4815-4F90-93AA-0D9752993797}" type="slidenum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052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0530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en-US" altLang="zh-CN" dirty="0"/>
          </a:p>
        </p:txBody>
      </p:sp>
      <p:sp>
        <p:nvSpPr>
          <p:cNvPr id="150531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</a:rPr>
            </a:fld>
            <a:endParaRPr lang="en-US" altLang="zh-CN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257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2578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en-US" altLang="zh-CN"/>
          </a:p>
        </p:txBody>
      </p:sp>
      <p:sp>
        <p:nvSpPr>
          <p:cNvPr id="152579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</a:rPr>
            </a:fld>
            <a:endParaRPr lang="en-US" altLang="zh-CN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462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462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en-US" altLang="zh-CN"/>
          </a:p>
        </p:txBody>
      </p:sp>
      <p:sp>
        <p:nvSpPr>
          <p:cNvPr id="15462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</a:rPr>
            </a:fld>
            <a:endParaRPr lang="en-US" altLang="zh-CN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667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6674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en-US" altLang="zh-CN"/>
          </a:p>
        </p:txBody>
      </p:sp>
      <p:sp>
        <p:nvSpPr>
          <p:cNvPr id="15667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</a:rPr>
            </a:fld>
            <a:endParaRPr lang="en-US" altLang="zh-CN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179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61794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en-US" altLang="zh-CN"/>
          </a:p>
        </p:txBody>
      </p:sp>
      <p:sp>
        <p:nvSpPr>
          <p:cNvPr id="16179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</a:rPr>
            </a:fld>
            <a:endParaRPr lang="en-US" altLang="zh-CN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715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77154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en-US" altLang="zh-CN"/>
          </a:p>
        </p:txBody>
      </p:sp>
      <p:sp>
        <p:nvSpPr>
          <p:cNvPr id="17715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sz="1200">
                <a:latin typeface="Calibri" panose="020F0502020204030204" pitchFamily="34" charset="0"/>
              </a:rPr>
            </a:fld>
            <a:endParaRPr lang="en-US" altLang="zh-CN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设计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反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5472113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教学分析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118350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8764588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0423525" y="195263"/>
            <a:ext cx="0" cy="360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7118350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8764588" y="69850"/>
            <a:ext cx="1646238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000" strike="noStrike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教学过程</a:t>
            </a:r>
            <a:endParaRPr lang="zh-CN" altLang="en-US" sz="2000" strike="noStrike" noProof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10825" y="69850"/>
            <a:ext cx="164465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/>
            <a:r>
              <a:rPr lang="zh-CN" altLang="en-US" sz="2400" b="1" strike="noStrike" noProof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教学反思</a:t>
            </a:r>
            <a:endParaRPr lang="zh-CN" altLang="en-US" sz="2400" b="1" strike="noStrike" noProof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BC105FA2-AA41-4187-886F-2EE35831F57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defRPr/>
            </a:pPr>
            <a:fld id="{A91AAA44-FFBF-4BFF-A791-81E2076B88FA}" type="slidenum">
              <a:rPr lang="en-US" altLang="zh-CN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1" Type="http://schemas.openxmlformats.org/officeDocument/2006/relationships/theme" Target="../theme/theme3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1" Type="http://schemas.openxmlformats.org/officeDocument/2006/relationships/theme" Target="../theme/theme4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28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1" Type="http://schemas.openxmlformats.org/officeDocument/2006/relationships/theme" Target="../theme/theme5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37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1" Type="http://schemas.openxmlformats.org/officeDocument/2006/relationships/theme" Target="../theme/theme6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4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6.xml"/><Relationship Id="rId11" Type="http://schemas.openxmlformats.org/officeDocument/2006/relationships/theme" Target="../theme/theme7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55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2.xml"/><Relationship Id="rId8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0.xml"/><Relationship Id="rId6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5.xml"/><Relationship Id="rId11" Type="http://schemas.openxmlformats.org/officeDocument/2006/relationships/theme" Target="../theme/theme8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64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0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4.xml"/><Relationship Id="rId11" Type="http://schemas.openxmlformats.org/officeDocument/2006/relationships/theme" Target="../theme/theme9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73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0.xml"/><Relationship Id="rId8" Type="http://schemas.openxmlformats.org/officeDocument/2006/relationships/slideLayout" Target="../slideLayouts/slideLayout89.xml"/><Relationship Id="rId7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3.xml"/><Relationship Id="rId11" Type="http://schemas.openxmlformats.org/officeDocument/2006/relationships/theme" Target="../theme/theme10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82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9.xml"/><Relationship Id="rId8" Type="http://schemas.openxmlformats.org/officeDocument/2006/relationships/slideLayout" Target="../slideLayouts/slideLayout98.xml"/><Relationship Id="rId7" Type="http://schemas.openxmlformats.org/officeDocument/2006/relationships/slideLayout" Target="../slideLayouts/slideLayout97.xml"/><Relationship Id="rId6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5.xml"/><Relationship Id="rId4" Type="http://schemas.openxmlformats.org/officeDocument/2006/relationships/slideLayout" Target="../slideLayouts/slideLayout94.xml"/><Relationship Id="rId3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2.xml"/><Relationship Id="rId11" Type="http://schemas.openxmlformats.org/officeDocument/2006/relationships/theme" Target="../theme/theme11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9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1" Type="http://schemas.openxmlformats.org/officeDocument/2006/relationships/theme" Target="../theme/theme12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00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7.xml"/><Relationship Id="rId8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14.xml"/><Relationship Id="rId5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10.xml"/><Relationship Id="rId11" Type="http://schemas.openxmlformats.org/officeDocument/2006/relationships/theme" Target="../theme/theme13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09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9.xml"/><Relationship Id="rId11" Type="http://schemas.openxmlformats.org/officeDocument/2006/relationships/theme" Target="../theme/theme14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18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5.xml"/><Relationship Id="rId8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29.xml"/><Relationship Id="rId2" Type="http://schemas.openxmlformats.org/officeDocument/2006/relationships/slideLayout" Target="../slideLayouts/slideLayout128.xml"/><Relationship Id="rId11" Type="http://schemas.openxmlformats.org/officeDocument/2006/relationships/theme" Target="../theme/theme15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27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137.xml"/><Relationship Id="rId11" Type="http://schemas.openxmlformats.org/officeDocument/2006/relationships/theme" Target="../theme/theme16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4"/>
            <a:ext cx="661486" cy="1681202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5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1" y="388790"/>
            <a:ext cx="212642" cy="60530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4"/>
            <a:ext cx="661486" cy="1681202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5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90"/>
            <a:ext cx="212642" cy="60530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4"/>
            <a:ext cx="661486" cy="1681202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5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90"/>
            <a:ext cx="212642" cy="60530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4"/>
            <a:ext cx="661486" cy="1681202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5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90"/>
            <a:ext cx="212642" cy="60530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4"/>
            <a:ext cx="661486" cy="1681202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5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90"/>
            <a:ext cx="212642" cy="60530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4"/>
            <a:ext cx="661486" cy="1681202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5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90"/>
            <a:ext cx="212642" cy="60530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4"/>
            <a:ext cx="661486" cy="1681202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5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90"/>
            <a:ext cx="212642" cy="60530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4"/>
            <a:ext cx="661486" cy="1681202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5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90"/>
            <a:ext cx="212642" cy="60530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4"/>
            <a:ext cx="661486" cy="1681202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5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90"/>
            <a:ext cx="212642" cy="60530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4"/>
            <a:ext cx="661486" cy="1681202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5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90"/>
            <a:ext cx="212642" cy="60530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6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7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4"/>
            <a:ext cx="661486" cy="1681202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5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90"/>
            <a:ext cx="212642" cy="60530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1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2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3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4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4"/>
            <a:ext cx="661486" cy="1681202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5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90"/>
            <a:ext cx="212642" cy="60530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5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6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7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8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4"/>
            <a:ext cx="661486" cy="1681202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5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2" y="388790"/>
            <a:ext cx="212642" cy="60530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39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0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1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2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4"/>
            <a:ext cx="661486" cy="1681202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5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3" y="388790"/>
            <a:ext cx="212642" cy="60530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63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4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5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6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4"/>
            <a:ext cx="661486" cy="1681202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5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3" y="388790"/>
            <a:ext cx="212642" cy="60530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 userDrawn="1"/>
        </p:nvCxnSpPr>
        <p:spPr>
          <a:xfrm>
            <a:off x="26988" y="654050"/>
            <a:ext cx="12204700" cy="0"/>
          </a:xfrm>
          <a:prstGeom prst="lin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87" name="组合 7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379200" y="6072188"/>
            <a:ext cx="1311275" cy="1347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8" name="组合 11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115887" y="-168275"/>
            <a:ext cx="1271587" cy="1230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9" name="组合 15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350" y="-15875"/>
            <a:ext cx="466725" cy="611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90" name="组合 23"/>
          <p:cNvPicPr>
            <a:picLocks noGrp="1"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920538" y="407988"/>
            <a:ext cx="485775" cy="557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 userDrawn="1"/>
        </p:nvGrpSpPr>
        <p:grpSpPr>
          <a:xfrm rot="13450455">
            <a:off x="11576089" y="5919854"/>
            <a:ext cx="661486" cy="1681202"/>
            <a:chOff x="11762339" y="3746221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9" name="Freeform 16"/>
            <p:cNvSpPr/>
            <p:nvPr/>
          </p:nvSpPr>
          <p:spPr bwMode="auto">
            <a:xfrm flipV="1">
              <a:off x="11767353" y="3746221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0" name="Freeform 30"/>
            <p:cNvSpPr/>
            <p:nvPr/>
          </p:nvSpPr>
          <p:spPr bwMode="auto">
            <a:xfrm rot="15296182">
              <a:off x="11830602" y="4196908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1" name="Freeform 12"/>
            <p:cNvSpPr/>
            <p:nvPr/>
          </p:nvSpPr>
          <p:spPr bwMode="auto">
            <a:xfrm rot="7160246">
              <a:off x="11692179" y="4425941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2731254">
            <a:off x="328816" y="-354741"/>
            <a:ext cx="566181" cy="1611635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3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4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5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 rot="23880000" flipV="1">
            <a:off x="98385" y="-35479"/>
            <a:ext cx="212642" cy="60529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17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8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19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19500000" flipH="1" flipV="1">
            <a:off x="12018553" y="388790"/>
            <a:ext cx="212642" cy="605300"/>
            <a:chOff x="4454660" y="3810474"/>
            <a:chExt cx="406107" cy="1155987"/>
          </a:xfr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grpSpPr>
        <p:sp>
          <p:nvSpPr>
            <p:cNvPr id="25" name="Freeform 16"/>
            <p:cNvSpPr/>
            <p:nvPr/>
          </p:nvSpPr>
          <p:spPr bwMode="auto">
            <a:xfrm flipV="1">
              <a:off x="4459674" y="3810474"/>
              <a:ext cx="396080" cy="564858"/>
            </a:xfrm>
            <a:custGeom>
              <a:avLst/>
              <a:gdLst>
                <a:gd name="T0" fmla="*/ 284 w 758"/>
                <a:gd name="T1" fmla="*/ 1081 h 1081"/>
                <a:gd name="T2" fmla="*/ 758 w 758"/>
                <a:gd name="T3" fmla="*/ 0 h 1081"/>
                <a:gd name="T4" fmla="*/ 0 w 758"/>
                <a:gd name="T5" fmla="*/ 288 h 1081"/>
                <a:gd name="T6" fmla="*/ 284 w 758"/>
                <a:gd name="T7" fmla="*/ 1081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8" h="1081">
                  <a:moveTo>
                    <a:pt x="284" y="1081"/>
                  </a:moveTo>
                  <a:lnTo>
                    <a:pt x="758" y="0"/>
                  </a:lnTo>
                  <a:lnTo>
                    <a:pt x="0" y="288"/>
                  </a:lnTo>
                  <a:lnTo>
                    <a:pt x="284" y="10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6" name="Freeform 30"/>
            <p:cNvSpPr/>
            <p:nvPr/>
          </p:nvSpPr>
          <p:spPr bwMode="auto">
            <a:xfrm rot="15296182">
              <a:off x="4522923" y="4261161"/>
              <a:ext cx="275725" cy="329602"/>
            </a:xfrm>
            <a:custGeom>
              <a:avLst/>
              <a:gdLst>
                <a:gd name="T0" fmla="*/ 0 w 261"/>
                <a:gd name="T1" fmla="*/ 0 h 312"/>
                <a:gd name="T2" fmla="*/ 119 w 261"/>
                <a:gd name="T3" fmla="*/ 312 h 312"/>
                <a:gd name="T4" fmla="*/ 119 w 261"/>
                <a:gd name="T5" fmla="*/ 312 h 312"/>
                <a:gd name="T6" fmla="*/ 261 w 261"/>
                <a:gd name="T7" fmla="*/ 0 h 312"/>
                <a:gd name="T8" fmla="*/ 0 w 26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312">
                  <a:moveTo>
                    <a:pt x="0" y="0"/>
                  </a:moveTo>
                  <a:lnTo>
                    <a:pt x="119" y="312"/>
                  </a:lnTo>
                  <a:lnTo>
                    <a:pt x="119" y="312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  <p:sp>
          <p:nvSpPr>
            <p:cNvPr id="27" name="Freeform 12"/>
            <p:cNvSpPr/>
            <p:nvPr/>
          </p:nvSpPr>
          <p:spPr bwMode="auto">
            <a:xfrm rot="7160246">
              <a:off x="4384500" y="4490194"/>
              <a:ext cx="546427" cy="406107"/>
            </a:xfrm>
            <a:custGeom>
              <a:avLst/>
              <a:gdLst>
                <a:gd name="T0" fmla="*/ 782 w 1067"/>
                <a:gd name="T1" fmla="*/ 0 h 793"/>
                <a:gd name="T2" fmla="*/ 0 w 1067"/>
                <a:gd name="T3" fmla="*/ 288 h 793"/>
                <a:gd name="T4" fmla="*/ 1067 w 1067"/>
                <a:gd name="T5" fmla="*/ 793 h 793"/>
                <a:gd name="T6" fmla="*/ 782 w 1067"/>
                <a:gd name="T7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7" h="793">
                  <a:moveTo>
                    <a:pt x="782" y="0"/>
                  </a:moveTo>
                  <a:lnTo>
                    <a:pt x="0" y="288"/>
                  </a:lnTo>
                  <a:lnTo>
                    <a:pt x="1067" y="793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fontAlgn="auto"/>
              <a:endParaRPr lang="zh-CN" altLang="en-US" strike="noStrike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8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slide" Target="slide1.xml"/><Relationship Id="rId2" Type="http://schemas.openxmlformats.org/officeDocument/2006/relationships/image" Target="../media/image1.jpeg"/><Relationship Id="rId1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8.xml"/><Relationship Id="rId1" Type="http://schemas.openxmlformats.org/officeDocument/2006/relationships/audio" Target="../media/audio2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7.xml"/><Relationship Id="rId1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6.xml"/><Relationship Id="rId1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5.xml"/><Relationship Id="rId1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4.xml"/><Relationship Id="rId1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9.xml"/><Relationship Id="rId4" Type="http://schemas.openxmlformats.org/officeDocument/2006/relationships/audio" Target="../media/audio1.wav"/><Relationship Id="rId3" Type="http://schemas.openxmlformats.org/officeDocument/2006/relationships/slide" Target="slide1.xml"/><Relationship Id="rId2" Type="http://schemas.openxmlformats.org/officeDocument/2006/relationships/slide" Target="slide9.xml"/><Relationship Id="rId1" Type="http://schemas.openxmlformats.org/officeDocument/2006/relationships/hyperlink" Target="file:///D:\TC\TC.EXE" TargetMode="Externa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8.xml"/><Relationship Id="rId4" Type="http://schemas.openxmlformats.org/officeDocument/2006/relationships/audio" Target="../media/audio1.wav"/><Relationship Id="rId3" Type="http://schemas.openxmlformats.org/officeDocument/2006/relationships/slide" Target="slide1.xml"/><Relationship Id="rId2" Type="http://schemas.openxmlformats.org/officeDocument/2006/relationships/slide" Target="slide9.xml"/><Relationship Id="rId1" Type="http://schemas.openxmlformats.org/officeDocument/2006/relationships/hyperlink" Target="file:///D:\TC\TC.EXE" TargetMode="Externa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audio" Target="../media/audio4.wav"/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" Target="slide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audio" Target="../media/audio1.wav"/><Relationship Id="rId3" Type="http://schemas.openxmlformats.org/officeDocument/2006/relationships/slide" Target="slide1.xml"/><Relationship Id="rId2" Type="http://schemas.openxmlformats.org/officeDocument/2006/relationships/slide" Target="slide9.xml"/><Relationship Id="rId1" Type="http://schemas.openxmlformats.org/officeDocument/2006/relationships/hyperlink" Target="file:///D:\TC\TC.EXE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audio3.wav"/><Relationship Id="rId1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slide" Target="slide9.xml"/><Relationship Id="rId1" Type="http://schemas.openxmlformats.org/officeDocument/2006/relationships/hyperlink" Target="file:///D:\TC\TC.EXE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5.wav"/><Relationship Id="rId1" Type="http://schemas.openxmlformats.org/officeDocument/2006/relationships/audio" Target="../media/audio1.wav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8.xml"/><Relationship Id="rId5" Type="http://schemas.openxmlformats.org/officeDocument/2006/relationships/audio" Target="../media/audio1.wav"/><Relationship Id="rId4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3.jpeg"/><Relationship Id="rId1" Type="http://schemas.openxmlformats.org/officeDocument/2006/relationships/hyperlink" Target="file:///D:\TC\TC.EXE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107.xml"/><Relationship Id="rId3" Type="http://schemas.openxmlformats.org/officeDocument/2006/relationships/audio" Target="../media/audio1.wav"/><Relationship Id="rId2" Type="http://schemas.openxmlformats.org/officeDocument/2006/relationships/image" Target="../media/image5.wmf"/><Relationship Id="rId1" Type="http://schemas.openxmlformats.org/officeDocument/2006/relationships/oleObject" Target="../embeddings/oleObject2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6.xml"/><Relationship Id="rId1" Type="http://schemas.openxmlformats.org/officeDocument/2006/relationships/audio" Target="../media/audio1.wav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5.xml"/><Relationship Id="rId1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4.xml"/><Relationship Id="rId1" Type="http://schemas.openxmlformats.org/officeDocument/2006/relationships/audio" Target="../media/audio1.wav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3.xml"/><Relationship Id="rId1" Type="http://schemas.openxmlformats.org/officeDocument/2006/relationships/audio" Target="../media/audio1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49506" name="media1.mp3">
            <a:hlinkClick r:id="" action="ppaction://media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5062" y="61913"/>
            <a:ext cx="6096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9507" name="文本框 41"/>
          <p:cNvSpPr txBox="1"/>
          <p:nvPr/>
        </p:nvSpPr>
        <p:spPr>
          <a:xfrm flipH="1">
            <a:off x="3789363" y="1927225"/>
            <a:ext cx="4251325" cy="8302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4800" b="1" dirty="0">
                <a:solidFill>
                  <a:srgbClr val="0838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800" b="1" dirty="0">
                <a:solidFill>
                  <a:srgbClr val="0838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语言程序设计</a:t>
            </a:r>
            <a:endParaRPr lang="zh-CN" altLang="en-US" sz="4800" b="1" dirty="0">
              <a:solidFill>
                <a:srgbClr val="08386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395"/>
          <p:cNvSpPr>
            <a:spLocks noChangeArrowheads="1"/>
          </p:cNvSpPr>
          <p:nvPr/>
        </p:nvSpPr>
        <p:spPr bwMode="auto">
          <a:xfrm>
            <a:off x="4235450" y="2997200"/>
            <a:ext cx="3475038" cy="4349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0"/>
              </a:spcBef>
              <a:buFontTx/>
              <a:buNone/>
            </a:pPr>
            <a:r>
              <a:rPr lang="en-US" altLang="zh-CN" sz="20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lang="zh-CN" altLang="en-US" sz="20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、顺序结构程序设计</a:t>
            </a:r>
            <a:endParaRPr lang="zh-CN" altLang="en-US" sz="2000" b="1" strike="noStrike" noProof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 advClick="0" advTm="7825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63" name="平行四边形 62"/>
          <p:cNvSpPr/>
          <p:nvPr/>
        </p:nvSpPr>
        <p:spPr>
          <a:xfrm rot="10800000" flipH="1">
            <a:off x="0" y="0"/>
            <a:ext cx="2173288" cy="1644650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26" name="平行四边形 25"/>
          <p:cNvSpPr/>
          <p:nvPr/>
        </p:nvSpPr>
        <p:spPr>
          <a:xfrm rot="10800000" flipH="1">
            <a:off x="889000" y="227013"/>
            <a:ext cx="2174875" cy="1644650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4346" name="文本框 14345"/>
          <p:cNvSpPr txBox="1"/>
          <p:nvPr/>
        </p:nvSpPr>
        <p:spPr>
          <a:xfrm>
            <a:off x="3316288" y="1377950"/>
            <a:ext cx="6827837" cy="3138170"/>
          </a:xfrm>
          <a:prstGeom prst="rect">
            <a:avLst/>
          </a:prstGeom>
          <a:solidFill>
            <a:srgbClr val="C4EFFF"/>
          </a:solidFill>
          <a:ln w="22225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/*引例：由键盘输入一个小写字母，将其转换为大写字母输出*/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#include &lt;stdio.h&gt;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int main()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{ 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char c1,c2;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printf("请输入一个小写字母");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c1=getchar();                                /*接受一个键盘输入的字母 */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c2=c1-32;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printf("%c,%c\n",c1,c2);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return 0;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 advClick="0" advTm="6608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6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C8C8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63" name="平行四边形 62"/>
          <p:cNvSpPr/>
          <p:nvPr/>
        </p:nvSpPr>
        <p:spPr>
          <a:xfrm rot="10800000" flipH="1">
            <a:off x="0" y="0"/>
            <a:ext cx="2173288" cy="1644650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153603" name="组合 7"/>
          <p:cNvGrpSpPr/>
          <p:nvPr/>
        </p:nvGrpSpPr>
        <p:grpSpPr>
          <a:xfrm>
            <a:off x="5994400" y="2301875"/>
            <a:ext cx="3302000" cy="601663"/>
            <a:chOff x="5947494" y="561482"/>
            <a:chExt cx="3301705" cy="602565"/>
          </a:xfrm>
        </p:grpSpPr>
        <p:sp>
          <p:nvSpPr>
            <p:cNvPr id="153604" name="文本框 63"/>
            <p:cNvSpPr txBox="1"/>
            <p:nvPr/>
          </p:nvSpPr>
          <p:spPr>
            <a:xfrm>
              <a:off x="6933919" y="591764"/>
              <a:ext cx="2315280" cy="461066"/>
            </a:xfrm>
            <a:prstGeom prst="rect">
              <a:avLst/>
            </a:prstGeom>
            <a:noFill/>
            <a:ln w="9525" cap="flat" cmpd="sng">
              <a:solidFill>
                <a:srgbClr val="08376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rId1" action="ppaction://hlinksldjump"/>
                </a:rPr>
                <a:t>数据输入和输出</a:t>
              </a:r>
              <a:endPara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" action="ppaction://hlinksldjump"/>
              </a:endParaRPr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5947494" y="561482"/>
              <a:ext cx="602565" cy="602565"/>
              <a:chOff x="7935667" y="1393882"/>
              <a:chExt cx="602565" cy="602565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70" name="圆角矩形 69"/>
              <p:cNvSpPr/>
              <p:nvPr/>
            </p:nvSpPr>
            <p:spPr>
              <a:xfrm rot="2700000">
                <a:off x="7935667" y="1393882"/>
                <a:ext cx="602565" cy="60256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z="1100" strike="noStrike" noProof="1"/>
              </a:p>
            </p:txBody>
          </p:sp>
          <p:sp>
            <p:nvSpPr>
              <p:cNvPr id="79" name="文本框 78"/>
              <p:cNvSpPr txBox="1"/>
              <p:nvPr/>
            </p:nvSpPr>
            <p:spPr>
              <a:xfrm>
                <a:off x="8053929" y="1518083"/>
                <a:ext cx="339549" cy="399379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fontAlgn="auto"/>
                <a:r>
                  <a:rPr lang="en-US" altLang="zh-CN" sz="2000" b="1" strike="noStrike" noProof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Kartika" pitchFamily="18" charset="0"/>
                  </a:rPr>
                  <a:t>2</a:t>
                </a:r>
                <a:endParaRPr lang="en-US" altLang="zh-CN" sz="20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endParaRPr>
              </a:p>
            </p:txBody>
          </p:sp>
        </p:grpSp>
      </p:grpSp>
      <p:sp>
        <p:nvSpPr>
          <p:cNvPr id="26" name="平行四边形 25"/>
          <p:cNvSpPr/>
          <p:nvPr/>
        </p:nvSpPr>
        <p:spPr>
          <a:xfrm rot="10800000" flipH="1">
            <a:off x="889000" y="227013"/>
            <a:ext cx="2174875" cy="1644650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pic>
        <p:nvPicPr>
          <p:cNvPr id="153607" name="组合 2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325" y="1863725"/>
            <a:ext cx="2944813" cy="33162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" name="组合 2"/>
          <p:cNvGrpSpPr/>
          <p:nvPr/>
        </p:nvGrpSpPr>
        <p:grpSpPr>
          <a:xfrm>
            <a:off x="2384717" y="2136073"/>
            <a:ext cx="3068418" cy="2718682"/>
            <a:chOff x="2384717" y="2136073"/>
            <a:chExt cx="3068428" cy="27186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六边形 1"/>
            <p:cNvSpPr/>
            <p:nvPr/>
          </p:nvSpPr>
          <p:spPr>
            <a:xfrm rot="1800000">
              <a:off x="2384717" y="2136073"/>
              <a:ext cx="3068428" cy="2718682"/>
            </a:xfrm>
            <a:prstGeom prst="hexagon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28" name="六边形 27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29" name="TextBox 5"/>
            <p:cNvSpPr txBox="1"/>
            <p:nvPr/>
          </p:nvSpPr>
          <p:spPr>
            <a:xfrm>
              <a:off x="2728061" y="2705823"/>
              <a:ext cx="2316555" cy="141577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zh-CN" altLang="en-US" sz="5400" b="1" strike="noStrike" noProof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目录</a:t>
              </a:r>
              <a:endParaRPr lang="en-US" altLang="zh-CN" sz="4400" b="1" strike="noStrike" noProof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/>
              <a:r>
                <a:rPr lang="en-US" altLang="zh-CN" sz="3200" b="1" strike="noStrike" noProof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Contents</a:t>
              </a:r>
              <a:endParaRPr lang="zh-CN" altLang="en-US" sz="3200" b="1" strike="noStrike" noProof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3609" name="组合 7"/>
          <p:cNvGrpSpPr/>
          <p:nvPr/>
        </p:nvGrpSpPr>
        <p:grpSpPr>
          <a:xfrm>
            <a:off x="5980113" y="1042988"/>
            <a:ext cx="2900362" cy="601662"/>
            <a:chOff x="5947494" y="561482"/>
            <a:chExt cx="2898054" cy="602565"/>
          </a:xfrm>
        </p:grpSpPr>
        <p:sp>
          <p:nvSpPr>
            <p:cNvPr id="153610" name="文本框 63"/>
            <p:cNvSpPr txBox="1"/>
            <p:nvPr/>
          </p:nvSpPr>
          <p:spPr>
            <a:xfrm>
              <a:off x="6934554" y="609571"/>
              <a:ext cx="1910994" cy="461066"/>
            </a:xfrm>
            <a:prstGeom prst="rect">
              <a:avLst/>
            </a:prstGeom>
            <a:noFill/>
            <a:ln w="9525" cap="flat" cmpd="sng">
              <a:solidFill>
                <a:srgbClr val="08376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en-US" altLang="zh-CN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rId1" action="ppaction://hlinksldjump"/>
                </a:rPr>
                <a:t>C</a:t>
              </a:r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rId1" action="ppaction://hlinksldjump"/>
                </a:rPr>
                <a:t>语言的语句</a:t>
              </a:r>
              <a:endPara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" action="ppaction://hlinksldjump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5947494" y="561482"/>
              <a:ext cx="602565" cy="602565"/>
              <a:chOff x="7935667" y="1393882"/>
              <a:chExt cx="602565" cy="602565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8" name="圆角矩形 7"/>
              <p:cNvSpPr/>
              <p:nvPr/>
            </p:nvSpPr>
            <p:spPr>
              <a:xfrm rot="2700000">
                <a:off x="7935667" y="1393882"/>
                <a:ext cx="602565" cy="60256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auto"/>
                <a:endParaRPr lang="zh-CN" altLang="en-US" sz="1100" strike="noStrike" noProof="1"/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8053929" y="1518083"/>
                <a:ext cx="339739" cy="399379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p>
                <a:pPr fontAlgn="auto"/>
                <a:r>
                  <a:rPr lang="en-US" altLang="zh-CN" sz="2000" b="1" strike="noStrike" noProof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Kartika" pitchFamily="18" charset="0"/>
                  </a:rPr>
                  <a:t>1</a:t>
                </a:r>
                <a:endParaRPr lang="en-US" altLang="zh-CN" sz="20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endParaRPr>
              </a:p>
            </p:txBody>
          </p:sp>
        </p:grpSp>
      </p:grpSp>
      <p:grpSp>
        <p:nvGrpSpPr>
          <p:cNvPr id="153612" name="组合 5"/>
          <p:cNvGrpSpPr/>
          <p:nvPr/>
        </p:nvGrpSpPr>
        <p:grpSpPr>
          <a:xfrm>
            <a:off x="6118225" y="3535363"/>
            <a:ext cx="2692400" cy="603250"/>
            <a:chOff x="5947496" y="2541467"/>
            <a:chExt cx="2694597" cy="602565"/>
          </a:xfrm>
        </p:grpSpPr>
        <p:sp>
          <p:nvSpPr>
            <p:cNvPr id="153613" name="文本框 66"/>
            <p:cNvSpPr txBox="1"/>
            <p:nvPr/>
          </p:nvSpPr>
          <p:spPr>
            <a:xfrm>
              <a:off x="6933919" y="2582317"/>
              <a:ext cx="1708174" cy="459852"/>
            </a:xfrm>
            <a:prstGeom prst="rect">
              <a:avLst/>
            </a:prstGeom>
            <a:noFill/>
            <a:ln w="9525" cap="flat" cmpd="sng">
              <a:solidFill>
                <a:srgbClr val="08376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rId3" action="ppaction://hlinksldjump"/>
                </a:rPr>
                <a:t>数学库函数</a:t>
              </a:r>
              <a:endPara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5947496" y="2541467"/>
              <a:ext cx="602565" cy="602565"/>
              <a:chOff x="7935669" y="3889888"/>
              <a:chExt cx="602565" cy="602565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13" name="圆角矩形 12"/>
              <p:cNvSpPr/>
              <p:nvPr/>
            </p:nvSpPr>
            <p:spPr>
              <a:xfrm rot="2700000">
                <a:off x="7935669" y="3889888"/>
                <a:ext cx="602565" cy="60256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auto"/>
                <a:endParaRPr lang="zh-CN" altLang="en-US" sz="1100" strike="noStrike" noProof="1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8038546" y="4023280"/>
                <a:ext cx="339983" cy="398327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p>
                <a:pPr fontAlgn="auto"/>
                <a:r>
                  <a:rPr lang="en-US" altLang="zh-CN" sz="2000" b="1" strike="noStrike" noProof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Kartika" pitchFamily="18" charset="0"/>
                  </a:rPr>
                  <a:t>3</a:t>
                </a:r>
                <a:endParaRPr lang="en-US" altLang="zh-CN" sz="20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endParaRPr>
              </a:p>
            </p:txBody>
          </p:sp>
        </p:grp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 advClick="0" advTm="6608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平行四边形 17"/>
          <p:cNvSpPr/>
          <p:nvPr/>
        </p:nvSpPr>
        <p:spPr>
          <a:xfrm rot="10800000" flipH="1">
            <a:off x="-1566862" y="0"/>
            <a:ext cx="6986588" cy="6630988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平行四边形 18"/>
          <p:cNvSpPr/>
          <p:nvPr/>
        </p:nvSpPr>
        <p:spPr>
          <a:xfrm rot="10800000" flipH="1">
            <a:off x="149225" y="227013"/>
            <a:ext cx="7529513" cy="6630988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55651" name="文本框 1"/>
          <p:cNvSpPr/>
          <p:nvPr/>
        </p:nvSpPr>
        <p:spPr>
          <a:xfrm>
            <a:off x="5973763" y="2432050"/>
            <a:ext cx="3065462" cy="706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语言的语句</a:t>
            </a:r>
            <a:endParaRPr lang="zh-CN" altLang="en-US" sz="40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55652" name="组合 1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0" y="2387600"/>
            <a:ext cx="2633663" cy="2374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5822950" y="3452813"/>
            <a:ext cx="493553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671664" y="2432501"/>
            <a:ext cx="2485054" cy="2259822"/>
            <a:chOff x="2671664" y="2432501"/>
            <a:chExt cx="2485054" cy="2259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六边形 13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15" name="TextBox 5"/>
            <p:cNvSpPr txBox="1"/>
            <p:nvPr/>
          </p:nvSpPr>
          <p:spPr>
            <a:xfrm>
              <a:off x="2728061" y="2939088"/>
              <a:ext cx="2316555" cy="17532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en-US" altLang="zh-CN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PART    01</a:t>
              </a:r>
              <a:endParaRPr lang="zh-CN" altLang="en-US" sz="54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rtika" pitchFamily="18" charset="0"/>
              </a:endParaRPr>
            </a:p>
          </p:txBody>
        </p:sp>
      </p:grpSp>
    </p:spTree>
  </p:cSld>
  <p:clrMapOvr>
    <a:masterClrMapping/>
  </p:clrMapOvr>
  <p:transition spd="med" advClick="0" advTm="5561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7697" name="文本框 65540"/>
          <p:cNvSpPr txBox="1"/>
          <p:nvPr/>
        </p:nvSpPr>
        <p:spPr>
          <a:xfrm>
            <a:off x="2354263" y="1193800"/>
            <a:ext cx="6483350" cy="3984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 1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、说明语句：用于定义程序所使用的变量与类型。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57698" name="Text Box 5"/>
          <p:cNvSpPr txBox="1"/>
          <p:nvPr/>
        </p:nvSpPr>
        <p:spPr>
          <a:xfrm>
            <a:off x="728663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</a:t>
            </a: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C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语言的语句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4346" name="文本框 14345"/>
          <p:cNvSpPr txBox="1"/>
          <p:nvPr/>
        </p:nvSpPr>
        <p:spPr>
          <a:xfrm>
            <a:off x="3246438" y="1730375"/>
            <a:ext cx="6827837" cy="646113"/>
          </a:xfrm>
          <a:prstGeom prst="rect">
            <a:avLst/>
          </a:prstGeom>
          <a:solidFill>
            <a:srgbClr val="C4EFFF"/>
          </a:solidFill>
          <a:ln w="22225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int  a,b;             /*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定义两个整型变量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*/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char ch;            /*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定义一个字符型变量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*/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7700" name="文本框 65540"/>
          <p:cNvSpPr txBox="1"/>
          <p:nvPr/>
        </p:nvSpPr>
        <p:spPr>
          <a:xfrm>
            <a:off x="2344738" y="2500313"/>
            <a:ext cx="6483350" cy="3984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 2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、表达式语句：由表达式加上分号组成。</a:t>
            </a:r>
            <a:endParaRPr lang="zh-CN" altLang="en-US" sz="2000" b="1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25800" y="3009900"/>
            <a:ext cx="6829425" cy="644525"/>
          </a:xfrm>
          <a:prstGeom prst="rect">
            <a:avLst/>
          </a:prstGeom>
          <a:solidFill>
            <a:srgbClr val="C4EFFF"/>
          </a:solidFill>
          <a:ln w="22225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b=a*100+0.5;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c=a+b;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7702" name="文本框 65540"/>
          <p:cNvSpPr txBox="1"/>
          <p:nvPr/>
        </p:nvSpPr>
        <p:spPr>
          <a:xfrm>
            <a:off x="2354263" y="3767138"/>
            <a:ext cx="7720012" cy="7064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 3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、分支语句：实现分支控制流程，根据条件成立与否执行不同的语言。</a:t>
            </a:r>
            <a:endParaRPr lang="zh-CN" altLang="en-US" sz="2000" b="1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46438" y="4597400"/>
            <a:ext cx="6827837" cy="1198563"/>
          </a:xfrm>
          <a:prstGeom prst="rect">
            <a:avLst/>
          </a:prstGeom>
          <a:solidFill>
            <a:srgbClr val="C4EFFF"/>
          </a:solidFill>
          <a:ln w="22225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if(x&gt;y)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z=x;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else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z=y;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6" grpId="0" bldLvl="0" animBg="1"/>
      <p:bldP spid="3" grpId="0" bldLvl="0" animBg="1"/>
      <p:bldP spid="5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721" name="文本框 65540"/>
          <p:cNvSpPr txBox="1"/>
          <p:nvPr/>
        </p:nvSpPr>
        <p:spPr>
          <a:xfrm>
            <a:off x="2354263" y="1193800"/>
            <a:ext cx="7691437" cy="7064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 4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、循环语句：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C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语言中实现循环控制的语句有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种，即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for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语句、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while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语句和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do-while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语句。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58722" name="Text Box 5"/>
          <p:cNvSpPr txBox="1"/>
          <p:nvPr/>
        </p:nvSpPr>
        <p:spPr>
          <a:xfrm>
            <a:off x="728663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</a:t>
            </a: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C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语言的语句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4346" name="文本框 14345"/>
          <p:cNvSpPr txBox="1"/>
          <p:nvPr/>
        </p:nvSpPr>
        <p:spPr>
          <a:xfrm>
            <a:off x="2965450" y="2009775"/>
            <a:ext cx="6829425" cy="2030413"/>
          </a:xfrm>
          <a:prstGeom prst="rect">
            <a:avLst/>
          </a:prstGeom>
          <a:solidFill>
            <a:srgbClr val="C4EFFF"/>
          </a:solidFill>
          <a:ln w="22225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sum=0;                          /*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累加变量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sum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赋初始值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*/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i=1;                              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/*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变量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赋初始值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while(i&lt;=99)                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/*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条件满足就循环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sum=sum+i;             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 /*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累加到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sum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中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i=i+2;                        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/*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累加值加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}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8724" name="文本框 65540"/>
          <p:cNvSpPr txBox="1"/>
          <p:nvPr/>
        </p:nvSpPr>
        <p:spPr>
          <a:xfrm>
            <a:off x="2354263" y="4130675"/>
            <a:ext cx="7850187" cy="7064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 5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、转向语句：转向语句有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break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语句、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goto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语句、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continue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语言和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return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语句。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58725" name="文本框 65540"/>
          <p:cNvSpPr txBox="1"/>
          <p:nvPr/>
        </p:nvSpPr>
        <p:spPr>
          <a:xfrm>
            <a:off x="2354263" y="4929188"/>
            <a:ext cx="7850187" cy="3984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 6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、空语句：空语句由一个分号构成。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9745" name="文本框 65540"/>
          <p:cNvSpPr txBox="1"/>
          <p:nvPr/>
        </p:nvSpPr>
        <p:spPr>
          <a:xfrm>
            <a:off x="2354263" y="1193800"/>
            <a:ext cx="8177212" cy="7064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 7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、复合语句：用一对大括号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{ }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将若干语句顺序组合在一起所形成的语句。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59746" name="Text Box 5"/>
          <p:cNvSpPr txBox="1"/>
          <p:nvPr/>
        </p:nvSpPr>
        <p:spPr>
          <a:xfrm>
            <a:off x="728663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</a:t>
            </a: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C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语言的语句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4346" name="文本框 14345"/>
          <p:cNvSpPr txBox="1"/>
          <p:nvPr/>
        </p:nvSpPr>
        <p:spPr>
          <a:xfrm>
            <a:off x="2798763" y="2413000"/>
            <a:ext cx="6827837" cy="2308225"/>
          </a:xfrm>
          <a:prstGeom prst="rect">
            <a:avLst/>
          </a:prstGeom>
          <a:solidFill>
            <a:srgbClr val="C4EFFF"/>
          </a:solidFill>
          <a:ln w="22225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int max(int x ,int y)                         /*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累加变量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sum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赋初始值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*/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  int z;                                           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/*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变量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赋初始值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if(x&gt;y)             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z=x;                                        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/*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x&gt;y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时，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的值等于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   else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       z=y;                                        /*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x&lt;y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时，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的值等于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return z;                                    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 /*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结束函数，返回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*/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}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9748" name="文本框 65540"/>
          <p:cNvSpPr txBox="1"/>
          <p:nvPr/>
        </p:nvSpPr>
        <p:spPr>
          <a:xfrm>
            <a:off x="2366963" y="1955800"/>
            <a:ext cx="7691437" cy="3984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 8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、函数定义与调用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59749" name="文本框 65540"/>
          <p:cNvSpPr txBox="1"/>
          <p:nvPr/>
        </p:nvSpPr>
        <p:spPr>
          <a:xfrm>
            <a:off x="2366963" y="4879975"/>
            <a:ext cx="8066087" cy="10144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 9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、输入与输出</a:t>
            </a:r>
            <a:endParaRPr lang="zh-CN" altLang="en-US" sz="2000" b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1" indent="0" eaLnBrk="1" hangingPunct="1"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c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语言没有提供用于数据输入及输出的语句，所有的输入与输出都是通过系统提供的有关函数（如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scanf()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和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printf()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函数实现的。</a:t>
            </a:r>
            <a:endParaRPr lang="zh-CN" altLang="en-US" sz="2000" b="1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6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平行四边形 17"/>
          <p:cNvSpPr/>
          <p:nvPr/>
        </p:nvSpPr>
        <p:spPr>
          <a:xfrm rot="10800000" flipH="1">
            <a:off x="-1566862" y="0"/>
            <a:ext cx="6986588" cy="6630988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平行四边形 18"/>
          <p:cNvSpPr/>
          <p:nvPr/>
        </p:nvSpPr>
        <p:spPr>
          <a:xfrm rot="10800000" flipH="1">
            <a:off x="149225" y="227013"/>
            <a:ext cx="7529513" cy="6630988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60771" name="文本框 1"/>
          <p:cNvSpPr/>
          <p:nvPr/>
        </p:nvSpPr>
        <p:spPr>
          <a:xfrm>
            <a:off x="5973763" y="2432050"/>
            <a:ext cx="3738562" cy="706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数据输入和输出</a:t>
            </a:r>
            <a:endParaRPr lang="zh-CN" altLang="en-US" sz="40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60772" name="组合 1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0" y="2387600"/>
            <a:ext cx="2633663" cy="2374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5822950" y="3452813"/>
            <a:ext cx="493553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671664" y="2432501"/>
            <a:ext cx="2485054" cy="2259822"/>
            <a:chOff x="2671664" y="2432501"/>
            <a:chExt cx="2485054" cy="2259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六边形 13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15" name="TextBox 5"/>
            <p:cNvSpPr txBox="1"/>
            <p:nvPr/>
          </p:nvSpPr>
          <p:spPr>
            <a:xfrm>
              <a:off x="2728061" y="2939088"/>
              <a:ext cx="2316555" cy="17532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en-US" altLang="zh-CN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PART    0</a:t>
              </a:r>
              <a:r>
                <a:rPr lang="en-US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2</a:t>
              </a:r>
              <a:endParaRPr lang="en-US" sz="54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rtika" pitchFamily="18" charset="0"/>
              </a:endParaRPr>
            </a:p>
          </p:txBody>
        </p:sp>
      </p:grpSp>
    </p:spTree>
  </p:cSld>
  <p:clrMapOvr>
    <a:masterClrMapping/>
  </p:clrMapOvr>
  <p:transition spd="med" advClick="0" advTm="5561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40" name="矩形 65539" descr="水滴"/>
          <p:cNvSpPr/>
          <p:nvPr/>
        </p:nvSpPr>
        <p:spPr>
          <a:xfrm>
            <a:off x="2197100" y="1444625"/>
            <a:ext cx="9350375" cy="4629150"/>
          </a:xfrm>
          <a:prstGeom prst="rect">
            <a:avLst/>
          </a:prstGeom>
          <a:solidFill>
            <a:srgbClr val="B5EDFD"/>
          </a:solidFill>
          <a:ln w="222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2" indent="0"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printf( )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函数</a:t>
            </a:r>
            <a:endParaRPr lang="en-US" altLang="zh-CN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格式</a:t>
            </a:r>
            <a:r>
              <a:rPr lang="en-US" altLang="zh-CN" sz="2000" b="1" err="1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: printf(“</a:t>
            </a:r>
            <a:r>
              <a:rPr lang="zh-CN" altLang="en-US" sz="2000" b="1" err="1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格式控制字符串</a:t>
            </a:r>
            <a:r>
              <a:rPr lang="en-US" altLang="zh-CN" sz="2000" b="1" err="1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“</a:t>
            </a:r>
            <a:r>
              <a:rPr lang="zh-CN" altLang="en-US" sz="2000" b="1" err="1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，输出项表列）</a:t>
            </a:r>
            <a:endParaRPr lang="en-US" altLang="zh-CN" sz="2000" b="1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说明</a:t>
            </a:r>
            <a:r>
              <a:rPr lang="en-US" altLang="zh-CN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: 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格式控制字符串用双引号括起来，表示输出的格式；而输出项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表列则是要输出的数据，这些数据可以是常量、变量或表达式。格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式控制字符串包含：格式控制数码和普通字符。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格式控制说明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：按指定的格式输出数据，其格式以</a:t>
            </a:r>
            <a:r>
              <a:rPr lang="en-US" altLang="zh-CN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%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开头的格式控制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字符，不同类型的数据采用不同的格式控制字符，以说明输出数据的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类型、形式、长度、小数位数等。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普通字符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：在输出数据时，需要原样输出的字符。</a:t>
            </a:r>
            <a:endParaRPr lang="en-US" altLang="zh-CN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2818" name="Text Box 5"/>
          <p:cNvSpPr txBox="1"/>
          <p:nvPr/>
        </p:nvSpPr>
        <p:spPr>
          <a:xfrm>
            <a:off x="728663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、数据输入和输出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62819" name="文本框 65540"/>
          <p:cNvSpPr txBox="1"/>
          <p:nvPr/>
        </p:nvSpPr>
        <p:spPr>
          <a:xfrm>
            <a:off x="2444750" y="942975"/>
            <a:ext cx="8177213" cy="4000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 2.1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、输出函数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printf( )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和输入函数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scanf( )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40" name="矩形 65539" descr="水滴"/>
          <p:cNvSpPr/>
          <p:nvPr/>
        </p:nvSpPr>
        <p:spPr>
          <a:xfrm>
            <a:off x="2197100" y="1444625"/>
            <a:ext cx="9350375" cy="4629150"/>
          </a:xfrm>
          <a:prstGeom prst="rect">
            <a:avLst/>
          </a:prstGeom>
          <a:solidFill>
            <a:srgbClr val="B5EDFD"/>
          </a:solidFill>
          <a:ln w="222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2" indent="0" eaLnBrk="0" hangingPunct="0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使用</a:t>
            </a:r>
            <a:r>
              <a:rPr lang="en-US" altLang="zh-CN" sz="24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printf</a:t>
            </a:r>
            <a:r>
              <a:rPr lang="zh-CN" altLang="en-US" sz="24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函数时需注意：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  <a:buSzTx/>
              <a:buNone/>
            </a:pPr>
            <a:r>
              <a:rPr lang="en-US" altLang="zh-CN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（1）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格式字符与输出项的类型要一一对应，不同类型的数据使用的格式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  <a:buSzTx/>
              <a:buNone/>
            </a:pP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字符不同。</a:t>
            </a:r>
            <a:endParaRPr lang="en-US" altLang="zh-CN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）一般情况，格式字符与输出项的个数相同。如果格式字符的个数多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于输出项的个数，则多余的格式将输出不确定的值；如果格式字符的个数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少于输出项的个数，则多余的输出项将不能输出。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zh-CN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</a:t>
            </a:r>
            <a:r>
              <a:rPr lang="en-US" altLang="zh-CN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printf( )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函数中可以没有输出项，此时</a:t>
            </a:r>
            <a:r>
              <a:rPr lang="en-US" altLang="zh-CN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printf( )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函数只用来输出一个空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字符串。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3842" name="Text Box 5"/>
          <p:cNvSpPr txBox="1"/>
          <p:nvPr/>
        </p:nvSpPr>
        <p:spPr>
          <a:xfrm>
            <a:off x="728663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、数据输入和输出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63843" name="文本框 65540"/>
          <p:cNvSpPr txBox="1"/>
          <p:nvPr/>
        </p:nvSpPr>
        <p:spPr>
          <a:xfrm>
            <a:off x="2444750" y="942975"/>
            <a:ext cx="8177213" cy="4000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 2.1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、输出函数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printf( )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和输入函数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scanf( )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40" name="矩形 65539" descr="水滴"/>
          <p:cNvSpPr/>
          <p:nvPr/>
        </p:nvSpPr>
        <p:spPr>
          <a:xfrm>
            <a:off x="2197100" y="1450975"/>
            <a:ext cx="9350375" cy="3160713"/>
          </a:xfrm>
          <a:prstGeom prst="rect">
            <a:avLst/>
          </a:prstGeom>
          <a:solidFill>
            <a:srgbClr val="B5EDFD"/>
          </a:solidFill>
          <a:ln w="222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2" indent="0" algn="l"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scanf( )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函数</a:t>
            </a:r>
            <a:endParaRPr lang="en-US" altLang="zh-CN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algn="l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格式</a:t>
            </a:r>
            <a:r>
              <a:rPr lang="en-US" altLang="zh-CN" sz="2000" b="1" err="1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: scanf(”</a:t>
            </a:r>
            <a:r>
              <a:rPr lang="zh-CN" altLang="en-US" sz="2000" b="1" err="1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格式控制字符串</a:t>
            </a:r>
            <a:r>
              <a:rPr lang="en-US" altLang="zh-CN" sz="2000" b="1" err="1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“</a:t>
            </a:r>
            <a:r>
              <a:rPr lang="zh-CN" altLang="en-US" sz="2000" b="1" err="1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，输出项表列）</a:t>
            </a:r>
            <a:endParaRPr lang="en-US" altLang="zh-CN" sz="2000" b="1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algn="l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说明</a:t>
            </a:r>
            <a:r>
              <a:rPr lang="en-US" altLang="zh-CN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: 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格式控制字符串用双引号括起来，表示输入的格式；而输入项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algn="l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表列指出各变量的地址（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变量名前加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&amp;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）。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algn="l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格式控制说明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：按指定的格式输入数据。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algn="l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普通字符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：在输出数据时，需要原样输入的字符。</a:t>
            </a:r>
            <a:endParaRPr lang="en-US" altLang="zh-CN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4866" name="Text Box 5"/>
          <p:cNvSpPr txBox="1"/>
          <p:nvPr/>
        </p:nvSpPr>
        <p:spPr>
          <a:xfrm>
            <a:off x="728663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、数据输入和输出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64867" name="文本框 65540"/>
          <p:cNvSpPr txBox="1"/>
          <p:nvPr/>
        </p:nvSpPr>
        <p:spPr>
          <a:xfrm>
            <a:off x="2444750" y="942975"/>
            <a:ext cx="8177213" cy="4000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 2.1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、输出函数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printf( )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和输入函数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scanf( )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6631" name="文本框 26630"/>
          <p:cNvSpPr txBox="1"/>
          <p:nvPr/>
        </p:nvSpPr>
        <p:spPr>
          <a:xfrm>
            <a:off x="2444433" y="4719638"/>
            <a:ext cx="3205162" cy="922020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   scanf(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%d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,&amp;a);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   输入：10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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   则    a=10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2" name="文本框 26631"/>
          <p:cNvSpPr txBox="1"/>
          <p:nvPr/>
        </p:nvSpPr>
        <p:spPr>
          <a:xfrm>
            <a:off x="6932613" y="4719638"/>
            <a:ext cx="3205162" cy="922020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   scanf(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%x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,&amp;a);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   输入：11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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   则    a=17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bldLvl="0" animBg="1"/>
      <p:bldP spid="26631" grpId="0" bldLvl="0" animBg="1"/>
      <p:bldP spid="26632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40" name="矩形 65539" descr="水滴"/>
          <p:cNvSpPr/>
          <p:nvPr/>
        </p:nvSpPr>
        <p:spPr>
          <a:xfrm>
            <a:off x="1998663" y="1524000"/>
            <a:ext cx="9688512" cy="3870325"/>
          </a:xfrm>
          <a:prstGeom prst="rect">
            <a:avLst/>
          </a:prstGeom>
          <a:solidFill>
            <a:srgbClr val="B5EDFD"/>
          </a:solidFill>
          <a:ln w="222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2" indent="0" eaLnBrk="0" hangingPunct="0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使用</a:t>
            </a:r>
            <a:r>
              <a:rPr lang="en-US" altLang="zh-CN" sz="24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scanf</a:t>
            </a:r>
            <a:r>
              <a:rPr lang="zh-CN" altLang="en-US" sz="24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函数时需注意：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  <a:buClrTx/>
              <a:buSzTx/>
              <a:buNone/>
            </a:pPr>
            <a:r>
              <a:rPr lang="en-US" altLang="zh-CN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（1）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格式字符与输入项的类型、个数要一一对应；输入项必须是地址，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  <a:buClrTx/>
              <a:buSzTx/>
              <a:buNone/>
            </a:pP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不能是变量名。</a:t>
            </a:r>
            <a:endParaRPr lang="en-US" altLang="zh-CN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）格式字符可以指定输入数据所占的列数，系统会截取相应列数的数据。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zh-CN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）在输入数据时遇到以下情况则认为数据输入结束；空格、</a:t>
            </a:r>
            <a:r>
              <a:rPr lang="en-US" altLang="zh-CN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Tab</a:t>
            </a: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健、回车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1C1C1C"/>
                </a:solidFill>
                <a:latin typeface="微软雅黑 Light" panose="020B0502040204020203" charset="-122"/>
                <a:ea typeface="微软雅黑 Light" panose="020B0502040204020203" charset="-122"/>
              </a:rPr>
              <a:t>键、非法输入指定宽度。用户也可以指定其他字符作为输入间隔。</a:t>
            </a:r>
            <a:endParaRPr lang="zh-CN" altLang="en-US" sz="2000" b="1" dirty="0">
              <a:solidFill>
                <a:srgbClr val="1C1C1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5890" name="Text Box 5"/>
          <p:cNvSpPr txBox="1"/>
          <p:nvPr/>
        </p:nvSpPr>
        <p:spPr>
          <a:xfrm>
            <a:off x="728663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、数据输入和输出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65891" name="文本框 65540"/>
          <p:cNvSpPr txBox="1"/>
          <p:nvPr/>
        </p:nvSpPr>
        <p:spPr>
          <a:xfrm>
            <a:off x="2444750" y="942975"/>
            <a:ext cx="8177213" cy="4000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 2.1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、输出函数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printf( )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和输入函数</a:t>
            </a: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scanf( )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9" name="矩形 14338"/>
          <p:cNvSpPr/>
          <p:nvPr/>
        </p:nvSpPr>
        <p:spPr>
          <a:xfrm>
            <a:off x="2025650" y="1290638"/>
            <a:ext cx="8140700" cy="15843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2" indent="0" eaLnBrk="0" hangingPunc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格式</a:t>
            </a:r>
            <a:r>
              <a:rPr lang="en-US" altLang="zh-CN" err="1">
                <a:latin typeface="微软雅黑 Light" panose="020B0502040204020203" charset="-122"/>
                <a:ea typeface="微软雅黑 Light" panose="020B0502040204020203" charset="-122"/>
              </a:rPr>
              <a:t>:  getchar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( )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功能：从键盘读一个字符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返值：正常，返回读取的代码值；出错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返回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EOF(-1)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6914" name="文本占位符 14339"/>
          <p:cNvSpPr>
            <a:spLocks noGrp="1"/>
          </p:cNvSpPr>
          <p:nvPr>
            <p:ph type="body"/>
          </p:nvPr>
        </p:nvSpPr>
        <p:spPr>
          <a:xfrm>
            <a:off x="2071688" y="742950"/>
            <a:ext cx="7772400" cy="5476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0" indent="0">
              <a:buNone/>
            </a:pP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2.2 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字符输入函数 </a:t>
            </a:r>
            <a:endParaRPr lang="zh-CN" altLang="en-US" sz="2000" b="1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 useBgFill="1">
        <p:nvSpPr>
          <p:cNvPr id="166915" name="动作按钮: 文档 14342">
            <a:hlinkClick r:id="rId1" action="ppaction://program"/>
          </p:cNvPr>
          <p:cNvSpPr/>
          <p:nvPr/>
        </p:nvSpPr>
        <p:spPr>
          <a:xfrm>
            <a:off x="1752600" y="5924550"/>
            <a:ext cx="533400" cy="685800"/>
          </a:xfrm>
          <a:prstGeom prst="actionButtonDocument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4345" name="文本框 14344"/>
          <p:cNvSpPr txBox="1"/>
          <p:nvPr/>
        </p:nvSpPr>
        <p:spPr>
          <a:xfrm>
            <a:off x="1978025" y="3409950"/>
            <a:ext cx="4921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 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46" name="文本框 14345"/>
          <p:cNvSpPr txBox="1"/>
          <p:nvPr/>
        </p:nvSpPr>
        <p:spPr>
          <a:xfrm>
            <a:off x="2527300" y="3265488"/>
            <a:ext cx="3873500" cy="2030412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#include &lt;stdio.h&gt;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main()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{  int c;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printf("Enter a character:");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c=getchar();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printf("%c---&gt;hex%x\n",c,c);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48" name="文本框 14347"/>
          <p:cNvSpPr txBox="1"/>
          <p:nvPr/>
        </p:nvSpPr>
        <p:spPr>
          <a:xfrm>
            <a:off x="7223125" y="4071938"/>
            <a:ext cx="3182938" cy="922337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运行结果：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Enter a character:A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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A---&gt;hex41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66919" name="组合 14351"/>
          <p:cNvGrpSpPr/>
          <p:nvPr/>
        </p:nvGrpSpPr>
        <p:grpSpPr>
          <a:xfrm>
            <a:off x="9372600" y="6057900"/>
            <a:ext cx="1047750" cy="514350"/>
            <a:chOff x="4944" y="3816"/>
            <a:chExt cx="660" cy="324"/>
          </a:xfrm>
        </p:grpSpPr>
        <p:sp>
          <p:nvSpPr>
            <p:cNvPr id="166920" name="圆角矩形 14352">
              <a:hlinkClick r:id="rId2" action="ppaction://hlinksldjump"/>
            </p:cNvPr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66921" name="组合 14353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166922" name="任意多边形 14354">
                <a:hlinkClick r:id="rId3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66923" name="椭圆 14355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6924" name="椭圆 14356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66925" name="Text Box 5"/>
          <p:cNvSpPr txBox="1"/>
          <p:nvPr/>
        </p:nvSpPr>
        <p:spPr>
          <a:xfrm>
            <a:off x="723900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、数据输入和输出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4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34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ldLvl="0" animBg="1"/>
      <p:bldP spid="166914" grpId="0" bldLvl="5" build="p"/>
      <p:bldP spid="14345" grpId="0" build="p"/>
      <p:bldP spid="14346" grpId="0" bldLvl="0" animBg="1"/>
      <p:bldP spid="14348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9" name="矩形 14338"/>
          <p:cNvSpPr/>
          <p:nvPr/>
        </p:nvSpPr>
        <p:spPr>
          <a:xfrm>
            <a:off x="2025650" y="1290638"/>
            <a:ext cx="8140700" cy="15843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lvl="2" indent="0" eaLnBrk="0" hangingPunc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格式</a:t>
            </a:r>
            <a:r>
              <a:rPr lang="en-US" altLang="zh-CN" err="1">
                <a:latin typeface="微软雅黑 Light" panose="020B0502040204020203" charset="-122"/>
                <a:ea typeface="微软雅黑 Light" panose="020B0502040204020203" charset="-122"/>
              </a:rPr>
              <a:t>:  putchar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( )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功能：从键盘输出一个字符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2" indent="0" eaLnBrk="0" hangingPunct="0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返值：正常，返回读取的代码值；出错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返回</a:t>
            </a:r>
            <a:r>
              <a:rPr lang="en-US" altLang="zh-CN">
                <a:latin typeface="微软雅黑 Light" panose="020B0502040204020203" charset="-122"/>
                <a:ea typeface="微软雅黑 Light" panose="020B0502040204020203" charset="-122"/>
              </a:rPr>
              <a:t>EOF(-1)</a:t>
            </a:r>
            <a:endParaRPr lang="en-US" altLang="zh-CN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7938" name="文本占位符 14339"/>
          <p:cNvSpPr>
            <a:spLocks noGrp="1"/>
          </p:cNvSpPr>
          <p:nvPr>
            <p:ph type="body"/>
          </p:nvPr>
        </p:nvSpPr>
        <p:spPr>
          <a:xfrm>
            <a:off x="2071688" y="742950"/>
            <a:ext cx="7772400" cy="5476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0" indent="0">
              <a:buNone/>
            </a:pPr>
            <a:r>
              <a:rPr lang="en-US" altLang="zh-CN" sz="2000" b="1" dirty="0">
                <a:latin typeface="微软雅黑 Light" panose="020B0502040204020203" charset="-122"/>
                <a:ea typeface="微软雅黑 Light" panose="020B0502040204020203" charset="-122"/>
              </a:rPr>
              <a:t>2.3 </a:t>
            </a:r>
            <a:r>
              <a:rPr lang="zh-CN" altLang="en-US" sz="2000" b="1" dirty="0">
                <a:latin typeface="微软雅黑 Light" panose="020B0502040204020203" charset="-122"/>
                <a:ea typeface="微软雅黑 Light" panose="020B0502040204020203" charset="-122"/>
              </a:rPr>
              <a:t>字符输出函数 </a:t>
            </a:r>
            <a:endParaRPr lang="zh-CN" altLang="en-US" sz="2000" b="1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 useBgFill="1">
        <p:nvSpPr>
          <p:cNvPr id="167939" name="动作按钮: 文档 14342">
            <a:hlinkClick r:id="rId1" action="ppaction://program"/>
          </p:cNvPr>
          <p:cNvSpPr/>
          <p:nvPr/>
        </p:nvSpPr>
        <p:spPr>
          <a:xfrm>
            <a:off x="1752600" y="5924550"/>
            <a:ext cx="533400" cy="685800"/>
          </a:xfrm>
          <a:prstGeom prst="actionButtonDocument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4345" name="文本框 14344"/>
          <p:cNvSpPr txBox="1"/>
          <p:nvPr/>
        </p:nvSpPr>
        <p:spPr>
          <a:xfrm>
            <a:off x="1978025" y="3409950"/>
            <a:ext cx="4921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 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46" name="文本框 14345"/>
          <p:cNvSpPr txBox="1"/>
          <p:nvPr/>
        </p:nvSpPr>
        <p:spPr>
          <a:xfrm>
            <a:off x="2527300" y="3265488"/>
            <a:ext cx="3873500" cy="2030412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#include &lt;stdio.h&gt;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main()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{ 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char  ch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ch=getchar( 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putchar(ch)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return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67942" name="组合 14351"/>
          <p:cNvGrpSpPr/>
          <p:nvPr/>
        </p:nvGrpSpPr>
        <p:grpSpPr>
          <a:xfrm>
            <a:off x="9372600" y="6057900"/>
            <a:ext cx="1047750" cy="514350"/>
            <a:chOff x="4944" y="3816"/>
            <a:chExt cx="660" cy="324"/>
          </a:xfrm>
        </p:grpSpPr>
        <p:sp>
          <p:nvSpPr>
            <p:cNvPr id="167943" name="圆角矩形 14352">
              <a:hlinkClick r:id="rId2" action="ppaction://hlinksldjump"/>
            </p:cNvPr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67944" name="组合 14353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167945" name="任意多边形 14354">
                <a:hlinkClick r:id="rId3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67946" name="椭圆 14355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7947" name="椭圆 14356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67948" name="Text Box 5"/>
          <p:cNvSpPr txBox="1"/>
          <p:nvPr/>
        </p:nvSpPr>
        <p:spPr>
          <a:xfrm>
            <a:off x="723900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、数据输入和输出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4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34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ldLvl="0" animBg="1"/>
      <p:bldP spid="167938" grpId="0" bldLvl="5" build="p"/>
      <p:bldP spid="14345" grpId="0" build="p"/>
      <p:bldP spid="14346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8935" name="组合 38934"/>
          <p:cNvGrpSpPr/>
          <p:nvPr/>
        </p:nvGrpSpPr>
        <p:grpSpPr>
          <a:xfrm>
            <a:off x="1644650" y="530225"/>
            <a:ext cx="8978900" cy="4487863"/>
            <a:chOff x="0" y="149"/>
            <a:chExt cx="5656" cy="2827"/>
          </a:xfrm>
        </p:grpSpPr>
        <p:grpSp>
          <p:nvGrpSpPr>
            <p:cNvPr id="168962" name="组合 38936"/>
            <p:cNvGrpSpPr/>
            <p:nvPr/>
          </p:nvGrpSpPr>
          <p:grpSpPr>
            <a:xfrm>
              <a:off x="0" y="149"/>
              <a:ext cx="5656" cy="2827"/>
              <a:chOff x="0" y="149"/>
              <a:chExt cx="5656" cy="2827"/>
            </a:xfrm>
          </p:grpSpPr>
          <p:grpSp>
            <p:nvGrpSpPr>
              <p:cNvPr id="168963" name="组合 38964"/>
              <p:cNvGrpSpPr/>
              <p:nvPr/>
            </p:nvGrpSpPr>
            <p:grpSpPr>
              <a:xfrm>
                <a:off x="0" y="381"/>
                <a:ext cx="5656" cy="2589"/>
                <a:chOff x="31" y="381"/>
                <a:chExt cx="5656" cy="2589"/>
              </a:xfrm>
            </p:grpSpPr>
            <p:sp>
              <p:nvSpPr>
                <p:cNvPr id="168964" name="矩形 38974"/>
                <p:cNvSpPr/>
                <p:nvPr/>
              </p:nvSpPr>
              <p:spPr>
                <a:xfrm>
                  <a:off x="40" y="381"/>
                  <a:ext cx="5647" cy="2589"/>
                </a:xfrm>
                <a:prstGeom prst="rect">
                  <a:avLst/>
                </a:prstGeom>
                <a:solidFill>
                  <a:srgbClr val="C4EFFF"/>
                </a:solidFill>
                <a:ln w="38100" cap="flat" cmpd="sng">
                  <a:solidFill>
                    <a:srgbClr val="083763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 anchorCtr="0"/>
                <a:p>
                  <a:endParaRPr lang="zh-CN" altLang="en-US" sz="1600">
                    <a:latin typeface="微软雅黑 Light" panose="020B0502040204020203" charset="-122"/>
                    <a:ea typeface="微软雅黑 Light" panose="020B0502040204020203" charset="-122"/>
                  </a:endParaRPr>
                </a:p>
              </p:txBody>
            </p:sp>
            <p:sp>
              <p:nvSpPr>
                <p:cNvPr id="168965" name="直接连接符 38973"/>
                <p:cNvSpPr/>
                <p:nvPr/>
              </p:nvSpPr>
              <p:spPr>
                <a:xfrm>
                  <a:off x="49" y="644"/>
                  <a:ext cx="5638" cy="0"/>
                </a:xfrm>
                <a:prstGeom prst="line">
                  <a:avLst/>
                </a:prstGeom>
                <a:ln w="9525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8966" name="直接连接符 38972"/>
                <p:cNvSpPr/>
                <p:nvPr/>
              </p:nvSpPr>
              <p:spPr>
                <a:xfrm>
                  <a:off x="49" y="894"/>
                  <a:ext cx="5638" cy="0"/>
                </a:xfrm>
                <a:prstGeom prst="line">
                  <a:avLst/>
                </a:prstGeom>
                <a:ln w="9525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8967" name="直接连接符 38971"/>
                <p:cNvSpPr/>
                <p:nvPr/>
              </p:nvSpPr>
              <p:spPr>
                <a:xfrm>
                  <a:off x="31" y="1147"/>
                  <a:ext cx="5656" cy="0"/>
                </a:xfrm>
                <a:prstGeom prst="line">
                  <a:avLst/>
                </a:prstGeom>
                <a:ln w="9525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8968" name="直接连接符 38970"/>
                <p:cNvSpPr/>
                <p:nvPr/>
              </p:nvSpPr>
              <p:spPr>
                <a:xfrm>
                  <a:off x="49" y="1388"/>
                  <a:ext cx="5638" cy="0"/>
                </a:xfrm>
                <a:prstGeom prst="line">
                  <a:avLst/>
                </a:prstGeom>
                <a:ln w="9525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8969" name="直接连接符 38969"/>
                <p:cNvSpPr/>
                <p:nvPr/>
              </p:nvSpPr>
              <p:spPr>
                <a:xfrm>
                  <a:off x="49" y="1630"/>
                  <a:ext cx="5638" cy="6"/>
                </a:xfrm>
                <a:prstGeom prst="line">
                  <a:avLst/>
                </a:prstGeom>
                <a:ln w="9525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8970" name="直接连接符 38968"/>
                <p:cNvSpPr/>
                <p:nvPr/>
              </p:nvSpPr>
              <p:spPr>
                <a:xfrm>
                  <a:off x="40" y="1884"/>
                  <a:ext cx="5647" cy="2"/>
                </a:xfrm>
                <a:prstGeom prst="line">
                  <a:avLst/>
                </a:prstGeom>
                <a:ln w="9525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8971" name="直接连接符 38967"/>
                <p:cNvSpPr/>
                <p:nvPr/>
              </p:nvSpPr>
              <p:spPr>
                <a:xfrm>
                  <a:off x="40" y="2129"/>
                  <a:ext cx="5647" cy="1"/>
                </a:xfrm>
                <a:prstGeom prst="line">
                  <a:avLst/>
                </a:prstGeom>
                <a:ln w="9525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8972" name="直接连接符 38966"/>
                <p:cNvSpPr/>
                <p:nvPr/>
              </p:nvSpPr>
              <p:spPr>
                <a:xfrm>
                  <a:off x="49" y="2382"/>
                  <a:ext cx="5638" cy="0"/>
                </a:xfrm>
                <a:prstGeom prst="line">
                  <a:avLst/>
                </a:prstGeom>
                <a:ln w="9525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8973" name="直接连接符 38965"/>
                <p:cNvSpPr/>
                <p:nvPr/>
              </p:nvSpPr>
              <p:spPr>
                <a:xfrm>
                  <a:off x="49" y="2629"/>
                  <a:ext cx="5638" cy="0"/>
                </a:xfrm>
                <a:prstGeom prst="line">
                  <a:avLst/>
                </a:prstGeom>
                <a:ln w="9525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68974" name="组合 38952"/>
              <p:cNvGrpSpPr/>
              <p:nvPr/>
            </p:nvGrpSpPr>
            <p:grpSpPr>
              <a:xfrm>
                <a:off x="57" y="381"/>
                <a:ext cx="405" cy="2589"/>
                <a:chOff x="57" y="381"/>
                <a:chExt cx="405" cy="2589"/>
              </a:xfrm>
            </p:grpSpPr>
            <p:sp>
              <p:nvSpPr>
                <p:cNvPr id="168975" name="直接连接符 38963"/>
                <p:cNvSpPr/>
                <p:nvPr/>
              </p:nvSpPr>
              <p:spPr>
                <a:xfrm>
                  <a:off x="462" y="381"/>
                  <a:ext cx="0" cy="258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8976" name="文本框 38962"/>
                <p:cNvSpPr txBox="1"/>
                <p:nvPr/>
              </p:nvSpPr>
              <p:spPr>
                <a:xfrm>
                  <a:off x="93" y="437"/>
                  <a:ext cx="252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0" hangingPunct="0"/>
                  <a:r>
                    <a:rPr lang="en-US" altLang="zh-CN" sz="1600">
                      <a:solidFill>
                        <a:srgbClr val="FF0000"/>
                      </a:solidFill>
                      <a:latin typeface="微软雅黑 Light" panose="020B0502040204020203" charset="-122"/>
                      <a:ea typeface="微软雅黑 Light" panose="020B0502040204020203" charset="-122"/>
                    </a:rPr>
                    <a:t>d,i</a:t>
                  </a:r>
                  <a:endParaRPr lang="en-US" altLang="zh-CN" sz="1600">
                    <a:solidFill>
                      <a:srgbClr val="FF0000"/>
                    </a:solidFill>
                    <a:latin typeface="微软雅黑 Light" panose="020B0502040204020203" charset="-122"/>
                    <a:ea typeface="微软雅黑 Light" panose="020B0502040204020203" charset="-122"/>
                  </a:endParaRPr>
                </a:p>
              </p:txBody>
            </p:sp>
            <p:sp>
              <p:nvSpPr>
                <p:cNvPr id="168977" name="文本框 38961"/>
                <p:cNvSpPr txBox="1"/>
                <p:nvPr/>
              </p:nvSpPr>
              <p:spPr>
                <a:xfrm>
                  <a:off x="78" y="685"/>
                  <a:ext cx="282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0" hangingPunct="0"/>
                  <a:r>
                    <a:rPr lang="en-US" altLang="zh-CN" sz="1600">
                      <a:solidFill>
                        <a:srgbClr val="FF0000"/>
                      </a:solidFill>
                      <a:latin typeface="微软雅黑 Light" panose="020B0502040204020203" charset="-122"/>
                      <a:ea typeface="微软雅黑 Light" panose="020B0502040204020203" charset="-122"/>
                    </a:rPr>
                    <a:t>x,X</a:t>
                  </a:r>
                  <a:endParaRPr lang="en-US" altLang="zh-CN" sz="1600">
                    <a:solidFill>
                      <a:srgbClr val="FF0000"/>
                    </a:solidFill>
                    <a:latin typeface="微软雅黑 Light" panose="020B0502040204020203" charset="-122"/>
                    <a:ea typeface="微软雅黑 Light" panose="020B0502040204020203" charset="-122"/>
                  </a:endParaRPr>
                </a:p>
              </p:txBody>
            </p:sp>
            <p:sp>
              <p:nvSpPr>
                <p:cNvPr id="168978" name="文本框 38960"/>
                <p:cNvSpPr txBox="1"/>
                <p:nvPr/>
              </p:nvSpPr>
              <p:spPr>
                <a:xfrm>
                  <a:off x="121" y="933"/>
                  <a:ext cx="193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0" hangingPunct="0"/>
                  <a:r>
                    <a:rPr lang="en-US" altLang="zh-CN" sz="1600">
                      <a:solidFill>
                        <a:srgbClr val="FF0000"/>
                      </a:solidFill>
                      <a:latin typeface="微软雅黑 Light" panose="020B0502040204020203" charset="-122"/>
                      <a:ea typeface="微软雅黑 Light" panose="020B0502040204020203" charset="-122"/>
                    </a:rPr>
                    <a:t>o</a:t>
                  </a:r>
                  <a:endParaRPr lang="en-US" altLang="zh-CN" sz="1600">
                    <a:solidFill>
                      <a:srgbClr val="FF0000"/>
                    </a:solidFill>
                    <a:latin typeface="微软雅黑 Light" panose="020B0502040204020203" charset="-122"/>
                    <a:ea typeface="微软雅黑 Light" panose="020B0502040204020203" charset="-122"/>
                  </a:endParaRPr>
                </a:p>
              </p:txBody>
            </p:sp>
            <p:sp>
              <p:nvSpPr>
                <p:cNvPr id="168979" name="文本框 38959"/>
                <p:cNvSpPr txBox="1"/>
                <p:nvPr/>
              </p:nvSpPr>
              <p:spPr>
                <a:xfrm>
                  <a:off x="123" y="1181"/>
                  <a:ext cx="189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0" hangingPunct="0"/>
                  <a:r>
                    <a:rPr lang="en-US" altLang="zh-CN" sz="1600">
                      <a:solidFill>
                        <a:srgbClr val="FF0000"/>
                      </a:solidFill>
                      <a:latin typeface="微软雅黑 Light" panose="020B0502040204020203" charset="-122"/>
                      <a:ea typeface="微软雅黑 Light" panose="020B0502040204020203" charset="-122"/>
                    </a:rPr>
                    <a:t>u</a:t>
                  </a:r>
                  <a:endParaRPr lang="en-US" altLang="zh-CN" sz="1600">
                    <a:solidFill>
                      <a:srgbClr val="FF0000"/>
                    </a:solidFill>
                    <a:latin typeface="微软雅黑 Light" panose="020B0502040204020203" charset="-122"/>
                    <a:ea typeface="微软雅黑 Light" panose="020B0502040204020203" charset="-122"/>
                  </a:endParaRPr>
                </a:p>
              </p:txBody>
            </p:sp>
            <p:sp>
              <p:nvSpPr>
                <p:cNvPr id="168980" name="文本框 38958"/>
                <p:cNvSpPr txBox="1"/>
                <p:nvPr/>
              </p:nvSpPr>
              <p:spPr>
                <a:xfrm>
                  <a:off x="129" y="1429"/>
                  <a:ext cx="176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0" hangingPunct="0"/>
                  <a:r>
                    <a:rPr lang="en-US" altLang="zh-CN" sz="1600">
                      <a:solidFill>
                        <a:srgbClr val="FF0000"/>
                      </a:solidFill>
                      <a:latin typeface="微软雅黑 Light" panose="020B0502040204020203" charset="-122"/>
                      <a:ea typeface="微软雅黑 Light" panose="020B0502040204020203" charset="-122"/>
                    </a:rPr>
                    <a:t>c</a:t>
                  </a:r>
                  <a:endParaRPr lang="en-US" altLang="zh-CN" sz="1600">
                    <a:solidFill>
                      <a:srgbClr val="FF0000"/>
                    </a:solidFill>
                    <a:latin typeface="微软雅黑 Light" panose="020B0502040204020203" charset="-122"/>
                    <a:ea typeface="微软雅黑 Light" panose="020B0502040204020203" charset="-122"/>
                  </a:endParaRPr>
                </a:p>
              </p:txBody>
            </p:sp>
            <p:sp>
              <p:nvSpPr>
                <p:cNvPr id="168981" name="文本框 38957"/>
                <p:cNvSpPr txBox="1"/>
                <p:nvPr/>
              </p:nvSpPr>
              <p:spPr>
                <a:xfrm>
                  <a:off x="133" y="1677"/>
                  <a:ext cx="169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0" hangingPunct="0"/>
                  <a:r>
                    <a:rPr lang="en-US" altLang="zh-CN" sz="1600">
                      <a:solidFill>
                        <a:srgbClr val="FF0000"/>
                      </a:solidFill>
                      <a:latin typeface="微软雅黑 Light" panose="020B0502040204020203" charset="-122"/>
                      <a:ea typeface="微软雅黑 Light" panose="020B0502040204020203" charset="-122"/>
                    </a:rPr>
                    <a:t>s</a:t>
                  </a:r>
                  <a:endParaRPr lang="en-US" altLang="zh-CN" sz="1600">
                    <a:solidFill>
                      <a:srgbClr val="FF0000"/>
                    </a:solidFill>
                    <a:latin typeface="微软雅黑 Light" panose="020B0502040204020203" charset="-122"/>
                    <a:ea typeface="微软雅黑 Light" panose="020B0502040204020203" charset="-122"/>
                  </a:endParaRPr>
                </a:p>
              </p:txBody>
            </p:sp>
            <p:sp>
              <p:nvSpPr>
                <p:cNvPr id="168982" name="文本框 38956"/>
                <p:cNvSpPr txBox="1"/>
                <p:nvPr/>
              </p:nvSpPr>
              <p:spPr>
                <a:xfrm>
                  <a:off x="76" y="1925"/>
                  <a:ext cx="285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0" hangingPunct="0"/>
                  <a:r>
                    <a:rPr lang="en-US" altLang="zh-CN" sz="1600">
                      <a:solidFill>
                        <a:srgbClr val="FF0000"/>
                      </a:solidFill>
                      <a:latin typeface="微软雅黑 Light" panose="020B0502040204020203" charset="-122"/>
                      <a:ea typeface="微软雅黑 Light" panose="020B0502040204020203" charset="-122"/>
                    </a:rPr>
                    <a:t>e,E</a:t>
                  </a:r>
                  <a:endParaRPr lang="en-US" altLang="zh-CN" sz="1600">
                    <a:solidFill>
                      <a:srgbClr val="FF0000"/>
                    </a:solidFill>
                    <a:latin typeface="微软雅黑 Light" panose="020B0502040204020203" charset="-122"/>
                    <a:ea typeface="微软雅黑 Light" panose="020B0502040204020203" charset="-122"/>
                  </a:endParaRPr>
                </a:p>
              </p:txBody>
            </p:sp>
            <p:sp>
              <p:nvSpPr>
                <p:cNvPr id="168983" name="文本框 38955"/>
                <p:cNvSpPr txBox="1"/>
                <p:nvPr/>
              </p:nvSpPr>
              <p:spPr>
                <a:xfrm>
                  <a:off x="141" y="2173"/>
                  <a:ext cx="153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0" hangingPunct="0"/>
                  <a:r>
                    <a:rPr lang="en-US" altLang="zh-CN" sz="1600">
                      <a:solidFill>
                        <a:srgbClr val="FF0000"/>
                      </a:solidFill>
                      <a:latin typeface="微软雅黑 Light" panose="020B0502040204020203" charset="-122"/>
                      <a:ea typeface="微软雅黑 Light" panose="020B0502040204020203" charset="-122"/>
                    </a:rPr>
                    <a:t>f</a:t>
                  </a:r>
                  <a:endParaRPr lang="en-US" altLang="zh-CN" sz="1600">
                    <a:solidFill>
                      <a:srgbClr val="FF0000"/>
                    </a:solidFill>
                    <a:latin typeface="微软雅黑 Light" panose="020B0502040204020203" charset="-122"/>
                    <a:ea typeface="微软雅黑 Light" panose="020B0502040204020203" charset="-122"/>
                  </a:endParaRPr>
                </a:p>
              </p:txBody>
            </p:sp>
            <p:sp>
              <p:nvSpPr>
                <p:cNvPr id="168984" name="文本框 38954"/>
                <p:cNvSpPr txBox="1"/>
                <p:nvPr/>
              </p:nvSpPr>
              <p:spPr>
                <a:xfrm>
                  <a:off x="121" y="2422"/>
                  <a:ext cx="193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0" hangingPunct="0"/>
                  <a:r>
                    <a:rPr lang="en-US" altLang="zh-CN" sz="1600">
                      <a:solidFill>
                        <a:srgbClr val="FF0000"/>
                      </a:solidFill>
                      <a:latin typeface="微软雅黑 Light" panose="020B0502040204020203" charset="-122"/>
                      <a:ea typeface="微软雅黑 Light" panose="020B0502040204020203" charset="-122"/>
                    </a:rPr>
                    <a:t>g</a:t>
                  </a:r>
                  <a:endParaRPr lang="en-US" altLang="zh-CN" sz="1600">
                    <a:solidFill>
                      <a:srgbClr val="FF0000"/>
                    </a:solidFill>
                    <a:latin typeface="微软雅黑 Light" panose="020B0502040204020203" charset="-122"/>
                    <a:ea typeface="微软雅黑 Light" panose="020B0502040204020203" charset="-122"/>
                  </a:endParaRPr>
                </a:p>
              </p:txBody>
            </p:sp>
            <p:sp>
              <p:nvSpPr>
                <p:cNvPr id="168985" name="文本框 38953"/>
                <p:cNvSpPr txBox="1"/>
                <p:nvPr/>
              </p:nvSpPr>
              <p:spPr>
                <a:xfrm>
                  <a:off x="57" y="2672"/>
                  <a:ext cx="323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0" hangingPunct="0"/>
                  <a:r>
                    <a:rPr lang="en-US" altLang="zh-CN" sz="1600">
                      <a:solidFill>
                        <a:srgbClr val="FF0000"/>
                      </a:solidFill>
                      <a:latin typeface="微软雅黑 Light" panose="020B0502040204020203" charset="-122"/>
                      <a:ea typeface="微软雅黑 Light" panose="020B0502040204020203" charset="-122"/>
                    </a:rPr>
                    <a:t>%%</a:t>
                  </a:r>
                  <a:endParaRPr lang="en-US" altLang="zh-CN" sz="1600">
                    <a:solidFill>
                      <a:srgbClr val="FF0000"/>
                    </a:solidFill>
                    <a:latin typeface="微软雅黑 Light" panose="020B0502040204020203" charset="-122"/>
                    <a:ea typeface="微软雅黑 Light" panose="020B0502040204020203" charset="-122"/>
                  </a:endParaRPr>
                </a:p>
              </p:txBody>
            </p:sp>
          </p:grpSp>
          <p:grpSp>
            <p:nvGrpSpPr>
              <p:cNvPr id="168986" name="组合 38939"/>
              <p:cNvGrpSpPr/>
              <p:nvPr/>
            </p:nvGrpSpPr>
            <p:grpSpPr>
              <a:xfrm>
                <a:off x="484" y="149"/>
                <a:ext cx="1362" cy="2710"/>
                <a:chOff x="484" y="149"/>
                <a:chExt cx="1362" cy="2710"/>
              </a:xfrm>
            </p:grpSpPr>
            <p:sp>
              <p:nvSpPr>
                <p:cNvPr id="168987" name="文本框 38951"/>
                <p:cNvSpPr txBox="1"/>
                <p:nvPr/>
              </p:nvSpPr>
              <p:spPr>
                <a:xfrm>
                  <a:off x="513" y="149"/>
                  <a:ext cx="195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0" hangingPunct="0"/>
                  <a:endParaRPr lang="zh-CN" altLang="zh-CN" sz="1600">
                    <a:latin typeface="微软雅黑 Light" panose="020B0502040204020203" charset="-122"/>
                    <a:ea typeface="微软雅黑 Light" panose="020B0502040204020203" charset="-122"/>
                  </a:endParaRPr>
                </a:p>
              </p:txBody>
            </p:sp>
            <p:sp>
              <p:nvSpPr>
                <p:cNvPr id="168988" name="文本框 38950"/>
                <p:cNvSpPr txBox="1"/>
                <p:nvPr/>
              </p:nvSpPr>
              <p:spPr>
                <a:xfrm>
                  <a:off x="579" y="662"/>
                  <a:ext cx="1267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0" hangingPunct="0"/>
                  <a:r>
                    <a:rPr lang="zh-CN" altLang="en-US" sz="1600" dirty="0">
                      <a:solidFill>
                        <a:srgbClr val="0033CC"/>
                      </a:solidFill>
                      <a:latin typeface="微软雅黑 Light" panose="020B0502040204020203" charset="-122"/>
                      <a:ea typeface="微软雅黑 Light" panose="020B0502040204020203" charset="-122"/>
                    </a:rPr>
                    <a:t>十六进制无符号整数</a:t>
                  </a:r>
                  <a:endParaRPr lang="zh-CN" altLang="en-US" sz="1600" dirty="0">
                    <a:solidFill>
                      <a:srgbClr val="0033CC"/>
                    </a:solidFill>
                    <a:latin typeface="微软雅黑 Light" panose="020B0502040204020203" charset="-122"/>
                    <a:ea typeface="微软雅黑 Light" panose="020B0502040204020203" charset="-122"/>
                  </a:endParaRPr>
                </a:p>
              </p:txBody>
            </p:sp>
            <p:sp>
              <p:nvSpPr>
                <p:cNvPr id="168989" name="文本框 38949"/>
                <p:cNvSpPr txBox="1"/>
                <p:nvPr/>
              </p:nvSpPr>
              <p:spPr>
                <a:xfrm>
                  <a:off x="638" y="1154"/>
                  <a:ext cx="1149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0" hangingPunct="0"/>
                  <a:r>
                    <a:rPr lang="zh-CN" altLang="en-US" sz="1600" dirty="0">
                      <a:solidFill>
                        <a:srgbClr val="0033CC"/>
                      </a:solidFill>
                      <a:latin typeface="微软雅黑 Light" panose="020B0502040204020203" charset="-122"/>
                      <a:ea typeface="微软雅黑 Light" panose="020B0502040204020203" charset="-122"/>
                    </a:rPr>
                    <a:t>不带符号十进制整数</a:t>
                  </a:r>
                  <a:endParaRPr lang="zh-CN" altLang="en-US" sz="1600" dirty="0">
                    <a:solidFill>
                      <a:srgbClr val="0033CC"/>
                    </a:solidFill>
                    <a:latin typeface="微软雅黑 Light" panose="020B0502040204020203" charset="-122"/>
                    <a:ea typeface="微软雅黑 Light" panose="020B0502040204020203" charset="-122"/>
                  </a:endParaRPr>
                </a:p>
              </p:txBody>
            </p:sp>
            <p:grpSp>
              <p:nvGrpSpPr>
                <p:cNvPr id="168990" name="组合 38940"/>
                <p:cNvGrpSpPr/>
                <p:nvPr/>
              </p:nvGrpSpPr>
              <p:grpSpPr>
                <a:xfrm>
                  <a:off x="484" y="411"/>
                  <a:ext cx="1218" cy="2448"/>
                  <a:chOff x="484" y="411"/>
                  <a:chExt cx="1218" cy="2448"/>
                </a:xfrm>
              </p:grpSpPr>
              <p:sp>
                <p:nvSpPr>
                  <p:cNvPr id="168991" name="文本框 38948"/>
                  <p:cNvSpPr txBox="1"/>
                  <p:nvPr/>
                </p:nvSpPr>
                <p:spPr>
                  <a:xfrm>
                    <a:off x="516" y="411"/>
                    <a:ext cx="755" cy="21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p>
                    <a:pPr algn="ctr" eaLnBrk="0" hangingPunct="0"/>
                    <a:r>
                      <a:rPr lang="zh-CN" altLang="en-US" sz="1600" dirty="0">
                        <a:solidFill>
                          <a:srgbClr val="0033CC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rPr>
                      <a:t>十进制整数</a:t>
                    </a:r>
                    <a:endParaRPr lang="zh-CN" altLang="en-US" sz="1600" dirty="0">
                      <a:solidFill>
                        <a:srgbClr val="0033CC"/>
                      </a:solidFill>
                      <a:latin typeface="微软雅黑 Light" panose="020B0502040204020203" charset="-122"/>
                      <a:ea typeface="微软雅黑 Light" panose="020B0502040204020203" charset="-122"/>
                    </a:endParaRPr>
                  </a:p>
                </p:txBody>
              </p:sp>
              <p:sp>
                <p:nvSpPr>
                  <p:cNvPr id="168992" name="文本框 38947"/>
                  <p:cNvSpPr txBox="1"/>
                  <p:nvPr/>
                </p:nvSpPr>
                <p:spPr>
                  <a:xfrm>
                    <a:off x="563" y="1906"/>
                    <a:ext cx="1139" cy="21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p>
                    <a:pPr algn="ctr" eaLnBrk="0" hangingPunct="0"/>
                    <a:r>
                      <a:rPr lang="zh-CN" altLang="en-US" sz="1600" dirty="0">
                        <a:solidFill>
                          <a:srgbClr val="0033CC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rPr>
                      <a:t>指数形式浮点小数</a:t>
                    </a:r>
                    <a:endParaRPr lang="zh-CN" altLang="en-US" sz="1600" dirty="0">
                      <a:solidFill>
                        <a:srgbClr val="0033CC"/>
                      </a:solidFill>
                      <a:latin typeface="微软雅黑 Light" panose="020B0502040204020203" charset="-122"/>
                      <a:ea typeface="微软雅黑 Light" panose="020B0502040204020203" charset="-122"/>
                    </a:endParaRPr>
                  </a:p>
                </p:txBody>
              </p:sp>
              <p:sp>
                <p:nvSpPr>
                  <p:cNvPr id="168993" name="文本框 38946"/>
                  <p:cNvSpPr txBox="1"/>
                  <p:nvPr/>
                </p:nvSpPr>
                <p:spPr>
                  <a:xfrm>
                    <a:off x="500" y="1412"/>
                    <a:ext cx="627" cy="21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p>
                    <a:pPr algn="ctr" eaLnBrk="0" hangingPunct="0"/>
                    <a:r>
                      <a:rPr lang="zh-CN" altLang="en-US" sz="1600" dirty="0">
                        <a:solidFill>
                          <a:srgbClr val="0033CC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rPr>
                      <a:t>单一字符</a:t>
                    </a:r>
                    <a:endParaRPr lang="zh-CN" altLang="en-US" sz="1600" dirty="0">
                      <a:solidFill>
                        <a:srgbClr val="0033CC"/>
                      </a:solidFill>
                      <a:latin typeface="微软雅黑 Light" panose="020B0502040204020203" charset="-122"/>
                      <a:ea typeface="微软雅黑 Light" panose="020B0502040204020203" charset="-122"/>
                    </a:endParaRPr>
                  </a:p>
                </p:txBody>
              </p:sp>
              <p:sp>
                <p:nvSpPr>
                  <p:cNvPr id="168994" name="文本框 38945"/>
                  <p:cNvSpPr txBox="1"/>
                  <p:nvPr/>
                </p:nvSpPr>
                <p:spPr>
                  <a:xfrm>
                    <a:off x="484" y="1660"/>
                    <a:ext cx="499" cy="21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p>
                    <a:pPr algn="ctr" eaLnBrk="0" hangingPunct="0"/>
                    <a:r>
                      <a:rPr lang="zh-CN" altLang="en-US" sz="1600" dirty="0">
                        <a:solidFill>
                          <a:srgbClr val="0033CC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rPr>
                      <a:t>字符串</a:t>
                    </a:r>
                    <a:endParaRPr lang="zh-CN" altLang="en-US" sz="1600" dirty="0">
                      <a:solidFill>
                        <a:srgbClr val="0033CC"/>
                      </a:solidFill>
                      <a:latin typeface="微软雅黑 Light" panose="020B0502040204020203" charset="-122"/>
                      <a:ea typeface="微软雅黑 Light" panose="020B0502040204020203" charset="-122"/>
                    </a:endParaRPr>
                  </a:p>
                </p:txBody>
              </p:sp>
              <p:sp>
                <p:nvSpPr>
                  <p:cNvPr id="168995" name="文本框 38944"/>
                  <p:cNvSpPr txBox="1"/>
                  <p:nvPr/>
                </p:nvSpPr>
                <p:spPr>
                  <a:xfrm>
                    <a:off x="563" y="920"/>
                    <a:ext cx="1139" cy="21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p>
                    <a:pPr algn="ctr" eaLnBrk="0" hangingPunct="0"/>
                    <a:r>
                      <a:rPr lang="zh-CN" altLang="en-US" sz="1600" dirty="0">
                        <a:solidFill>
                          <a:srgbClr val="0033CC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rPr>
                      <a:t>八进制无符号整数</a:t>
                    </a:r>
                    <a:endParaRPr lang="zh-CN" altLang="en-US" sz="1600" dirty="0">
                      <a:solidFill>
                        <a:srgbClr val="0033CC"/>
                      </a:solidFill>
                      <a:latin typeface="微软雅黑 Light" panose="020B0502040204020203" charset="-122"/>
                      <a:ea typeface="微软雅黑 Light" panose="020B0502040204020203" charset="-122"/>
                    </a:endParaRPr>
                  </a:p>
                </p:txBody>
              </p:sp>
              <p:sp>
                <p:nvSpPr>
                  <p:cNvPr id="168996" name="文本框 38943"/>
                  <p:cNvSpPr txBox="1"/>
                  <p:nvPr/>
                </p:nvSpPr>
                <p:spPr>
                  <a:xfrm>
                    <a:off x="615" y="2156"/>
                    <a:ext cx="1035" cy="21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p>
                    <a:pPr algn="ctr" eaLnBrk="0" hangingPunct="0"/>
                    <a:r>
                      <a:rPr lang="zh-CN" altLang="en-US" sz="1600" dirty="0">
                        <a:solidFill>
                          <a:srgbClr val="0033CC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rPr>
                      <a:t>小数形式浮点小数</a:t>
                    </a:r>
                    <a:endParaRPr lang="zh-CN" altLang="en-US" sz="1600" dirty="0">
                      <a:solidFill>
                        <a:srgbClr val="0033CC"/>
                      </a:solidFill>
                      <a:latin typeface="微软雅黑 Light" panose="020B0502040204020203" charset="-122"/>
                      <a:ea typeface="微软雅黑 Light" panose="020B0502040204020203" charset="-122"/>
                    </a:endParaRPr>
                  </a:p>
                </p:txBody>
              </p:sp>
              <p:sp>
                <p:nvSpPr>
                  <p:cNvPr id="168997" name="文本框 38942"/>
                  <p:cNvSpPr txBox="1"/>
                  <p:nvPr/>
                </p:nvSpPr>
                <p:spPr>
                  <a:xfrm>
                    <a:off x="530" y="2401"/>
                    <a:ext cx="900" cy="21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p>
                    <a:pPr algn="ctr" eaLnBrk="0" hangingPunct="0"/>
                    <a:r>
                      <a:rPr lang="en-US" altLang="zh-CN" sz="1600" dirty="0">
                        <a:solidFill>
                          <a:srgbClr val="0033CC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rPr>
                      <a:t>e</a:t>
                    </a:r>
                    <a:r>
                      <a:rPr lang="zh-CN" altLang="en-US" sz="1600" dirty="0">
                        <a:solidFill>
                          <a:srgbClr val="0033CC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rPr>
                      <a:t>和</a:t>
                    </a:r>
                    <a:r>
                      <a:rPr lang="en-US" altLang="zh-CN" sz="1600" dirty="0">
                        <a:solidFill>
                          <a:srgbClr val="0033CC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rPr>
                      <a:t>f</a:t>
                    </a:r>
                    <a:r>
                      <a:rPr lang="zh-CN" altLang="en-US" sz="1600" dirty="0">
                        <a:solidFill>
                          <a:srgbClr val="0033CC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rPr>
                      <a:t>中较短一种</a:t>
                    </a:r>
                    <a:endParaRPr lang="zh-CN" altLang="en-US" sz="1600" dirty="0">
                      <a:solidFill>
                        <a:srgbClr val="0033CC"/>
                      </a:solidFill>
                      <a:latin typeface="微软雅黑 Light" panose="020B0502040204020203" charset="-122"/>
                      <a:ea typeface="微软雅黑 Light" panose="020B0502040204020203" charset="-122"/>
                    </a:endParaRPr>
                  </a:p>
                </p:txBody>
              </p:sp>
              <p:sp>
                <p:nvSpPr>
                  <p:cNvPr id="168998" name="文本框 38941"/>
                  <p:cNvSpPr txBox="1"/>
                  <p:nvPr/>
                </p:nvSpPr>
                <p:spPr>
                  <a:xfrm>
                    <a:off x="521" y="2650"/>
                    <a:ext cx="660" cy="20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p>
                    <a:pPr algn="ctr" eaLnBrk="0" hangingPunct="0"/>
                    <a:r>
                      <a:rPr lang="zh-CN" altLang="en-US" sz="1600" dirty="0">
                        <a:solidFill>
                          <a:srgbClr val="0033CC"/>
                        </a:solidFill>
                        <a:latin typeface="微软雅黑 Light" panose="020B0502040204020203" charset="-122"/>
                        <a:ea typeface="微软雅黑 Light" panose="020B0502040204020203" charset="-122"/>
                      </a:rPr>
                      <a:t>百分号本身</a:t>
                    </a:r>
                    <a:endParaRPr lang="zh-CN" altLang="en-US" sz="1600" dirty="0">
                      <a:solidFill>
                        <a:srgbClr val="0033CC"/>
                      </a:solidFill>
                      <a:latin typeface="微软雅黑 Light" panose="020B0502040204020203" charset="-122"/>
                      <a:ea typeface="微软雅黑 Light" panose="020B0502040204020203" charset="-122"/>
                    </a:endParaRPr>
                  </a:p>
                </p:txBody>
              </p:sp>
            </p:grpSp>
          </p:grpSp>
          <p:sp>
            <p:nvSpPr>
              <p:cNvPr id="168999" name="直接连接符 38938"/>
              <p:cNvSpPr/>
              <p:nvPr/>
            </p:nvSpPr>
            <p:spPr>
              <a:xfrm>
                <a:off x="4596" y="396"/>
                <a:ext cx="0" cy="2580"/>
              </a:xfrm>
              <a:prstGeom prst="line">
                <a:avLst/>
              </a:prstGeom>
              <a:ln w="9525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9000" name="直接连接符 38937"/>
              <p:cNvSpPr/>
              <p:nvPr/>
            </p:nvSpPr>
            <p:spPr>
              <a:xfrm>
                <a:off x="1932" y="384"/>
                <a:ext cx="0" cy="2580"/>
              </a:xfrm>
              <a:prstGeom prst="line">
                <a:avLst/>
              </a:prstGeom>
              <a:ln w="9525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69001" name="直接连接符 38935"/>
            <p:cNvSpPr/>
            <p:nvPr/>
          </p:nvSpPr>
          <p:spPr>
            <a:xfrm>
              <a:off x="432" y="384"/>
              <a:ext cx="0" cy="2580"/>
            </a:xfrm>
            <a:prstGeom prst="line">
              <a:avLst/>
            </a:prstGeom>
            <a:ln w="952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8934" name="文本框 38933"/>
          <p:cNvSpPr txBox="1"/>
          <p:nvPr/>
        </p:nvSpPr>
        <p:spPr>
          <a:xfrm>
            <a:off x="4906963" y="944563"/>
            <a:ext cx="2468562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 err="1">
                <a:solidFill>
                  <a:srgbClr val="CC66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</a:t>
            </a:r>
            <a:r>
              <a:rPr lang="en-US" altLang="zh-CN" sz="1600">
                <a:solidFill>
                  <a:srgbClr val="CC66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 a=567;printf ( “%d”,a);</a:t>
            </a:r>
            <a:endParaRPr lang="en-US" altLang="zh-CN" sz="1600">
              <a:solidFill>
                <a:srgbClr val="CC66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33" name="文本框 38932"/>
          <p:cNvSpPr txBox="1"/>
          <p:nvPr/>
        </p:nvSpPr>
        <p:spPr>
          <a:xfrm>
            <a:off x="4981575" y="1341438"/>
            <a:ext cx="2319338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 err="1">
                <a:solidFill>
                  <a:srgbClr val="CC66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</a:t>
            </a:r>
            <a:r>
              <a:rPr lang="en-US" altLang="zh-CN" sz="1600">
                <a:solidFill>
                  <a:srgbClr val="CC66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 a=255;printf(“%x”,a);</a:t>
            </a:r>
            <a:endParaRPr lang="en-US" altLang="zh-CN" sz="1600">
              <a:solidFill>
                <a:srgbClr val="CC66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32" name="文本框 38931"/>
          <p:cNvSpPr txBox="1"/>
          <p:nvPr/>
        </p:nvSpPr>
        <p:spPr>
          <a:xfrm>
            <a:off x="5033963" y="1738313"/>
            <a:ext cx="2216150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 err="1">
                <a:solidFill>
                  <a:srgbClr val="CC66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</a:t>
            </a:r>
            <a:r>
              <a:rPr lang="en-US" altLang="zh-CN" sz="1600">
                <a:solidFill>
                  <a:srgbClr val="CC66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 a=65;printf(“%o”,a);</a:t>
            </a:r>
            <a:endParaRPr lang="en-US" altLang="zh-CN" sz="1600">
              <a:solidFill>
                <a:srgbClr val="CC66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31" name="文本框 38930"/>
          <p:cNvSpPr txBox="1"/>
          <p:nvPr/>
        </p:nvSpPr>
        <p:spPr>
          <a:xfrm>
            <a:off x="4970463" y="2135188"/>
            <a:ext cx="2341562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 err="1">
                <a:solidFill>
                  <a:srgbClr val="CC66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int</a:t>
            </a:r>
            <a:r>
              <a:rPr lang="en-US" altLang="zh-CN" sz="1600">
                <a:solidFill>
                  <a:srgbClr val="CC66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 a=567;printf(“%u”,a);</a:t>
            </a:r>
            <a:endParaRPr lang="en-US" altLang="zh-CN" sz="1600">
              <a:solidFill>
                <a:srgbClr val="CC66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30" name="文本框 38929"/>
          <p:cNvSpPr txBox="1"/>
          <p:nvPr/>
        </p:nvSpPr>
        <p:spPr>
          <a:xfrm>
            <a:off x="4954588" y="2532063"/>
            <a:ext cx="2379662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>
                <a:solidFill>
                  <a:srgbClr val="CC66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char a=65;printf(“%c”,a);</a:t>
            </a:r>
            <a:endParaRPr lang="en-US" altLang="zh-CN" sz="1600">
              <a:solidFill>
                <a:srgbClr val="CC66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29" name="文本框 38928"/>
          <p:cNvSpPr txBox="1"/>
          <p:nvPr/>
        </p:nvSpPr>
        <p:spPr>
          <a:xfrm>
            <a:off x="5127625" y="2936875"/>
            <a:ext cx="1746250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 err="1">
                <a:solidFill>
                  <a:srgbClr val="CC66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printf</a:t>
            </a:r>
            <a:r>
              <a:rPr lang="en-US" altLang="zh-CN" sz="1600">
                <a:solidFill>
                  <a:srgbClr val="CC66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(“%s”,“ABC”);</a:t>
            </a:r>
            <a:endParaRPr lang="en-US" altLang="zh-CN" sz="1600">
              <a:solidFill>
                <a:srgbClr val="CC66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28" name="文本框 38927"/>
          <p:cNvSpPr txBox="1"/>
          <p:nvPr/>
        </p:nvSpPr>
        <p:spPr>
          <a:xfrm>
            <a:off x="5006975" y="3324225"/>
            <a:ext cx="2895600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>
                <a:solidFill>
                  <a:srgbClr val="CC66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float a=567.789;printf(“%e”,a);</a:t>
            </a:r>
            <a:endParaRPr lang="en-US" altLang="zh-CN" sz="1600">
              <a:solidFill>
                <a:srgbClr val="CC66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27" name="文本框 38926"/>
          <p:cNvSpPr txBox="1"/>
          <p:nvPr/>
        </p:nvSpPr>
        <p:spPr>
          <a:xfrm>
            <a:off x="5026025" y="3724275"/>
            <a:ext cx="2857500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>
                <a:solidFill>
                  <a:srgbClr val="CC66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float a=567.789;printf(“%f”,a);</a:t>
            </a:r>
            <a:endParaRPr lang="en-US" altLang="zh-CN" sz="1600">
              <a:solidFill>
                <a:srgbClr val="CC66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26" name="文本框 38925"/>
          <p:cNvSpPr txBox="1"/>
          <p:nvPr/>
        </p:nvSpPr>
        <p:spPr>
          <a:xfrm>
            <a:off x="5016500" y="4116388"/>
            <a:ext cx="2906713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>
                <a:solidFill>
                  <a:srgbClr val="CC66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float a=567.789;printf(“%g”,a);</a:t>
            </a:r>
            <a:endParaRPr lang="en-US" altLang="zh-CN" sz="1600">
              <a:solidFill>
                <a:srgbClr val="CC66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25" name="文本框 38924"/>
          <p:cNvSpPr txBox="1"/>
          <p:nvPr/>
        </p:nvSpPr>
        <p:spPr>
          <a:xfrm>
            <a:off x="4926013" y="4513263"/>
            <a:ext cx="1330325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 err="1">
                <a:solidFill>
                  <a:srgbClr val="CC66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printf</a:t>
            </a:r>
            <a:r>
              <a:rPr lang="en-US" altLang="zh-CN" sz="1600">
                <a:solidFill>
                  <a:srgbClr val="CC66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(“%%”);</a:t>
            </a:r>
            <a:endParaRPr lang="en-US" altLang="zh-CN" sz="1600">
              <a:solidFill>
                <a:srgbClr val="CC66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24" name="文本框 38923"/>
          <p:cNvSpPr txBox="1"/>
          <p:nvPr/>
        </p:nvSpPr>
        <p:spPr>
          <a:xfrm>
            <a:off x="9082088" y="944563"/>
            <a:ext cx="517525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567</a:t>
            </a:r>
            <a:endParaRPr lang="en-US" altLang="zh-CN" sz="1600">
              <a:solidFill>
                <a:srgbClr val="0000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23" name="文本框 38922"/>
          <p:cNvSpPr txBox="1"/>
          <p:nvPr/>
        </p:nvSpPr>
        <p:spPr>
          <a:xfrm>
            <a:off x="9188450" y="1341438"/>
            <a:ext cx="304800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ff</a:t>
            </a:r>
            <a:endParaRPr lang="en-US" altLang="zh-CN" sz="1600">
              <a:solidFill>
                <a:srgbClr val="0000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22" name="文本框 38921"/>
          <p:cNvSpPr txBox="1"/>
          <p:nvPr/>
        </p:nvSpPr>
        <p:spPr>
          <a:xfrm>
            <a:off x="9115425" y="1738313"/>
            <a:ext cx="450850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101</a:t>
            </a:r>
            <a:endParaRPr lang="en-US" altLang="zh-CN" sz="1600">
              <a:solidFill>
                <a:srgbClr val="0000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21" name="文本框 38920"/>
          <p:cNvSpPr txBox="1"/>
          <p:nvPr/>
        </p:nvSpPr>
        <p:spPr>
          <a:xfrm>
            <a:off x="9082088" y="2135188"/>
            <a:ext cx="517525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567</a:t>
            </a:r>
            <a:endParaRPr lang="en-US" altLang="zh-CN" sz="1600">
              <a:solidFill>
                <a:srgbClr val="0000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20" name="文本框 38919"/>
          <p:cNvSpPr txBox="1"/>
          <p:nvPr/>
        </p:nvSpPr>
        <p:spPr>
          <a:xfrm>
            <a:off x="9180513" y="2532063"/>
            <a:ext cx="320675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endParaRPr lang="en-US" altLang="zh-CN" sz="1600">
              <a:solidFill>
                <a:srgbClr val="0000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19" name="文本框 38918"/>
          <p:cNvSpPr txBox="1"/>
          <p:nvPr/>
        </p:nvSpPr>
        <p:spPr>
          <a:xfrm>
            <a:off x="9053513" y="2927350"/>
            <a:ext cx="577850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ABC</a:t>
            </a:r>
            <a:endParaRPr lang="en-US" altLang="zh-CN" sz="1600">
              <a:solidFill>
                <a:srgbClr val="0000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18" name="文本框 38917"/>
          <p:cNvSpPr txBox="1"/>
          <p:nvPr/>
        </p:nvSpPr>
        <p:spPr>
          <a:xfrm>
            <a:off x="8993188" y="3324225"/>
            <a:ext cx="1497012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5.677890e+02</a:t>
            </a:r>
            <a:endParaRPr lang="en-US" altLang="zh-CN" sz="1600">
              <a:solidFill>
                <a:srgbClr val="0000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17" name="文本框 38916"/>
          <p:cNvSpPr txBox="1"/>
          <p:nvPr/>
        </p:nvSpPr>
        <p:spPr>
          <a:xfrm>
            <a:off x="8993188" y="3719513"/>
            <a:ext cx="1241425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567.789000</a:t>
            </a:r>
            <a:endParaRPr lang="en-US" altLang="zh-CN" sz="1600">
              <a:solidFill>
                <a:srgbClr val="0000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16" name="文本框 38915"/>
          <p:cNvSpPr txBox="1"/>
          <p:nvPr/>
        </p:nvSpPr>
        <p:spPr>
          <a:xfrm>
            <a:off x="8970963" y="4116388"/>
            <a:ext cx="904875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567.789</a:t>
            </a:r>
            <a:endParaRPr lang="en-US" altLang="zh-CN" sz="1600">
              <a:solidFill>
                <a:srgbClr val="0000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15" name="文本框 38914"/>
          <p:cNvSpPr txBox="1"/>
          <p:nvPr/>
        </p:nvSpPr>
        <p:spPr>
          <a:xfrm>
            <a:off x="9193213" y="4513263"/>
            <a:ext cx="354012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1600">
                <a:solidFill>
                  <a:srgbClr val="0000FF"/>
                </a:solidFill>
                <a:latin typeface="微软雅黑 Light" panose="020B0502040204020203" charset="-122"/>
                <a:ea typeface="微软雅黑 Light" panose="020B0502040204020203" charset="-122"/>
              </a:rPr>
              <a:t>%</a:t>
            </a:r>
            <a:endParaRPr lang="en-US" altLang="zh-CN" sz="1600">
              <a:solidFill>
                <a:srgbClr val="0000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14" name="矩形 38913"/>
          <p:cNvSpPr/>
          <p:nvPr/>
        </p:nvSpPr>
        <p:spPr>
          <a:xfrm>
            <a:off x="1406525" y="5008563"/>
            <a:ext cx="9469438" cy="22066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/>
          <a:p>
            <a:pPr marL="990600" lvl="3" indent="-271145" eaLnBrk="0" hangingPunc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说明：	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1611630" lvl="4" indent="-441325" eaLnBrk="0" hangingPunc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格式字符要用小写；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1611630" lvl="4" indent="-441325" eaLnBrk="0" hangingPunct="0"/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格式字符与输出项个数应相同，按先后顺序一一对应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;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1611630" lvl="4" indent="-441325" eaLnBrk="0" hangingPunct="0"/>
            <a:r>
              <a:rPr lang="zh-CN" altLang="en-US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输出转换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: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格式字符与输出项类型不一致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,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自动按指定格式输出。</a:t>
            </a:r>
            <a:endParaRPr lang="en-US" altLang="zh-CN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8913" name="矩形 38912"/>
          <p:cNvSpPr/>
          <p:nvPr/>
        </p:nvSpPr>
        <p:spPr>
          <a:xfrm>
            <a:off x="2952750" y="2968625"/>
            <a:ext cx="285750" cy="800100"/>
          </a:xfrm>
          <a:prstGeom prst="rect">
            <a:avLst/>
          </a:prstGeom>
          <a:noFill/>
          <a:ln w="38100">
            <a:noFill/>
          </a:ln>
        </p:spPr>
        <p:txBody>
          <a:bodyPr anchor="t" anchorCtr="0"/>
          <a:p>
            <a:endParaRPr lang="zh-CN" altLang="en-US" sz="16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169024" name="组合 38978"/>
          <p:cNvGrpSpPr/>
          <p:nvPr/>
        </p:nvGrpSpPr>
        <p:grpSpPr>
          <a:xfrm>
            <a:off x="9423400" y="6170613"/>
            <a:ext cx="1047750" cy="514350"/>
            <a:chOff x="4944" y="3816"/>
            <a:chExt cx="660" cy="324"/>
          </a:xfrm>
        </p:grpSpPr>
        <p:sp>
          <p:nvSpPr>
            <p:cNvPr id="169025" name="圆角矩形 38979">
              <a:hlinkClick r:id="rId1" action="ppaction://hlinksldjump"/>
            </p:cNvPr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69026" name="组合 38980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169027" name="任意多边形 38981">
                <a:hlinkClick r:id="rId1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69028" name="椭圆 38982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9029" name="椭圆 38983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69030" name="Text Box 5"/>
          <p:cNvSpPr txBox="1"/>
          <p:nvPr/>
        </p:nvSpPr>
        <p:spPr>
          <a:xfrm>
            <a:off x="862013" y="825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、数据输入和输出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69031" name="文本框 65540"/>
          <p:cNvSpPr txBox="1"/>
          <p:nvPr/>
        </p:nvSpPr>
        <p:spPr>
          <a:xfrm>
            <a:off x="1003300" y="608013"/>
            <a:ext cx="8177213" cy="336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en-US" altLang="zh-CN" sz="1600" b="1" dirty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1600" b="1" dirty="0">
                <a:latin typeface="微软雅黑 Light" panose="020B0502040204020203" charset="-122"/>
                <a:ea typeface="微软雅黑 Light" panose="020B0502040204020203" charset="-122"/>
              </a:rPr>
              <a:t>输出函数</a:t>
            </a:r>
            <a:r>
              <a:rPr lang="en-US" altLang="zh-CN" sz="1600" b="1" dirty="0">
                <a:latin typeface="微软雅黑 Light" panose="020B0502040204020203" charset="-122"/>
                <a:ea typeface="微软雅黑 Light" panose="020B0502040204020203" charset="-122"/>
              </a:rPr>
              <a:t>printf( )</a:t>
            </a:r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8934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892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8933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892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38932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3892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3893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3892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38930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38920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38929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3891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38928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3891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38927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7" dur="500"/>
                                        <p:tgtEl>
                                          <p:spTgt spid="3891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2" dur="500"/>
                                        <p:tgtEl>
                                          <p:spTgt spid="38926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7" dur="500"/>
                                        <p:tgtEl>
                                          <p:spTgt spid="3891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2" dur="500"/>
                                        <p:tgtEl>
                                          <p:spTgt spid="38925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7" dur="500"/>
                                        <p:tgtEl>
                                          <p:spTgt spid="38915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891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891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4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8914">
                                            <p:txEl>
                                              <p:charRg st="4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8914">
                                            <p:txEl>
                                              <p:charRg st="4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13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8914">
                                            <p:txEl>
                                              <p:charRg st="13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8914">
                                            <p:txEl>
                                              <p:charRg st="13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37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8914">
                                            <p:txEl>
                                              <p:charRg st="37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8914">
                                            <p:txEl>
                                              <p:charRg st="37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6" dur="500"/>
                                        <p:tgtEl>
                                          <p:spTgt spid="389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34" grpId="0" build="p"/>
      <p:bldP spid="38933" grpId="0" build="p"/>
      <p:bldP spid="38932" grpId="0" build="p"/>
      <p:bldP spid="38931" grpId="0" build="p"/>
      <p:bldP spid="38930" grpId="0" build="p"/>
      <p:bldP spid="38929" grpId="0" build="p"/>
      <p:bldP spid="38928" grpId="0" build="p"/>
      <p:bldP spid="38927" grpId="0" build="p"/>
      <p:bldP spid="38926" grpId="0" build="p"/>
      <p:bldP spid="38925" grpId="0" build="p"/>
      <p:bldP spid="38924" grpId="0" build="p"/>
      <p:bldP spid="38923" grpId="0" build="p"/>
      <p:bldP spid="38922" grpId="0" build="p"/>
      <p:bldP spid="38921" grpId="0" build="p"/>
      <p:bldP spid="38920" grpId="0" build="p"/>
      <p:bldP spid="38919" grpId="0" build="p"/>
      <p:bldP spid="38918" grpId="0" build="p"/>
      <p:bldP spid="38917" grpId="0" build="p"/>
      <p:bldP spid="38916" grpId="0" build="p"/>
      <p:bldP spid="38915" grpId="0" build="p"/>
      <p:bldP spid="38914" grpId="0" bldLvl="5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985" name="矩形 13322"/>
          <p:cNvSpPr/>
          <p:nvPr/>
        </p:nvSpPr>
        <p:spPr>
          <a:xfrm>
            <a:off x="2281238" y="1112838"/>
            <a:ext cx="8064500" cy="5276850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algn="ctr"/>
            <a:endParaRPr lang="zh-CN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9986" name="直接连接符 13323"/>
          <p:cNvSpPr/>
          <p:nvPr/>
        </p:nvSpPr>
        <p:spPr>
          <a:xfrm>
            <a:off x="2273300" y="1627188"/>
            <a:ext cx="8042275" cy="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9987" name="直接连接符 13324"/>
          <p:cNvSpPr/>
          <p:nvPr/>
        </p:nvSpPr>
        <p:spPr>
          <a:xfrm>
            <a:off x="3257550" y="1187450"/>
            <a:ext cx="0" cy="520065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9988" name="直接连接符 13325"/>
          <p:cNvSpPr/>
          <p:nvPr/>
        </p:nvSpPr>
        <p:spPr>
          <a:xfrm>
            <a:off x="3263900" y="2693988"/>
            <a:ext cx="7051675" cy="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9989" name="文本框 13326"/>
          <p:cNvSpPr txBox="1"/>
          <p:nvPr/>
        </p:nvSpPr>
        <p:spPr>
          <a:xfrm>
            <a:off x="2559050" y="2468563"/>
            <a:ext cx="455613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.n</a:t>
            </a:r>
            <a:endParaRPr lang="zh-CN" altLang="en-US" sz="20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9990" name="文本框 13327"/>
          <p:cNvSpPr txBox="1"/>
          <p:nvPr/>
        </p:nvSpPr>
        <p:spPr>
          <a:xfrm>
            <a:off x="3635375" y="2162175"/>
            <a:ext cx="5097463" cy="4000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对实数,指定小数点后位数(四舍五入)</a:t>
            </a:r>
            <a:endParaRPr lang="zh-CN" altLang="en-US" sz="20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9991" name="文本框 13328"/>
          <p:cNvSpPr txBox="1"/>
          <p:nvPr/>
        </p:nvSpPr>
        <p:spPr>
          <a:xfrm>
            <a:off x="2346325" y="1209675"/>
            <a:ext cx="103187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修饰符</a:t>
            </a:r>
            <a:endParaRPr lang="zh-CN" altLang="en-US" sz="20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9992" name="文本框 13329"/>
          <p:cNvSpPr txBox="1"/>
          <p:nvPr/>
        </p:nvSpPr>
        <p:spPr>
          <a:xfrm>
            <a:off x="5203825" y="1209675"/>
            <a:ext cx="2390775" cy="4000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>
            <a:spAutoFit/>
          </a:bodyPr>
          <a:p>
            <a:r>
              <a:rPr lang="zh-CN" altLang="en-US" sz="20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功                     能</a:t>
            </a:r>
            <a:endParaRPr lang="zh-CN" altLang="en-US" sz="20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9993" name="直接连接符 13330"/>
          <p:cNvSpPr/>
          <p:nvPr/>
        </p:nvSpPr>
        <p:spPr>
          <a:xfrm>
            <a:off x="2273300" y="2160588"/>
            <a:ext cx="8042275" cy="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9994" name="文本框 13331"/>
          <p:cNvSpPr txBox="1"/>
          <p:nvPr/>
        </p:nvSpPr>
        <p:spPr>
          <a:xfrm>
            <a:off x="2559050" y="1668463"/>
            <a:ext cx="357188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m</a:t>
            </a:r>
            <a:endParaRPr lang="zh-CN" altLang="en-US" sz="20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9995" name="文本框 13332"/>
          <p:cNvSpPr txBox="1"/>
          <p:nvPr/>
        </p:nvSpPr>
        <p:spPr>
          <a:xfrm>
            <a:off x="3503613" y="1703388"/>
            <a:ext cx="6149975" cy="4000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输出数据域宽,数据长度&lt;m,左补空格;否则按实际输出</a:t>
            </a:r>
            <a:endParaRPr lang="zh-CN" altLang="en-US" sz="20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9996" name="文本框 13333"/>
          <p:cNvSpPr txBox="1"/>
          <p:nvPr/>
        </p:nvSpPr>
        <p:spPr>
          <a:xfrm>
            <a:off x="3525838" y="3228975"/>
            <a:ext cx="5210175" cy="4000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输出数据在域内左对齐（缺省右对齐)</a:t>
            </a:r>
            <a:endParaRPr lang="zh-CN" altLang="en-US" sz="20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9997" name="文本框 13334"/>
          <p:cNvSpPr txBox="1"/>
          <p:nvPr/>
        </p:nvSpPr>
        <p:spPr>
          <a:xfrm>
            <a:off x="2559050" y="3249613"/>
            <a:ext cx="255588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-</a:t>
            </a:r>
            <a:endParaRPr lang="zh-CN" altLang="en-US" sz="20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9998" name="文本框 13336"/>
          <p:cNvSpPr txBox="1"/>
          <p:nvPr/>
        </p:nvSpPr>
        <p:spPr>
          <a:xfrm>
            <a:off x="3559175" y="3790950"/>
            <a:ext cx="54324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指定在有符号数的正数前显示正号(+)</a:t>
            </a:r>
            <a:endParaRPr lang="zh-CN" altLang="en-US" sz="20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69999" name="文本框 13337"/>
          <p:cNvSpPr txBox="1"/>
          <p:nvPr/>
        </p:nvSpPr>
        <p:spPr>
          <a:xfrm>
            <a:off x="2559050" y="3906838"/>
            <a:ext cx="30797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+</a:t>
            </a:r>
            <a:endParaRPr lang="zh-CN" altLang="en-US" sz="20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0000" name="文本框 13338"/>
          <p:cNvSpPr txBox="1"/>
          <p:nvPr/>
        </p:nvSpPr>
        <p:spPr>
          <a:xfrm>
            <a:off x="3525838" y="4333875"/>
            <a:ext cx="6124575" cy="4000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输出数值时指定左面不使用的空位置自动填0</a:t>
            </a:r>
            <a:endParaRPr lang="zh-CN" altLang="en-US" sz="20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0001" name="文本框 13339"/>
          <p:cNvSpPr txBox="1"/>
          <p:nvPr/>
        </p:nvSpPr>
        <p:spPr>
          <a:xfrm>
            <a:off x="2559050" y="4373563"/>
            <a:ext cx="293688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0</a:t>
            </a:r>
            <a:endParaRPr lang="zh-CN" altLang="en-US" sz="20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0002" name="文本框 13340"/>
          <p:cNvSpPr txBox="1"/>
          <p:nvPr/>
        </p:nvSpPr>
        <p:spPr>
          <a:xfrm>
            <a:off x="3525838" y="4905375"/>
            <a:ext cx="5514975" cy="4000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在八进制和十六进制数前显示前导0，0x</a:t>
            </a:r>
            <a:endParaRPr lang="zh-CN" altLang="en-US" sz="20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0003" name="文本框 13341"/>
          <p:cNvSpPr txBox="1"/>
          <p:nvPr/>
        </p:nvSpPr>
        <p:spPr>
          <a:xfrm>
            <a:off x="2559050" y="4878388"/>
            <a:ext cx="293688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#</a:t>
            </a:r>
            <a:endParaRPr lang="zh-CN" altLang="en-US" sz="20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0004" name="矩形 13342"/>
          <p:cNvSpPr txBox="1"/>
          <p:nvPr/>
        </p:nvSpPr>
        <p:spPr>
          <a:xfrm>
            <a:off x="3508375" y="5360988"/>
            <a:ext cx="5210175" cy="10160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>
            <a:spAutoFit/>
          </a:bodyPr>
          <a:p>
            <a:pPr>
              <a:lnSpc>
                <a:spcPct val="150000"/>
              </a:lnSpc>
              <a:buSzTx/>
            </a:pPr>
            <a:r>
              <a:rPr lang="zh-CN" altLang="en-US" sz="20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在d,o,x,u前，指定输出精度为long型</a:t>
            </a:r>
            <a:endParaRPr lang="zh-CN" altLang="en-US" sz="20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  <a:buSzTx/>
            </a:pPr>
            <a:r>
              <a:rPr lang="zh-CN" altLang="en-US" sz="20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在e,f,g前，指定输出精度为double型</a:t>
            </a:r>
            <a:endParaRPr lang="zh-CN" altLang="en-US" sz="20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0005" name="文本框 13343"/>
          <p:cNvSpPr txBox="1"/>
          <p:nvPr/>
        </p:nvSpPr>
        <p:spPr>
          <a:xfrm>
            <a:off x="2559050" y="5630863"/>
            <a:ext cx="242888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l</a:t>
            </a:r>
            <a:endParaRPr lang="zh-CN" altLang="en-US" sz="20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0006" name="直接连接符 13344"/>
          <p:cNvSpPr/>
          <p:nvPr/>
        </p:nvSpPr>
        <p:spPr>
          <a:xfrm>
            <a:off x="2273300" y="3227388"/>
            <a:ext cx="8042275" cy="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0007" name="直接连接符 13345"/>
          <p:cNvSpPr/>
          <p:nvPr/>
        </p:nvSpPr>
        <p:spPr>
          <a:xfrm>
            <a:off x="2273300" y="3760788"/>
            <a:ext cx="8042275" cy="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0008" name="直接连接符 13346"/>
          <p:cNvSpPr/>
          <p:nvPr/>
        </p:nvSpPr>
        <p:spPr>
          <a:xfrm>
            <a:off x="2273300" y="4294188"/>
            <a:ext cx="8042275" cy="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0009" name="直接连接符 13347"/>
          <p:cNvSpPr/>
          <p:nvPr/>
        </p:nvSpPr>
        <p:spPr>
          <a:xfrm>
            <a:off x="2273300" y="5360988"/>
            <a:ext cx="8042275" cy="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0010" name="直接连接符 13348"/>
          <p:cNvSpPr/>
          <p:nvPr/>
        </p:nvSpPr>
        <p:spPr>
          <a:xfrm>
            <a:off x="2273300" y="4827588"/>
            <a:ext cx="8042275" cy="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0011" name="直接连接符 13349"/>
          <p:cNvSpPr/>
          <p:nvPr/>
        </p:nvSpPr>
        <p:spPr>
          <a:xfrm>
            <a:off x="3225800" y="5894388"/>
            <a:ext cx="7089775" cy="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0012" name="标题 13352"/>
          <p:cNvSpPr>
            <a:spLocks noGrp="1"/>
          </p:cNvSpPr>
          <p:nvPr>
            <p:ph type="title"/>
          </p:nvPr>
        </p:nvSpPr>
        <p:spPr>
          <a:xfrm>
            <a:off x="2435225" y="80963"/>
            <a:ext cx="7680325" cy="104933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附加格式说明符（修饰符）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0013" name="文本框 13353"/>
          <p:cNvSpPr txBox="1"/>
          <p:nvPr/>
        </p:nvSpPr>
        <p:spPr>
          <a:xfrm>
            <a:off x="3548063" y="2720975"/>
            <a:ext cx="5313362" cy="7080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chemeClr val="tx2"/>
                </a:solidFill>
                <a:latin typeface="微软雅黑 Light" panose="020B0502040204020203" charset="-122"/>
                <a:ea typeface="微软雅黑 Light" panose="020B0502040204020203" charset="-122"/>
              </a:rPr>
              <a:t>对字符串,指定实际输出位数</a:t>
            </a:r>
            <a:endParaRPr lang="zh-CN" altLang="en-US" sz="20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buSzTx/>
            </a:pPr>
            <a:endParaRPr lang="zh-CN" altLang="en-US" sz="2000" dirty="0">
              <a:solidFill>
                <a:schemeClr val="tx2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0014" name="Text Box 5"/>
          <p:cNvSpPr txBox="1"/>
          <p:nvPr/>
        </p:nvSpPr>
        <p:spPr>
          <a:xfrm>
            <a:off x="728663" y="8096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、数据输入和输出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70015" name="文本框 65540"/>
          <p:cNvSpPr txBox="1"/>
          <p:nvPr/>
        </p:nvSpPr>
        <p:spPr>
          <a:xfrm>
            <a:off x="93663" y="776288"/>
            <a:ext cx="8178800" cy="336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en-US" altLang="zh-CN" sz="1600" b="1" dirty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1600" b="1" dirty="0">
                <a:latin typeface="微软雅黑 Light" panose="020B0502040204020203" charset="-122"/>
                <a:ea typeface="微软雅黑 Light" panose="020B0502040204020203" charset="-122"/>
              </a:rPr>
              <a:t>输出函数</a:t>
            </a:r>
            <a:r>
              <a:rPr lang="en-US" altLang="zh-CN" sz="1600" b="1" dirty="0">
                <a:latin typeface="微软雅黑 Light" panose="020B0502040204020203" charset="-122"/>
                <a:ea typeface="微软雅黑 Light" panose="020B0502040204020203" charset="-122"/>
              </a:rPr>
              <a:t>printf( )</a:t>
            </a:r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" name="文本框 1053"/>
          <p:cNvSpPr txBox="1"/>
          <p:nvPr/>
        </p:nvSpPr>
        <p:spPr>
          <a:xfrm>
            <a:off x="4676775" y="1028700"/>
            <a:ext cx="5167313" cy="1752600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r>
              <a:rPr lang="zh-CN" altLang="en-US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 </a:t>
            </a:r>
            <a:r>
              <a:rPr lang="en-US" altLang="zh-CN" err="1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a=1234;</a:t>
            </a:r>
            <a:endParaRPr lang="en-US" altLang="zh-CN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float f=123.456;</a:t>
            </a:r>
            <a:endParaRPr lang="en-US" altLang="zh-CN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printf(“%08d\n”,a);       </a:t>
            </a:r>
            <a:endParaRPr lang="en-US" altLang="zh-CN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printf(“%010.2f\n”,f);  </a:t>
            </a:r>
            <a:endParaRPr lang="en-US" altLang="zh-CN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printf(“%0+8d\n”,a);    </a:t>
            </a:r>
            <a:endParaRPr lang="en-US" altLang="zh-CN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printf(“0+10.2f\n”,f);   </a:t>
            </a:r>
            <a:endParaRPr lang="en-US" altLang="zh-CN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3" name="文本框 1052"/>
          <p:cNvSpPr txBox="1"/>
          <p:nvPr/>
        </p:nvSpPr>
        <p:spPr>
          <a:xfrm>
            <a:off x="2805113" y="1120775"/>
            <a:ext cx="71120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2" name="文本框 1051"/>
          <p:cNvSpPr txBox="1"/>
          <p:nvPr/>
        </p:nvSpPr>
        <p:spPr>
          <a:xfrm>
            <a:off x="2373313" y="3389313"/>
            <a:ext cx="3986212" cy="1198562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buSzTx/>
            </a:pPr>
            <a:r>
              <a:rPr lang="zh-CN" altLang="en-US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 int a=123;</a:t>
            </a:r>
            <a:endParaRPr lang="zh-CN" altLang="en-US" dirty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printf(“%o,%#o,%X,%#X\n”,a,a,a,a);     </a:t>
            </a:r>
            <a:endParaRPr lang="zh-CN" altLang="en-US" dirty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endParaRPr lang="zh-CN" altLang="en-US" dirty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1" name="文本框 1050"/>
          <p:cNvSpPr txBox="1"/>
          <p:nvPr/>
        </p:nvSpPr>
        <p:spPr>
          <a:xfrm>
            <a:off x="2125663" y="2901950"/>
            <a:ext cx="6397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#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" name="文本框 1049"/>
          <p:cNvSpPr txBox="1"/>
          <p:nvPr/>
        </p:nvSpPr>
        <p:spPr>
          <a:xfrm>
            <a:off x="2373313" y="5430838"/>
            <a:ext cx="2849562" cy="1198562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buSzTx/>
            </a:pPr>
            <a:r>
              <a:rPr lang="zh-CN" altLang="en-US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long  a=65536;</a:t>
            </a:r>
            <a:endParaRPr lang="zh-CN" altLang="en-US" dirty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printf(“%d,%8ld\n”,a, a);     </a:t>
            </a:r>
            <a:endParaRPr lang="zh-CN" altLang="en-US" dirty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endParaRPr lang="zh-CN" altLang="en-US" dirty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9" name="文本框 1048"/>
          <p:cNvSpPr txBox="1"/>
          <p:nvPr/>
        </p:nvSpPr>
        <p:spPr>
          <a:xfrm>
            <a:off x="2066925" y="5183188"/>
            <a:ext cx="588963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32" name="组合 1031"/>
          <p:cNvGrpSpPr/>
          <p:nvPr/>
        </p:nvGrpSpPr>
        <p:grpSpPr>
          <a:xfrm>
            <a:off x="4191000" y="4956175"/>
            <a:ext cx="6091238" cy="463550"/>
            <a:chOff x="1158" y="3144"/>
            <a:chExt cx="3837" cy="292"/>
          </a:xfrm>
        </p:grpSpPr>
        <p:sp>
          <p:nvSpPr>
            <p:cNvPr id="171016" name="矩形 1047"/>
            <p:cNvSpPr/>
            <p:nvPr/>
          </p:nvSpPr>
          <p:spPr>
            <a:xfrm>
              <a:off x="1158" y="3148"/>
              <a:ext cx="1919" cy="2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00 00 00 00  00  00 00</a:t>
              </a:r>
              <a:r>
                <a:rPr lang="en-US" altLang="zh-CN" sz="2000">
                  <a:latin typeface="Arial" panose="020B0604020202020204" pitchFamily="34" charset="0"/>
                  <a:ea typeface="宋体" panose="02010600030101010101" pitchFamily="2" charset="-122"/>
                </a:rPr>
                <a:t> 01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1017" name="直接连接符 1046"/>
            <p:cNvSpPr/>
            <p:nvPr/>
          </p:nvSpPr>
          <p:spPr>
            <a:xfrm>
              <a:off x="2118" y="314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1018" name="直接连接符 1045"/>
            <p:cNvSpPr/>
            <p:nvPr/>
          </p:nvSpPr>
          <p:spPr>
            <a:xfrm>
              <a:off x="1629" y="314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1019" name="直接连接符 1044"/>
            <p:cNvSpPr/>
            <p:nvPr/>
          </p:nvSpPr>
          <p:spPr>
            <a:xfrm>
              <a:off x="1384" y="314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1020" name="直接连接符 1043"/>
            <p:cNvSpPr/>
            <p:nvPr/>
          </p:nvSpPr>
          <p:spPr>
            <a:xfrm>
              <a:off x="1873" y="314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1021" name="直接连接符 1042"/>
            <p:cNvSpPr/>
            <p:nvPr/>
          </p:nvSpPr>
          <p:spPr>
            <a:xfrm>
              <a:off x="2606" y="314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1022" name="直接连接符 1041"/>
            <p:cNvSpPr/>
            <p:nvPr/>
          </p:nvSpPr>
          <p:spPr>
            <a:xfrm>
              <a:off x="2362" y="314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1023" name="直接连接符 1040"/>
            <p:cNvSpPr/>
            <p:nvPr/>
          </p:nvSpPr>
          <p:spPr>
            <a:xfrm>
              <a:off x="2851" y="314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1024" name="矩形 1039"/>
            <p:cNvSpPr/>
            <p:nvPr/>
          </p:nvSpPr>
          <p:spPr>
            <a:xfrm>
              <a:off x="3076" y="3144"/>
              <a:ext cx="1919" cy="2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00 00 00 00  00  00 00 00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1025" name="直接连接符 1038"/>
            <p:cNvSpPr/>
            <p:nvPr/>
          </p:nvSpPr>
          <p:spPr>
            <a:xfrm>
              <a:off x="4036" y="314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1026" name="直接连接符 1037"/>
            <p:cNvSpPr/>
            <p:nvPr/>
          </p:nvSpPr>
          <p:spPr>
            <a:xfrm>
              <a:off x="3547" y="314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1027" name="直接连接符 1036"/>
            <p:cNvSpPr/>
            <p:nvPr/>
          </p:nvSpPr>
          <p:spPr>
            <a:xfrm>
              <a:off x="3302" y="314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1028" name="直接连接符 1035"/>
            <p:cNvSpPr/>
            <p:nvPr/>
          </p:nvSpPr>
          <p:spPr>
            <a:xfrm>
              <a:off x="3791" y="314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1029" name="直接连接符 1034"/>
            <p:cNvSpPr/>
            <p:nvPr/>
          </p:nvSpPr>
          <p:spPr>
            <a:xfrm>
              <a:off x="4524" y="314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1030" name="直接连接符 1033"/>
            <p:cNvSpPr/>
            <p:nvPr/>
          </p:nvSpPr>
          <p:spPr>
            <a:xfrm>
              <a:off x="4280" y="314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1031" name="直接连接符 1032"/>
            <p:cNvSpPr/>
            <p:nvPr/>
          </p:nvSpPr>
          <p:spPr>
            <a:xfrm>
              <a:off x="4769" y="314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031" name="文本框 1030"/>
          <p:cNvSpPr txBox="1"/>
          <p:nvPr/>
        </p:nvSpPr>
        <p:spPr>
          <a:xfrm>
            <a:off x="7761288" y="1352550"/>
            <a:ext cx="1220787" cy="36988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//00001234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0" name="文本框 1029"/>
          <p:cNvSpPr txBox="1"/>
          <p:nvPr/>
        </p:nvSpPr>
        <p:spPr>
          <a:xfrm>
            <a:off x="7837488" y="1749425"/>
            <a:ext cx="1797050" cy="36988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t" anchorCtr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//0000123.46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9" name="文本框 1028"/>
          <p:cNvSpPr txBox="1"/>
          <p:nvPr/>
        </p:nvSpPr>
        <p:spPr>
          <a:xfrm>
            <a:off x="7854950" y="2192338"/>
            <a:ext cx="1662113" cy="36988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t" anchorCtr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//000+1234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8" name="文本框 1027"/>
          <p:cNvSpPr txBox="1"/>
          <p:nvPr/>
        </p:nvSpPr>
        <p:spPr>
          <a:xfrm>
            <a:off x="7872413" y="2441575"/>
            <a:ext cx="1406525" cy="36988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//000+123.56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7" name="文本框 1026"/>
          <p:cNvSpPr txBox="1"/>
          <p:nvPr/>
        </p:nvSpPr>
        <p:spPr>
          <a:xfrm>
            <a:off x="3300413" y="4117975"/>
            <a:ext cx="2090737" cy="36988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//173,0173,7B,0X7B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6" name="文本框 1025"/>
          <p:cNvSpPr txBox="1"/>
          <p:nvPr/>
        </p:nvSpPr>
        <p:spPr>
          <a:xfrm>
            <a:off x="3300413" y="6202363"/>
            <a:ext cx="2249170" cy="369570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//65536, 65536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 useBgFill="1">
        <p:nvSpPr>
          <p:cNvPr id="171038" name="动作按钮: 文档 1024">
            <a:hlinkClick r:id="rId1" action="ppaction://program"/>
          </p:cNvPr>
          <p:cNvSpPr/>
          <p:nvPr/>
        </p:nvSpPr>
        <p:spPr>
          <a:xfrm>
            <a:off x="1524000" y="5943600"/>
            <a:ext cx="533400" cy="685800"/>
          </a:xfrm>
          <a:prstGeom prst="actionButtonDocument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1039" name="标题 1056"/>
          <p:cNvSpPr>
            <a:spLocks noGrp="1"/>
          </p:cNvSpPr>
          <p:nvPr>
            <p:ph type="title"/>
          </p:nvPr>
        </p:nvSpPr>
        <p:spPr>
          <a:xfrm>
            <a:off x="2122488" y="1025525"/>
            <a:ext cx="644525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zh-CN" altLang="en-US" sz="2400" dirty="0"/>
              <a:t>例</a:t>
            </a:r>
            <a:endParaRPr lang="zh-CN" altLang="en-US" dirty="0"/>
          </a:p>
        </p:txBody>
      </p:sp>
      <p:grpSp>
        <p:nvGrpSpPr>
          <p:cNvPr id="171040" name="组合 1057"/>
          <p:cNvGrpSpPr/>
          <p:nvPr/>
        </p:nvGrpSpPr>
        <p:grpSpPr>
          <a:xfrm>
            <a:off x="9372600" y="6057900"/>
            <a:ext cx="1047750" cy="514350"/>
            <a:chOff x="4944" y="3816"/>
            <a:chExt cx="660" cy="324"/>
          </a:xfrm>
        </p:grpSpPr>
        <p:sp>
          <p:nvSpPr>
            <p:cNvPr id="171041" name="圆角矩形 1058">
              <a:hlinkClick r:id="rId2" action="ppaction://hlinksldjump"/>
            </p:cNvPr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71042" name="组合 1059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171043" name="任意多边形 1060">
                <a:hlinkClick r:id="rId3" action="ppaction://hlinksldjump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71044" name="椭圆 1061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1045" name="椭圆 1062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71046" name="Text Box 5"/>
          <p:cNvSpPr txBox="1"/>
          <p:nvPr/>
        </p:nvSpPr>
        <p:spPr>
          <a:xfrm>
            <a:off x="749300" y="71438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</a:rPr>
              <a:t>、数据输入和输出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53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31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3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29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02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051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02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049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1026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" grpId="0" bldLvl="0" animBg="1"/>
      <p:bldP spid="1053" grpId="0" build="p"/>
      <p:bldP spid="1052" grpId="0" bldLvl="0" animBg="1"/>
      <p:bldP spid="1051" grpId="0" build="p"/>
      <p:bldP spid="1050" grpId="0" bldLvl="0" animBg="1"/>
      <p:bldP spid="1049" grpId="0" build="p"/>
      <p:bldP spid="1031" grpId="0" build="p"/>
      <p:bldP spid="1030" grpId="0" build="p"/>
      <p:bldP spid="1029" grpId="0" build="p"/>
      <p:bldP spid="1028" grpId="0" build="p"/>
      <p:bldP spid="1027" grpId="0" build="p"/>
      <p:bldP spid="102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文本占位符 15361"/>
          <p:cNvSpPr>
            <a:spLocks noGrp="1"/>
          </p:cNvSpPr>
          <p:nvPr>
            <p:ph type="body"/>
          </p:nvPr>
        </p:nvSpPr>
        <p:spPr>
          <a:xfrm>
            <a:off x="914400" y="4419600"/>
            <a:ext cx="8469313" cy="5175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>
              <a:buNone/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附加格式说明符（修饰符）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2034" name="矩形 15364" descr="蓝色砂纸"/>
          <p:cNvSpPr/>
          <p:nvPr/>
        </p:nvSpPr>
        <p:spPr>
          <a:xfrm>
            <a:off x="2220913" y="1098550"/>
            <a:ext cx="8064500" cy="3257550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algn="ctr"/>
            <a:endParaRPr lang="zh-CN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2035" name="直接连接符 15365"/>
          <p:cNvSpPr/>
          <p:nvPr/>
        </p:nvSpPr>
        <p:spPr>
          <a:xfrm>
            <a:off x="2212975" y="1612900"/>
            <a:ext cx="8042275" cy="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2036" name="直接连接符 15366"/>
          <p:cNvSpPr/>
          <p:nvPr/>
        </p:nvSpPr>
        <p:spPr>
          <a:xfrm>
            <a:off x="3197225" y="1173163"/>
            <a:ext cx="1588" cy="3209925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2037" name="直接连接符 15367"/>
          <p:cNvSpPr/>
          <p:nvPr/>
        </p:nvSpPr>
        <p:spPr>
          <a:xfrm>
            <a:off x="3203575" y="2679700"/>
            <a:ext cx="7051675" cy="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2038" name="文本框 15368" descr="蓝色砂纸"/>
          <p:cNvSpPr txBox="1"/>
          <p:nvPr/>
        </p:nvSpPr>
        <p:spPr>
          <a:xfrm>
            <a:off x="2498725" y="2454275"/>
            <a:ext cx="242888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l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72039" name="文本框 15369" descr="蓝色砂纸"/>
          <p:cNvSpPr txBox="1"/>
          <p:nvPr/>
        </p:nvSpPr>
        <p:spPr>
          <a:xfrm>
            <a:off x="2320925" y="1143000"/>
            <a:ext cx="971550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修饰符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72040" name="文本框 15370" descr="蓝色砂纸"/>
          <p:cNvSpPr txBox="1"/>
          <p:nvPr/>
        </p:nvSpPr>
        <p:spPr>
          <a:xfrm>
            <a:off x="5068888" y="1195388"/>
            <a:ext cx="2390775" cy="4000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>
            <a:spAutoFit/>
          </a:bodyPr>
          <a:p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功                     能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72041" name="直接连接符 15371"/>
          <p:cNvSpPr/>
          <p:nvPr/>
        </p:nvSpPr>
        <p:spPr>
          <a:xfrm>
            <a:off x="2212975" y="2146300"/>
            <a:ext cx="8042275" cy="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2042" name="文本框 15372" descr="蓝色砂纸"/>
          <p:cNvSpPr txBox="1"/>
          <p:nvPr/>
        </p:nvSpPr>
        <p:spPr>
          <a:xfrm>
            <a:off x="2498725" y="1654175"/>
            <a:ext cx="293688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h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72043" name="文本框 15373" descr="蓝色砂纸"/>
          <p:cNvSpPr txBox="1"/>
          <p:nvPr/>
        </p:nvSpPr>
        <p:spPr>
          <a:xfrm>
            <a:off x="2498725" y="3235325"/>
            <a:ext cx="357188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m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72044" name="文本框 15375" descr="蓝色砂纸"/>
          <p:cNvSpPr txBox="1"/>
          <p:nvPr/>
        </p:nvSpPr>
        <p:spPr>
          <a:xfrm>
            <a:off x="2498725" y="3892550"/>
            <a:ext cx="293688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*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72045" name="直接连接符 15376"/>
          <p:cNvSpPr/>
          <p:nvPr/>
        </p:nvSpPr>
        <p:spPr>
          <a:xfrm>
            <a:off x="2212975" y="3213100"/>
            <a:ext cx="8042275" cy="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2046" name="直接连接符 15377"/>
          <p:cNvSpPr/>
          <p:nvPr/>
        </p:nvSpPr>
        <p:spPr>
          <a:xfrm>
            <a:off x="2212975" y="3746500"/>
            <a:ext cx="8042275" cy="0"/>
          </a:xfrm>
          <a:prstGeom prst="line">
            <a:avLst/>
          </a:prstGeom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2047" name="文本框 15378" descr="蓝色砂纸"/>
          <p:cNvSpPr txBox="1"/>
          <p:nvPr/>
        </p:nvSpPr>
        <p:spPr>
          <a:xfrm>
            <a:off x="3241675" y="1671638"/>
            <a:ext cx="4984750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用于d,o,x前，指定输入为short型整数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72048" name="文本框 15379" descr="蓝色砂纸"/>
          <p:cNvSpPr txBox="1"/>
          <p:nvPr/>
        </p:nvSpPr>
        <p:spPr>
          <a:xfrm>
            <a:off x="3222625" y="2205038"/>
            <a:ext cx="47847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用于d,o,x前，指定输入为long型整数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72049" name="文本框 15380" descr="蓝色砂纸"/>
          <p:cNvSpPr txBox="1"/>
          <p:nvPr/>
        </p:nvSpPr>
        <p:spPr>
          <a:xfrm>
            <a:off x="3222625" y="2700338"/>
            <a:ext cx="4324350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用于e,f前，指定输入为double型实数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72050" name="文本框 15381" descr="蓝色砂纸"/>
          <p:cNvSpPr txBox="1"/>
          <p:nvPr/>
        </p:nvSpPr>
        <p:spPr>
          <a:xfrm>
            <a:off x="3222625" y="3309938"/>
            <a:ext cx="6886575" cy="4000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指定输入数据宽度，遇空格或不可转换字符则结束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72051" name="文本框 15382" descr="蓝色砂纸"/>
          <p:cNvSpPr txBox="1"/>
          <p:nvPr/>
        </p:nvSpPr>
        <p:spPr>
          <a:xfrm>
            <a:off x="3292475" y="3827463"/>
            <a:ext cx="5362575" cy="4000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0">
            <a:spAutoFit/>
          </a:bodyPr>
          <a:p>
            <a:pPr>
              <a:buSzTx/>
            </a:pPr>
            <a:r>
              <a:rPr lang="zh-CN" altLang="en-US" sz="2000" dirty="0">
                <a:solidFill>
                  <a:srgbClr val="025AA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抑制符，指定输入项读入后不赋给变量</a:t>
            </a:r>
            <a:endParaRPr lang="zh-CN" altLang="en-US" sz="2000" dirty="0">
              <a:solidFill>
                <a:srgbClr val="025AA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72052" name="矩形 15384"/>
          <p:cNvSpPr/>
          <p:nvPr/>
        </p:nvSpPr>
        <p:spPr>
          <a:xfrm>
            <a:off x="3867150" y="6400800"/>
            <a:ext cx="228600" cy="209550"/>
          </a:xfrm>
          <a:prstGeom prst="rect">
            <a:avLst/>
          </a:prstGeom>
          <a:noFill/>
          <a:ln w="38100">
            <a:noFill/>
          </a:ln>
        </p:spPr>
        <p:txBody>
          <a:bodyPr anchor="t" anchorCtr="0"/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矩形 15362" descr="蓝色砂纸"/>
          <p:cNvSpPr/>
          <p:nvPr/>
        </p:nvSpPr>
        <p:spPr>
          <a:xfrm>
            <a:off x="2200275" y="4872038"/>
            <a:ext cx="8467725" cy="1547812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lvl="3" indent="0" algn="l">
              <a:lnSpc>
                <a:spcPct val="150000"/>
              </a:lnSpc>
            </a:pP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例  scanf(“%4d%2d%2d”,&amp;yy,&amp;mm,&amp;dd);</a:t>
            </a:r>
            <a:endParaRPr lang="zh-CN" altLang="zh-CN" sz="18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 algn="l">
              <a:lnSpc>
                <a:spcPct val="150000"/>
              </a:lnSpc>
            </a:pP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     输入  19991015  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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  <a:endParaRPr lang="zh-CN" altLang="zh-CN" sz="18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 algn="l">
              <a:lnSpc>
                <a:spcPct val="150000"/>
              </a:lnSpc>
            </a:pP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     则1999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yy, 10 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mm, 15 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dd</a:t>
            </a:r>
            <a:endParaRPr lang="zh-CN" altLang="zh-CN" sz="18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2054" name="标题 15387"/>
          <p:cNvSpPr>
            <a:spLocks noGrp="1"/>
          </p:cNvSpPr>
          <p:nvPr>
            <p:ph type="title"/>
          </p:nvPr>
        </p:nvSpPr>
        <p:spPr>
          <a:xfrm>
            <a:off x="2198688" y="725488"/>
            <a:ext cx="3387725" cy="3778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修饰符功能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2055" name="Text Box 5"/>
          <p:cNvSpPr txBox="1"/>
          <p:nvPr/>
        </p:nvSpPr>
        <p:spPr>
          <a:xfrm>
            <a:off x="723900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、数据输入和输出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72056" name="文本框 65540"/>
          <p:cNvSpPr txBox="1"/>
          <p:nvPr/>
        </p:nvSpPr>
        <p:spPr>
          <a:xfrm>
            <a:off x="-107950" y="1098550"/>
            <a:ext cx="8178800" cy="336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en-US" altLang="zh-CN" sz="1600" b="1" dirty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1600" b="1" dirty="0">
                <a:latin typeface="微软雅黑 Light" panose="020B0502040204020203" charset="-122"/>
                <a:ea typeface="微软雅黑 Light" panose="020B0502040204020203" charset="-122"/>
              </a:rPr>
              <a:t>输入函数</a:t>
            </a:r>
            <a:r>
              <a:rPr lang="en-US" altLang="zh-CN" sz="1600" b="1" dirty="0">
                <a:latin typeface="微软雅黑 Light" panose="020B0502040204020203" charset="-122"/>
                <a:ea typeface="微软雅黑 Light" panose="020B0502040204020203" charset="-122"/>
              </a:rPr>
              <a:t>scanf( )</a:t>
            </a:r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bldLvl="5" build="p"/>
      <p:bldP spid="15363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9" name="文本占位符 50178"/>
          <p:cNvSpPr>
            <a:spLocks noGrp="1"/>
          </p:cNvSpPr>
          <p:nvPr>
            <p:ph type="body"/>
          </p:nvPr>
        </p:nvSpPr>
        <p:spPr>
          <a:xfrm>
            <a:off x="1892300" y="1127125"/>
            <a:ext cx="8267700" cy="1165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3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一般以空格、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TAB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或回车键作为分隔符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lnSpc>
                <a:spcPct val="150000"/>
              </a:lnSpc>
            </a:pP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其它字符做分隔符：格式串中两个格式符间字符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0180" name="矩形 50179"/>
          <p:cNvSpPr txBox="1"/>
          <p:nvPr/>
        </p:nvSpPr>
        <p:spPr>
          <a:xfrm>
            <a:off x="2114550" y="2473325"/>
            <a:ext cx="8272463" cy="1322388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lvl="3" indent="0" algn="l"/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例  scanf(“%d%o%x”,&amp;a,&amp;b,&amp;c);</a:t>
            </a:r>
            <a:endParaRPr lang="zh-CN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 algn="l"/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     printf(“a=%d,b=%d,c=%d\n”,a,b,c);</a:t>
            </a:r>
            <a:endParaRPr lang="zh-CN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 algn="l"/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      输入  123  123  123</a:t>
            </a:r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</a:t>
            </a:r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  <a:endParaRPr lang="zh-CN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 algn="l"/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      输出  a=123,b=83,c=291</a:t>
            </a:r>
            <a:endParaRPr lang="zh-CN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0181" name="矩形 50180"/>
          <p:cNvSpPr txBox="1"/>
          <p:nvPr/>
        </p:nvSpPr>
        <p:spPr>
          <a:xfrm>
            <a:off x="2447925" y="2686050"/>
            <a:ext cx="5788025" cy="1016000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1440" tIns="45720" rIns="91440" bIns="45720" anchor="t" anchorCtr="0">
            <a:spAutoFit/>
          </a:bodyPr>
          <a:p>
            <a:pPr lvl="3" indent="0" algn="l"/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例  scanf(“%d:%d:%d”,&amp;h,&amp;m,&amp;s);</a:t>
            </a:r>
            <a:endParaRPr lang="zh-CN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 algn="l"/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      输入  12:30:45</a:t>
            </a:r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</a:t>
            </a:r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  <a:endParaRPr lang="zh-CN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 algn="l"/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      则12 </a:t>
            </a:r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h, 30 </a:t>
            </a:r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m, 45 </a:t>
            </a:r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s</a:t>
            </a:r>
            <a:endParaRPr lang="zh-CN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0182" name="矩形 50181"/>
          <p:cNvSpPr txBox="1"/>
          <p:nvPr/>
        </p:nvSpPr>
        <p:spPr>
          <a:xfrm>
            <a:off x="2770188" y="2763838"/>
            <a:ext cx="4716462" cy="1016000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1440" tIns="45720" rIns="91440" bIns="45720" anchor="t" anchorCtr="0">
            <a:spAutoFit/>
          </a:bodyPr>
          <a:p>
            <a:pPr lvl="3" indent="0" algn="l"/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例  scanf(“%d,%d”,&amp;a,&amp;b)</a:t>
            </a:r>
            <a:endParaRPr lang="zh-CN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 algn="l"/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      输入  3,4  </a:t>
            </a:r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</a:t>
            </a:r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  <a:endParaRPr lang="zh-CN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 algn="l"/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       则3</a:t>
            </a:r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a, 4 </a:t>
            </a:r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b</a:t>
            </a:r>
            <a:endParaRPr lang="zh-CN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0183" name="矩形 50182"/>
          <p:cNvSpPr txBox="1"/>
          <p:nvPr/>
        </p:nvSpPr>
        <p:spPr>
          <a:xfrm>
            <a:off x="1989138" y="3411538"/>
            <a:ext cx="6616700" cy="708025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rgbClr val="025AA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1440" tIns="45720" rIns="91440" bIns="45720" anchor="t" anchorCtr="0">
            <a:spAutoFit/>
          </a:bodyPr>
          <a:p>
            <a:pPr lvl="3" indent="0" algn="l"/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例  scanf(“a=%d,b=%d,c=%d”,&amp;a,&amp;b,&amp;c);</a:t>
            </a:r>
            <a:endParaRPr lang="zh-CN" altLang="zh-CN" sz="20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 algn="l"/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</a:rPr>
              <a:t>      输入 a=12,b=24,c=36 </a:t>
            </a:r>
            <a:r>
              <a:rPr lang="zh-CN" altLang="zh-CN" sz="20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</a:t>
            </a:r>
            <a:endParaRPr lang="zh-CN" altLang="zh-CN" sz="2000">
              <a:latin typeface="Calibri" panose="020F050202020403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0184" name="矩形 50183"/>
          <p:cNvSpPr/>
          <p:nvPr/>
        </p:nvSpPr>
        <p:spPr>
          <a:xfrm>
            <a:off x="4286250" y="6057900"/>
            <a:ext cx="514350" cy="228600"/>
          </a:xfrm>
          <a:prstGeom prst="rect">
            <a:avLst/>
          </a:prstGeom>
          <a:noFill/>
          <a:ln w="38100">
            <a:noFill/>
          </a:ln>
        </p:spPr>
        <p:txBody>
          <a:bodyPr anchor="t" anchorCtr="0"/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 useBgFill="1">
        <p:nvSpPr>
          <p:cNvPr id="173063" name="动作按钮: 文档 50184">
            <a:hlinkClick r:id="rId1" action="ppaction://program"/>
          </p:cNvPr>
          <p:cNvSpPr/>
          <p:nvPr/>
        </p:nvSpPr>
        <p:spPr>
          <a:xfrm>
            <a:off x="2209800" y="5943600"/>
            <a:ext cx="533400" cy="685800"/>
          </a:xfrm>
          <a:prstGeom prst="actionButtonDocument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3064" name="标题 50187"/>
          <p:cNvSpPr>
            <a:spLocks noGrp="1"/>
          </p:cNvSpPr>
          <p:nvPr>
            <p:ph type="title"/>
          </p:nvPr>
        </p:nvSpPr>
        <p:spPr>
          <a:xfrm>
            <a:off x="2590800" y="931863"/>
            <a:ext cx="7772400" cy="752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zh-CN" altLang="en-US" sz="2400" dirty="0">
                <a:latin typeface="微软雅黑 Light" panose="020B0502040204020203" charset="-122"/>
                <a:ea typeface="微软雅黑 Light" panose="020B0502040204020203" charset="-122"/>
              </a:rPr>
              <a:t>输入分隔符的指定</a:t>
            </a:r>
            <a:br>
              <a:rPr lang="zh-CN" altLang="en-US" sz="3200" dirty="0"/>
            </a:br>
            <a:endParaRPr lang="zh-CN" altLang="en-US" sz="3200" dirty="0"/>
          </a:p>
        </p:txBody>
      </p:sp>
      <p:grpSp>
        <p:nvGrpSpPr>
          <p:cNvPr id="173065" name="组合 50188"/>
          <p:cNvGrpSpPr/>
          <p:nvPr/>
        </p:nvGrpSpPr>
        <p:grpSpPr>
          <a:xfrm>
            <a:off x="9372600" y="6057900"/>
            <a:ext cx="1047750" cy="514350"/>
            <a:chOff x="4944" y="3816"/>
            <a:chExt cx="660" cy="324"/>
          </a:xfrm>
        </p:grpSpPr>
        <p:sp>
          <p:nvSpPr>
            <p:cNvPr id="173066" name="圆角矩形 50189">
              <a:hlinkClick r:id="rId2" action="ppaction://hlinksldjump"/>
            </p:cNvPr>
            <p:cNvSpPr/>
            <p:nvPr/>
          </p:nvSpPr>
          <p:spPr>
            <a:xfrm>
              <a:off x="4944" y="3816"/>
              <a:ext cx="660" cy="324"/>
            </a:xfrm>
            <a:prstGeom prst="roundRect">
              <a:avLst>
                <a:gd name="adj" fmla="val 16667"/>
              </a:avLst>
            </a:prstGeom>
            <a:noFill/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anchor="t" anchorCtr="0"/>
            <a:p>
              <a:endParaRPr lang="zh-CN" altLang="en-US"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73067" name="组合 50190"/>
            <p:cNvGrpSpPr/>
            <p:nvPr/>
          </p:nvGrpSpPr>
          <p:grpSpPr>
            <a:xfrm>
              <a:off x="5034" y="3846"/>
              <a:ext cx="450" cy="240"/>
              <a:chOff x="4530" y="3822"/>
              <a:chExt cx="450" cy="240"/>
            </a:xfrm>
          </p:grpSpPr>
          <p:sp>
            <p:nvSpPr>
              <p:cNvPr id="173068" name="任意多边形 50191">
                <a:hlinkClick r:id="" action="ppaction://hlinkshowjump?jump=firstslide"/>
              </p:cNvPr>
              <p:cNvSpPr/>
              <p:nvPr/>
            </p:nvSpPr>
            <p:spPr>
              <a:xfrm rot="-5400000">
                <a:off x="4536" y="3816"/>
                <a:ext cx="240" cy="252"/>
              </a:xfrm>
              <a:custGeom>
                <a:avLst/>
                <a:gdLst/>
                <a:ahLst/>
                <a:cxnLst>
                  <a:cxn ang="270">
                    <a:pos x="15126" y="0"/>
                  </a:cxn>
                  <a:cxn ang="90">
                    <a:pos x="15126" y="12158"/>
                  </a:cxn>
                  <a:cxn ang="90">
                    <a:pos x="3237" y="21600"/>
                  </a:cxn>
                  <a:cxn ang="0">
                    <a:pos x="21600" y="6079"/>
                  </a:cxn>
                </a:cxnLst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73069" name="椭圆 50192"/>
              <p:cNvSpPr/>
              <p:nvPr/>
            </p:nvSpPr>
            <p:spPr>
              <a:xfrm>
                <a:off x="4800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3070" name="椭圆 50193"/>
              <p:cNvSpPr/>
              <p:nvPr/>
            </p:nvSpPr>
            <p:spPr>
              <a:xfrm>
                <a:off x="4908" y="3984"/>
                <a:ext cx="72" cy="72"/>
              </a:xfrm>
              <a:prstGeom prst="ellipse">
                <a:avLst/>
              </a:prstGeom>
              <a:solidFill>
                <a:srgbClr val="00CC00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anchor="t" anchorCtr="0"/>
              <a:p>
                <a:endParaRPr lang="zh-CN" altLang="en-US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73071" name="Text Box 5"/>
          <p:cNvSpPr txBox="1"/>
          <p:nvPr/>
        </p:nvSpPr>
        <p:spPr>
          <a:xfrm>
            <a:off x="723900" y="61913"/>
            <a:ext cx="10467975" cy="1244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、数据输入和输出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  <a:p>
            <a:pPr marL="342900" indent="-342900" algn="ctr">
              <a:spcBef>
                <a:spcPct val="50000"/>
              </a:spcBef>
            </a:pP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73072" name="文本框 65540"/>
          <p:cNvSpPr txBox="1"/>
          <p:nvPr/>
        </p:nvSpPr>
        <p:spPr>
          <a:xfrm>
            <a:off x="-66675" y="790575"/>
            <a:ext cx="8177213" cy="336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 eaLnBrk="1" hangingPunct="1">
              <a:buClr>
                <a:schemeClr val="accent2"/>
              </a:buClr>
              <a:buFont typeface="Wingdings" panose="05000000000000000000" pitchFamily="2" charset="2"/>
              <a:buChar char="u"/>
            </a:pPr>
            <a:r>
              <a:rPr lang="en-US" altLang="zh-CN" sz="1600" b="1" dirty="0">
                <a:latin typeface="微软雅黑 Light" panose="020B0502040204020203" charset="-122"/>
                <a:ea typeface="微软雅黑 Light" panose="020B0502040204020203" charset="-122"/>
              </a:rPr>
              <a:t> </a:t>
            </a:r>
            <a:r>
              <a:rPr lang="zh-CN" altLang="en-US" sz="1600" b="1" dirty="0">
                <a:latin typeface="微软雅黑 Light" panose="020B0502040204020203" charset="-122"/>
                <a:ea typeface="微软雅黑 Light" panose="020B0502040204020203" charset="-122"/>
              </a:rPr>
              <a:t>输入函数</a:t>
            </a:r>
            <a:r>
              <a:rPr lang="en-US" altLang="zh-CN" sz="1600" b="1" dirty="0">
                <a:latin typeface="微软雅黑 Light" panose="020B0502040204020203" charset="-122"/>
                <a:ea typeface="微软雅黑 Light" panose="020B0502040204020203" charset="-122"/>
              </a:rPr>
              <a:t>scanf( )</a:t>
            </a:r>
            <a:endParaRPr lang="zh-CN" altLang="en-US" sz="16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charRg st="19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charRg st="19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ldLvl="5" build="p"/>
      <p:bldP spid="50180" grpId="0" bldLvl="0" animBg="1"/>
      <p:bldP spid="50181" grpId="0" bldLvl="0" animBg="1"/>
      <p:bldP spid="50182" grpId="0" bldLvl="0" animBg="1"/>
      <p:bldP spid="50183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3" name="文本占位符 51202"/>
          <p:cNvSpPr>
            <a:spLocks noGrp="1"/>
          </p:cNvSpPr>
          <p:nvPr>
            <p:ph type="body"/>
          </p:nvPr>
        </p:nvSpPr>
        <p:spPr>
          <a:xfrm>
            <a:off x="1927225" y="530225"/>
            <a:ext cx="7772400" cy="11144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2"/>
            <a:endParaRPr lang="en-US" altLang="zh-CN" dirty="0">
              <a:solidFill>
                <a:srgbClr val="0033CC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 lvl="3">
              <a:buNone/>
            </a:pP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用“</a:t>
            </a:r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%c”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格式符时，空格和转义字符作为有效字符输入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1205" name="矩形 51204"/>
          <p:cNvSpPr/>
          <p:nvPr/>
        </p:nvSpPr>
        <p:spPr>
          <a:xfrm>
            <a:off x="2098675" y="1565275"/>
            <a:ext cx="7772400" cy="1298575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lvl="4" indent="0" algn="l"/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如 scanf(“%c%c%c”,&amp;c1,&amp;c2,&amp;c3);</a:t>
            </a:r>
            <a:endParaRPr lang="zh-CN" altLang="zh-CN" sz="18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 algn="l">
              <a:lnSpc>
                <a:spcPct val="150000"/>
              </a:lnSpc>
              <a:buSzTx/>
            </a:pP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      若输入abc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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    </a:t>
            </a:r>
            <a:endParaRPr lang="zh-CN" altLang="zh-CN" sz="18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3" indent="0" algn="l">
              <a:lnSpc>
                <a:spcPct val="150000"/>
              </a:lnSpc>
              <a:buSzTx/>
            </a:pP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      则a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c1,  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c2, b 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c3</a:t>
            </a:r>
            <a:endParaRPr lang="zh-CN" altLang="zh-CN" sz="18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1206" name="矩形 51205"/>
          <p:cNvSpPr/>
          <p:nvPr/>
        </p:nvSpPr>
        <p:spPr>
          <a:xfrm>
            <a:off x="1724025" y="1274763"/>
            <a:ext cx="7772400" cy="1698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1524000" lvl="3" indent="87630" eaLnBrk="0" hangingPunct="0">
              <a:lnSpc>
                <a:spcPct val="150000"/>
              </a:lnSpc>
              <a:buFont typeface="Wingdings" panose="05000000000000000000" pitchFamily="2" charset="2"/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输入数据时，遇以下情况认为该数据结束：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1833880" lvl="4" indent="-43180" eaLnBrk="0" hangingPunct="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 遇空格、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TAB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、或回车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1833880" lvl="4" indent="-43180" eaLnBrk="0" hangingPunct="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 遇宽度结束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marL="1833880" lvl="4" indent="-43180" eaLnBrk="0" hangingPunct="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 遇非法输入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1207" name="矩形 51206"/>
          <p:cNvSpPr/>
          <p:nvPr/>
        </p:nvSpPr>
        <p:spPr>
          <a:xfrm>
            <a:off x="2344738" y="3270250"/>
            <a:ext cx="6794500" cy="1373188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lvl="4" indent="0" algn="l"/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如  scanf(“%d%c%f”,&amp;a,&amp;b,&amp;c);</a:t>
            </a:r>
            <a:endParaRPr lang="zh-CN" altLang="zh-CN" sz="18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4" indent="0" algn="l"/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     若输入1234a123o.26 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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  <a:endParaRPr lang="zh-CN" altLang="zh-CN" sz="18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4" indent="0" algn="l"/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     则  1234 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a, ‘a’ 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b, 123 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c</a:t>
            </a:r>
            <a:endParaRPr lang="zh-CN" altLang="zh-CN" sz="18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1209" name="矩形 51208"/>
          <p:cNvSpPr/>
          <p:nvPr/>
        </p:nvSpPr>
        <p:spPr>
          <a:xfrm>
            <a:off x="1927225" y="3270250"/>
            <a:ext cx="7772400" cy="6334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3" indent="0" eaLnBrk="0" hangingPunct="0"/>
            <a:r>
              <a:rPr lang="en-US" altLang="zh-CN" dirty="0">
                <a:latin typeface="微软雅黑 Light" panose="020B0502040204020203" charset="-122"/>
                <a:ea typeface="微软雅黑 Light" panose="020B0502040204020203" charset="-122"/>
              </a:rPr>
              <a:t>   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输入函数留下的“</a:t>
            </a:r>
            <a:r>
              <a:rPr lang="zh-CN" altLang="en-US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垃圾</a:t>
            </a:r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”：</a:t>
            </a:r>
            <a:endParaRPr lang="zh-CN" altLang="en-US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1210" name="文本框 51209"/>
          <p:cNvSpPr/>
          <p:nvPr/>
        </p:nvSpPr>
        <p:spPr>
          <a:xfrm>
            <a:off x="3411538" y="3705225"/>
            <a:ext cx="3178175" cy="2032000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例  int x;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      char ch;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      scanf(“%d”,&amp;x);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      ch=getchar();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      printf(“x=%d,ch=%d\n”,x,ch);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执行：123</a:t>
            </a:r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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输出：x=123,ch=10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1212" name="文本框 51211"/>
          <p:cNvSpPr/>
          <p:nvPr/>
        </p:nvSpPr>
        <p:spPr>
          <a:xfrm>
            <a:off x="3876675" y="3768725"/>
            <a:ext cx="3178175" cy="2032000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例  int x;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      char ch;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      scanf(“%d”,&amp;x);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      scanf(“%c”,&amp;ch);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      printf(“x=%d,ch=%d\n”,x,ch);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执行：123</a:t>
            </a:r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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输出：x=123,ch=10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1213" name="文本框 51212"/>
          <p:cNvSpPr/>
          <p:nvPr/>
        </p:nvSpPr>
        <p:spPr>
          <a:xfrm>
            <a:off x="2735263" y="3725863"/>
            <a:ext cx="4376737" cy="1200150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解决方法：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（1）用getchar()清除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（2）用函数fflush(stdin)清除全部剩余内容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 (3) 用格式串中空格或“%*c”来“吃掉”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1216" name="文本框 51215"/>
          <p:cNvSpPr/>
          <p:nvPr/>
        </p:nvSpPr>
        <p:spPr>
          <a:xfrm>
            <a:off x="5781675" y="3159125"/>
            <a:ext cx="2474913" cy="1754188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例  int x;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      char ch;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      scanf(“%d”,&amp;x);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      scanf(“  %c”,&amp;ch);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或   scanf(“%*c%c”,&amp;ch);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      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1217" name="矩形 51216"/>
          <p:cNvSpPr/>
          <p:nvPr/>
        </p:nvSpPr>
        <p:spPr>
          <a:xfrm>
            <a:off x="9232900" y="7410450"/>
            <a:ext cx="552450" cy="514350"/>
          </a:xfrm>
          <a:prstGeom prst="rect">
            <a:avLst/>
          </a:prstGeom>
          <a:noFill/>
          <a:ln w="38100">
            <a:noFill/>
          </a:ln>
        </p:spPr>
        <p:txBody>
          <a:bodyPr anchor="t" anchorCtr="0"/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4091" name="标题 51219"/>
          <p:cNvSpPr>
            <a:spLocks noGrp="1"/>
          </p:cNvSpPr>
          <p:nvPr>
            <p:ph type="title"/>
          </p:nvPr>
        </p:nvSpPr>
        <p:spPr>
          <a:xfrm>
            <a:off x="2593975" y="962025"/>
            <a:ext cx="1325563" cy="3063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说明：</a:t>
            </a:r>
            <a:endParaRPr lang="zh-CN" altLang="en-US" sz="2000" b="1" dirty="0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4092" name="Text Box 5"/>
          <p:cNvSpPr txBox="1"/>
          <p:nvPr/>
        </p:nvSpPr>
        <p:spPr>
          <a:xfrm>
            <a:off x="750888" y="69850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、数据输入和输出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1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charRg st="1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1206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charRg st="22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1206">
                                            <p:txEl>
                                              <p:charRg st="22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charRg st="35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51206">
                                            <p:txEl>
                                              <p:charRg st="35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charRg st="42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51206">
                                            <p:txEl>
                                              <p:charRg st="42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51209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ldLvl="5" build="p"/>
      <p:bldP spid="51205" grpId="0" bldLvl="0" animBg="1"/>
      <p:bldP spid="51206" grpId="0" bldLvl="5" uiExpand="1" build="p"/>
      <p:bldP spid="51207" grpId="0" bldLvl="0" animBg="1"/>
      <p:bldP spid="51209" grpId="0" build="p"/>
      <p:bldP spid="51210" grpId="0" bldLvl="0" animBg="1"/>
      <p:bldP spid="51212" grpId="0" bldLvl="0" animBg="1"/>
      <p:bldP spid="51213" grpId="0" bldLvl="0" animBg="1"/>
      <p:bldP spid="51216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 useBgFill="1">
        <p:nvSpPr>
          <p:cNvPr id="175105" name="动作按钮: 文档 18437">
            <a:hlinkClick r:id="rId1" action="ppaction://program"/>
          </p:cNvPr>
          <p:cNvSpPr/>
          <p:nvPr/>
        </p:nvSpPr>
        <p:spPr>
          <a:xfrm>
            <a:off x="1752600" y="5905500"/>
            <a:ext cx="533400" cy="685800"/>
          </a:xfrm>
          <a:prstGeom prst="actionButtonDocument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8439" name="文本框 18438" descr="羊皮纸"/>
          <p:cNvSpPr txBox="1"/>
          <p:nvPr/>
        </p:nvSpPr>
        <p:spPr>
          <a:xfrm>
            <a:off x="2341563" y="1404938"/>
            <a:ext cx="8051800" cy="3476625"/>
          </a:xfrm>
          <a:prstGeom prst="rect">
            <a:avLst/>
          </a:prstGeom>
          <a:blipFill rotWithShape="0">
            <a:blip r:embed="rId2"/>
          </a:blipFill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r>
              <a:rPr lang="en-US" altLang="zh-CN" sz="2000">
                <a:solidFill>
                  <a:schemeClr val="hlink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/*ch3_12.c*/</a:t>
            </a:r>
            <a:endParaRPr lang="en-US" altLang="zh-CN" sz="2000">
              <a:solidFill>
                <a:schemeClr val="hlink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chemeClr val="hlink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#include &lt;math.h&gt;</a:t>
            </a:r>
            <a:endParaRPr lang="en-US" altLang="zh-CN" sz="2000">
              <a:solidFill>
                <a:schemeClr val="hlink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000" err="1">
                <a:solidFill>
                  <a:schemeClr val="hlink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#include &lt;stdio</a:t>
            </a:r>
            <a:r>
              <a:rPr lang="en-US" altLang="zh-CN" sz="2000">
                <a:solidFill>
                  <a:schemeClr val="hlink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.h&gt;</a:t>
            </a:r>
            <a:endParaRPr lang="en-US" altLang="zh-CN" sz="2000">
              <a:solidFill>
                <a:schemeClr val="hlink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chemeClr val="hlink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main()</a:t>
            </a:r>
            <a:endParaRPr lang="en-US" altLang="zh-CN" sz="2000">
              <a:solidFill>
                <a:schemeClr val="hlink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chemeClr val="hlink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{   float a,b,c,s,area;</a:t>
            </a:r>
            <a:endParaRPr lang="en-US" altLang="zh-CN" sz="2000">
              <a:solidFill>
                <a:schemeClr val="hlink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000" err="1">
                <a:solidFill>
                  <a:schemeClr val="hlink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  scanf</a:t>
            </a:r>
            <a:r>
              <a:rPr lang="en-US" altLang="zh-CN" sz="2000">
                <a:solidFill>
                  <a:schemeClr val="hlink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("%f,%f,%f",&amp;a,&amp;b,&amp;c);</a:t>
            </a:r>
            <a:endParaRPr lang="en-US" altLang="zh-CN" sz="2000">
              <a:solidFill>
                <a:schemeClr val="hlink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chemeClr val="hlink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  s=1.0/2*(a+b+c);</a:t>
            </a:r>
            <a:endParaRPr lang="en-US" altLang="zh-CN" sz="2000">
              <a:solidFill>
                <a:schemeClr val="hlink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000" err="1">
                <a:solidFill>
                  <a:schemeClr val="hlink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  area=sqrt</a:t>
            </a:r>
            <a:r>
              <a:rPr lang="en-US" altLang="zh-CN" sz="2000">
                <a:solidFill>
                  <a:schemeClr val="hlink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(s*(s-a)*(s-b)*(s-c));</a:t>
            </a:r>
            <a:endParaRPr lang="en-US" altLang="zh-CN" sz="2000">
              <a:solidFill>
                <a:schemeClr val="hlink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000" err="1">
                <a:solidFill>
                  <a:schemeClr val="hlink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  printf</a:t>
            </a:r>
            <a:r>
              <a:rPr lang="en-US" altLang="zh-CN" sz="2000">
                <a:solidFill>
                  <a:schemeClr val="hlink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("a=%7.2f, b=%7.2f, c=%7.2f, s=%7.2f\n",a,b,c,s);</a:t>
            </a:r>
            <a:endParaRPr lang="en-US" altLang="zh-CN" sz="2000">
              <a:solidFill>
                <a:schemeClr val="hlink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000" err="1">
                <a:solidFill>
                  <a:schemeClr val="hlink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  printf</a:t>
            </a:r>
            <a:r>
              <a:rPr lang="en-US" altLang="zh-CN" sz="2000">
                <a:solidFill>
                  <a:schemeClr val="hlink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("area=%7.2f\n",area);</a:t>
            </a:r>
            <a:endParaRPr lang="en-US" altLang="zh-CN" sz="2000">
              <a:solidFill>
                <a:schemeClr val="hlink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solidFill>
                  <a:schemeClr val="hlink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}</a:t>
            </a:r>
            <a:endParaRPr lang="en-US" altLang="zh-CN" sz="2000">
              <a:solidFill>
                <a:schemeClr val="hlink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40" name="文本框 18439"/>
          <p:cNvSpPr txBox="1"/>
          <p:nvPr/>
        </p:nvSpPr>
        <p:spPr>
          <a:xfrm>
            <a:off x="2032000" y="874713"/>
            <a:ext cx="309563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41" name="文本框 18440"/>
          <p:cNvSpPr/>
          <p:nvPr/>
        </p:nvSpPr>
        <p:spPr>
          <a:xfrm>
            <a:off x="2609850" y="4981575"/>
            <a:ext cx="4906963" cy="923925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输入：3,4,6 </a:t>
            </a:r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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输出：a=     3.00,  b=     4.00,  c=     6.00    s=     6.50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           area=    5.33</a:t>
            </a:r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8442" name="对象 18441"/>
          <p:cNvGraphicFramePr/>
          <p:nvPr/>
        </p:nvGraphicFramePr>
        <p:xfrm>
          <a:off x="5730875" y="758825"/>
          <a:ext cx="3425825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2159000" imgH="660400" progId="Equation.3">
                  <p:embed/>
                </p:oleObj>
              </mc:Choice>
              <mc:Fallback>
                <p:oleObj name="" r:id="rId3" imgW="2159000" imgH="6604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730875" y="758825"/>
                        <a:ext cx="3425825" cy="995363"/>
                      </a:xfrm>
                      <a:prstGeom prst="rect">
                        <a:avLst/>
                      </a:prstGeom>
                      <a:solidFill>
                        <a:srgbClr val="91C6F7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45" name="组合 18444"/>
          <p:cNvGrpSpPr/>
          <p:nvPr/>
        </p:nvGrpSpPr>
        <p:grpSpPr>
          <a:xfrm>
            <a:off x="5676900" y="1982788"/>
            <a:ext cx="2984500" cy="369887"/>
            <a:chOff x="2616" y="1249"/>
            <a:chExt cx="1880" cy="233"/>
          </a:xfrm>
        </p:grpSpPr>
        <p:sp>
          <p:nvSpPr>
            <p:cNvPr id="175111" name="直接连接符 18442"/>
            <p:cNvSpPr/>
            <p:nvPr/>
          </p:nvSpPr>
          <p:spPr>
            <a:xfrm>
              <a:off x="2616" y="1392"/>
              <a:ext cx="54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75112" name="文本框 18443"/>
            <p:cNvSpPr txBox="1"/>
            <p:nvPr/>
          </p:nvSpPr>
          <p:spPr>
            <a:xfrm>
              <a:off x="3087" y="1249"/>
              <a:ext cx="1409" cy="23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文件包含预处理命令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18446" name="组合 18445"/>
          <p:cNvGrpSpPr/>
          <p:nvPr/>
        </p:nvGrpSpPr>
        <p:grpSpPr>
          <a:xfrm>
            <a:off x="5610225" y="2565400"/>
            <a:ext cx="1841500" cy="369888"/>
            <a:chOff x="2616" y="1249"/>
            <a:chExt cx="1160" cy="233"/>
          </a:xfrm>
        </p:grpSpPr>
        <p:sp>
          <p:nvSpPr>
            <p:cNvPr id="175114" name="直接连接符 18446"/>
            <p:cNvSpPr/>
            <p:nvPr/>
          </p:nvSpPr>
          <p:spPr>
            <a:xfrm>
              <a:off x="2616" y="1392"/>
              <a:ext cx="54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75115" name="文本框 18447"/>
            <p:cNvSpPr txBox="1"/>
            <p:nvPr/>
          </p:nvSpPr>
          <p:spPr>
            <a:xfrm>
              <a:off x="3087" y="1249"/>
              <a:ext cx="689" cy="23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变量定义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18449" name="组合 18448"/>
          <p:cNvGrpSpPr/>
          <p:nvPr/>
        </p:nvGrpSpPr>
        <p:grpSpPr>
          <a:xfrm>
            <a:off x="6784975" y="2959100"/>
            <a:ext cx="1841500" cy="369888"/>
            <a:chOff x="2616" y="1249"/>
            <a:chExt cx="1160" cy="233"/>
          </a:xfrm>
        </p:grpSpPr>
        <p:sp>
          <p:nvSpPr>
            <p:cNvPr id="175117" name="直接连接符 18449"/>
            <p:cNvSpPr/>
            <p:nvPr/>
          </p:nvSpPr>
          <p:spPr>
            <a:xfrm>
              <a:off x="2616" y="1392"/>
              <a:ext cx="54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75118" name="文本框 18450"/>
            <p:cNvSpPr txBox="1"/>
            <p:nvPr/>
          </p:nvSpPr>
          <p:spPr>
            <a:xfrm>
              <a:off x="3087" y="1249"/>
              <a:ext cx="689" cy="23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输入数据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18455" name="组合 18454"/>
          <p:cNvGrpSpPr/>
          <p:nvPr/>
        </p:nvGrpSpPr>
        <p:grpSpPr>
          <a:xfrm>
            <a:off x="6950075" y="3821113"/>
            <a:ext cx="1860550" cy="531812"/>
            <a:chOff x="3636" y="2497"/>
            <a:chExt cx="1172" cy="335"/>
          </a:xfrm>
        </p:grpSpPr>
        <p:sp>
          <p:nvSpPr>
            <p:cNvPr id="175120" name="直接连接符 18452"/>
            <p:cNvSpPr/>
            <p:nvPr/>
          </p:nvSpPr>
          <p:spPr>
            <a:xfrm flipV="1">
              <a:off x="3636" y="2640"/>
              <a:ext cx="516" cy="19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75121" name="文本框 18453"/>
            <p:cNvSpPr txBox="1"/>
            <p:nvPr/>
          </p:nvSpPr>
          <p:spPr>
            <a:xfrm>
              <a:off x="4119" y="2497"/>
              <a:ext cx="689" cy="23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t" anchorCtr="0">
              <a:spAutoFit/>
            </a:bodyPr>
            <a:p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输出数据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  <p:sp>
        <p:nvSpPr>
          <p:cNvPr id="175122" name="标题 18457"/>
          <p:cNvSpPr>
            <a:spLocks noGrp="1"/>
          </p:cNvSpPr>
          <p:nvPr>
            <p:ph type="title"/>
          </p:nvPr>
        </p:nvSpPr>
        <p:spPr>
          <a:xfrm>
            <a:off x="2292350" y="838200"/>
            <a:ext cx="4040188" cy="4714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例  输入三角形边长，求面积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5123" name="Text Box 5"/>
          <p:cNvSpPr txBox="1"/>
          <p:nvPr/>
        </p:nvSpPr>
        <p:spPr>
          <a:xfrm>
            <a:off x="723900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、数据输入和输出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8440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9" grpId="0" bldLvl="0" animBg="1"/>
      <p:bldP spid="18440" grpId="0" build="p"/>
      <p:bldP spid="18441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平行四边形 17"/>
          <p:cNvSpPr/>
          <p:nvPr/>
        </p:nvSpPr>
        <p:spPr>
          <a:xfrm rot="10800000" flipH="1">
            <a:off x="-1566862" y="0"/>
            <a:ext cx="6986588" cy="6630988"/>
          </a:xfrm>
          <a:prstGeom prst="parallelogram">
            <a:avLst>
              <a:gd name="adj" fmla="val 560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平行四边形 18"/>
          <p:cNvSpPr/>
          <p:nvPr/>
        </p:nvSpPr>
        <p:spPr>
          <a:xfrm rot="10800000" flipH="1">
            <a:off x="112713" y="227013"/>
            <a:ext cx="7529513" cy="6630988"/>
          </a:xfrm>
          <a:prstGeom prst="parallelogram">
            <a:avLst>
              <a:gd name="adj" fmla="val 56099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76131" name="文本框 1"/>
          <p:cNvSpPr/>
          <p:nvPr/>
        </p:nvSpPr>
        <p:spPr>
          <a:xfrm>
            <a:off x="5973763" y="2432050"/>
            <a:ext cx="2722562" cy="706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40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数学库函数</a:t>
            </a:r>
            <a:endParaRPr lang="zh-CN" altLang="en-US" sz="40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76132" name="组合 1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0" y="2387600"/>
            <a:ext cx="2633663" cy="2374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>
          <a:xfrm>
            <a:off x="5822950" y="3452813"/>
            <a:ext cx="4935538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671664" y="2432501"/>
            <a:ext cx="2485054" cy="2259822"/>
            <a:chOff x="2671664" y="2432501"/>
            <a:chExt cx="2485054" cy="22598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六边形 13"/>
            <p:cNvSpPr/>
            <p:nvPr/>
          </p:nvSpPr>
          <p:spPr>
            <a:xfrm>
              <a:off x="2671664" y="2432501"/>
              <a:ext cx="2485054" cy="2142288"/>
            </a:xfrm>
            <a:prstGeom prst="hexagon">
              <a:avLst/>
            </a:prstGeom>
            <a:solidFill>
              <a:srgbClr val="08376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sp>
          <p:nvSpPr>
            <p:cNvPr id="15" name="TextBox 5"/>
            <p:cNvSpPr txBox="1"/>
            <p:nvPr/>
          </p:nvSpPr>
          <p:spPr>
            <a:xfrm>
              <a:off x="2728061" y="2939088"/>
              <a:ext cx="2316555" cy="17532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 fontAlgn="auto"/>
              <a:r>
                <a:rPr lang="en-US" altLang="zh-CN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PART    0</a:t>
              </a:r>
              <a:r>
                <a:rPr lang="en-US" sz="5400" b="1" strike="noStrike" noProof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Kartika" pitchFamily="18" charset="0"/>
                </a:rPr>
                <a:t>3</a:t>
              </a:r>
              <a:endParaRPr lang="en-US" sz="5400" b="1" strike="noStrike" noProof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rtika" pitchFamily="18" charset="0"/>
              </a:endParaRPr>
            </a:p>
          </p:txBody>
        </p:sp>
      </p:grpSp>
    </p:spTree>
  </p:cSld>
  <p:clrMapOvr>
    <a:masterClrMapping/>
  </p:clrMapOvr>
  <p:transition spd="med" advClick="0" advTm="5561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9" name="文本框 31748"/>
          <p:cNvSpPr txBox="1"/>
          <p:nvPr/>
        </p:nvSpPr>
        <p:spPr>
          <a:xfrm>
            <a:off x="2395538" y="836613"/>
            <a:ext cx="3095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54" name="文本框 31753"/>
          <p:cNvSpPr/>
          <p:nvPr/>
        </p:nvSpPr>
        <p:spPr>
          <a:xfrm>
            <a:off x="2259013" y="1404938"/>
            <a:ext cx="9390062" cy="4200525"/>
          </a:xfrm>
          <a:prstGeom prst="rect">
            <a:avLst/>
          </a:prstGeom>
          <a:solidFill>
            <a:srgbClr val="C4EFFF"/>
          </a:solidFill>
          <a:ln w="254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>
              <a:lnSpc>
                <a:spcPct val="150000"/>
              </a:lnSpc>
              <a:buSzTx/>
            </a:pPr>
            <a:r>
              <a:rPr lang="zh-CN" altLang="zh-CN" sz="2000" b="1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注意：在程序中调用数学库函数时，一定要在程序开头使用</a:t>
            </a:r>
            <a:r>
              <a:rPr lang="en-US" altLang="zh-CN" sz="2000" b="1">
                <a:solidFill>
                  <a:srgbClr val="C00000"/>
                </a:solidFill>
                <a:latin typeface="微软雅黑 Light" panose="020B0502040204020203" charset="-122"/>
                <a:ea typeface="微软雅黑 Light" panose="020B0502040204020203" charset="-122"/>
              </a:rPr>
              <a:t>#include &lt;math.h&gt;</a:t>
            </a:r>
            <a:endParaRPr lang="zh-CN" altLang="zh-CN" sz="2000" b="1">
              <a:solidFill>
                <a:srgbClr val="C0000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  <a:buSzTx/>
            </a:pPr>
            <a:r>
              <a:rPr lang="zh-CN" altLang="zh-CN" sz="200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）指数函数 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exp( x ):  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计算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e</a:t>
            </a:r>
            <a:r>
              <a:rPr lang="en-US" altLang="zh-CN" sz="2000" baseline="30000"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。如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exe(2.3)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的值是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9.974182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endParaRPr lang="zh-CN" altLang="en-US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  <a:buSzTx/>
            </a:pP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）绝对值函数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fabs( x )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：计算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| x |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。如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fabs(-2.8)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的值为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2.8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endParaRPr lang="zh-CN" altLang="en-US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  <a:buSzTx/>
            </a:pP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）以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e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为底的对数函数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log( x )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：计算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Inx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。如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log(123.45)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的值为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4.815836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endParaRPr lang="zh-CN" altLang="en-US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  <a:buSzTx/>
            </a:pP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4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）幂函数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pow( x ,y )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：计算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x</a:t>
            </a:r>
            <a:r>
              <a:rPr lang="en-US" altLang="zh-CN" sz="2000" baseline="30000">
                <a:latin typeface="微软雅黑 Light" panose="020B0502040204020203" charset="-122"/>
                <a:ea typeface="微软雅黑 Light" panose="020B0502040204020203" charset="-122"/>
              </a:rPr>
              <a:t>y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。如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pow(1.3, 2)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的值为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1.69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endParaRPr lang="zh-CN" altLang="en-US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  <a:buSzTx/>
            </a:pP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（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5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）平方根函数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sqrt( x )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：计算     。如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sqrt( 4.0 )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的值为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2.0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endParaRPr lang="zh-CN" altLang="en-US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buSzTx/>
            </a:pPr>
            <a:endParaRPr lang="zh-CN" altLang="en-US" sz="20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8179" name="标题 31757"/>
          <p:cNvSpPr>
            <a:spLocks noGrp="1"/>
          </p:cNvSpPr>
          <p:nvPr>
            <p:ph type="title"/>
          </p:nvPr>
        </p:nvSpPr>
        <p:spPr>
          <a:xfrm>
            <a:off x="2590800" y="838200"/>
            <a:ext cx="5981700" cy="508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常用的数学库函数：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8180" name="Text Box 5"/>
          <p:cNvSpPr txBox="1"/>
          <p:nvPr/>
        </p:nvSpPr>
        <p:spPr>
          <a:xfrm>
            <a:off x="723900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、数学库函数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  <a:sym typeface="宋体" panose="02010600030101010101" pitchFamily="2" charset="-122"/>
            </a:endParaRPr>
          </a:p>
        </p:txBody>
      </p:sp>
      <p:graphicFrame>
        <p:nvGraphicFramePr>
          <p:cNvPr id="178181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899150" y="4343400"/>
          <a:ext cx="3937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54000" imgH="215900" progId="Equation.KSEE3">
                  <p:embed/>
                </p:oleObj>
              </mc:Choice>
              <mc:Fallback>
                <p:oleObj name="" r:id="rId1" imgW="254000" imgH="215900" progId="Equation.KSEE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899150" y="4343400"/>
                        <a:ext cx="393700" cy="333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1749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 build="p"/>
      <p:bldP spid="31754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9" name="文本框 31748"/>
          <p:cNvSpPr txBox="1"/>
          <p:nvPr/>
        </p:nvSpPr>
        <p:spPr>
          <a:xfrm>
            <a:off x="2395538" y="836613"/>
            <a:ext cx="3095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54" name="文本框 31753"/>
          <p:cNvSpPr/>
          <p:nvPr/>
        </p:nvSpPr>
        <p:spPr>
          <a:xfrm>
            <a:off x="2197100" y="1854200"/>
            <a:ext cx="9388475" cy="4718050"/>
          </a:xfrm>
          <a:prstGeom prst="rect">
            <a:avLst/>
          </a:prstGeom>
          <a:solidFill>
            <a:srgbClr val="C4EFFF"/>
          </a:solidFill>
          <a:ln w="254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>
              <a:buSzTx/>
            </a:pP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#include &lt;stdio.h&gt;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buSzTx/>
            </a:pP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#include &lt;math.h&gt;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buSzTx/>
            </a:pP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int main( )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buSzTx/>
            </a:pP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{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buSzTx/>
            </a:pP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int x1,x2 ,sum;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buSzTx/>
            </a:pP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float aver,  root;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buSzTx/>
            </a:pP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printf(“</a:t>
            </a:r>
            <a:r>
              <a:rPr lang="zh-CN" altLang="en-US" sz="2000">
                <a:latin typeface="微软雅黑 Light" panose="020B0502040204020203" charset="-122"/>
                <a:ea typeface="微软雅黑 Light" panose="020B0502040204020203" charset="-122"/>
              </a:rPr>
              <a:t>请输入任意两个整数：</a:t>
            </a: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”);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buSzTx/>
            </a:pP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scanf(“%d,%d”,&amp;x1,&amp;x2);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buSzTx/>
            </a:pP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sum=x1+x2;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buSzTx/>
            </a:pP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aver=sum/2.0;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buSzTx/>
            </a:pP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root=sqrt (sum);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buSzTx/>
            </a:pP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printf( “x1=%d,x2=%d\n”, x1, x2);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buSzTx/>
            </a:pP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printf(“aver=%7.2f, root=%7.2f\n”, aver,root);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buSzTx/>
            </a:pP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}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buSzTx/>
            </a:pPr>
            <a:r>
              <a:rPr lang="en-US" altLang="zh-CN" sz="2000">
                <a:latin typeface="微软雅黑 Light" panose="020B0502040204020203" charset="-122"/>
                <a:ea typeface="微软雅黑 Light" panose="020B0502040204020203" charset="-122"/>
              </a:rPr>
              <a:t>  </a:t>
            </a:r>
            <a:endParaRPr lang="en-US" altLang="zh-CN" sz="200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79203" name="Text Box 5"/>
          <p:cNvSpPr txBox="1"/>
          <p:nvPr/>
        </p:nvSpPr>
        <p:spPr>
          <a:xfrm>
            <a:off x="723900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en-US" altLang="zh-CN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、数学库函数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  <a:sym typeface="宋体" panose="02010600030101010101" pitchFamily="2" charset="-122"/>
            </a:endParaRPr>
          </a:p>
        </p:txBody>
      </p:sp>
      <p:sp>
        <p:nvSpPr>
          <p:cNvPr id="179204" name="标题 31757"/>
          <p:cNvSpPr>
            <a:spLocks noGrp="1"/>
          </p:cNvSpPr>
          <p:nvPr/>
        </p:nvSpPr>
        <p:spPr>
          <a:xfrm>
            <a:off x="2197100" y="717550"/>
            <a:ext cx="8601075" cy="9572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例子：输入任意两个整数，求它们的平均值和平方根（宽度为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7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，小数点后面两位）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1749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 build="p"/>
      <p:bldP spid="31754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0225" name="Text Box 5"/>
          <p:cNvSpPr txBox="1"/>
          <p:nvPr/>
        </p:nvSpPr>
        <p:spPr>
          <a:xfrm>
            <a:off x="723900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练习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  <a:sym typeface="宋体" panose="02010600030101010101" pitchFamily="2" charset="-122"/>
            </a:endParaRPr>
          </a:p>
        </p:txBody>
      </p:sp>
      <p:sp>
        <p:nvSpPr>
          <p:cNvPr id="180226" name="标题 31757"/>
          <p:cNvSpPr>
            <a:spLocks noGrp="1"/>
          </p:cNvSpPr>
          <p:nvPr/>
        </p:nvSpPr>
        <p:spPr>
          <a:xfrm>
            <a:off x="2197100" y="708025"/>
            <a:ext cx="8601075" cy="9572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标题 31757"/>
          <p:cNvSpPr>
            <a:spLocks noGrp="1"/>
          </p:cNvSpPr>
          <p:nvPr/>
        </p:nvSpPr>
        <p:spPr>
          <a:xfrm>
            <a:off x="1112838" y="936625"/>
            <a:ext cx="9283700" cy="41116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、若变量为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float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类型，要通过语句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scanf(%f%f%f”, &amp;a,&amp;b,&amp;c); 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给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赋值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10.0,b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赋予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22.0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，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c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赋予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33.0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，则下列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B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C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D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四个答案中不正确的是（）请大家将它写成一个完整的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C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程序，使得程序运行结果是： 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a=10.0,b=10.0,c=10.0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A.  10&lt;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回车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&gt;                                     B.  10.0,22.0,33.0&lt;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回车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&gt;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      22&lt;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回车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&gt;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      33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C.  10.0&lt;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回车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&gt;                                  D.  10  22&lt;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回车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&gt;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      22.0   33.0&lt;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回车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&gt;                            33&lt;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回车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&gt;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8441" name="文本框 18440"/>
          <p:cNvSpPr/>
          <p:nvPr/>
        </p:nvSpPr>
        <p:spPr>
          <a:xfrm>
            <a:off x="5311775" y="2132013"/>
            <a:ext cx="4908550" cy="3419475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答案：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B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完整程序如下：</a:t>
            </a: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#include&lt;stdio.h&gt;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int main()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{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float a,b,c;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scanf(“%f%f%f”, &amp;a,&amp;b,&amp;c);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   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printf(“a=%.1f,b=%.1fc=%.1f”, a,b,c);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   return 0;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}y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1" grpId="0" bldLvl="0" animBg="1"/>
      <p:bldP spid="2" grpId="0"/>
      <p:bldP spid="2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1249" name="Text Box 5"/>
          <p:cNvSpPr txBox="1"/>
          <p:nvPr/>
        </p:nvSpPr>
        <p:spPr>
          <a:xfrm>
            <a:off x="723900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练习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  <a:sym typeface="宋体" panose="02010600030101010101" pitchFamily="2" charset="-122"/>
            </a:endParaRPr>
          </a:p>
        </p:txBody>
      </p:sp>
      <p:sp>
        <p:nvSpPr>
          <p:cNvPr id="181250" name="标题 31757"/>
          <p:cNvSpPr>
            <a:spLocks noGrp="1"/>
          </p:cNvSpPr>
          <p:nvPr/>
        </p:nvSpPr>
        <p:spPr>
          <a:xfrm>
            <a:off x="2197100" y="708025"/>
            <a:ext cx="8601075" cy="9572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标题 31757"/>
          <p:cNvSpPr>
            <a:spLocks noGrp="1"/>
          </p:cNvSpPr>
          <p:nvPr/>
        </p:nvSpPr>
        <p:spPr>
          <a:xfrm>
            <a:off x="2027238" y="1006475"/>
            <a:ext cx="8601075" cy="50307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2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、阅读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以下程序，当输入数据的形式为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：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12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，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34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，正确的输出结果为（  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).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#include &lt;stdio.h&gt;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int main( 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）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{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int  a,b;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scanf(“%d%d”, &amp;a,&amp;b);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printf(“a+b=%d\n”,a+b);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return 0;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}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A.  a+b=46                                  B.  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有语法错误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C.  a+b=12                                   D.  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不确定值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                    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</p:txBody>
      </p:sp>
      <p:sp>
        <p:nvSpPr>
          <p:cNvPr id="18441" name="文本框 18440"/>
          <p:cNvSpPr/>
          <p:nvPr/>
        </p:nvSpPr>
        <p:spPr>
          <a:xfrm>
            <a:off x="6116638" y="1665288"/>
            <a:ext cx="4906962" cy="2722562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答案：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D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因为输入语句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scanf(“%d%d”,&amp;a,&amp;b)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要求输入的</a:t>
            </a: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两个数之间以空格或回车分隔，而题意中给的</a:t>
            </a: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两个数以逗号分隔，导致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b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的值为一个不确定</a:t>
            </a: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数，所有其值为不确定。</a:t>
            </a: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1" grpId="0" bldLvl="0" animBg="1"/>
      <p:bldP spid="2" grpId="0"/>
      <p:bldP spid="2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2273" name="Text Box 5"/>
          <p:cNvSpPr txBox="1"/>
          <p:nvPr/>
        </p:nvSpPr>
        <p:spPr>
          <a:xfrm>
            <a:off x="723900" y="61913"/>
            <a:ext cx="104679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ctr">
              <a:spcBef>
                <a:spcPct val="50000"/>
              </a:spcBef>
            </a:pPr>
            <a:r>
              <a:rPr lang="zh-CN" altLang="en-US" sz="3000" b="1" dirty="0">
                <a:latin typeface="方正兰亭黑简体" pitchFamily="2" charset="-122"/>
                <a:ea typeface="方正兰亭黑简体" pitchFamily="2" charset="-122"/>
                <a:sym typeface="宋体" panose="02010600030101010101" pitchFamily="2" charset="-122"/>
              </a:rPr>
              <a:t>练习</a:t>
            </a:r>
            <a:endParaRPr lang="zh-CN" altLang="en-US" sz="3000" b="1" dirty="0">
              <a:latin typeface="方正兰亭黑简体" pitchFamily="2" charset="-122"/>
              <a:ea typeface="方正兰亭黑简体" pitchFamily="2" charset="-122"/>
              <a:sym typeface="宋体" panose="02010600030101010101" pitchFamily="2" charset="-122"/>
            </a:endParaRPr>
          </a:p>
        </p:txBody>
      </p:sp>
      <p:sp>
        <p:nvSpPr>
          <p:cNvPr id="182274" name="标题 31757"/>
          <p:cNvSpPr>
            <a:spLocks noGrp="1"/>
          </p:cNvSpPr>
          <p:nvPr/>
        </p:nvSpPr>
        <p:spPr>
          <a:xfrm>
            <a:off x="2197100" y="708025"/>
            <a:ext cx="8601075" cy="9572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标题 31757"/>
          <p:cNvSpPr>
            <a:spLocks noGrp="1"/>
          </p:cNvSpPr>
          <p:nvPr/>
        </p:nvSpPr>
        <p:spPr>
          <a:xfrm>
            <a:off x="1957388" y="708025"/>
            <a:ext cx="8601075" cy="44418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3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、有如下程序，若要求求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x1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x2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y1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y2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的值分别为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10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20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A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、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</a:rPr>
              <a:t>B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</a:rPr>
              <a:t>，正确的数据输入应该为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（  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)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。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int x1,x2;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char y1,y2;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scanf(“%d%d”, &amp;x1,&amp;x2);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scanf(“%c%c”,&amp;y1,&amp;y2);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A.  1020AB                                    B.  10  20  AB</a:t>
            </a:r>
            <a:endParaRPr lang="zh-CN" altLang="en-US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C.  10   20&lt;</a:t>
            </a:r>
            <a:r>
              <a:rPr lang="zh-CN" altLang="en-US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回车</a:t>
            </a: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&gt;                          D.  10  20AB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 Light" panose="020B0502040204020203" charset="-122"/>
                <a:ea typeface="微软雅黑 Light" panose="020B0502040204020203" charset="-122"/>
                <a:sym typeface="宋体" panose="02010600030101010101" pitchFamily="2" charset="-122"/>
              </a:rPr>
              <a:t>        AB                       </a:t>
            </a:r>
            <a:endParaRPr lang="en-US" altLang="zh-CN" sz="2000" dirty="0">
              <a:latin typeface="微软雅黑 Light" panose="020B0502040204020203" charset="-122"/>
              <a:ea typeface="微软雅黑 Light" panose="020B0502040204020203" charset="-122"/>
              <a:sym typeface="宋体" panose="02010600030101010101" pitchFamily="2" charset="-122"/>
            </a:endParaRPr>
          </a:p>
        </p:txBody>
      </p:sp>
      <p:sp>
        <p:nvSpPr>
          <p:cNvPr id="18441" name="文本框 18440"/>
          <p:cNvSpPr/>
          <p:nvPr/>
        </p:nvSpPr>
        <p:spPr>
          <a:xfrm>
            <a:off x="8193088" y="4095750"/>
            <a:ext cx="2501900" cy="855663"/>
          </a:xfrm>
          <a:prstGeom prst="rect">
            <a:avLst/>
          </a:prstGeom>
          <a:solidFill>
            <a:srgbClr val="C4EFFF"/>
          </a:solidFill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r>
              <a:rPr lang="zh-CN" altLang="zh-CN">
                <a:latin typeface="Calibri" panose="020F0502020204030204" pitchFamily="34" charset="0"/>
                <a:ea typeface="宋体" panose="02010600030101010101" pitchFamily="2" charset="-122"/>
              </a:rPr>
              <a:t>答案：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D</a:t>
            </a:r>
            <a:endParaRPr lang="en-US" altLang="zh-CN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1" grpId="0" bldLvl="0" animBg="1"/>
      <p:bldP spid="2" grpId="0"/>
      <p:bldP spid="2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 l="-23000" r="-23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3298" name="文本框 39"/>
          <p:cNvSpPr txBox="1"/>
          <p:nvPr/>
        </p:nvSpPr>
        <p:spPr>
          <a:xfrm flipH="1">
            <a:off x="3678238" y="2095500"/>
            <a:ext cx="4705350" cy="12001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7200" b="1" dirty="0">
                <a:solidFill>
                  <a:srgbClr val="0837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 聆 听</a:t>
            </a:r>
            <a:endParaRPr lang="zh-CN" altLang="en-US" sz="7200" b="1" dirty="0">
              <a:solidFill>
                <a:srgbClr val="08376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p="http://schemas.openxmlformats.org/presentationml/2006/main">
  <p:tag name="commondata" val="eyJoZGlkIjoiZDIwOTRkNDE3NmQ4NDYwNDBkZWExNmIxNjExMzhhNDcifQ=="/>
</p:tagLst>
</file>

<file path=ppt/theme/theme1.xml><?xml version="1.0" encoding="utf-8"?>
<a:theme xmlns:a="http://schemas.openxmlformats.org/drawingml/2006/main" name="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6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4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5_Office 主题">
  <a:themeElements>
    <a:clrScheme name="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25AA2"/>
      </a:hlink>
      <a:folHlink>
        <a:srgbClr val="025AA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 cap="sq" cmpd="sng">
          <a:solidFill>
            <a:schemeClr val="accent1"/>
          </a:solidFill>
          <a:prstDash val="solid"/>
          <a:round/>
          <a:headEnd type="none" w="sm" len="sm"/>
          <a:tailEnd type="none" w="sm" len="sm"/>
        </a:ln>
      </a:spPr>
      <a:bodyPr anchor="t"/>
      <a:lstStyle>
        <a:defPPr>
          <a:defRPr lang="zh-CN" altLang="en-US"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txDef>
      <a:spPr>
        <a:gradFill rotWithShape="0">
          <a:gsLst>
            <a:gs pos="0">
              <a:schemeClr val="accent1">
                <a:gamma/>
                <a:shade val="70980"/>
                <a:invGamma/>
              </a:schemeClr>
            </a:gs>
            <a:gs pos="50000">
              <a:schemeClr val="accent1"/>
            </a:gs>
            <a:gs pos="100000">
              <a:schemeClr val="accent1">
                <a:gamma/>
                <a:shade val="70980"/>
                <a:invGamma/>
              </a:schemeClr>
            </a:gs>
          </a:gsLst>
          <a:lin ang="5400000" scaled="1"/>
          <a:tileRect/>
        </a:gradFill>
        <a:ln w="12700" cap="sq" cmpd="sng">
          <a:prstDash val="solid"/>
          <a:miter/>
          <a:headEnd type="none" w="sm" len="sm"/>
          <a:tailEnd type="none" w="sm" len="sm"/>
        </a:ln>
        <a:scene3d>
          <a:camera prst="legacyObliqueTopRight">
            <a:rot lat="0" lon="0" rev="0"/>
          </a:camera>
          <a:lightRig rig="legacyFlat2" dir="t"/>
        </a:scene3d>
        <a:sp3d extrusionH="2270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eaVert" anchor="ctr">
        <a:spAutoFit/>
        <a:flatTx/>
      </a:bodyPr>
      <a:lstStyle>
        <a:defPPr algn="ctr">
          <a:defRPr lang="zh-CN" altLang="en-US" dirty="0">
            <a:latin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7242</Words>
  <Application>WPS 演示</Application>
  <PresentationFormat>宽屏</PresentationFormat>
  <Paragraphs>590</Paragraphs>
  <Slides>28</Slides>
  <Notes>7</Notes>
  <HiddenSlides>0</HiddenSlides>
  <MMClips>1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16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62" baseType="lpstr">
      <vt:lpstr>Arial</vt:lpstr>
      <vt:lpstr>宋体</vt:lpstr>
      <vt:lpstr>Wingdings</vt:lpstr>
      <vt:lpstr>Calibri</vt:lpstr>
      <vt:lpstr>Times New Roman</vt:lpstr>
      <vt:lpstr>微软雅黑</vt:lpstr>
      <vt:lpstr>Kartika</vt:lpstr>
      <vt:lpstr>AMGDT</vt:lpstr>
      <vt:lpstr>微软雅黑 Light</vt:lpstr>
      <vt:lpstr>方正兰亭黑简体</vt:lpstr>
      <vt:lpstr>黑体</vt:lpstr>
      <vt:lpstr>Arial Unicode MS</vt:lpstr>
      <vt:lpstr>Symbol</vt:lpstr>
      <vt:lpstr>隶书</vt:lpstr>
      <vt:lpstr>Verdana</vt:lpstr>
      <vt:lpstr>Calibri Light</vt:lpstr>
      <vt:lpstr>Office 主题</vt:lpstr>
      <vt:lpstr>1_Office 主题</vt:lpstr>
      <vt:lpstr>2_Office 主题</vt:lpstr>
      <vt:lpstr>3_Office 主题</vt:lpstr>
      <vt:lpstr>4_Office 主题</vt:lpstr>
      <vt:lpstr>5_Office 主题</vt:lpstr>
      <vt:lpstr>7_Office 主题</vt:lpstr>
      <vt:lpstr>8_Office 主题</vt:lpstr>
      <vt:lpstr>9_Office 主题</vt:lpstr>
      <vt:lpstr>10_Office 主题</vt:lpstr>
      <vt:lpstr>6_Office 主题</vt:lpstr>
      <vt:lpstr>11_Office 主题</vt:lpstr>
      <vt:lpstr>12_Office 主题</vt:lpstr>
      <vt:lpstr>13_Office 主题</vt:lpstr>
      <vt:lpstr>14_Office 主题</vt:lpstr>
      <vt:lpstr>15_Office 主题</vt:lpstr>
      <vt:lpstr>Equation.3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附加格式说明符（修饰符）</vt:lpstr>
      <vt:lpstr>例</vt:lpstr>
      <vt:lpstr>修饰符功能</vt:lpstr>
      <vt:lpstr>输入分隔符的指定 </vt:lpstr>
      <vt:lpstr>说明：</vt:lpstr>
      <vt:lpstr>例  输入三角形边长，求面积</vt:lpstr>
      <vt:lpstr>PowerPoint 演示文稿</vt:lpstr>
      <vt:lpstr>常用的数学库函数：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模板074.pptx</dc:title>
  <dc:creator/>
  <cp:lastModifiedBy>企业用户_703751075</cp:lastModifiedBy>
  <cp:revision>123</cp:revision>
  <dcterms:created xsi:type="dcterms:W3CDTF">2016-11-27T09:22:00Z</dcterms:created>
  <dcterms:modified xsi:type="dcterms:W3CDTF">2025-10-23T13:04:20Z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2052-12.1.0.17147</vt:lpwstr>
  </property>
  <property fmtid="{D5CDD505-2E9C-101B-9397-08002B2CF9AE}" pid="3" name="ICV">
    <vt:lpwstr>651141696C174801B72EBBF87B2C5526_12</vt:lpwstr>
  </property>
</Properties>
</file>
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gif" ContentType="image/gi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8" r:id="rId4"/>
    <p:sldMasterId id="2147483678" r:id="rId5"/>
    <p:sldMasterId id="2147483688" r:id="rId6"/>
    <p:sldMasterId id="2147483698" r:id="rId7"/>
    <p:sldMasterId id="2147483708" r:id="rId8"/>
    <p:sldMasterId id="2147483718" r:id="rId9"/>
    <p:sldMasterId id="2147483728" r:id="rId10"/>
    <p:sldMasterId id="2147483738" r:id="rId11"/>
    <p:sldMasterId id="2147483748" r:id="rId12"/>
    <p:sldMasterId id="2147483758" r:id="rId13"/>
    <p:sldMasterId id="2147483768" r:id="rId14"/>
    <p:sldMasterId id="2147483778" r:id="rId15"/>
    <p:sldMasterId id="2147483788" r:id="rId16"/>
    <p:sldMasterId id="2147483798" r:id="rId17"/>
    <p:sldMasterId id="2147483808" r:id="rId18"/>
    <p:sldMasterId id="2147483818" r:id="rId19"/>
    <p:sldMasterId id="2147483828" r:id="rId20"/>
    <p:sldMasterId id="2147483838" r:id="rId21"/>
    <p:sldMasterId id="2147483848" r:id="rId22"/>
    <p:sldMasterId id="2147483858" r:id="rId23"/>
    <p:sldMasterId id="2147483868" r:id="rId24"/>
    <p:sldMasterId id="2147483878" r:id="rId25"/>
    <p:sldMasterId id="2147483888" r:id="rId26"/>
    <p:sldMasterId id="2147483898" r:id="rId27"/>
    <p:sldMasterId id="2147483908" r:id="rId28"/>
    <p:sldMasterId id="2147483918" r:id="rId29"/>
    <p:sldMasterId id="2147483928" r:id="rId30"/>
    <p:sldMasterId id="2147483938" r:id="rId31"/>
    <p:sldMasterId id="2147483948" r:id="rId32"/>
    <p:sldMasterId id="2147483958" r:id="rId33"/>
    <p:sldMasterId id="2147483968" r:id="rId34"/>
    <p:sldMasterId id="2147483978" r:id="rId35"/>
    <p:sldMasterId id="2147483988" r:id="rId36"/>
    <p:sldMasterId id="2147483998" r:id="rId37"/>
    <p:sldMasterId id="2147484008" r:id="rId38"/>
    <p:sldMasterId id="2147484018" r:id="rId39"/>
  </p:sldMasterIdLst>
  <p:notesMasterIdLst>
    <p:notesMasterId r:id="rId41"/>
  </p:notesMasterIdLst>
  <p:sldIdLst>
    <p:sldId id="256" r:id="rId40"/>
    <p:sldId id="500" r:id="rId42"/>
    <p:sldId id="501" r:id="rId43"/>
    <p:sldId id="439" r:id="rId44"/>
    <p:sldId id="549" r:id="rId45"/>
    <p:sldId id="755" r:id="rId46"/>
    <p:sldId id="550" r:id="rId47"/>
    <p:sldId id="551" r:id="rId48"/>
    <p:sldId id="552" r:id="rId49"/>
    <p:sldId id="553" r:id="rId50"/>
    <p:sldId id="554" r:id="rId51"/>
    <p:sldId id="555" r:id="rId52"/>
    <p:sldId id="556" r:id="rId53"/>
    <p:sldId id="536" r:id="rId54"/>
    <p:sldId id="557" r:id="rId55"/>
    <p:sldId id="558" r:id="rId56"/>
    <p:sldId id="537" r:id="rId57"/>
    <p:sldId id="559" r:id="rId58"/>
    <p:sldId id="629" r:id="rId59"/>
    <p:sldId id="560" r:id="rId60"/>
    <p:sldId id="595" r:id="rId61"/>
    <p:sldId id="630" r:id="rId62"/>
    <p:sldId id="561" r:id="rId63"/>
    <p:sldId id="562" r:id="rId64"/>
    <p:sldId id="563" r:id="rId65"/>
    <p:sldId id="564" r:id="rId66"/>
    <p:sldId id="565" r:id="rId67"/>
    <p:sldId id="631" r:id="rId68"/>
    <p:sldId id="632" r:id="rId69"/>
    <p:sldId id="596" r:id="rId70"/>
    <p:sldId id="633" r:id="rId71"/>
    <p:sldId id="700" r:id="rId72"/>
    <p:sldId id="566" r:id="rId73"/>
    <p:sldId id="567" r:id="rId74"/>
    <p:sldId id="637" r:id="rId75"/>
    <p:sldId id="638" r:id="rId76"/>
    <p:sldId id="546" r:id="rId77"/>
    <p:sldId id="568" r:id="rId78"/>
    <p:sldId id="569" r:id="rId79"/>
    <p:sldId id="570" r:id="rId80"/>
    <p:sldId id="571" r:id="rId81"/>
    <p:sldId id="572" r:id="rId82"/>
    <p:sldId id="573" r:id="rId83"/>
    <p:sldId id="687" r:id="rId84"/>
    <p:sldId id="691" r:id="rId85"/>
    <p:sldId id="574" r:id="rId86"/>
    <p:sldId id="635" r:id="rId87"/>
    <p:sldId id="701" r:id="rId88"/>
    <p:sldId id="636" r:id="rId89"/>
    <p:sldId id="697" r:id="rId90"/>
    <p:sldId id="575" r:id="rId91"/>
    <p:sldId id="634" r:id="rId92"/>
    <p:sldId id="576" r:id="rId93"/>
    <p:sldId id="577" r:id="rId94"/>
    <p:sldId id="578" r:id="rId95"/>
    <p:sldId id="579" r:id="rId96"/>
    <p:sldId id="686" r:id="rId97"/>
    <p:sldId id="580" r:id="rId98"/>
    <p:sldId id="689" r:id="rId99"/>
    <p:sldId id="639" r:id="rId100"/>
    <p:sldId id="640" r:id="rId101"/>
    <p:sldId id="581" r:id="rId102"/>
    <p:sldId id="582" r:id="rId103"/>
    <p:sldId id="583" r:id="rId104"/>
    <p:sldId id="676" r:id="rId105"/>
    <p:sldId id="757" r:id="rId106"/>
    <p:sldId id="584" r:id="rId107"/>
    <p:sldId id="585" r:id="rId108"/>
    <p:sldId id="586" r:id="rId109"/>
    <p:sldId id="587" r:id="rId110"/>
    <p:sldId id="753" r:id="rId111"/>
    <p:sldId id="688" r:id="rId112"/>
    <p:sldId id="752" r:id="rId113"/>
    <p:sldId id="754" r:id="rId114"/>
    <p:sldId id="588" r:id="rId115"/>
    <p:sldId id="835" r:id="rId116"/>
    <p:sldId id="589" r:id="rId117"/>
    <p:sldId id="692" r:id="rId118"/>
    <p:sldId id="693" r:id="rId119"/>
    <p:sldId id="694" r:id="rId120"/>
    <p:sldId id="698" r:id="rId121"/>
    <p:sldId id="699" r:id="rId122"/>
    <p:sldId id="695" r:id="rId123"/>
    <p:sldId id="696" r:id="rId124"/>
    <p:sldId id="271" r:id="rId125"/>
  </p:sldIdLst>
  <p:sldSz cx="12192000" cy="6858000"/>
  <p:notesSz cx="6858000" cy="9144000"/>
  <p:custDataLst>
    <p:tags r:id="rId12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7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83763"/>
    <a:srgbClr val="025AA2"/>
    <a:srgbClr val="1C1C1C"/>
    <a:srgbClr val="D16809"/>
    <a:srgbClr val="319095"/>
    <a:srgbClr val="F5F5F5"/>
    <a:srgbClr val="5FCACB"/>
    <a:srgbClr val="F5841C"/>
    <a:srgbClr val="A0BF0D"/>
    <a:srgbClr val="FD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130"/>
    <p:restoredTop sz="83721"/>
  </p:normalViewPr>
  <p:slideViewPr>
    <p:cSldViewPr snapToGrid="0" showGuides="1">
      <p:cViewPr varScale="1">
        <p:scale>
          <a:sx n="95" d="100"/>
          <a:sy n="95" d="100"/>
        </p:scale>
        <p:origin x="954" y="96"/>
      </p:cViewPr>
      <p:guideLst>
        <p:guide orient="horz" pos="2185"/>
        <p:guide pos="37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59.xml"/><Relationship Id="rId98" Type="http://schemas.openxmlformats.org/officeDocument/2006/relationships/slide" Target="slides/slide58.xml"/><Relationship Id="rId97" Type="http://schemas.openxmlformats.org/officeDocument/2006/relationships/slide" Target="slides/slide57.xml"/><Relationship Id="rId96" Type="http://schemas.openxmlformats.org/officeDocument/2006/relationships/slide" Target="slides/slide56.xml"/><Relationship Id="rId95" Type="http://schemas.openxmlformats.org/officeDocument/2006/relationships/slide" Target="slides/slide55.xml"/><Relationship Id="rId94" Type="http://schemas.openxmlformats.org/officeDocument/2006/relationships/slide" Target="slides/slide54.xml"/><Relationship Id="rId93" Type="http://schemas.openxmlformats.org/officeDocument/2006/relationships/slide" Target="slides/slide53.xml"/><Relationship Id="rId92" Type="http://schemas.openxmlformats.org/officeDocument/2006/relationships/slide" Target="slides/slide52.xml"/><Relationship Id="rId91" Type="http://schemas.openxmlformats.org/officeDocument/2006/relationships/slide" Target="slides/slide51.xml"/><Relationship Id="rId90" Type="http://schemas.openxmlformats.org/officeDocument/2006/relationships/slide" Target="slides/slide50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9.xml"/><Relationship Id="rId88" Type="http://schemas.openxmlformats.org/officeDocument/2006/relationships/slide" Target="slides/slide48.xml"/><Relationship Id="rId87" Type="http://schemas.openxmlformats.org/officeDocument/2006/relationships/slide" Target="slides/slide47.xml"/><Relationship Id="rId86" Type="http://schemas.openxmlformats.org/officeDocument/2006/relationships/slide" Target="slides/slide46.xml"/><Relationship Id="rId85" Type="http://schemas.openxmlformats.org/officeDocument/2006/relationships/slide" Target="slides/slide45.xml"/><Relationship Id="rId84" Type="http://schemas.openxmlformats.org/officeDocument/2006/relationships/slide" Target="slides/slide44.xml"/><Relationship Id="rId83" Type="http://schemas.openxmlformats.org/officeDocument/2006/relationships/slide" Target="slides/slide43.xml"/><Relationship Id="rId82" Type="http://schemas.openxmlformats.org/officeDocument/2006/relationships/slide" Target="slides/slide42.xml"/><Relationship Id="rId81" Type="http://schemas.openxmlformats.org/officeDocument/2006/relationships/slide" Target="slides/slide41.xml"/><Relationship Id="rId80" Type="http://schemas.openxmlformats.org/officeDocument/2006/relationships/slide" Target="slides/slide40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9.xml"/><Relationship Id="rId78" Type="http://schemas.openxmlformats.org/officeDocument/2006/relationships/slide" Target="slides/slide38.xml"/><Relationship Id="rId77" Type="http://schemas.openxmlformats.org/officeDocument/2006/relationships/slide" Target="slides/slide37.xml"/><Relationship Id="rId76" Type="http://schemas.openxmlformats.org/officeDocument/2006/relationships/slide" Target="slides/slide36.xml"/><Relationship Id="rId75" Type="http://schemas.openxmlformats.org/officeDocument/2006/relationships/slide" Target="slides/slide35.xml"/><Relationship Id="rId74" Type="http://schemas.openxmlformats.org/officeDocument/2006/relationships/slide" Target="slides/slide34.xml"/><Relationship Id="rId73" Type="http://schemas.openxmlformats.org/officeDocument/2006/relationships/slide" Target="slides/slide33.xml"/><Relationship Id="rId72" Type="http://schemas.openxmlformats.org/officeDocument/2006/relationships/slide" Target="slides/slide32.xml"/><Relationship Id="rId71" Type="http://schemas.openxmlformats.org/officeDocument/2006/relationships/slide" Target="slides/slide31.xml"/><Relationship Id="rId70" Type="http://schemas.openxmlformats.org/officeDocument/2006/relationships/slide" Target="slides/slide30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9.xml"/><Relationship Id="rId68" Type="http://schemas.openxmlformats.org/officeDocument/2006/relationships/slide" Target="slides/slide28.xml"/><Relationship Id="rId67" Type="http://schemas.openxmlformats.org/officeDocument/2006/relationships/slide" Target="slides/slide27.xml"/><Relationship Id="rId66" Type="http://schemas.openxmlformats.org/officeDocument/2006/relationships/slide" Target="slides/slide26.xml"/><Relationship Id="rId65" Type="http://schemas.openxmlformats.org/officeDocument/2006/relationships/slide" Target="slides/slide25.xml"/><Relationship Id="rId64" Type="http://schemas.openxmlformats.org/officeDocument/2006/relationships/slide" Target="slides/slide24.xml"/><Relationship Id="rId63" Type="http://schemas.openxmlformats.org/officeDocument/2006/relationships/slide" Target="slides/slide23.xml"/><Relationship Id="rId62" Type="http://schemas.openxmlformats.org/officeDocument/2006/relationships/slide" Target="slides/slide22.xml"/><Relationship Id="rId61" Type="http://schemas.openxmlformats.org/officeDocument/2006/relationships/slide" Target="slides/slide21.xml"/><Relationship Id="rId60" Type="http://schemas.openxmlformats.org/officeDocument/2006/relationships/slide" Target="slides/slide2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9.xml"/><Relationship Id="rId58" Type="http://schemas.openxmlformats.org/officeDocument/2006/relationships/slide" Target="slides/slide18.xml"/><Relationship Id="rId57" Type="http://schemas.openxmlformats.org/officeDocument/2006/relationships/slide" Target="slides/slide17.xml"/><Relationship Id="rId56" Type="http://schemas.openxmlformats.org/officeDocument/2006/relationships/slide" Target="slides/slide16.xml"/><Relationship Id="rId55" Type="http://schemas.openxmlformats.org/officeDocument/2006/relationships/slide" Target="slides/slide15.xml"/><Relationship Id="rId54" Type="http://schemas.openxmlformats.org/officeDocument/2006/relationships/slide" Target="slides/slide14.xml"/><Relationship Id="rId53" Type="http://schemas.openxmlformats.org/officeDocument/2006/relationships/slide" Target="slides/slide13.xml"/><Relationship Id="rId52" Type="http://schemas.openxmlformats.org/officeDocument/2006/relationships/slide" Target="slides/slide12.xml"/><Relationship Id="rId51" Type="http://schemas.openxmlformats.org/officeDocument/2006/relationships/slide" Target="slides/slide11.xml"/><Relationship Id="rId50" Type="http://schemas.openxmlformats.org/officeDocument/2006/relationships/slide" Target="slides/slide1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9.xml"/><Relationship Id="rId48" Type="http://schemas.openxmlformats.org/officeDocument/2006/relationships/slide" Target="slides/slide8.xml"/><Relationship Id="rId47" Type="http://schemas.openxmlformats.org/officeDocument/2006/relationships/slide" Target="slides/slide7.xml"/><Relationship Id="rId46" Type="http://schemas.openxmlformats.org/officeDocument/2006/relationships/slide" Target="slides/slide6.xml"/><Relationship Id="rId45" Type="http://schemas.openxmlformats.org/officeDocument/2006/relationships/slide" Target="slides/slide5.xml"/><Relationship Id="rId44" Type="http://schemas.openxmlformats.org/officeDocument/2006/relationships/slide" Target="slides/slide4.xml"/><Relationship Id="rId43" Type="http://schemas.openxmlformats.org/officeDocument/2006/relationships/slide" Target="slides/slide3.xml"/><Relationship Id="rId42" Type="http://schemas.openxmlformats.org/officeDocument/2006/relationships/slide" Target="slides/slide2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9" Type="http://schemas.openxmlformats.org/officeDocument/2006/relationships/tags" Target="tags/tag5.xml"/><Relationship Id="rId128" Type="http://schemas.openxmlformats.org/officeDocument/2006/relationships/tableStyles" Target="tableStyles.xml"/><Relationship Id="rId127" Type="http://schemas.openxmlformats.org/officeDocument/2006/relationships/viewProps" Target="viewProps.xml"/><Relationship Id="rId126" Type="http://schemas.openxmlformats.org/officeDocument/2006/relationships/presProps" Target="presProps.xml"/><Relationship Id="rId125" Type="http://schemas.openxmlformats.org/officeDocument/2006/relationships/slide" Target="slides/slide85.xml"/><Relationship Id="rId124" Type="http://schemas.openxmlformats.org/officeDocument/2006/relationships/slide" Target="slides/slide84.xml"/><Relationship Id="rId123" Type="http://schemas.openxmlformats.org/officeDocument/2006/relationships/slide" Target="slides/slide83.xml"/><Relationship Id="rId122" Type="http://schemas.openxmlformats.org/officeDocument/2006/relationships/slide" Target="slides/slide82.xml"/><Relationship Id="rId121" Type="http://schemas.openxmlformats.org/officeDocument/2006/relationships/slide" Target="slides/slide81.xml"/><Relationship Id="rId120" Type="http://schemas.openxmlformats.org/officeDocument/2006/relationships/slide" Target="slides/slide80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79.xml"/><Relationship Id="rId118" Type="http://schemas.openxmlformats.org/officeDocument/2006/relationships/slide" Target="slides/slide78.xml"/><Relationship Id="rId117" Type="http://schemas.openxmlformats.org/officeDocument/2006/relationships/slide" Target="slides/slide77.xml"/><Relationship Id="rId116" Type="http://schemas.openxmlformats.org/officeDocument/2006/relationships/slide" Target="slides/slide76.xml"/><Relationship Id="rId115" Type="http://schemas.openxmlformats.org/officeDocument/2006/relationships/slide" Target="slides/slide75.xml"/><Relationship Id="rId114" Type="http://schemas.openxmlformats.org/officeDocument/2006/relationships/slide" Target="slides/slide74.xml"/><Relationship Id="rId113" Type="http://schemas.openxmlformats.org/officeDocument/2006/relationships/slide" Target="slides/slide73.xml"/><Relationship Id="rId112" Type="http://schemas.openxmlformats.org/officeDocument/2006/relationships/slide" Target="slides/slide72.xml"/><Relationship Id="rId111" Type="http://schemas.openxmlformats.org/officeDocument/2006/relationships/slide" Target="slides/slide71.xml"/><Relationship Id="rId110" Type="http://schemas.openxmlformats.org/officeDocument/2006/relationships/slide" Target="slides/slide70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69.xml"/><Relationship Id="rId108" Type="http://schemas.openxmlformats.org/officeDocument/2006/relationships/slide" Target="slides/slide68.xml"/><Relationship Id="rId107" Type="http://schemas.openxmlformats.org/officeDocument/2006/relationships/slide" Target="slides/slide67.xml"/><Relationship Id="rId106" Type="http://schemas.openxmlformats.org/officeDocument/2006/relationships/slide" Target="slides/slide66.xml"/><Relationship Id="rId105" Type="http://schemas.openxmlformats.org/officeDocument/2006/relationships/slide" Target="slides/slide65.xml"/><Relationship Id="rId104" Type="http://schemas.openxmlformats.org/officeDocument/2006/relationships/slide" Target="slides/slide64.xml"/><Relationship Id="rId103" Type="http://schemas.openxmlformats.org/officeDocument/2006/relationships/slide" Target="slides/slide63.xml"/><Relationship Id="rId102" Type="http://schemas.openxmlformats.org/officeDocument/2006/relationships/slide" Target="slides/slide62.xml"/><Relationship Id="rId101" Type="http://schemas.openxmlformats.org/officeDocument/2006/relationships/slide" Target="slides/slide61.xml"/><Relationship Id="rId100" Type="http://schemas.openxmlformats.org/officeDocument/2006/relationships/slide" Target="slides/slide6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73FA7645-52C7-40DE-A730-3565A4F631A6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351236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51237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B0009764-4815-4F90-93AA-0D9752993797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328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5328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35328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53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55330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35533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0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5840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35840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044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60450" name="幻灯片图像占位符 132097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360451" name="文本占位符 132098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068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70690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37069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2737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72738" name="幻灯片图像占位符 154625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372739" name="文本占位符 154626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580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75810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37581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7857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77858" name="幻灯片图像占位符 155649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377859" name="文本占位符 155650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9905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79906" name="幻灯片图像占位符 179201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379907" name="文本占位符 17920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1953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1954" name="幻灯片图像占位符 179201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381955" name="文本占位符 17920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4001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4002" name="幻灯片图像占位符 179201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384003" name="文本占位符 17920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604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6050" name="幻灯片图像占位符 179201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386051" name="文本占位符 17920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0145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90146" name="幻灯片图像占位符 180225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390147" name="文本占位符 180226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345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3458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40345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8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8578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40857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6.xml"/></Relationships>
</file>

<file path=ppt/slideLayouts/_rels/slideLayout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6.xml"/></Relationships>
</file>

<file path=ppt/slideLayouts/_rels/slideLayout3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6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6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7.xml"/></Relationships>
</file>

<file path=ppt/slideLayouts/_rels/slideLayout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7.xml"/></Relationships>
</file>

<file path=ppt/slideLayouts/_rels/slideLayout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7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7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8.xml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8.xml"/></Relationships>
</file>

<file path=ppt/slideLayouts/_rels/slideLayout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8.xml"/></Relationships>
</file>

<file path=ppt/slideLayouts/_rels/slideLayout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8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1" Type="http://schemas.openxmlformats.org/officeDocument/2006/relationships/theme" Target="../theme/theme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1" Type="http://schemas.openxmlformats.org/officeDocument/2006/relationships/theme" Target="../theme/theme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1" Type="http://schemas.openxmlformats.org/officeDocument/2006/relationships/theme" Target="../theme/theme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1" Type="http://schemas.openxmlformats.org/officeDocument/2006/relationships/theme" Target="../theme/theme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1" Type="http://schemas.openxmlformats.org/officeDocument/2006/relationships/theme" Target="../theme/theme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5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1" Type="http://schemas.openxmlformats.org/officeDocument/2006/relationships/theme" Target="../theme/theme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64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1" Type="http://schemas.openxmlformats.org/officeDocument/2006/relationships/theme" Target="../theme/theme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73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slideLayout" Target="../slideLayouts/slideLayout89.xml"/><Relationship Id="rId7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1" Type="http://schemas.openxmlformats.org/officeDocument/2006/relationships/theme" Target="../theme/theme1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82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1" Type="http://schemas.openxmlformats.org/officeDocument/2006/relationships/theme" Target="../theme/theme1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9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1" Type="http://schemas.openxmlformats.org/officeDocument/2006/relationships/theme" Target="../theme/theme1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0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0.xml"/><Relationship Id="rId11" Type="http://schemas.openxmlformats.org/officeDocument/2006/relationships/theme" Target="../theme/theme1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9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9.xml"/><Relationship Id="rId11" Type="http://schemas.openxmlformats.org/officeDocument/2006/relationships/theme" Target="../theme/theme1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1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28.xml"/><Relationship Id="rId11" Type="http://schemas.openxmlformats.org/officeDocument/2006/relationships/theme" Target="../theme/theme1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27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7.xml"/><Relationship Id="rId11" Type="http://schemas.openxmlformats.org/officeDocument/2006/relationships/theme" Target="../theme/theme1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3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6.xml"/><Relationship Id="rId11" Type="http://schemas.openxmlformats.org/officeDocument/2006/relationships/theme" Target="../theme/theme1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45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5.xml"/><Relationship Id="rId11" Type="http://schemas.openxmlformats.org/officeDocument/2006/relationships/theme" Target="../theme/theme1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54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4.xml"/><Relationship Id="rId11" Type="http://schemas.openxmlformats.org/officeDocument/2006/relationships/theme" Target="../theme/theme1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63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0.xml"/><Relationship Id="rId8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5.xml"/><Relationship Id="rId3" Type="http://schemas.openxmlformats.org/officeDocument/2006/relationships/slideLayout" Target="../slideLayouts/slideLayout174.xml"/><Relationship Id="rId2" Type="http://schemas.openxmlformats.org/officeDocument/2006/relationships/slideLayout" Target="../slideLayouts/slideLayout173.xml"/><Relationship Id="rId11" Type="http://schemas.openxmlformats.org/officeDocument/2006/relationships/theme" Target="../theme/theme2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72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82.xml"/><Relationship Id="rId11" Type="http://schemas.openxmlformats.org/officeDocument/2006/relationships/theme" Target="../theme/theme2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8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2.xml"/><Relationship Id="rId2" Type="http://schemas.openxmlformats.org/officeDocument/2006/relationships/slideLayout" Target="../slideLayouts/slideLayout191.xml"/><Relationship Id="rId11" Type="http://schemas.openxmlformats.org/officeDocument/2006/relationships/theme" Target="../theme/theme2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90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1" Type="http://schemas.openxmlformats.org/officeDocument/2006/relationships/theme" Target="../theme/theme2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99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6.xml"/><Relationship Id="rId8" Type="http://schemas.openxmlformats.org/officeDocument/2006/relationships/slideLayout" Target="../slideLayouts/slideLayout215.xml"/><Relationship Id="rId7" Type="http://schemas.openxmlformats.org/officeDocument/2006/relationships/slideLayout" Target="../slideLayouts/slideLayout214.xml"/><Relationship Id="rId6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209.xml"/><Relationship Id="rId11" Type="http://schemas.openxmlformats.org/officeDocument/2006/relationships/theme" Target="../theme/theme2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08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5.xml"/><Relationship Id="rId8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20.xml"/><Relationship Id="rId3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18.xml"/><Relationship Id="rId11" Type="http://schemas.openxmlformats.org/officeDocument/2006/relationships/theme" Target="../theme/theme2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1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4.xml"/><Relationship Id="rId8" Type="http://schemas.openxmlformats.org/officeDocument/2006/relationships/slideLayout" Target="../slideLayouts/slideLayout233.xml"/><Relationship Id="rId7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9.xml"/><Relationship Id="rId3" Type="http://schemas.openxmlformats.org/officeDocument/2006/relationships/slideLayout" Target="../slideLayouts/slideLayout228.xml"/><Relationship Id="rId2" Type="http://schemas.openxmlformats.org/officeDocument/2006/relationships/slideLayout" Target="../slideLayouts/slideLayout227.xml"/><Relationship Id="rId11" Type="http://schemas.openxmlformats.org/officeDocument/2006/relationships/theme" Target="../theme/theme2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2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3.xml"/><Relationship Id="rId8" Type="http://schemas.openxmlformats.org/officeDocument/2006/relationships/slideLayout" Target="../slideLayouts/slideLayout242.xml"/><Relationship Id="rId7" Type="http://schemas.openxmlformats.org/officeDocument/2006/relationships/slideLayout" Target="../slideLayouts/slideLayout241.xml"/><Relationship Id="rId6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239.xml"/><Relationship Id="rId4" Type="http://schemas.openxmlformats.org/officeDocument/2006/relationships/slideLayout" Target="../slideLayouts/slideLayout238.xml"/><Relationship Id="rId3" Type="http://schemas.openxmlformats.org/officeDocument/2006/relationships/slideLayout" Target="../slideLayouts/slideLayout237.xml"/><Relationship Id="rId2" Type="http://schemas.openxmlformats.org/officeDocument/2006/relationships/slideLayout" Target="../slideLayouts/slideLayout236.xml"/><Relationship Id="rId11" Type="http://schemas.openxmlformats.org/officeDocument/2006/relationships/theme" Target="../theme/theme2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35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2.xml"/><Relationship Id="rId8" Type="http://schemas.openxmlformats.org/officeDocument/2006/relationships/slideLayout" Target="../slideLayouts/slideLayout251.xml"/><Relationship Id="rId7" Type="http://schemas.openxmlformats.org/officeDocument/2006/relationships/slideLayout" Target="../slideLayouts/slideLayout250.xml"/><Relationship Id="rId6" Type="http://schemas.openxmlformats.org/officeDocument/2006/relationships/slideLayout" Target="../slideLayouts/slideLayout249.xml"/><Relationship Id="rId5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46.xml"/><Relationship Id="rId2" Type="http://schemas.openxmlformats.org/officeDocument/2006/relationships/slideLayout" Target="../slideLayouts/slideLayout245.xml"/><Relationship Id="rId11" Type="http://schemas.openxmlformats.org/officeDocument/2006/relationships/theme" Target="../theme/theme2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44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1.xml"/><Relationship Id="rId8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6.xml"/><Relationship Id="rId3" Type="http://schemas.openxmlformats.org/officeDocument/2006/relationships/slideLayout" Target="../slideLayouts/slideLayout255.xml"/><Relationship Id="rId2" Type="http://schemas.openxmlformats.org/officeDocument/2006/relationships/slideLayout" Target="../slideLayouts/slideLayout254.xml"/><Relationship Id="rId11" Type="http://schemas.openxmlformats.org/officeDocument/2006/relationships/theme" Target="../theme/theme2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53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0.xml"/><Relationship Id="rId8" Type="http://schemas.openxmlformats.org/officeDocument/2006/relationships/slideLayout" Target="../slideLayouts/slideLayout269.xml"/><Relationship Id="rId7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65.xml"/><Relationship Id="rId3" Type="http://schemas.openxmlformats.org/officeDocument/2006/relationships/slideLayout" Target="../slideLayouts/slideLayout264.xml"/><Relationship Id="rId2" Type="http://schemas.openxmlformats.org/officeDocument/2006/relationships/slideLayout" Target="../slideLayouts/slideLayout263.xml"/><Relationship Id="rId11" Type="http://schemas.openxmlformats.org/officeDocument/2006/relationships/theme" Target="../theme/theme3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6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2.xml"/><Relationship Id="rId11" Type="http://schemas.openxmlformats.org/officeDocument/2006/relationships/theme" Target="../theme/theme3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7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8.xml"/><Relationship Id="rId8" Type="http://schemas.openxmlformats.org/officeDocument/2006/relationships/slideLayout" Target="../slideLayouts/slideLayout287.xml"/><Relationship Id="rId7" Type="http://schemas.openxmlformats.org/officeDocument/2006/relationships/slideLayout" Target="../slideLayouts/slideLayout286.xml"/><Relationship Id="rId6" Type="http://schemas.openxmlformats.org/officeDocument/2006/relationships/slideLayout" Target="../slideLayouts/slideLayout285.xml"/><Relationship Id="rId5" Type="http://schemas.openxmlformats.org/officeDocument/2006/relationships/slideLayout" Target="../slideLayouts/slideLayout284.xml"/><Relationship Id="rId4" Type="http://schemas.openxmlformats.org/officeDocument/2006/relationships/slideLayout" Target="../slideLayouts/slideLayout283.xml"/><Relationship Id="rId3" Type="http://schemas.openxmlformats.org/officeDocument/2006/relationships/slideLayout" Target="../slideLayouts/slideLayout282.xml"/><Relationship Id="rId2" Type="http://schemas.openxmlformats.org/officeDocument/2006/relationships/slideLayout" Target="../slideLayouts/slideLayout281.xml"/><Relationship Id="rId11" Type="http://schemas.openxmlformats.org/officeDocument/2006/relationships/theme" Target="../theme/theme3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80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7.xml"/><Relationship Id="rId8" Type="http://schemas.openxmlformats.org/officeDocument/2006/relationships/slideLayout" Target="../slideLayouts/slideLayout296.xml"/><Relationship Id="rId7" Type="http://schemas.openxmlformats.org/officeDocument/2006/relationships/slideLayout" Target="../slideLayouts/slideLayout295.xml"/><Relationship Id="rId6" Type="http://schemas.openxmlformats.org/officeDocument/2006/relationships/slideLayout" Target="../slideLayouts/slideLayout294.xml"/><Relationship Id="rId5" Type="http://schemas.openxmlformats.org/officeDocument/2006/relationships/slideLayout" Target="../slideLayouts/slideLayout293.xml"/><Relationship Id="rId4" Type="http://schemas.openxmlformats.org/officeDocument/2006/relationships/slideLayout" Target="../slideLayouts/slideLayout292.xml"/><Relationship Id="rId3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90.xml"/><Relationship Id="rId11" Type="http://schemas.openxmlformats.org/officeDocument/2006/relationships/theme" Target="../theme/theme3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89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1" Type="http://schemas.openxmlformats.org/officeDocument/2006/relationships/theme" Target="../theme/theme3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98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5.xml"/><Relationship Id="rId8" Type="http://schemas.openxmlformats.org/officeDocument/2006/relationships/slideLayout" Target="../slideLayouts/slideLayout314.xml"/><Relationship Id="rId7" Type="http://schemas.openxmlformats.org/officeDocument/2006/relationships/slideLayout" Target="../slideLayouts/slideLayout313.xml"/><Relationship Id="rId6" Type="http://schemas.openxmlformats.org/officeDocument/2006/relationships/slideLayout" Target="../slideLayouts/slideLayout312.xml"/><Relationship Id="rId5" Type="http://schemas.openxmlformats.org/officeDocument/2006/relationships/slideLayout" Target="../slideLayouts/slideLayout311.xml"/><Relationship Id="rId4" Type="http://schemas.openxmlformats.org/officeDocument/2006/relationships/slideLayout" Target="../slideLayouts/slideLayout310.xml"/><Relationship Id="rId3" Type="http://schemas.openxmlformats.org/officeDocument/2006/relationships/slideLayout" Target="../slideLayouts/slideLayout309.xml"/><Relationship Id="rId2" Type="http://schemas.openxmlformats.org/officeDocument/2006/relationships/slideLayout" Target="../slideLayouts/slideLayout308.xml"/><Relationship Id="rId11" Type="http://schemas.openxmlformats.org/officeDocument/2006/relationships/theme" Target="../theme/theme3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07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4.xml"/><Relationship Id="rId8" Type="http://schemas.openxmlformats.org/officeDocument/2006/relationships/slideLayout" Target="../slideLayouts/slideLayout323.xml"/><Relationship Id="rId7" Type="http://schemas.openxmlformats.org/officeDocument/2006/relationships/slideLayout" Target="../slideLayouts/slideLayout322.xml"/><Relationship Id="rId6" Type="http://schemas.openxmlformats.org/officeDocument/2006/relationships/slideLayout" Target="../slideLayouts/slideLayout321.xml"/><Relationship Id="rId5" Type="http://schemas.openxmlformats.org/officeDocument/2006/relationships/slideLayout" Target="../slideLayouts/slideLayout320.xml"/><Relationship Id="rId4" Type="http://schemas.openxmlformats.org/officeDocument/2006/relationships/slideLayout" Target="../slideLayouts/slideLayout319.xml"/><Relationship Id="rId3" Type="http://schemas.openxmlformats.org/officeDocument/2006/relationships/slideLayout" Target="../slideLayouts/slideLayout318.xml"/><Relationship Id="rId2" Type="http://schemas.openxmlformats.org/officeDocument/2006/relationships/slideLayout" Target="../slideLayouts/slideLayout317.xml"/><Relationship Id="rId11" Type="http://schemas.openxmlformats.org/officeDocument/2006/relationships/theme" Target="../theme/theme3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1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" Type="http://schemas.openxmlformats.org/officeDocument/2006/relationships/slideLayout" Target="../slideLayouts/slideLayout326.xml"/><Relationship Id="rId11" Type="http://schemas.openxmlformats.org/officeDocument/2006/relationships/theme" Target="../theme/theme3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25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2.xml"/><Relationship Id="rId8" Type="http://schemas.openxmlformats.org/officeDocument/2006/relationships/slideLayout" Target="../slideLayouts/slideLayout341.xml"/><Relationship Id="rId7" Type="http://schemas.openxmlformats.org/officeDocument/2006/relationships/slideLayout" Target="../slideLayouts/slideLayout340.xml"/><Relationship Id="rId6" Type="http://schemas.openxmlformats.org/officeDocument/2006/relationships/slideLayout" Target="../slideLayouts/slideLayout339.xml"/><Relationship Id="rId5" Type="http://schemas.openxmlformats.org/officeDocument/2006/relationships/slideLayout" Target="../slideLayouts/slideLayout338.xml"/><Relationship Id="rId4" Type="http://schemas.openxmlformats.org/officeDocument/2006/relationships/slideLayout" Target="../slideLayouts/slideLayout337.xml"/><Relationship Id="rId3" Type="http://schemas.openxmlformats.org/officeDocument/2006/relationships/slideLayout" Target="../slideLayouts/slideLayout336.xml"/><Relationship Id="rId2" Type="http://schemas.openxmlformats.org/officeDocument/2006/relationships/slideLayout" Target="../slideLayouts/slideLayout335.xml"/><Relationship Id="rId11" Type="http://schemas.openxmlformats.org/officeDocument/2006/relationships/theme" Target="../theme/theme3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48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48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49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49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49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49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3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5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0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5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7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0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2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5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7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9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2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74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77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9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81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86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0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89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91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1"/>
            <a:ext cx="661486" cy="1681205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2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87"/>
            <a:ext cx="212642" cy="605303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slide" Target="slide1.xml"/><Relationship Id="rId2" Type="http://schemas.openxmlformats.org/officeDocument/2006/relationships/image" Target="../media/image1.jpeg"/><Relationship Id="rId1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3.xml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audio" Target="../media/audio1.wav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audio1.wav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8.xml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3.xml"/><Relationship Id="rId1" Type="http://schemas.openxmlformats.org/officeDocument/2006/relationships/slide" Target="slide2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8.xml"/><Relationship Id="rId2" Type="http://schemas.openxmlformats.org/officeDocument/2006/relationships/audio" Target="../media/audio1.wav"/><Relationship Id="rId1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5.xml"/><Relationship Id="rId1" Type="http://schemas.openxmlformats.org/officeDocument/2006/relationships/slide" Target="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2.xml"/><Relationship Id="rId1" Type="http://schemas.openxmlformats.org/officeDocument/2006/relationships/slide" Target="slide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audio1.wav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8.xml"/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" Target="slide14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audio" Target="../media/audio1.wav"/><Relationship Id="rId2" Type="http://schemas.openxmlformats.org/officeDocument/2006/relationships/image" Target="../media/image10.GIF"/><Relationship Id="rId1" Type="http://schemas.openxmlformats.org/officeDocument/2006/relationships/slide" Target="slide14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audio" Target="../media/audio1.wav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1.xml"/><Relationship Id="rId3" Type="http://schemas.openxmlformats.org/officeDocument/2006/relationships/audio" Target="../media/audio1.wav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0.xml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.xml"/><Relationship Id="rId3" Type="http://schemas.openxmlformats.org/officeDocument/2006/relationships/audio" Target="../media/audio1.wav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8.xml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image" Target="../media/image8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slide" Target="slide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audio" Target="../media/audio1.wav"/><Relationship Id="rId2" Type="http://schemas.openxmlformats.org/officeDocument/2006/relationships/slide" Target="slide1.xml"/><Relationship Id="rId1" Type="http://schemas.openxmlformats.org/officeDocument/2006/relationships/image" Target="../media/image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audio1.wav"/><Relationship Id="rId1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7.xml"/><Relationship Id="rId1" Type="http://schemas.openxmlformats.org/officeDocument/2006/relationships/slide" Target="slide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3.xml"/><Relationship Id="rId1" Type="http://schemas.openxmlformats.org/officeDocument/2006/relationships/slide" Target="slide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2.xml"/><Relationship Id="rId1" Type="http://schemas.openxmlformats.org/officeDocument/2006/relationships/slide" Target="slide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audio3.wav"/><Relationship Id="rId1" Type="http://schemas.openxmlformats.org/officeDocument/2006/relationships/audio" Target="../media/audio1.wav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1.xml"/><Relationship Id="rId1" Type="http://schemas.openxmlformats.org/officeDocument/2006/relationships/audio" Target="../media/audio1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audio1.wav"/><Relationship Id="rId1" Type="http://schemas.openxmlformats.org/officeDocument/2006/relationships/audio" Target="../media/audio4.wav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audio1.wav"/><Relationship Id="rId1" Type="http://schemas.openxmlformats.org/officeDocument/2006/relationships/slide" Target="slide2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5.xml"/><Relationship Id="rId1" Type="http://schemas.openxmlformats.org/officeDocument/2006/relationships/audio" Target="../media/audio1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4.xml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1.xml"/><Relationship Id="rId1" Type="http://schemas.openxmlformats.org/officeDocument/2006/relationships/audio" Target="../media/audio1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4.xml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60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52258" name="media1.mp3">
            <a:hlinkClick r:id="" action="ppaction://media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5062" y="61913"/>
            <a:ext cx="6096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2259" name="文本框 41"/>
          <p:cNvSpPr txBox="1"/>
          <p:nvPr/>
        </p:nvSpPr>
        <p:spPr>
          <a:xfrm flipH="1">
            <a:off x="3789363" y="1927225"/>
            <a:ext cx="4251325" cy="8302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4800" b="1" dirty="0">
                <a:solidFill>
                  <a:srgbClr val="083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800" b="1" dirty="0">
                <a:solidFill>
                  <a:srgbClr val="083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zh-CN" altLang="en-US" sz="4800" b="1" dirty="0">
              <a:solidFill>
                <a:srgbClr val="0838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395"/>
          <p:cNvSpPr>
            <a:spLocks noChangeArrowheads="1"/>
          </p:cNvSpPr>
          <p:nvPr/>
        </p:nvSpPr>
        <p:spPr bwMode="auto">
          <a:xfrm>
            <a:off x="4235450" y="2997200"/>
            <a:ext cx="3475038" cy="4349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0"/>
              </a:spcBef>
              <a:buFontTx/>
              <a:buNone/>
            </a:pPr>
            <a:r>
              <a:rPr lang="en-US" altLang="zh-CN" sz="20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20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、数据描述</a:t>
            </a:r>
            <a:endParaRPr lang="zh-CN" altLang="en-US" sz="2000" b="1" strike="noStrike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3" name="平行四边形 62"/>
          <p:cNvSpPr/>
          <p:nvPr/>
        </p:nvSpPr>
        <p:spPr>
          <a:xfrm rot="10800000" flipH="1">
            <a:off x="0" y="0"/>
            <a:ext cx="2173288" cy="1644650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54307" name="组合 7"/>
          <p:cNvGrpSpPr/>
          <p:nvPr/>
        </p:nvGrpSpPr>
        <p:grpSpPr>
          <a:xfrm>
            <a:off x="5888038" y="839788"/>
            <a:ext cx="2389187" cy="601662"/>
            <a:chOff x="5947494" y="561482"/>
            <a:chExt cx="2388241" cy="602565"/>
          </a:xfrm>
        </p:grpSpPr>
        <p:sp>
          <p:nvSpPr>
            <p:cNvPr id="354308" name="文本框 63"/>
            <p:cNvSpPr txBox="1"/>
            <p:nvPr/>
          </p:nvSpPr>
          <p:spPr>
            <a:xfrm>
              <a:off x="6933919" y="591764"/>
              <a:ext cx="1401816" cy="461066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1" action="ppaction://hlinksldjump"/>
                </a:rPr>
                <a:t>预备知识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 action="ppaction://hlinksldjump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5947494" y="561482"/>
              <a:ext cx="602565" cy="602565"/>
              <a:chOff x="7935667" y="1393882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70" name="圆角矩形 69"/>
              <p:cNvSpPr/>
              <p:nvPr/>
            </p:nvSpPr>
            <p:spPr>
              <a:xfrm rot="2700000">
                <a:off x="7935667" y="1393882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8053929" y="1518083"/>
                <a:ext cx="339739" cy="399379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1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354310" name="组合 5"/>
          <p:cNvGrpSpPr/>
          <p:nvPr/>
        </p:nvGrpSpPr>
        <p:grpSpPr>
          <a:xfrm>
            <a:off x="5888038" y="1862138"/>
            <a:ext cx="2387600" cy="603250"/>
            <a:chOff x="5947496" y="2541467"/>
            <a:chExt cx="2389144" cy="602565"/>
          </a:xfrm>
        </p:grpSpPr>
        <p:sp>
          <p:nvSpPr>
            <p:cNvPr id="354311" name="文本框 66"/>
            <p:cNvSpPr txBox="1"/>
            <p:nvPr/>
          </p:nvSpPr>
          <p:spPr>
            <a:xfrm>
              <a:off x="6933919" y="2582317"/>
              <a:ext cx="1402721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" action="ppaction://hlinksldjump"/>
                </a:rPr>
                <a:t>数据类型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ldjump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5947496" y="2541467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84" name="圆角矩形 83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8038546" y="4023280"/>
                <a:ext cx="339781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2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sp>
        <p:nvSpPr>
          <p:cNvPr id="26" name="平行四边形 25"/>
          <p:cNvSpPr/>
          <p:nvPr/>
        </p:nvSpPr>
        <p:spPr>
          <a:xfrm rot="10800000" flipH="1">
            <a:off x="889000" y="227013"/>
            <a:ext cx="2174875" cy="1644650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354314" name="组合 2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25" y="1863725"/>
            <a:ext cx="2944813" cy="33162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54315" name="组合 4"/>
          <p:cNvGrpSpPr/>
          <p:nvPr/>
        </p:nvGrpSpPr>
        <p:grpSpPr>
          <a:xfrm>
            <a:off x="5888038" y="2894013"/>
            <a:ext cx="2692400" cy="603250"/>
            <a:chOff x="6053982" y="3572061"/>
            <a:chExt cx="2693848" cy="602565"/>
          </a:xfrm>
        </p:grpSpPr>
        <p:sp>
          <p:nvSpPr>
            <p:cNvPr id="354316" name="文本框 66"/>
            <p:cNvSpPr txBox="1"/>
            <p:nvPr/>
          </p:nvSpPr>
          <p:spPr>
            <a:xfrm>
              <a:off x="7040405" y="3612911"/>
              <a:ext cx="1707425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" action="ppaction://hlinksldjump"/>
                </a:rPr>
                <a:t>常量和变量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ldjump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22" name="圆角矩形 21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23" name="文本框 84"/>
              <p:cNvSpPr txBox="1"/>
              <p:nvPr/>
            </p:nvSpPr>
            <p:spPr>
              <a:xfrm>
                <a:off x="8020440" y="4023280"/>
                <a:ext cx="339769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3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354318" name="组合 29"/>
          <p:cNvGrpSpPr/>
          <p:nvPr/>
        </p:nvGrpSpPr>
        <p:grpSpPr>
          <a:xfrm>
            <a:off x="5927725" y="3943350"/>
            <a:ext cx="4216400" cy="603250"/>
            <a:chOff x="6053982" y="3572061"/>
            <a:chExt cx="4219027" cy="602565"/>
          </a:xfrm>
        </p:grpSpPr>
        <p:sp>
          <p:nvSpPr>
            <p:cNvPr id="354319" name="文本框 66"/>
            <p:cNvSpPr txBox="1"/>
            <p:nvPr/>
          </p:nvSpPr>
          <p:spPr>
            <a:xfrm>
              <a:off x="7040405" y="3612911"/>
              <a:ext cx="3232604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" action="ppaction://hlinksldjump"/>
                </a:rPr>
                <a:t>不同类型间的数据转换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ldjump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33" name="圆角矩形 32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34" name="文本框 84"/>
              <p:cNvSpPr txBox="1"/>
              <p:nvPr/>
            </p:nvSpPr>
            <p:spPr>
              <a:xfrm>
                <a:off x="8020440" y="4023280"/>
                <a:ext cx="339847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4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2384717" y="2136073"/>
            <a:ext cx="3068415" cy="2718682"/>
            <a:chOff x="2384717" y="2136073"/>
            <a:chExt cx="3068428" cy="27186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六边形 1"/>
            <p:cNvSpPr/>
            <p:nvPr/>
          </p:nvSpPr>
          <p:spPr>
            <a:xfrm rot="1800000">
              <a:off x="2384717" y="2136073"/>
              <a:ext cx="3068428" cy="2718682"/>
            </a:xfrm>
            <a:prstGeom prst="hexagon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28" name="六边形 27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29" name="TextBox 5"/>
            <p:cNvSpPr txBox="1"/>
            <p:nvPr/>
          </p:nvSpPr>
          <p:spPr>
            <a:xfrm>
              <a:off x="2728061" y="2705823"/>
              <a:ext cx="2316555" cy="141577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zh-CN" altLang="en-US" sz="5400" b="1" strike="noStrike" noProof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lang="en-US" altLang="zh-CN" sz="4400" b="1" strike="noStrike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/>
              <a:r>
                <a:rPr lang="en-US" altLang="zh-CN" sz="3200" b="1" strike="noStrike" noProof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lang="zh-CN" altLang="en-US" sz="3200" b="1" strike="noStrike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4322" name="组合 29"/>
          <p:cNvGrpSpPr/>
          <p:nvPr/>
        </p:nvGrpSpPr>
        <p:grpSpPr>
          <a:xfrm>
            <a:off x="5911850" y="4965700"/>
            <a:ext cx="3302000" cy="603250"/>
            <a:chOff x="6053982" y="3572061"/>
            <a:chExt cx="3304140" cy="602565"/>
          </a:xfrm>
        </p:grpSpPr>
        <p:sp>
          <p:nvSpPr>
            <p:cNvPr id="354323" name="文本框 66"/>
            <p:cNvSpPr txBox="1"/>
            <p:nvPr/>
          </p:nvSpPr>
          <p:spPr>
            <a:xfrm>
              <a:off x="7040405" y="3612911"/>
              <a:ext cx="2317717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3" action="ppaction://hlinksldjump"/>
                </a:rPr>
                <a:t>运算符和表达式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7" name="圆角矩形 6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8" name="文本框 84"/>
              <p:cNvSpPr txBox="1"/>
              <p:nvPr/>
            </p:nvSpPr>
            <p:spPr>
              <a:xfrm>
                <a:off x="8020440" y="4023280"/>
                <a:ext cx="339906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5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6353" name="Text Box 10"/>
          <p:cNvSpPr txBox="1"/>
          <p:nvPr/>
        </p:nvSpPr>
        <p:spPr>
          <a:xfrm>
            <a:off x="3186113" y="87313"/>
            <a:ext cx="56673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000" b="1" dirty="0">
                <a:latin typeface="方正兰亭中黑_GBK" pitchFamily="2" charset="-122"/>
                <a:ea typeface="方正兰亭中黑_GBK" pitchFamily="2" charset="-122"/>
              </a:rPr>
              <a:t>课堂学习目标</a:t>
            </a:r>
            <a:endParaRPr lang="zh-CN" altLang="en-US" sz="3000" b="1" dirty="0"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16386" name="Text Box 8"/>
          <p:cNvSpPr txBox="1"/>
          <p:nvPr/>
        </p:nvSpPr>
        <p:spPr>
          <a:xfrm>
            <a:off x="2732088" y="1738313"/>
            <a:ext cx="6575425" cy="26304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457200" indent="-528955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了解</a:t>
            </a:r>
            <a:r>
              <a:rPr lang="en-US" altLang="zh-CN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C</a:t>
            </a: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语言的数据类型</a:t>
            </a:r>
            <a:endParaRPr lang="zh-CN" altLang="en-US" sz="2200" b="1" noProof="1" dirty="0">
              <a:latin typeface="方正兰亭纤黑简体" pitchFamily="65" charset="-122"/>
              <a:ea typeface="方正兰亭纤黑简体" pitchFamily="65" charset="-122"/>
            </a:endParaRPr>
          </a:p>
          <a:p>
            <a:pPr marL="457200" indent="-528955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掌握</a:t>
            </a:r>
            <a:r>
              <a:rPr lang="en-US" altLang="zh-CN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C</a:t>
            </a: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语言的常量和变量</a:t>
            </a:r>
            <a:endParaRPr lang="zh-CN" altLang="en-US" sz="2200" b="1" noProof="1" dirty="0">
              <a:latin typeface="方正兰亭纤黑简体" pitchFamily="65" charset="-122"/>
              <a:ea typeface="方正兰亭纤黑简体" pitchFamily="65" charset="-122"/>
            </a:endParaRPr>
          </a:p>
          <a:p>
            <a:pPr marL="457200" indent="-528955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掌握</a:t>
            </a:r>
            <a:r>
              <a:rPr lang="en-US" altLang="zh-CN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C</a:t>
            </a: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程序各种运算符的使用</a:t>
            </a:r>
            <a:endParaRPr lang="en-US" altLang="zh-CN" sz="2200" b="1" noProof="1" dirty="0">
              <a:latin typeface="方正兰亭纤黑简体" pitchFamily="65" charset="-122"/>
              <a:ea typeface="方正兰亭纤黑简体" pitchFamily="65" charset="-122"/>
            </a:endParaRPr>
          </a:p>
          <a:p>
            <a:pPr marL="457200" indent="-528955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掌握数据类型的转换</a:t>
            </a:r>
            <a:endParaRPr lang="en-US" altLang="zh-CN" sz="2200" b="1" noProof="1" dirty="0">
              <a:latin typeface="方正兰亭纤黑简体" pitchFamily="65" charset="-122"/>
              <a:ea typeface="方正兰亭纤黑简体" pitchFamily="65" charset="-122"/>
            </a:endParaRPr>
          </a:p>
          <a:p>
            <a:pPr>
              <a:lnSpc>
                <a:spcPct val="150000"/>
              </a:lnSpc>
              <a:buFontTx/>
            </a:pPr>
            <a:endParaRPr lang="zh-CN" altLang="en-US" sz="2200" b="1" noProof="1" dirty="0">
              <a:latin typeface="方正兰亭纤黑简体" pitchFamily="65" charset="-122"/>
              <a:ea typeface="方正兰亭纤黑简体" pitchFamily="65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49225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357379" name="文本框 1"/>
          <p:cNvSpPr/>
          <p:nvPr/>
        </p:nvSpPr>
        <p:spPr>
          <a:xfrm>
            <a:off x="5973763" y="2432050"/>
            <a:ext cx="2214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预备知识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57380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01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942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0179" name="文本占位符 50178"/>
          <p:cNvSpPr>
            <a:spLocks noGrp="1"/>
          </p:cNvSpPr>
          <p:nvPr>
            <p:ph type="body"/>
          </p:nvPr>
        </p:nvSpPr>
        <p:spPr>
          <a:xfrm>
            <a:off x="2049463" y="949325"/>
            <a:ext cx="8283575" cy="301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计算机中数的表示及进制转换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数码、基与权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数码：表示数的符号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基：数码的个数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权：每一位所具有的值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数制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59427" name="Text Box 5"/>
          <p:cNvSpPr txBox="1"/>
          <p:nvPr/>
        </p:nvSpPr>
        <p:spPr>
          <a:xfrm>
            <a:off x="728663" y="80963"/>
            <a:ext cx="104679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1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charRg st="1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15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charRg st="15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2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charRg st="2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4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charRg st="40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5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charRg st="51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ldLvl="5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147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2626" name="组合 152625"/>
          <p:cNvGrpSpPr/>
          <p:nvPr/>
        </p:nvGrpSpPr>
        <p:grpSpPr>
          <a:xfrm>
            <a:off x="2171700" y="1285875"/>
            <a:ext cx="8229600" cy="4076700"/>
            <a:chOff x="408" y="612"/>
            <a:chExt cx="5184" cy="2568"/>
          </a:xfrm>
        </p:grpSpPr>
        <p:grpSp>
          <p:nvGrpSpPr>
            <p:cNvPr id="361475" name="组合 152578"/>
            <p:cNvGrpSpPr/>
            <p:nvPr/>
          </p:nvGrpSpPr>
          <p:grpSpPr>
            <a:xfrm>
              <a:off x="408" y="612"/>
              <a:ext cx="5184" cy="2568"/>
              <a:chOff x="408" y="612"/>
              <a:chExt cx="5184" cy="2568"/>
            </a:xfrm>
          </p:grpSpPr>
          <p:sp>
            <p:nvSpPr>
              <p:cNvPr id="361476" name="矩形 152579"/>
              <p:cNvSpPr/>
              <p:nvPr/>
            </p:nvSpPr>
            <p:spPr>
              <a:xfrm>
                <a:off x="408" y="612"/>
                <a:ext cx="5172" cy="256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477" name="直接连接符 152580"/>
              <p:cNvSpPr/>
              <p:nvPr/>
            </p:nvSpPr>
            <p:spPr>
              <a:xfrm>
                <a:off x="408" y="1032"/>
                <a:ext cx="51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478" name="直接连接符 152581"/>
              <p:cNvSpPr/>
              <p:nvPr/>
            </p:nvSpPr>
            <p:spPr>
              <a:xfrm>
                <a:off x="408" y="1461"/>
                <a:ext cx="51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479" name="直接连接符 152582"/>
              <p:cNvSpPr/>
              <p:nvPr/>
            </p:nvSpPr>
            <p:spPr>
              <a:xfrm>
                <a:off x="408" y="1891"/>
                <a:ext cx="51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480" name="直接连接符 152583"/>
              <p:cNvSpPr/>
              <p:nvPr/>
            </p:nvSpPr>
            <p:spPr>
              <a:xfrm>
                <a:off x="408" y="2320"/>
                <a:ext cx="51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481" name="直接连接符 152584"/>
              <p:cNvSpPr/>
              <p:nvPr/>
            </p:nvSpPr>
            <p:spPr>
              <a:xfrm>
                <a:off x="408" y="2750"/>
                <a:ext cx="51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482" name="直接连接符 152585"/>
              <p:cNvSpPr/>
              <p:nvPr/>
            </p:nvSpPr>
            <p:spPr>
              <a:xfrm>
                <a:off x="1140" y="612"/>
                <a:ext cx="0" cy="25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483" name="直接连接符 152586"/>
              <p:cNvSpPr/>
              <p:nvPr/>
            </p:nvSpPr>
            <p:spPr>
              <a:xfrm>
                <a:off x="2236" y="624"/>
                <a:ext cx="0" cy="25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484" name="直接连接符 152587"/>
              <p:cNvSpPr/>
              <p:nvPr/>
            </p:nvSpPr>
            <p:spPr>
              <a:xfrm>
                <a:off x="3350" y="624"/>
                <a:ext cx="0" cy="25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1485" name="直接连接符 152588"/>
              <p:cNvSpPr/>
              <p:nvPr/>
            </p:nvSpPr>
            <p:spPr>
              <a:xfrm>
                <a:off x="4464" y="624"/>
                <a:ext cx="0" cy="25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1486" name="文本框 152593"/>
            <p:cNvSpPr txBox="1"/>
            <p:nvPr/>
          </p:nvSpPr>
          <p:spPr>
            <a:xfrm>
              <a:off x="471" y="673"/>
              <a:ext cx="40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数制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487" name="文本框 152594"/>
            <p:cNvSpPr txBox="1"/>
            <p:nvPr/>
          </p:nvSpPr>
          <p:spPr>
            <a:xfrm>
              <a:off x="471" y="1527"/>
              <a:ext cx="25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基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488" name="文本框 152595"/>
            <p:cNvSpPr txBox="1"/>
            <p:nvPr/>
          </p:nvSpPr>
          <p:spPr>
            <a:xfrm>
              <a:off x="471" y="1954"/>
              <a:ext cx="25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权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489" name="文本框 152596"/>
            <p:cNvSpPr txBox="1"/>
            <p:nvPr/>
          </p:nvSpPr>
          <p:spPr>
            <a:xfrm>
              <a:off x="471" y="2381"/>
              <a:ext cx="40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表示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490" name="文本框 152597"/>
            <p:cNvSpPr txBox="1"/>
            <p:nvPr/>
          </p:nvSpPr>
          <p:spPr>
            <a:xfrm>
              <a:off x="471" y="1100"/>
              <a:ext cx="40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数码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491" name="文本框 152598"/>
            <p:cNvSpPr txBox="1"/>
            <p:nvPr/>
          </p:nvSpPr>
          <p:spPr>
            <a:xfrm>
              <a:off x="471" y="2809"/>
              <a:ext cx="40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特点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152623" name="组合 152622"/>
          <p:cNvGrpSpPr/>
          <p:nvPr/>
        </p:nvGrpSpPr>
        <p:grpSpPr>
          <a:xfrm>
            <a:off x="3338513" y="1382713"/>
            <a:ext cx="1803400" cy="3779837"/>
            <a:chOff x="1143" y="673"/>
            <a:chExt cx="1136" cy="2381"/>
          </a:xfrm>
        </p:grpSpPr>
        <p:sp>
          <p:nvSpPr>
            <p:cNvPr id="361493" name="文本框 152607"/>
            <p:cNvSpPr txBox="1"/>
            <p:nvPr/>
          </p:nvSpPr>
          <p:spPr>
            <a:xfrm>
              <a:off x="1143" y="1995"/>
              <a:ext cx="113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1600">
                  <a:latin typeface="隶书" panose="02010509060101010101" pitchFamily="49" charset="-122"/>
                  <a:ea typeface="隶书" panose="02010509060101010101" pitchFamily="49" charset="-122"/>
                </a:rPr>
                <a:t>10</a:t>
              </a:r>
              <a:r>
                <a:rPr lang="en-US" altLang="zh-CN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º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10¹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Calibri" panose="020F0502020204030204" pitchFamily="34" charset="0"/>
                  <a:ea typeface="宋体" panose="02010600030101010101" pitchFamily="2" charset="-122"/>
                </a:rPr>
                <a:t>10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²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61494" name="组合 152620"/>
            <p:cNvGrpSpPr/>
            <p:nvPr/>
          </p:nvGrpSpPr>
          <p:grpSpPr>
            <a:xfrm>
              <a:off x="1203" y="673"/>
              <a:ext cx="695" cy="2381"/>
              <a:chOff x="1203" y="673"/>
              <a:chExt cx="695" cy="2381"/>
            </a:xfrm>
          </p:grpSpPr>
          <p:sp>
            <p:nvSpPr>
              <p:cNvPr id="361495" name="文本框 152589"/>
              <p:cNvSpPr txBox="1"/>
              <p:nvPr/>
            </p:nvSpPr>
            <p:spPr>
              <a:xfrm>
                <a:off x="1209" y="673"/>
                <a:ext cx="689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隶书" panose="02010509060101010101" pitchFamily="49" charset="-122"/>
                  </a:rPr>
                  <a:t>十进制数</a:t>
                </a:r>
                <a:endParaRPr lang="zh-CN" altLang="en-US" dirty="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61496" name="文本框 152599"/>
              <p:cNvSpPr txBox="1"/>
              <p:nvPr/>
            </p:nvSpPr>
            <p:spPr>
              <a:xfrm>
                <a:off x="1443" y="1118"/>
                <a:ext cx="328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>
                    <a:latin typeface="Calibri" panose="020F0502020204030204" pitchFamily="34" charset="0"/>
                    <a:ea typeface="宋体" panose="02010600030101010101" pitchFamily="2" charset="-122"/>
                  </a:rPr>
                  <a:t>0~9</a:t>
                </a:r>
                <a:endParaRPr lang="en-US" altLang="zh-CN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497" name="文本框 152603"/>
              <p:cNvSpPr txBox="1"/>
              <p:nvPr/>
            </p:nvSpPr>
            <p:spPr>
              <a:xfrm>
                <a:off x="1467" y="1561"/>
                <a:ext cx="271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>
                    <a:latin typeface="Arial" panose="020B0604020202020204" pitchFamily="34" charset="0"/>
                    <a:ea typeface="隶书" panose="02010509060101010101" pitchFamily="49" charset="-122"/>
                  </a:rPr>
                  <a:t>10</a:t>
                </a:r>
                <a:endParaRPr lang="en-US" altLang="zh-CN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61498" name="文本框 152611"/>
              <p:cNvSpPr txBox="1"/>
              <p:nvPr/>
            </p:nvSpPr>
            <p:spPr>
              <a:xfrm>
                <a:off x="1203" y="2821"/>
                <a:ext cx="684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zh-CN" altLang="en-US" dirty="0">
                    <a:latin typeface="Calibri" panose="020F0502020204030204" pitchFamily="34" charset="0"/>
                    <a:ea typeface="隶书" panose="02010509060101010101" pitchFamily="49" charset="-122"/>
                  </a:rPr>
                  <a:t>逢十进一</a:t>
                </a:r>
                <a:endParaRPr lang="zh-CN" altLang="en-US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52622" name="组合 152621"/>
          <p:cNvGrpSpPr/>
          <p:nvPr/>
        </p:nvGrpSpPr>
        <p:grpSpPr>
          <a:xfrm>
            <a:off x="5097463" y="1382713"/>
            <a:ext cx="1495425" cy="3779837"/>
            <a:chOff x="2251" y="673"/>
            <a:chExt cx="942" cy="2381"/>
          </a:xfrm>
        </p:grpSpPr>
        <p:sp>
          <p:nvSpPr>
            <p:cNvPr id="361500" name="文本框 152590"/>
            <p:cNvSpPr txBox="1"/>
            <p:nvPr/>
          </p:nvSpPr>
          <p:spPr>
            <a:xfrm>
              <a:off x="2331" y="673"/>
              <a:ext cx="68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二进制数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501" name="文本框 152600"/>
            <p:cNvSpPr txBox="1"/>
            <p:nvPr/>
          </p:nvSpPr>
          <p:spPr>
            <a:xfrm>
              <a:off x="2555" y="1118"/>
              <a:ext cx="33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0~1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1502" name="文本框 152604"/>
            <p:cNvSpPr txBox="1"/>
            <p:nvPr/>
          </p:nvSpPr>
          <p:spPr>
            <a:xfrm>
              <a:off x="2595" y="1561"/>
              <a:ext cx="19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>
                  <a:latin typeface="Arial" panose="020B0604020202020204" pitchFamily="34" charset="0"/>
                  <a:ea typeface="隶书" panose="02010509060101010101" pitchFamily="49" charset="-122"/>
                </a:rPr>
                <a:t>2</a:t>
              </a:r>
              <a:endParaRPr lang="en-US" altLang="zh-CN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503" name="文本框 152608"/>
            <p:cNvSpPr txBox="1"/>
            <p:nvPr/>
          </p:nvSpPr>
          <p:spPr>
            <a:xfrm>
              <a:off x="2251" y="1995"/>
              <a:ext cx="942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1600">
                  <a:latin typeface="隶书" panose="02010509060101010101" pitchFamily="49" charset="-122"/>
                  <a:ea typeface="隶书" panose="02010509060101010101" pitchFamily="49" charset="-122"/>
                </a:rPr>
                <a:t>2</a:t>
              </a:r>
              <a:r>
                <a:rPr lang="en-US" altLang="zh-CN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º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2¹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Calibri" panose="020F0502020204030204" pitchFamily="34" charset="0"/>
                  <a:ea typeface="宋体" panose="02010600030101010101" pitchFamily="2" charset="-122"/>
                </a:rPr>
                <a:t>2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²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1504" name="文本框 152612"/>
            <p:cNvSpPr txBox="1"/>
            <p:nvPr/>
          </p:nvSpPr>
          <p:spPr>
            <a:xfrm>
              <a:off x="2327" y="2821"/>
              <a:ext cx="68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Calibri" panose="020F0502020204030204" pitchFamily="34" charset="0"/>
                  <a:ea typeface="隶书" panose="02010509060101010101" pitchFamily="49" charset="-122"/>
                </a:rPr>
                <a:t>逢二进一</a:t>
              </a:r>
              <a:endParaRPr lang="zh-CN" altLang="en-US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2624" name="组合 152623"/>
          <p:cNvGrpSpPr/>
          <p:nvPr/>
        </p:nvGrpSpPr>
        <p:grpSpPr>
          <a:xfrm>
            <a:off x="6856413" y="1382713"/>
            <a:ext cx="1495425" cy="3779837"/>
            <a:chOff x="3359" y="673"/>
            <a:chExt cx="942" cy="2381"/>
          </a:xfrm>
        </p:grpSpPr>
        <p:sp>
          <p:nvSpPr>
            <p:cNvPr id="361506" name="文本框 152591"/>
            <p:cNvSpPr txBox="1"/>
            <p:nvPr/>
          </p:nvSpPr>
          <p:spPr>
            <a:xfrm>
              <a:off x="3453" y="673"/>
              <a:ext cx="68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八进制数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507" name="文本框 152601"/>
            <p:cNvSpPr txBox="1"/>
            <p:nvPr/>
          </p:nvSpPr>
          <p:spPr>
            <a:xfrm>
              <a:off x="3667" y="1118"/>
              <a:ext cx="33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0~7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1508" name="文本框 152605"/>
            <p:cNvSpPr txBox="1"/>
            <p:nvPr/>
          </p:nvSpPr>
          <p:spPr>
            <a:xfrm>
              <a:off x="3723" y="1561"/>
              <a:ext cx="19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>
                  <a:latin typeface="Arial" panose="020B0604020202020204" pitchFamily="34" charset="0"/>
                  <a:ea typeface="隶书" panose="02010509060101010101" pitchFamily="49" charset="-122"/>
                </a:rPr>
                <a:t>8</a:t>
              </a:r>
              <a:endParaRPr lang="en-US" altLang="zh-CN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509" name="文本框 152609"/>
            <p:cNvSpPr txBox="1"/>
            <p:nvPr/>
          </p:nvSpPr>
          <p:spPr>
            <a:xfrm>
              <a:off x="3359" y="1995"/>
              <a:ext cx="942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1600">
                  <a:latin typeface="隶书" panose="02010509060101010101" pitchFamily="49" charset="-122"/>
                  <a:ea typeface="隶书" panose="02010509060101010101" pitchFamily="49" charset="-122"/>
                </a:rPr>
                <a:t>8</a:t>
              </a:r>
              <a:r>
                <a:rPr lang="en-US" altLang="zh-CN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º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8¹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Calibri" panose="020F0502020204030204" pitchFamily="34" charset="0"/>
                  <a:ea typeface="宋体" panose="02010600030101010101" pitchFamily="2" charset="-122"/>
                </a:rPr>
                <a:t>8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²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1510" name="文本框 152613"/>
            <p:cNvSpPr txBox="1"/>
            <p:nvPr/>
          </p:nvSpPr>
          <p:spPr>
            <a:xfrm>
              <a:off x="3451" y="2821"/>
              <a:ext cx="68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Calibri" panose="020F0502020204030204" pitchFamily="34" charset="0"/>
                  <a:ea typeface="隶书" panose="02010509060101010101" pitchFamily="49" charset="-122"/>
                </a:rPr>
                <a:t>逢八进一</a:t>
              </a:r>
              <a:endParaRPr lang="zh-CN" altLang="en-US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2625" name="组合 152624"/>
          <p:cNvGrpSpPr/>
          <p:nvPr/>
        </p:nvGrpSpPr>
        <p:grpSpPr>
          <a:xfrm>
            <a:off x="8577263" y="1363663"/>
            <a:ext cx="1841500" cy="3798887"/>
            <a:chOff x="4443" y="661"/>
            <a:chExt cx="1160" cy="2393"/>
          </a:xfrm>
        </p:grpSpPr>
        <p:sp>
          <p:nvSpPr>
            <p:cNvPr id="361512" name="文本框 152592"/>
            <p:cNvSpPr txBox="1"/>
            <p:nvPr/>
          </p:nvSpPr>
          <p:spPr>
            <a:xfrm>
              <a:off x="4515" y="661"/>
              <a:ext cx="83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十六进制数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513" name="文本框 152602"/>
            <p:cNvSpPr txBox="1"/>
            <p:nvPr/>
          </p:nvSpPr>
          <p:spPr>
            <a:xfrm>
              <a:off x="4443" y="1130"/>
              <a:ext cx="794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0~9,A~F,a~f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1514" name="文本框 152606"/>
            <p:cNvSpPr txBox="1"/>
            <p:nvPr/>
          </p:nvSpPr>
          <p:spPr>
            <a:xfrm>
              <a:off x="4851" y="1561"/>
              <a:ext cx="27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>
                  <a:latin typeface="Arial" panose="020B0604020202020204" pitchFamily="34" charset="0"/>
                  <a:ea typeface="隶书" panose="02010509060101010101" pitchFamily="49" charset="-122"/>
                </a:rPr>
                <a:t>16</a:t>
              </a:r>
              <a:endParaRPr lang="en-US" altLang="zh-CN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61515" name="文本框 152610"/>
            <p:cNvSpPr txBox="1"/>
            <p:nvPr/>
          </p:nvSpPr>
          <p:spPr>
            <a:xfrm>
              <a:off x="4467" y="1995"/>
              <a:ext cx="113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1600">
                  <a:latin typeface="隶书" panose="02010509060101010101" pitchFamily="49" charset="-122"/>
                  <a:ea typeface="隶书" panose="02010509060101010101" pitchFamily="49" charset="-122"/>
                </a:rPr>
                <a:t>16</a:t>
              </a:r>
              <a:r>
                <a:rPr lang="en-US" altLang="zh-CN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º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16¹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Calibri" panose="020F0502020204030204" pitchFamily="34" charset="0"/>
                  <a:ea typeface="宋体" panose="02010600030101010101" pitchFamily="2" charset="-122"/>
                </a:rPr>
                <a:t>16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²</a:t>
              </a:r>
              <a:r>
                <a:rPr lang="zh-CN" altLang="en-US" sz="1600" dirty="0">
                  <a:latin typeface="Calibri" panose="020F050202020403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1516" name="文本框 152614"/>
            <p:cNvSpPr txBox="1"/>
            <p:nvPr/>
          </p:nvSpPr>
          <p:spPr>
            <a:xfrm>
              <a:off x="4515" y="2821"/>
              <a:ext cx="83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Calibri" panose="020F0502020204030204" pitchFamily="34" charset="0"/>
                  <a:ea typeface="隶书" panose="02010509060101010101" pitchFamily="49" charset="-122"/>
                </a:rPr>
                <a:t>逢十六进一</a:t>
              </a:r>
              <a:endParaRPr lang="zh-CN" altLang="en-US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2616" name="文本框 152615"/>
          <p:cNvSpPr txBox="1"/>
          <p:nvPr/>
        </p:nvSpPr>
        <p:spPr>
          <a:xfrm>
            <a:off x="3624263" y="4140200"/>
            <a:ext cx="4600575" cy="369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十进制：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4956= 4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10³+9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10² +5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10¹+6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10º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52617" name="文本框 152616"/>
          <p:cNvSpPr txBox="1"/>
          <p:nvPr/>
        </p:nvSpPr>
        <p:spPr>
          <a:xfrm>
            <a:off x="3624263" y="4140200"/>
            <a:ext cx="4011612" cy="369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二进制：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1011=1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2³+0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2² +1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2¹+1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2º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52618" name="文本框 152617"/>
          <p:cNvSpPr txBox="1"/>
          <p:nvPr/>
        </p:nvSpPr>
        <p:spPr>
          <a:xfrm>
            <a:off x="3624263" y="4121150"/>
            <a:ext cx="5070475" cy="369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十六进制：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81AE=8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16³+1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16² +10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16¹+14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16º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2619" name="文本框 152618"/>
          <p:cNvSpPr txBox="1"/>
          <p:nvPr/>
        </p:nvSpPr>
        <p:spPr>
          <a:xfrm>
            <a:off x="3643313" y="4121150"/>
            <a:ext cx="4029075" cy="369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八进制：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4275=4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8³+2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8² +7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8¹+5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8º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361521" name="组合 152633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361522" name="圆角矩形 152634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61523" name="组合 152635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361524" name="任意多边形 152636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61525" name="椭圆 152637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526" name="椭圆 152638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61527" name="Text Box 5"/>
          <p:cNvSpPr txBox="1"/>
          <p:nvPr/>
        </p:nvSpPr>
        <p:spPr>
          <a:xfrm>
            <a:off x="728663" y="82550"/>
            <a:ext cx="10467975" cy="124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  <a:p>
            <a:pPr marL="342900" indent="-342900" algn="ctr">
              <a:spcBef>
                <a:spcPct val="50000"/>
              </a:spcBef>
            </a:pP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26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2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526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52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526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16" grpId="0" bldLvl="0" animBg="1"/>
      <p:bldP spid="152617" grpId="0" bldLvl="0" animBg="1"/>
      <p:bldP spid="152618" grpId="0" bldLvl="0" animBg="1"/>
      <p:bldP spid="15261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2497" name="灯片编号占位符 1"/>
          <p:cNvSpPr/>
          <p:nvPr>
            <p:ph type="sldNum" sz="quarter"/>
          </p:nvPr>
        </p:nvSpPr>
        <p:spPr>
          <a:xfrm>
            <a:off x="8056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en-US" altLang="zh-CN" sz="1800" dirty="0"/>
            </a:fld>
            <a:endParaRPr lang="en-US" altLang="zh-CN" sz="1800" dirty="0"/>
          </a:p>
        </p:txBody>
      </p:sp>
      <p:sp>
        <p:nvSpPr>
          <p:cNvPr id="123907" name="文本占位符 123906"/>
          <p:cNvSpPr>
            <a:spLocks noGrp="1"/>
          </p:cNvSpPr>
          <p:nvPr>
            <p:ph type="body"/>
          </p:nvPr>
        </p:nvSpPr>
        <p:spPr>
          <a:xfrm>
            <a:off x="1716088" y="1260475"/>
            <a:ext cx="8501062" cy="14557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>
              <a:lnSpc>
                <a:spcPct val="80000"/>
              </a:lnSpc>
            </a:pP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80000"/>
              </a:lnSpc>
              <a:buClr>
                <a:srgbClr val="BB7FB4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二进制、八进制、十六进制转换成十进制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80000"/>
              </a:lnSpc>
              <a:buClr>
                <a:srgbClr val="BB7FB4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80000"/>
              </a:lnSpc>
              <a:buClr>
                <a:srgbClr val="BB7FB4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 方法：按权相加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aphicFrame>
        <p:nvGraphicFramePr>
          <p:cNvPr id="124016" name="对象 124015"/>
          <p:cNvGraphicFramePr/>
          <p:nvPr/>
        </p:nvGraphicFramePr>
        <p:xfrm>
          <a:off x="2416175" y="3343275"/>
          <a:ext cx="78009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4495800" imgH="241300" progId="Equation.3">
                  <p:embed/>
                </p:oleObj>
              </mc:Choice>
              <mc:Fallback>
                <p:oleObj name="" r:id="rId1" imgW="4495800" imgH="241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6175" y="3343275"/>
                        <a:ext cx="7800975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017" name="对象 124016"/>
          <p:cNvGraphicFramePr/>
          <p:nvPr/>
        </p:nvGraphicFramePr>
        <p:xfrm>
          <a:off x="2436813" y="4310063"/>
          <a:ext cx="49371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844800" imgH="241300" progId="Equation.3">
                  <p:embed/>
                </p:oleObj>
              </mc:Choice>
              <mc:Fallback>
                <p:oleObj name="" r:id="rId3" imgW="284480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6813" y="4310063"/>
                        <a:ext cx="4937125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018" name="对象 124017"/>
          <p:cNvGraphicFramePr/>
          <p:nvPr/>
        </p:nvGraphicFramePr>
        <p:xfrm>
          <a:off x="2393950" y="5192713"/>
          <a:ext cx="70961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4089400" imgH="241300" progId="Equation.3">
                  <p:embed/>
                </p:oleObj>
              </mc:Choice>
              <mc:Fallback>
                <p:oleObj name="" r:id="rId5" imgW="4089400" imgH="24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93950" y="5192713"/>
                        <a:ext cx="7096125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02" name="标题 124032"/>
          <p:cNvSpPr>
            <a:spLocks noGrp="1"/>
          </p:cNvSpPr>
          <p:nvPr>
            <p:ph type="title"/>
          </p:nvPr>
        </p:nvSpPr>
        <p:spPr>
          <a:xfrm>
            <a:off x="1452563" y="633413"/>
            <a:ext cx="7616825" cy="7334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800" dirty="0">
                <a:ea typeface="隶书" panose="02010509060101010101" pitchFamily="49" charset="-122"/>
              </a:rPr>
              <a:t>（</a:t>
            </a:r>
            <a:r>
              <a:rPr lang="en-US" altLang="zh-CN" sz="2800" dirty="0">
                <a:ea typeface="隶书" panose="02010509060101010101" pitchFamily="49" charset="-122"/>
              </a:rPr>
              <a:t>1</a:t>
            </a:r>
            <a:r>
              <a:rPr lang="zh-CN" altLang="en-US" sz="2800" dirty="0">
                <a:ea typeface="隶书" panose="02010509060101010101" pitchFamily="49" charset="-122"/>
              </a:rPr>
              <a:t>）各种进制之间的转换</a:t>
            </a:r>
            <a:endParaRPr lang="zh-CN" altLang="en-US" sz="2800" dirty="0">
              <a:ea typeface="隶书" panose="02010509060101010101" pitchFamily="49" charset="-122"/>
            </a:endParaRPr>
          </a:p>
        </p:txBody>
      </p:sp>
      <p:sp>
        <p:nvSpPr>
          <p:cNvPr id="362503" name="Text Box 5"/>
          <p:cNvSpPr txBox="1"/>
          <p:nvPr/>
        </p:nvSpPr>
        <p:spPr>
          <a:xfrm>
            <a:off x="728663" y="80963"/>
            <a:ext cx="104679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charRg st="1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charRg st="1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charRg st="2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charRg st="2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charRg st="23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charRg st="23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40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40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4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ldLvl="5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352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1010" name="矩形 171009"/>
          <p:cNvSpPr/>
          <p:nvPr/>
        </p:nvSpPr>
        <p:spPr>
          <a:xfrm>
            <a:off x="1524000" y="1268413"/>
            <a:ext cx="8805863" cy="1193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>
              <a:buClr>
                <a:srgbClr val="BB7FB4"/>
              </a:buClr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二进制、八进制、十六进制转换成十进制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1011" name="矩形 171010"/>
          <p:cNvSpPr/>
          <p:nvPr/>
        </p:nvSpPr>
        <p:spPr>
          <a:xfrm>
            <a:off x="1524000" y="2243138"/>
            <a:ext cx="8501063" cy="736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>
              <a:buClr>
                <a:srgbClr val="BB7FB4"/>
              </a:buClr>
              <a:buFont typeface="Wingdings" panose="05000000000000000000" pitchFamily="2" charset="2"/>
              <a:buChar char="n"/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十进制转换成二进制、八进制、十六进制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1013" name="矩形 171012"/>
          <p:cNvSpPr/>
          <p:nvPr/>
        </p:nvSpPr>
        <p:spPr>
          <a:xfrm>
            <a:off x="1524000" y="2841625"/>
            <a:ext cx="9144000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4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方法：连续除以基，从低到高记录余数，直至商为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71125" name="组合 171124"/>
          <p:cNvGrpSpPr/>
          <p:nvPr/>
        </p:nvGrpSpPr>
        <p:grpSpPr>
          <a:xfrm>
            <a:off x="3719513" y="3502025"/>
            <a:ext cx="4316412" cy="2676525"/>
            <a:chOff x="892" y="1987"/>
            <a:chExt cx="2719" cy="1686"/>
          </a:xfrm>
        </p:grpSpPr>
        <p:sp>
          <p:nvSpPr>
            <p:cNvPr id="363526" name="文本框 171125"/>
            <p:cNvSpPr txBox="1"/>
            <p:nvPr/>
          </p:nvSpPr>
          <p:spPr>
            <a:xfrm>
              <a:off x="892" y="1987"/>
              <a:ext cx="271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例  把十进制数</a:t>
              </a:r>
              <a:r>
                <a:rPr lang="en-US" altLang="zh-CN" sz="2000" dirty="0">
                  <a:latin typeface="微软雅黑 Light" panose="020B0502040204020203" charset="-122"/>
                  <a:ea typeface="微软雅黑 Light" panose="020B0502040204020203" charset="-122"/>
                </a:rPr>
                <a:t>459</a:t>
              </a:r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转换成十六进制数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grpSp>
          <p:nvGrpSpPr>
            <p:cNvPr id="363527" name="组合 171126"/>
            <p:cNvGrpSpPr/>
            <p:nvPr/>
          </p:nvGrpSpPr>
          <p:grpSpPr>
            <a:xfrm>
              <a:off x="1649" y="2416"/>
              <a:ext cx="477" cy="211"/>
              <a:chOff x="1245" y="1444"/>
              <a:chExt cx="477" cy="211"/>
            </a:xfrm>
          </p:grpSpPr>
          <p:sp>
            <p:nvSpPr>
              <p:cNvPr id="363528" name="直接连接符 171127"/>
              <p:cNvSpPr/>
              <p:nvPr/>
            </p:nvSpPr>
            <p:spPr>
              <a:xfrm flipH="1">
                <a:off x="1245" y="1444"/>
                <a:ext cx="0" cy="2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3529" name="直接连接符 171128"/>
              <p:cNvSpPr/>
              <p:nvPr/>
            </p:nvSpPr>
            <p:spPr>
              <a:xfrm>
                <a:off x="1245" y="1655"/>
                <a:ext cx="47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3530" name="文本框 171129"/>
            <p:cNvSpPr txBox="1"/>
            <p:nvPr/>
          </p:nvSpPr>
          <p:spPr>
            <a:xfrm>
              <a:off x="1747" y="2365"/>
              <a:ext cx="38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459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3531" name="文本框 171130"/>
            <p:cNvSpPr txBox="1"/>
            <p:nvPr/>
          </p:nvSpPr>
          <p:spPr>
            <a:xfrm>
              <a:off x="1380" y="2376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16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3532" name="文本框 171131"/>
            <p:cNvSpPr txBox="1"/>
            <p:nvPr/>
          </p:nvSpPr>
          <p:spPr>
            <a:xfrm>
              <a:off x="1747" y="2643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28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63533" name="组合 171132"/>
            <p:cNvGrpSpPr/>
            <p:nvPr/>
          </p:nvGrpSpPr>
          <p:grpSpPr>
            <a:xfrm>
              <a:off x="1723" y="2646"/>
              <a:ext cx="477" cy="211"/>
              <a:chOff x="1245" y="1444"/>
              <a:chExt cx="477" cy="211"/>
            </a:xfrm>
          </p:grpSpPr>
          <p:sp>
            <p:nvSpPr>
              <p:cNvPr id="363534" name="直接连接符 171133"/>
              <p:cNvSpPr/>
              <p:nvPr/>
            </p:nvSpPr>
            <p:spPr>
              <a:xfrm flipH="1">
                <a:off x="1245" y="1444"/>
                <a:ext cx="0" cy="2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3535" name="直接连接符 171134"/>
              <p:cNvSpPr/>
              <p:nvPr/>
            </p:nvSpPr>
            <p:spPr>
              <a:xfrm>
                <a:off x="1245" y="1655"/>
                <a:ext cx="47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3536" name="文本框 171135"/>
            <p:cNvSpPr txBox="1"/>
            <p:nvPr/>
          </p:nvSpPr>
          <p:spPr>
            <a:xfrm>
              <a:off x="1465" y="2639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16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3537" name="文本框 171136"/>
            <p:cNvSpPr txBox="1"/>
            <p:nvPr/>
          </p:nvSpPr>
          <p:spPr>
            <a:xfrm>
              <a:off x="1821" y="2873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63538" name="组合 171137"/>
            <p:cNvGrpSpPr/>
            <p:nvPr/>
          </p:nvGrpSpPr>
          <p:grpSpPr>
            <a:xfrm>
              <a:off x="1797" y="2876"/>
              <a:ext cx="477" cy="211"/>
              <a:chOff x="1245" y="1444"/>
              <a:chExt cx="477" cy="211"/>
            </a:xfrm>
          </p:grpSpPr>
          <p:sp>
            <p:nvSpPr>
              <p:cNvPr id="363539" name="直接连接符 171138"/>
              <p:cNvSpPr/>
              <p:nvPr/>
            </p:nvSpPr>
            <p:spPr>
              <a:xfrm flipH="1">
                <a:off x="1245" y="1444"/>
                <a:ext cx="0" cy="2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3540" name="直接连接符 171139"/>
              <p:cNvSpPr/>
              <p:nvPr/>
            </p:nvSpPr>
            <p:spPr>
              <a:xfrm>
                <a:off x="1245" y="1655"/>
                <a:ext cx="47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3541" name="文本框 171140"/>
            <p:cNvSpPr txBox="1"/>
            <p:nvPr/>
          </p:nvSpPr>
          <p:spPr>
            <a:xfrm>
              <a:off x="1539" y="2858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16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3542" name="文本框 171141"/>
            <p:cNvSpPr txBox="1"/>
            <p:nvPr/>
          </p:nvSpPr>
          <p:spPr>
            <a:xfrm>
              <a:off x="1812" y="3055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3543" name="文本框 171142"/>
            <p:cNvSpPr txBox="1"/>
            <p:nvPr/>
          </p:nvSpPr>
          <p:spPr>
            <a:xfrm>
              <a:off x="1670" y="3422"/>
              <a:ext cx="117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(459)</a:t>
              </a:r>
              <a:r>
                <a:rPr lang="en-US" altLang="zh-CN" sz="10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=(1CB)</a:t>
              </a:r>
              <a:r>
                <a:rPr lang="en-US" altLang="zh-CN" sz="1000">
                  <a:latin typeface="Arial" panose="020B0604020202020204" pitchFamily="34" charset="0"/>
                  <a:ea typeface="宋体" panose="02010600030101010101" pitchFamily="2" charset="-122"/>
                </a:rPr>
                <a:t>16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63544" name="组合 171143"/>
            <p:cNvGrpSpPr/>
            <p:nvPr/>
          </p:nvGrpSpPr>
          <p:grpSpPr>
            <a:xfrm>
              <a:off x="2884" y="3117"/>
              <a:ext cx="676" cy="309"/>
              <a:chOff x="3901" y="2222"/>
              <a:chExt cx="676" cy="309"/>
            </a:xfrm>
          </p:grpSpPr>
          <p:sp>
            <p:nvSpPr>
              <p:cNvPr id="363545" name="文本框 171144"/>
              <p:cNvSpPr txBox="1"/>
              <p:nvPr/>
            </p:nvSpPr>
            <p:spPr>
              <a:xfrm>
                <a:off x="3929" y="2235"/>
                <a:ext cx="64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Arial" panose="020B0604020202020204" pitchFamily="34" charset="0"/>
                    <a:ea typeface="宋体" panose="02010600030101010101" pitchFamily="2" charset="-122"/>
                  </a:rPr>
                  <a:t>1  C   B  </a:t>
                </a:r>
                <a:endParaRPr lang="en-US" altLang="zh-CN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3546" name="直接连接符 171145"/>
              <p:cNvSpPr/>
              <p:nvPr/>
            </p:nvSpPr>
            <p:spPr>
              <a:xfrm flipH="1">
                <a:off x="3943" y="2531"/>
                <a:ext cx="567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63547" name="矩形 171146"/>
              <p:cNvSpPr/>
              <p:nvPr/>
            </p:nvSpPr>
            <p:spPr>
              <a:xfrm>
                <a:off x="3901" y="2222"/>
                <a:ext cx="655" cy="25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3548" name="直接连接符 171147"/>
              <p:cNvSpPr/>
              <p:nvPr/>
            </p:nvSpPr>
            <p:spPr>
              <a:xfrm>
                <a:off x="4100" y="2222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3549" name="直接连接符 171148"/>
              <p:cNvSpPr/>
              <p:nvPr/>
            </p:nvSpPr>
            <p:spPr>
              <a:xfrm>
                <a:off x="4307" y="2222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3550" name="文本框 171149"/>
            <p:cNvSpPr txBox="1"/>
            <p:nvPr/>
          </p:nvSpPr>
          <p:spPr>
            <a:xfrm>
              <a:off x="2315" y="2388"/>
              <a:ext cx="44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余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3551" name="文本框 171150"/>
            <p:cNvSpPr txBox="1"/>
            <p:nvPr/>
          </p:nvSpPr>
          <p:spPr>
            <a:xfrm>
              <a:off x="2315" y="2634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余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12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3552" name="文本框 171151"/>
            <p:cNvSpPr txBox="1"/>
            <p:nvPr/>
          </p:nvSpPr>
          <p:spPr>
            <a:xfrm>
              <a:off x="2315" y="2880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余 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3553" name="直接连接符 171152"/>
            <p:cNvSpPr/>
            <p:nvPr/>
          </p:nvSpPr>
          <p:spPr>
            <a:xfrm>
              <a:off x="2662" y="3017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3554" name="直接连接符 171153"/>
            <p:cNvSpPr/>
            <p:nvPr/>
          </p:nvSpPr>
          <p:spPr>
            <a:xfrm>
              <a:off x="2684" y="2495"/>
              <a:ext cx="7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3555" name="直接连接符 171154"/>
            <p:cNvSpPr/>
            <p:nvPr/>
          </p:nvSpPr>
          <p:spPr>
            <a:xfrm>
              <a:off x="3396" y="2495"/>
              <a:ext cx="0" cy="6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3556" name="直接连接符 171155"/>
            <p:cNvSpPr/>
            <p:nvPr/>
          </p:nvSpPr>
          <p:spPr>
            <a:xfrm>
              <a:off x="2695" y="2739"/>
              <a:ext cx="4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3557" name="直接连接符 171156"/>
            <p:cNvSpPr/>
            <p:nvPr/>
          </p:nvSpPr>
          <p:spPr>
            <a:xfrm>
              <a:off x="3151" y="2739"/>
              <a:ext cx="0" cy="3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3558" name="直接连接符 171157"/>
            <p:cNvSpPr/>
            <p:nvPr/>
          </p:nvSpPr>
          <p:spPr>
            <a:xfrm flipV="1">
              <a:off x="2973" y="3017"/>
              <a:ext cx="0" cy="1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63559" name="标题 171160"/>
          <p:cNvSpPr>
            <a:spLocks noGrp="1"/>
          </p:cNvSpPr>
          <p:nvPr>
            <p:ph type="title"/>
          </p:nvPr>
        </p:nvSpPr>
        <p:spPr>
          <a:xfrm>
            <a:off x="1455738" y="7048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800" dirty="0">
                <a:ea typeface="隶书" panose="02010509060101010101" pitchFamily="49" charset="-122"/>
              </a:rPr>
              <a:t>（</a:t>
            </a:r>
            <a:r>
              <a:rPr lang="en-US" altLang="zh-CN" sz="2800" dirty="0">
                <a:ea typeface="隶书" panose="02010509060101010101" pitchFamily="49" charset="-122"/>
              </a:rPr>
              <a:t>1</a:t>
            </a:r>
            <a:r>
              <a:rPr lang="zh-CN" altLang="en-US" sz="2800" dirty="0">
                <a:ea typeface="隶书" panose="02010509060101010101" pitchFamily="49" charset="-122"/>
              </a:rPr>
              <a:t>）各种进制之间的转换(整数)</a:t>
            </a:r>
            <a:endParaRPr lang="en-US" altLang="zh-CN" sz="32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1162" name="文本框 171161"/>
          <p:cNvSpPr txBox="1"/>
          <p:nvPr/>
        </p:nvSpPr>
        <p:spPr>
          <a:xfrm>
            <a:off x="1524000" y="1706563"/>
            <a:ext cx="7843838" cy="784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4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方法：按权相加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spcBef>
                <a:spcPct val="50000"/>
              </a:spcBef>
            </a:pP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363561" name="组合 171162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363562" name="圆角矩形 171163">
              <a:hlinkClick r:id="rId1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63563" name="组合 171164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363564" name="任意多边形 171165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63565" name="椭圆 171166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3566" name="椭圆 171167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63567" name="Text Box 5"/>
          <p:cNvSpPr txBox="1"/>
          <p:nvPr/>
        </p:nvSpPr>
        <p:spPr>
          <a:xfrm>
            <a:off x="728663" y="80963"/>
            <a:ext cx="104679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7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101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101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1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1"/>
      <p:bldP spid="171011" grpId="0" bldLvl="5" uiExpand="1" build="p"/>
      <p:bldP spid="171013" grpId="0" build="p"/>
      <p:bldP spid="1711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4545" name="灯片编号占位符 1"/>
          <p:cNvSpPr/>
          <p:nvPr>
            <p:ph type="sldNum" sz="quarter"/>
          </p:nvPr>
        </p:nvSpPr>
        <p:spPr>
          <a:xfrm>
            <a:off x="8056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en-US" altLang="zh-CN" sz="1800" dirty="0"/>
            </a:fld>
            <a:endParaRPr lang="en-US" altLang="zh-CN" sz="1800" dirty="0"/>
          </a:p>
        </p:txBody>
      </p:sp>
      <p:sp>
        <p:nvSpPr>
          <p:cNvPr id="125959" name="矩形 125958"/>
          <p:cNvSpPr/>
          <p:nvPr/>
        </p:nvSpPr>
        <p:spPr>
          <a:xfrm>
            <a:off x="1047750" y="1614488"/>
            <a:ext cx="9299575" cy="2740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endParaRPr lang="en-US" altLang="zh-CN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二进制转换成八进制：</a:t>
            </a:r>
            <a:endParaRPr lang="zh-CN" altLang="en-US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从右向左，每</a:t>
            </a:r>
            <a:r>
              <a:rPr lang="en-US" altLang="zh-CN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位一组（不足</a:t>
            </a:r>
            <a:r>
              <a:rPr lang="en-US" altLang="zh-CN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位左补</a:t>
            </a:r>
            <a:r>
              <a:rPr lang="en-US" altLang="zh-CN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），转换成八进制</a:t>
            </a:r>
            <a:endParaRPr lang="zh-CN" altLang="en-US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</a:pPr>
            <a:endParaRPr lang="zh-CN" altLang="en-US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 八进制转换成二进制：</a:t>
            </a:r>
            <a:endParaRPr lang="zh-CN" altLang="en-US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用</a:t>
            </a:r>
            <a:r>
              <a:rPr lang="en-US" altLang="zh-CN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位二进制数代替每一位八进制数</a:t>
            </a:r>
            <a:endParaRPr lang="zh-CN" altLang="en-US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25960" name="文本框 125959"/>
          <p:cNvSpPr txBox="1"/>
          <p:nvPr/>
        </p:nvSpPr>
        <p:spPr>
          <a:xfrm>
            <a:off x="3090863" y="3702050"/>
            <a:ext cx="4394200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(1101001)</a:t>
            </a:r>
            <a:r>
              <a:rPr lang="en-US" altLang="zh-CN" sz="1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=(001,101,001)</a:t>
            </a:r>
            <a:r>
              <a:rPr lang="en-US" altLang="zh-CN" sz="1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=(151)</a:t>
            </a:r>
            <a:r>
              <a:rPr lang="en-US" altLang="zh-CN" sz="1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 sz="200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961" name="文本框 125960"/>
          <p:cNvSpPr txBox="1"/>
          <p:nvPr/>
        </p:nvSpPr>
        <p:spPr>
          <a:xfrm>
            <a:off x="3090863" y="4498975"/>
            <a:ext cx="4445000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 </a:t>
            </a:r>
            <a:r>
              <a: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(246)</a:t>
            </a:r>
            <a:r>
              <a:rPr lang="en-US" altLang="zh-CN" sz="1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=(010,100,110)</a:t>
            </a:r>
            <a:r>
              <a:rPr lang="en-US" altLang="zh-CN" sz="1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=(10100110)</a:t>
            </a:r>
            <a:r>
              <a:rPr lang="en-US" altLang="zh-CN" sz="1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962" name="文本框 125961" descr="羊皮纸"/>
          <p:cNvSpPr txBox="1"/>
          <p:nvPr/>
        </p:nvSpPr>
        <p:spPr>
          <a:xfrm>
            <a:off x="8742363" y="3155950"/>
            <a:ext cx="1211262" cy="25527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000 ~ 0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001 ~ 1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010 ~ 2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011 ~ 3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100 ~ 4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101 ~ 5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110 ~ 6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111 ~ 7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64550" name="标题 125976"/>
          <p:cNvSpPr>
            <a:spLocks noGrp="1"/>
          </p:cNvSpPr>
          <p:nvPr>
            <p:ph type="title"/>
          </p:nvPr>
        </p:nvSpPr>
        <p:spPr>
          <a:xfrm>
            <a:off x="2390775" y="747713"/>
            <a:ext cx="5094288" cy="7540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buClr>
                <a:srgbClr val="BB7FB4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二进制与八进制之间的转换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64551" name="Text Box 5"/>
          <p:cNvSpPr txBox="1"/>
          <p:nvPr/>
        </p:nvSpPr>
        <p:spPr>
          <a:xfrm>
            <a:off x="728663" y="80963"/>
            <a:ext cx="104679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>
                                            <p:txEl>
                                              <p:charRg st="1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5959">
                                            <p:txEl>
                                              <p:charRg st="1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>
                                            <p:txEl>
                                              <p:charRg st="1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5959">
                                            <p:txEl>
                                              <p:charRg st="13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>
                                            <p:txEl>
                                              <p:charRg st="5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5959">
                                            <p:txEl>
                                              <p:charRg st="50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>
                                            <p:txEl>
                                              <p:charRg st="62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5959">
                                            <p:txEl>
                                              <p:charRg st="62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5960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25961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9" grpId="0" bldLvl="5" build="p"/>
      <p:bldP spid="125960" grpId="0" build="p"/>
      <p:bldP spid="125961" grpId="0" build="p"/>
      <p:bldP spid="12596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556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6978" name="矩形 126977"/>
          <p:cNvSpPr/>
          <p:nvPr/>
        </p:nvSpPr>
        <p:spPr>
          <a:xfrm>
            <a:off x="68263" y="1422400"/>
            <a:ext cx="8351837" cy="25447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4" indent="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二进制转换成十六进制：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        从右向左，每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位一组（不足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位左补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），转换成十六进制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</a:pP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 十六进制转换成二进制：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       用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位二进制数代替每一位十六进制数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26979" name="文本框 126978"/>
          <p:cNvSpPr txBox="1"/>
          <p:nvPr/>
        </p:nvSpPr>
        <p:spPr>
          <a:xfrm>
            <a:off x="2032000" y="3687763"/>
            <a:ext cx="6538913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(11010101111101)</a:t>
            </a:r>
            <a:r>
              <a:rPr lang="en-US" altLang="zh-CN" sz="1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=(</a:t>
            </a:r>
            <a:r>
              <a:rPr lang="en-US" altLang="zh-CN" sz="2000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00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11,0101,0111,1101)</a:t>
            </a:r>
            <a:r>
              <a:rPr lang="en-US" altLang="zh-CN" sz="1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=(357D)</a:t>
            </a:r>
            <a:r>
              <a:rPr lang="en-US" altLang="zh-CN" sz="100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980" name="文本框 126979"/>
          <p:cNvSpPr txBox="1"/>
          <p:nvPr/>
        </p:nvSpPr>
        <p:spPr>
          <a:xfrm>
            <a:off x="2027238" y="4452938"/>
            <a:ext cx="6643687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例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(4B9E)</a:t>
            </a:r>
            <a:r>
              <a:rPr lang="en-US" altLang="zh-CN" sz="100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=(</a:t>
            </a:r>
            <a:r>
              <a:rPr lang="en-US" altLang="zh-CN" sz="2000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100,1011,1001,1110)</a:t>
            </a:r>
            <a:r>
              <a:rPr lang="en-US" altLang="zh-CN" sz="1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=(100101110011110)</a:t>
            </a:r>
            <a:r>
              <a:rPr lang="en-US" altLang="zh-CN" sz="1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981" name="文本框 126980" descr="蓝色砂纸"/>
          <p:cNvSpPr txBox="1"/>
          <p:nvPr/>
        </p:nvSpPr>
        <p:spPr>
          <a:xfrm>
            <a:off x="9123363" y="747713"/>
            <a:ext cx="1211262" cy="50165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0000 ~ 0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0001 ~ 1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0010 ~ 2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0011 ~ 3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0100 ~ 4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0101 ~ 5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0110 ~ 6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0111 ~ 7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1000 ~ 8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1001 ~ 9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1010 ~ A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1011 ~ B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1100 ~ C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1101 ~ D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1110 ~ E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1111 ~ F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65574" name="标题 126995"/>
          <p:cNvSpPr>
            <a:spLocks noGrp="1"/>
          </p:cNvSpPr>
          <p:nvPr>
            <p:ph type="title"/>
          </p:nvPr>
        </p:nvSpPr>
        <p:spPr>
          <a:xfrm>
            <a:off x="1150938" y="747713"/>
            <a:ext cx="7772400" cy="6746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buClr>
                <a:srgbClr val="BB7FB4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二进制与十六进制之间的转换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65575" name="Text Box 5"/>
          <p:cNvSpPr txBox="1"/>
          <p:nvPr/>
        </p:nvSpPr>
        <p:spPr>
          <a:xfrm>
            <a:off x="728663" y="80963"/>
            <a:ext cx="104679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697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charRg st="1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6978">
                                            <p:txEl>
                                              <p:charRg st="13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charRg st="50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6978">
                                            <p:txEl>
                                              <p:charRg st="50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charRg st="6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6978">
                                            <p:txEl>
                                              <p:charRg st="63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6979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26980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bldLvl="5" build="p"/>
      <p:bldP spid="126979" grpId="0" build="p"/>
      <p:bldP spid="126980" grpId="0" build="p"/>
      <p:bldP spid="12698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6593" name="灯片编号占位符 1"/>
          <p:cNvSpPr/>
          <p:nvPr>
            <p:ph type="sldNum" sz="quarter"/>
          </p:nvPr>
        </p:nvSpPr>
        <p:spPr>
          <a:xfrm>
            <a:off x="8056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en-US" altLang="zh-CN" sz="1800" dirty="0"/>
            </a:fld>
            <a:endParaRPr lang="en-US" altLang="zh-CN" sz="1800" dirty="0"/>
          </a:p>
        </p:txBody>
      </p:sp>
      <p:sp>
        <p:nvSpPr>
          <p:cNvPr id="131075" name="文本占位符 131074"/>
          <p:cNvSpPr>
            <a:spLocks noGrp="1"/>
          </p:cNvSpPr>
          <p:nvPr>
            <p:ph type="body"/>
          </p:nvPr>
        </p:nvSpPr>
        <p:spPr>
          <a:xfrm>
            <a:off x="1711325" y="1481138"/>
            <a:ext cx="8501063" cy="2301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内存以字节为单元组成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每个字节有一个地址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一个字节一般由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8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个二进制位组成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每个二进位的值是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31123" name="组合 131122"/>
          <p:cNvGrpSpPr/>
          <p:nvPr/>
        </p:nvGrpSpPr>
        <p:grpSpPr>
          <a:xfrm>
            <a:off x="6953250" y="866775"/>
            <a:ext cx="3846513" cy="773113"/>
            <a:chOff x="934" y="2614"/>
            <a:chExt cx="2423" cy="487"/>
          </a:xfrm>
        </p:grpSpPr>
        <p:sp>
          <p:nvSpPr>
            <p:cNvPr id="366596" name="矩形 131076"/>
            <p:cNvSpPr/>
            <p:nvPr/>
          </p:nvSpPr>
          <p:spPr>
            <a:xfrm>
              <a:off x="934" y="2823"/>
              <a:ext cx="2423" cy="27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597" name="直接连接符 131077"/>
            <p:cNvSpPr/>
            <p:nvPr/>
          </p:nvSpPr>
          <p:spPr>
            <a:xfrm>
              <a:off x="2117" y="281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598" name="直接连接符 131078"/>
            <p:cNvSpPr/>
            <p:nvPr/>
          </p:nvSpPr>
          <p:spPr>
            <a:xfrm>
              <a:off x="1505" y="281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599" name="直接连接符 131079"/>
            <p:cNvSpPr/>
            <p:nvPr/>
          </p:nvSpPr>
          <p:spPr>
            <a:xfrm>
              <a:off x="1811" y="2811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00" name="直接连接符 131080"/>
            <p:cNvSpPr/>
            <p:nvPr/>
          </p:nvSpPr>
          <p:spPr>
            <a:xfrm>
              <a:off x="1200" y="281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01" name="直接连接符 131081"/>
            <p:cNvSpPr/>
            <p:nvPr/>
          </p:nvSpPr>
          <p:spPr>
            <a:xfrm>
              <a:off x="2729" y="281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02" name="直接连接符 131082"/>
            <p:cNvSpPr/>
            <p:nvPr/>
          </p:nvSpPr>
          <p:spPr>
            <a:xfrm>
              <a:off x="2423" y="281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03" name="直接连接符 131083"/>
            <p:cNvSpPr/>
            <p:nvPr/>
          </p:nvSpPr>
          <p:spPr>
            <a:xfrm>
              <a:off x="3035" y="281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04" name="文本框 131084"/>
            <p:cNvSpPr txBox="1"/>
            <p:nvPr/>
          </p:nvSpPr>
          <p:spPr>
            <a:xfrm>
              <a:off x="3104" y="2614"/>
              <a:ext cx="1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0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05" name="文本框 131085"/>
            <p:cNvSpPr txBox="1"/>
            <p:nvPr/>
          </p:nvSpPr>
          <p:spPr>
            <a:xfrm>
              <a:off x="2822" y="2614"/>
              <a:ext cx="1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06" name="文本框 131086"/>
            <p:cNvSpPr txBox="1"/>
            <p:nvPr/>
          </p:nvSpPr>
          <p:spPr>
            <a:xfrm>
              <a:off x="2478" y="2614"/>
              <a:ext cx="1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07" name="文本框 131087"/>
            <p:cNvSpPr txBox="1"/>
            <p:nvPr/>
          </p:nvSpPr>
          <p:spPr>
            <a:xfrm>
              <a:off x="2211" y="2614"/>
              <a:ext cx="1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3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08" name="文本框 131088"/>
            <p:cNvSpPr txBox="1"/>
            <p:nvPr/>
          </p:nvSpPr>
          <p:spPr>
            <a:xfrm>
              <a:off x="1855" y="2614"/>
              <a:ext cx="1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4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09" name="文本框 131089"/>
            <p:cNvSpPr txBox="1"/>
            <p:nvPr/>
          </p:nvSpPr>
          <p:spPr>
            <a:xfrm>
              <a:off x="1578" y="2614"/>
              <a:ext cx="1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5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10" name="文本框 131090"/>
            <p:cNvSpPr txBox="1"/>
            <p:nvPr/>
          </p:nvSpPr>
          <p:spPr>
            <a:xfrm>
              <a:off x="1289" y="2614"/>
              <a:ext cx="1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6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11" name="文本框 131091"/>
            <p:cNvSpPr txBox="1"/>
            <p:nvPr/>
          </p:nvSpPr>
          <p:spPr>
            <a:xfrm>
              <a:off x="966" y="2614"/>
              <a:ext cx="1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7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1122" name="组合 131121"/>
          <p:cNvGrpSpPr/>
          <p:nvPr/>
        </p:nvGrpSpPr>
        <p:grpSpPr>
          <a:xfrm>
            <a:off x="8683625" y="2017713"/>
            <a:ext cx="1978025" cy="4116387"/>
            <a:chOff x="3688" y="1384"/>
            <a:chExt cx="1246" cy="2593"/>
          </a:xfrm>
        </p:grpSpPr>
        <p:sp>
          <p:nvSpPr>
            <p:cNvPr id="366613" name="矩形 131092"/>
            <p:cNvSpPr/>
            <p:nvPr/>
          </p:nvSpPr>
          <p:spPr>
            <a:xfrm>
              <a:off x="3956" y="1433"/>
              <a:ext cx="978" cy="2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14" name="直接连接符 131093"/>
            <p:cNvSpPr/>
            <p:nvPr/>
          </p:nvSpPr>
          <p:spPr>
            <a:xfrm>
              <a:off x="3956" y="1600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15" name="直接连接符 131094"/>
            <p:cNvSpPr/>
            <p:nvPr/>
          </p:nvSpPr>
          <p:spPr>
            <a:xfrm>
              <a:off x="3956" y="1781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16" name="直接连接符 131095"/>
            <p:cNvSpPr/>
            <p:nvPr/>
          </p:nvSpPr>
          <p:spPr>
            <a:xfrm>
              <a:off x="3956" y="1963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17" name="直接连接符 131096"/>
            <p:cNvSpPr/>
            <p:nvPr/>
          </p:nvSpPr>
          <p:spPr>
            <a:xfrm>
              <a:off x="3956" y="2144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18" name="直接连接符 131097"/>
            <p:cNvSpPr/>
            <p:nvPr/>
          </p:nvSpPr>
          <p:spPr>
            <a:xfrm>
              <a:off x="3956" y="2326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19" name="直接连接符 131098"/>
            <p:cNvSpPr/>
            <p:nvPr/>
          </p:nvSpPr>
          <p:spPr>
            <a:xfrm>
              <a:off x="3956" y="2508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20" name="直接连接符 131099"/>
            <p:cNvSpPr/>
            <p:nvPr/>
          </p:nvSpPr>
          <p:spPr>
            <a:xfrm>
              <a:off x="3956" y="2689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21" name="直接连接符 131100"/>
            <p:cNvSpPr/>
            <p:nvPr/>
          </p:nvSpPr>
          <p:spPr>
            <a:xfrm>
              <a:off x="3956" y="2871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22" name="直接连接符 131101"/>
            <p:cNvSpPr/>
            <p:nvPr/>
          </p:nvSpPr>
          <p:spPr>
            <a:xfrm>
              <a:off x="3956" y="3052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23" name="直接连接符 131102"/>
            <p:cNvSpPr/>
            <p:nvPr/>
          </p:nvSpPr>
          <p:spPr>
            <a:xfrm>
              <a:off x="3956" y="3234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24" name="直接连接符 131103"/>
            <p:cNvSpPr/>
            <p:nvPr/>
          </p:nvSpPr>
          <p:spPr>
            <a:xfrm>
              <a:off x="3956" y="3416"/>
              <a:ext cx="9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625" name="文本框 131104"/>
            <p:cNvSpPr txBox="1"/>
            <p:nvPr/>
          </p:nvSpPr>
          <p:spPr>
            <a:xfrm>
              <a:off x="3753" y="1384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0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26" name="文本框 131109"/>
            <p:cNvSpPr txBox="1"/>
            <p:nvPr/>
          </p:nvSpPr>
          <p:spPr>
            <a:xfrm>
              <a:off x="3753" y="1566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27" name="文本框 131110"/>
            <p:cNvSpPr txBox="1"/>
            <p:nvPr/>
          </p:nvSpPr>
          <p:spPr>
            <a:xfrm>
              <a:off x="3753" y="1748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28" name="文本框 131112"/>
            <p:cNvSpPr txBox="1"/>
            <p:nvPr/>
          </p:nvSpPr>
          <p:spPr>
            <a:xfrm>
              <a:off x="3753" y="1930"/>
              <a:ext cx="16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3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29" name="文本框 131113"/>
            <p:cNvSpPr txBox="1"/>
            <p:nvPr/>
          </p:nvSpPr>
          <p:spPr>
            <a:xfrm>
              <a:off x="3753" y="2112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4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30" name="文本框 131114"/>
            <p:cNvSpPr txBox="1"/>
            <p:nvPr/>
          </p:nvSpPr>
          <p:spPr>
            <a:xfrm>
              <a:off x="3753" y="2294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5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31" name="文本框 131115"/>
            <p:cNvSpPr txBox="1"/>
            <p:nvPr/>
          </p:nvSpPr>
          <p:spPr>
            <a:xfrm>
              <a:off x="3753" y="2476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6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32" name="文本框 131116"/>
            <p:cNvSpPr txBox="1"/>
            <p:nvPr/>
          </p:nvSpPr>
          <p:spPr>
            <a:xfrm>
              <a:off x="3753" y="2658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7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33" name="文本框 131117"/>
            <p:cNvSpPr txBox="1"/>
            <p:nvPr/>
          </p:nvSpPr>
          <p:spPr>
            <a:xfrm>
              <a:off x="3753" y="2840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8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34" name="文本框 131118"/>
            <p:cNvSpPr txBox="1"/>
            <p:nvPr/>
          </p:nvSpPr>
          <p:spPr>
            <a:xfrm>
              <a:off x="3753" y="3022"/>
              <a:ext cx="1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9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35" name="文本框 131119"/>
            <p:cNvSpPr txBox="1"/>
            <p:nvPr/>
          </p:nvSpPr>
          <p:spPr>
            <a:xfrm>
              <a:off x="3688" y="3217"/>
              <a:ext cx="27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10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6636" name="文本框 131120"/>
            <p:cNvSpPr txBox="1"/>
            <p:nvPr/>
          </p:nvSpPr>
          <p:spPr>
            <a:xfrm>
              <a:off x="4315" y="3449"/>
              <a:ext cx="309" cy="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...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1170" name="组合 131169"/>
          <p:cNvGrpSpPr/>
          <p:nvPr/>
        </p:nvGrpSpPr>
        <p:grpSpPr>
          <a:xfrm>
            <a:off x="3370263" y="3079750"/>
            <a:ext cx="4595812" cy="3490913"/>
            <a:chOff x="1177" y="1990"/>
            <a:chExt cx="2895" cy="2199"/>
          </a:xfrm>
        </p:grpSpPr>
        <p:grpSp>
          <p:nvGrpSpPr>
            <p:cNvPr id="366638" name="组合 131142"/>
            <p:cNvGrpSpPr/>
            <p:nvPr/>
          </p:nvGrpSpPr>
          <p:grpSpPr>
            <a:xfrm>
              <a:off x="1177" y="1990"/>
              <a:ext cx="2895" cy="503"/>
              <a:chOff x="1177" y="1882"/>
              <a:chExt cx="2895" cy="503"/>
            </a:xfrm>
          </p:grpSpPr>
          <p:sp>
            <p:nvSpPr>
              <p:cNvPr id="366639" name="直接连接符 131133"/>
              <p:cNvSpPr/>
              <p:nvPr/>
            </p:nvSpPr>
            <p:spPr>
              <a:xfrm flipH="1">
                <a:off x="1177" y="1882"/>
                <a:ext cx="1417" cy="47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6640" name="直接连接符 131134"/>
              <p:cNvSpPr/>
              <p:nvPr/>
            </p:nvSpPr>
            <p:spPr>
              <a:xfrm>
                <a:off x="2586" y="1890"/>
                <a:ext cx="1486" cy="4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66641" name="组合 131161"/>
            <p:cNvGrpSpPr/>
            <p:nvPr/>
          </p:nvGrpSpPr>
          <p:grpSpPr>
            <a:xfrm>
              <a:off x="1347" y="2408"/>
              <a:ext cx="2462" cy="1781"/>
              <a:chOff x="1347" y="2408"/>
              <a:chExt cx="2462" cy="1781"/>
            </a:xfrm>
          </p:grpSpPr>
          <p:sp>
            <p:nvSpPr>
              <p:cNvPr id="366642" name="矩形 131135"/>
              <p:cNvSpPr/>
              <p:nvPr/>
            </p:nvSpPr>
            <p:spPr>
              <a:xfrm>
                <a:off x="1347" y="2408"/>
                <a:ext cx="2462" cy="1781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p>
                <a:pPr algn="ctr">
                  <a:spcBef>
                    <a:spcPct val="50000"/>
                  </a:spcBef>
                </a:pP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66643" name="组合 131160"/>
              <p:cNvGrpSpPr/>
              <p:nvPr/>
            </p:nvGrpSpPr>
            <p:grpSpPr>
              <a:xfrm>
                <a:off x="1355" y="2408"/>
                <a:ext cx="2454" cy="1781"/>
                <a:chOff x="1355" y="2408"/>
                <a:chExt cx="2454" cy="1781"/>
              </a:xfrm>
            </p:grpSpPr>
            <p:sp>
              <p:nvSpPr>
                <p:cNvPr id="366644" name="直接连接符 131136"/>
                <p:cNvSpPr/>
                <p:nvPr/>
              </p:nvSpPr>
              <p:spPr>
                <a:xfrm>
                  <a:off x="1355" y="2679"/>
                  <a:ext cx="245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45" name="直接连接符 131137"/>
                <p:cNvSpPr/>
                <p:nvPr/>
              </p:nvSpPr>
              <p:spPr>
                <a:xfrm>
                  <a:off x="1355" y="2931"/>
                  <a:ext cx="245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46" name="直接连接符 131138"/>
                <p:cNvSpPr/>
                <p:nvPr/>
              </p:nvSpPr>
              <p:spPr>
                <a:xfrm>
                  <a:off x="1355" y="3183"/>
                  <a:ext cx="245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47" name="直接连接符 131139"/>
                <p:cNvSpPr/>
                <p:nvPr/>
              </p:nvSpPr>
              <p:spPr>
                <a:xfrm>
                  <a:off x="1355" y="3436"/>
                  <a:ext cx="245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48" name="直接连接符 131140"/>
                <p:cNvSpPr/>
                <p:nvPr/>
              </p:nvSpPr>
              <p:spPr>
                <a:xfrm>
                  <a:off x="1355" y="3688"/>
                  <a:ext cx="245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49" name="直接连接符 131141"/>
                <p:cNvSpPr/>
                <p:nvPr/>
              </p:nvSpPr>
              <p:spPr>
                <a:xfrm>
                  <a:off x="1355" y="3941"/>
                  <a:ext cx="245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50" name="直接连接符 131143"/>
                <p:cNvSpPr/>
                <p:nvPr/>
              </p:nvSpPr>
              <p:spPr>
                <a:xfrm>
                  <a:off x="1672" y="2408"/>
                  <a:ext cx="0" cy="178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51" name="直接连接符 131144"/>
                <p:cNvSpPr/>
                <p:nvPr/>
              </p:nvSpPr>
              <p:spPr>
                <a:xfrm>
                  <a:off x="2582" y="2408"/>
                  <a:ext cx="0" cy="178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52" name="直接连接符 131146"/>
                <p:cNvSpPr/>
                <p:nvPr/>
              </p:nvSpPr>
              <p:spPr>
                <a:xfrm>
                  <a:off x="1975" y="2408"/>
                  <a:ext cx="0" cy="178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53" name="直接连接符 131147"/>
                <p:cNvSpPr/>
                <p:nvPr/>
              </p:nvSpPr>
              <p:spPr>
                <a:xfrm>
                  <a:off x="2886" y="2408"/>
                  <a:ext cx="0" cy="178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54" name="直接连接符 131148"/>
                <p:cNvSpPr/>
                <p:nvPr/>
              </p:nvSpPr>
              <p:spPr>
                <a:xfrm>
                  <a:off x="2279" y="2408"/>
                  <a:ext cx="0" cy="178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55" name="直接连接符 131149"/>
                <p:cNvSpPr/>
                <p:nvPr/>
              </p:nvSpPr>
              <p:spPr>
                <a:xfrm>
                  <a:off x="3189" y="2408"/>
                  <a:ext cx="0" cy="178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656" name="直接连接符 131150"/>
                <p:cNvSpPr/>
                <p:nvPr/>
              </p:nvSpPr>
              <p:spPr>
                <a:xfrm>
                  <a:off x="3493" y="2408"/>
                  <a:ext cx="0" cy="178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66657" name="组合 131168"/>
            <p:cNvGrpSpPr/>
            <p:nvPr/>
          </p:nvGrpSpPr>
          <p:grpSpPr>
            <a:xfrm>
              <a:off x="1398" y="2433"/>
              <a:ext cx="195" cy="1745"/>
              <a:chOff x="1398" y="2433"/>
              <a:chExt cx="195" cy="1745"/>
            </a:xfrm>
          </p:grpSpPr>
          <p:sp>
            <p:nvSpPr>
              <p:cNvPr id="366658" name="文本框 131152"/>
              <p:cNvSpPr txBox="1"/>
              <p:nvPr/>
            </p:nvSpPr>
            <p:spPr>
              <a:xfrm>
                <a:off x="1398" y="2433"/>
                <a:ext cx="195" cy="23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7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6659" name="文本框 131162"/>
              <p:cNvSpPr txBox="1"/>
              <p:nvPr/>
            </p:nvSpPr>
            <p:spPr>
              <a:xfrm>
                <a:off x="1398" y="2685"/>
                <a:ext cx="195" cy="23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6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6660" name="文本框 131163"/>
              <p:cNvSpPr txBox="1"/>
              <p:nvPr/>
            </p:nvSpPr>
            <p:spPr>
              <a:xfrm>
                <a:off x="1398" y="3189"/>
                <a:ext cx="195" cy="23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4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6661" name="文本框 131164"/>
              <p:cNvSpPr txBox="1"/>
              <p:nvPr/>
            </p:nvSpPr>
            <p:spPr>
              <a:xfrm>
                <a:off x="1398" y="3441"/>
                <a:ext cx="195" cy="23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3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6662" name="文本框 131165"/>
              <p:cNvSpPr txBox="1"/>
              <p:nvPr/>
            </p:nvSpPr>
            <p:spPr>
              <a:xfrm>
                <a:off x="1398" y="3693"/>
                <a:ext cx="195" cy="23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6663" name="文本框 131166"/>
              <p:cNvSpPr txBox="1"/>
              <p:nvPr/>
            </p:nvSpPr>
            <p:spPr>
              <a:xfrm>
                <a:off x="1398" y="2937"/>
                <a:ext cx="195" cy="23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5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6664" name="文本框 131167"/>
              <p:cNvSpPr txBox="1"/>
              <p:nvPr/>
            </p:nvSpPr>
            <p:spPr>
              <a:xfrm>
                <a:off x="1398" y="3946"/>
                <a:ext cx="195" cy="23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66665" name="Text Box 5"/>
          <p:cNvSpPr txBox="1"/>
          <p:nvPr/>
        </p:nvSpPr>
        <p:spPr>
          <a:xfrm>
            <a:off x="728663" y="80963"/>
            <a:ext cx="104679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66666" name="标题 171160"/>
          <p:cNvSpPr>
            <a:spLocks noGrp="1"/>
          </p:cNvSpPr>
          <p:nvPr/>
        </p:nvSpPr>
        <p:spPr>
          <a:xfrm>
            <a:off x="1455738" y="7048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2800" dirty="0">
                <a:latin typeface="Calibri Light" panose="020F0302020204030204" charset="0"/>
                <a:ea typeface="隶书" panose="02010509060101010101" pitchFamily="49" charset="-122"/>
              </a:rPr>
              <a:t>（</a:t>
            </a:r>
            <a:r>
              <a:rPr lang="en-US" altLang="zh-CN" sz="2800" dirty="0">
                <a:latin typeface="Calibri Light" panose="020F0302020204030204" charset="0"/>
                <a:ea typeface="隶书" panose="02010509060101010101" pitchFamily="49" charset="-122"/>
              </a:rPr>
              <a:t>2</a:t>
            </a:r>
            <a:r>
              <a:rPr lang="zh-CN" altLang="en-US" sz="2800" dirty="0">
                <a:latin typeface="Calibri Light" panose="020F0302020204030204" charset="0"/>
                <a:ea typeface="隶书" panose="02010509060101010101" pitchFamily="49" charset="-122"/>
              </a:rPr>
              <a:t>）字节和位</a:t>
            </a:r>
            <a:endParaRPr lang="zh-CN" altLang="en-US" sz="2800" dirty="0">
              <a:latin typeface="Calibri Light" panose="020F030202020403020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charRg st="1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31075">
                                            <p:txEl>
                                              <p:charRg st="1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charRg st="21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31075">
                                            <p:txEl>
                                              <p:charRg st="21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charRg st="37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31075">
                                            <p:txEl>
                                              <p:charRg st="37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311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31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31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7617" name="灯片编号占位符 1"/>
          <p:cNvSpPr/>
          <p:nvPr>
            <p:ph type="sldNum" sz="quarter"/>
          </p:nvPr>
        </p:nvSpPr>
        <p:spPr>
          <a:xfrm>
            <a:off x="8056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en-US" altLang="zh-CN" sz="1800" dirty="0"/>
            </a:fld>
            <a:endParaRPr lang="en-US" altLang="zh-CN" sz="1800" dirty="0"/>
          </a:p>
        </p:txBody>
      </p:sp>
      <p:sp>
        <p:nvSpPr>
          <p:cNvPr id="128003" name="文本占位符 128002"/>
          <p:cNvSpPr>
            <a:spLocks noGrp="1"/>
          </p:cNvSpPr>
          <p:nvPr>
            <p:ph type="body"/>
          </p:nvPr>
        </p:nvSpPr>
        <p:spPr>
          <a:xfrm>
            <a:off x="1789113" y="1314450"/>
            <a:ext cx="8783637" cy="3238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原码：最高位为符号位，其余各位为数值本身的绝对值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反码：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正数：反码与原码相同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负数：符号位为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，其余位对原码取反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补码：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正数：原码、反码、补码相同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负数：最高位为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，其余位为原码取反，再对整个数加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28020" name="组合 128019"/>
          <p:cNvGrpSpPr/>
          <p:nvPr/>
        </p:nvGrpSpPr>
        <p:grpSpPr>
          <a:xfrm>
            <a:off x="3627438" y="3868738"/>
            <a:ext cx="3113087" cy="2990850"/>
            <a:chOff x="1719" y="2281"/>
            <a:chExt cx="1961" cy="1884"/>
          </a:xfrm>
        </p:grpSpPr>
        <p:sp>
          <p:nvSpPr>
            <p:cNvPr id="367620" name="文本框 128004"/>
            <p:cNvSpPr txBox="1"/>
            <p:nvPr/>
          </p:nvSpPr>
          <p:spPr>
            <a:xfrm>
              <a:off x="3476" y="3081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1" name="文本框 128006"/>
            <p:cNvSpPr txBox="1"/>
            <p:nvPr/>
          </p:nvSpPr>
          <p:spPr>
            <a:xfrm>
              <a:off x="2553" y="2281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12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2" name="文本框 128007"/>
            <p:cNvSpPr txBox="1"/>
            <p:nvPr/>
          </p:nvSpPr>
          <p:spPr>
            <a:xfrm>
              <a:off x="2599" y="3914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3" name="文本框 128008"/>
            <p:cNvSpPr txBox="1"/>
            <p:nvPr/>
          </p:nvSpPr>
          <p:spPr>
            <a:xfrm>
              <a:off x="1719" y="3069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9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4" name="文本框 128009"/>
            <p:cNvSpPr txBox="1"/>
            <p:nvPr/>
          </p:nvSpPr>
          <p:spPr>
            <a:xfrm>
              <a:off x="3021" y="2392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5" name="文本框 128010"/>
            <p:cNvSpPr txBox="1"/>
            <p:nvPr/>
          </p:nvSpPr>
          <p:spPr>
            <a:xfrm>
              <a:off x="3387" y="2681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6" name="文本框 128011"/>
            <p:cNvSpPr txBox="1"/>
            <p:nvPr/>
          </p:nvSpPr>
          <p:spPr>
            <a:xfrm>
              <a:off x="3364" y="3493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7" name="文本框 128012"/>
            <p:cNvSpPr txBox="1"/>
            <p:nvPr/>
          </p:nvSpPr>
          <p:spPr>
            <a:xfrm>
              <a:off x="3020" y="3815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8" name="文本框 128013"/>
            <p:cNvSpPr txBox="1"/>
            <p:nvPr/>
          </p:nvSpPr>
          <p:spPr>
            <a:xfrm>
              <a:off x="2186" y="3837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29" name="文本框 128014"/>
            <p:cNvSpPr txBox="1"/>
            <p:nvPr/>
          </p:nvSpPr>
          <p:spPr>
            <a:xfrm>
              <a:off x="1819" y="3492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30" name="文本框 128015"/>
            <p:cNvSpPr txBox="1"/>
            <p:nvPr/>
          </p:nvSpPr>
          <p:spPr>
            <a:xfrm>
              <a:off x="1786" y="2693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31" name="文本框 128016"/>
            <p:cNvSpPr txBox="1"/>
            <p:nvPr/>
          </p:nvSpPr>
          <p:spPr>
            <a:xfrm>
              <a:off x="2142" y="2393"/>
              <a:ext cx="28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7632" name="直接连接符 128017"/>
            <p:cNvSpPr/>
            <p:nvPr/>
          </p:nvSpPr>
          <p:spPr>
            <a:xfrm flipH="1">
              <a:off x="1889" y="3188"/>
              <a:ext cx="8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7633" name="直接连接符 128018"/>
            <p:cNvSpPr/>
            <p:nvPr/>
          </p:nvSpPr>
          <p:spPr>
            <a:xfrm>
              <a:off x="2689" y="3189"/>
              <a:ext cx="711" cy="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</p:spPr>
        </p:sp>
      </p:grpSp>
      <p:sp>
        <p:nvSpPr>
          <p:cNvPr id="128022" name="椭圆形标注 128021"/>
          <p:cNvSpPr/>
          <p:nvPr/>
        </p:nvSpPr>
        <p:spPr>
          <a:xfrm>
            <a:off x="7786688" y="4360863"/>
            <a:ext cx="2503487" cy="990600"/>
          </a:xfrm>
          <a:prstGeom prst="wedgeEllipseCallout">
            <a:avLst>
              <a:gd name="adj1" fmla="val -81093"/>
              <a:gd name="adj2" fmla="val 48028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9-5=4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9+7=16=(14)</a:t>
            </a:r>
            <a:r>
              <a:rPr lang="en-US" altLang="zh-CN" sz="1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lang="en-US" altLang="zh-CN" sz="1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7635" name="Text Box 5"/>
          <p:cNvSpPr txBox="1"/>
          <p:nvPr/>
        </p:nvSpPr>
        <p:spPr>
          <a:xfrm>
            <a:off x="728663" y="61913"/>
            <a:ext cx="104679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67636" name="标题 171160"/>
          <p:cNvSpPr>
            <a:spLocks noGrp="1"/>
          </p:cNvSpPr>
          <p:nvPr/>
        </p:nvSpPr>
        <p:spPr>
          <a:xfrm>
            <a:off x="1455738" y="7048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2800" dirty="0">
                <a:latin typeface="Calibri Light" panose="020F0302020204030204" charset="0"/>
                <a:ea typeface="隶书" panose="02010509060101010101" pitchFamily="49" charset="-122"/>
              </a:rPr>
              <a:t>（</a:t>
            </a:r>
            <a:r>
              <a:rPr lang="en-US" altLang="zh-CN" sz="2800" dirty="0">
                <a:latin typeface="Calibri Light" panose="020F0302020204030204" charset="0"/>
                <a:ea typeface="隶书" panose="02010509060101010101" pitchFamily="49" charset="-122"/>
              </a:rPr>
              <a:t>3</a:t>
            </a:r>
            <a:r>
              <a:rPr lang="zh-CN" altLang="en-US" sz="2800" dirty="0">
                <a:latin typeface="Calibri Light" panose="020F0302020204030204" charset="0"/>
                <a:ea typeface="隶书" panose="02010509060101010101" pitchFamily="49" charset="-122"/>
              </a:rPr>
              <a:t>）数值的表示方法</a:t>
            </a:r>
            <a:r>
              <a:rPr lang="en-US" altLang="zh-CN" sz="2800" dirty="0">
                <a:latin typeface="Calibri Light" panose="020F0302020204030204" charset="0"/>
                <a:ea typeface="隶书" panose="02010509060101010101" pitchFamily="49" charset="-122"/>
              </a:rPr>
              <a:t>--</a:t>
            </a:r>
            <a:r>
              <a:rPr lang="zh-CN" altLang="en-US" sz="2800" dirty="0">
                <a:latin typeface="Calibri Light" panose="020F0302020204030204" charset="0"/>
                <a:ea typeface="隶书" panose="02010509060101010101" pitchFamily="49" charset="-122"/>
              </a:rPr>
              <a:t>原码、反码和补码</a:t>
            </a:r>
            <a:endParaRPr lang="zh-CN" altLang="en-US" sz="2800" dirty="0">
              <a:latin typeface="Calibri Light" panose="020F030202020403020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8003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charRg st="29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8003">
                                            <p:txEl>
                                              <p:charRg st="29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charRg st="4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8003">
                                            <p:txEl>
                                              <p:charRg st="40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charRg st="58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8003">
                                            <p:txEl>
                                              <p:charRg st="58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charRg st="62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8003">
                                            <p:txEl>
                                              <p:charRg st="62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charRg st="76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28003">
                                            <p:txEl>
                                              <p:charRg st="76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280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28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ldLvl="5" build="p"/>
      <p:bldP spid="12802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4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081" name="组合 129080"/>
          <p:cNvGrpSpPr/>
          <p:nvPr/>
        </p:nvGrpSpPr>
        <p:grpSpPr>
          <a:xfrm>
            <a:off x="2500313" y="636588"/>
            <a:ext cx="7065962" cy="3676650"/>
            <a:chOff x="593" y="284"/>
            <a:chExt cx="4451" cy="2316"/>
          </a:xfrm>
        </p:grpSpPr>
        <p:sp>
          <p:nvSpPr>
            <p:cNvPr id="368643" name="矩形 129025"/>
            <p:cNvSpPr/>
            <p:nvPr/>
          </p:nvSpPr>
          <p:spPr>
            <a:xfrm>
              <a:off x="599" y="556"/>
              <a:ext cx="4445" cy="2044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44" name="文本框 129026"/>
            <p:cNvSpPr txBox="1"/>
            <p:nvPr/>
          </p:nvSpPr>
          <p:spPr>
            <a:xfrm>
              <a:off x="1663" y="573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原码</a:t>
              </a:r>
              <a:endParaRPr lang="zh-CN" altLang="en-US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45" name="文本框 129027"/>
            <p:cNvSpPr txBox="1"/>
            <p:nvPr/>
          </p:nvSpPr>
          <p:spPr>
            <a:xfrm>
              <a:off x="2986" y="573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反码</a:t>
              </a:r>
              <a:endParaRPr lang="zh-CN" altLang="en-US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46" name="文本框 129028"/>
            <p:cNvSpPr txBox="1"/>
            <p:nvPr/>
          </p:nvSpPr>
          <p:spPr>
            <a:xfrm>
              <a:off x="4198" y="573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补码</a:t>
              </a:r>
              <a:endParaRPr lang="zh-CN" altLang="en-US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47" name="直接连接符 129029"/>
            <p:cNvSpPr/>
            <p:nvPr/>
          </p:nvSpPr>
          <p:spPr>
            <a:xfrm>
              <a:off x="599" y="823"/>
              <a:ext cx="444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48" name="文本框 129030"/>
            <p:cNvSpPr txBox="1"/>
            <p:nvPr/>
          </p:nvSpPr>
          <p:spPr>
            <a:xfrm>
              <a:off x="630" y="823"/>
              <a:ext cx="29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+7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49" name="文本框 129031"/>
            <p:cNvSpPr txBox="1"/>
            <p:nvPr/>
          </p:nvSpPr>
          <p:spPr>
            <a:xfrm>
              <a:off x="1441" y="823"/>
              <a:ext cx="80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00000111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50" name="文本框 129032"/>
            <p:cNvSpPr txBox="1"/>
            <p:nvPr/>
          </p:nvSpPr>
          <p:spPr>
            <a:xfrm>
              <a:off x="2626" y="823"/>
              <a:ext cx="80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00000111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51" name="文本框 129033"/>
            <p:cNvSpPr txBox="1"/>
            <p:nvPr/>
          </p:nvSpPr>
          <p:spPr>
            <a:xfrm>
              <a:off x="3938" y="823"/>
              <a:ext cx="80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00000111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52" name="直接连接符 129034"/>
            <p:cNvSpPr/>
            <p:nvPr/>
          </p:nvSpPr>
          <p:spPr>
            <a:xfrm>
              <a:off x="1299" y="556"/>
              <a:ext cx="0" cy="20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53" name="直接连接符 129035"/>
            <p:cNvSpPr/>
            <p:nvPr/>
          </p:nvSpPr>
          <p:spPr>
            <a:xfrm>
              <a:off x="2544" y="556"/>
              <a:ext cx="0" cy="20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54" name="直接连接符 129036"/>
            <p:cNvSpPr/>
            <p:nvPr/>
          </p:nvSpPr>
          <p:spPr>
            <a:xfrm>
              <a:off x="3755" y="556"/>
              <a:ext cx="0" cy="20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55" name="直接连接符 129037"/>
            <p:cNvSpPr/>
            <p:nvPr/>
          </p:nvSpPr>
          <p:spPr>
            <a:xfrm>
              <a:off x="599" y="1089"/>
              <a:ext cx="44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56" name="文本框 129044"/>
            <p:cNvSpPr txBox="1"/>
            <p:nvPr/>
          </p:nvSpPr>
          <p:spPr>
            <a:xfrm>
              <a:off x="626" y="1130"/>
              <a:ext cx="25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-7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57" name="文本框 129045"/>
            <p:cNvSpPr txBox="1"/>
            <p:nvPr/>
          </p:nvSpPr>
          <p:spPr>
            <a:xfrm>
              <a:off x="1437" y="1130"/>
              <a:ext cx="80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0000111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58" name="文本框 129046"/>
            <p:cNvSpPr txBox="1"/>
            <p:nvPr/>
          </p:nvSpPr>
          <p:spPr>
            <a:xfrm>
              <a:off x="2622" y="1130"/>
              <a:ext cx="7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1111000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59" name="文本框 129047"/>
            <p:cNvSpPr txBox="1"/>
            <p:nvPr/>
          </p:nvSpPr>
          <p:spPr>
            <a:xfrm>
              <a:off x="3934" y="1130"/>
              <a:ext cx="7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1111001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60" name="直接连接符 129048"/>
            <p:cNvSpPr/>
            <p:nvPr/>
          </p:nvSpPr>
          <p:spPr>
            <a:xfrm>
              <a:off x="599" y="1356"/>
              <a:ext cx="44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61" name="文本框 129049"/>
            <p:cNvSpPr txBox="1"/>
            <p:nvPr/>
          </p:nvSpPr>
          <p:spPr>
            <a:xfrm>
              <a:off x="604" y="1375"/>
              <a:ext cx="29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+0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62" name="文本框 129050"/>
            <p:cNvSpPr txBox="1"/>
            <p:nvPr/>
          </p:nvSpPr>
          <p:spPr>
            <a:xfrm>
              <a:off x="1415" y="1375"/>
              <a:ext cx="8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00000000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63" name="文本框 129051"/>
            <p:cNvSpPr txBox="1"/>
            <p:nvPr/>
          </p:nvSpPr>
          <p:spPr>
            <a:xfrm>
              <a:off x="2600" y="1375"/>
              <a:ext cx="8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00000000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64" name="文本框 129052"/>
            <p:cNvSpPr txBox="1"/>
            <p:nvPr/>
          </p:nvSpPr>
          <p:spPr>
            <a:xfrm>
              <a:off x="3912" y="1375"/>
              <a:ext cx="8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00000000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65" name="直接连接符 129053"/>
            <p:cNvSpPr/>
            <p:nvPr/>
          </p:nvSpPr>
          <p:spPr>
            <a:xfrm>
              <a:off x="599" y="1623"/>
              <a:ext cx="44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66" name="文本框 129054"/>
            <p:cNvSpPr txBox="1"/>
            <p:nvPr/>
          </p:nvSpPr>
          <p:spPr>
            <a:xfrm>
              <a:off x="593" y="1663"/>
              <a:ext cx="25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-0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67" name="文本框 129055"/>
            <p:cNvSpPr txBox="1"/>
            <p:nvPr/>
          </p:nvSpPr>
          <p:spPr>
            <a:xfrm>
              <a:off x="1404" y="1663"/>
              <a:ext cx="8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10000000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68" name="文本框 129056"/>
            <p:cNvSpPr txBox="1"/>
            <p:nvPr/>
          </p:nvSpPr>
          <p:spPr>
            <a:xfrm>
              <a:off x="2589" y="1663"/>
              <a:ext cx="74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11111111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69" name="文本框 129057"/>
            <p:cNvSpPr txBox="1"/>
            <p:nvPr/>
          </p:nvSpPr>
          <p:spPr>
            <a:xfrm>
              <a:off x="3901" y="1663"/>
              <a:ext cx="8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00000000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70" name="直接连接符 129058"/>
            <p:cNvSpPr/>
            <p:nvPr/>
          </p:nvSpPr>
          <p:spPr>
            <a:xfrm>
              <a:off x="599" y="1901"/>
              <a:ext cx="44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71" name="文本框 129059"/>
            <p:cNvSpPr txBox="1"/>
            <p:nvPr/>
          </p:nvSpPr>
          <p:spPr>
            <a:xfrm>
              <a:off x="629" y="2128"/>
              <a:ext cx="62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600" dirty="0">
                  <a:latin typeface="Arial" panose="020B0604020202020204" pitchFamily="34" charset="0"/>
                  <a:ea typeface="宋体" panose="02010600030101010101" pitchFamily="2" charset="-122"/>
                </a:rPr>
                <a:t>数的范围</a:t>
              </a:r>
              <a:endParaRPr lang="zh-CN" altLang="en-US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72" name="文本框 129060"/>
            <p:cNvSpPr txBox="1"/>
            <p:nvPr/>
          </p:nvSpPr>
          <p:spPr>
            <a:xfrm>
              <a:off x="1374" y="1949"/>
              <a:ext cx="995" cy="6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01111111~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11111111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(-127~+127)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73" name="文本框 129062"/>
            <p:cNvSpPr txBox="1"/>
            <p:nvPr/>
          </p:nvSpPr>
          <p:spPr>
            <a:xfrm>
              <a:off x="2603" y="1945"/>
              <a:ext cx="995" cy="6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01111111~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10000000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(-127~+127)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74" name="文本框 129063"/>
            <p:cNvSpPr txBox="1"/>
            <p:nvPr/>
          </p:nvSpPr>
          <p:spPr>
            <a:xfrm>
              <a:off x="3914" y="1923"/>
              <a:ext cx="995" cy="6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01111111~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10000000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(-128~+127)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75" name="文本框 129064"/>
            <p:cNvSpPr txBox="1"/>
            <p:nvPr/>
          </p:nvSpPr>
          <p:spPr>
            <a:xfrm>
              <a:off x="1975" y="28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zh-CN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9067" name="矩形 129066"/>
          <p:cNvSpPr/>
          <p:nvPr/>
        </p:nvSpPr>
        <p:spPr>
          <a:xfrm>
            <a:off x="1524000" y="4425950"/>
            <a:ext cx="9144000" cy="5953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负数补码转换成十进制数：最高位不动，其余位取反加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29068" name="文本框 129067"/>
          <p:cNvSpPr txBox="1"/>
          <p:nvPr/>
        </p:nvSpPr>
        <p:spPr>
          <a:xfrm>
            <a:off x="2736850" y="5049838"/>
            <a:ext cx="2768600" cy="10144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例  补码：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11111001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     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取反：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10000110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     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加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：  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10000111=-7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68678" name="标题 129089"/>
          <p:cNvSpPr>
            <a:spLocks noGrp="1"/>
          </p:cNvSpPr>
          <p:nvPr>
            <p:ph type="title"/>
          </p:nvPr>
        </p:nvSpPr>
        <p:spPr>
          <a:xfrm>
            <a:off x="2209800" y="768350"/>
            <a:ext cx="7772400" cy="3063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（用一字节表示数）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68679" name="Text Box 5"/>
          <p:cNvSpPr txBox="1"/>
          <p:nvPr/>
        </p:nvSpPr>
        <p:spPr>
          <a:xfrm>
            <a:off x="728663" y="80963"/>
            <a:ext cx="104679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、预备知识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90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906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906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>
                                            <p:txEl>
                                              <p:charRg st="15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9068">
                                            <p:txEl>
                                              <p:charRg st="15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9068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67" grpId="0" build="p"/>
      <p:bldP spid="12906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369667" name="文本框 1"/>
          <p:cNvSpPr/>
          <p:nvPr/>
        </p:nvSpPr>
        <p:spPr>
          <a:xfrm>
            <a:off x="5973763" y="2432050"/>
            <a:ext cx="2214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数据类型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69668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02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1713" name="灯片编号占位符 1"/>
          <p:cNvSpPr/>
          <p:nvPr>
            <p:ph type="sldNum" sz="quarter"/>
          </p:nvPr>
        </p:nvSpPr>
        <p:spPr>
          <a:xfrm>
            <a:off x="8056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en-US" altLang="zh-CN" sz="1800" dirty="0"/>
            </a:fld>
            <a:endParaRPr lang="en-US" altLang="zh-CN" sz="1800" dirty="0"/>
          </a:p>
        </p:txBody>
      </p:sp>
      <p:sp>
        <p:nvSpPr>
          <p:cNvPr id="121859" name="文本占位符 121858"/>
          <p:cNvSpPr>
            <a:spLocks noGrp="1"/>
          </p:cNvSpPr>
          <p:nvPr>
            <p:ph type="body"/>
          </p:nvPr>
        </p:nvSpPr>
        <p:spPr>
          <a:xfrm>
            <a:off x="2166938" y="736600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）数据类型总表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1923" name="组合 121922"/>
          <p:cNvGrpSpPr/>
          <p:nvPr/>
        </p:nvGrpSpPr>
        <p:grpSpPr>
          <a:xfrm>
            <a:off x="2922588" y="625475"/>
            <a:ext cx="5124450" cy="6151563"/>
            <a:chOff x="1222" y="240"/>
            <a:chExt cx="3228" cy="3875"/>
          </a:xfrm>
        </p:grpSpPr>
        <p:sp>
          <p:nvSpPr>
            <p:cNvPr id="371716" name="文本框 121860"/>
            <p:cNvSpPr txBox="1"/>
            <p:nvPr/>
          </p:nvSpPr>
          <p:spPr>
            <a:xfrm>
              <a:off x="1222" y="2291"/>
              <a:ext cx="259" cy="9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  <a:endPara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</a:t>
              </a:r>
              <a:endPara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据</a:t>
              </a:r>
              <a:endPara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类</a:t>
              </a:r>
              <a:endPara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型</a:t>
              </a:r>
              <a:endPara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1717" name="左大括号 121861"/>
            <p:cNvSpPr/>
            <p:nvPr/>
          </p:nvSpPr>
          <p:spPr>
            <a:xfrm>
              <a:off x="1462" y="1247"/>
              <a:ext cx="192" cy="2868"/>
            </a:xfrm>
            <a:prstGeom prst="leftBrace">
              <a:avLst>
                <a:gd name="adj1" fmla="val 123787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18" name="文本框 121862"/>
            <p:cNvSpPr txBox="1"/>
            <p:nvPr/>
          </p:nvSpPr>
          <p:spPr>
            <a:xfrm>
              <a:off x="1726" y="1175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基本类型</a:t>
              </a:r>
              <a:endPara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19" name="文本框 121863"/>
            <p:cNvSpPr txBox="1"/>
            <p:nvPr/>
          </p:nvSpPr>
          <p:spPr>
            <a:xfrm>
              <a:off x="1702" y="2579"/>
              <a:ext cx="81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dirty="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构造类型</a:t>
              </a:r>
              <a:endParaRPr lang="zh-CN" altLang="en-US" dirty="0">
                <a:solidFill>
                  <a:schemeClr val="folHlink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20" name="文本框 121864"/>
            <p:cNvSpPr txBox="1"/>
            <p:nvPr/>
          </p:nvSpPr>
          <p:spPr>
            <a:xfrm>
              <a:off x="1702" y="3203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指针类型</a:t>
              </a:r>
              <a:endParaRPr lang="zh-CN" altLang="en-US" dirty="0">
                <a:solidFill>
                  <a:schemeClr val="folHlink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21" name="文本框 121865"/>
            <p:cNvSpPr txBox="1"/>
            <p:nvPr/>
          </p:nvSpPr>
          <p:spPr>
            <a:xfrm>
              <a:off x="1702" y="3491"/>
              <a:ext cx="79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空类型</a:t>
              </a:r>
              <a:r>
                <a:rPr lang="en-US" altLang="zh-CN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void</a:t>
              </a:r>
              <a:endParaRPr lang="en-US" altLang="zh-CN">
                <a:solidFill>
                  <a:schemeClr val="folHlink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22" name="文本框 121866"/>
            <p:cNvSpPr txBox="1"/>
            <p:nvPr/>
          </p:nvSpPr>
          <p:spPr>
            <a:xfrm>
              <a:off x="1702" y="3875"/>
              <a:ext cx="114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定义类型</a:t>
              </a:r>
              <a:r>
                <a:rPr lang="en-US" altLang="zh-CN" err="1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typedef</a:t>
              </a:r>
              <a:endParaRPr lang="en-US" altLang="zh-CN">
                <a:solidFill>
                  <a:schemeClr val="folHlink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23" name="文本框 121868"/>
            <p:cNvSpPr txBox="1"/>
            <p:nvPr/>
          </p:nvSpPr>
          <p:spPr>
            <a:xfrm>
              <a:off x="2758" y="1715"/>
              <a:ext cx="9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CC0066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字符类型</a:t>
              </a:r>
              <a:r>
                <a:rPr lang="en-US" altLang="zh-CN">
                  <a:solidFill>
                    <a:srgbClr val="CC0066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char</a:t>
              </a:r>
              <a:endParaRPr lang="en-US" altLang="zh-CN">
                <a:solidFill>
                  <a:srgbClr val="CC0066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24" name="文本框 121869"/>
            <p:cNvSpPr txBox="1"/>
            <p:nvPr/>
          </p:nvSpPr>
          <p:spPr>
            <a:xfrm>
              <a:off x="2803" y="2866"/>
              <a:ext cx="102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FF9933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枚举类型</a:t>
              </a:r>
              <a:r>
                <a:rPr lang="en-US" altLang="zh-CN" err="1">
                  <a:solidFill>
                    <a:srgbClr val="FF9933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enum</a:t>
              </a:r>
              <a:endParaRPr lang="en-US" altLang="zh-CN">
                <a:solidFill>
                  <a:srgbClr val="FF9933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25" name="文本框 121870"/>
            <p:cNvSpPr txBox="1"/>
            <p:nvPr/>
          </p:nvSpPr>
          <p:spPr>
            <a:xfrm>
              <a:off x="2770" y="575"/>
              <a:ext cx="50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CC0066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整   型</a:t>
              </a:r>
              <a:endParaRPr lang="zh-CN" altLang="en-US" dirty="0">
                <a:solidFill>
                  <a:srgbClr val="CC0066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26" name="文本框 121871"/>
            <p:cNvSpPr txBox="1"/>
            <p:nvPr/>
          </p:nvSpPr>
          <p:spPr>
            <a:xfrm>
              <a:off x="2806" y="1367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CC0066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实型</a:t>
              </a:r>
              <a:endParaRPr lang="zh-CN" altLang="en-US" dirty="0">
                <a:solidFill>
                  <a:srgbClr val="CC0066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27" name="左大括号 121877"/>
            <p:cNvSpPr/>
            <p:nvPr/>
          </p:nvSpPr>
          <p:spPr>
            <a:xfrm>
              <a:off x="2614" y="671"/>
              <a:ext cx="84" cy="1161"/>
            </a:xfrm>
            <a:prstGeom prst="leftBrace">
              <a:avLst>
                <a:gd name="adj1" fmla="val 114538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71728" name="组合 121892"/>
            <p:cNvGrpSpPr/>
            <p:nvPr/>
          </p:nvGrpSpPr>
          <p:grpSpPr>
            <a:xfrm>
              <a:off x="3394" y="1139"/>
              <a:ext cx="1056" cy="624"/>
              <a:chOff x="3382" y="1235"/>
              <a:chExt cx="1056" cy="624"/>
            </a:xfrm>
          </p:grpSpPr>
          <p:sp>
            <p:nvSpPr>
              <p:cNvPr id="371729" name="文本框 121872"/>
              <p:cNvSpPr txBox="1"/>
              <p:nvPr/>
            </p:nvSpPr>
            <p:spPr>
              <a:xfrm>
                <a:off x="3478" y="1235"/>
                <a:ext cx="96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dirty="0">
                    <a:solidFill>
                      <a:schemeClr val="tx2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单精度型</a:t>
                </a:r>
                <a:r>
                  <a:rPr lang="en-US" altLang="zh-CN">
                    <a:solidFill>
                      <a:schemeClr val="tx2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float</a:t>
                </a:r>
                <a:endParaRPr lang="en-US" altLang="zh-CN">
                  <a:solidFill>
                    <a:schemeClr val="tx2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1730" name="文本框 121873"/>
              <p:cNvSpPr txBox="1"/>
              <p:nvPr/>
            </p:nvSpPr>
            <p:spPr>
              <a:xfrm>
                <a:off x="3478" y="1571"/>
                <a:ext cx="670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dirty="0">
                    <a:solidFill>
                      <a:schemeClr val="tx2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双精度型</a:t>
                </a:r>
                <a:r>
                  <a:rPr lang="en-US" altLang="zh-CN">
                    <a:solidFill>
                      <a:schemeClr val="tx2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double</a:t>
                </a:r>
                <a:endParaRPr lang="en-US" altLang="zh-CN">
                  <a:solidFill>
                    <a:schemeClr val="tx2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1731" name="左大括号 121880"/>
              <p:cNvSpPr/>
              <p:nvPr/>
            </p:nvSpPr>
            <p:spPr>
              <a:xfrm>
                <a:off x="3382" y="1235"/>
                <a:ext cx="48" cy="624"/>
              </a:xfrm>
              <a:prstGeom prst="leftBrace">
                <a:avLst>
                  <a:gd name="adj1" fmla="val 107731"/>
                  <a:gd name="adj2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71732" name="左大括号 121881"/>
            <p:cNvSpPr/>
            <p:nvPr/>
          </p:nvSpPr>
          <p:spPr>
            <a:xfrm>
              <a:off x="2566" y="1995"/>
              <a:ext cx="156" cy="1112"/>
            </a:xfrm>
            <a:prstGeom prst="leftBrace">
              <a:avLst>
                <a:gd name="adj1" fmla="val 59071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33" name="文本框 121882"/>
            <p:cNvSpPr txBox="1"/>
            <p:nvPr/>
          </p:nvSpPr>
          <p:spPr>
            <a:xfrm>
              <a:off x="2803" y="2002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FF9933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数组</a:t>
              </a:r>
              <a:endParaRPr lang="zh-CN" altLang="en-US" dirty="0">
                <a:solidFill>
                  <a:srgbClr val="FF9933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34" name="文本框 121883"/>
            <p:cNvSpPr txBox="1"/>
            <p:nvPr/>
          </p:nvSpPr>
          <p:spPr>
            <a:xfrm>
              <a:off x="2803" y="2290"/>
              <a:ext cx="88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FF9933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结构体</a:t>
              </a:r>
              <a:r>
                <a:rPr lang="en-US" altLang="zh-CN" err="1">
                  <a:solidFill>
                    <a:srgbClr val="FF9933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struct</a:t>
              </a:r>
              <a:endParaRPr lang="en-US" altLang="zh-CN">
                <a:solidFill>
                  <a:srgbClr val="FF9933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1735" name="文本框 121884"/>
            <p:cNvSpPr txBox="1"/>
            <p:nvPr/>
          </p:nvSpPr>
          <p:spPr>
            <a:xfrm>
              <a:off x="2803" y="2578"/>
              <a:ext cx="88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FF9933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共用体</a:t>
              </a:r>
              <a:r>
                <a:rPr lang="en-US" altLang="zh-CN">
                  <a:solidFill>
                    <a:srgbClr val="FF9933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union</a:t>
              </a:r>
              <a:endParaRPr lang="en-US" altLang="zh-CN">
                <a:solidFill>
                  <a:srgbClr val="FF9933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71736" name="组合 121921"/>
            <p:cNvGrpSpPr/>
            <p:nvPr/>
          </p:nvGrpSpPr>
          <p:grpSpPr>
            <a:xfrm>
              <a:off x="3393" y="240"/>
              <a:ext cx="950" cy="816"/>
              <a:chOff x="4473" y="2076"/>
              <a:chExt cx="950" cy="816"/>
            </a:xfrm>
          </p:grpSpPr>
          <p:sp>
            <p:nvSpPr>
              <p:cNvPr id="371737" name="文本框 121910"/>
              <p:cNvSpPr txBox="1"/>
              <p:nvPr/>
            </p:nvSpPr>
            <p:spPr>
              <a:xfrm>
                <a:off x="4569" y="2076"/>
                <a:ext cx="854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dirty="0">
                    <a:solidFill>
                      <a:srgbClr val="9966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短整型</a:t>
                </a:r>
                <a:r>
                  <a:rPr lang="en-US" altLang="zh-CN">
                    <a:solidFill>
                      <a:srgbClr val="9966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short</a:t>
                </a:r>
                <a:endParaRPr lang="en-US" altLang="zh-CN">
                  <a:solidFill>
                    <a:srgbClr val="996600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1738" name="文本框 121911"/>
              <p:cNvSpPr txBox="1"/>
              <p:nvPr/>
            </p:nvSpPr>
            <p:spPr>
              <a:xfrm>
                <a:off x="4569" y="2652"/>
                <a:ext cx="80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dirty="0">
                    <a:solidFill>
                      <a:srgbClr val="9966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长整型</a:t>
                </a:r>
                <a:r>
                  <a:rPr lang="en-US" altLang="zh-CN">
                    <a:solidFill>
                      <a:srgbClr val="9966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long</a:t>
                </a:r>
                <a:endParaRPr lang="en-US" altLang="zh-CN">
                  <a:solidFill>
                    <a:srgbClr val="996600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1739" name="文本框 121912"/>
              <p:cNvSpPr txBox="1"/>
              <p:nvPr/>
            </p:nvSpPr>
            <p:spPr>
              <a:xfrm>
                <a:off x="4569" y="2423"/>
                <a:ext cx="5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dirty="0">
                    <a:solidFill>
                      <a:srgbClr val="9966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整型</a:t>
                </a:r>
                <a:r>
                  <a:rPr lang="en-US" altLang="zh-CN" err="1">
                    <a:solidFill>
                      <a:srgbClr val="9966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int</a:t>
                </a:r>
                <a:endParaRPr lang="en-US" altLang="zh-CN">
                  <a:solidFill>
                    <a:srgbClr val="996600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1740" name="左大括号 121915"/>
              <p:cNvSpPr/>
              <p:nvPr/>
            </p:nvSpPr>
            <p:spPr>
              <a:xfrm>
                <a:off x="4473" y="2076"/>
                <a:ext cx="48" cy="816"/>
              </a:xfrm>
              <a:prstGeom prst="leftBrace">
                <a:avLst>
                  <a:gd name="adj1" fmla="val 140879"/>
                  <a:gd name="adj2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21924" name="矩形标注 121923" descr="羊皮纸"/>
          <p:cNvSpPr/>
          <p:nvPr/>
        </p:nvSpPr>
        <p:spPr>
          <a:xfrm>
            <a:off x="7219950" y="3152775"/>
            <a:ext cx="2262188" cy="1200150"/>
          </a:xfrm>
          <a:prstGeom prst="wedgeRectCallout">
            <a:avLst>
              <a:gd name="adj1" fmla="val -25519"/>
              <a:gd name="adj2" fmla="val -66565"/>
            </a:avLst>
          </a:prstGeom>
          <a:blipFill rotWithShape="0">
            <a:blip r:embed="rId1"/>
          </a:blip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数据类型决定：</a:t>
            </a:r>
            <a:endParaRPr lang="zh-CN" altLang="en-US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隶书" panose="02010509060101010101" pitchFamily="49" charset="-122"/>
              </a:rPr>
              <a:t>1. </a:t>
            </a:r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数据占内存字节数</a:t>
            </a:r>
            <a:endParaRPr lang="zh-CN" altLang="en-US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隶书" panose="02010509060101010101" pitchFamily="49" charset="-122"/>
              </a:rPr>
              <a:t>2. </a:t>
            </a:r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数据取值范围</a:t>
            </a:r>
            <a:endParaRPr lang="zh-CN" altLang="en-US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隶书" panose="02010509060101010101" pitchFamily="49" charset="-122"/>
              </a:rPr>
              <a:t>3. </a:t>
            </a:r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其上可进行的操作</a:t>
            </a:r>
            <a:endParaRPr lang="zh-CN" altLang="en-US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grpSp>
        <p:nvGrpSpPr>
          <p:cNvPr id="371742" name="组合 121932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371743" name="圆角矩形 121933">
              <a:hlinkClick r:id="rId2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71744" name="组合 121934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371745" name="任意多边形 121935">
                <a:hlinkClick r:id="rId2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1746" name="椭圆 121936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1747" name="椭圆 121937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71748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、数据类型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charRg st="1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charRg st="1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1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1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ldLvl="5" build="p"/>
      <p:bldP spid="12192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376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6674" name="矩形 156673"/>
          <p:cNvSpPr/>
          <p:nvPr/>
        </p:nvSpPr>
        <p:spPr>
          <a:xfrm>
            <a:off x="2166938" y="376238"/>
            <a:ext cx="8501062" cy="57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 indent="0"/>
            <a:endParaRPr lang="zh-CN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57821" name="组合 157820"/>
          <p:cNvGrpSpPr/>
          <p:nvPr/>
        </p:nvGrpSpPr>
        <p:grpSpPr>
          <a:xfrm>
            <a:off x="2233613" y="1146175"/>
            <a:ext cx="8205787" cy="4495800"/>
            <a:chOff x="447" y="588"/>
            <a:chExt cx="5169" cy="2832"/>
          </a:xfrm>
        </p:grpSpPr>
        <p:sp>
          <p:nvSpPr>
            <p:cNvPr id="373764" name="矩形 157744"/>
            <p:cNvSpPr/>
            <p:nvPr/>
          </p:nvSpPr>
          <p:spPr>
            <a:xfrm>
              <a:off x="504" y="588"/>
              <a:ext cx="5088" cy="280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765" name="直接连接符 157745"/>
            <p:cNvSpPr/>
            <p:nvPr/>
          </p:nvSpPr>
          <p:spPr>
            <a:xfrm>
              <a:off x="528" y="948"/>
              <a:ext cx="50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66" name="直接连接符 157746"/>
            <p:cNvSpPr/>
            <p:nvPr/>
          </p:nvSpPr>
          <p:spPr>
            <a:xfrm>
              <a:off x="516" y="2410"/>
              <a:ext cx="50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67" name="直接连接符 157747"/>
            <p:cNvSpPr/>
            <p:nvPr/>
          </p:nvSpPr>
          <p:spPr>
            <a:xfrm>
              <a:off x="516" y="2899"/>
              <a:ext cx="50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68" name="直接连接符 157748"/>
            <p:cNvSpPr/>
            <p:nvPr/>
          </p:nvSpPr>
          <p:spPr>
            <a:xfrm>
              <a:off x="840" y="588"/>
              <a:ext cx="0" cy="28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69" name="直接连接符 157749"/>
            <p:cNvSpPr/>
            <p:nvPr/>
          </p:nvSpPr>
          <p:spPr>
            <a:xfrm>
              <a:off x="1176" y="588"/>
              <a:ext cx="0" cy="28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0" name="直接连接符 157750"/>
            <p:cNvSpPr/>
            <p:nvPr/>
          </p:nvSpPr>
          <p:spPr>
            <a:xfrm>
              <a:off x="2916" y="600"/>
              <a:ext cx="0" cy="28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1" name="直接连接符 157751"/>
            <p:cNvSpPr/>
            <p:nvPr/>
          </p:nvSpPr>
          <p:spPr>
            <a:xfrm>
              <a:off x="3720" y="612"/>
              <a:ext cx="0" cy="28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2" name="直接连接符 157752"/>
            <p:cNvSpPr/>
            <p:nvPr/>
          </p:nvSpPr>
          <p:spPr>
            <a:xfrm>
              <a:off x="840" y="1677"/>
              <a:ext cx="47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3" name="直接连接符 157753"/>
            <p:cNvSpPr/>
            <p:nvPr/>
          </p:nvSpPr>
          <p:spPr>
            <a:xfrm>
              <a:off x="840" y="2655"/>
              <a:ext cx="47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4" name="直接连接符 157754"/>
            <p:cNvSpPr/>
            <p:nvPr/>
          </p:nvSpPr>
          <p:spPr>
            <a:xfrm>
              <a:off x="840" y="3144"/>
              <a:ext cx="47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5" name="直接连接符 157755"/>
            <p:cNvSpPr/>
            <p:nvPr/>
          </p:nvSpPr>
          <p:spPr>
            <a:xfrm>
              <a:off x="1176" y="1188"/>
              <a:ext cx="44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6" name="直接连接符 157758"/>
            <p:cNvSpPr/>
            <p:nvPr/>
          </p:nvSpPr>
          <p:spPr>
            <a:xfrm>
              <a:off x="1176" y="1432"/>
              <a:ext cx="44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7" name="直接连接符 157759"/>
            <p:cNvSpPr/>
            <p:nvPr/>
          </p:nvSpPr>
          <p:spPr>
            <a:xfrm>
              <a:off x="1176" y="1921"/>
              <a:ext cx="44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8" name="直接连接符 157761"/>
            <p:cNvSpPr/>
            <p:nvPr/>
          </p:nvSpPr>
          <p:spPr>
            <a:xfrm>
              <a:off x="1176" y="2161"/>
              <a:ext cx="44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3779" name="文本框 157763"/>
            <p:cNvSpPr txBox="1"/>
            <p:nvPr/>
          </p:nvSpPr>
          <p:spPr>
            <a:xfrm>
              <a:off x="447" y="634"/>
              <a:ext cx="43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类型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73780" name="文本框 157764"/>
            <p:cNvSpPr txBox="1"/>
            <p:nvPr/>
          </p:nvSpPr>
          <p:spPr>
            <a:xfrm>
              <a:off x="795" y="634"/>
              <a:ext cx="43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符号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73781" name="文本框 157765"/>
            <p:cNvSpPr txBox="1"/>
            <p:nvPr/>
          </p:nvSpPr>
          <p:spPr>
            <a:xfrm>
              <a:off x="1755" y="634"/>
              <a:ext cx="59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关键字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73782" name="文本框 157766"/>
            <p:cNvSpPr txBox="1"/>
            <p:nvPr/>
          </p:nvSpPr>
          <p:spPr>
            <a:xfrm>
              <a:off x="4191" y="634"/>
              <a:ext cx="1161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数的表示范围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73783" name="文本框 157767"/>
            <p:cNvSpPr txBox="1"/>
            <p:nvPr/>
          </p:nvSpPr>
          <p:spPr>
            <a:xfrm>
              <a:off x="2967" y="646"/>
              <a:ext cx="91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所占位数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sp>
        <p:nvSpPr>
          <p:cNvPr id="157771" name="文本框 157770"/>
          <p:cNvSpPr txBox="1"/>
          <p:nvPr/>
        </p:nvSpPr>
        <p:spPr>
          <a:xfrm>
            <a:off x="2381250" y="2586038"/>
            <a:ext cx="485775" cy="601662"/>
          </a:xfrm>
          <a:prstGeom prst="rect">
            <a:avLst/>
          </a:prstGeom>
          <a:noFill/>
          <a:ln w="9525">
            <a:noFill/>
          </a:ln>
        </p:spPr>
        <p:txBody>
          <a:bodyPr vert="eaVert" wrap="none" lIns="90000" tIns="46800" rIns="90000" bIns="46800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隶书" panose="02010509060101010101" pitchFamily="49" charset="-122"/>
              </a:rPr>
              <a:t>整型</a:t>
            </a:r>
            <a:endParaRPr lang="zh-CN" altLang="en-US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57772" name="文本框 157771"/>
          <p:cNvSpPr txBox="1"/>
          <p:nvPr/>
        </p:nvSpPr>
        <p:spPr>
          <a:xfrm>
            <a:off x="2362200" y="4795838"/>
            <a:ext cx="485775" cy="855662"/>
          </a:xfrm>
          <a:prstGeom prst="rect">
            <a:avLst/>
          </a:prstGeom>
          <a:noFill/>
          <a:ln w="9525">
            <a:noFill/>
          </a:ln>
        </p:spPr>
        <p:txBody>
          <a:bodyPr vert="eaVert" wrap="none" lIns="90000" tIns="46800" rIns="90000" bIns="46800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隶书" panose="02010509060101010101" pitchFamily="49" charset="-122"/>
              </a:rPr>
              <a:t>字符型</a:t>
            </a:r>
            <a:endParaRPr lang="zh-CN" altLang="en-US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57773" name="文本框 157772"/>
          <p:cNvSpPr txBox="1"/>
          <p:nvPr/>
        </p:nvSpPr>
        <p:spPr>
          <a:xfrm>
            <a:off x="2362200" y="4148138"/>
            <a:ext cx="485775" cy="601662"/>
          </a:xfrm>
          <a:prstGeom prst="rect">
            <a:avLst/>
          </a:prstGeom>
          <a:noFill/>
          <a:ln w="9525">
            <a:noFill/>
          </a:ln>
        </p:spPr>
        <p:txBody>
          <a:bodyPr vert="eaVert" wrap="none" lIns="90000" tIns="46800" rIns="90000" bIns="46800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隶书" panose="02010509060101010101" pitchFamily="49" charset="-122"/>
              </a:rPr>
              <a:t>实型</a:t>
            </a:r>
            <a:endParaRPr lang="zh-CN" altLang="en-US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57774" name="文本框 157773"/>
          <p:cNvSpPr txBox="1"/>
          <p:nvPr/>
        </p:nvSpPr>
        <p:spPr>
          <a:xfrm>
            <a:off x="2919413" y="2038350"/>
            <a:ext cx="433387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隶书" panose="02010509060101010101" pitchFamily="49" charset="-122"/>
              </a:rPr>
              <a:t>有</a:t>
            </a:r>
            <a:endParaRPr lang="zh-CN" altLang="en-US" sz="2000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57777" name="文本框 157776"/>
          <p:cNvSpPr txBox="1"/>
          <p:nvPr/>
        </p:nvSpPr>
        <p:spPr>
          <a:xfrm>
            <a:off x="2919413" y="3257550"/>
            <a:ext cx="433387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隶书" panose="02010509060101010101" pitchFamily="49" charset="-122"/>
              </a:rPr>
              <a:t>无</a:t>
            </a:r>
            <a:endParaRPr lang="zh-CN" altLang="en-US" sz="2000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grpSp>
        <p:nvGrpSpPr>
          <p:cNvPr id="157822" name="组合 157821"/>
          <p:cNvGrpSpPr/>
          <p:nvPr/>
        </p:nvGrpSpPr>
        <p:grpSpPr>
          <a:xfrm>
            <a:off x="3430588" y="1693863"/>
            <a:ext cx="3468687" cy="417512"/>
            <a:chOff x="1228" y="919"/>
            <a:chExt cx="2185" cy="263"/>
          </a:xfrm>
        </p:grpSpPr>
        <p:sp>
          <p:nvSpPr>
            <p:cNvPr id="373790" name="文本框 157779"/>
            <p:cNvSpPr txBox="1"/>
            <p:nvPr/>
          </p:nvSpPr>
          <p:spPr>
            <a:xfrm>
              <a:off x="1228" y="919"/>
              <a:ext cx="859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 err="1">
                  <a:latin typeface="Arial" panose="020B0604020202020204" pitchFamily="34" charset="0"/>
                  <a:ea typeface="隶书" panose="02010509060101010101" pitchFamily="49" charset="-122"/>
                </a:rPr>
                <a:t>(signed)</a:t>
              </a:r>
              <a:r>
                <a:rPr lang="en-US" altLang="zh-CN" sz="2000" err="1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int</a:t>
              </a:r>
              <a:endParaRPr lang="en-US" altLang="zh-CN" sz="200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73791" name="文本框 157781"/>
            <p:cNvSpPr txBox="1"/>
            <p:nvPr/>
          </p:nvSpPr>
          <p:spPr>
            <a:xfrm>
              <a:off x="3135" y="931"/>
              <a:ext cx="27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32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823" name="组合 157822"/>
          <p:cNvGrpSpPr/>
          <p:nvPr/>
        </p:nvGrpSpPr>
        <p:grpSpPr>
          <a:xfrm>
            <a:off x="3473450" y="2081213"/>
            <a:ext cx="5695950" cy="461962"/>
            <a:chOff x="1228" y="1177"/>
            <a:chExt cx="3588" cy="291"/>
          </a:xfrm>
        </p:grpSpPr>
        <p:sp>
          <p:nvSpPr>
            <p:cNvPr id="373793" name="文本框 157783"/>
            <p:cNvSpPr txBox="1"/>
            <p:nvPr/>
          </p:nvSpPr>
          <p:spPr>
            <a:xfrm>
              <a:off x="1228" y="1185"/>
              <a:ext cx="9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(signed)</a:t>
              </a:r>
              <a:r>
                <a:rPr lang="en-US" altLang="zh-CN" sz="200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short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794" name="文本框 157789"/>
            <p:cNvSpPr txBox="1"/>
            <p:nvPr/>
          </p:nvSpPr>
          <p:spPr>
            <a:xfrm>
              <a:off x="3135" y="1177"/>
              <a:ext cx="27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16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795" name="文本框 157793"/>
            <p:cNvSpPr txBox="1"/>
            <p:nvPr/>
          </p:nvSpPr>
          <p:spPr>
            <a:xfrm>
              <a:off x="3760" y="1217"/>
              <a:ext cx="10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-32768~32767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825" name="组合 157824"/>
          <p:cNvGrpSpPr/>
          <p:nvPr/>
        </p:nvGrpSpPr>
        <p:grpSpPr>
          <a:xfrm>
            <a:off x="3473450" y="2470150"/>
            <a:ext cx="6985000" cy="461963"/>
            <a:chOff x="1228" y="1422"/>
            <a:chExt cx="4400" cy="291"/>
          </a:xfrm>
        </p:grpSpPr>
        <p:sp>
          <p:nvSpPr>
            <p:cNvPr id="373797" name="文本框 157784"/>
            <p:cNvSpPr txBox="1"/>
            <p:nvPr/>
          </p:nvSpPr>
          <p:spPr>
            <a:xfrm>
              <a:off x="1228" y="1451"/>
              <a:ext cx="91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(signed)</a:t>
              </a:r>
              <a:r>
                <a:rPr lang="en-US" altLang="zh-CN" sz="200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long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798" name="文本框 157788"/>
            <p:cNvSpPr txBox="1"/>
            <p:nvPr/>
          </p:nvSpPr>
          <p:spPr>
            <a:xfrm>
              <a:off x="3135" y="1422"/>
              <a:ext cx="35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32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799" name="文本框 157794"/>
            <p:cNvSpPr txBox="1"/>
            <p:nvPr/>
          </p:nvSpPr>
          <p:spPr>
            <a:xfrm>
              <a:off x="3760" y="1462"/>
              <a:ext cx="186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-2147483648~2147483647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834" name="组合 157833"/>
          <p:cNvGrpSpPr/>
          <p:nvPr/>
        </p:nvGrpSpPr>
        <p:grpSpPr>
          <a:xfrm>
            <a:off x="3473450" y="2605088"/>
            <a:ext cx="3468688" cy="706437"/>
            <a:chOff x="1228" y="1507"/>
            <a:chExt cx="2185" cy="445"/>
          </a:xfrm>
        </p:grpSpPr>
        <p:sp>
          <p:nvSpPr>
            <p:cNvPr id="373801" name="文本框 157790"/>
            <p:cNvSpPr txBox="1"/>
            <p:nvPr/>
          </p:nvSpPr>
          <p:spPr>
            <a:xfrm>
              <a:off x="3135" y="1667"/>
              <a:ext cx="27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32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802" name="文本框 157785"/>
            <p:cNvSpPr txBox="1"/>
            <p:nvPr/>
          </p:nvSpPr>
          <p:spPr>
            <a:xfrm>
              <a:off x="1228" y="1507"/>
              <a:ext cx="941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unsigned</a:t>
              </a:r>
              <a:r>
                <a:rPr lang="en-US" altLang="zh-CN" sz="4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 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829" name="组合 157828"/>
          <p:cNvGrpSpPr/>
          <p:nvPr/>
        </p:nvGrpSpPr>
        <p:grpSpPr>
          <a:xfrm>
            <a:off x="3473450" y="3430588"/>
            <a:ext cx="5746750" cy="706437"/>
            <a:chOff x="1228" y="2027"/>
            <a:chExt cx="3620" cy="445"/>
          </a:xfrm>
        </p:grpSpPr>
        <p:sp>
          <p:nvSpPr>
            <p:cNvPr id="373804" name="文本框 157792"/>
            <p:cNvSpPr txBox="1"/>
            <p:nvPr/>
          </p:nvSpPr>
          <p:spPr>
            <a:xfrm>
              <a:off x="3135" y="2157"/>
              <a:ext cx="35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32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805" name="文本框 157796"/>
            <p:cNvSpPr txBox="1"/>
            <p:nvPr/>
          </p:nvSpPr>
          <p:spPr>
            <a:xfrm>
              <a:off x="3760" y="2197"/>
              <a:ext cx="10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0~4294967295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806" name="文本框 157787"/>
            <p:cNvSpPr txBox="1"/>
            <p:nvPr/>
          </p:nvSpPr>
          <p:spPr>
            <a:xfrm>
              <a:off x="1228" y="2027"/>
              <a:ext cx="1058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unsigned</a:t>
              </a:r>
              <a:r>
                <a:rPr lang="en-US" altLang="zh-CN" sz="4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long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828" name="组合 157827"/>
          <p:cNvGrpSpPr/>
          <p:nvPr/>
        </p:nvGrpSpPr>
        <p:grpSpPr>
          <a:xfrm>
            <a:off x="3463925" y="2998788"/>
            <a:ext cx="5207000" cy="708025"/>
            <a:chOff x="1222" y="1755"/>
            <a:chExt cx="3280" cy="446"/>
          </a:xfrm>
        </p:grpSpPr>
        <p:sp>
          <p:nvSpPr>
            <p:cNvPr id="373808" name="文本框 157786"/>
            <p:cNvSpPr txBox="1"/>
            <p:nvPr/>
          </p:nvSpPr>
          <p:spPr>
            <a:xfrm>
              <a:off x="1222" y="1755"/>
              <a:ext cx="1212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unsigned</a:t>
              </a:r>
              <a:r>
                <a:rPr lang="en-US" altLang="zh-CN" sz="4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short</a:t>
              </a:r>
              <a:endParaRPr lang="en-US" altLang="zh-CN" sz="4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809" name="文本框 157791"/>
            <p:cNvSpPr txBox="1"/>
            <p:nvPr/>
          </p:nvSpPr>
          <p:spPr>
            <a:xfrm>
              <a:off x="3135" y="1910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16</a:t>
              </a:r>
              <a:endParaRPr lang="en-US" altLang="zh-CN" sz="4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810" name="文本框 157797"/>
            <p:cNvSpPr txBox="1"/>
            <p:nvPr/>
          </p:nvSpPr>
          <p:spPr>
            <a:xfrm>
              <a:off x="3760" y="1950"/>
              <a:ext cx="74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0~65535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836" name="组合 157835"/>
          <p:cNvGrpSpPr/>
          <p:nvPr/>
        </p:nvGrpSpPr>
        <p:grpSpPr>
          <a:xfrm>
            <a:off x="2919413" y="4027488"/>
            <a:ext cx="6540500" cy="444500"/>
            <a:chOff x="879" y="2403"/>
            <a:chExt cx="4120" cy="280"/>
          </a:xfrm>
        </p:grpSpPr>
        <p:sp>
          <p:nvSpPr>
            <p:cNvPr id="373812" name="文本框 157775"/>
            <p:cNvSpPr txBox="1"/>
            <p:nvPr/>
          </p:nvSpPr>
          <p:spPr>
            <a:xfrm>
              <a:off x="879" y="2410"/>
              <a:ext cx="273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有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grpSp>
          <p:nvGrpSpPr>
            <p:cNvPr id="373813" name="组合 157829"/>
            <p:cNvGrpSpPr/>
            <p:nvPr/>
          </p:nvGrpSpPr>
          <p:grpSpPr>
            <a:xfrm>
              <a:off x="1324" y="2403"/>
              <a:ext cx="3675" cy="280"/>
              <a:chOff x="1324" y="2403"/>
              <a:chExt cx="3675" cy="280"/>
            </a:xfrm>
          </p:grpSpPr>
          <p:sp>
            <p:nvSpPr>
              <p:cNvPr id="373814" name="文本框 157801"/>
              <p:cNvSpPr txBox="1"/>
              <p:nvPr/>
            </p:nvSpPr>
            <p:spPr>
              <a:xfrm>
                <a:off x="1324" y="2407"/>
                <a:ext cx="415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 sz="2000">
                    <a:solidFill>
                      <a:srgbClr val="0000FF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float</a:t>
                </a:r>
                <a:endParaRPr lang="en-US" altLang="zh-CN" sz="200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73815" name="文本框 157802"/>
              <p:cNvSpPr txBox="1"/>
              <p:nvPr/>
            </p:nvSpPr>
            <p:spPr>
              <a:xfrm>
                <a:off x="3135" y="2403"/>
                <a:ext cx="35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en-US" altLang="zh-CN" sz="2000">
                    <a:latin typeface="Arial" panose="020B0604020202020204" pitchFamily="34" charset="0"/>
                    <a:ea typeface="宋体" panose="02010600030101010101" pitchFamily="2" charset="-122"/>
                  </a:rPr>
                  <a:t>32</a:t>
                </a:r>
                <a:endParaRPr lang="en-US" altLang="zh-CN" sz="4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3816" name="文本框 157806"/>
              <p:cNvSpPr txBox="1"/>
              <p:nvPr/>
            </p:nvSpPr>
            <p:spPr>
              <a:xfrm>
                <a:off x="3760" y="2432"/>
                <a:ext cx="1239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Arial" panose="020B0604020202020204" pitchFamily="34" charset="0"/>
                    <a:ea typeface="宋体" panose="02010600030101010101" pitchFamily="2" charset="-122"/>
                  </a:rPr>
                  <a:t>3.4e-38~3.4e38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57835" name="组合 157834"/>
          <p:cNvGrpSpPr/>
          <p:nvPr/>
        </p:nvGrpSpPr>
        <p:grpSpPr>
          <a:xfrm>
            <a:off x="2919413" y="4418013"/>
            <a:ext cx="6821487" cy="430212"/>
            <a:chOff x="879" y="2649"/>
            <a:chExt cx="4297" cy="271"/>
          </a:xfrm>
        </p:grpSpPr>
        <p:sp>
          <p:nvSpPr>
            <p:cNvPr id="373818" name="文本框 157777"/>
            <p:cNvSpPr txBox="1"/>
            <p:nvPr/>
          </p:nvSpPr>
          <p:spPr>
            <a:xfrm>
              <a:off x="879" y="2650"/>
              <a:ext cx="273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有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grpSp>
          <p:nvGrpSpPr>
            <p:cNvPr id="373819" name="组合 157830"/>
            <p:cNvGrpSpPr/>
            <p:nvPr/>
          </p:nvGrpSpPr>
          <p:grpSpPr>
            <a:xfrm>
              <a:off x="1324" y="2649"/>
              <a:ext cx="3852" cy="271"/>
              <a:chOff x="1324" y="2649"/>
              <a:chExt cx="3852" cy="271"/>
            </a:xfrm>
          </p:grpSpPr>
          <p:sp>
            <p:nvSpPr>
              <p:cNvPr id="373820" name="文本框 157800"/>
              <p:cNvSpPr txBox="1"/>
              <p:nvPr/>
            </p:nvSpPr>
            <p:spPr>
              <a:xfrm>
                <a:off x="1324" y="2655"/>
                <a:ext cx="592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 sz="2000">
                    <a:solidFill>
                      <a:srgbClr val="0000FF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double</a:t>
                </a:r>
                <a:endParaRPr lang="en-US" altLang="zh-CN" sz="2000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73821" name="文本框 157803"/>
              <p:cNvSpPr txBox="1"/>
              <p:nvPr/>
            </p:nvSpPr>
            <p:spPr>
              <a:xfrm>
                <a:off x="3135" y="2649"/>
                <a:ext cx="35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en-US" altLang="zh-CN" sz="2000">
                    <a:latin typeface="Arial" panose="020B0604020202020204" pitchFamily="34" charset="0"/>
                    <a:ea typeface="宋体" panose="02010600030101010101" pitchFamily="2" charset="-122"/>
                  </a:rPr>
                  <a:t>64</a:t>
                </a:r>
                <a:endParaRPr lang="en-US" altLang="zh-CN" sz="4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3822" name="文本框 157807"/>
              <p:cNvSpPr txBox="1"/>
              <p:nvPr/>
            </p:nvSpPr>
            <p:spPr>
              <a:xfrm>
                <a:off x="3760" y="2669"/>
                <a:ext cx="141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Arial" panose="020B0604020202020204" pitchFamily="34" charset="0"/>
                    <a:ea typeface="宋体" panose="02010600030101010101" pitchFamily="2" charset="-122"/>
                  </a:rPr>
                  <a:t>1.7e-308~1.7e308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57837" name="组合 157836"/>
          <p:cNvGrpSpPr/>
          <p:nvPr/>
        </p:nvGrpSpPr>
        <p:grpSpPr>
          <a:xfrm>
            <a:off x="2919413" y="4808538"/>
            <a:ext cx="5734050" cy="419100"/>
            <a:chOff x="879" y="2895"/>
            <a:chExt cx="3612" cy="264"/>
          </a:xfrm>
        </p:grpSpPr>
        <p:sp>
          <p:nvSpPr>
            <p:cNvPr id="373824" name="文本框 157774"/>
            <p:cNvSpPr txBox="1"/>
            <p:nvPr/>
          </p:nvSpPr>
          <p:spPr>
            <a:xfrm>
              <a:off x="879" y="2902"/>
              <a:ext cx="273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有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grpSp>
          <p:nvGrpSpPr>
            <p:cNvPr id="373825" name="组合 157831"/>
            <p:cNvGrpSpPr/>
            <p:nvPr/>
          </p:nvGrpSpPr>
          <p:grpSpPr>
            <a:xfrm>
              <a:off x="1324" y="2895"/>
              <a:ext cx="3167" cy="264"/>
              <a:chOff x="1324" y="2895"/>
              <a:chExt cx="3167" cy="264"/>
            </a:xfrm>
          </p:grpSpPr>
          <p:sp>
            <p:nvSpPr>
              <p:cNvPr id="373826" name="文本框 157799"/>
              <p:cNvSpPr txBox="1"/>
              <p:nvPr/>
            </p:nvSpPr>
            <p:spPr>
              <a:xfrm>
                <a:off x="1324" y="2903"/>
                <a:ext cx="42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 sz="2000">
                    <a:solidFill>
                      <a:srgbClr val="CC6600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char</a:t>
                </a:r>
                <a:endParaRPr lang="en-US" altLang="zh-CN" sz="200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73827" name="文本框 157804"/>
              <p:cNvSpPr txBox="1"/>
              <p:nvPr/>
            </p:nvSpPr>
            <p:spPr>
              <a:xfrm>
                <a:off x="3135" y="2895"/>
                <a:ext cx="27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8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3828" name="文本框 157808"/>
              <p:cNvSpPr txBox="1"/>
              <p:nvPr/>
            </p:nvSpPr>
            <p:spPr>
              <a:xfrm>
                <a:off x="3760" y="2908"/>
                <a:ext cx="731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-128~127</a:t>
                </a:r>
                <a:endParaRPr lang="en-US" altLang="zh-CN" sz="2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57838" name="组合 157837"/>
          <p:cNvGrpSpPr/>
          <p:nvPr/>
        </p:nvGrpSpPr>
        <p:grpSpPr>
          <a:xfrm>
            <a:off x="2919413" y="5181600"/>
            <a:ext cx="5399087" cy="433388"/>
            <a:chOff x="879" y="3130"/>
            <a:chExt cx="3401" cy="273"/>
          </a:xfrm>
        </p:grpSpPr>
        <p:sp>
          <p:nvSpPr>
            <p:cNvPr id="373830" name="文本框 157778"/>
            <p:cNvSpPr txBox="1"/>
            <p:nvPr/>
          </p:nvSpPr>
          <p:spPr>
            <a:xfrm>
              <a:off x="879" y="3130"/>
              <a:ext cx="273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无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73831" name="文本框 157798"/>
            <p:cNvSpPr txBox="1"/>
            <p:nvPr/>
          </p:nvSpPr>
          <p:spPr>
            <a:xfrm>
              <a:off x="1324" y="3151"/>
              <a:ext cx="1116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solidFill>
                    <a:srgbClr val="CC66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unsigned char</a:t>
              </a:r>
              <a:endParaRPr lang="en-US" altLang="zh-CN" sz="200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73832" name="文本框 157805"/>
            <p:cNvSpPr txBox="1"/>
            <p:nvPr/>
          </p:nvSpPr>
          <p:spPr>
            <a:xfrm>
              <a:off x="3135" y="3141"/>
              <a:ext cx="27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8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3833" name="文本框 157809"/>
            <p:cNvSpPr txBox="1"/>
            <p:nvPr/>
          </p:nvSpPr>
          <p:spPr>
            <a:xfrm>
              <a:off x="3760" y="3145"/>
              <a:ext cx="5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0~255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7813" name="文本框 157812"/>
          <p:cNvSpPr txBox="1"/>
          <p:nvPr/>
        </p:nvSpPr>
        <p:spPr>
          <a:xfrm>
            <a:off x="2271713" y="5626100"/>
            <a:ext cx="8123237" cy="70802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rgbClr val="FF33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说明</a:t>
            </a:r>
            <a:r>
              <a:rPr lang="en-US" altLang="zh-CN" sz="2000" dirty="0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</a:t>
            </a:r>
            <a:r>
              <a:rPr lang="zh-CN" altLang="en-US" sz="2000" dirty="0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数据类型所占字节数随机器硬件不同而不同</a:t>
            </a:r>
            <a:r>
              <a:rPr lang="en-US" altLang="zh-CN" sz="2000" dirty="0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,</a:t>
            </a:r>
            <a:r>
              <a:rPr lang="zh-CN" altLang="en-US" sz="2000" dirty="0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上表以</a:t>
            </a:r>
            <a:r>
              <a:rPr lang="en-US" altLang="zh-CN" sz="2000" dirty="0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IBM PC</a:t>
            </a:r>
            <a:r>
              <a:rPr lang="zh-CN" altLang="en-US" sz="2000" dirty="0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机为例</a:t>
            </a:r>
            <a:r>
              <a:rPr lang="en-US" altLang="zh-CN" sz="2000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</a:t>
            </a:r>
            <a:endParaRPr lang="en-US" altLang="zh-CN" sz="2000">
              <a:solidFill>
                <a:srgbClr val="3333FF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zh-CN" altLang="en-US" sz="2000" dirty="0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请看</a:t>
            </a:r>
            <a:r>
              <a:rPr lang="en-US" altLang="zh-CN" sz="2000" err="1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int</a:t>
            </a:r>
            <a:r>
              <a:rPr lang="zh-CN" altLang="en-US" sz="2000" err="1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和</a:t>
            </a:r>
            <a:r>
              <a:rPr lang="en-US" altLang="zh-CN" sz="2000" err="1">
                <a:solidFill>
                  <a:srgbClr val="3333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unsigned int</a:t>
            </a:r>
            <a:endParaRPr lang="en-US" altLang="zh-CN" sz="2000">
              <a:solidFill>
                <a:srgbClr val="3333FF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373835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、数据类型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73836" name="文本占位符 121858"/>
          <p:cNvSpPr>
            <a:spLocks noGrp="1"/>
          </p:cNvSpPr>
          <p:nvPr/>
        </p:nvSpPr>
        <p:spPr>
          <a:xfrm>
            <a:off x="1285875" y="736600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）基本数据类型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3837" name="文本框 157794"/>
          <p:cNvSpPr txBox="1"/>
          <p:nvPr/>
        </p:nvSpPr>
        <p:spPr>
          <a:xfrm>
            <a:off x="7493000" y="1746250"/>
            <a:ext cx="2965450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-2147483648~2147483647</a:t>
            </a:r>
            <a:endParaRPr lang="en-US" altLang="zh-CN" sz="4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73838" name="文本框 157796"/>
          <p:cNvSpPr txBox="1"/>
          <p:nvPr/>
        </p:nvSpPr>
        <p:spPr>
          <a:xfrm>
            <a:off x="7518400" y="2909888"/>
            <a:ext cx="1727200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>
                <a:latin typeface="Calibri" panose="020F0502020204030204" pitchFamily="34" charset="0"/>
                <a:ea typeface="宋体" panose="02010600030101010101" pitchFamily="2" charset="-122"/>
              </a:rPr>
              <a:t>0~4294967295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6674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7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1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7771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777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78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7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57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5777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57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57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57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5777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578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578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5777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57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1578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1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15781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13">
                                            <p:txEl>
                                              <p:charRg st="38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157813">
                                            <p:txEl>
                                              <p:charRg st="38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" grpId="0" bldLvl="5" build="p"/>
      <p:bldP spid="157771" grpId="0" build="p"/>
      <p:bldP spid="157772" grpId="0" build="p"/>
      <p:bldP spid="157773" grpId="0" build="p"/>
      <p:bldP spid="157774" grpId="0" build="p"/>
      <p:bldP spid="157777" grpId="0" build="p"/>
      <p:bldP spid="157813" grpId="0" build="p"/>
      <p:bldP spid="373836" grpId="0" bldLvl="5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374787" name="文本框 1"/>
          <p:cNvSpPr/>
          <p:nvPr/>
        </p:nvSpPr>
        <p:spPr>
          <a:xfrm>
            <a:off x="5973763" y="2432050"/>
            <a:ext cx="2722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常量和变量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74788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03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683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2226" name="文本占位符 52225"/>
          <p:cNvSpPr>
            <a:spLocks noGrp="1"/>
          </p:cNvSpPr>
          <p:nvPr>
            <p:ph type="body"/>
          </p:nvPr>
        </p:nvSpPr>
        <p:spPr>
          <a:xfrm>
            <a:off x="1714500" y="1047750"/>
            <a:ext cx="8915400" cy="5314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定义：用来标识变量、常量、函数等的字符序列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组成：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只能由</a:t>
            </a:r>
            <a:r>
              <a:rPr lang="zh-CN" altLang="en-US" dirty="0">
                <a:solidFill>
                  <a:srgbClr val="FF3399"/>
                </a:solidFill>
                <a:latin typeface="微软雅黑 Light" panose="020B0502040204020203" charset="-122"/>
                <a:ea typeface="微软雅黑 Light" panose="020B0502040204020203" charset="-122"/>
              </a:rPr>
              <a:t>字母、数字、下划线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组成，且第一个字母必须是字母或下划线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大小写敏感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不能使用关键字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长度：最长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32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个字符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命名原则：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见名知意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不宜混淆  如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与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I,  o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与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2276" name="文本框 52275"/>
          <p:cNvSpPr txBox="1"/>
          <p:nvPr/>
        </p:nvSpPr>
        <p:spPr>
          <a:xfrm>
            <a:off x="2671763" y="4211638"/>
            <a:ext cx="7280275" cy="12319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lvl="3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判断下列标识符号合法性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sum      Sum     M.D.John    day    Date   3days   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student_name     #33      lotus_1_2_3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char    a&gt;b   _above     $123</a:t>
            </a:r>
            <a:endParaRPr lang="en-US" altLang="zh-CN" sz="200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376836" name="圆角矩形 52277">
            <a:hlinkClick r:id="" action="ppaction://hlinkshowjump?jump=previousslide"/>
          </p:cNvPr>
          <p:cNvSpPr/>
          <p:nvPr/>
        </p:nvSpPr>
        <p:spPr>
          <a:xfrm>
            <a:off x="21717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76837" name="圆角矩形 52278">
            <a:hlinkClick r:id="" action="ppaction://hlinkshowjump?jump=nextslide"/>
          </p:cNvPr>
          <p:cNvSpPr/>
          <p:nvPr/>
        </p:nvSpPr>
        <p:spPr>
          <a:xfrm>
            <a:off x="27813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2287" name="文本框 52286"/>
          <p:cNvSpPr txBox="1"/>
          <p:nvPr/>
        </p:nvSpPr>
        <p:spPr>
          <a:xfrm>
            <a:off x="5967413" y="4594225"/>
            <a:ext cx="1060450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M.D.John</a:t>
            </a:r>
            <a:endParaRPr lang="en-US" altLang="zh-CN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2288" name="文本框 52287"/>
          <p:cNvSpPr txBox="1"/>
          <p:nvPr/>
        </p:nvSpPr>
        <p:spPr>
          <a:xfrm>
            <a:off x="9075738" y="4573588"/>
            <a:ext cx="957262" cy="36988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3days</a:t>
            </a:r>
            <a:endParaRPr lang="en-US" altLang="zh-CN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2289" name="文本框 52288"/>
          <p:cNvSpPr txBox="1"/>
          <p:nvPr/>
        </p:nvSpPr>
        <p:spPr>
          <a:xfrm>
            <a:off x="6138863" y="4956175"/>
            <a:ext cx="523875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#33</a:t>
            </a:r>
            <a:endParaRPr lang="en-US" altLang="zh-CN">
              <a:solidFill>
                <a:srgbClr val="FF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2290" name="文本框 52289"/>
          <p:cNvSpPr txBox="1"/>
          <p:nvPr/>
        </p:nvSpPr>
        <p:spPr>
          <a:xfrm>
            <a:off x="4062413" y="5318125"/>
            <a:ext cx="584200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char</a:t>
            </a:r>
            <a:endParaRPr lang="en-US" altLang="zh-CN">
              <a:solidFill>
                <a:srgbClr val="FF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2291" name="文本框 52290"/>
          <p:cNvSpPr txBox="1"/>
          <p:nvPr/>
        </p:nvSpPr>
        <p:spPr>
          <a:xfrm>
            <a:off x="6843713" y="5318125"/>
            <a:ext cx="641350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$123</a:t>
            </a:r>
            <a:endParaRPr lang="en-US" altLang="zh-CN">
              <a:solidFill>
                <a:srgbClr val="FF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2292" name="文本框 52291"/>
          <p:cNvSpPr txBox="1"/>
          <p:nvPr/>
        </p:nvSpPr>
        <p:spPr>
          <a:xfrm>
            <a:off x="4900613" y="5318125"/>
            <a:ext cx="522287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a&gt;b</a:t>
            </a:r>
            <a:endParaRPr lang="en-US" altLang="zh-CN">
              <a:solidFill>
                <a:srgbClr val="FF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376844" name="组合 52295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376845" name="圆角矩形 52296">
              <a:hlinkClick r:id="rId1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76846" name="组合 52297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376847" name="任意多边形 52298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6848" name="椭圆 52299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6849" name="椭圆 52300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76850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76851" name="文本占位符 121858"/>
          <p:cNvSpPr>
            <a:spLocks noGrp="1"/>
          </p:cNvSpPr>
          <p:nvPr/>
        </p:nvSpPr>
        <p:spPr>
          <a:xfrm>
            <a:off x="1327150" y="685800"/>
            <a:ext cx="3441700" cy="57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）标识符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4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2226">
                                            <p:txEl>
                                              <p:charRg st="4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26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2226">
                                            <p:txEl>
                                              <p:charRg st="26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3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52226">
                                            <p:txEl>
                                              <p:charRg st="3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6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2226">
                                            <p:txEl>
                                              <p:charRg st="61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67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52226">
                                            <p:txEl>
                                              <p:charRg st="67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75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52226">
                                            <p:txEl>
                                              <p:charRg st="75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86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52226">
                                            <p:txEl>
                                              <p:charRg st="86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92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52226">
                                            <p:txEl>
                                              <p:charRg st="92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97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2226">
                                            <p:txEl>
                                              <p:charRg st="97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52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228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5228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5228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5229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5229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5229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bldLvl="3" build="p"/>
      <p:bldP spid="52276" grpId="0" bldLvl="0" animBg="1"/>
      <p:bldP spid="52287" grpId="0" build="p"/>
      <p:bldP spid="52288" grpId="0" build="p"/>
      <p:bldP spid="52289" grpId="0" build="p"/>
      <p:bldP spid="52290" grpId="0" build="p"/>
      <p:bldP spid="52291" grpId="0" build="p"/>
      <p:bldP spid="5229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8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8722" name="矩形 158721"/>
          <p:cNvSpPr/>
          <p:nvPr/>
        </p:nvSpPr>
        <p:spPr>
          <a:xfrm>
            <a:off x="1752600" y="860425"/>
            <a:ext cx="8915400" cy="50768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1" indent="0" fontAlgn="base">
              <a:lnSpc>
                <a:spcPct val="150000"/>
              </a:lnSpc>
            </a:pPr>
            <a:r>
              <a:rPr lang="zh-CN" altLang="en-US" b="1" strike="noStrike" noProof="1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定义：程序运行时其值不能改变的量（即常数）</a:t>
            </a: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fontAlgn="base">
              <a:lnSpc>
                <a:spcPct val="150000"/>
              </a:lnSpc>
            </a:pPr>
            <a:r>
              <a:rPr 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A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、直接常量（字面常量）</a:t>
            </a:r>
            <a:endParaRPr lang="zh-CN" altLang="en-US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fontAlgn="base">
              <a:lnSpc>
                <a:spcPct val="150000"/>
              </a:lnSpc>
            </a:pP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#include&lt;stdio.h&gt;</a:t>
            </a: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fontAlgn="base">
              <a:lnSpc>
                <a:spcPct val="150000"/>
              </a:lnSpc>
            </a:pP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main()</a:t>
            </a: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fontAlgn="base">
              <a:lnSpc>
                <a:spcPct val="150000"/>
              </a:lnSpc>
            </a:pP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{</a:t>
            </a: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fontAlgn="base">
              <a:lnSpc>
                <a:spcPct val="150000"/>
              </a:lnSpc>
            </a:pP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   float sum;                           /* 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变量定义 </a:t>
            </a: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*/</a:t>
            </a: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0" lvl="2" indent="0" fontAlgn="base">
              <a:lnSpc>
                <a:spcPct val="150000"/>
              </a:lnSpc>
            </a:pP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                 sum=20*6;                         </a:t>
            </a: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 /* 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给变量赋值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 </a:t>
            </a: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*/</a:t>
            </a: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fontAlgn="base">
              <a:lnSpc>
                <a:spcPct val="150000"/>
              </a:lnSpc>
            </a:pP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   printf(“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总价</a:t>
            </a: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=%f\n”,sum);      </a:t>
            </a: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 /* 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输出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 </a:t>
            </a: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*/</a:t>
            </a: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fontAlgn="base">
              <a:lnSpc>
                <a:spcPct val="150000"/>
              </a:lnSpc>
            </a:pP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}</a:t>
            </a: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78883" name="圆角矩形 158734">
            <a:hlinkClick r:id="" action="ppaction://hlinkshowjump?jump=previousslide"/>
          </p:cNvPr>
          <p:cNvSpPr/>
          <p:nvPr/>
        </p:nvSpPr>
        <p:spPr>
          <a:xfrm>
            <a:off x="21717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78884" name="圆角矩形 158735">
            <a:hlinkClick r:id="rId1" action="ppaction://hlinksldjump"/>
          </p:cNvPr>
          <p:cNvSpPr/>
          <p:nvPr/>
        </p:nvSpPr>
        <p:spPr>
          <a:xfrm>
            <a:off x="27813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78885" name="文本占位符 121858"/>
          <p:cNvSpPr>
            <a:spLocks noGrp="1"/>
          </p:cNvSpPr>
          <p:nvPr/>
        </p:nvSpPr>
        <p:spPr>
          <a:xfrm>
            <a:off x="1127125" y="635000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）常量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8886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092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8725" name="矩形 158724"/>
          <p:cNvSpPr/>
          <p:nvPr/>
        </p:nvSpPr>
        <p:spPr>
          <a:xfrm>
            <a:off x="1752600" y="2057400"/>
            <a:ext cx="8915400" cy="312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 indent="0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一般用大写字母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是宏定义预处理命令，不是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直接常量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整型常量   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实型常量  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字符常量   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字符串常量 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8724" name="文本框 158723"/>
          <p:cNvSpPr txBox="1"/>
          <p:nvPr/>
        </p:nvSpPr>
        <p:spPr>
          <a:xfrm>
            <a:off x="4062413" y="3032125"/>
            <a:ext cx="2695575" cy="369888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FFFFFF"/>
              </a:gs>
            </a:gsLst>
            <a:lin ang="5400000" scaled="1"/>
            <a:tileRect/>
          </a:gra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如    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#define     PRICE     30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8722" name="矩形 158721"/>
          <p:cNvSpPr/>
          <p:nvPr/>
        </p:nvSpPr>
        <p:spPr>
          <a:xfrm>
            <a:off x="1752600" y="635000"/>
            <a:ext cx="8915400" cy="2171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 indent="0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符号常量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用标识符代表常量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定义格式： 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#define</a:t>
            </a:r>
            <a:r>
              <a:rPr lang="en-US" altLang="zh-CN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符号常量   常量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0933" name="圆角矩形 158734">
            <a:hlinkClick r:id="" action="ppaction://hlinkshowjump?jump=previousslide"/>
          </p:cNvPr>
          <p:cNvSpPr/>
          <p:nvPr/>
        </p:nvSpPr>
        <p:spPr>
          <a:xfrm>
            <a:off x="21717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0934" name="圆角矩形 158735">
            <a:hlinkClick r:id="rId1" action="ppaction://hlinksldjump"/>
          </p:cNvPr>
          <p:cNvSpPr/>
          <p:nvPr/>
        </p:nvSpPr>
        <p:spPr>
          <a:xfrm>
            <a:off x="27813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8742" name="文本框 158741"/>
          <p:cNvSpPr txBox="1"/>
          <p:nvPr/>
        </p:nvSpPr>
        <p:spPr>
          <a:xfrm>
            <a:off x="6129338" y="2762250"/>
            <a:ext cx="2736850" cy="2862263"/>
          </a:xfrm>
          <a:prstGeom prst="rect">
            <a:avLst/>
          </a:prstGeom>
          <a:gradFill rotWithShape="0">
            <a:gsLst>
              <a:gs pos="0">
                <a:srgbClr val="E7E7F1"/>
              </a:gs>
              <a:gs pos="100000">
                <a:srgbClr val="66FFFF"/>
              </a:gs>
            </a:gsLst>
            <a:lin ang="2700000" scaled="1"/>
            <a:tileRect/>
          </a:gra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例  符号常量举例</a:t>
            </a:r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(ch2_1.c)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#define   PRICE   30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main()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{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int</a:t>
            </a:r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num,total;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num=10;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total=num*PRICE;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printf("total</a:t>
            </a:r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=%d",total);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solidFill>
                <a:srgbClr val="0000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8743" name="文本框 158742"/>
          <p:cNvSpPr txBox="1"/>
          <p:nvPr/>
        </p:nvSpPr>
        <p:spPr>
          <a:xfrm>
            <a:off x="7767638" y="4019550"/>
            <a:ext cx="2503488" cy="3984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5875" cap="flat" cmpd="sng">
            <a:solidFill>
              <a:schemeClr val="accent1">
                <a:shade val="50000"/>
              </a:schemeClr>
            </a:solidFill>
            <a:prstDash val="dashDot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p>
            <a:r>
              <a:rPr lang="zh-CN" altLang="en-US" sz="2000" noProof="1" dirty="0">
                <a:solidFill>
                  <a:srgbClr val="025AA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运行结果：</a:t>
            </a:r>
            <a:r>
              <a:rPr lang="en-US" altLang="zh-CN" sz="2000" noProof="1">
                <a:solidFill>
                  <a:srgbClr val="025AA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total=300</a:t>
            </a:r>
            <a:endParaRPr lang="en-US" altLang="zh-CN" sz="2000" noProof="1">
              <a:solidFill>
                <a:srgbClr val="025AA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0937" name="文本占位符 121858"/>
          <p:cNvSpPr>
            <a:spLocks noGrp="1"/>
          </p:cNvSpPr>
          <p:nvPr/>
        </p:nvSpPr>
        <p:spPr>
          <a:xfrm>
            <a:off x="1136650" y="685800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）常量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0938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charRg st="23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8722">
                                            <p:txEl>
                                              <p:charRg st="23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8722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charRg st="4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8722">
                                            <p:txEl>
                                              <p:charRg st="41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87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87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58725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charRg st="9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58725">
                                            <p:txEl>
                                              <p:charRg st="9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charRg st="25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58725">
                                            <p:txEl>
                                              <p:charRg st="25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charRg st="3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58725">
                                            <p:txEl>
                                              <p:charRg st="31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charRg st="43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58725">
                                            <p:txEl>
                                              <p:charRg st="43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charRg st="55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58725">
                                            <p:txEl>
                                              <p:charRg st="55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charRg st="67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58725">
                                            <p:txEl>
                                              <p:charRg st="67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5" grpId="0" bldLvl="4" build="p"/>
      <p:bldP spid="158724" grpId="0" bldLvl="0" animBg="1"/>
      <p:bldP spid="158722" grpId="0" bldLvl="5" build="p"/>
      <p:bldP spid="158742" grpId="0" bldLvl="0" animBg="1"/>
      <p:bldP spid="15874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297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2978" name="矩形 158721"/>
          <p:cNvSpPr/>
          <p:nvPr/>
        </p:nvSpPr>
        <p:spPr>
          <a:xfrm>
            <a:off x="1752600" y="1030288"/>
            <a:ext cx="8915400" cy="2171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 indent="0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实例：某程序需要使用一个代表常数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3.145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的符号常量名为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xp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，分析以下定义正确与否。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A.  # define  xp  3.145;                          B. #define xp(3.145)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C.  # define  xp=3.145                           D. #define xp 3.145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2979" name="圆角矩形 158734">
            <a:hlinkClick r:id="" action="ppaction://hlinkshowjump?jump=previousslide"/>
          </p:cNvPr>
          <p:cNvSpPr/>
          <p:nvPr/>
        </p:nvSpPr>
        <p:spPr>
          <a:xfrm>
            <a:off x="21717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2980" name="圆角矩形 158735">
            <a:hlinkClick r:id="rId1" action="ppaction://hlinksldjump"/>
          </p:cNvPr>
          <p:cNvSpPr/>
          <p:nvPr/>
        </p:nvSpPr>
        <p:spPr>
          <a:xfrm>
            <a:off x="27813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2981" name="文本占位符 121858"/>
          <p:cNvSpPr>
            <a:spLocks noGrp="1"/>
          </p:cNvSpPr>
          <p:nvPr/>
        </p:nvSpPr>
        <p:spPr>
          <a:xfrm>
            <a:off x="1136650" y="685800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）常量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2982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502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5778" name="矩形 158721"/>
          <p:cNvSpPr/>
          <p:nvPr/>
        </p:nvSpPr>
        <p:spPr>
          <a:xfrm>
            <a:off x="1762125" y="1020763"/>
            <a:ext cx="8915400" cy="352901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1" indent="0" fontAlgn="base">
              <a:lnSpc>
                <a:spcPct val="150000"/>
              </a:lnSpc>
            </a:pPr>
            <a:endParaRPr lang="en-US" altLang="zh-CN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fontAlgn="base">
              <a:lnSpc>
                <a:spcPct val="150000"/>
              </a:lnSpc>
            </a:pPr>
            <a:r>
              <a:rPr 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C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、使用符号常量的好处</a:t>
            </a:r>
            <a:endParaRPr lang="zh-CN" altLang="en-US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200150" lvl="2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阅读程序方便。在程序设计中，如果直接给出常量，阅读程序时很难一下看出各个常量的含有；而使用符号常量，可以起到</a:t>
            </a: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“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见名识义</a:t>
            </a:r>
            <a:r>
              <a:rPr lang="en-US" altLang="zh-CN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”</a:t>
            </a: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的效果，提高程序的可读性。</a:t>
            </a:r>
            <a:endParaRPr lang="zh-CN" altLang="en-US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200150" lvl="2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修改程序方便。程序中可能出现多处使用同一常量的情况，如果修改该常量，程序员修改程序的操作繁琐而且容易遗漏，当使用符号常量时只须修改定义处既可。</a:t>
            </a:r>
            <a:endParaRPr lang="zh-CN" altLang="en-US" strike="noStrike" noProof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5027" name="圆角矩形 158734">
            <a:hlinkClick r:id="" action="ppaction://hlinkshowjump?jump=previousslide"/>
          </p:cNvPr>
          <p:cNvSpPr/>
          <p:nvPr/>
        </p:nvSpPr>
        <p:spPr>
          <a:xfrm>
            <a:off x="21717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5028" name="圆角矩形 158735">
            <a:hlinkClick r:id="rId1" action="ppaction://hlinksldjump"/>
          </p:cNvPr>
          <p:cNvSpPr/>
          <p:nvPr/>
        </p:nvSpPr>
        <p:spPr>
          <a:xfrm>
            <a:off x="278130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5029" name="文本占位符 121858"/>
          <p:cNvSpPr>
            <a:spLocks noGrp="1"/>
          </p:cNvSpPr>
          <p:nvPr/>
        </p:nvSpPr>
        <p:spPr>
          <a:xfrm>
            <a:off x="1136650" y="685800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）常量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5030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707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9747" name="矩形 159746"/>
          <p:cNvSpPr/>
          <p:nvPr/>
        </p:nvSpPr>
        <p:spPr>
          <a:xfrm>
            <a:off x="1781175" y="704850"/>
            <a:ext cx="8886825" cy="2338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 indent="0"/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2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三种形式：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3148330" lvl="3" indent="-177673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十进制整数：由数字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0~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和正负号表示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.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如 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123,-456,0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3148330" lvl="3" indent="-177673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八进制整数：由数字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开头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后跟数字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0~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表示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.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如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0123,011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3148330" lvl="3" indent="-177673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十六进制整数：由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0x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开头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后跟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0~9,a~f,A~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F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表示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.           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如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0x123,0Xff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9753" name="文本框 159752"/>
          <p:cNvSpPr txBox="1"/>
          <p:nvPr/>
        </p:nvSpPr>
        <p:spPr>
          <a:xfrm>
            <a:off x="7542213" y="5299075"/>
            <a:ext cx="1541462" cy="3984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12 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rPr>
              <a:t>与 </a:t>
            </a:r>
            <a:r>
              <a:rPr lang="en-US" altLang="zh-CN" sz="2000">
                <a:solidFill>
                  <a:srgbClr val="3333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12L</a:t>
            </a:r>
            <a:endParaRPr lang="en-US" altLang="zh-CN" sz="2000">
              <a:solidFill>
                <a:srgbClr val="3333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9754" name="文本框 159753"/>
          <p:cNvSpPr txBox="1"/>
          <p:nvPr/>
        </p:nvSpPr>
        <p:spPr>
          <a:xfrm>
            <a:off x="3440113" y="5249863"/>
            <a:ext cx="2797175" cy="70643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30000     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rPr>
              <a:t>为</a:t>
            </a:r>
            <a:r>
              <a:rPr lang="en-US" altLang="zh-CN" sz="2000" err="1">
                <a:latin typeface="Calibri" panose="020F0502020204030204" pitchFamily="34" charset="0"/>
                <a:ea typeface="宋体" panose="02010600030101010101" pitchFamily="2" charset="-122"/>
              </a:rPr>
              <a:t>int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rPr>
              <a:t>型</a:t>
            </a:r>
            <a:endParaRPr lang="zh-CN" altLang="en-US" sz="20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65536     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rPr>
              <a:t>为</a:t>
            </a:r>
            <a:r>
              <a:rPr lang="en-US" altLang="zh-CN" sz="2000" err="1">
                <a:latin typeface="Calibri" panose="020F0502020204030204" pitchFamily="34" charset="0"/>
                <a:ea typeface="宋体" panose="02010600030101010101" pitchFamily="2" charset="-122"/>
              </a:rPr>
              <a:t>long int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rPr>
              <a:t>型</a:t>
            </a:r>
            <a:endParaRPr lang="zh-CN" altLang="en-US" sz="2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7077" name="矩形 159754"/>
          <p:cNvSpPr/>
          <p:nvPr/>
        </p:nvSpPr>
        <p:spPr>
          <a:xfrm>
            <a:off x="9982200" y="5208588"/>
            <a:ext cx="685800" cy="1028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9757" name="矩形 159756"/>
          <p:cNvSpPr/>
          <p:nvPr/>
        </p:nvSpPr>
        <p:spPr>
          <a:xfrm>
            <a:off x="2057400" y="3043238"/>
            <a:ext cx="8610600" cy="1157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整型常量的类型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根据其值所在范围确定其数据类型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在整常量后加字母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，认为它是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long int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型常量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59761" name="组合 159760"/>
          <p:cNvGrpSpPr/>
          <p:nvPr/>
        </p:nvGrpSpPr>
        <p:grpSpPr>
          <a:xfrm>
            <a:off x="7088188" y="3371850"/>
            <a:ext cx="2193925" cy="1228725"/>
            <a:chOff x="1683" y="2797"/>
            <a:chExt cx="1382" cy="774"/>
          </a:xfrm>
        </p:grpSpPr>
        <p:sp>
          <p:nvSpPr>
            <p:cNvPr id="387080" name="文本框 159755"/>
            <p:cNvSpPr txBox="1"/>
            <p:nvPr/>
          </p:nvSpPr>
          <p:spPr>
            <a:xfrm>
              <a:off x="1683" y="2797"/>
              <a:ext cx="1382" cy="756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隶书" panose="02010509060101010101" pitchFamily="49" charset="-122"/>
                </a:rPr>
                <a:t>问题：</a:t>
              </a:r>
              <a:endParaRPr lang="zh-CN" altLang="en-US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r>
                <a:rPr lang="en-US" altLang="zh-CN">
                  <a:latin typeface="Arial" panose="020B0604020202020204" pitchFamily="34" charset="0"/>
                  <a:ea typeface="隶书" panose="02010509060101010101" pitchFamily="49" charset="-122"/>
                </a:rPr>
                <a:t>0123   =  (            )</a:t>
              </a:r>
              <a:r>
                <a:rPr lang="en-US" altLang="zh-CN" sz="1000">
                  <a:latin typeface="Arial" panose="020B0604020202020204" pitchFamily="34" charset="0"/>
                  <a:ea typeface="隶书" panose="02010509060101010101" pitchFamily="49" charset="-122"/>
                </a:rPr>
                <a:t>10</a:t>
              </a:r>
              <a:endParaRPr lang="en-US" altLang="zh-CN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r>
                <a:rPr lang="en-US" altLang="zh-CN">
                  <a:latin typeface="Arial" panose="020B0604020202020204" pitchFamily="34" charset="0"/>
                  <a:ea typeface="隶书" panose="02010509060101010101" pitchFamily="49" charset="-122"/>
                </a:rPr>
                <a:t>0x123 =  (            )</a:t>
              </a:r>
              <a:r>
                <a:rPr lang="en-US" altLang="zh-CN" sz="1000">
                  <a:latin typeface="Arial" panose="020B0604020202020204" pitchFamily="34" charset="0"/>
                  <a:ea typeface="隶书" panose="02010509060101010101" pitchFamily="49" charset="-122"/>
                </a:rPr>
                <a:t>10</a:t>
              </a:r>
              <a:endParaRPr lang="en-US" altLang="zh-CN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r>
                <a:rPr lang="en-US" altLang="zh-CN">
                  <a:latin typeface="Arial" panose="020B0604020202020204" pitchFamily="34" charset="0"/>
                  <a:ea typeface="隶书" panose="02010509060101010101" pitchFamily="49" charset="-122"/>
                </a:rPr>
                <a:t>0Xff    =  (            )</a:t>
              </a:r>
              <a:r>
                <a:rPr lang="en-US" altLang="zh-CN" sz="1000">
                  <a:latin typeface="Arial" panose="020B0604020202020204" pitchFamily="34" charset="0"/>
                  <a:ea typeface="隶书" panose="02010509060101010101" pitchFamily="49" charset="-122"/>
                </a:rPr>
                <a:t>10</a:t>
              </a:r>
              <a:endParaRPr lang="en-US" altLang="zh-CN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87081" name="文本框 159757"/>
            <p:cNvSpPr txBox="1"/>
            <p:nvPr/>
          </p:nvSpPr>
          <p:spPr>
            <a:xfrm>
              <a:off x="2522" y="2937"/>
              <a:ext cx="290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83</a:t>
              </a:r>
              <a:endPara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87082" name="文本框 159758"/>
            <p:cNvSpPr txBox="1"/>
            <p:nvPr/>
          </p:nvSpPr>
          <p:spPr>
            <a:xfrm>
              <a:off x="2477" y="3144"/>
              <a:ext cx="379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291</a:t>
              </a:r>
              <a:endPara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87083" name="文本框 159759"/>
            <p:cNvSpPr txBox="1"/>
            <p:nvPr/>
          </p:nvSpPr>
          <p:spPr>
            <a:xfrm>
              <a:off x="2477" y="3319"/>
              <a:ext cx="379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255</a:t>
              </a:r>
              <a:endPara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sp>
        <p:nvSpPr>
          <p:cNvPr id="159762" name="文本框 159761"/>
          <p:cNvSpPr txBox="1"/>
          <p:nvPr/>
        </p:nvSpPr>
        <p:spPr>
          <a:xfrm>
            <a:off x="7088188" y="3381375"/>
            <a:ext cx="2193925" cy="120015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问题：</a:t>
            </a:r>
            <a:endParaRPr lang="zh-CN" altLang="en-US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0123   =  (            )</a:t>
            </a:r>
            <a:r>
              <a:rPr lang="en-US" altLang="zh-CN" sz="1000">
                <a:latin typeface="Arial" panose="020B0604020202020204" pitchFamily="34" charset="0"/>
                <a:ea typeface="隶书" panose="02010509060101010101" pitchFamily="49" charset="-122"/>
              </a:rPr>
              <a:t>10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0x123 =  (            )</a:t>
            </a:r>
            <a:r>
              <a:rPr lang="en-US" altLang="zh-CN" sz="1000">
                <a:latin typeface="Arial" panose="020B0604020202020204" pitchFamily="34" charset="0"/>
                <a:ea typeface="隶书" panose="02010509060101010101" pitchFamily="49" charset="-122"/>
              </a:rPr>
              <a:t>10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0Xff    =  (            )</a:t>
            </a:r>
            <a:r>
              <a:rPr lang="en-US" altLang="zh-CN" sz="1000">
                <a:latin typeface="Arial" panose="020B0604020202020204" pitchFamily="34" charset="0"/>
                <a:ea typeface="隶书" panose="02010509060101010101" pitchFamily="49" charset="-122"/>
              </a:rPr>
              <a:t>10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387085" name="标题 159771"/>
          <p:cNvSpPr>
            <a:spLocks noGrp="1"/>
          </p:cNvSpPr>
          <p:nvPr>
            <p:ph type="title"/>
          </p:nvPr>
        </p:nvSpPr>
        <p:spPr>
          <a:xfrm>
            <a:off x="2209800" y="768350"/>
            <a:ext cx="3492500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A、整型常量（整常数）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7086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charRg st="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59747">
                                            <p:txEl>
                                              <p:charRg st="7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charRg st="39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59747">
                                            <p:txEl>
                                              <p:charRg st="39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charRg st="72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59747">
                                            <p:txEl>
                                              <p:charRg st="72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5975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59757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>
                                            <p:txEl>
                                              <p:charRg st="2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59757">
                                            <p:txEl>
                                              <p:charRg st="24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ldLvl="3" uiExpand="1" build="p"/>
      <p:bldP spid="159753" grpId="0" bldLvl="0" animBg="1"/>
      <p:bldP spid="159754" grpId="0" bldLvl="0" animBg="1"/>
      <p:bldP spid="159757" grpId="0" bldLvl="3" build="p"/>
      <p:bldP spid="15976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809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0770" name="矩形 160769"/>
          <p:cNvSpPr/>
          <p:nvPr/>
        </p:nvSpPr>
        <p:spPr>
          <a:xfrm>
            <a:off x="1836738" y="1033463"/>
            <a:ext cx="8831262" cy="2305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表示形式：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3148330" lvl="3" indent="-177673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十进制数形式：（必须有小数点） 如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0.123, .123, 123.0, 0.0, 123.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3148330" lvl="3" indent="-177673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指数形式：（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e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E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之前必须有数字；指数必须为整数）如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12.3e3 ,123E2, 1.23e4 , 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e-5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, 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1.2E-3.5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0772" name="矩形 160771"/>
          <p:cNvSpPr/>
          <p:nvPr/>
        </p:nvSpPr>
        <p:spPr>
          <a:xfrm>
            <a:off x="1947863" y="2989263"/>
            <a:ext cx="8610600" cy="1157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实型常量的类型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默认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double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在实型常量后加字母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f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F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，认为它是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float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8100" name="标题 159771"/>
          <p:cNvSpPr>
            <a:spLocks noGrp="1"/>
          </p:cNvSpPr>
          <p:nvPr/>
        </p:nvSpPr>
        <p:spPr>
          <a:xfrm>
            <a:off x="2057400" y="781050"/>
            <a:ext cx="3492500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、实型常量（实数或浮点数）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8101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38810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100" y="2828925"/>
            <a:ext cx="4376738" cy="3087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077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charRg st="6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60770">
                                            <p:txEl>
                                              <p:charRg st="6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charRg st="53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60770">
                                            <p:txEl>
                                              <p:charRg st="53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6077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60772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charRg st="1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60772">
                                            <p:txEl>
                                              <p:charRg st="18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 build="p"/>
      <p:bldP spid="160772" grpId="0" bldLvl="3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21" name="灯片编号占位符 2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1795" name="矩形 161794"/>
          <p:cNvSpPr/>
          <p:nvPr/>
        </p:nvSpPr>
        <p:spPr>
          <a:xfrm>
            <a:off x="1771650" y="1095375"/>
            <a:ext cx="8866188" cy="933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定义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用</a:t>
            </a:r>
            <a:r>
              <a:rPr lang="zh-CN" altLang="en-US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单引号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括起来的单个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普通字符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转义字符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. 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1839" name="矩形 161838"/>
          <p:cNvSpPr/>
          <p:nvPr/>
        </p:nvSpPr>
        <p:spPr>
          <a:xfrm>
            <a:off x="1771650" y="1504950"/>
            <a:ext cx="8626475" cy="590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字符常量的</a:t>
            </a: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值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：该字符的</a:t>
            </a:r>
            <a:r>
              <a:rPr lang="en-US" altLang="zh-CN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ASCII</a:t>
            </a: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码值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61842" name="组合 161841"/>
          <p:cNvGrpSpPr/>
          <p:nvPr/>
        </p:nvGrpSpPr>
        <p:grpSpPr>
          <a:xfrm>
            <a:off x="2022475" y="2325688"/>
            <a:ext cx="8651875" cy="3802062"/>
            <a:chOff x="324" y="2189"/>
            <a:chExt cx="5414" cy="2395"/>
          </a:xfrm>
        </p:grpSpPr>
        <p:sp>
          <p:nvSpPr>
            <p:cNvPr id="389125" name="椭圆 161793">
              <a:hlinkClick r:id="rId1" action="ppaction://hlinksldjump"/>
            </p:cNvPr>
            <p:cNvSpPr/>
            <p:nvPr/>
          </p:nvSpPr>
          <p:spPr>
            <a:xfrm>
              <a:off x="794" y="3612"/>
              <a:ext cx="336" cy="240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AE6800"/>
                </a:gs>
              </a:gsLst>
              <a:path path="shape">
                <a:fillToRect l="50000" t="50000" r="50000" b="50000"/>
              </a:path>
              <a:tileRect/>
            </a:gradFill>
            <a:ln w="12700" cap="sq" cmpd="sng">
              <a:solidFill>
                <a:schemeClr val="fol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&lt;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89126" name="组合 161840"/>
            <p:cNvGrpSpPr/>
            <p:nvPr/>
          </p:nvGrpSpPr>
          <p:grpSpPr>
            <a:xfrm>
              <a:off x="324" y="2189"/>
              <a:ext cx="5414" cy="2394"/>
              <a:chOff x="166" y="977"/>
              <a:chExt cx="5414" cy="2394"/>
            </a:xfrm>
          </p:grpSpPr>
          <p:sp>
            <p:nvSpPr>
              <p:cNvPr id="389127" name="矩形 161797"/>
              <p:cNvSpPr/>
              <p:nvPr/>
            </p:nvSpPr>
            <p:spPr>
              <a:xfrm>
                <a:off x="166" y="1296"/>
                <a:ext cx="5414" cy="2075"/>
              </a:xfrm>
              <a:prstGeom prst="rect">
                <a:avLst/>
              </a:prstGeom>
              <a:solidFill>
                <a:schemeClr val="bg1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28" name="矩形 161795"/>
              <p:cNvSpPr/>
              <p:nvPr/>
            </p:nvSpPr>
            <p:spPr>
              <a:xfrm>
                <a:off x="433" y="977"/>
                <a:ext cx="4896" cy="3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lvl="2" indent="0"/>
                <a:r>
                  <a:rPr lang="zh-CN" altLang="en-US" dirty="0">
                    <a:latin typeface="隶书" panose="02010509060101010101" pitchFamily="49" charset="-122"/>
                    <a:ea typeface="隶书" panose="02010509060101010101" pitchFamily="49" charset="-122"/>
                  </a:rPr>
                  <a:t>转义字符及其含义：</a:t>
                </a:r>
                <a:endParaRPr lang="zh-CN" altLang="en-US" dirty="0"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389129" name="组合 161836"/>
            <p:cNvGrpSpPr/>
            <p:nvPr/>
          </p:nvGrpSpPr>
          <p:grpSpPr>
            <a:xfrm>
              <a:off x="479" y="2564"/>
              <a:ext cx="5100" cy="2020"/>
              <a:chOff x="333" y="1928"/>
              <a:chExt cx="5100" cy="2020"/>
            </a:xfrm>
          </p:grpSpPr>
          <p:sp>
            <p:nvSpPr>
              <p:cNvPr id="389130" name="文本框 161807"/>
              <p:cNvSpPr txBox="1"/>
              <p:nvPr/>
            </p:nvSpPr>
            <p:spPr>
              <a:xfrm>
                <a:off x="333" y="1928"/>
                <a:ext cx="750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转义字符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1" name="文本框 161808"/>
              <p:cNvSpPr txBox="1"/>
              <p:nvPr/>
            </p:nvSpPr>
            <p:spPr>
              <a:xfrm>
                <a:off x="1677" y="1928"/>
                <a:ext cx="43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含义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2" name="文本框 161809"/>
              <p:cNvSpPr txBox="1"/>
              <p:nvPr/>
            </p:nvSpPr>
            <p:spPr>
              <a:xfrm>
                <a:off x="419" y="2227"/>
                <a:ext cx="259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FF00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\n</a:t>
                </a:r>
                <a:endParaRPr lang="en-US" altLang="zh-CN" sz="2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3" name="文本框 161810"/>
              <p:cNvSpPr txBox="1"/>
              <p:nvPr/>
            </p:nvSpPr>
            <p:spPr>
              <a:xfrm>
                <a:off x="410" y="2521"/>
                <a:ext cx="248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\v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4" name="文本框 161811"/>
              <p:cNvSpPr txBox="1"/>
              <p:nvPr/>
            </p:nvSpPr>
            <p:spPr>
              <a:xfrm>
                <a:off x="446" y="2815"/>
                <a:ext cx="231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\r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5" name="文本框 161812"/>
              <p:cNvSpPr txBox="1"/>
              <p:nvPr/>
            </p:nvSpPr>
            <p:spPr>
              <a:xfrm>
                <a:off x="427" y="3109"/>
                <a:ext cx="25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\a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6" name="文本框 161813"/>
              <p:cNvSpPr txBox="1"/>
              <p:nvPr/>
            </p:nvSpPr>
            <p:spPr>
              <a:xfrm>
                <a:off x="446" y="3359"/>
                <a:ext cx="215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FF00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\‘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7" name="文本框 161814"/>
              <p:cNvSpPr txBox="1"/>
              <p:nvPr/>
            </p:nvSpPr>
            <p:spPr>
              <a:xfrm>
                <a:off x="419" y="3666"/>
                <a:ext cx="565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en-US" altLang="zh-CN" sz="2000" err="1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\ddd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8" name="文本框 161815"/>
              <p:cNvSpPr txBox="1"/>
              <p:nvPr/>
            </p:nvSpPr>
            <p:spPr>
              <a:xfrm>
                <a:off x="2941" y="2184"/>
                <a:ext cx="229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FF00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\t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39" name="文本框 161816"/>
              <p:cNvSpPr txBox="1"/>
              <p:nvPr/>
            </p:nvSpPr>
            <p:spPr>
              <a:xfrm>
                <a:off x="2942" y="2500"/>
                <a:ext cx="259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\b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0" name="文本框 161817"/>
              <p:cNvSpPr txBox="1"/>
              <p:nvPr/>
            </p:nvSpPr>
            <p:spPr>
              <a:xfrm>
                <a:off x="2941" y="2815"/>
                <a:ext cx="224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\f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1" name="文本框 161818"/>
              <p:cNvSpPr txBox="1"/>
              <p:nvPr/>
            </p:nvSpPr>
            <p:spPr>
              <a:xfrm>
                <a:off x="2977" y="3109"/>
                <a:ext cx="237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FF00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\\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2" name="文本框 161819"/>
              <p:cNvSpPr txBox="1"/>
              <p:nvPr/>
            </p:nvSpPr>
            <p:spPr>
              <a:xfrm>
                <a:off x="2977" y="3359"/>
                <a:ext cx="24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FF0000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\“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3" name="文本框 161820"/>
              <p:cNvSpPr txBox="1"/>
              <p:nvPr/>
            </p:nvSpPr>
            <p:spPr>
              <a:xfrm>
                <a:off x="2941" y="3679"/>
                <a:ext cx="411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err="1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\xhh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4" name="文本框 161821"/>
              <p:cNvSpPr txBox="1"/>
              <p:nvPr/>
            </p:nvSpPr>
            <p:spPr>
              <a:xfrm>
                <a:off x="2757" y="1928"/>
                <a:ext cx="750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转义字符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5" name="文本框 161822"/>
              <p:cNvSpPr txBox="1"/>
              <p:nvPr/>
            </p:nvSpPr>
            <p:spPr>
              <a:xfrm>
                <a:off x="4140" y="1928"/>
                <a:ext cx="43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含义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6" name="文本框 161823"/>
              <p:cNvSpPr txBox="1"/>
              <p:nvPr/>
            </p:nvSpPr>
            <p:spPr>
              <a:xfrm>
                <a:off x="1620" y="2227"/>
                <a:ext cx="43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换行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7" name="文本框 161824"/>
              <p:cNvSpPr txBox="1"/>
              <p:nvPr/>
            </p:nvSpPr>
            <p:spPr>
              <a:xfrm>
                <a:off x="1444" y="2500"/>
                <a:ext cx="750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垂直制表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8" name="文本框 161825"/>
              <p:cNvSpPr txBox="1"/>
              <p:nvPr/>
            </p:nvSpPr>
            <p:spPr>
              <a:xfrm>
                <a:off x="1620" y="2815"/>
                <a:ext cx="43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回车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49" name="文本框 161826"/>
              <p:cNvSpPr txBox="1"/>
              <p:nvPr/>
            </p:nvSpPr>
            <p:spPr>
              <a:xfrm>
                <a:off x="1620" y="3109"/>
                <a:ext cx="43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响铃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50" name="文本框 161827"/>
              <p:cNvSpPr txBox="1"/>
              <p:nvPr/>
            </p:nvSpPr>
            <p:spPr>
              <a:xfrm>
                <a:off x="1518" y="3359"/>
                <a:ext cx="591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单引号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51" name="文本框 161828"/>
              <p:cNvSpPr txBox="1"/>
              <p:nvPr/>
            </p:nvSpPr>
            <p:spPr>
              <a:xfrm>
                <a:off x="1058" y="3697"/>
                <a:ext cx="1706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位</a:t>
                </a:r>
                <a:r>
                  <a:rPr lang="en-US" altLang="zh-CN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8</a:t>
                </a:r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进制数代表的字符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52" name="文本框 161829"/>
              <p:cNvSpPr txBox="1"/>
              <p:nvPr/>
            </p:nvSpPr>
            <p:spPr>
              <a:xfrm>
                <a:off x="4156" y="2227"/>
                <a:ext cx="750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水平制表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53" name="文本框 161830"/>
              <p:cNvSpPr txBox="1"/>
              <p:nvPr/>
            </p:nvSpPr>
            <p:spPr>
              <a:xfrm>
                <a:off x="4315" y="2500"/>
                <a:ext cx="43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退格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54" name="文本框 161831"/>
              <p:cNvSpPr txBox="1"/>
              <p:nvPr/>
            </p:nvSpPr>
            <p:spPr>
              <a:xfrm>
                <a:off x="4315" y="2815"/>
                <a:ext cx="432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换页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55" name="文本框 161832"/>
              <p:cNvSpPr txBox="1"/>
              <p:nvPr/>
            </p:nvSpPr>
            <p:spPr>
              <a:xfrm>
                <a:off x="4315" y="3109"/>
                <a:ext cx="591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反斜线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56" name="文本框 161833"/>
              <p:cNvSpPr txBox="1"/>
              <p:nvPr/>
            </p:nvSpPr>
            <p:spPr>
              <a:xfrm>
                <a:off x="4315" y="3403"/>
                <a:ext cx="591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双引号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57" name="文本框 161834"/>
              <p:cNvSpPr txBox="1"/>
              <p:nvPr/>
            </p:nvSpPr>
            <p:spPr>
              <a:xfrm>
                <a:off x="3646" y="3653"/>
                <a:ext cx="1787" cy="2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2</a:t>
                </a:r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位</a:t>
                </a:r>
                <a:r>
                  <a:rPr lang="en-US" altLang="zh-CN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16</a:t>
                </a:r>
                <a:r>
                  <a:rPr lang="zh-CN" altLang="en-US" sz="2000" dirty="0">
                    <a:latin typeface="Calibri" panose="020F0502020204030204" pitchFamily="34" charset="0"/>
                    <a:ea typeface="宋体" panose="02010600030101010101" pitchFamily="2" charset="-122"/>
                  </a:rPr>
                  <a:t>进制数代表的字符</a:t>
                </a:r>
                <a:endParaRPr lang="zh-CN" altLang="en-US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89158" name="直接连接符 161798"/>
            <p:cNvSpPr/>
            <p:nvPr/>
          </p:nvSpPr>
          <p:spPr>
            <a:xfrm>
              <a:off x="2903" y="2508"/>
              <a:ext cx="0" cy="2075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59" name="直接连接符 161799"/>
            <p:cNvSpPr/>
            <p:nvPr/>
          </p:nvSpPr>
          <p:spPr>
            <a:xfrm>
              <a:off x="1204" y="2508"/>
              <a:ext cx="0" cy="2075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0" name="直接连接符 161800"/>
            <p:cNvSpPr/>
            <p:nvPr/>
          </p:nvSpPr>
          <p:spPr>
            <a:xfrm>
              <a:off x="3793" y="2508"/>
              <a:ext cx="0" cy="2075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1" name="直接连接符 161801"/>
            <p:cNvSpPr/>
            <p:nvPr/>
          </p:nvSpPr>
          <p:spPr>
            <a:xfrm>
              <a:off x="324" y="2820"/>
              <a:ext cx="5414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2" name="直接连接符 161802"/>
            <p:cNvSpPr/>
            <p:nvPr/>
          </p:nvSpPr>
          <p:spPr>
            <a:xfrm>
              <a:off x="324" y="3113"/>
              <a:ext cx="5414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3" name="直接连接符 161803"/>
            <p:cNvSpPr/>
            <p:nvPr/>
          </p:nvSpPr>
          <p:spPr>
            <a:xfrm>
              <a:off x="324" y="3407"/>
              <a:ext cx="5414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4" name="直接连接符 161804"/>
            <p:cNvSpPr/>
            <p:nvPr/>
          </p:nvSpPr>
          <p:spPr>
            <a:xfrm>
              <a:off x="324" y="3701"/>
              <a:ext cx="5414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5" name="直接连接符 161805"/>
            <p:cNvSpPr/>
            <p:nvPr/>
          </p:nvSpPr>
          <p:spPr>
            <a:xfrm>
              <a:off x="324" y="3995"/>
              <a:ext cx="5414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6" name="直接连接符 161806"/>
            <p:cNvSpPr/>
            <p:nvPr/>
          </p:nvSpPr>
          <p:spPr>
            <a:xfrm>
              <a:off x="324" y="4289"/>
              <a:ext cx="5414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61846" name="文本框 161845"/>
          <p:cNvSpPr txBox="1"/>
          <p:nvPr/>
        </p:nvSpPr>
        <p:spPr>
          <a:xfrm>
            <a:off x="2786063" y="2717800"/>
            <a:ext cx="4629150" cy="92392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如    ‘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\101’   -----------‘A’      ‘\012’    -----------’\n’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‘\376’  -----------’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  <a:sym typeface="Webdings" panose="05030102010509060703" pitchFamily="18" charset="2"/>
              </a:rPr>
              <a:t>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’     ‘\x61’   -----------’a’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‘\60’   -----------’0’        ‘\483’  ----------(</a:t>
            </a:r>
            <a:r>
              <a:rPr lang="en-US" altLang="zh-CN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1847" name="文本框 161846"/>
          <p:cNvSpPr txBox="1"/>
          <p:nvPr/>
        </p:nvSpPr>
        <p:spPr>
          <a:xfrm>
            <a:off x="3624263" y="2651125"/>
            <a:ext cx="3246437" cy="64611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Calibri" panose="020F0502020204030204" pitchFamily="34" charset="0"/>
                <a:ea typeface="隶书" panose="02010509060101010101" pitchFamily="49" charset="-122"/>
              </a:rPr>
              <a:t>例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: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‘A’-------’\101’-------’\x41’--------65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1850" name="矩形 161849"/>
          <p:cNvSpPr/>
          <p:nvPr/>
        </p:nvSpPr>
        <p:spPr>
          <a:xfrm>
            <a:off x="3656013" y="2028825"/>
            <a:ext cx="3722687" cy="6477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如  ‘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A’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65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， ‘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a’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97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，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    ‘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0’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48 , ‘\n’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1851" name="文本框 161850"/>
          <p:cNvSpPr txBox="1"/>
          <p:nvPr/>
        </p:nvSpPr>
        <p:spPr>
          <a:xfrm>
            <a:off x="4043363" y="1316038"/>
            <a:ext cx="3162300" cy="36988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如  ‘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a’    ‘A’   ‘?’    ‘\n’    ‘\101’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61852" name="矩形 161851"/>
          <p:cNvSpPr/>
          <p:nvPr/>
        </p:nvSpPr>
        <p:spPr>
          <a:xfrm>
            <a:off x="1771650" y="1933575"/>
            <a:ext cx="8626475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转义字符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反斜线后面跟一个字符或一个代码值表示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1856" name="文本框 161855"/>
          <p:cNvSpPr txBox="1"/>
          <p:nvPr/>
        </p:nvSpPr>
        <p:spPr>
          <a:xfrm>
            <a:off x="2408238" y="2301875"/>
            <a:ext cx="3594100" cy="2308225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100000">
                <a:srgbClr val="FFFFFF"/>
              </a:gs>
            </a:gsLst>
            <a:lin ang="5400000" scaled="1"/>
            <a:tileRect/>
          </a:gra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例 转义字符举例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main()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{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printf("\101 \x42 C\n");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printf("I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say:\"How are you?\"\n");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printf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("\\C Program\\\n");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printf("Turbo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\'C\'");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1857" name="文本框 161856"/>
          <p:cNvSpPr txBox="1"/>
          <p:nvPr/>
        </p:nvSpPr>
        <p:spPr>
          <a:xfrm>
            <a:off x="7326313" y="3041650"/>
            <a:ext cx="2624137" cy="1630363"/>
          </a:xfrm>
          <a:prstGeom prst="rect">
            <a:avLst/>
          </a:prstGeom>
          <a:solidFill>
            <a:srgbClr val="333300"/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屏幕显示</a:t>
            </a:r>
            <a:r>
              <a:rPr lang="en-US" altLang="zh-CN" sz="20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lang="en-US" altLang="zh-CN" sz="20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A B C</a:t>
            </a:r>
            <a:endParaRPr lang="en-US" altLang="zh-CN" sz="20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 err="1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Isay:”How</a:t>
            </a:r>
            <a:r>
              <a:rPr lang="en-US" altLang="zh-CN" sz="20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 are you?”</a:t>
            </a:r>
            <a:endParaRPr lang="en-US" altLang="zh-CN" sz="20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\C Program\</a:t>
            </a:r>
            <a:endParaRPr lang="en-US" altLang="zh-CN" sz="20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Turbo ‘C’</a:t>
            </a:r>
            <a:endParaRPr lang="en-US" altLang="zh-CN" sz="20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174" name="标题 159771"/>
          <p:cNvSpPr>
            <a:spLocks noGrp="1"/>
          </p:cNvSpPr>
          <p:nvPr/>
        </p:nvSpPr>
        <p:spPr>
          <a:xfrm>
            <a:off x="2022475" y="730250"/>
            <a:ext cx="3492500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、字符常量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175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18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18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618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18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618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61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61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1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1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1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1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/>
      <p:bldP spid="161839" grpId="0"/>
      <p:bldP spid="161846" grpId="0" bldLvl="0" animBg="1"/>
      <p:bldP spid="161847" grpId="0" bldLvl="0" animBg="1"/>
      <p:bldP spid="161850" grpId="0" bldLvl="0" animBg="1"/>
      <p:bldP spid="161851" grpId="0" bldLvl="0" animBg="1"/>
      <p:bldP spid="161852" grpId="0"/>
      <p:bldP spid="161856" grpId="0" bldLvl="0" animBg="1"/>
      <p:bldP spid="161857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116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2819" name="矩形 162818"/>
          <p:cNvSpPr/>
          <p:nvPr/>
        </p:nvSpPr>
        <p:spPr>
          <a:xfrm>
            <a:off x="2209800" y="3581400"/>
            <a:ext cx="8010525" cy="381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字符常量与字符串常量不同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2820" name="矩形 162819"/>
          <p:cNvSpPr/>
          <p:nvPr/>
        </p:nvSpPr>
        <p:spPr>
          <a:xfrm>
            <a:off x="2112963" y="1095375"/>
            <a:ext cx="8010525" cy="1717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1611630" lvl="2" indent="-892175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定义：用双引号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(“”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括起来的字符序列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611630" lvl="2" indent="-892175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存储：每个字符串尾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自动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加一个 ‘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\0’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作为字符串结束标志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62821" name="组合 162820"/>
          <p:cNvGrpSpPr/>
          <p:nvPr/>
        </p:nvGrpSpPr>
        <p:grpSpPr>
          <a:xfrm>
            <a:off x="2949575" y="2314575"/>
            <a:ext cx="6823075" cy="415925"/>
            <a:chOff x="912" y="1759"/>
            <a:chExt cx="4298" cy="262"/>
          </a:xfrm>
        </p:grpSpPr>
        <p:grpSp>
          <p:nvGrpSpPr>
            <p:cNvPr id="391173" name="组合 162821"/>
            <p:cNvGrpSpPr/>
            <p:nvPr/>
          </p:nvGrpSpPr>
          <p:grpSpPr>
            <a:xfrm>
              <a:off x="3587" y="1776"/>
              <a:ext cx="1623" cy="245"/>
              <a:chOff x="3587" y="1584"/>
              <a:chExt cx="1623" cy="245"/>
            </a:xfrm>
          </p:grpSpPr>
          <p:sp>
            <p:nvSpPr>
              <p:cNvPr id="391174" name="矩形 162822"/>
              <p:cNvSpPr/>
              <p:nvPr/>
            </p:nvSpPr>
            <p:spPr>
              <a:xfrm>
                <a:off x="3587" y="1584"/>
                <a:ext cx="1623" cy="24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>
                    <a:latin typeface="微软雅黑 Light" panose="020B0502040204020203" charset="-122"/>
                    <a:ea typeface="微软雅黑 Light" panose="020B0502040204020203" charset="-122"/>
                  </a:rPr>
                  <a:t>h   e     l       l     o     </a:t>
                </a:r>
                <a:r>
                  <a:rPr lang="en-US" altLang="zh-CN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rPr>
                  <a:t>\0</a:t>
                </a:r>
                <a:endParaRPr lang="en-US" altLang="zh-CN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sp>
            <p:nvSpPr>
              <p:cNvPr id="391175" name="直接连接符 162823"/>
              <p:cNvSpPr/>
              <p:nvPr/>
            </p:nvSpPr>
            <p:spPr>
              <a:xfrm>
                <a:off x="3820" y="1584"/>
                <a:ext cx="0" cy="2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1176" name="直接连接符 162824"/>
              <p:cNvSpPr/>
              <p:nvPr/>
            </p:nvSpPr>
            <p:spPr>
              <a:xfrm>
                <a:off x="4087" y="1584"/>
                <a:ext cx="0" cy="2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1177" name="直接连接符 162825"/>
              <p:cNvSpPr/>
              <p:nvPr/>
            </p:nvSpPr>
            <p:spPr>
              <a:xfrm>
                <a:off x="4365" y="1584"/>
                <a:ext cx="0" cy="2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1178" name="直接连接符 162826"/>
              <p:cNvSpPr/>
              <p:nvPr/>
            </p:nvSpPr>
            <p:spPr>
              <a:xfrm>
                <a:off x="4654" y="1584"/>
                <a:ext cx="0" cy="2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1179" name="直接连接符 162827"/>
              <p:cNvSpPr/>
              <p:nvPr/>
            </p:nvSpPr>
            <p:spPr>
              <a:xfrm>
                <a:off x="4932" y="1584"/>
                <a:ext cx="0" cy="2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1180" name="文本框 162828"/>
            <p:cNvSpPr txBox="1"/>
            <p:nvPr/>
          </p:nvSpPr>
          <p:spPr>
            <a:xfrm>
              <a:off x="912" y="1759"/>
              <a:ext cx="2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例  字符串“</a:t>
              </a:r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hello”</a:t>
              </a:r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在内存中</a:t>
              </a:r>
              <a:endParaRPr lang="zh-CN" altLang="en-US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grpSp>
        <p:nvGrpSpPr>
          <p:cNvPr id="162830" name="组合 162829"/>
          <p:cNvGrpSpPr/>
          <p:nvPr/>
        </p:nvGrpSpPr>
        <p:grpSpPr>
          <a:xfrm>
            <a:off x="3505200" y="4267200"/>
            <a:ext cx="4135438" cy="398463"/>
            <a:chOff x="1248" y="2688"/>
            <a:chExt cx="2605" cy="251"/>
          </a:xfrm>
        </p:grpSpPr>
        <p:sp>
          <p:nvSpPr>
            <p:cNvPr id="391182" name="矩形 162830"/>
            <p:cNvSpPr/>
            <p:nvPr/>
          </p:nvSpPr>
          <p:spPr>
            <a:xfrm>
              <a:off x="1968" y="2736"/>
              <a:ext cx="234" cy="17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a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91183" name="组合 162831"/>
            <p:cNvGrpSpPr/>
            <p:nvPr/>
          </p:nvGrpSpPr>
          <p:grpSpPr>
            <a:xfrm>
              <a:off x="3264" y="2736"/>
              <a:ext cx="589" cy="192"/>
              <a:chOff x="3264" y="2736"/>
              <a:chExt cx="589" cy="267"/>
            </a:xfrm>
          </p:grpSpPr>
          <p:sp>
            <p:nvSpPr>
              <p:cNvPr id="391184" name="矩形 162832"/>
              <p:cNvSpPr/>
              <p:nvPr/>
            </p:nvSpPr>
            <p:spPr>
              <a:xfrm>
                <a:off x="3264" y="2736"/>
                <a:ext cx="589" cy="26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r>
                  <a:rPr lang="en-US" altLang="zh-CN">
                    <a:latin typeface="Calibri" panose="020F0502020204030204" pitchFamily="34" charset="0"/>
                    <a:ea typeface="宋体" panose="02010600030101010101" pitchFamily="2" charset="-122"/>
                  </a:rPr>
                  <a:t> a      \ 0</a:t>
                </a:r>
                <a:endParaRPr lang="en-US" altLang="zh-CN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1185" name="直接连接符 162833"/>
              <p:cNvSpPr/>
              <p:nvPr/>
            </p:nvSpPr>
            <p:spPr>
              <a:xfrm>
                <a:off x="3558" y="2736"/>
                <a:ext cx="0" cy="26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1186" name="文本框 162834"/>
            <p:cNvSpPr txBox="1"/>
            <p:nvPr/>
          </p:nvSpPr>
          <p:spPr>
            <a:xfrm>
              <a:off x="1248" y="2688"/>
              <a:ext cx="5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例</a:t>
              </a:r>
              <a:r>
                <a:rPr lang="zh-CN" altLang="en-US" dirty="0">
                  <a:latin typeface="Calibri" panose="020F0502020204030204" pitchFamily="34" charset="0"/>
                  <a:ea typeface="宋体" panose="02010600030101010101" pitchFamily="2" charset="-122"/>
                </a:rPr>
                <a:t> ‘</a:t>
              </a:r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a’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1187" name="文本框 162835"/>
            <p:cNvSpPr txBox="1"/>
            <p:nvPr/>
          </p:nvSpPr>
          <p:spPr>
            <a:xfrm>
              <a:off x="2688" y="2688"/>
              <a:ext cx="30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“a”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2838" name="组合 162837"/>
          <p:cNvGrpSpPr/>
          <p:nvPr/>
        </p:nvGrpSpPr>
        <p:grpSpPr>
          <a:xfrm>
            <a:off x="2949575" y="3048000"/>
            <a:ext cx="2841625" cy="427038"/>
            <a:chOff x="1053" y="1915"/>
            <a:chExt cx="1769" cy="269"/>
          </a:xfrm>
        </p:grpSpPr>
        <p:sp>
          <p:nvSpPr>
            <p:cNvPr id="391189" name="文本框 162838"/>
            <p:cNvSpPr txBox="1"/>
            <p:nvPr/>
          </p:nvSpPr>
          <p:spPr>
            <a:xfrm>
              <a:off x="1053" y="1915"/>
              <a:ext cx="90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例  空串  “”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391190" name="文本框 162839"/>
            <p:cNvSpPr txBox="1"/>
            <p:nvPr/>
          </p:nvSpPr>
          <p:spPr>
            <a:xfrm>
              <a:off x="2556" y="1933"/>
              <a:ext cx="266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\0</a:t>
              </a:r>
              <a:endParaRPr lang="en-US" altLang="zh-CN" sz="200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sp>
        <p:nvSpPr>
          <p:cNvPr id="162841" name="文本框 162840"/>
          <p:cNvSpPr txBox="1"/>
          <p:nvPr/>
        </p:nvSpPr>
        <p:spPr>
          <a:xfrm>
            <a:off x="3414713" y="5127625"/>
            <a:ext cx="3633787" cy="95408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sz="2800" dirty="0">
                <a:latin typeface="Calibri" panose="020F0502020204030204" pitchFamily="34" charset="0"/>
                <a:ea typeface="隶书" panose="02010509060101010101" pitchFamily="49" charset="-122"/>
              </a:rPr>
              <a:t>例</a:t>
            </a:r>
            <a:r>
              <a:rPr lang="en-US" altLang="zh-CN" sz="2800" err="1">
                <a:latin typeface="Calibri" panose="020F0502020204030204" pitchFamily="34" charset="0"/>
                <a:ea typeface="隶书" panose="02010509060101010101" pitchFamily="49" charset="-122"/>
              </a:rPr>
              <a:t>:       char   ch</a:t>
            </a:r>
            <a:r>
              <a:rPr lang="en-US" altLang="zh-CN" sz="2800">
                <a:latin typeface="Calibri" panose="020F0502020204030204" pitchFamily="34" charset="0"/>
                <a:ea typeface="隶书" panose="02010509060101010101" pitchFamily="49" charset="-122"/>
              </a:rPr>
              <a:t>;</a:t>
            </a:r>
            <a:endParaRPr lang="en-US" altLang="zh-CN" sz="28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 sz="2800" err="1">
                <a:latin typeface="Calibri" panose="020F0502020204030204" pitchFamily="34" charset="0"/>
                <a:ea typeface="隶书" panose="02010509060101010101" pitchFamily="49" charset="-122"/>
              </a:rPr>
              <a:t>            ch</a:t>
            </a:r>
            <a:r>
              <a:rPr lang="en-US" altLang="zh-CN" sz="2800">
                <a:latin typeface="Calibri" panose="020F0502020204030204" pitchFamily="34" charset="0"/>
                <a:ea typeface="隶书" panose="02010509060101010101" pitchFamily="49" charset="-122"/>
              </a:rPr>
              <a:t>=“A”;          </a:t>
            </a:r>
            <a:endParaRPr lang="en-US" altLang="zh-CN" sz="2800">
              <a:latin typeface="Calibri" panose="020F0502020204030204" pitchFamily="34" charset="0"/>
              <a:ea typeface="隶书" panose="02010509060101010101" pitchFamily="49" charset="-122"/>
            </a:endParaRPr>
          </a:p>
        </p:txBody>
      </p:sp>
      <p:grpSp>
        <p:nvGrpSpPr>
          <p:cNvPr id="162845" name="组合 162844"/>
          <p:cNvGrpSpPr/>
          <p:nvPr/>
        </p:nvGrpSpPr>
        <p:grpSpPr>
          <a:xfrm>
            <a:off x="6456363" y="5680075"/>
            <a:ext cx="381000" cy="381000"/>
            <a:chOff x="4344" y="3540"/>
            <a:chExt cx="240" cy="240"/>
          </a:xfrm>
        </p:grpSpPr>
        <p:sp>
          <p:nvSpPr>
            <p:cNvPr id="391193" name="直接连接符 162842"/>
            <p:cNvSpPr/>
            <p:nvPr/>
          </p:nvSpPr>
          <p:spPr>
            <a:xfrm flipH="1">
              <a:off x="4344" y="3540"/>
              <a:ext cx="240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1194" name="直接连接符 162843"/>
            <p:cNvSpPr/>
            <p:nvPr/>
          </p:nvSpPr>
          <p:spPr>
            <a:xfrm>
              <a:off x="4356" y="3540"/>
              <a:ext cx="228" cy="21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62848" name="组合 162847"/>
          <p:cNvGrpSpPr/>
          <p:nvPr/>
        </p:nvGrpSpPr>
        <p:grpSpPr>
          <a:xfrm>
            <a:off x="3433763" y="5119688"/>
            <a:ext cx="3633787" cy="954087"/>
            <a:chOff x="1203" y="3170"/>
            <a:chExt cx="2289" cy="601"/>
          </a:xfrm>
        </p:grpSpPr>
        <p:sp>
          <p:nvSpPr>
            <p:cNvPr id="391196" name="文本框 162845"/>
            <p:cNvSpPr txBox="1"/>
            <p:nvPr/>
          </p:nvSpPr>
          <p:spPr>
            <a:xfrm>
              <a:off x="1203" y="3170"/>
              <a:ext cx="2289" cy="601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 anchor="t" anchorCtr="0">
              <a:spAutoFit/>
            </a:bodyPr>
            <a:p>
              <a:r>
                <a:rPr lang="zh-CN" altLang="en-US" sz="2800" dirty="0">
                  <a:latin typeface="Calibri" panose="020F0502020204030204" pitchFamily="34" charset="0"/>
                  <a:ea typeface="隶书" panose="02010509060101010101" pitchFamily="49" charset="-122"/>
                </a:rPr>
                <a:t>例</a:t>
              </a:r>
              <a:r>
                <a:rPr lang="en-US" altLang="zh-CN" sz="2800" err="1">
                  <a:latin typeface="Calibri" panose="020F0502020204030204" pitchFamily="34" charset="0"/>
                  <a:ea typeface="隶书" panose="02010509060101010101" pitchFamily="49" charset="-122"/>
                </a:rPr>
                <a:t>:       char   ch</a:t>
              </a:r>
              <a:r>
                <a:rPr lang="en-US" altLang="zh-CN" sz="2800">
                  <a:latin typeface="Calibri" panose="020F0502020204030204" pitchFamily="34" charset="0"/>
                  <a:ea typeface="隶书" panose="02010509060101010101" pitchFamily="49" charset="-122"/>
                </a:rPr>
                <a:t>;</a:t>
              </a:r>
              <a:endParaRPr lang="en-US" altLang="zh-CN" sz="2800">
                <a:latin typeface="Calibri" panose="020F0502020204030204" pitchFamily="34" charset="0"/>
                <a:ea typeface="隶书" panose="02010509060101010101" pitchFamily="49" charset="-122"/>
              </a:endParaRPr>
            </a:p>
            <a:p>
              <a:r>
                <a:rPr lang="en-US" altLang="zh-CN" sz="2800" err="1">
                  <a:latin typeface="Calibri" panose="020F0502020204030204" pitchFamily="34" charset="0"/>
                  <a:ea typeface="隶书" panose="02010509060101010101" pitchFamily="49" charset="-122"/>
                </a:rPr>
                <a:t>            ch</a:t>
              </a:r>
              <a:r>
                <a:rPr lang="en-US" altLang="zh-CN" sz="2800">
                  <a:latin typeface="Calibri" panose="020F0502020204030204" pitchFamily="34" charset="0"/>
                  <a:ea typeface="隶书" panose="02010509060101010101" pitchFamily="49" charset="-122"/>
                </a:rPr>
                <a:t>=‘A’;          </a:t>
              </a:r>
              <a:endParaRPr lang="en-US" altLang="zh-CN" sz="2800">
                <a:latin typeface="Calibri" panose="020F050202020403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91197" name="任意多边形 162846"/>
            <p:cNvSpPr/>
            <p:nvPr/>
          </p:nvSpPr>
          <p:spPr>
            <a:xfrm>
              <a:off x="3000" y="3444"/>
              <a:ext cx="384" cy="250"/>
            </a:xfrm>
            <a:custGeom>
              <a:avLst/>
              <a:gdLst/>
              <a:ahLst/>
              <a:cxnLst/>
              <a:pathLst>
                <a:path w="384" h="250">
                  <a:moveTo>
                    <a:pt x="0" y="144"/>
                  </a:moveTo>
                  <a:cubicBezTo>
                    <a:pt x="60" y="164"/>
                    <a:pt x="93" y="206"/>
                    <a:pt x="144" y="240"/>
                  </a:cubicBezTo>
                  <a:cubicBezTo>
                    <a:pt x="221" y="214"/>
                    <a:pt x="147" y="250"/>
                    <a:pt x="192" y="192"/>
                  </a:cubicBezTo>
                  <a:cubicBezTo>
                    <a:pt x="236" y="135"/>
                    <a:pt x="252" y="128"/>
                    <a:pt x="300" y="96"/>
                  </a:cubicBezTo>
                  <a:cubicBezTo>
                    <a:pt x="364" y="0"/>
                    <a:pt x="280" y="116"/>
                    <a:pt x="360" y="36"/>
                  </a:cubicBezTo>
                  <a:cubicBezTo>
                    <a:pt x="370" y="26"/>
                    <a:pt x="384" y="0"/>
                    <a:pt x="384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pic>
        <p:nvPicPr>
          <p:cNvPr id="391198" name="图片 162852" descr="1183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963" y="6219825"/>
            <a:ext cx="411162" cy="411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1199" name="标题 159771"/>
          <p:cNvSpPr>
            <a:spLocks noGrp="1"/>
          </p:cNvSpPr>
          <p:nvPr/>
        </p:nvSpPr>
        <p:spPr>
          <a:xfrm>
            <a:off x="2022475" y="730250"/>
            <a:ext cx="3492500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、字符串常量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1200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628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6281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62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6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628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ldLvl="4" build="p"/>
      <p:bldP spid="162820" grpId="0"/>
      <p:bldP spid="162841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219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55461" name="组合 55460"/>
          <p:cNvGrpSpPr/>
          <p:nvPr/>
        </p:nvGrpSpPr>
        <p:grpSpPr>
          <a:xfrm>
            <a:off x="3389313" y="2705100"/>
            <a:ext cx="7545387" cy="4095750"/>
            <a:chOff x="1283" y="1704"/>
            <a:chExt cx="4753" cy="2580"/>
          </a:xfrm>
        </p:grpSpPr>
        <p:sp>
          <p:nvSpPr>
            <p:cNvPr id="392195" name="圆角矩形标注 55316"/>
            <p:cNvSpPr/>
            <p:nvPr/>
          </p:nvSpPr>
          <p:spPr>
            <a:xfrm>
              <a:off x="1283" y="3493"/>
              <a:ext cx="2081" cy="494"/>
            </a:xfrm>
            <a:prstGeom prst="wedgeRoundRectCallout">
              <a:avLst>
                <a:gd name="adj1" fmla="val 63000"/>
                <a:gd name="adj2" fmla="val -150000"/>
                <a:gd name="adj3" fmla="val 16667"/>
              </a:avLst>
            </a:prstGeom>
            <a:solidFill>
              <a:schemeClr val="bg1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zh-CN" altLang="en-US" sz="2000" dirty="0">
                  <a:solidFill>
                    <a:srgbClr val="FF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编译程序根据变量定义为其</a:t>
              </a:r>
              <a:endParaRPr lang="zh-CN" altLang="en-US" sz="20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 algn="ctr"/>
              <a:r>
                <a:rPr lang="zh-CN" altLang="en-US" sz="2000" dirty="0">
                  <a:solidFill>
                    <a:srgbClr val="FF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分配指定字节的内存单元</a:t>
              </a:r>
              <a:endParaRPr lang="zh-CN" altLang="en-US" sz="20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grpSp>
          <p:nvGrpSpPr>
            <p:cNvPr id="392196" name="组合 55425"/>
            <p:cNvGrpSpPr/>
            <p:nvPr/>
          </p:nvGrpSpPr>
          <p:grpSpPr>
            <a:xfrm>
              <a:off x="3039" y="1704"/>
              <a:ext cx="2997" cy="2580"/>
              <a:chOff x="1515" y="769"/>
              <a:chExt cx="2997" cy="2580"/>
            </a:xfrm>
          </p:grpSpPr>
          <p:sp>
            <p:nvSpPr>
              <p:cNvPr id="392197" name="矩形 55426"/>
              <p:cNvSpPr/>
              <p:nvPr/>
            </p:nvSpPr>
            <p:spPr>
              <a:xfrm>
                <a:off x="2220" y="1044"/>
                <a:ext cx="1188" cy="20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2198" name="直接连接符 55427"/>
              <p:cNvSpPr/>
              <p:nvPr/>
            </p:nvSpPr>
            <p:spPr>
              <a:xfrm>
                <a:off x="2220" y="1368"/>
                <a:ext cx="1188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2199" name="直接连接符 55428"/>
              <p:cNvSpPr/>
              <p:nvPr/>
            </p:nvSpPr>
            <p:spPr>
              <a:xfrm>
                <a:off x="2220" y="1618"/>
                <a:ext cx="1188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2200" name="直接连接符 55429"/>
              <p:cNvSpPr/>
              <p:nvPr/>
            </p:nvSpPr>
            <p:spPr>
              <a:xfrm>
                <a:off x="2220" y="1868"/>
                <a:ext cx="1188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2201" name="直接连接符 55430"/>
              <p:cNvSpPr/>
              <p:nvPr/>
            </p:nvSpPr>
            <p:spPr>
              <a:xfrm>
                <a:off x="2220" y="2118"/>
                <a:ext cx="1188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2202" name="直接连接符 55431"/>
              <p:cNvSpPr/>
              <p:nvPr/>
            </p:nvSpPr>
            <p:spPr>
              <a:xfrm>
                <a:off x="2220" y="2368"/>
                <a:ext cx="1188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2203" name="直接连接符 55432"/>
              <p:cNvSpPr/>
              <p:nvPr/>
            </p:nvSpPr>
            <p:spPr>
              <a:xfrm>
                <a:off x="2220" y="2618"/>
                <a:ext cx="1188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2204" name="直接连接符 55433"/>
              <p:cNvSpPr/>
              <p:nvPr/>
            </p:nvSpPr>
            <p:spPr>
              <a:xfrm>
                <a:off x="2220" y="2868"/>
                <a:ext cx="1188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2205" name="文本框 55434"/>
              <p:cNvSpPr txBox="1"/>
              <p:nvPr/>
            </p:nvSpPr>
            <p:spPr>
              <a:xfrm>
                <a:off x="2691" y="2827"/>
                <a:ext cx="306" cy="3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 lIns="90000" tIns="46800" rIns="90000" bIns="46800" anchor="t" anchorCtr="0">
                <a:spAutoFit/>
              </a:bodyPr>
              <a:p>
                <a:r>
                  <a:rPr lang="en-US" altLang="zh-CN" sz="2000">
                    <a:latin typeface="Arial" panose="020B0604020202020204" pitchFamily="34" charset="0"/>
                    <a:ea typeface="隶书" panose="02010509060101010101" pitchFamily="49" charset="-122"/>
                  </a:rPr>
                  <a:t>…...</a:t>
                </a:r>
                <a:endParaRPr lang="en-US" altLang="zh-CN" sz="200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grpSp>
            <p:nvGrpSpPr>
              <p:cNvPr id="392206" name="组合 55435"/>
              <p:cNvGrpSpPr/>
              <p:nvPr/>
            </p:nvGrpSpPr>
            <p:grpSpPr>
              <a:xfrm>
                <a:off x="1515" y="1210"/>
                <a:ext cx="705" cy="252"/>
                <a:chOff x="1515" y="922"/>
                <a:chExt cx="705" cy="252"/>
              </a:xfrm>
            </p:grpSpPr>
            <p:sp>
              <p:nvSpPr>
                <p:cNvPr id="392207" name="直接连接符 55436"/>
                <p:cNvSpPr/>
                <p:nvPr/>
              </p:nvSpPr>
              <p:spPr>
                <a:xfrm>
                  <a:off x="1872" y="1068"/>
                  <a:ext cx="348" cy="0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392208" name="文本框 55437"/>
                <p:cNvSpPr txBox="1"/>
                <p:nvPr/>
              </p:nvSpPr>
              <p:spPr>
                <a:xfrm>
                  <a:off x="1515" y="922"/>
                  <a:ext cx="43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t" anchorCtr="0">
                  <a:spAutoFit/>
                </a:bodyPr>
                <a:p>
                  <a:r>
                    <a:rPr lang="zh-CN" altLang="en-US" sz="2000" dirty="0">
                      <a:solidFill>
                        <a:srgbClr val="0000FF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rPr>
                    <a:t>地址</a:t>
                  </a:r>
                  <a:endParaRPr lang="zh-CN" alt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ea typeface="隶书" panose="02010509060101010101" pitchFamily="49" charset="-122"/>
                  </a:endParaRPr>
                </a:p>
              </p:txBody>
            </p:sp>
          </p:grpSp>
          <p:sp>
            <p:nvSpPr>
              <p:cNvPr id="392209" name="文本框 55438"/>
              <p:cNvSpPr txBox="1"/>
              <p:nvPr/>
            </p:nvSpPr>
            <p:spPr>
              <a:xfrm>
                <a:off x="2139" y="769"/>
                <a:ext cx="1153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 err="1">
                    <a:latin typeface="Arial" panose="020B0604020202020204" pitchFamily="34" charset="0"/>
                    <a:ea typeface="隶书" panose="02010509060101010101" pitchFamily="49" charset="-122"/>
                  </a:rPr>
                  <a:t>int</a:t>
                </a:r>
                <a:r>
                  <a:rPr lang="en-US" altLang="zh-CN">
                    <a:latin typeface="Arial" panose="020B0604020202020204" pitchFamily="34" charset="0"/>
                    <a:ea typeface="隶书" panose="02010509060101010101" pitchFamily="49" charset="-122"/>
                  </a:rPr>
                  <a:t>   a=1, b=-3,c;</a:t>
                </a:r>
                <a:endParaRPr lang="en-US" altLang="zh-CN" sz="200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10" name="文本框 55439"/>
              <p:cNvSpPr txBox="1"/>
              <p:nvPr/>
            </p:nvSpPr>
            <p:spPr>
              <a:xfrm>
                <a:off x="1971" y="1465"/>
                <a:ext cx="193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a</a:t>
                </a:r>
                <a:endParaRPr lang="en-US" altLang="zh-CN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11" name="文本框 55440"/>
              <p:cNvSpPr txBox="1"/>
              <p:nvPr/>
            </p:nvSpPr>
            <p:spPr>
              <a:xfrm>
                <a:off x="1971" y="1957"/>
                <a:ext cx="193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b</a:t>
                </a:r>
                <a:endParaRPr lang="en-US" altLang="zh-CN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12" name="文本框 55441"/>
              <p:cNvSpPr txBox="1"/>
              <p:nvPr/>
            </p:nvSpPr>
            <p:spPr>
              <a:xfrm>
                <a:off x="1971" y="2485"/>
                <a:ext cx="185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c</a:t>
                </a:r>
                <a:endParaRPr lang="en-US" altLang="zh-CN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13" name="右大括号 55442"/>
              <p:cNvSpPr/>
              <p:nvPr/>
            </p:nvSpPr>
            <p:spPr>
              <a:xfrm>
                <a:off x="3420" y="1368"/>
                <a:ext cx="60" cy="504"/>
              </a:xfrm>
              <a:prstGeom prst="rightBrace">
                <a:avLst>
                  <a:gd name="adj1" fmla="val 70000"/>
                  <a:gd name="adj2" fmla="val 50000"/>
                </a:avLst>
              </a:prstGeom>
              <a:noFill/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2214" name="右大括号 55443"/>
              <p:cNvSpPr/>
              <p:nvPr/>
            </p:nvSpPr>
            <p:spPr>
              <a:xfrm>
                <a:off x="3420" y="1860"/>
                <a:ext cx="60" cy="504"/>
              </a:xfrm>
              <a:prstGeom prst="rightBrace">
                <a:avLst>
                  <a:gd name="adj1" fmla="val 70000"/>
                  <a:gd name="adj2" fmla="val 50000"/>
                </a:avLst>
              </a:prstGeom>
              <a:noFill/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2215" name="右大括号 55444"/>
              <p:cNvSpPr/>
              <p:nvPr/>
            </p:nvSpPr>
            <p:spPr>
              <a:xfrm>
                <a:off x="3420" y="2364"/>
                <a:ext cx="60" cy="504"/>
              </a:xfrm>
              <a:prstGeom prst="rightBrace">
                <a:avLst>
                  <a:gd name="adj1" fmla="val 70000"/>
                  <a:gd name="adj2" fmla="val 50000"/>
                </a:avLst>
              </a:prstGeom>
              <a:noFill/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2216" name="文本框 55445"/>
              <p:cNvSpPr txBox="1"/>
              <p:nvPr/>
            </p:nvSpPr>
            <p:spPr>
              <a:xfrm>
                <a:off x="3471" y="1483"/>
                <a:ext cx="522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 sz="2000" dirty="0">
                    <a:latin typeface="Arial" panose="020B0604020202020204" pitchFamily="34" charset="0"/>
                    <a:ea typeface="隶书" panose="02010509060101010101" pitchFamily="49" charset="-122"/>
                  </a:rPr>
                  <a:t>4</a:t>
                </a:r>
                <a:r>
                  <a:rPr lang="zh-CN" altLang="en-US" sz="2000" dirty="0">
                    <a:latin typeface="Arial" panose="020B0604020202020204" pitchFamily="34" charset="0"/>
                    <a:ea typeface="隶书" panose="02010509060101010101" pitchFamily="49" charset="-122"/>
                  </a:rPr>
                  <a:t>字节</a:t>
                </a:r>
                <a:endPara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17" name="文本框 55446"/>
              <p:cNvSpPr txBox="1"/>
              <p:nvPr/>
            </p:nvSpPr>
            <p:spPr>
              <a:xfrm>
                <a:off x="3471" y="1987"/>
                <a:ext cx="522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 sz="2000" dirty="0">
                    <a:latin typeface="Arial" panose="020B0604020202020204" pitchFamily="34" charset="0"/>
                    <a:ea typeface="隶书" panose="02010509060101010101" pitchFamily="49" charset="-122"/>
                  </a:rPr>
                  <a:t>4</a:t>
                </a:r>
                <a:r>
                  <a:rPr lang="zh-CN" altLang="en-US" sz="2000" dirty="0">
                    <a:latin typeface="Arial" panose="020B0604020202020204" pitchFamily="34" charset="0"/>
                    <a:ea typeface="隶书" panose="02010509060101010101" pitchFamily="49" charset="-122"/>
                  </a:rPr>
                  <a:t>字节</a:t>
                </a:r>
                <a:endPara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18" name="文本框 55447"/>
              <p:cNvSpPr txBox="1"/>
              <p:nvPr/>
            </p:nvSpPr>
            <p:spPr>
              <a:xfrm>
                <a:off x="3471" y="2491"/>
                <a:ext cx="522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 sz="2000" dirty="0">
                    <a:latin typeface="Arial" panose="020B0604020202020204" pitchFamily="34" charset="0"/>
                    <a:ea typeface="隶书" panose="02010509060101010101" pitchFamily="49" charset="-122"/>
                  </a:rPr>
                  <a:t>4</a:t>
                </a:r>
                <a:r>
                  <a:rPr lang="zh-CN" altLang="en-US" sz="2000" dirty="0">
                    <a:latin typeface="Arial" panose="020B0604020202020204" pitchFamily="34" charset="0"/>
                    <a:ea typeface="隶书" panose="02010509060101010101" pitchFamily="49" charset="-122"/>
                  </a:rPr>
                  <a:t>字节</a:t>
                </a:r>
                <a:endPara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grpSp>
            <p:nvGrpSpPr>
              <p:cNvPr id="392219" name="组合 55448"/>
              <p:cNvGrpSpPr/>
              <p:nvPr/>
            </p:nvGrpSpPr>
            <p:grpSpPr>
              <a:xfrm>
                <a:off x="1515" y="1714"/>
                <a:ext cx="705" cy="252"/>
                <a:chOff x="1515" y="922"/>
                <a:chExt cx="705" cy="252"/>
              </a:xfrm>
            </p:grpSpPr>
            <p:sp>
              <p:nvSpPr>
                <p:cNvPr id="392220" name="直接连接符 55449"/>
                <p:cNvSpPr/>
                <p:nvPr/>
              </p:nvSpPr>
              <p:spPr>
                <a:xfrm>
                  <a:off x="1872" y="1068"/>
                  <a:ext cx="348" cy="0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392221" name="文本框 55450"/>
                <p:cNvSpPr txBox="1"/>
                <p:nvPr/>
              </p:nvSpPr>
              <p:spPr>
                <a:xfrm>
                  <a:off x="1515" y="922"/>
                  <a:ext cx="43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t" anchorCtr="0">
                  <a:spAutoFit/>
                </a:bodyPr>
                <a:p>
                  <a:r>
                    <a:rPr lang="zh-CN" altLang="en-US" sz="2000" dirty="0">
                      <a:solidFill>
                        <a:srgbClr val="0000FF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rPr>
                    <a:t>地址</a:t>
                  </a:r>
                  <a:endParaRPr lang="zh-CN" alt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ea typeface="隶书" panose="02010509060101010101" pitchFamily="49" charset="-122"/>
                  </a:endParaRPr>
                </a:p>
              </p:txBody>
            </p:sp>
          </p:grpSp>
          <p:grpSp>
            <p:nvGrpSpPr>
              <p:cNvPr id="392222" name="组合 55451"/>
              <p:cNvGrpSpPr/>
              <p:nvPr/>
            </p:nvGrpSpPr>
            <p:grpSpPr>
              <a:xfrm>
                <a:off x="1515" y="2218"/>
                <a:ext cx="705" cy="252"/>
                <a:chOff x="1515" y="922"/>
                <a:chExt cx="705" cy="252"/>
              </a:xfrm>
            </p:grpSpPr>
            <p:sp>
              <p:nvSpPr>
                <p:cNvPr id="392223" name="直接连接符 55452"/>
                <p:cNvSpPr/>
                <p:nvPr/>
              </p:nvSpPr>
              <p:spPr>
                <a:xfrm>
                  <a:off x="1872" y="1068"/>
                  <a:ext cx="348" cy="0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392224" name="文本框 55453"/>
                <p:cNvSpPr txBox="1"/>
                <p:nvPr/>
              </p:nvSpPr>
              <p:spPr>
                <a:xfrm>
                  <a:off x="1515" y="922"/>
                  <a:ext cx="43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t" anchorCtr="0">
                  <a:spAutoFit/>
                </a:bodyPr>
                <a:p>
                  <a:r>
                    <a:rPr lang="zh-CN" altLang="en-US" sz="2000" dirty="0">
                      <a:solidFill>
                        <a:srgbClr val="0000FF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rPr>
                    <a:t>地址</a:t>
                  </a:r>
                  <a:endParaRPr lang="zh-CN" alt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ea typeface="隶书" panose="02010509060101010101" pitchFamily="49" charset="-122"/>
                  </a:endParaRPr>
                </a:p>
              </p:txBody>
            </p:sp>
          </p:grpSp>
          <p:sp>
            <p:nvSpPr>
              <p:cNvPr id="392225" name="文本框 55454"/>
              <p:cNvSpPr txBox="1"/>
              <p:nvPr/>
            </p:nvSpPr>
            <p:spPr>
              <a:xfrm>
                <a:off x="2667" y="1039"/>
                <a:ext cx="306" cy="3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 lIns="90000" tIns="46800" rIns="90000" bIns="46800" anchor="t" anchorCtr="0">
                <a:spAutoFit/>
              </a:bodyPr>
              <a:p>
                <a:r>
                  <a:rPr lang="en-US" altLang="zh-CN" sz="2000">
                    <a:latin typeface="Arial" panose="020B0604020202020204" pitchFamily="34" charset="0"/>
                    <a:ea typeface="隶书" panose="02010509060101010101" pitchFamily="49" charset="-122"/>
                  </a:rPr>
                  <a:t>…...</a:t>
                </a:r>
                <a:endParaRPr lang="en-US" altLang="zh-CN" sz="200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26" name="文本框 55455"/>
              <p:cNvSpPr txBox="1"/>
              <p:nvPr/>
            </p:nvSpPr>
            <p:spPr>
              <a:xfrm>
                <a:off x="2571" y="3097"/>
                <a:ext cx="401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隶书" panose="02010509060101010101" pitchFamily="49" charset="-122"/>
                  </a:rPr>
                  <a:t>内存</a:t>
                </a:r>
                <a:endPara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27" name="文本框 55456"/>
              <p:cNvSpPr txBox="1"/>
              <p:nvPr/>
            </p:nvSpPr>
            <p:spPr>
              <a:xfrm>
                <a:off x="2631" y="1453"/>
                <a:ext cx="193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>
                    <a:solidFill>
                      <a:srgbClr val="CC6600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1</a:t>
                </a:r>
                <a:endParaRPr lang="en-US" altLang="zh-CN">
                  <a:solidFill>
                    <a:srgbClr val="CC6600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28" name="文本框 55457"/>
              <p:cNvSpPr txBox="1"/>
              <p:nvPr/>
            </p:nvSpPr>
            <p:spPr>
              <a:xfrm>
                <a:off x="2631" y="1969"/>
                <a:ext cx="241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>
                    <a:solidFill>
                      <a:srgbClr val="CC6600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-3</a:t>
                </a:r>
                <a:endParaRPr lang="en-US" altLang="zh-CN">
                  <a:solidFill>
                    <a:srgbClr val="CC6600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29" name="文本框 55458"/>
              <p:cNvSpPr txBox="1"/>
              <p:nvPr/>
            </p:nvSpPr>
            <p:spPr>
              <a:xfrm>
                <a:off x="2631" y="2470"/>
                <a:ext cx="271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en-US" altLang="zh-CN" dirty="0">
                    <a:solidFill>
                      <a:schemeClr val="folHlink"/>
                    </a:solidFill>
                    <a:latin typeface="Arial" panose="020B0604020202020204" pitchFamily="34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</a:t>
                </a:r>
                <a:endParaRPr lang="en-US" altLang="zh-CN" dirty="0">
                  <a:solidFill>
                    <a:srgbClr val="CC6600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2230" name="线形标注 2(无边框) 55459"/>
              <p:cNvSpPr/>
              <p:nvPr/>
            </p:nvSpPr>
            <p:spPr>
              <a:xfrm>
                <a:off x="3576" y="2932"/>
                <a:ext cx="936" cy="233"/>
              </a:xfrm>
              <a:prstGeom prst="callout2">
                <a:avLst>
                  <a:gd name="adj1" fmla="val 24491"/>
                  <a:gd name="adj2" fmla="val -5130"/>
                  <a:gd name="adj3" fmla="val 24491"/>
                  <a:gd name="adj4" fmla="val -24250"/>
                  <a:gd name="adj5" fmla="val -87755"/>
                  <a:gd name="adj6" fmla="val -77778"/>
                </a:avLst>
              </a:prstGeom>
              <a:noFill/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90000" tIns="46800" rIns="90000" bIns="46800" anchor="t" anchorCtr="0">
                <a:spAutoFit/>
              </a:bodyPr>
              <a:p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随机数</a:t>
                </a:r>
                <a:endParaRPr lang="zh-CN" altLang="en-US" dirty="0"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55298" name="文本占位符 55297"/>
          <p:cNvSpPr>
            <a:spLocks noGrp="1"/>
          </p:cNvSpPr>
          <p:nvPr>
            <p:ph type="body"/>
          </p:nvPr>
        </p:nvSpPr>
        <p:spPr>
          <a:xfrm>
            <a:off x="1439863" y="1012825"/>
            <a:ext cx="8593137" cy="2255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概念：其值可以改变的量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变量名与</a:t>
            </a:r>
            <a:r>
              <a:rPr lang="zh-CN" altLang="en-US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变量值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变量定义的一般格式：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数据类型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变量</a:t>
            </a:r>
            <a:r>
              <a:rPr lang="en-US" altLang="zh-CN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1[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，变量</a:t>
            </a:r>
            <a:r>
              <a:rPr lang="en-US" altLang="zh-CN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…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，变量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n];</a:t>
            </a:r>
            <a:endParaRPr lang="en-US" altLang="zh-CN">
              <a:solidFill>
                <a:srgbClr val="3333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310" name="矩形 55309"/>
          <p:cNvSpPr/>
          <p:nvPr/>
        </p:nvSpPr>
        <p:spPr>
          <a:xfrm>
            <a:off x="1524000" y="2449513"/>
            <a:ext cx="8593138" cy="484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变量初始化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定义时赋初值    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312" name="文本框 55311"/>
          <p:cNvSpPr txBox="1"/>
          <p:nvPr/>
        </p:nvSpPr>
        <p:spPr>
          <a:xfrm>
            <a:off x="4710113" y="2574925"/>
            <a:ext cx="1436687" cy="92392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 int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a,b,c;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float  data;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5313" name="矩形标注 55312"/>
          <p:cNvSpPr/>
          <p:nvPr/>
        </p:nvSpPr>
        <p:spPr>
          <a:xfrm>
            <a:off x="2457450" y="2928938"/>
            <a:ext cx="1955800" cy="708025"/>
          </a:xfrm>
          <a:prstGeom prst="wedgeRectCallout">
            <a:avLst>
              <a:gd name="adj1" fmla="val 13389"/>
              <a:gd name="adj2" fmla="val -130806"/>
            </a:avLst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algn="ctr"/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决定分配字节数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/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和数的表示范围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314" name="矩形标注 55313"/>
          <p:cNvSpPr/>
          <p:nvPr/>
        </p:nvSpPr>
        <p:spPr>
          <a:xfrm>
            <a:off x="4214813" y="3005138"/>
            <a:ext cx="2044700" cy="400050"/>
          </a:xfrm>
          <a:prstGeom prst="wedgeRectCallout">
            <a:avLst>
              <a:gd name="adj1" fmla="val -36491"/>
              <a:gd name="adj2" fmla="val -196875"/>
            </a:avLst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/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合法标识符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315" name="文本框 55314"/>
          <p:cNvSpPr txBox="1"/>
          <p:nvPr/>
        </p:nvSpPr>
        <p:spPr>
          <a:xfrm>
            <a:off x="7129463" y="3030538"/>
            <a:ext cx="2179637" cy="175418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     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a=2,b,c=4;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float  data=3.67;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     char  ch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=‘A’;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     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x=1,y=1,z=1;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x=y=z=1;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16" name="矩形 55315"/>
          <p:cNvSpPr/>
          <p:nvPr/>
        </p:nvSpPr>
        <p:spPr>
          <a:xfrm>
            <a:off x="1524000" y="2863850"/>
            <a:ext cx="8593138" cy="54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变量的使用：</a:t>
            </a:r>
            <a:r>
              <a:rPr lang="zh-CN" altLang="en-US" dirty="0">
                <a:solidFill>
                  <a:srgbClr val="FF33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先定义，后使用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462" name="文本框 55461"/>
          <p:cNvSpPr txBox="1"/>
          <p:nvPr/>
        </p:nvSpPr>
        <p:spPr>
          <a:xfrm>
            <a:off x="1965325" y="3968750"/>
            <a:ext cx="6543675" cy="9525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      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student;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      stadent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=19;    //</a:t>
            </a:r>
            <a:r>
              <a:rPr lang="en-US" altLang="zh-CN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Undefined symbol ‘stadent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 in function main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463" name="文本框 55462"/>
          <p:cNvSpPr txBox="1"/>
          <p:nvPr/>
        </p:nvSpPr>
        <p:spPr>
          <a:xfrm>
            <a:off x="1981200" y="4170363"/>
            <a:ext cx="6272213" cy="9525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例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  float  a,b,c;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   c=a%b;    //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Illegal  use of floating point  in function main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464" name="矩形 55463"/>
          <p:cNvSpPr/>
          <p:nvPr/>
        </p:nvSpPr>
        <p:spPr>
          <a:xfrm>
            <a:off x="1524000" y="3263900"/>
            <a:ext cx="8593138" cy="54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变量定义位置：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一般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放在函数开头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55473" name="组合 55472"/>
          <p:cNvGrpSpPr/>
          <p:nvPr/>
        </p:nvGrpSpPr>
        <p:grpSpPr>
          <a:xfrm>
            <a:off x="5988050" y="1350963"/>
            <a:ext cx="4946650" cy="3108325"/>
            <a:chOff x="1095" y="2345"/>
            <a:chExt cx="3116" cy="1958"/>
          </a:xfrm>
        </p:grpSpPr>
        <p:sp>
          <p:nvSpPr>
            <p:cNvPr id="392242" name="文本框 55465"/>
            <p:cNvSpPr txBox="1"/>
            <p:nvPr/>
          </p:nvSpPr>
          <p:spPr>
            <a:xfrm>
              <a:off x="1095" y="2345"/>
              <a:ext cx="3116" cy="195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 anchor="t" anchorCtr="0">
              <a:spAutoFit/>
            </a:bodyPr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main()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 err="1">
                  <a:latin typeface="Calibri" panose="020F0502020204030204" pitchFamily="34" charset="0"/>
                  <a:ea typeface="宋体" panose="02010600030101010101" pitchFamily="2" charset="-122"/>
                </a:rPr>
                <a:t>{    int</a:t>
              </a:r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  a,b=2;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      float  data;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      a=1;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     data=(a+b)*1.2;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 err="1">
                  <a:latin typeface="Calibri" panose="020F0502020204030204" pitchFamily="34" charset="0"/>
                  <a:ea typeface="宋体" panose="02010600030101010101" pitchFamily="2" charset="-122"/>
                </a:rPr>
                <a:t>     printf(“data</a:t>
              </a:r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=%f\n”,data);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}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92243" name="组合 55466"/>
            <p:cNvGrpSpPr/>
            <p:nvPr/>
          </p:nvGrpSpPr>
          <p:grpSpPr>
            <a:xfrm>
              <a:off x="2508" y="2804"/>
              <a:ext cx="1099" cy="233"/>
              <a:chOff x="2904" y="1533"/>
              <a:chExt cx="1099" cy="233"/>
            </a:xfrm>
          </p:grpSpPr>
          <p:sp>
            <p:nvSpPr>
              <p:cNvPr id="392244" name="直接连接符 55467"/>
              <p:cNvSpPr/>
              <p:nvPr/>
            </p:nvSpPr>
            <p:spPr>
              <a:xfrm flipH="1">
                <a:off x="2904" y="1650"/>
                <a:ext cx="44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92245" name="文本框 55468"/>
              <p:cNvSpPr txBox="1"/>
              <p:nvPr/>
            </p:nvSpPr>
            <p:spPr>
              <a:xfrm>
                <a:off x="3314" y="1533"/>
                <a:ext cx="689" cy="23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zh-CN" altLang="en-US" dirty="0">
                    <a:solidFill>
                      <a:schemeClr val="folHlink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变量定义</a:t>
                </a:r>
                <a:endParaRPr lang="zh-CN" altLang="en-US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392246" name="组合 55469"/>
            <p:cNvGrpSpPr/>
            <p:nvPr/>
          </p:nvGrpSpPr>
          <p:grpSpPr>
            <a:xfrm>
              <a:off x="2516" y="3198"/>
              <a:ext cx="1232" cy="233"/>
              <a:chOff x="2936" y="2035"/>
              <a:chExt cx="1232" cy="233"/>
            </a:xfrm>
          </p:grpSpPr>
          <p:sp>
            <p:nvSpPr>
              <p:cNvPr id="392247" name="直接连接符 55470"/>
              <p:cNvSpPr/>
              <p:nvPr/>
            </p:nvSpPr>
            <p:spPr>
              <a:xfrm flipH="1">
                <a:off x="2936" y="2146"/>
                <a:ext cx="444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92248" name="文本框 55471"/>
              <p:cNvSpPr txBox="1"/>
              <p:nvPr/>
            </p:nvSpPr>
            <p:spPr>
              <a:xfrm>
                <a:off x="3335" y="2035"/>
                <a:ext cx="833" cy="23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t" anchorCtr="0">
                <a:spAutoFit/>
              </a:bodyPr>
              <a:p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ea typeface="隶书" panose="02010509060101010101" pitchFamily="49" charset="-122"/>
                  </a:rPr>
                  <a:t>可执行语句</a:t>
                </a:r>
                <a:endParaRPr lang="zh-CN" altLang="en-US" dirty="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endParaRPr>
              </a:p>
            </p:txBody>
          </p:sp>
        </p:grpSp>
      </p:grpSp>
      <p:grpSp>
        <p:nvGrpSpPr>
          <p:cNvPr id="55474" name="组合 55473"/>
          <p:cNvGrpSpPr/>
          <p:nvPr/>
        </p:nvGrpSpPr>
        <p:grpSpPr>
          <a:xfrm>
            <a:off x="6259513" y="1812925"/>
            <a:ext cx="4251325" cy="3108325"/>
            <a:chOff x="-1845" y="1386"/>
            <a:chExt cx="2678" cy="1958"/>
          </a:xfrm>
        </p:grpSpPr>
        <p:sp>
          <p:nvSpPr>
            <p:cNvPr id="392250" name="文本框 55474"/>
            <p:cNvSpPr txBox="1"/>
            <p:nvPr/>
          </p:nvSpPr>
          <p:spPr>
            <a:xfrm>
              <a:off x="-1845" y="1386"/>
              <a:ext cx="2678" cy="195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main()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 err="1">
                  <a:latin typeface="Calibri" panose="020F0502020204030204" pitchFamily="34" charset="0"/>
                  <a:ea typeface="宋体" panose="02010600030101010101" pitchFamily="2" charset="-122"/>
                </a:rPr>
                <a:t>{    int</a:t>
              </a:r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  a,b=2;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      a=1;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      float  data;</a:t>
              </a:r>
              <a:endParaRPr lang="en-US" altLang="zh-CN" sz="280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      data=(a+b)*1.2;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 err="1">
                  <a:latin typeface="Calibri" panose="020F0502020204030204" pitchFamily="34" charset="0"/>
                  <a:ea typeface="宋体" panose="02010600030101010101" pitchFamily="2" charset="-122"/>
                </a:rPr>
                <a:t>      printf(“data</a:t>
              </a:r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=%f\n”,data);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800">
                  <a:latin typeface="Calibri" panose="020F0502020204030204" pitchFamily="34" charset="0"/>
                  <a:ea typeface="宋体" panose="02010600030101010101" pitchFamily="2" charset="-122"/>
                </a:rPr>
                <a:t>}</a:t>
              </a:r>
              <a:endParaRPr lang="en-US" altLang="zh-CN" sz="28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92251" name="组合 55475"/>
            <p:cNvGrpSpPr/>
            <p:nvPr/>
          </p:nvGrpSpPr>
          <p:grpSpPr>
            <a:xfrm>
              <a:off x="492" y="2688"/>
              <a:ext cx="216" cy="264"/>
              <a:chOff x="492" y="2688"/>
              <a:chExt cx="216" cy="264"/>
            </a:xfrm>
          </p:grpSpPr>
          <p:sp>
            <p:nvSpPr>
              <p:cNvPr id="392252" name="直接连接符 55476"/>
              <p:cNvSpPr/>
              <p:nvPr/>
            </p:nvSpPr>
            <p:spPr>
              <a:xfrm flipH="1">
                <a:off x="492" y="2688"/>
                <a:ext cx="216" cy="21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2253" name="直接连接符 55477"/>
              <p:cNvSpPr/>
              <p:nvPr/>
            </p:nvSpPr>
            <p:spPr>
              <a:xfrm>
                <a:off x="504" y="2700"/>
                <a:ext cx="204" cy="25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pic>
        <p:nvPicPr>
          <p:cNvPr id="392254" name="图片 55483" descr="118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300" y="6219825"/>
            <a:ext cx="411163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2255" name="图片 55484" descr="118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638" y="6221413"/>
            <a:ext cx="411162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2256" name="文本占位符 121858"/>
          <p:cNvSpPr>
            <a:spLocks noGrp="1"/>
          </p:cNvSpPr>
          <p:nvPr/>
        </p:nvSpPr>
        <p:spPr>
          <a:xfrm>
            <a:off x="1136650" y="685800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）变量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2257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charRg st="12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298">
                                            <p:txEl>
                                              <p:charRg st="12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298">
                                            <p:txEl>
                                              <p:charRg st="12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298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298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charRg st="3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298">
                                            <p:txEl>
                                              <p:charRg st="3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298">
                                            <p:txEl>
                                              <p:charRg st="3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55310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55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31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31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55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55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546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546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55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554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ldLvl="5" build="p"/>
      <p:bldP spid="55310" grpId="0" bldLvl="5" build="p"/>
      <p:bldP spid="55312" grpId="0" bldLvl="0" animBg="1"/>
      <p:bldP spid="55313" grpId="0" bldLvl="0" animBg="1"/>
      <p:bldP spid="55314" grpId="0" bldLvl="0" animBg="1"/>
      <p:bldP spid="55315" grpId="0" bldLvl="0" animBg="1"/>
      <p:bldP spid="55316" grpId="0" bldLvl="5" build="p"/>
      <p:bldP spid="55462" grpId="0" bldLvl="0" animBg="1"/>
      <p:bldP spid="55463" grpId="0" bldLvl="0" animBg="1"/>
      <p:bldP spid="55464" grpId="0" bldLvl="5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321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7346" name="文本占位符 57345"/>
          <p:cNvSpPr>
            <a:spLocks noGrp="1"/>
          </p:cNvSpPr>
          <p:nvPr>
            <p:ph type="body"/>
          </p:nvPr>
        </p:nvSpPr>
        <p:spPr>
          <a:xfrm>
            <a:off x="1012825" y="1138238"/>
            <a:ext cx="9128125" cy="704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）保证程序中变量名的正确使用，凡是未被定义的不能用做变量名。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393219" name="图片 57366" descr="118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0" y="6445250"/>
            <a:ext cx="411163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3220" name="图片 57367" descr="118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6446838"/>
            <a:ext cx="411162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3221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、数据类型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83979" name="标题 159771"/>
          <p:cNvSpPr>
            <a:spLocks noGrp="1"/>
          </p:cNvSpPr>
          <p:nvPr/>
        </p:nvSpPr>
        <p:spPr>
          <a:xfrm>
            <a:off x="1793875" y="773113"/>
            <a:ext cx="9402763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语言要求对所有用点的变量进行强制性的定义，即对变量要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先定义，后使用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57345"/>
          <p:cNvSpPr>
            <a:spLocks noGrp="1"/>
          </p:cNvSpPr>
          <p:nvPr/>
        </p:nvSpPr>
        <p:spPr>
          <a:xfrm>
            <a:off x="1398588" y="1778000"/>
            <a:ext cx="9129712" cy="3698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int a=45,b=32,sum=0;</a:t>
            </a: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svm=a+b;</a:t>
            </a: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printf(“sum=%d”,sum);</a:t>
            </a: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占位符 57345"/>
          <p:cNvSpPr>
            <a:spLocks noGrp="1"/>
          </p:cNvSpPr>
          <p:nvPr/>
        </p:nvSpPr>
        <p:spPr>
          <a:xfrm>
            <a:off x="1398588" y="5275263"/>
            <a:ext cx="9129712" cy="973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编译时系统会报告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svm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未定义，如果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语言中没有对变量做强制性定义的要求，程序可以执行，但结果错误，这样的错误很难被发现。</a:t>
            </a:r>
            <a:endParaRPr lang="zh-CN" altLang="en-US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57346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9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charRg st="19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6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charRg st="26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1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charRg st="51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2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charRg st="62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6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charRg st="86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bldLvl="2" build="p"/>
      <p:bldP spid="2" grpId="0" bldLvl="2" build="p"/>
      <p:bldP spid="3" grpId="0" bldLvl="2" build="p"/>
      <p:bldP spid="83979" grpId="0"/>
      <p:bldP spid="2" grpId="1" bldLvl="0" build="allAtOnce"/>
      <p:bldP spid="3" grpId="1" bldLvl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424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94242" name="文本占位符 57345"/>
          <p:cNvSpPr>
            <a:spLocks noGrp="1"/>
          </p:cNvSpPr>
          <p:nvPr>
            <p:ph type="body"/>
          </p:nvPr>
        </p:nvSpPr>
        <p:spPr>
          <a:xfrm>
            <a:off x="952500" y="1277938"/>
            <a:ext cx="9128125" cy="33512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）变量定义时被指定未某一数据类型，在编译时就能为其分配相应的存储单元。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）定义时指定变量的数据类型，便于编译程序时检查对该变量的运算是否合法。例如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int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类型变量可以进行求余运算，而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float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类型变量不允许进行求余运算。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394243" name="图片 57366" descr="118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0" y="6445250"/>
            <a:ext cx="411163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4244" name="图片 57367" descr="118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6446838"/>
            <a:ext cx="411162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4245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、数据类型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83979" name="标题 159771"/>
          <p:cNvSpPr>
            <a:spLocks noGrp="1"/>
          </p:cNvSpPr>
          <p:nvPr/>
        </p:nvSpPr>
        <p:spPr>
          <a:xfrm>
            <a:off x="1793875" y="773113"/>
            <a:ext cx="9402763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语言要求对所有用点的变量进行强制性的定义，即对变量要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先定义，后使用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2" grpId="0" bldLvl="2" build="p"/>
      <p:bldP spid="8397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526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7346" name="文本占位符 57345"/>
          <p:cNvSpPr>
            <a:spLocks noGrp="1"/>
          </p:cNvSpPr>
          <p:nvPr>
            <p:ph type="body"/>
          </p:nvPr>
        </p:nvSpPr>
        <p:spPr>
          <a:xfrm>
            <a:off x="2057400" y="1138238"/>
            <a:ext cx="8610600" cy="184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占字节数随机器不同而不同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一般占一个机器字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short≤int≤long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可用</a:t>
            </a:r>
            <a:r>
              <a:rPr lang="en-US" altLang="zh-CN" err="1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sizeof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类型标识符）测量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95267" name="矩形 57346"/>
          <p:cNvSpPr/>
          <p:nvPr/>
        </p:nvSpPr>
        <p:spPr>
          <a:xfrm>
            <a:off x="1987550" y="2824163"/>
            <a:ext cx="7229475" cy="773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t" anchorCtr="0"/>
          <a:p>
            <a:pPr lvl="2" indent="0">
              <a:lnSpc>
                <a:spcPct val="150000"/>
              </a:lnSpc>
            </a:pP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float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：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占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字节，提供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位有效数字</a:t>
            </a:r>
            <a:endParaRPr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double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：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占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8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字节，提供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15~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16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位有效数字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7348" name="矩形 57347"/>
          <p:cNvSpPr/>
          <p:nvPr/>
        </p:nvSpPr>
        <p:spPr>
          <a:xfrm>
            <a:off x="1987550" y="4241800"/>
            <a:ext cx="8610600" cy="1447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字符变量存放字符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ASCII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码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char</a:t>
            </a:r>
            <a:r>
              <a:rPr lang="zh-CN" altLang="en-US" err="1">
                <a:latin typeface="微软雅黑 Light" panose="020B0502040204020203" charset="-122"/>
                <a:ea typeface="微软雅黑 Light" panose="020B0502040204020203" charset="-122"/>
              </a:rPr>
              <a:t>与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int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数据间可进行算术运算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7349" name="文本框 57348"/>
          <p:cNvSpPr txBox="1"/>
          <p:nvPr/>
        </p:nvSpPr>
        <p:spPr>
          <a:xfrm>
            <a:off x="3863975" y="3762375"/>
            <a:ext cx="5611813" cy="120015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FFFFFF"/>
              </a:gs>
            </a:gsLst>
            <a:lin ang="5400000" scaled="1"/>
            <a:tileRect/>
          </a:gra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1: float   a;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a=111111.111;        /*  a=111111.1*/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2: double   b;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b=111111.111;       /* b=111111.111*/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7350" name="文本框 57349"/>
          <p:cNvSpPr txBox="1"/>
          <p:nvPr/>
        </p:nvSpPr>
        <p:spPr>
          <a:xfrm>
            <a:off x="3282950" y="5356225"/>
            <a:ext cx="4637088" cy="923925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FFFFFF"/>
              </a:gs>
            </a:gsLst>
            <a:lin ang="2700000" scaled="1"/>
            <a:tileRect/>
          </a:gra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    </a:t>
            </a:r>
            <a:r>
              <a:rPr lang="en-US" altLang="zh-CN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a=‘D’;     /*  a=68;  */</a:t>
            </a:r>
            <a:endParaRPr lang="en-US" altLang="zh-CN">
              <a:solidFill>
                <a:srgbClr val="0000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x=‘A’+5;   /*   x=65+5;  */</a:t>
            </a:r>
            <a:endParaRPr lang="en-US" altLang="zh-CN">
              <a:solidFill>
                <a:srgbClr val="0000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s=‘!’+‘G’   /*   s=33+71;  */</a:t>
            </a:r>
            <a:endParaRPr lang="en-US" altLang="zh-CN">
              <a:solidFill>
                <a:srgbClr val="0000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7360" name="文本框 57359"/>
          <p:cNvSpPr txBox="1"/>
          <p:nvPr/>
        </p:nvSpPr>
        <p:spPr>
          <a:xfrm>
            <a:off x="2881313" y="5549900"/>
            <a:ext cx="4751387" cy="4619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8100" cap="flat" cmpd="sng">
            <a:solidFill>
              <a:srgbClr val="00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没有</a:t>
            </a: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字符串变量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，用字符数组存放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395272" name="图片 57366" descr="118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0" y="6445250"/>
            <a:ext cx="411163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5273" name="图片 57367" descr="118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6446838"/>
            <a:ext cx="411162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5274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、数据类型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95275" name="标题 159771"/>
          <p:cNvSpPr>
            <a:spLocks noGrp="1"/>
          </p:cNvSpPr>
          <p:nvPr/>
        </p:nvSpPr>
        <p:spPr>
          <a:xfrm>
            <a:off x="2022475" y="730250"/>
            <a:ext cx="3492500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、整型变量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5276" name="标题 159771"/>
          <p:cNvSpPr>
            <a:spLocks noGrp="1"/>
          </p:cNvSpPr>
          <p:nvPr/>
        </p:nvSpPr>
        <p:spPr>
          <a:xfrm>
            <a:off x="2022475" y="2571750"/>
            <a:ext cx="3492500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、实型变量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5277" name="标题 159771"/>
          <p:cNvSpPr>
            <a:spLocks noGrp="1"/>
          </p:cNvSpPr>
          <p:nvPr/>
        </p:nvSpPr>
        <p:spPr>
          <a:xfrm>
            <a:off x="2057400" y="3876675"/>
            <a:ext cx="3492500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、字符型变量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charRg st="22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7346">
                                            <p:txEl>
                                              <p:charRg st="22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charRg st="3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7346">
                                            <p:txEl>
                                              <p:charRg st="37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bldLvl="2" build="p"/>
      <p:bldP spid="395267" grpId="0" bldLvl="2" build="p"/>
      <p:bldP spid="57348" grpId="0"/>
      <p:bldP spid="57349" grpId="0" bldLvl="0" animBg="1"/>
      <p:bldP spid="57350" grpId="0" bldLvl="0" animBg="1"/>
      <p:bldP spid="57360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28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96290" name="文本占位符 57345"/>
          <p:cNvSpPr>
            <a:spLocks noGrp="1"/>
          </p:cNvSpPr>
          <p:nvPr>
            <p:ph type="body"/>
          </p:nvPr>
        </p:nvSpPr>
        <p:spPr>
          <a:xfrm>
            <a:off x="952500" y="1277938"/>
            <a:ext cx="9128125" cy="4238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main()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short int a,b;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a=30000;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b=a+30000;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printf(“a=%d,b=%d\n”,a,b);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396291" name="图片 57366" descr="118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0" y="6445250"/>
            <a:ext cx="411163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6292" name="图片 57367" descr="118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6446838"/>
            <a:ext cx="411162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6293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、数据类型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83979" name="标题 159771"/>
          <p:cNvSpPr>
            <a:spLocks noGrp="1"/>
          </p:cNvSpPr>
          <p:nvPr/>
        </p:nvSpPr>
        <p:spPr>
          <a:xfrm>
            <a:off x="1584325" y="822325"/>
            <a:ext cx="9402763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整型数据的溢出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0" grpId="0" bldLvl="2" build="p"/>
      <p:bldP spid="8397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731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397314" name="图片 57366" descr="118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0" y="6445250"/>
            <a:ext cx="411163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7315" name="图片 57367" descr="118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6446838"/>
            <a:ext cx="411162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7316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、数据类型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338370" name="圆角矩形 1338369"/>
          <p:cNvSpPr/>
          <p:nvPr/>
        </p:nvSpPr>
        <p:spPr>
          <a:xfrm>
            <a:off x="3983038" y="1090613"/>
            <a:ext cx="4964112" cy="10429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cap="flat" cmpd="sng">
            <a:solidFill>
              <a:srgbClr val="855ADA"/>
            </a:solidFill>
            <a:prstDash val="solid"/>
            <a:round/>
            <a:headEnd type="none" w="med" len="med"/>
            <a:tailEnd type="none" w="med" len="med"/>
          </a:ln>
        </p:spPr>
        <p:txBody>
          <a:bodyPr tIns="0" bIns="28800" anchor="ctr" anchorCtr="0"/>
          <a:p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  int a</a:t>
            </a:r>
            <a:r>
              <a:rPr lang="en-US" altLang="zh-CN" sz="300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300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3, b</a:t>
            </a:r>
            <a:r>
              <a:rPr lang="en-US" altLang="zh-CN" sz="300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300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3, c</a:t>
            </a:r>
            <a:r>
              <a:rPr lang="en-US" altLang="zh-CN" sz="300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300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3;</a:t>
            </a:r>
            <a:endParaRPr lang="en-US" altLang="zh-CN" sz="3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8371" name="圆角矩形 1338370"/>
          <p:cNvSpPr/>
          <p:nvPr/>
        </p:nvSpPr>
        <p:spPr>
          <a:xfrm>
            <a:off x="3979863" y="2282825"/>
            <a:ext cx="4964112" cy="10429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cap="flat" cmpd="sng">
            <a:solidFill>
              <a:srgbClr val="5E9CDA"/>
            </a:solidFill>
            <a:prstDash val="solid"/>
            <a:round/>
            <a:headEnd type="none" w="med" len="med"/>
            <a:tailEnd type="none" w="med" len="med"/>
          </a:ln>
        </p:spPr>
        <p:txBody>
          <a:bodyPr tIns="0" bIns="28800" anchor="ctr" anchorCtr="0"/>
          <a:p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  int a, b, c;</a:t>
            </a:r>
            <a:endParaRPr lang="en-US" altLang="zh-CN" sz="3000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  a = 3; b = 3; c = 3;</a:t>
            </a:r>
            <a:endParaRPr lang="en-US" altLang="zh-CN" sz="3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8372" name="圆角矩形 1338371"/>
          <p:cNvSpPr/>
          <p:nvPr/>
        </p:nvSpPr>
        <p:spPr>
          <a:xfrm>
            <a:off x="3983038" y="3475038"/>
            <a:ext cx="4964112" cy="10429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cap="flat" cmpd="sng">
            <a:solidFill>
              <a:srgbClr val="93C052"/>
            </a:solidFill>
            <a:prstDash val="solid"/>
            <a:round/>
            <a:headEnd type="none" w="med" len="med"/>
            <a:tailEnd type="none" w="med" len="med"/>
          </a:ln>
        </p:spPr>
        <p:txBody>
          <a:bodyPr tIns="0" bIns="28800" anchor="ctr" anchorCtr="0"/>
          <a:p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  int a, b, c;</a:t>
            </a:r>
            <a:endParaRPr lang="en-US" altLang="zh-CN" sz="3000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  a = b = c = 3;</a:t>
            </a:r>
            <a:endParaRPr lang="en-US" altLang="zh-CN" sz="3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8373" name="圆角矩形 1338372"/>
          <p:cNvSpPr/>
          <p:nvPr/>
        </p:nvSpPr>
        <p:spPr>
          <a:xfrm>
            <a:off x="4003675" y="4668838"/>
            <a:ext cx="4914900" cy="10429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cap="flat" cmpd="sng">
            <a:solidFill>
              <a:srgbClr val="FF9933"/>
            </a:solidFill>
            <a:prstDash val="solid"/>
            <a:round/>
            <a:headEnd type="none" w="med" len="med"/>
            <a:tailEnd type="none" w="med" len="med"/>
          </a:ln>
        </p:spPr>
        <p:txBody>
          <a:bodyPr tIns="0" bIns="28800" anchor="ctr" anchorCtr="0"/>
          <a:p>
            <a:r>
              <a:rPr lang="en-US" altLang="zh-CN" sz="3000" dirty="0">
                <a:latin typeface="楷体_GB2312" pitchFamily="49" charset="-122"/>
                <a:ea typeface="楷体_GB2312" pitchFamily="49" charset="-122"/>
              </a:rPr>
              <a:t>  int a = b = c = 3;</a:t>
            </a:r>
            <a:endParaRPr lang="en-US" altLang="zh-CN" sz="30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338375" name="组合 1338374"/>
          <p:cNvGrpSpPr/>
          <p:nvPr/>
        </p:nvGrpSpPr>
        <p:grpSpPr>
          <a:xfrm>
            <a:off x="2981325" y="1016000"/>
            <a:ext cx="1238250" cy="1236663"/>
            <a:chOff x="799" y="709"/>
            <a:chExt cx="780" cy="779"/>
          </a:xfrm>
        </p:grpSpPr>
        <p:sp>
          <p:nvSpPr>
            <p:cNvPr id="397322" name="Oval 6"/>
            <p:cNvSpPr/>
            <p:nvPr/>
          </p:nvSpPr>
          <p:spPr>
            <a:xfrm>
              <a:off x="799" y="709"/>
              <a:ext cx="780" cy="779"/>
            </a:xfrm>
            <a:prstGeom prst="ellipse">
              <a:avLst/>
            </a:prstGeom>
            <a:solidFill>
              <a:srgbClr val="F8F8F8"/>
            </a:solidFill>
            <a:ln w="38100" cap="flat" cmpd="sng">
              <a:solidFill>
                <a:srgbClr val="855ADA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23" name="Oval 7"/>
            <p:cNvSpPr/>
            <p:nvPr/>
          </p:nvSpPr>
          <p:spPr>
            <a:xfrm>
              <a:off x="831" y="741"/>
              <a:ext cx="715" cy="715"/>
            </a:xfrm>
            <a:prstGeom prst="ellipse">
              <a:avLst/>
            </a:prstGeom>
            <a:noFill/>
            <a:ln w="38100" cap="flat" cmpd="sng">
              <a:solidFill>
                <a:srgbClr val="855ADA">
                  <a:alpha val="70193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24" name="Oval 8"/>
            <p:cNvSpPr/>
            <p:nvPr/>
          </p:nvSpPr>
          <p:spPr>
            <a:xfrm>
              <a:off x="863" y="775"/>
              <a:ext cx="651" cy="651"/>
            </a:xfrm>
            <a:prstGeom prst="ellipse">
              <a:avLst/>
            </a:prstGeom>
            <a:noFill/>
            <a:ln w="38100" cap="flat" cmpd="sng">
              <a:solidFill>
                <a:srgbClr val="855ADA">
                  <a:alpha val="30196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25" name="Text Box 9"/>
            <p:cNvSpPr txBox="1"/>
            <p:nvPr/>
          </p:nvSpPr>
          <p:spPr>
            <a:xfrm>
              <a:off x="844" y="940"/>
              <a:ext cx="6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dirty="0">
                  <a:solidFill>
                    <a:srgbClr val="080808"/>
                  </a:solidFill>
                  <a:latin typeface="Arial" panose="020B0604020202020204" pitchFamily="34" charset="0"/>
                  <a:ea typeface="楷体_GB2312" pitchFamily="49" charset="-122"/>
                </a:rPr>
                <a:t>正确</a:t>
              </a:r>
              <a:endParaRPr lang="zh-CN" altLang="en-US" sz="2400" dirty="0">
                <a:solidFill>
                  <a:srgbClr val="080808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338380" name="组合 1338379"/>
          <p:cNvGrpSpPr/>
          <p:nvPr/>
        </p:nvGrpSpPr>
        <p:grpSpPr>
          <a:xfrm>
            <a:off x="8718550" y="2193925"/>
            <a:ext cx="1238250" cy="1236663"/>
            <a:chOff x="4315" y="1433"/>
            <a:chExt cx="780" cy="779"/>
          </a:xfrm>
        </p:grpSpPr>
        <p:sp>
          <p:nvSpPr>
            <p:cNvPr id="397327" name="Oval 13"/>
            <p:cNvSpPr/>
            <p:nvPr/>
          </p:nvSpPr>
          <p:spPr>
            <a:xfrm>
              <a:off x="4315" y="1433"/>
              <a:ext cx="780" cy="779"/>
            </a:xfrm>
            <a:prstGeom prst="ellipse">
              <a:avLst/>
            </a:prstGeom>
            <a:solidFill>
              <a:srgbClr val="F8F8F8"/>
            </a:solidFill>
            <a:ln w="38100" cap="flat" cmpd="sng">
              <a:solidFill>
                <a:srgbClr val="5E9CDA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28" name="Oval 14"/>
            <p:cNvSpPr/>
            <p:nvPr/>
          </p:nvSpPr>
          <p:spPr>
            <a:xfrm>
              <a:off x="4347" y="1465"/>
              <a:ext cx="715" cy="715"/>
            </a:xfrm>
            <a:prstGeom prst="ellipse">
              <a:avLst/>
            </a:prstGeom>
            <a:noFill/>
            <a:ln w="38100" cap="flat" cmpd="sng">
              <a:solidFill>
                <a:srgbClr val="5E9CDA">
                  <a:alpha val="70193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29" name="Oval 15"/>
            <p:cNvSpPr/>
            <p:nvPr/>
          </p:nvSpPr>
          <p:spPr>
            <a:xfrm>
              <a:off x="4379" y="1499"/>
              <a:ext cx="651" cy="651"/>
            </a:xfrm>
            <a:prstGeom prst="ellipse">
              <a:avLst/>
            </a:prstGeom>
            <a:noFill/>
            <a:ln w="38100" cap="flat" cmpd="sng">
              <a:solidFill>
                <a:srgbClr val="5E9CDA">
                  <a:alpha val="30196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30" name="Text Box 16"/>
            <p:cNvSpPr txBox="1"/>
            <p:nvPr/>
          </p:nvSpPr>
          <p:spPr>
            <a:xfrm>
              <a:off x="4360" y="1677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dirty="0">
                  <a:solidFill>
                    <a:srgbClr val="080808"/>
                  </a:solidFill>
                  <a:latin typeface="Arial" panose="020B0604020202020204" pitchFamily="34" charset="0"/>
                  <a:ea typeface="楷体_GB2312" pitchFamily="49" charset="-122"/>
                </a:rPr>
                <a:t>正确</a:t>
              </a:r>
              <a:endParaRPr lang="zh-CN" altLang="en-US" sz="2400" dirty="0">
                <a:solidFill>
                  <a:srgbClr val="080808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338385" name="组合 1338384"/>
          <p:cNvGrpSpPr/>
          <p:nvPr/>
        </p:nvGrpSpPr>
        <p:grpSpPr>
          <a:xfrm>
            <a:off x="2971800" y="3370263"/>
            <a:ext cx="1238250" cy="1236662"/>
            <a:chOff x="793" y="2202"/>
            <a:chExt cx="780" cy="779"/>
          </a:xfrm>
        </p:grpSpPr>
        <p:sp>
          <p:nvSpPr>
            <p:cNvPr id="397332" name="Oval 20"/>
            <p:cNvSpPr/>
            <p:nvPr/>
          </p:nvSpPr>
          <p:spPr>
            <a:xfrm>
              <a:off x="793" y="2202"/>
              <a:ext cx="780" cy="779"/>
            </a:xfrm>
            <a:prstGeom prst="ellipse">
              <a:avLst/>
            </a:prstGeom>
            <a:solidFill>
              <a:srgbClr val="F8F8F8"/>
            </a:solidFill>
            <a:ln w="38100" cap="flat" cmpd="sng">
              <a:solidFill>
                <a:srgbClr val="93C05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33" name="Oval 21"/>
            <p:cNvSpPr/>
            <p:nvPr/>
          </p:nvSpPr>
          <p:spPr>
            <a:xfrm>
              <a:off x="825" y="2234"/>
              <a:ext cx="715" cy="715"/>
            </a:xfrm>
            <a:prstGeom prst="ellipse">
              <a:avLst/>
            </a:prstGeom>
            <a:noFill/>
            <a:ln w="38100" cap="flat" cmpd="sng">
              <a:solidFill>
                <a:srgbClr val="93C052">
                  <a:alpha val="70193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34" name="Oval 22"/>
            <p:cNvSpPr/>
            <p:nvPr/>
          </p:nvSpPr>
          <p:spPr>
            <a:xfrm>
              <a:off x="857" y="2268"/>
              <a:ext cx="651" cy="651"/>
            </a:xfrm>
            <a:prstGeom prst="ellipse">
              <a:avLst/>
            </a:prstGeom>
            <a:noFill/>
            <a:ln w="38100" cap="flat" cmpd="sng">
              <a:solidFill>
                <a:srgbClr val="93C052">
                  <a:alpha val="30196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35" name="Text Box 23"/>
            <p:cNvSpPr txBox="1"/>
            <p:nvPr/>
          </p:nvSpPr>
          <p:spPr>
            <a:xfrm>
              <a:off x="838" y="2441"/>
              <a:ext cx="6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dirty="0">
                  <a:solidFill>
                    <a:srgbClr val="080808"/>
                  </a:solidFill>
                  <a:latin typeface="Arial" panose="020B0604020202020204" pitchFamily="34" charset="0"/>
                  <a:ea typeface="楷体_GB2312" pitchFamily="49" charset="-122"/>
                </a:rPr>
                <a:t>正确</a:t>
              </a:r>
              <a:endParaRPr lang="zh-CN" altLang="en-US" sz="2400" dirty="0">
                <a:solidFill>
                  <a:srgbClr val="080808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338390" name="组合 1338389"/>
          <p:cNvGrpSpPr/>
          <p:nvPr/>
        </p:nvGrpSpPr>
        <p:grpSpPr>
          <a:xfrm>
            <a:off x="8718550" y="4546600"/>
            <a:ext cx="1238250" cy="1236663"/>
            <a:chOff x="4315" y="2933"/>
            <a:chExt cx="780" cy="779"/>
          </a:xfrm>
        </p:grpSpPr>
        <p:sp>
          <p:nvSpPr>
            <p:cNvPr id="397337" name="Oval 27"/>
            <p:cNvSpPr/>
            <p:nvPr/>
          </p:nvSpPr>
          <p:spPr>
            <a:xfrm>
              <a:off x="4315" y="2933"/>
              <a:ext cx="780" cy="779"/>
            </a:xfrm>
            <a:prstGeom prst="ellipse">
              <a:avLst/>
            </a:prstGeom>
            <a:solidFill>
              <a:srgbClr val="F8F8F8"/>
            </a:solidFill>
            <a:ln w="38100" cap="flat" cmpd="sng">
              <a:solidFill>
                <a:srgbClr val="FF99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38" name="Oval 28"/>
            <p:cNvSpPr/>
            <p:nvPr/>
          </p:nvSpPr>
          <p:spPr>
            <a:xfrm>
              <a:off x="4347" y="2965"/>
              <a:ext cx="715" cy="715"/>
            </a:xfrm>
            <a:prstGeom prst="ellipse">
              <a:avLst/>
            </a:prstGeom>
            <a:noFill/>
            <a:ln w="38100" cap="flat" cmpd="sng">
              <a:solidFill>
                <a:srgbClr val="FF9933">
                  <a:alpha val="70193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39" name="Oval 29"/>
            <p:cNvSpPr/>
            <p:nvPr/>
          </p:nvSpPr>
          <p:spPr>
            <a:xfrm>
              <a:off x="4379" y="2999"/>
              <a:ext cx="651" cy="651"/>
            </a:xfrm>
            <a:prstGeom prst="ellipse">
              <a:avLst/>
            </a:prstGeom>
            <a:noFill/>
            <a:ln w="38100" cap="flat" cmpd="sng">
              <a:solidFill>
                <a:srgbClr val="FF9933">
                  <a:alpha val="30196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Calibri" panose="020F050202020403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97340" name="Text Box 30"/>
            <p:cNvSpPr txBox="1"/>
            <p:nvPr/>
          </p:nvSpPr>
          <p:spPr>
            <a:xfrm>
              <a:off x="4360" y="3166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dirty="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rPr>
                <a:t>错误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8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8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8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8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8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38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8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38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38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38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38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38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38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38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38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38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8370" grpId="0" bldLvl="0" animBg="1"/>
      <p:bldP spid="1338371" grpId="0" bldLvl="0" animBg="1"/>
      <p:bldP spid="1338372" grpId="0" bldLvl="0" animBg="1"/>
      <p:bldP spid="1338373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3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7346" name="文本占位符 57345"/>
          <p:cNvSpPr>
            <a:spLocks noGrp="1"/>
          </p:cNvSpPr>
          <p:nvPr>
            <p:ph type="body"/>
          </p:nvPr>
        </p:nvSpPr>
        <p:spPr>
          <a:xfrm>
            <a:off x="1387475" y="1187450"/>
            <a:ext cx="8959850" cy="1212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）对一个变量赋值之后，该值被存储在分配给该变量的内存空间中。变量定义必须在变量使用之前，一般放在函数体的开头部分。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）允许在一个类型说明符后定义多个相同类型的变量。不允许对多个未定义的同类型变量连续初始化。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398339" name="图片 57366" descr="118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0" y="6445250"/>
            <a:ext cx="411163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8340" name="图片 57367" descr="118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6446838"/>
            <a:ext cx="411162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8341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、数据类型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63499" name="标题 159771"/>
          <p:cNvSpPr>
            <a:spLocks noGrp="1"/>
          </p:cNvSpPr>
          <p:nvPr/>
        </p:nvSpPr>
        <p:spPr>
          <a:xfrm>
            <a:off x="2197100" y="822325"/>
            <a:ext cx="3492500" cy="3651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对变量初始化时要注意：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859" name="文本框 161858"/>
          <p:cNvSpPr txBox="1"/>
          <p:nvPr/>
        </p:nvSpPr>
        <p:spPr>
          <a:xfrm>
            <a:off x="7680325" y="2625725"/>
            <a:ext cx="2222500" cy="369888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int x=y=3;  </a:t>
            </a:r>
            <a:r>
              <a:rPr lang="zh-CN" altLang="en-US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不合法</a:t>
            </a:r>
            <a:endParaRPr lang="zh-CN" altLang="en-US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80325" y="2625725"/>
            <a:ext cx="2222500" cy="369888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int x=3,y=3;  </a:t>
            </a:r>
            <a:r>
              <a:rPr lang="zh-CN" altLang="en-US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合法</a:t>
            </a:r>
            <a:endParaRPr lang="zh-CN" altLang="en-US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占位符 57345"/>
          <p:cNvSpPr>
            <a:spLocks noGrp="1"/>
          </p:cNvSpPr>
          <p:nvPr/>
        </p:nvSpPr>
        <p:spPr>
          <a:xfrm>
            <a:off x="1387475" y="3117850"/>
            <a:ext cx="8959850" cy="2609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）初始化时，一般应使用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“=“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右边表达式的数据类型和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“=“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左边的变量的类型一致，如果不一致，系统会进行自动赋值转换。</a:t>
            </a:r>
            <a:endParaRPr lang="zh-CN" altLang="en-US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）没有进行初始化的变量，其值是由定义时所使用的存储类型决定。全局变量和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static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型变量的值是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'\0'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，其他存储类型的局部变量的值是未知的。</a:t>
            </a:r>
            <a:endParaRPr lang="zh-CN" altLang="en-US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endParaRPr lang="en-US" altLang="zh-CN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7346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charRg st="33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7346">
                                            <p:txEl>
                                              <p:charRg st="33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6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9" grpId="0"/>
      <p:bldP spid="63499" grpId="1"/>
      <p:bldP spid="57346" grpId="0" build="p"/>
      <p:bldP spid="57346" grpId="1" build="p"/>
      <p:bldP spid="2" grpId="0" bldLvl="0" animBg="1"/>
      <p:bldP spid="2" grpId="1" animBg="1"/>
      <p:bldP spid="3" grpId="0"/>
      <p:bldP spid="3" grpId="1"/>
      <p:bldP spid="161859" grpId="0" bldLvl="0" animBg="1"/>
      <p:bldP spid="16185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6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7159" name="文本框 177158" descr="蓝色砂纸"/>
          <p:cNvSpPr txBox="1"/>
          <p:nvPr/>
        </p:nvSpPr>
        <p:spPr>
          <a:xfrm>
            <a:off x="2054225" y="1449388"/>
            <a:ext cx="7502525" cy="34163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/*ch2_003.c*/  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#define    PRICE     12.5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  main()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Verdana" panose="020B0604030504040204" pitchFamily="34" charset="0"/>
                <a:ea typeface="宋体" panose="02010600030101010101" pitchFamily="2" charset="-122"/>
              </a:rPr>
              <a:t>        { int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num=3;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    float   total;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    char   ch1,ch2=‘D’;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    total=num*PRICE;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    ch1=ch2-‘A’+‘a’;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  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Verdana" panose="020B0604030504040204" pitchFamily="34" charset="0"/>
                <a:ea typeface="宋体" panose="02010600030101010101" pitchFamily="2" charset="-122"/>
              </a:rPr>
              <a:t>           printf(“total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=%f,ch1=%c\n”,total,ch1);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  }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7169" name="组合 177168"/>
          <p:cNvGrpSpPr/>
          <p:nvPr/>
        </p:nvGrpSpPr>
        <p:grpSpPr>
          <a:xfrm>
            <a:off x="6238875" y="1625600"/>
            <a:ext cx="1898650" cy="369888"/>
            <a:chOff x="3864" y="553"/>
            <a:chExt cx="1196" cy="233"/>
          </a:xfrm>
        </p:grpSpPr>
        <p:sp>
          <p:nvSpPr>
            <p:cNvPr id="399364" name="直接连接符 177161"/>
            <p:cNvSpPr/>
            <p:nvPr/>
          </p:nvSpPr>
          <p:spPr>
            <a:xfrm>
              <a:off x="3864" y="732"/>
              <a:ext cx="66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99365" name="文本框 177162"/>
            <p:cNvSpPr txBox="1"/>
            <p:nvPr/>
          </p:nvSpPr>
          <p:spPr>
            <a:xfrm>
              <a:off x="4515" y="553"/>
              <a:ext cx="545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宏定义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177170" name="组合 177169"/>
          <p:cNvGrpSpPr/>
          <p:nvPr/>
        </p:nvGrpSpPr>
        <p:grpSpPr>
          <a:xfrm>
            <a:off x="5708650" y="2355850"/>
            <a:ext cx="1403350" cy="876300"/>
            <a:chOff x="3348" y="1140"/>
            <a:chExt cx="884" cy="552"/>
          </a:xfrm>
        </p:grpSpPr>
        <p:sp>
          <p:nvSpPr>
            <p:cNvPr id="399367" name="右大括号 177163"/>
            <p:cNvSpPr/>
            <p:nvPr/>
          </p:nvSpPr>
          <p:spPr>
            <a:xfrm>
              <a:off x="3348" y="1140"/>
              <a:ext cx="215" cy="552"/>
            </a:xfrm>
            <a:prstGeom prst="rightBrace">
              <a:avLst>
                <a:gd name="adj1" fmla="val 21276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368" name="文本框 177164"/>
            <p:cNvSpPr txBox="1"/>
            <p:nvPr/>
          </p:nvSpPr>
          <p:spPr>
            <a:xfrm>
              <a:off x="3543" y="1261"/>
              <a:ext cx="689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变量定义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177171" name="组合 177170"/>
          <p:cNvGrpSpPr/>
          <p:nvPr/>
        </p:nvGrpSpPr>
        <p:grpSpPr>
          <a:xfrm>
            <a:off x="7610475" y="3862388"/>
            <a:ext cx="2108200" cy="550862"/>
            <a:chOff x="4020" y="1909"/>
            <a:chExt cx="1328" cy="347"/>
          </a:xfrm>
        </p:grpSpPr>
        <p:sp>
          <p:nvSpPr>
            <p:cNvPr id="399370" name="直接连接符 177165"/>
            <p:cNvSpPr/>
            <p:nvPr/>
          </p:nvSpPr>
          <p:spPr>
            <a:xfrm flipV="1">
              <a:off x="4020" y="2088"/>
              <a:ext cx="648" cy="16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99371" name="文本框 177166"/>
            <p:cNvSpPr txBox="1"/>
            <p:nvPr/>
          </p:nvSpPr>
          <p:spPr>
            <a:xfrm>
              <a:off x="4659" y="1909"/>
              <a:ext cx="689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输出结果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sp>
        <p:nvSpPr>
          <p:cNvPr id="177168" name="文本框 177167"/>
          <p:cNvSpPr txBox="1"/>
          <p:nvPr/>
        </p:nvSpPr>
        <p:spPr>
          <a:xfrm>
            <a:off x="2917825" y="5233988"/>
            <a:ext cx="2579688" cy="64611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运行结果：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total=37.500000, ch1=d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399373" name="标题 177179"/>
          <p:cNvSpPr>
            <a:spLocks noGrp="1"/>
          </p:cNvSpPr>
          <p:nvPr>
            <p:ph type="title"/>
          </p:nvPr>
        </p:nvSpPr>
        <p:spPr>
          <a:xfrm>
            <a:off x="1644650" y="636588"/>
            <a:ext cx="1339850" cy="5143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例子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399374" name="组合 177180"/>
          <p:cNvGrpSpPr/>
          <p:nvPr/>
        </p:nvGrpSpPr>
        <p:grpSpPr>
          <a:xfrm>
            <a:off x="9351963" y="5969000"/>
            <a:ext cx="1047750" cy="514350"/>
            <a:chOff x="4944" y="3816"/>
            <a:chExt cx="660" cy="324"/>
          </a:xfrm>
        </p:grpSpPr>
        <p:sp>
          <p:nvSpPr>
            <p:cNvPr id="399375" name="圆角矩形 177181">
              <a:hlinkClick r:id="rId2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99376" name="组合 177182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399377" name="任意多边形 177183">
                <a:hlinkClick r:id="rId2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378" name="椭圆 177184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379" name="椭圆 177185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9380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7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9" grpId="0" bldLvl="0" animBg="1"/>
      <p:bldP spid="177168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038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文本占位符 77825"/>
          <p:cNvSpPr>
            <a:spLocks noGrp="1"/>
          </p:cNvSpPr>
          <p:nvPr>
            <p:ph type="body"/>
          </p:nvPr>
        </p:nvSpPr>
        <p:spPr>
          <a:xfrm>
            <a:off x="1622425" y="711200"/>
            <a:ext cx="8680450" cy="1068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练习：</a:t>
            </a:r>
            <a:r>
              <a:rPr lang="zh-CN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编写程序，求圆的面积。</a:t>
            </a:r>
            <a:endParaRPr lang="zh-CN" altLang="zh-CN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00387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3025775" y="2236788"/>
            <a:ext cx="6527800" cy="314007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#include &lt;stdio.h&gt;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#define PI 3.14159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main()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{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 float s;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 int r;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 printf("请输入圆的半径-整数");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 scanf("%d",&amp;r);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 s=PI*r*r;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 printf("半径为%d的圆的面积为：%f\n",r,s);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}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7826">
                                            <p:txEl>
                                              <p:charRg st="1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uild="p"/>
      <p:bldP spid="77826" grpId="1" build="p"/>
      <p:bldP spid="78854" grpId="0" bldLvl="0" animBg="1"/>
      <p:bldP spid="78854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40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文本占位符 77825"/>
          <p:cNvSpPr>
            <a:spLocks noGrp="1"/>
          </p:cNvSpPr>
          <p:nvPr>
            <p:ph type="body"/>
          </p:nvPr>
        </p:nvSpPr>
        <p:spPr>
          <a:xfrm>
            <a:off x="1622425" y="711200"/>
            <a:ext cx="8680450" cy="1068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练习：</a:t>
            </a:r>
            <a:r>
              <a:rPr lang="zh-CN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按以下格式输出某个学生的成绩。</a:t>
            </a:r>
            <a:endParaRPr lang="zh-CN" altLang="zh-CN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buNone/>
            </a:pPr>
            <a:r>
              <a:rPr lang="zh-CN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数学		英语</a:t>
            </a:r>
            <a:endParaRPr lang="zh-CN" altLang="zh-CN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buNone/>
            </a:pPr>
            <a:r>
              <a:rPr lang="zh-CN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80.500000	90.000000</a:t>
            </a:r>
            <a:endParaRPr lang="zh-CN" altLang="zh-CN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01411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、常量和变量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2698750" y="2317750"/>
            <a:ext cx="6527800" cy="203041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#inculde &lt;stdio.h&gt;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main()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{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float math=80.5,english=90;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printf("数学\t\t英语\n");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 printf("%f\t%f\n",math,english);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}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7826">
                                            <p:txEl>
                                              <p:charRg st="1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2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7826">
                                            <p:txEl>
                                              <p:charRg st="2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2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7826">
                                            <p:txEl>
                                              <p:charRg st="27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uild="p"/>
      <p:bldP spid="77826" grpId="1" build="p"/>
      <p:bldP spid="78854" grpId="0" bldLvl="0" animBg="1"/>
      <p:bldP spid="78854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02435" name="文本框 1"/>
          <p:cNvSpPr/>
          <p:nvPr/>
        </p:nvSpPr>
        <p:spPr>
          <a:xfrm>
            <a:off x="5973763" y="2432050"/>
            <a:ext cx="5262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不同类型数据间的转换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02436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04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448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1682" name="文本占位符 71681"/>
          <p:cNvSpPr>
            <a:spLocks noGrp="1"/>
          </p:cNvSpPr>
          <p:nvPr>
            <p:ph type="body"/>
          </p:nvPr>
        </p:nvSpPr>
        <p:spPr>
          <a:xfrm>
            <a:off x="2076450" y="1027113"/>
            <a:ext cx="7772400" cy="38496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）隐式转换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什么情况下发生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运算转换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------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不同类型数据混合运算时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赋值转换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------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把一个值赋给与其类型不同的变量时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输出转换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------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输出时转换成指定的输出格式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函数调用转换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------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实参与形参类型不一致时转换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运算转换规则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不同类型数据运算时先</a:t>
            </a:r>
            <a:r>
              <a:rPr lang="zh-CN" altLang="en-US" sz="1800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自动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转换成同一类型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404483" name="组合 71692"/>
          <p:cNvGrpSpPr/>
          <p:nvPr/>
        </p:nvGrpSpPr>
        <p:grpSpPr>
          <a:xfrm>
            <a:off x="9351963" y="5969000"/>
            <a:ext cx="1047750" cy="514350"/>
            <a:chOff x="4944" y="3816"/>
            <a:chExt cx="660" cy="324"/>
          </a:xfrm>
        </p:grpSpPr>
        <p:sp>
          <p:nvSpPr>
            <p:cNvPr id="404484" name="圆角矩形 71693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4485" name="组合 71694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04486" name="任意多边形 71695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4487" name="椭圆 71696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4488" name="椭圆 71697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04489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4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、不同类型数据间的转换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68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1682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charRg st="16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1682">
                                            <p:txEl>
                                              <p:charRg st="16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charRg st="38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1682">
                                            <p:txEl>
                                              <p:charRg st="38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charRg st="65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1682">
                                            <p:txEl>
                                              <p:charRg st="65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charRg st="8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1682">
                                            <p:txEl>
                                              <p:charRg st="89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charRg st="115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1682">
                                            <p:txEl>
                                              <p:charRg st="115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 build="p"/>
      <p:bldP spid="71682" grpI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550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72731" name="组合 72730"/>
          <p:cNvGrpSpPr/>
          <p:nvPr/>
        </p:nvGrpSpPr>
        <p:grpSpPr>
          <a:xfrm>
            <a:off x="1587500" y="809625"/>
            <a:ext cx="5575300" cy="3271838"/>
            <a:chOff x="133" y="77"/>
            <a:chExt cx="3445" cy="2378"/>
          </a:xfrm>
        </p:grpSpPr>
        <p:sp>
          <p:nvSpPr>
            <p:cNvPr id="405507" name="矩形 72706"/>
            <p:cNvSpPr/>
            <p:nvPr/>
          </p:nvSpPr>
          <p:spPr>
            <a:xfrm>
              <a:off x="133" y="77"/>
              <a:ext cx="3445" cy="237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4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08" name="文本框 72707"/>
            <p:cNvSpPr txBox="1"/>
            <p:nvPr/>
          </p:nvSpPr>
          <p:spPr>
            <a:xfrm>
              <a:off x="1188" y="278"/>
              <a:ext cx="568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double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09" name="文本框 72708"/>
            <p:cNvSpPr txBox="1"/>
            <p:nvPr/>
          </p:nvSpPr>
          <p:spPr>
            <a:xfrm>
              <a:off x="2113" y="278"/>
              <a:ext cx="414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float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10" name="文本框 72709"/>
            <p:cNvSpPr txBox="1"/>
            <p:nvPr/>
          </p:nvSpPr>
          <p:spPr>
            <a:xfrm>
              <a:off x="1275" y="835"/>
              <a:ext cx="396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long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11" name="文本框 72710"/>
            <p:cNvSpPr txBox="1"/>
            <p:nvPr/>
          </p:nvSpPr>
          <p:spPr>
            <a:xfrm>
              <a:off x="1188" y="1383"/>
              <a:ext cx="705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unsigned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12" name="文本框 72711"/>
            <p:cNvSpPr txBox="1"/>
            <p:nvPr/>
          </p:nvSpPr>
          <p:spPr>
            <a:xfrm>
              <a:off x="1391" y="1940"/>
              <a:ext cx="288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 err="1">
                  <a:latin typeface="Calibri" panose="020F0502020204030204" pitchFamily="34" charset="0"/>
                  <a:ea typeface="宋体" panose="02010600030101010101" pitchFamily="2" charset="-122"/>
                </a:rPr>
                <a:t>int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13" name="文本框 72712"/>
            <p:cNvSpPr txBox="1"/>
            <p:nvPr/>
          </p:nvSpPr>
          <p:spPr>
            <a:xfrm>
              <a:off x="2113" y="1940"/>
              <a:ext cx="765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char,short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14" name="直接连接符 72713"/>
            <p:cNvSpPr/>
            <p:nvPr/>
          </p:nvSpPr>
          <p:spPr>
            <a:xfrm rot="10800000">
              <a:off x="1502" y="528"/>
              <a:ext cx="0" cy="3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15" name="直接连接符 72714"/>
            <p:cNvSpPr/>
            <p:nvPr/>
          </p:nvSpPr>
          <p:spPr>
            <a:xfrm rot="10800000">
              <a:off x="1487" y="1076"/>
              <a:ext cx="0" cy="3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16" name="直接连接符 72715"/>
            <p:cNvSpPr/>
            <p:nvPr/>
          </p:nvSpPr>
          <p:spPr>
            <a:xfrm rot="10800000">
              <a:off x="1487" y="1633"/>
              <a:ext cx="0" cy="3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17" name="直接连接符 72716"/>
            <p:cNvSpPr/>
            <p:nvPr/>
          </p:nvSpPr>
          <p:spPr>
            <a:xfrm flipH="1">
              <a:off x="1739" y="433"/>
              <a:ext cx="37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18" name="直接连接符 72717"/>
            <p:cNvSpPr/>
            <p:nvPr/>
          </p:nvSpPr>
          <p:spPr>
            <a:xfrm flipH="1">
              <a:off x="1696" y="2069"/>
              <a:ext cx="4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19" name="直接连接符 72718"/>
            <p:cNvSpPr/>
            <p:nvPr/>
          </p:nvSpPr>
          <p:spPr>
            <a:xfrm flipV="1">
              <a:off x="823" y="433"/>
              <a:ext cx="0" cy="17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20" name="文本框 72719"/>
            <p:cNvSpPr txBox="1"/>
            <p:nvPr/>
          </p:nvSpPr>
          <p:spPr>
            <a:xfrm>
              <a:off x="505" y="1996"/>
              <a:ext cx="275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低</a:t>
              </a:r>
              <a:endParaRPr lang="zh-CN" altLang="en-US" sz="2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21" name="文本框 72720"/>
            <p:cNvSpPr txBox="1"/>
            <p:nvPr/>
          </p:nvSpPr>
          <p:spPr>
            <a:xfrm>
              <a:off x="505" y="334"/>
              <a:ext cx="275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高</a:t>
              </a:r>
              <a:endParaRPr lang="zh-CN" altLang="en-US" sz="4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732" name="组合 72731"/>
          <p:cNvGrpSpPr/>
          <p:nvPr/>
        </p:nvGrpSpPr>
        <p:grpSpPr>
          <a:xfrm>
            <a:off x="7258050" y="744538"/>
            <a:ext cx="3408363" cy="1452562"/>
            <a:chOff x="3612" y="469"/>
            <a:chExt cx="2147" cy="915"/>
          </a:xfrm>
        </p:grpSpPr>
        <p:sp>
          <p:nvSpPr>
            <p:cNvPr id="405523" name="文本框 72721"/>
            <p:cNvSpPr txBox="1"/>
            <p:nvPr/>
          </p:nvSpPr>
          <p:spPr>
            <a:xfrm>
              <a:off x="3612" y="469"/>
              <a:ext cx="5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说明</a:t>
              </a:r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:</a:t>
              </a:r>
              <a:endParaRPr lang="en-US" altLang="zh-CN" sz="400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05524" name="直接连接符 72722"/>
            <p:cNvSpPr/>
            <p:nvPr/>
          </p:nvSpPr>
          <p:spPr>
            <a:xfrm flipH="1">
              <a:off x="3619" y="831"/>
              <a:ext cx="4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25" name="文本框 72723"/>
            <p:cNvSpPr txBox="1"/>
            <p:nvPr/>
          </p:nvSpPr>
          <p:spPr>
            <a:xfrm>
              <a:off x="4114" y="720"/>
              <a:ext cx="9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必定的转换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05526" name="直接连接符 72724"/>
            <p:cNvSpPr/>
            <p:nvPr/>
          </p:nvSpPr>
          <p:spPr>
            <a:xfrm flipV="1">
              <a:off x="3783" y="1060"/>
              <a:ext cx="0" cy="3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27" name="文本框 72725"/>
            <p:cNvSpPr txBox="1"/>
            <p:nvPr/>
          </p:nvSpPr>
          <p:spPr>
            <a:xfrm>
              <a:off x="3884" y="1133"/>
              <a:ext cx="18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运算对象类型不同时转换</a:t>
              </a:r>
              <a:endParaRPr lang="zh-CN" altLang="en-US" sz="4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28" name="文本框 72727"/>
          <p:cNvSpPr txBox="1"/>
          <p:nvPr/>
        </p:nvSpPr>
        <p:spPr>
          <a:xfrm>
            <a:off x="1524000" y="4246553"/>
            <a:ext cx="1445895" cy="1322079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000" noProof="1" err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    char ch</a:t>
            </a:r>
            <a:r>
              <a:rPr lang="en-US" altLang="zh-CN" sz="2000" noProof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2000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  <a:ea typeface="宋体" panose="02010600030101010101" pitchFamily="2" charset="-122"/>
            </a:endParaRPr>
          </a:p>
          <a:p>
            <a:r>
              <a:rPr lang="en-US" altLang="zh-CN" sz="2000" noProof="1" err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    int</a:t>
            </a:r>
            <a:r>
              <a:rPr lang="en-US" altLang="zh-CN" sz="2000" noProof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i;</a:t>
            </a:r>
            <a:endParaRPr lang="en-US" altLang="zh-CN" sz="2000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  <a:ea typeface="宋体" panose="02010600030101010101" pitchFamily="2" charset="-122"/>
            </a:endParaRPr>
          </a:p>
          <a:p>
            <a:r>
              <a:rPr lang="en-US" altLang="zh-CN" sz="2000" noProof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    float f;</a:t>
            </a:r>
            <a:endParaRPr lang="en-US" altLang="zh-CN" sz="2000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  <a:ea typeface="宋体" panose="02010600030101010101" pitchFamily="2" charset="-122"/>
            </a:endParaRPr>
          </a:p>
          <a:p>
            <a:r>
              <a:rPr lang="en-US" altLang="zh-CN" sz="2000" noProof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    double d;</a:t>
            </a:r>
            <a:endParaRPr lang="en-US" altLang="zh-CN" sz="2000" noProof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  <a:ea typeface="宋体" panose="02010600030101010101" pitchFamily="2" charset="-122"/>
            </a:endParaRPr>
          </a:p>
        </p:txBody>
      </p:sp>
      <p:sp>
        <p:nvSpPr>
          <p:cNvPr id="72729" name="文本框 72728"/>
          <p:cNvSpPr txBox="1"/>
          <p:nvPr/>
        </p:nvSpPr>
        <p:spPr>
          <a:xfrm>
            <a:off x="3170238" y="4148138"/>
            <a:ext cx="2224087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err="1">
                <a:solidFill>
                  <a:srgbClr val="C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ch/i     +    f*d    -   (f+i</a:t>
            </a:r>
            <a:r>
              <a:rPr lang="en-US" altLang="zh-CN">
                <a:solidFill>
                  <a:srgbClr val="C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endParaRPr lang="en-US" altLang="zh-CN">
              <a:solidFill>
                <a:srgbClr val="C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72811" name="组合 72810"/>
          <p:cNvGrpSpPr/>
          <p:nvPr/>
        </p:nvGrpSpPr>
        <p:grpSpPr>
          <a:xfrm>
            <a:off x="3124200" y="4495800"/>
            <a:ext cx="2794000" cy="2151063"/>
            <a:chOff x="1008" y="2832"/>
            <a:chExt cx="1760" cy="1355"/>
          </a:xfrm>
        </p:grpSpPr>
        <p:grpSp>
          <p:nvGrpSpPr>
            <p:cNvPr id="405531" name="组合 72742"/>
            <p:cNvGrpSpPr/>
            <p:nvPr/>
          </p:nvGrpSpPr>
          <p:grpSpPr>
            <a:xfrm>
              <a:off x="1008" y="2832"/>
              <a:ext cx="380" cy="635"/>
              <a:chOff x="1008" y="3072"/>
              <a:chExt cx="380" cy="635"/>
            </a:xfrm>
          </p:grpSpPr>
          <p:sp>
            <p:nvSpPr>
              <p:cNvPr id="405532" name="直接连接符 72734"/>
              <p:cNvSpPr/>
              <p:nvPr/>
            </p:nvSpPr>
            <p:spPr>
              <a:xfrm>
                <a:off x="1152" y="307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33" name="文本框 72735"/>
              <p:cNvSpPr txBox="1"/>
              <p:nvPr/>
            </p:nvSpPr>
            <p:spPr>
              <a:xfrm>
                <a:off x="1008" y="3120"/>
                <a:ext cx="2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err="1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int</a:t>
                </a:r>
                <a:endParaRPr lang="en-US" altLang="zh-CN" sz="2000" err="1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5534" name="直接连接符 72736"/>
              <p:cNvSpPr/>
              <p:nvPr/>
            </p:nvSpPr>
            <p:spPr>
              <a:xfrm>
                <a:off x="1296" y="307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35" name="直接连接符 72737"/>
              <p:cNvSpPr/>
              <p:nvPr/>
            </p:nvSpPr>
            <p:spPr>
              <a:xfrm>
                <a:off x="1152" y="331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36" name="直接连接符 72738"/>
              <p:cNvSpPr/>
              <p:nvPr/>
            </p:nvSpPr>
            <p:spPr>
              <a:xfrm>
                <a:off x="1152" y="3408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37" name="直接连接符 72739"/>
              <p:cNvSpPr/>
              <p:nvPr/>
            </p:nvSpPr>
            <p:spPr>
              <a:xfrm>
                <a:off x="1248" y="340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38" name="文本框 72740"/>
              <p:cNvSpPr txBox="1"/>
              <p:nvPr/>
            </p:nvSpPr>
            <p:spPr>
              <a:xfrm>
                <a:off x="1104" y="3456"/>
                <a:ext cx="2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err="1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int</a:t>
                </a:r>
                <a:endParaRPr lang="en-US" altLang="zh-CN" sz="2000" err="1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5539" name="组合 72751"/>
            <p:cNvGrpSpPr/>
            <p:nvPr/>
          </p:nvGrpSpPr>
          <p:grpSpPr>
            <a:xfrm>
              <a:off x="1440" y="2832"/>
              <a:ext cx="835" cy="635"/>
              <a:chOff x="1440" y="3072"/>
              <a:chExt cx="835" cy="635"/>
            </a:xfrm>
          </p:grpSpPr>
          <p:sp>
            <p:nvSpPr>
              <p:cNvPr id="405540" name="直接连接符 72744"/>
              <p:cNvSpPr/>
              <p:nvPr/>
            </p:nvSpPr>
            <p:spPr>
              <a:xfrm>
                <a:off x="1824" y="307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41" name="文本框 72745"/>
              <p:cNvSpPr txBox="1"/>
              <p:nvPr/>
            </p:nvSpPr>
            <p:spPr>
              <a:xfrm>
                <a:off x="1440" y="3120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double</a:t>
                </a:r>
                <a:endPara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5542" name="直接连接符 72746"/>
              <p:cNvSpPr/>
              <p:nvPr/>
            </p:nvSpPr>
            <p:spPr>
              <a:xfrm>
                <a:off x="1968" y="307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43" name="直接连接符 72747"/>
              <p:cNvSpPr/>
              <p:nvPr/>
            </p:nvSpPr>
            <p:spPr>
              <a:xfrm>
                <a:off x="1824" y="331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44" name="直接连接符 72748"/>
              <p:cNvSpPr/>
              <p:nvPr/>
            </p:nvSpPr>
            <p:spPr>
              <a:xfrm>
                <a:off x="1824" y="3408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45" name="直接连接符 72749"/>
              <p:cNvSpPr/>
              <p:nvPr/>
            </p:nvSpPr>
            <p:spPr>
              <a:xfrm>
                <a:off x="1920" y="340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46" name="文本框 72750"/>
              <p:cNvSpPr txBox="1"/>
              <p:nvPr/>
            </p:nvSpPr>
            <p:spPr>
              <a:xfrm>
                <a:off x="1680" y="3456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double</a:t>
                </a:r>
                <a:endPara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5547" name="组合 72752"/>
            <p:cNvGrpSpPr/>
            <p:nvPr/>
          </p:nvGrpSpPr>
          <p:grpSpPr>
            <a:xfrm>
              <a:off x="2016" y="2832"/>
              <a:ext cx="752" cy="635"/>
              <a:chOff x="1440" y="3072"/>
              <a:chExt cx="752" cy="635"/>
            </a:xfrm>
          </p:grpSpPr>
          <p:sp>
            <p:nvSpPr>
              <p:cNvPr id="405548" name="直接连接符 72753"/>
              <p:cNvSpPr/>
              <p:nvPr/>
            </p:nvSpPr>
            <p:spPr>
              <a:xfrm>
                <a:off x="1824" y="307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49" name="文本框 72754"/>
              <p:cNvSpPr txBox="1"/>
              <p:nvPr/>
            </p:nvSpPr>
            <p:spPr>
              <a:xfrm>
                <a:off x="1440" y="3120"/>
                <a:ext cx="417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float</a:t>
                </a:r>
                <a:endPara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5550" name="直接连接符 72755"/>
              <p:cNvSpPr/>
              <p:nvPr/>
            </p:nvSpPr>
            <p:spPr>
              <a:xfrm>
                <a:off x="1968" y="307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51" name="直接连接符 72756"/>
              <p:cNvSpPr/>
              <p:nvPr/>
            </p:nvSpPr>
            <p:spPr>
              <a:xfrm>
                <a:off x="1824" y="331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52" name="直接连接符 72757"/>
              <p:cNvSpPr/>
              <p:nvPr/>
            </p:nvSpPr>
            <p:spPr>
              <a:xfrm>
                <a:off x="1824" y="3408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53" name="直接连接符 72758"/>
              <p:cNvSpPr/>
              <p:nvPr/>
            </p:nvSpPr>
            <p:spPr>
              <a:xfrm>
                <a:off x="1920" y="340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54" name="文本框 72759"/>
              <p:cNvSpPr txBox="1"/>
              <p:nvPr/>
            </p:nvSpPr>
            <p:spPr>
              <a:xfrm>
                <a:off x="1680" y="3456"/>
                <a:ext cx="51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 algn="l"/>
                <a:r>
                  <a:rPr lang="en-US" altLang="zh-CN" sz="2000">
                    <a:solidFill>
                      <a:srgbClr val="C00000"/>
                    </a:solidFill>
                    <a:latin typeface="Arial" panose="020B0604020202020204" pitchFamily="34" charset="0"/>
                    <a:sym typeface="+mn-ea"/>
                  </a:rPr>
                  <a:t>float</a:t>
                </a:r>
                <a:endPara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05555" name="直接连接符 72760"/>
            <p:cNvSpPr/>
            <p:nvPr/>
          </p:nvSpPr>
          <p:spPr>
            <a:xfrm>
              <a:off x="1248" y="34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56" name="直接连接符 72761"/>
            <p:cNvSpPr/>
            <p:nvPr/>
          </p:nvSpPr>
          <p:spPr>
            <a:xfrm>
              <a:off x="1920" y="34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57" name="直接连接符 72762"/>
            <p:cNvSpPr/>
            <p:nvPr/>
          </p:nvSpPr>
          <p:spPr>
            <a:xfrm>
              <a:off x="1248" y="3552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58" name="直接连接符 72763"/>
            <p:cNvSpPr/>
            <p:nvPr/>
          </p:nvSpPr>
          <p:spPr>
            <a:xfrm>
              <a:off x="1584" y="355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59" name="文本框 72764"/>
            <p:cNvSpPr txBox="1"/>
            <p:nvPr/>
          </p:nvSpPr>
          <p:spPr>
            <a:xfrm>
              <a:off x="1344" y="3600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double</a:t>
              </a:r>
              <a:endPara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60" name="直接连接符 72765"/>
            <p:cNvSpPr/>
            <p:nvPr/>
          </p:nvSpPr>
          <p:spPr>
            <a:xfrm>
              <a:off x="1584" y="3792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61" name="直接连接符 72766"/>
            <p:cNvSpPr/>
            <p:nvPr/>
          </p:nvSpPr>
          <p:spPr>
            <a:xfrm>
              <a:off x="2496" y="3408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62" name="直接连接符 72767"/>
            <p:cNvSpPr/>
            <p:nvPr/>
          </p:nvSpPr>
          <p:spPr>
            <a:xfrm>
              <a:off x="1584" y="3888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63" name="直接连接符 72768"/>
            <p:cNvSpPr/>
            <p:nvPr/>
          </p:nvSpPr>
          <p:spPr>
            <a:xfrm>
              <a:off x="2064" y="388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64" name="文本框 72769"/>
            <p:cNvSpPr txBox="1"/>
            <p:nvPr/>
          </p:nvSpPr>
          <p:spPr>
            <a:xfrm>
              <a:off x="1824" y="3936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double</a:t>
              </a:r>
              <a:endPara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813" name="组合 72812"/>
          <p:cNvGrpSpPr/>
          <p:nvPr/>
        </p:nvGrpSpPr>
        <p:grpSpPr>
          <a:xfrm>
            <a:off x="7258050" y="4356100"/>
            <a:ext cx="2773363" cy="2227263"/>
            <a:chOff x="3759" y="2762"/>
            <a:chExt cx="1747" cy="1403"/>
          </a:xfrm>
        </p:grpSpPr>
        <p:grpSp>
          <p:nvGrpSpPr>
            <p:cNvPr id="405566" name="组合 72784"/>
            <p:cNvGrpSpPr/>
            <p:nvPr/>
          </p:nvGrpSpPr>
          <p:grpSpPr>
            <a:xfrm>
              <a:off x="3759" y="2762"/>
              <a:ext cx="418" cy="683"/>
              <a:chOff x="3456" y="3072"/>
              <a:chExt cx="418" cy="683"/>
            </a:xfrm>
          </p:grpSpPr>
          <p:sp>
            <p:nvSpPr>
              <p:cNvPr id="405567" name="直接连接符 72732"/>
              <p:cNvSpPr/>
              <p:nvPr/>
            </p:nvSpPr>
            <p:spPr>
              <a:xfrm>
                <a:off x="3696" y="307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68" name="文本框 72733"/>
              <p:cNvSpPr txBox="1"/>
              <p:nvPr/>
            </p:nvSpPr>
            <p:spPr>
              <a:xfrm>
                <a:off x="3590" y="3127"/>
                <a:ext cx="28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err="1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int</a:t>
                </a:r>
                <a:endParaRPr lang="en-US" altLang="zh-CN" sz="2000" err="1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5569" name="直接连接符 72771"/>
              <p:cNvSpPr/>
              <p:nvPr/>
            </p:nvSpPr>
            <p:spPr>
              <a:xfrm>
                <a:off x="3456" y="3072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70" name="直接连接符 72772"/>
              <p:cNvSpPr/>
              <p:nvPr/>
            </p:nvSpPr>
            <p:spPr>
              <a:xfrm>
                <a:off x="3696" y="331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71" name="直接连接符 72773"/>
              <p:cNvSpPr/>
              <p:nvPr/>
            </p:nvSpPr>
            <p:spPr>
              <a:xfrm flipH="1">
                <a:off x="3456" y="3456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72" name="直接连接符 72774"/>
              <p:cNvSpPr/>
              <p:nvPr/>
            </p:nvSpPr>
            <p:spPr>
              <a:xfrm>
                <a:off x="3600" y="3456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73" name="文本框 72775"/>
              <p:cNvSpPr txBox="1"/>
              <p:nvPr/>
            </p:nvSpPr>
            <p:spPr>
              <a:xfrm>
                <a:off x="3456" y="3504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err="1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int</a:t>
                </a:r>
                <a:endParaRPr lang="en-US" altLang="zh-CN" sz="2000" err="1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5574" name="组合 72785"/>
            <p:cNvGrpSpPr/>
            <p:nvPr/>
          </p:nvGrpSpPr>
          <p:grpSpPr>
            <a:xfrm>
              <a:off x="4191" y="2762"/>
              <a:ext cx="691" cy="635"/>
              <a:chOff x="3888" y="3072"/>
              <a:chExt cx="691" cy="635"/>
            </a:xfrm>
          </p:grpSpPr>
          <p:sp>
            <p:nvSpPr>
              <p:cNvPr id="405575" name="直接连接符 72777"/>
              <p:cNvSpPr/>
              <p:nvPr/>
            </p:nvSpPr>
            <p:spPr>
              <a:xfrm>
                <a:off x="4176" y="307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76" name="文本框 72778"/>
              <p:cNvSpPr txBox="1"/>
              <p:nvPr/>
            </p:nvSpPr>
            <p:spPr>
              <a:xfrm>
                <a:off x="3984" y="3120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double</a:t>
                </a:r>
                <a:endPara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5577" name="直接连接符 72779"/>
              <p:cNvSpPr/>
              <p:nvPr/>
            </p:nvSpPr>
            <p:spPr>
              <a:xfrm>
                <a:off x="3984" y="307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78" name="直接连接符 72780"/>
              <p:cNvSpPr/>
              <p:nvPr/>
            </p:nvSpPr>
            <p:spPr>
              <a:xfrm>
                <a:off x="4224" y="331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79" name="直接连接符 72781"/>
              <p:cNvSpPr/>
              <p:nvPr/>
            </p:nvSpPr>
            <p:spPr>
              <a:xfrm>
                <a:off x="3984" y="340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80" name="直接连接符 72782"/>
              <p:cNvSpPr/>
              <p:nvPr/>
            </p:nvSpPr>
            <p:spPr>
              <a:xfrm>
                <a:off x="4128" y="340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81" name="文本框 72783"/>
              <p:cNvSpPr txBox="1"/>
              <p:nvPr/>
            </p:nvSpPr>
            <p:spPr>
              <a:xfrm>
                <a:off x="3888" y="3456"/>
                <a:ext cx="59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double</a:t>
                </a:r>
                <a:endPara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5582" name="组合 72786"/>
            <p:cNvGrpSpPr/>
            <p:nvPr/>
          </p:nvGrpSpPr>
          <p:grpSpPr>
            <a:xfrm>
              <a:off x="4815" y="2762"/>
              <a:ext cx="691" cy="635"/>
              <a:chOff x="3888" y="3072"/>
              <a:chExt cx="691" cy="635"/>
            </a:xfrm>
          </p:grpSpPr>
          <p:sp>
            <p:nvSpPr>
              <p:cNvPr id="405583" name="直接连接符 72787"/>
              <p:cNvSpPr/>
              <p:nvPr/>
            </p:nvSpPr>
            <p:spPr>
              <a:xfrm>
                <a:off x="4176" y="307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84" name="文本框 72788"/>
              <p:cNvSpPr txBox="1"/>
              <p:nvPr/>
            </p:nvSpPr>
            <p:spPr>
              <a:xfrm>
                <a:off x="3984" y="3120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double</a:t>
                </a:r>
                <a:endPara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5585" name="直接连接符 72789"/>
              <p:cNvSpPr/>
              <p:nvPr/>
            </p:nvSpPr>
            <p:spPr>
              <a:xfrm>
                <a:off x="3984" y="307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86" name="直接连接符 72790"/>
              <p:cNvSpPr/>
              <p:nvPr/>
            </p:nvSpPr>
            <p:spPr>
              <a:xfrm>
                <a:off x="4224" y="331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87" name="直接连接符 72791"/>
              <p:cNvSpPr/>
              <p:nvPr/>
            </p:nvSpPr>
            <p:spPr>
              <a:xfrm>
                <a:off x="3984" y="340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5588" name="直接连接符 72792"/>
              <p:cNvSpPr/>
              <p:nvPr/>
            </p:nvSpPr>
            <p:spPr>
              <a:xfrm>
                <a:off x="4128" y="340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05589" name="文本框 72793"/>
              <p:cNvSpPr txBox="1"/>
              <p:nvPr/>
            </p:nvSpPr>
            <p:spPr>
              <a:xfrm>
                <a:off x="3888" y="3456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double</a:t>
                </a:r>
                <a:endPara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05590" name="直接连接符 72794"/>
            <p:cNvSpPr/>
            <p:nvPr/>
          </p:nvSpPr>
          <p:spPr>
            <a:xfrm>
              <a:off x="3903" y="338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91" name="直接连接符 72795"/>
            <p:cNvSpPr/>
            <p:nvPr/>
          </p:nvSpPr>
          <p:spPr>
            <a:xfrm>
              <a:off x="4431" y="333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92" name="直接连接符 72796"/>
            <p:cNvSpPr/>
            <p:nvPr/>
          </p:nvSpPr>
          <p:spPr>
            <a:xfrm>
              <a:off x="3903" y="3482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93" name="直接连接符 72797"/>
            <p:cNvSpPr/>
            <p:nvPr/>
          </p:nvSpPr>
          <p:spPr>
            <a:xfrm>
              <a:off x="4191" y="3482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94" name="文本框 72798"/>
            <p:cNvSpPr txBox="1"/>
            <p:nvPr/>
          </p:nvSpPr>
          <p:spPr>
            <a:xfrm>
              <a:off x="3951" y="3482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double</a:t>
              </a:r>
              <a:endPara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595" name="直接连接符 72799"/>
            <p:cNvSpPr/>
            <p:nvPr/>
          </p:nvSpPr>
          <p:spPr>
            <a:xfrm>
              <a:off x="5055" y="3338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96" name="直接连接符 72800"/>
            <p:cNvSpPr/>
            <p:nvPr/>
          </p:nvSpPr>
          <p:spPr>
            <a:xfrm>
              <a:off x="4191" y="367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97" name="直接连接符 72801"/>
            <p:cNvSpPr/>
            <p:nvPr/>
          </p:nvSpPr>
          <p:spPr>
            <a:xfrm>
              <a:off x="4191" y="377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5598" name="直接连接符 72802"/>
            <p:cNvSpPr/>
            <p:nvPr/>
          </p:nvSpPr>
          <p:spPr>
            <a:xfrm flipH="1">
              <a:off x="4623" y="377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5599" name="文本框 72803"/>
            <p:cNvSpPr txBox="1"/>
            <p:nvPr/>
          </p:nvSpPr>
          <p:spPr>
            <a:xfrm>
              <a:off x="4335" y="3914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double</a:t>
              </a:r>
              <a:endPara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812" name="组合 72811"/>
          <p:cNvGrpSpPr/>
          <p:nvPr/>
        </p:nvGrpSpPr>
        <p:grpSpPr>
          <a:xfrm>
            <a:off x="7092950" y="2654300"/>
            <a:ext cx="2251075" cy="1824038"/>
            <a:chOff x="3615" y="1672"/>
            <a:chExt cx="1324" cy="1149"/>
          </a:xfrm>
        </p:grpSpPr>
        <p:sp>
          <p:nvSpPr>
            <p:cNvPr id="405601" name="文本框 72729"/>
            <p:cNvSpPr txBox="1"/>
            <p:nvPr/>
          </p:nvSpPr>
          <p:spPr>
            <a:xfrm>
              <a:off x="3615" y="2570"/>
              <a:ext cx="13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rgbClr val="C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10+‘a’   +i*f   -      d/l</a:t>
              </a:r>
              <a:endParaRPr lang="en-US" altLang="zh-CN" sz="2000">
                <a:solidFill>
                  <a:srgbClr val="C00000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5602" name="文本框 72807"/>
            <p:cNvSpPr txBox="1"/>
            <p:nvPr/>
          </p:nvSpPr>
          <p:spPr>
            <a:xfrm>
              <a:off x="3854" y="1672"/>
              <a:ext cx="915" cy="8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例</a:t>
              </a:r>
              <a:r>
                <a:rPr lang="en-US" altLang="zh-CN" sz="2000" err="1">
                  <a:latin typeface="Calibri" panose="020F0502020204030204" pitchFamily="34" charset="0"/>
                  <a:ea typeface="宋体" panose="02010600030101010101" pitchFamily="2" charset="-122"/>
                </a:rPr>
                <a:t>2 int</a:t>
              </a:r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  i;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     float f;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     double d;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     long l;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825" name="标题 72824"/>
          <p:cNvSpPr>
            <a:spLocks noGrp="1"/>
          </p:cNvSpPr>
          <p:nvPr>
            <p:ph type="title"/>
          </p:nvPr>
        </p:nvSpPr>
        <p:spPr>
          <a:xfrm>
            <a:off x="1524000" y="4081463"/>
            <a:ext cx="708025" cy="2968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000" dirty="0">
                <a:latin typeface="Times New Roman" panose="02020603050405020304" pitchFamily="18" charset="0"/>
              </a:rPr>
              <a:t>例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endParaRPr lang="en-US" altLang="zh-CN"/>
          </a:p>
        </p:txBody>
      </p:sp>
      <p:sp>
        <p:nvSpPr>
          <p:cNvPr id="405604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4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、不同类型数据间的转换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2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2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2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2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72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28" grpId="0"/>
      <p:bldP spid="72729" grpId="0"/>
      <p:bldP spid="728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652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4754" name="文本占位符 74753"/>
          <p:cNvSpPr>
            <a:spLocks noGrp="1"/>
          </p:cNvSpPr>
          <p:nvPr>
            <p:ph type="body"/>
          </p:nvPr>
        </p:nvSpPr>
        <p:spPr>
          <a:xfrm>
            <a:off x="2151063" y="936625"/>
            <a:ext cx="7772400" cy="3768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>
              <a:buFont typeface="Wingdings" panose="05000000000000000000" pitchFamily="2" charset="2"/>
              <a:buChar char="Ø"/>
            </a:pPr>
            <a:endParaRPr lang="en-US" altLang="zh-CN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2241550" lvl="2" indent="-1327150"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一般形式：</a:t>
            </a:r>
            <a:r>
              <a:rPr lang="zh-CN" altLang="en-US" b="1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zh-CN" altLang="en-US" b="1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类型名</a:t>
            </a:r>
            <a:r>
              <a:rPr lang="zh-CN" altLang="en-US" b="1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zh-CN" altLang="en-US" b="1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zh-CN" altLang="en-US" b="1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表达式）</a:t>
            </a:r>
            <a:endParaRPr lang="zh-CN" altLang="en-US" b="1" dirty="0">
              <a:solidFill>
                <a:srgbClr val="3333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2241550" lvl="2" indent="-1327150"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      例</a:t>
            </a:r>
            <a:r>
              <a:rPr lang="en-US" altLang="zh-CN" b="1" err="1">
                <a:latin typeface="微软雅黑 Light" panose="020B0502040204020203" charset="-122"/>
                <a:ea typeface="微软雅黑 Light" panose="020B0502040204020203" charset="-122"/>
              </a:rPr>
              <a:t>: (int)(x+y</a:t>
            </a: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lang="en-US" altLang="zh-CN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2241550" lvl="2" indent="-1327150">
              <a:buFont typeface="Wingdings" panose="05000000000000000000" pitchFamily="2" charset="2"/>
              <a:buNone/>
            </a:pPr>
            <a:r>
              <a:rPr lang="en-US" altLang="zh-CN" b="1" err="1">
                <a:latin typeface="微软雅黑 Light" panose="020B0502040204020203" charset="-122"/>
                <a:ea typeface="微软雅黑 Light" panose="020B0502040204020203" charset="-122"/>
              </a:rPr>
              <a:t>          (int)x+y</a:t>
            </a:r>
            <a:endParaRPr lang="en-US" altLang="zh-CN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2241550" lvl="2" indent="-1327150">
              <a:buFont typeface="Wingdings" panose="05000000000000000000" pitchFamily="2" charset="2"/>
              <a:buNone/>
            </a:pP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          (double)(3/2)</a:t>
            </a:r>
            <a:endParaRPr lang="en-US" altLang="zh-CN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2241550" lvl="2" indent="-1327150">
              <a:buFont typeface="Wingdings" panose="05000000000000000000" pitchFamily="2" charset="2"/>
              <a:buNone/>
            </a:pP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          (int)3.6  </a:t>
            </a:r>
            <a:endParaRPr lang="en-US" altLang="zh-CN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2241550" lvl="2" indent="-1327150">
              <a:buFont typeface="Wingdings" panose="05000000000000000000" pitchFamily="2" charset="2"/>
              <a:buNone/>
            </a:pP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说明：强制转换得到所需类型的中间变量，原变量类型不变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4755" name="文本框 74754" descr="羊皮纸"/>
          <p:cNvSpPr txBox="1"/>
          <p:nvPr/>
        </p:nvSpPr>
        <p:spPr>
          <a:xfrm>
            <a:off x="2379663" y="3614738"/>
            <a:ext cx="3740150" cy="2308225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main()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{  float  x;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Verdana" panose="020B0604030504040204" pitchFamily="34" charset="0"/>
                <a:ea typeface="宋体" panose="02010600030101010101" pitchFamily="2" charset="-122"/>
              </a:rPr>
              <a:t>         int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i;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     x=3.6;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Verdana" panose="020B0604030504040204" pitchFamily="34" charset="0"/>
                <a:ea typeface="宋体" panose="02010600030101010101" pitchFamily="2" charset="-122"/>
              </a:rPr>
              <a:t>         i=(int)x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Verdana" panose="020B0604030504040204" pitchFamily="34" charset="0"/>
                <a:ea typeface="宋体" panose="02010600030101010101" pitchFamily="2" charset="-122"/>
              </a:rPr>
              <a:t>         printf(“x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=%f,i=%d”,x,i);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    }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结果：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x=3.600000,i=3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4759" name="组合 74758"/>
          <p:cNvGrpSpPr/>
          <p:nvPr/>
        </p:nvGrpSpPr>
        <p:grpSpPr>
          <a:xfrm>
            <a:off x="6119813" y="4305300"/>
            <a:ext cx="4243387" cy="663575"/>
            <a:chOff x="2895" y="2712"/>
            <a:chExt cx="2673" cy="418"/>
          </a:xfrm>
        </p:grpSpPr>
        <p:sp>
          <p:nvSpPr>
            <p:cNvPr id="406533" name="文本框 74756"/>
            <p:cNvSpPr txBox="1"/>
            <p:nvPr/>
          </p:nvSpPr>
          <p:spPr>
            <a:xfrm>
              <a:off x="2895" y="2878"/>
              <a:ext cx="26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较高类型向较低类型转换时可能发生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06534" name="直接连接符 74757"/>
            <p:cNvSpPr/>
            <p:nvPr/>
          </p:nvSpPr>
          <p:spPr>
            <a:xfrm>
              <a:off x="4080" y="2712"/>
              <a:ext cx="252" cy="252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4776" name="矩形 74775"/>
          <p:cNvSpPr/>
          <p:nvPr/>
        </p:nvSpPr>
        <p:spPr>
          <a:xfrm>
            <a:off x="7019925" y="3876675"/>
            <a:ext cx="1554163" cy="368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精度损失问题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grpSp>
        <p:nvGrpSpPr>
          <p:cNvPr id="406536" name="组合 74782"/>
          <p:cNvGrpSpPr/>
          <p:nvPr/>
        </p:nvGrpSpPr>
        <p:grpSpPr>
          <a:xfrm>
            <a:off x="9351963" y="5969000"/>
            <a:ext cx="1047750" cy="514350"/>
            <a:chOff x="4944" y="3816"/>
            <a:chExt cx="660" cy="324"/>
          </a:xfrm>
        </p:grpSpPr>
        <p:sp>
          <p:nvSpPr>
            <p:cNvPr id="406537" name="圆角矩形 74783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6538" name="组合 74784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06539" name="任意多边形 74785">
                <a:hlinkClick r:id="rId2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6540" name="椭圆 74786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6541" name="椭圆 74787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06542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4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、不同类型数据间的转换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06543" name="文本占位符 121858"/>
          <p:cNvSpPr>
            <a:spLocks noGrp="1"/>
          </p:cNvSpPr>
          <p:nvPr/>
        </p:nvSpPr>
        <p:spPr>
          <a:xfrm>
            <a:off x="1136650" y="706438"/>
            <a:ext cx="3441700" cy="57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）显式转换（强制转换）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charRg st="1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4754">
                                            <p:txEl>
                                              <p:charRg st="1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charRg st="1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4754">
                                            <p:txEl>
                                              <p:charRg st="1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charRg st="37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4754">
                                            <p:txEl>
                                              <p:charRg st="37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charRg st="56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4754">
                                            <p:txEl>
                                              <p:charRg st="56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4754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charRg st="101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4754">
                                            <p:txEl>
                                              <p:charRg st="101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bldLvl="5" build="p"/>
      <p:bldP spid="74755" grpId="0" bldLvl="0" animBg="1"/>
      <p:bldP spid="74776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07555" name="文本框 1"/>
          <p:cNvSpPr/>
          <p:nvPr/>
        </p:nvSpPr>
        <p:spPr>
          <a:xfrm>
            <a:off x="5973763" y="2432050"/>
            <a:ext cx="3738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运算符和表达式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07556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05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0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75779" name="组合 75778"/>
          <p:cNvGrpSpPr/>
          <p:nvPr/>
        </p:nvGrpSpPr>
        <p:grpSpPr>
          <a:xfrm>
            <a:off x="2647950" y="908050"/>
            <a:ext cx="5413375" cy="5768975"/>
            <a:chOff x="180" y="560"/>
            <a:chExt cx="3410" cy="3634"/>
          </a:xfrm>
        </p:grpSpPr>
        <p:sp>
          <p:nvSpPr>
            <p:cNvPr id="409603" name="左大括号 75779"/>
            <p:cNvSpPr/>
            <p:nvPr/>
          </p:nvSpPr>
          <p:spPr>
            <a:xfrm>
              <a:off x="488" y="648"/>
              <a:ext cx="178" cy="3329"/>
            </a:xfrm>
            <a:prstGeom prst="leftBrace">
              <a:avLst>
                <a:gd name="adj1" fmla="val 154986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04" name="文本框 75780"/>
            <p:cNvSpPr txBox="1"/>
            <p:nvPr/>
          </p:nvSpPr>
          <p:spPr>
            <a:xfrm>
              <a:off x="180" y="1807"/>
              <a:ext cx="259" cy="7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solidFill>
                    <a:schemeClr val="tx2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C</a:t>
              </a:r>
              <a:endParaRPr lang="en-US" altLang="zh-CN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zh-CN" altLang="en-US" dirty="0">
                  <a:solidFill>
                    <a:schemeClr val="tx2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运</a:t>
              </a:r>
              <a:endParaRPr lang="zh-CN" altLang="en-US" dirty="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zh-CN" altLang="en-US" dirty="0">
                  <a:solidFill>
                    <a:schemeClr val="tx2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算</a:t>
              </a:r>
              <a:endParaRPr lang="zh-CN" altLang="en-US" dirty="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zh-CN" altLang="en-US" dirty="0">
                  <a:solidFill>
                    <a:schemeClr val="tx2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符</a:t>
              </a:r>
              <a:endParaRPr lang="zh-CN" altLang="en-US" dirty="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05" name="文本框 75781"/>
            <p:cNvSpPr txBox="1"/>
            <p:nvPr/>
          </p:nvSpPr>
          <p:spPr>
            <a:xfrm>
              <a:off x="768" y="560"/>
              <a:ext cx="2822" cy="36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算术运算符：（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+  -  *  /  %  ++  --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关系运算符：（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&lt;  &lt;=   ==   &gt;   &gt;=   !=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逻辑运算符：（（！  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&amp;&amp;  ||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位运算符  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&lt;&lt;   &gt;&gt;   ~  |  ^  &amp;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赋值运算符：（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= 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及其扩展）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条件运算符：（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?: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逗号运算符：（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,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指针运算符：（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*  &amp;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求字节数   ：（</a:t>
              </a:r>
              <a:r>
                <a:rPr lang="en-US" altLang="zh-CN" err="1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sizeof</a:t>
              </a:r>
              <a:r>
                <a:rPr lang="zh-CN" altLang="en-US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强制类型转换：（类型）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分量运算符：（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.  -&gt;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下标运算符：（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[]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其它     ：（</a:t>
              </a:r>
              <a:r>
                <a:rPr lang="en-US" altLang="zh-CN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( )  -</a:t>
              </a:r>
              <a:r>
                <a:rPr lang="zh-CN" altLang="en-US" dirty="0">
                  <a:solidFill>
                    <a:schemeClr val="tx2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）</a:t>
              </a:r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zh-CN" altLang="en-US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grpSp>
        <p:nvGrpSpPr>
          <p:cNvPr id="409606" name="组合 75792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409607" name="圆角矩形 75793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9608" name="组合 75794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09609" name="任意多边形 75795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9610" name="椭圆 75796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9611" name="椭圆 75797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09612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62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6802" name="文本占位符 76801"/>
          <p:cNvSpPr>
            <a:spLocks noGrp="1"/>
          </p:cNvSpPr>
          <p:nvPr>
            <p:ph type="body"/>
          </p:nvPr>
        </p:nvSpPr>
        <p:spPr>
          <a:xfrm>
            <a:off x="2076450" y="990600"/>
            <a:ext cx="7772400" cy="487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>
              <a:lnSpc>
                <a:spcPct val="150000"/>
              </a:lnSpc>
            </a:pP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运算符功能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与运算量关系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要求运算量个数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要求运算量类型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运算符优先级别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结合方向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结果的类型</a:t>
            </a:r>
            <a:endParaRPr lang="zh-CN" altLang="en-US" sz="18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0627" name="标题 76811"/>
          <p:cNvSpPr>
            <a:spLocks noGrp="1"/>
          </p:cNvSpPr>
          <p:nvPr>
            <p:ph type="title"/>
          </p:nvPr>
        </p:nvSpPr>
        <p:spPr>
          <a:xfrm>
            <a:off x="2928938" y="906463"/>
            <a:ext cx="3452812" cy="558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32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学习运算符应注意：</a:t>
            </a:r>
            <a:endParaRPr lang="zh-CN" altLang="en-US" sz="3200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0628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802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802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802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802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22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802">
                                            <p:txEl>
                                              <p:charRg st="22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802">
                                            <p:txEl>
                                              <p:charRg st="22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3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802">
                                            <p:txEl>
                                              <p:charRg st="3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802">
                                            <p:txEl>
                                              <p:charRg st="3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3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6802">
                                            <p:txEl>
                                              <p:charRg st="3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802">
                                            <p:txEl>
                                              <p:charRg st="3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4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6802">
                                            <p:txEl>
                                              <p:charRg st="4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6802">
                                            <p:txEl>
                                              <p:charRg st="4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ldLvl="3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164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11650" name="文本占位符 76801"/>
          <p:cNvSpPr>
            <a:spLocks noGrp="1"/>
          </p:cNvSpPr>
          <p:nvPr>
            <p:ph type="body"/>
          </p:nvPr>
        </p:nvSpPr>
        <p:spPr>
          <a:xfrm>
            <a:off x="2076450" y="1465263"/>
            <a:ext cx="7772400" cy="4402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>
              <a:lnSpc>
                <a:spcPct val="150000"/>
              </a:lnSpc>
            </a:pP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1651" name="标题 76811"/>
          <p:cNvSpPr>
            <a:spLocks noGrp="1"/>
          </p:cNvSpPr>
          <p:nvPr>
            <p:ph type="title"/>
          </p:nvPr>
        </p:nvSpPr>
        <p:spPr>
          <a:xfrm>
            <a:off x="2928938" y="906463"/>
            <a:ext cx="3452812" cy="558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32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运算符的优先级：</a:t>
            </a:r>
            <a:endParaRPr lang="zh-CN" altLang="en-US" sz="3200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1652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graphicFrame>
        <p:nvGraphicFramePr>
          <p:cNvPr id="1341443" name="表格 1341442"/>
          <p:cNvGraphicFramePr/>
          <p:nvPr/>
        </p:nvGraphicFramePr>
        <p:xfrm>
          <a:off x="2333625" y="1444625"/>
          <a:ext cx="8172450" cy="5287963"/>
        </p:xfrm>
        <a:graphic>
          <a:graphicData uri="http://schemas.openxmlformats.org/drawingml/2006/table">
            <a:tbl>
              <a:tblPr/>
              <a:tblGrid>
                <a:gridCol w="1072515"/>
                <a:gridCol w="1074420"/>
                <a:gridCol w="3714115"/>
                <a:gridCol w="1155700"/>
                <a:gridCol w="1155065"/>
              </a:tblGrid>
              <a:tr h="48069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简称</a:t>
                      </a:r>
                      <a:endParaRPr lang="zh-CN" altLang="en-US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含义</a:t>
                      </a:r>
                      <a:endParaRPr lang="zh-CN" altLang="en-US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运算符</a:t>
                      </a:r>
                      <a:endParaRPr lang="zh-CN" altLang="en-US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数目</a:t>
                      </a:r>
                      <a:endParaRPr lang="zh-CN" altLang="en-US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结合</a:t>
                      </a:r>
                      <a:endParaRPr lang="zh-CN" altLang="en-US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69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单</a:t>
                      </a:r>
                      <a:endParaRPr lang="zh-CN" altLang="en-US" sz="2000" b="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单目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++, --, !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单目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←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 row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算</a:t>
                      </a:r>
                      <a:endParaRPr lang="zh-CN" altLang="en-US" sz="2000" b="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算术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*, /, %</a:t>
                      </a:r>
                      <a:endParaRPr lang="zh-CN" altLang="en-US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双目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→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+, -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双目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→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 row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关</a:t>
                      </a:r>
                      <a:endParaRPr lang="zh-CN" altLang="en-US" sz="2000" b="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关系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&gt;, &gt;=, &lt;, &lt;=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双目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→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==, !=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双目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→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 row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逻</a:t>
                      </a:r>
                      <a:endParaRPr lang="zh-CN" altLang="en-US" sz="2000" b="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逻辑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&amp;&amp;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双目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→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||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双目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→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条</a:t>
                      </a:r>
                      <a:endParaRPr lang="zh-CN" altLang="en-US" sz="2000" b="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条件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?  :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三目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←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赋</a:t>
                      </a:r>
                      <a:endParaRPr lang="zh-CN" altLang="en-US" sz="2000" b="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赋值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=,+=,-=,*=,/=,%=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双目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←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69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逗</a:t>
                      </a:r>
                      <a:endParaRPr lang="zh-CN" altLang="en-US" sz="2000" b="0" dirty="0">
                        <a:solidFill>
                          <a:srgbClr val="FF0000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逗号</a:t>
                      </a:r>
                      <a:endParaRPr lang="zh-CN" altLang="en-US" sz="20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,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　</a:t>
                      </a:r>
                      <a:endParaRPr lang="zh-CN" altLang="en-US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600" b="1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344805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2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694055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21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98933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12827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defRPr sz="1800" b="1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</a:lstStyle>
                    <a:p>
                      <a:pPr marL="0" lvl="0" indent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 dirty="0">
                          <a:latin typeface="微软雅黑 Light" panose="020B0502040204020203" charset="-122"/>
                          <a:ea typeface="微软雅黑 Light" panose="020B0502040204020203" charset="-122"/>
                        </a:rPr>
                        <a:t>→</a:t>
                      </a:r>
                      <a:endParaRPr lang="en-US" altLang="zh-CN" sz="2800" dirty="0">
                        <a:latin typeface="微软雅黑 Light" panose="020B0502040204020203" charset="-122"/>
                        <a:ea typeface="微软雅黑 Light" panose="020B0502040204020203" charset="-122"/>
                      </a:endParaRPr>
                    </a:p>
                  </a:txBody>
                  <a:tcPr marL="18000" marR="18000" marT="18000" marB="360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4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67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12674" name="文本占位符 76801"/>
          <p:cNvSpPr>
            <a:spLocks noGrp="1"/>
          </p:cNvSpPr>
          <p:nvPr>
            <p:ph type="body"/>
          </p:nvPr>
        </p:nvSpPr>
        <p:spPr>
          <a:xfrm>
            <a:off x="2076450" y="1465263"/>
            <a:ext cx="7772400" cy="4402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>
              <a:lnSpc>
                <a:spcPct val="150000"/>
              </a:lnSpc>
            </a:pP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2675" name="标题 76811"/>
          <p:cNvSpPr>
            <a:spLocks noGrp="1"/>
          </p:cNvSpPr>
          <p:nvPr>
            <p:ph type="title"/>
          </p:nvPr>
        </p:nvSpPr>
        <p:spPr>
          <a:xfrm>
            <a:off x="2928938" y="906463"/>
            <a:ext cx="3452812" cy="558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32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运算符的优先级：</a:t>
            </a:r>
            <a:endParaRPr lang="zh-CN" altLang="en-US" sz="3200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2676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7826" name="文本占位符 77825"/>
          <p:cNvSpPr>
            <a:spLocks noGrp="1"/>
          </p:cNvSpPr>
          <p:nvPr/>
        </p:nvSpPr>
        <p:spPr>
          <a:xfrm>
            <a:off x="1622425" y="1044575"/>
            <a:ext cx="8682038" cy="5073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685800" lvl="1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、单目、条件和赋值运算符具有</a:t>
            </a:r>
            <a:r>
              <a:rPr lang="zh-CN" altLang="en-US" sz="2000" b="1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右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结合性，如：</a:t>
            </a:r>
            <a:endParaRPr lang="zh-CN" altLang="en-US" sz="18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宋体" panose="02010600030101010101" pitchFamily="2" charset="-122"/>
              </a:rPr>
              <a:t>            单目</a:t>
            </a: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运算符：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!a++;</a:t>
            </a:r>
            <a:endParaRPr lang="en-US" altLang="zh-CN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	        </a:t>
            </a: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相当于：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!(</a:t>
            </a:r>
            <a:r>
              <a:rPr lang="en-US" altLang="zh-CN" u="sng" dirty="0">
                <a:latin typeface="楷体_GB2312" pitchFamily="49" charset="-122"/>
                <a:ea typeface="宋体" panose="02010600030101010101" pitchFamily="2" charset="-122"/>
              </a:rPr>
              <a:t>a++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);</a:t>
            </a:r>
            <a:endParaRPr lang="en-US" altLang="zh-CN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            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宋体" panose="02010600030101010101" pitchFamily="2" charset="-122"/>
              </a:rPr>
              <a:t>条件</a:t>
            </a: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运算符：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a ? b : c ? d : e;</a:t>
            </a:r>
            <a:endParaRPr lang="en-US" altLang="zh-CN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                </a:t>
            </a: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相当于：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a ? b : (</a:t>
            </a:r>
            <a:r>
              <a:rPr lang="en-US" altLang="zh-CN" u="sng" dirty="0">
                <a:latin typeface="楷体_GB2312" pitchFamily="49" charset="-122"/>
                <a:ea typeface="宋体" panose="02010600030101010101" pitchFamily="2" charset="-122"/>
              </a:rPr>
              <a:t>c ? d : e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);</a:t>
            </a:r>
            <a:endParaRPr lang="en-US" altLang="zh-CN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            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宋体" panose="02010600030101010101" pitchFamily="2" charset="-122"/>
              </a:rPr>
              <a:t>赋值</a:t>
            </a: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运算符：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a = b = c;</a:t>
            </a:r>
            <a:endParaRPr lang="en-US" altLang="zh-CN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                </a:t>
            </a: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相当于：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a = (</a:t>
            </a:r>
            <a:r>
              <a:rPr lang="en-US" altLang="zh-CN" u="sng" dirty="0">
                <a:latin typeface="楷体_GB2312" pitchFamily="49" charset="-122"/>
                <a:ea typeface="宋体" panose="02010600030101010101" pitchFamily="2" charset="-122"/>
              </a:rPr>
              <a:t>b = c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);</a:t>
            </a:r>
            <a:endParaRPr lang="zh-CN" altLang="en-US" sz="28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spcBef>
                <a:spcPct val="40000"/>
              </a:spcBef>
            </a:pP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           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、其它运算符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宋体" panose="02010600030101010101" pitchFamily="2" charset="-122"/>
              </a:rPr>
              <a:t>左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结合，如：</a:t>
            </a:r>
            <a:endParaRPr lang="zh-CN" altLang="en-US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           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算术运算符</a:t>
            </a: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：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a + b - c;</a:t>
            </a:r>
            <a:endParaRPr lang="en-US" altLang="zh-CN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                </a:t>
            </a: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相当于：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(</a:t>
            </a:r>
            <a:r>
              <a:rPr lang="en-US" altLang="zh-CN" u="sng" dirty="0">
                <a:latin typeface="楷体_GB2312" pitchFamily="49" charset="-122"/>
                <a:ea typeface="宋体" panose="02010600030101010101" pitchFamily="2" charset="-122"/>
              </a:rPr>
              <a:t>a + b</a:t>
            </a:r>
            <a:r>
              <a:rPr lang="en-US" altLang="zh-CN" dirty="0">
                <a:latin typeface="楷体_GB2312" pitchFamily="49" charset="-122"/>
                <a:ea typeface="宋体" panose="02010600030101010101" pitchFamily="2" charset="-122"/>
              </a:rPr>
              <a:t>) - c;</a:t>
            </a:r>
            <a:endParaRPr lang="zh-CN" altLang="en-US" sz="28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6">
                                            <p:txEl>
                                              <p:charRg st="1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6">
                                            <p:txEl>
                                              <p:charRg st="1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7826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826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48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7826">
                                            <p:txEl>
                                              <p:charRg st="48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7826">
                                            <p:txEl>
                                              <p:charRg st="48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69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826">
                                            <p:txEl>
                                              <p:charRg st="69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7826">
                                            <p:txEl>
                                              <p:charRg st="69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06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826">
                                            <p:txEl>
                                              <p:charRg st="106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7826">
                                            <p:txEl>
                                              <p:charRg st="106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47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826">
                                            <p:txEl>
                                              <p:charRg st="147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7826">
                                            <p:txEl>
                                              <p:charRg st="147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76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826">
                                            <p:txEl>
                                              <p:charRg st="176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7826">
                                            <p:txEl>
                                              <p:charRg st="176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4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7826">
                                            <p:txEl>
                                              <p:charRg st="4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7826">
                                            <p:txEl>
                                              <p:charRg st="4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235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7826">
                                            <p:txEl>
                                              <p:charRg st="235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7826">
                                            <p:txEl>
                                              <p:charRg st="235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264" end="2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7826">
                                            <p:txEl>
                                              <p:charRg st="264" end="29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7826">
                                            <p:txEl>
                                              <p:charRg st="264" end="29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ldLvl="3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369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文本占位符 77825"/>
          <p:cNvSpPr>
            <a:spLocks noGrp="1"/>
          </p:cNvSpPr>
          <p:nvPr>
            <p:ph type="body"/>
          </p:nvPr>
        </p:nvSpPr>
        <p:spPr>
          <a:xfrm>
            <a:off x="2019300" y="1030288"/>
            <a:ext cx="8151813" cy="3505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基本算术运算符：  </a:t>
            </a:r>
            <a:r>
              <a:rPr lang="en-US" altLang="zh-CN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 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en-US" altLang="zh-CN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 * / %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结合方向：从左向右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优先级： 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----&gt;</a:t>
            </a:r>
            <a:r>
              <a:rPr lang="en-US" altLang="zh-CN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* / %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-----&gt; </a:t>
            </a:r>
            <a:r>
              <a:rPr lang="en-US" altLang="zh-CN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+ -</a:t>
            </a:r>
            <a:endParaRPr lang="en-US" altLang="zh-CN">
              <a:solidFill>
                <a:schemeClr val="folHlink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buNone/>
            </a:pPr>
            <a:r>
              <a:rPr lang="en-US" altLang="zh-CN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 (2)      (3)         (4)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说明：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-”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可为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单目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运算符时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右结合性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两整数相除，结果为整数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%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要求两侧均为整型数据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7827" name="文本框 77826"/>
          <p:cNvSpPr txBox="1"/>
          <p:nvPr/>
        </p:nvSpPr>
        <p:spPr>
          <a:xfrm>
            <a:off x="2824163" y="4364038"/>
            <a:ext cx="2911475" cy="64611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例      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5/2   =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       -5/2.0  =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77832" name="文本框 77831"/>
          <p:cNvSpPr txBox="1"/>
          <p:nvPr/>
        </p:nvSpPr>
        <p:spPr>
          <a:xfrm>
            <a:off x="6748463" y="4116388"/>
            <a:ext cx="2565400" cy="147796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例      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5%2   =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       -5%2    =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       1%10   =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</a:t>
            </a:r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5%1    =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隶书" panose="02010509060101010101" pitchFamily="49" charset="-122"/>
              </a:rPr>
              <a:t>      5.5%2</a:t>
            </a:r>
            <a:endParaRPr lang="en-US" altLang="zh-CN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77852" name="文本框 77851"/>
          <p:cNvSpPr txBox="1"/>
          <p:nvPr/>
        </p:nvSpPr>
        <p:spPr>
          <a:xfrm>
            <a:off x="4629150" y="4359275"/>
            <a:ext cx="42545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3" name="文本框 77852"/>
          <p:cNvSpPr txBox="1"/>
          <p:nvPr/>
        </p:nvSpPr>
        <p:spPr>
          <a:xfrm>
            <a:off x="4629150" y="4679950"/>
            <a:ext cx="9144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-2.5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4" name="文本框 77853"/>
          <p:cNvSpPr txBox="1"/>
          <p:nvPr/>
        </p:nvSpPr>
        <p:spPr>
          <a:xfrm>
            <a:off x="8818563" y="4081463"/>
            <a:ext cx="446087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55" name="文本框 77854"/>
          <p:cNvSpPr txBox="1"/>
          <p:nvPr/>
        </p:nvSpPr>
        <p:spPr>
          <a:xfrm>
            <a:off x="8809038" y="4379913"/>
            <a:ext cx="509587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-1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56" name="文本框 77855"/>
          <p:cNvSpPr txBox="1"/>
          <p:nvPr/>
        </p:nvSpPr>
        <p:spPr>
          <a:xfrm>
            <a:off x="8813800" y="4702175"/>
            <a:ext cx="53181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57" name="文本框 77856"/>
          <p:cNvSpPr txBox="1"/>
          <p:nvPr/>
        </p:nvSpPr>
        <p:spPr>
          <a:xfrm>
            <a:off x="8818563" y="4999038"/>
            <a:ext cx="4683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58" name="文本框 77857"/>
          <p:cNvSpPr txBox="1"/>
          <p:nvPr/>
        </p:nvSpPr>
        <p:spPr>
          <a:xfrm>
            <a:off x="8599488" y="5203825"/>
            <a:ext cx="59531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</a:t>
            </a:r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13708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13709" name="文本占位符 121858"/>
          <p:cNvSpPr>
            <a:spLocks noGrp="1"/>
          </p:cNvSpPr>
          <p:nvPr/>
        </p:nvSpPr>
        <p:spPr>
          <a:xfrm>
            <a:off x="1187450" y="784225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）算术运算符和表达式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6">
                                            <p:txEl>
                                              <p:charRg st="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6">
                                            <p:txEl>
                                              <p:charRg st="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2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7826">
                                            <p:txEl>
                                              <p:charRg st="2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826">
                                            <p:txEl>
                                              <p:charRg st="2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31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7826">
                                            <p:txEl>
                                              <p:charRg st="31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7826">
                                            <p:txEl>
                                              <p:charRg st="31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6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826">
                                            <p:txEl>
                                              <p:charRg st="6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7826">
                                            <p:txEl>
                                              <p:charRg st="6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9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7826">
                                            <p:txEl>
                                              <p:charRg st="9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826">
                                            <p:txEl>
                                              <p:charRg st="9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7826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7826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17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7826">
                                            <p:txEl>
                                              <p:charRg st="117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7826">
                                            <p:txEl>
                                              <p:charRg st="117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2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7826">
                                            <p:txEl>
                                              <p:charRg st="12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7826">
                                            <p:txEl>
                                              <p:charRg st="12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7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7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7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ldLvl="3" build="p"/>
      <p:bldP spid="77827" grpId="0" bldLvl="0" animBg="1"/>
      <p:bldP spid="77832" grpId="0" bldLvl="0" animBg="1"/>
      <p:bldP spid="77852" grpId="0"/>
      <p:bldP spid="77853" grpId="0"/>
      <p:bldP spid="77854" grpId="0"/>
      <p:bldP spid="77855" grpId="0"/>
      <p:bldP spid="77856" grpId="0"/>
      <p:bldP spid="77857" grpId="0"/>
      <p:bldP spid="7785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472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文本占位符 77825"/>
          <p:cNvSpPr>
            <a:spLocks noGrp="1"/>
          </p:cNvSpPr>
          <p:nvPr>
            <p:ph type="body"/>
          </p:nvPr>
        </p:nvSpPr>
        <p:spPr>
          <a:xfrm>
            <a:off x="2019300" y="1030288"/>
            <a:ext cx="8682038" cy="3505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算术表达式使用注意：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表达式中的乘号不能省略，且表达式中的所有字符均应写在同一行上。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chu'x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在表达式中还可以使用多层圆括号，但是要注意括号的配对。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在数学中，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×6÷4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的运算结果于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6÷4×5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的结果相同，都是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7.5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，但是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C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语言中表达式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5*6/4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的结果与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6/4*5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的结果不一样。另外，还需注意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8/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8/10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）之类的表达式，因为（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8/10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）结果为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，用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做除数会出现运算溢出的错误，为了不使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8/10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的结果为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，应将整型常量改为实型常量</a:t>
            </a:r>
            <a:r>
              <a:rPr lang="en-US" altLang="zh-CN" dirty="0">
                <a:latin typeface="Arial" panose="020B0604020202020204" pitchFamily="34" charset="0"/>
                <a:ea typeface="微软雅黑 Light" panose="020B0502040204020203" charset="-122"/>
              </a:rPr>
              <a:t>8.0/10</a:t>
            </a:r>
            <a:r>
              <a:rPr lang="zh-CN" altLang="en-US" dirty="0">
                <a:latin typeface="Arial" panose="020B0604020202020204" pitchFamily="34" charset="0"/>
                <a:ea typeface="微软雅黑 Light" panose="020B0502040204020203" charset="-122"/>
              </a:rPr>
              <a:t>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4723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14724" name="文本占位符 121858"/>
          <p:cNvSpPr>
            <a:spLocks noGrp="1"/>
          </p:cNvSpPr>
          <p:nvPr/>
        </p:nvSpPr>
        <p:spPr>
          <a:xfrm>
            <a:off x="1187450" y="784225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）算术运算符和表达式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9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6">
                                            <p:txEl>
                                              <p:charRg st="9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6">
                                            <p:txEl>
                                              <p:charRg st="9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7826">
                                            <p:txEl>
                                              <p:charRg st="1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826">
                                            <p:txEl>
                                              <p:charRg st="1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4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7826">
                                            <p:txEl>
                                              <p:charRg st="4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7826">
                                            <p:txEl>
                                              <p:charRg st="4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77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826">
                                            <p:txEl>
                                              <p:charRg st="77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7826">
                                            <p:txEl>
                                              <p:charRg st="77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ldLvl="3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74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15746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96269" name="文本占位符 121858"/>
          <p:cNvSpPr>
            <a:spLocks noGrp="1"/>
          </p:cNvSpPr>
          <p:nvPr/>
        </p:nvSpPr>
        <p:spPr>
          <a:xfrm>
            <a:off x="1187450" y="784225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）算术运算符和表达式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2306638" y="1489075"/>
            <a:ext cx="6527800" cy="230822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#include &lt;stdio.h&gt;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int main()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{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printf(“d\n”,100%3);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printf(“%d,%d\n”, (-5)%3,  5%3);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printf(“%d,%d\n”, (-5)%(-3), 5%(-3));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return 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}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5907088" y="3630613"/>
            <a:ext cx="4335462" cy="16303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             -2,2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             -2,2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语言规定：求余运算结果的符号和被除数的符号相同。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9" grpId="0"/>
      <p:bldP spid="96269" grpId="1"/>
      <p:bldP spid="78854" grpId="0" bldLvl="0" animBg="1"/>
      <p:bldP spid="78854" grpId="1" animBg="1"/>
      <p:bldP spid="83999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676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文本占位符 77825"/>
          <p:cNvSpPr>
            <a:spLocks noGrp="1"/>
          </p:cNvSpPr>
          <p:nvPr>
            <p:ph type="body"/>
          </p:nvPr>
        </p:nvSpPr>
        <p:spPr>
          <a:xfrm>
            <a:off x="2019300" y="1030288"/>
            <a:ext cx="8682038" cy="10683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练习：输入一个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位的正整数，输出其反序数（如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1234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反序数位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4321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6771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96269" name="文本占位符 121858"/>
          <p:cNvSpPr>
            <a:spLocks noGrp="1"/>
          </p:cNvSpPr>
          <p:nvPr/>
        </p:nvSpPr>
        <p:spPr>
          <a:xfrm>
            <a:off x="1187450" y="784225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）算术运算符和表达式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3025775" y="2227263"/>
            <a:ext cx="6527800" cy="369411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#include &lt;stdio.h&gt;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int main()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{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int number,a,b,c,d;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printf("请输入一个4位的正整数：");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scanf("%d",&amp;number);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a=number/1000;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b=(number-a*1000)/100;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c=(number-a*1000-b*100)/10;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d=number%10;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printf("反序数是：%d%d%d%d\n",d,c,b,a);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return 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}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7826">
                                            <p:txEl>
                                              <p:charRg st="1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9" grpId="0"/>
      <p:bldP spid="77826" grpId="0" build="p"/>
      <p:bldP spid="96269" grpId="1"/>
      <p:bldP spid="77826" grpId="1" build="p"/>
      <p:bldP spid="78854" grpId="0" bldLvl="0" animBg="1"/>
      <p:bldP spid="78854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779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文本占位符 77825"/>
          <p:cNvSpPr>
            <a:spLocks noGrp="1"/>
          </p:cNvSpPr>
          <p:nvPr>
            <p:ph type="body"/>
          </p:nvPr>
        </p:nvSpPr>
        <p:spPr>
          <a:xfrm>
            <a:off x="1879600" y="474663"/>
            <a:ext cx="8682038" cy="22177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389255" indent="-389255">
              <a:lnSpc>
                <a:spcPct val="11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练习：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将两个两位的正整数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合并形成一个整数放在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中：将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的十位和个位数依次放在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的千位和十位上，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的十位和个位数依次放在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的百位和个位上。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389255" indent="-389255">
              <a:lnSpc>
                <a:spcPct val="110000"/>
              </a:lnSpc>
            </a:pPr>
            <a:r>
              <a:rPr lang="zh-CN" altLang="en-US" sz="2000" dirty="0">
                <a:solidFill>
                  <a:srgbClr val="000066"/>
                </a:solidFill>
                <a:latin typeface="楷体_GB2312" pitchFamily="49" charset="-122"/>
              </a:rPr>
              <a:t>  例如：若</a:t>
            </a:r>
            <a:r>
              <a:rPr lang="en-US" altLang="zh-CN" sz="2000" dirty="0">
                <a:solidFill>
                  <a:srgbClr val="000066"/>
                </a:solidFill>
                <a:latin typeface="楷体_GB2312" pitchFamily="49" charset="-122"/>
              </a:rPr>
              <a:t>a = </a:t>
            </a:r>
            <a:r>
              <a:rPr lang="en-US" altLang="zh-CN" sz="2000" dirty="0">
                <a:solidFill>
                  <a:srgbClr val="FF0000"/>
                </a:solidFill>
                <a:latin typeface="楷体_GB2312" pitchFamily="49" charset="-122"/>
              </a:rPr>
              <a:t>45</a:t>
            </a:r>
            <a:r>
              <a:rPr lang="en-US" altLang="zh-CN" sz="2000" dirty="0">
                <a:solidFill>
                  <a:srgbClr val="000066"/>
                </a:solidFill>
                <a:latin typeface="楷体_GB2312" pitchFamily="49" charset="-122"/>
              </a:rPr>
              <a:t>, b = </a:t>
            </a:r>
            <a:r>
              <a:rPr lang="en-US" altLang="zh-CN" sz="2000" dirty="0">
                <a:solidFill>
                  <a:srgbClr val="0000CC"/>
                </a:solidFill>
                <a:latin typeface="楷体_GB2312" pitchFamily="49" charset="-122"/>
              </a:rPr>
              <a:t>12</a:t>
            </a:r>
            <a:r>
              <a:rPr lang="zh-CN" altLang="en-US" sz="2000" dirty="0">
                <a:solidFill>
                  <a:srgbClr val="000066"/>
                </a:solidFill>
                <a:latin typeface="楷体_GB2312" pitchFamily="49" charset="-122"/>
              </a:rPr>
              <a:t>，使</a:t>
            </a:r>
            <a:r>
              <a:rPr lang="en-US" altLang="zh-CN" sz="2000" dirty="0">
                <a:solidFill>
                  <a:srgbClr val="000066"/>
                </a:solidFill>
                <a:latin typeface="楷体_GB2312" pitchFamily="49" charset="-122"/>
              </a:rPr>
              <a:t>c = </a:t>
            </a:r>
            <a:r>
              <a:rPr lang="en-US" altLang="zh-CN" sz="2000" dirty="0">
                <a:solidFill>
                  <a:srgbClr val="FF0000"/>
                </a:solidFill>
                <a:latin typeface="楷体_GB2312" pitchFamily="49" charset="-122"/>
              </a:rPr>
              <a:t>4</a:t>
            </a:r>
            <a:r>
              <a:rPr lang="en-US" altLang="zh-CN" sz="2000" dirty="0">
                <a:solidFill>
                  <a:srgbClr val="0000CC"/>
                </a:solidFill>
                <a:latin typeface="楷体_GB2312" pitchFamily="49" charset="-122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楷体_GB2312" pitchFamily="49" charset="-122"/>
              </a:rPr>
              <a:t>5</a:t>
            </a:r>
            <a:r>
              <a:rPr lang="en-US" altLang="zh-CN" sz="2000" dirty="0">
                <a:solidFill>
                  <a:srgbClr val="0000CC"/>
                </a:solidFill>
                <a:latin typeface="楷体_GB2312" pitchFamily="49" charset="-122"/>
              </a:rPr>
              <a:t>2</a:t>
            </a:r>
            <a:r>
              <a:rPr lang="zh-CN" altLang="en-US" sz="2000" dirty="0">
                <a:solidFill>
                  <a:srgbClr val="000066"/>
                </a:solidFill>
                <a:latin typeface="楷体_GB2312" pitchFamily="49" charset="-122"/>
              </a:rPr>
              <a:t>。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7795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2957513" y="2690813"/>
            <a:ext cx="6527800" cy="34163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#include &lt;stdio.h&gt;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int main()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{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int a,b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,sum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printf("请输入一个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2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位的正整数：");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scanf("%d",&amp;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a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printf("请再次输入一个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2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位的正整数：");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scanf("%d",&amp;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b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sum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= a/10*1000 + b/10*100 + a%10*10 + b%10;</a:t>
            </a:r>
            <a:endParaRPr lang="en-US" altLang="zh-CN" dirty="0">
              <a:latin typeface="楷体_GB2312" pitchFamily="49" charset="-122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printf("组合数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sum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是：%d\n",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sum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);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return 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}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7826">
                                            <p:txEl>
                                              <p:charRg st="1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73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7826">
                                            <p:txEl>
                                              <p:charRg st="73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uiExpand="1" build="p"/>
      <p:bldP spid="77826" grpId="1" build="p"/>
      <p:bldP spid="78854" grpId="0" bldLvl="0" animBg="1"/>
      <p:bldP spid="78854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881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8850" name="文本占位符 78849"/>
          <p:cNvSpPr>
            <a:spLocks noGrp="1"/>
          </p:cNvSpPr>
          <p:nvPr>
            <p:ph type="body"/>
          </p:nvPr>
        </p:nvSpPr>
        <p:spPr>
          <a:xfrm>
            <a:off x="1524000" y="1138238"/>
            <a:ext cx="8355013" cy="1898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作用：使变量值加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或减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种类：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前置  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++i, --i  (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先执行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i+1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i-1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，再使用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值）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后置  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i++,i--   (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先使用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值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再执行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i+1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i-1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3090863" y="3125788"/>
            <a:ext cx="6527800" cy="175418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例  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j=3; k=++j;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   j=3;  k=j++;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r>
              <a:rPr lang="en-US" altLang="zh-CN" err="1">
                <a:latin typeface="Verdana" panose="020B0604030504040204" pitchFamily="34" charset="0"/>
                <a:ea typeface="隶书" panose="02010509060101010101" pitchFamily="49" charset="-122"/>
              </a:rPr>
              <a:t>     j=3;  printf(“%d”,++j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); 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r>
              <a:rPr lang="en-US" altLang="zh-CN" err="1">
                <a:latin typeface="Verdana" panose="020B0604030504040204" pitchFamily="34" charset="0"/>
                <a:ea typeface="隶书" panose="02010509060101010101" pitchFamily="49" charset="-122"/>
              </a:rPr>
              <a:t>     j=3;  printf(“%d”,j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++); 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   a=3;b=5;c=(++a)*b;  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   a=3;b=5;c=(a++)*b;  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78868" name="文本框 78867"/>
          <p:cNvSpPr txBox="1"/>
          <p:nvPr/>
        </p:nvSpPr>
        <p:spPr>
          <a:xfrm>
            <a:off x="7643813" y="3144838"/>
            <a:ext cx="12080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//k=4,j=4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8869" name="文本框 78868"/>
          <p:cNvSpPr txBox="1"/>
          <p:nvPr/>
        </p:nvSpPr>
        <p:spPr>
          <a:xfrm>
            <a:off x="7643813" y="3511550"/>
            <a:ext cx="1208087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//k=3,j=4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8870" name="文本框 78869"/>
          <p:cNvSpPr txBox="1"/>
          <p:nvPr/>
        </p:nvSpPr>
        <p:spPr>
          <a:xfrm>
            <a:off x="7643813" y="3876675"/>
            <a:ext cx="522287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//4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8871" name="文本框 78870"/>
          <p:cNvSpPr txBox="1"/>
          <p:nvPr/>
        </p:nvSpPr>
        <p:spPr>
          <a:xfrm>
            <a:off x="7643813" y="4243388"/>
            <a:ext cx="5222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//3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8872" name="文本框 78871"/>
          <p:cNvSpPr txBox="1"/>
          <p:nvPr/>
        </p:nvSpPr>
        <p:spPr>
          <a:xfrm>
            <a:off x="7643813" y="4608513"/>
            <a:ext cx="13223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//c=20,a=4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8873" name="文本框 78872"/>
          <p:cNvSpPr txBox="1"/>
          <p:nvPr/>
        </p:nvSpPr>
        <p:spPr>
          <a:xfrm>
            <a:off x="7643813" y="4973638"/>
            <a:ext cx="13223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//c=15,a=4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18826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18827" name="文本占位符 121858"/>
          <p:cNvSpPr>
            <a:spLocks noGrp="1"/>
          </p:cNvSpPr>
          <p:nvPr/>
        </p:nvSpPr>
        <p:spPr>
          <a:xfrm>
            <a:off x="1187450" y="784225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）自增、自减预算法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  --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885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8850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charRg st="17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78850">
                                            <p:txEl>
                                              <p:charRg st="17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charRg st="5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8850">
                                            <p:txEl>
                                              <p:charRg st="50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886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886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887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7887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7887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7887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bldLvl="4" build="p"/>
      <p:bldP spid="78854" grpId="0" bldLvl="0" animBg="1"/>
      <p:bldP spid="78868" grpId="0" build="p"/>
      <p:bldP spid="78869" grpId="0" build="p"/>
      <p:bldP spid="78870" grpId="0" build="p"/>
      <p:bldP spid="78871" grpId="0" build="p"/>
      <p:bldP spid="78872" grpId="0" build="p"/>
      <p:bldP spid="7887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4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8850" name="文本占位符 78849"/>
          <p:cNvSpPr>
            <a:spLocks noGrp="1"/>
          </p:cNvSpPr>
          <p:nvPr>
            <p:ph type="body"/>
          </p:nvPr>
        </p:nvSpPr>
        <p:spPr>
          <a:xfrm>
            <a:off x="1035050" y="1128713"/>
            <a:ext cx="8355013" cy="990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注意：自增和自减运算符的操作对象只能是一个简单变量，不能是常量或表达式。</a:t>
            </a:r>
            <a:endParaRPr lang="en-US" altLang="zh-CN" b="1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9843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97291" name="文本占位符 121858"/>
          <p:cNvSpPr>
            <a:spLocks noGrp="1"/>
          </p:cNvSpPr>
          <p:nvPr/>
        </p:nvSpPr>
        <p:spPr>
          <a:xfrm>
            <a:off x="1187450" y="784225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）自增、自减预算法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  --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78849"/>
          <p:cNvSpPr>
            <a:spLocks noGrp="1"/>
          </p:cNvSpPr>
          <p:nvPr/>
        </p:nvSpPr>
        <p:spPr>
          <a:xfrm>
            <a:off x="1095375" y="2057400"/>
            <a:ext cx="8355013" cy="2768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设有定义如下：</a:t>
            </a:r>
            <a:endParaRPr lang="zh-CN" altLang="en-US" sz="18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algn="l" rtl="0" eaLnBrk="1" latinLnBrk="0" hangingPunct="1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#define d 2</a:t>
            </a:r>
            <a:endParaRPr lang="en-US" altLang="zh-CN" sz="18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algn="l" rtl="0" eaLnBrk="1" latinLnBrk="0" hangingPunct="1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 x=5;</a:t>
            </a:r>
            <a:endParaRPr lang="en-US" altLang="zh-CN" sz="18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algn="l" rtl="0" eaLnBrk="1" latinLnBrk="0" hangingPunct="1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float y=3.83;</a:t>
            </a:r>
            <a:endParaRPr lang="en-US" altLang="zh-CN" sz="18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algn="l" rtl="0" eaLnBrk="1" latinLnBrk="0" hangingPunct="1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char c='d';</a:t>
            </a:r>
            <a:endParaRPr lang="en-US" altLang="zh-CN" sz="18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分析以下表达式使用正确与否。</a:t>
            </a:r>
            <a:endParaRPr lang="zh-CN" altLang="en-US" sz="18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 algn="l" rtl="0" eaLnBrk="1" latinLnBrk="0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A.  ( -x ) ++      B. y++            C.  c++          D. d++</a:t>
            </a:r>
            <a:endParaRPr lang="zh-CN" altLang="en-US" sz="18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7858" name="文本框 77857"/>
          <p:cNvSpPr txBox="1"/>
          <p:nvPr/>
        </p:nvSpPr>
        <p:spPr>
          <a:xfrm>
            <a:off x="2495550" y="4705350"/>
            <a:ext cx="595313" cy="784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</a:t>
            </a:r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67563" y="4705350"/>
            <a:ext cx="595312" cy="784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</a:t>
            </a:r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8850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1" grpId="0"/>
      <p:bldP spid="78850" grpId="0" build="p"/>
      <p:bldP spid="2" grpId="0"/>
      <p:bldP spid="97291" grpId="1"/>
      <p:bldP spid="78850" grpId="1" build="p"/>
      <p:bldP spid="2" grpId="1"/>
      <p:bldP spid="77858" grpId="0"/>
      <p:bldP spid="77858" grpId="1"/>
      <p:bldP spid="3" grpId="0"/>
      <p:bldP spid="3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086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20866" name="矩形 169985"/>
          <p:cNvSpPr/>
          <p:nvPr/>
        </p:nvSpPr>
        <p:spPr>
          <a:xfrm>
            <a:off x="1587500" y="1270000"/>
            <a:ext cx="8864600" cy="1898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作用：使变量值加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或减</a:t>
            </a: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种类：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前置  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++i, --i  (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先执行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i+1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i-1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，再使用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值）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后置  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i++,i--   (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先使用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值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再执行</a:t>
            </a: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i+1</a:t>
            </a:r>
            <a:r>
              <a:rPr lang="zh-CN" altLang="en-US" b="1">
                <a:latin typeface="微软雅黑 Light" panose="020B0502040204020203" charset="-122"/>
                <a:ea typeface="微软雅黑 Light" panose="020B0502040204020203" charset="-122"/>
              </a:rPr>
              <a:t>或</a:t>
            </a: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i-1</a:t>
            </a:r>
            <a:r>
              <a:rPr lang="zh-CN" altLang="en-US" b="1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endParaRPr lang="zh-CN" altLang="en-US" b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87" name="矩形 169986"/>
          <p:cNvSpPr/>
          <p:nvPr/>
        </p:nvSpPr>
        <p:spPr>
          <a:xfrm>
            <a:off x="1524000" y="2540000"/>
            <a:ext cx="9144000" cy="2590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说明：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++ -- 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不能用于常量和表达式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如</a:t>
            </a:r>
            <a:r>
              <a:rPr lang="en-US" altLang="zh-CN" b="1" dirty="0">
                <a:solidFill>
                  <a:srgbClr val="FF33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5++</a:t>
            </a:r>
            <a:r>
              <a:rPr lang="zh-CN" altLang="en-US" b="1" dirty="0">
                <a:solidFill>
                  <a:srgbClr val="FF33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b="1">
                <a:solidFill>
                  <a:srgbClr val="FF33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(a+b)++</a:t>
            </a:r>
            <a:endParaRPr lang="en-US" altLang="zh-CN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++ --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结合方向：  </a:t>
            </a:r>
            <a:r>
              <a:rPr lang="zh-CN" altLang="en-US" b="1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自右向左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优先级：</a:t>
            </a: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- ++ -- ------&gt;* / % -----&gt;+ -</a:t>
            </a:r>
            <a:endParaRPr lang="en-US" altLang="zh-CN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4" indent="0"/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         </a:t>
            </a:r>
            <a:r>
              <a:rPr lang="en-US" altLang="zh-CN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(2)            (3)        (4)</a:t>
            </a:r>
            <a:endParaRPr lang="en-US" altLang="zh-CN">
              <a:solidFill>
                <a:schemeClr val="folHlink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88" name="文本框 169987"/>
          <p:cNvSpPr txBox="1"/>
          <p:nvPr/>
        </p:nvSpPr>
        <p:spPr>
          <a:xfrm>
            <a:off x="2800350" y="4537075"/>
            <a:ext cx="6978650" cy="70643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lvl="3" indent="0"/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</a:rPr>
              <a:t>例 </a:t>
            </a:r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-i++   </a:t>
            </a:r>
            <a:r>
              <a:rPr lang="en-US" altLang="zh-CN" sz="20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</a:t>
            </a:r>
            <a:r>
              <a:rPr lang="en-US" altLang="zh-CN" sz="20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-(i++)</a:t>
            </a:r>
            <a:endParaRPr lang="en-US" altLang="zh-CN" sz="200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3" indent="0"/>
            <a:r>
              <a:rPr lang="en-US" altLang="zh-CN" sz="2000" err="1">
                <a:latin typeface="隶书" panose="02010509060101010101" pitchFamily="49" charset="-122"/>
                <a:ea typeface="隶书" panose="02010509060101010101" pitchFamily="49" charset="-122"/>
              </a:rPr>
              <a:t>   i=3;  printf(“%d”,-i</a:t>
            </a:r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++);   </a:t>
            </a:r>
            <a:r>
              <a:rPr lang="en-US" altLang="zh-CN" sz="20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//-3</a:t>
            </a:r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9989" name="组合 169988"/>
          <p:cNvGrpSpPr/>
          <p:nvPr/>
        </p:nvGrpSpPr>
        <p:grpSpPr>
          <a:xfrm>
            <a:off x="3143250" y="4827588"/>
            <a:ext cx="3735388" cy="400050"/>
            <a:chOff x="1056" y="2256"/>
            <a:chExt cx="2353" cy="252"/>
          </a:xfrm>
        </p:grpSpPr>
        <p:sp>
          <p:nvSpPr>
            <p:cNvPr id="420870" name="左右箭头 169989"/>
            <p:cNvSpPr/>
            <p:nvPr/>
          </p:nvSpPr>
          <p:spPr>
            <a:xfrm>
              <a:off x="1990" y="2366"/>
              <a:ext cx="600" cy="47"/>
            </a:xfrm>
            <a:prstGeom prst="leftRightArrow">
              <a:avLst>
                <a:gd name="adj1" fmla="val 50000"/>
                <a:gd name="adj2" fmla="val 254728"/>
              </a:avLst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871" name="文本框 169990"/>
            <p:cNvSpPr txBox="1"/>
            <p:nvPr/>
          </p:nvSpPr>
          <p:spPr>
            <a:xfrm>
              <a:off x="1056" y="2256"/>
              <a:ext cx="2353" cy="252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隶书" panose="02010509060101010101" pitchFamily="49" charset="-122"/>
                  <a:ea typeface="隶书" panose="02010509060101010101" pitchFamily="49" charset="-122"/>
                </a:rPr>
                <a:t>例  </a:t>
              </a:r>
              <a:r>
                <a:rPr lang="en-US" altLang="zh-CN" sz="2000">
                  <a:latin typeface="隶书" panose="02010509060101010101" pitchFamily="49" charset="-122"/>
                  <a:ea typeface="隶书" panose="02010509060101010101" pitchFamily="49" charset="-122"/>
                </a:rPr>
                <a:t>j+++k;          (j++)+k;</a:t>
              </a:r>
              <a:endParaRPr lang="en-US" altLang="zh-CN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169992" name="文本框 169991"/>
          <p:cNvSpPr txBox="1"/>
          <p:nvPr/>
        </p:nvSpPr>
        <p:spPr>
          <a:xfrm>
            <a:off x="2952750" y="4689475"/>
            <a:ext cx="6978650" cy="70643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lvl="3" indent="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例 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-i++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 lvl="3" indent="0"/>
            <a:r>
              <a:rPr lang="en-US" altLang="zh-CN" sz="2000" b="1" err="1">
                <a:latin typeface="楷体_GB2312" pitchFamily="49" charset="-122"/>
                <a:ea typeface="楷体_GB2312" pitchFamily="49" charset="-122"/>
              </a:rPr>
              <a:t>   i=3;  printf(“%d”,-i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++);</a:t>
            </a:r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   </a:t>
            </a:r>
            <a:endParaRPr lang="en-US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20873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20874" name="文本占位符 121858"/>
          <p:cNvSpPr>
            <a:spLocks noGrp="1"/>
          </p:cNvSpPr>
          <p:nvPr/>
        </p:nvSpPr>
        <p:spPr>
          <a:xfrm>
            <a:off x="1187450" y="784225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）自增、自减预算法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  --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998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998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9987">
                                            <p:txEl>
                                              <p:charRg st="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9987">
                                            <p:txEl>
                                              <p:charRg st="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9987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9987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5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9987">
                                            <p:txEl>
                                              <p:charRg st="5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9987">
                                            <p:txEl>
                                              <p:charRg st="5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86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9987">
                                            <p:txEl>
                                              <p:charRg st="86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9987">
                                            <p:txEl>
                                              <p:charRg st="86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ldLvl="5" build="p"/>
      <p:bldP spid="169988" grpId="0" bldLvl="0" animBg="1"/>
      <p:bldP spid="169992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188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0898" name="文本占位符 80897"/>
          <p:cNvSpPr>
            <a:spLocks noGrp="1"/>
          </p:cNvSpPr>
          <p:nvPr>
            <p:ph type="body"/>
          </p:nvPr>
        </p:nvSpPr>
        <p:spPr>
          <a:xfrm>
            <a:off x="2076450" y="795338"/>
            <a:ext cx="7772400" cy="31670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简单赋值运算符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符号：   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=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格式：  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变量标识符</a:t>
            </a:r>
            <a:r>
              <a:rPr lang="en-US" altLang="zh-CN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=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endParaRPr lang="zh-CN" altLang="en-US" dirty="0">
              <a:solidFill>
                <a:srgbClr val="3333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作用：将一个数据（常量或表达式）赋给一个变量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0902" name="矩形 80901"/>
          <p:cNvSpPr/>
          <p:nvPr/>
        </p:nvSpPr>
        <p:spPr>
          <a:xfrm>
            <a:off x="2166938" y="2647950"/>
            <a:ext cx="8501062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复合赋值运算符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种类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r>
              <a:rPr lang="en-US" altLang="zh-CN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+=  -=  *=  /=  %=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《=  》=  &amp;=  ^=  |=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含义： </a:t>
            </a:r>
            <a:r>
              <a:rPr lang="en-US" altLang="zh-CN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exp1 op= exp2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1800">
                <a:latin typeface="微软雅黑 Light" panose="020B0502040204020203" charset="-122"/>
                <a:ea typeface="微软雅黑 Light" panose="020B0502040204020203" charset="-122"/>
                <a:sym typeface="Wingdings" panose="05000000000000000000" pitchFamily="2" charset="2"/>
              </a:rPr>
              <a:t>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exp1 = exp1  op  exp2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80903" name="组合 80902"/>
          <p:cNvGrpSpPr/>
          <p:nvPr/>
        </p:nvGrpSpPr>
        <p:grpSpPr>
          <a:xfrm>
            <a:off x="4014788" y="3913188"/>
            <a:ext cx="2649537" cy="368300"/>
            <a:chOff x="1680" y="2561"/>
            <a:chExt cx="1669" cy="232"/>
          </a:xfrm>
        </p:grpSpPr>
        <p:sp>
          <p:nvSpPr>
            <p:cNvPr id="421893" name="左右箭头 80903"/>
            <p:cNvSpPr/>
            <p:nvPr/>
          </p:nvSpPr>
          <p:spPr>
            <a:xfrm>
              <a:off x="2304" y="2688"/>
              <a:ext cx="422" cy="47"/>
            </a:xfrm>
            <a:prstGeom prst="leftRightArrow">
              <a:avLst>
                <a:gd name="adj1" fmla="val 50000"/>
                <a:gd name="adj2" fmla="val 179158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894" name="文本框 80904"/>
            <p:cNvSpPr txBox="1"/>
            <p:nvPr/>
          </p:nvSpPr>
          <p:spPr>
            <a:xfrm>
              <a:off x="1680" y="2561"/>
              <a:ext cx="40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a+=3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895" name="文本框 80905"/>
            <p:cNvSpPr txBox="1"/>
            <p:nvPr/>
          </p:nvSpPr>
          <p:spPr>
            <a:xfrm>
              <a:off x="2880" y="2561"/>
              <a:ext cx="46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a=a+3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0907" name="组合 80906"/>
          <p:cNvGrpSpPr/>
          <p:nvPr/>
        </p:nvGrpSpPr>
        <p:grpSpPr>
          <a:xfrm>
            <a:off x="4014788" y="4379913"/>
            <a:ext cx="2984500" cy="368300"/>
            <a:chOff x="1680" y="2753"/>
            <a:chExt cx="1880" cy="232"/>
          </a:xfrm>
        </p:grpSpPr>
        <p:sp>
          <p:nvSpPr>
            <p:cNvPr id="421897" name="左右箭头 80907"/>
            <p:cNvSpPr/>
            <p:nvPr/>
          </p:nvSpPr>
          <p:spPr>
            <a:xfrm>
              <a:off x="2304" y="2880"/>
              <a:ext cx="422" cy="47"/>
            </a:xfrm>
            <a:prstGeom prst="leftRightArrow">
              <a:avLst>
                <a:gd name="adj1" fmla="val 50000"/>
                <a:gd name="adj2" fmla="val 179158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898" name="文本框 80908"/>
            <p:cNvSpPr txBox="1"/>
            <p:nvPr/>
          </p:nvSpPr>
          <p:spPr>
            <a:xfrm>
              <a:off x="1680" y="2753"/>
              <a:ext cx="53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x*=y+8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899" name="文本框 80909"/>
            <p:cNvSpPr txBox="1"/>
            <p:nvPr/>
          </p:nvSpPr>
          <p:spPr>
            <a:xfrm>
              <a:off x="2880" y="2753"/>
              <a:ext cx="68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x=x*(y+8)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0911" name="组合 80910"/>
          <p:cNvGrpSpPr/>
          <p:nvPr/>
        </p:nvGrpSpPr>
        <p:grpSpPr>
          <a:xfrm>
            <a:off x="3995738" y="4846638"/>
            <a:ext cx="2678112" cy="368300"/>
            <a:chOff x="1680" y="2945"/>
            <a:chExt cx="1687" cy="232"/>
          </a:xfrm>
        </p:grpSpPr>
        <p:sp>
          <p:nvSpPr>
            <p:cNvPr id="421901" name="左右箭头 80911"/>
            <p:cNvSpPr/>
            <p:nvPr/>
          </p:nvSpPr>
          <p:spPr>
            <a:xfrm>
              <a:off x="2304" y="3072"/>
              <a:ext cx="422" cy="47"/>
            </a:xfrm>
            <a:prstGeom prst="leftRightArrow">
              <a:avLst>
                <a:gd name="adj1" fmla="val 50000"/>
                <a:gd name="adj2" fmla="val 179158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902" name="文本框 80912"/>
            <p:cNvSpPr txBox="1"/>
            <p:nvPr/>
          </p:nvSpPr>
          <p:spPr>
            <a:xfrm>
              <a:off x="1680" y="2945"/>
              <a:ext cx="42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x%=3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903" name="文本框 80913"/>
            <p:cNvSpPr txBox="1"/>
            <p:nvPr/>
          </p:nvSpPr>
          <p:spPr>
            <a:xfrm>
              <a:off x="2880" y="2945"/>
              <a:ext cx="4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Calibri" panose="020F0502020204030204" pitchFamily="34" charset="0"/>
                  <a:ea typeface="宋体" panose="02010600030101010101" pitchFamily="2" charset="-122"/>
                </a:rPr>
                <a:t>x=x%3</a:t>
              </a:r>
              <a:endParaRPr lang="en-US" altLang="zh-CN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0922" name="文本框 80921"/>
          <p:cNvSpPr txBox="1"/>
          <p:nvPr/>
        </p:nvSpPr>
        <p:spPr>
          <a:xfrm>
            <a:off x="4500563" y="2497138"/>
            <a:ext cx="1665287" cy="92392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例  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a=3;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err="1">
                <a:latin typeface="隶书" panose="02010509060101010101" pitchFamily="49" charset="-122"/>
                <a:ea typeface="隶书" panose="02010509060101010101" pitchFamily="49" charset="-122"/>
              </a:rPr>
              <a:t>    d=func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();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c=d+2;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21905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21906" name="文本占位符 121858"/>
          <p:cNvSpPr>
            <a:spLocks noGrp="1"/>
          </p:cNvSpPr>
          <p:nvPr/>
        </p:nvSpPr>
        <p:spPr>
          <a:xfrm>
            <a:off x="1187450" y="784225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）赋值运算符和表达式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898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898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9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898">
                                            <p:txEl>
                                              <p:charRg st="9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0898">
                                            <p:txEl>
                                              <p:charRg st="9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17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0898">
                                            <p:txEl>
                                              <p:charRg st="17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898">
                                            <p:txEl>
                                              <p:charRg st="17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3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898">
                                            <p:txEl>
                                              <p:charRg st="3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898">
                                            <p:txEl>
                                              <p:charRg st="3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8090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charRg st="8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80902">
                                            <p:txEl>
                                              <p:charRg st="8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charRg st="4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80902">
                                            <p:txEl>
                                              <p:charRg st="49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ldLvl="5" build="p"/>
      <p:bldP spid="80902" grpId="0" bldLvl="5" build="p"/>
      <p:bldP spid="80922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291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2946" name="文本占位符 82945"/>
          <p:cNvSpPr>
            <a:spLocks noGrp="1"/>
          </p:cNvSpPr>
          <p:nvPr>
            <p:ph type="body"/>
          </p:nvPr>
        </p:nvSpPr>
        <p:spPr>
          <a:xfrm>
            <a:off x="2276475" y="1195388"/>
            <a:ext cx="7772400" cy="1524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结合方向：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自右向左</a:t>
            </a:r>
            <a:endParaRPr lang="zh-CN" altLang="en-US" dirty="0">
              <a:solidFill>
                <a:srgbClr val="3333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优先级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:   </a:t>
            </a:r>
            <a:r>
              <a:rPr lang="en-US" altLang="zh-CN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14</a:t>
            </a:r>
            <a:endParaRPr lang="en-US" altLang="zh-CN">
              <a:solidFill>
                <a:schemeClr val="folHlink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左侧必须是变量，不能是常量或表达式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2964" name="矩形 82963"/>
          <p:cNvSpPr/>
          <p:nvPr/>
        </p:nvSpPr>
        <p:spPr>
          <a:xfrm>
            <a:off x="2339975" y="2835275"/>
            <a:ext cx="7772400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赋值表达式的值与变量值相等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且可嵌套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2962" name="矩形 82961"/>
          <p:cNvSpPr/>
          <p:nvPr/>
        </p:nvSpPr>
        <p:spPr>
          <a:xfrm>
            <a:off x="2339975" y="2216150"/>
            <a:ext cx="8043863" cy="5667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赋值转换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规则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使赋值号右边表达式值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自动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转换成其左边变量的类型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2963" name="文本框 82962"/>
          <p:cNvSpPr txBox="1"/>
          <p:nvPr/>
        </p:nvSpPr>
        <p:spPr>
          <a:xfrm>
            <a:off x="3868738" y="1612900"/>
            <a:ext cx="3119437" cy="64611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marL="977900" lvl="3" indent="-439420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例  </a:t>
            </a:r>
            <a:r>
              <a:rPr lang="en-US" altLang="zh-CN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3=x-2*y;</a:t>
            </a:r>
            <a:endParaRPr lang="en-US" altLang="zh-CN">
              <a:solidFill>
                <a:srgbClr val="FF33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977900" lvl="3" indent="-439420"/>
            <a:r>
              <a:rPr lang="en-US" altLang="zh-CN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a+b=3;</a:t>
            </a:r>
            <a:endParaRPr lang="en-US" altLang="zh-CN">
              <a:solidFill>
                <a:schemeClr val="accent2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2966" name="文本框 82965"/>
          <p:cNvSpPr txBox="1"/>
          <p:nvPr/>
        </p:nvSpPr>
        <p:spPr>
          <a:xfrm>
            <a:off x="3135313" y="3328988"/>
            <a:ext cx="6056312" cy="163036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lvl="3" indent="0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en-US" altLang="zh-CN" sz="2000">
                <a:latin typeface="Arial" panose="020B0604020202020204" pitchFamily="34" charset="0"/>
                <a:ea typeface="隶书" panose="02010509060101010101" pitchFamily="49" charset="-122"/>
              </a:rPr>
              <a:t>float f;  </a:t>
            </a:r>
            <a:endParaRPr lang="en-US" altLang="zh-CN" sz="200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3" indent="0"/>
            <a:r>
              <a:rPr lang="en-US" altLang="zh-CN" sz="2000" err="1">
                <a:latin typeface="Arial" panose="020B0604020202020204" pitchFamily="34" charset="0"/>
                <a:ea typeface="隶书" panose="02010509060101010101" pitchFamily="49" charset="-122"/>
              </a:rPr>
              <a:t>       int</a:t>
            </a:r>
            <a:r>
              <a:rPr lang="en-US" altLang="zh-CN" sz="2000">
                <a:latin typeface="Arial" panose="020B0604020202020204" pitchFamily="34" charset="0"/>
                <a:ea typeface="隶书" panose="02010509060101010101" pitchFamily="49" charset="-122"/>
              </a:rPr>
              <a:t> i;</a:t>
            </a:r>
            <a:endParaRPr lang="en-US" altLang="zh-CN" sz="200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3" indent="0"/>
            <a:r>
              <a:rPr lang="en-US" altLang="zh-CN" sz="2000">
                <a:latin typeface="Arial" panose="020B0604020202020204" pitchFamily="34" charset="0"/>
                <a:ea typeface="隶书" panose="02010509060101010101" pitchFamily="49" charset="-122"/>
              </a:rPr>
              <a:t>       i=10; </a:t>
            </a:r>
            <a:endParaRPr lang="en-US" altLang="zh-CN" sz="200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3" indent="0"/>
            <a:r>
              <a:rPr lang="en-US" altLang="zh-CN" sz="2000">
                <a:latin typeface="Arial" panose="020B0604020202020204" pitchFamily="34" charset="0"/>
                <a:ea typeface="隶书" panose="02010509060101010101" pitchFamily="49" charset="-122"/>
              </a:rPr>
              <a:t>       f=i;</a:t>
            </a:r>
            <a:endParaRPr lang="en-US" altLang="zh-CN" sz="200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3" indent="0"/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则</a:t>
            </a:r>
            <a:r>
              <a:rPr lang="zh-CN" altLang="en-US" sz="2000" dirty="0">
                <a:latin typeface="Arial" panose="020B0604020202020204" pitchFamily="34" charset="0"/>
                <a:ea typeface="隶书" panose="02010509060101010101" pitchFamily="49" charset="-122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f=10.0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7" name="文本框 82966"/>
          <p:cNvSpPr txBox="1"/>
          <p:nvPr/>
        </p:nvSpPr>
        <p:spPr>
          <a:xfrm>
            <a:off x="3957638" y="2528888"/>
            <a:ext cx="2722562" cy="70643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 sz="2000" err="1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i; 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i=2.56;    //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结果</a:t>
            </a:r>
            <a:r>
              <a:rPr lang="en-US" altLang="zh-CN" sz="20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i=2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8" name="文本框 82967"/>
          <p:cNvSpPr txBox="1"/>
          <p:nvPr/>
        </p:nvSpPr>
        <p:spPr>
          <a:xfrm>
            <a:off x="2628900" y="3481388"/>
            <a:ext cx="7191375" cy="147796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:   a=b=c=5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  a=(b=5)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  a=5+(c=6)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  a=(b=4)+(c=6)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  a=(b=10)/(c=2)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2981" name="文本框 82980"/>
          <p:cNvSpPr txBox="1"/>
          <p:nvPr/>
        </p:nvSpPr>
        <p:spPr>
          <a:xfrm>
            <a:off x="5414963" y="3525838"/>
            <a:ext cx="30368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表达式值为</a:t>
            </a:r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a,b,c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值为</a:t>
            </a:r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2982" name="文本框 82981"/>
          <p:cNvSpPr txBox="1"/>
          <p:nvPr/>
        </p:nvSpPr>
        <p:spPr>
          <a:xfrm>
            <a:off x="5357813" y="3811588"/>
            <a:ext cx="13223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 b=5;a=5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2983" name="文本框 82982"/>
          <p:cNvSpPr txBox="1"/>
          <p:nvPr/>
        </p:nvSpPr>
        <p:spPr>
          <a:xfrm>
            <a:off x="5357813" y="4135438"/>
            <a:ext cx="26939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表达式值</a:t>
            </a:r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11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c=6,a=11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2984" name="文本框 82983"/>
          <p:cNvSpPr txBox="1"/>
          <p:nvPr/>
        </p:nvSpPr>
        <p:spPr>
          <a:xfrm>
            <a:off x="5510213" y="4573588"/>
            <a:ext cx="31511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表达式值</a:t>
            </a:r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a=10,b=4,c=6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2985" name="文本框 82984"/>
          <p:cNvSpPr txBox="1"/>
          <p:nvPr/>
        </p:nvSpPr>
        <p:spPr>
          <a:xfrm>
            <a:off x="5795963" y="4935538"/>
            <a:ext cx="30368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表达式值</a:t>
            </a:r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a=5,b=10,c=2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22926" name="标题 82992"/>
          <p:cNvSpPr>
            <a:spLocks noGrp="1"/>
          </p:cNvSpPr>
          <p:nvPr>
            <p:ph type="title"/>
          </p:nvPr>
        </p:nvSpPr>
        <p:spPr>
          <a:xfrm>
            <a:off x="2420938" y="1016000"/>
            <a:ext cx="2422525" cy="5461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18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说明（</a:t>
            </a:r>
            <a:r>
              <a:rPr lang="en-US" altLang="zh-CN" sz="18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）：</a:t>
            </a:r>
            <a:endParaRPr lang="zh-CN" altLang="en-US" sz="1800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22927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22928" name="文本占位符 121858"/>
          <p:cNvSpPr>
            <a:spLocks noGrp="1"/>
          </p:cNvSpPr>
          <p:nvPr/>
        </p:nvSpPr>
        <p:spPr>
          <a:xfrm>
            <a:off x="1187450" y="774700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）赋值运算符和表达式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294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charRg st="1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2946">
                                            <p:txEl>
                                              <p:charRg st="1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2946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2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296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2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29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296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296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82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1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82981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8298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8298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8298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8298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bldLvl="5" build="p"/>
      <p:bldP spid="82964" grpId="0" bldLvl="5" build="p"/>
      <p:bldP spid="82962" grpId="0" bldLvl="5" build="p"/>
      <p:bldP spid="82963" grpId="0" bldLvl="0" animBg="1"/>
      <p:bldP spid="82966" grpId="0" bldLvl="0" animBg="1"/>
      <p:bldP spid="82967" grpId="0" bldLvl="0" animBg="1"/>
      <p:bldP spid="82968" grpId="0" bldLvl="0" animBg="1"/>
      <p:bldP spid="82981" grpId="0" build="p"/>
      <p:bldP spid="82982" grpId="0" build="p"/>
      <p:bldP spid="82983" grpId="0" build="p"/>
      <p:bldP spid="82984" grpId="0" build="p"/>
      <p:bldP spid="82985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393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6130" name="矩形 176129"/>
          <p:cNvSpPr/>
          <p:nvPr/>
        </p:nvSpPr>
        <p:spPr>
          <a:xfrm>
            <a:off x="2114550" y="866775"/>
            <a:ext cx="7772400" cy="1227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>
              <a:buBlip>
                <a:blip r:embed="rId1"/>
              </a:buBlip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结合方向：</a:t>
            </a:r>
            <a:r>
              <a:rPr lang="zh-CN" altLang="en-US" sz="2000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自右向左</a:t>
            </a:r>
            <a:endParaRPr lang="zh-CN" altLang="en-US" sz="2000" dirty="0">
              <a:solidFill>
                <a:srgbClr val="3333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>
              <a:buBlip>
                <a:blip r:embed="rId1"/>
              </a:buBlip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  优先级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:   </a:t>
            </a:r>
            <a:r>
              <a:rPr lang="en-US" altLang="zh-CN" sz="200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12</a:t>
            </a:r>
            <a:endParaRPr lang="en-US" altLang="zh-CN" sz="2000">
              <a:solidFill>
                <a:schemeClr val="folHlink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>
              <a:buBlip>
                <a:blip r:embed="rId1"/>
              </a:buBlip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左侧必须是变量，不能是常量或表达式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6131" name="矩形 176130"/>
          <p:cNvSpPr/>
          <p:nvPr/>
        </p:nvSpPr>
        <p:spPr>
          <a:xfrm>
            <a:off x="2071688" y="2641600"/>
            <a:ext cx="7772400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赋值表达式的值与变量值相等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且可嵌套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6132" name="矩形 176131"/>
          <p:cNvSpPr/>
          <p:nvPr/>
        </p:nvSpPr>
        <p:spPr>
          <a:xfrm>
            <a:off x="2071688" y="1862138"/>
            <a:ext cx="8043862" cy="7794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赋值转换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规则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使赋值号右边表达式值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自动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转换成其左边变量的类型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6137" name="文本框 176136"/>
          <p:cNvSpPr txBox="1"/>
          <p:nvPr/>
        </p:nvSpPr>
        <p:spPr>
          <a:xfrm>
            <a:off x="2900363" y="3201988"/>
            <a:ext cx="7210425" cy="64611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:  a=12;    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 a+=a-=a*a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6139" name="文本框 176138"/>
          <p:cNvSpPr txBox="1"/>
          <p:nvPr/>
        </p:nvSpPr>
        <p:spPr>
          <a:xfrm>
            <a:off x="1804988" y="4344988"/>
            <a:ext cx="8524875" cy="92392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r>
              <a:rPr lang="en-US" altLang="zh-CN" err="1">
                <a:latin typeface="隶书" panose="02010509060101010101" pitchFamily="49" charset="-122"/>
                <a:ea typeface="隶书" panose="02010509060101010101" pitchFamily="49" charset="-122"/>
              </a:rPr>
              <a:t>:  int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a=2;  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 a%=4-1;  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 a+=a*=a-=a*=3;  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6148" name="文本框 176147"/>
          <p:cNvSpPr txBox="1"/>
          <p:nvPr/>
        </p:nvSpPr>
        <p:spPr>
          <a:xfrm>
            <a:off x="5338763" y="3582988"/>
            <a:ext cx="3608387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//a=-264 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等价于</a:t>
            </a:r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a=a+(a=a-(a*a))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6149" name="文本框 176148"/>
          <p:cNvSpPr txBox="1"/>
          <p:nvPr/>
        </p:nvSpPr>
        <p:spPr>
          <a:xfrm>
            <a:off x="4810125" y="5126038"/>
            <a:ext cx="4179888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//a=0 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等价于</a:t>
            </a:r>
            <a:r>
              <a:rPr lang="en-US" altLang="zh-CN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a=a+(a=a*(a=a-(a=a*3)))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23945" name="Text Box 5"/>
          <p:cNvSpPr txBox="1"/>
          <p:nvPr/>
        </p:nvSpPr>
        <p:spPr>
          <a:xfrm>
            <a:off x="766763" y="6350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23946" name="标题 82992"/>
          <p:cNvSpPr>
            <a:spLocks noGrp="1"/>
          </p:cNvSpPr>
          <p:nvPr/>
        </p:nvSpPr>
        <p:spPr>
          <a:xfrm>
            <a:off x="2071688" y="742950"/>
            <a:ext cx="2422525" cy="5461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说明（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）：</a:t>
            </a:r>
            <a:endParaRPr lang="zh-CN" altLang="en-US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614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761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/>
      <p:bldP spid="176131" grpId="0"/>
      <p:bldP spid="176132" grpId="0"/>
      <p:bldP spid="176137" grpId="0" bldLvl="0" animBg="1"/>
      <p:bldP spid="176139" grpId="0" bldLvl="0" animBg="1"/>
      <p:bldP spid="176148" grpId="0" build="p"/>
      <p:bldP spid="176149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496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24962" name="文本占位符 77825"/>
          <p:cNvSpPr>
            <a:spLocks noGrp="1"/>
          </p:cNvSpPr>
          <p:nvPr>
            <p:ph type="body"/>
          </p:nvPr>
        </p:nvSpPr>
        <p:spPr>
          <a:xfrm>
            <a:off x="2657475" y="784225"/>
            <a:ext cx="4359275" cy="898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编辑如下程序：</a:t>
            </a:r>
            <a:endParaRPr lang="zh-CN" altLang="en-US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24963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96269" name="文本占位符 121858"/>
          <p:cNvSpPr>
            <a:spLocks noGrp="1"/>
          </p:cNvSpPr>
          <p:nvPr/>
        </p:nvSpPr>
        <p:spPr>
          <a:xfrm>
            <a:off x="1187450" y="784225"/>
            <a:ext cx="344170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练习：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3025775" y="1581150"/>
            <a:ext cx="6527800" cy="314007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#include &lt;stdio.h&gt;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int main()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{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int 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i,j m,n</a:t>
            </a:r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i=8;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j=10;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m=++i;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n=j++;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printf(“%d,%d,%d,%d”, i , j , m , n 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return 0;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}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5018088" y="1860550"/>
            <a:ext cx="5332412" cy="2860675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）运行程序，记录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m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各变量的值。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）将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行改为下面所示，再运行，记录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m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各变量的值。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m=i++;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n=++j 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(3)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将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语句改为：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printf(“%d,%d,%d”, i , j ,i++, j++);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运行程序，记录输出结果。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18088" y="1581150"/>
            <a:ext cx="6178550" cy="378460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 （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）再修改程序如下，运行程序记录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j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m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、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n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各变量的值。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#include &lt;stdio.h&gt;</a:t>
            </a:r>
            <a:endParaRPr lang="zh-CN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 int main()</a:t>
            </a:r>
            <a:endParaRPr lang="zh-CN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{</a:t>
            </a:r>
            <a:endParaRPr lang="zh-CN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  int </a:t>
            </a:r>
            <a:r>
              <a:rPr lang="en-US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i,j m=0,n=0</a:t>
            </a:r>
            <a:r>
              <a:rPr lang="zh-CN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;</a:t>
            </a:r>
            <a:endParaRPr lang="zh-CN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i=8;</a:t>
            </a:r>
            <a:endParaRPr lang="en-US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  j=10;</a:t>
            </a:r>
            <a:endParaRPr lang="en-US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  m+=i++;  n-= -- j;</a:t>
            </a:r>
            <a:endParaRPr lang="en-US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  printf(“i=%d,j=%d,m=%d,n=%d”, i , j , m , n );</a:t>
            </a:r>
            <a:endParaRPr lang="en-US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  return 0;</a:t>
            </a:r>
            <a:endParaRPr lang="zh-CN" altLang="zh-CN" sz="2000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 sz="2000">
                <a:latin typeface="Calibri" panose="020F050202020403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}</a:t>
            </a:r>
            <a:r>
              <a:rPr lang="en-US" altLang="zh-CN" sz="2000">
                <a:latin typeface="Verdana" panose="020B0604030504040204" pitchFamily="34" charset="0"/>
                <a:ea typeface="隶书" panose="02010509060101010101" pitchFamily="49" charset="-122"/>
                <a:sym typeface="宋体" panose="02010600030101010101" pitchFamily="2" charset="-122"/>
              </a:rPr>
              <a:t>  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9" grpId="0"/>
      <p:bldP spid="96269" grpId="1"/>
      <p:bldP spid="424962" grpId="1" build="p"/>
      <p:bldP spid="78854" grpId="0" bldLvl="0" animBg="1"/>
      <p:bldP spid="78854" grpId="1" animBg="1"/>
      <p:bldP spid="83999" grpId="0" bldLvl="0" animBg="1"/>
      <p:bldP spid="2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598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70" name="文本占位符 83969"/>
          <p:cNvSpPr>
            <a:spLocks noGrp="1"/>
          </p:cNvSpPr>
          <p:nvPr>
            <p:ph type="body"/>
          </p:nvPr>
        </p:nvSpPr>
        <p:spPr>
          <a:xfrm>
            <a:off x="2143125" y="774700"/>
            <a:ext cx="7772400" cy="2647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形式：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……</a:t>
            </a:r>
            <a:r>
              <a:rPr lang="zh-CN" altLang="en-US" dirty="0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endParaRPr lang="en-US" altLang="zh-CN">
              <a:solidFill>
                <a:srgbClr val="3333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结合性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从左向右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优先级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: </a:t>
            </a:r>
            <a:r>
              <a:rPr lang="en-US" altLang="zh-CN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15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逗号表达式的值：等于表达式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的值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用途：常用于循环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语句中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3973" name="文本框 83972"/>
          <p:cNvSpPr txBox="1"/>
          <p:nvPr/>
        </p:nvSpPr>
        <p:spPr>
          <a:xfrm>
            <a:off x="2005013" y="3051175"/>
            <a:ext cx="8396287" cy="233997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lvl="3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a=3*5,a*4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a=3*5,a*4,a+5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x=(a=3,6*3)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x=a=3,6*a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a=1;b=2;c=3;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  printf(“%d,%d,%d”,a,b,c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);  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  printf(“%d,%d,%d”,(a,b,c),b,c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);    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83984" name="文本框 83983"/>
          <p:cNvSpPr txBox="1"/>
          <p:nvPr/>
        </p:nvSpPr>
        <p:spPr>
          <a:xfrm>
            <a:off x="6577013" y="3013075"/>
            <a:ext cx="2008187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//a=15,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表达式值</a:t>
            </a:r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60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85" name="文本框 83984"/>
          <p:cNvSpPr txBox="1"/>
          <p:nvPr/>
        </p:nvSpPr>
        <p:spPr>
          <a:xfrm>
            <a:off x="6519863" y="3355975"/>
            <a:ext cx="2008187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//a=15,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表达式值</a:t>
            </a:r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20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86" name="文本框 83985"/>
          <p:cNvSpPr txBox="1"/>
          <p:nvPr/>
        </p:nvSpPr>
        <p:spPr>
          <a:xfrm>
            <a:off x="5670550" y="3813175"/>
            <a:ext cx="3544888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赋值表达式，表达式值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18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x=18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87" name="文本框 83986"/>
          <p:cNvSpPr txBox="1"/>
          <p:nvPr/>
        </p:nvSpPr>
        <p:spPr>
          <a:xfrm>
            <a:off x="5967413" y="4232275"/>
            <a:ext cx="3086100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逗号表达式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表达式值</a:t>
            </a:r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18,x=3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88" name="文本框 83987"/>
          <p:cNvSpPr txBox="1"/>
          <p:nvPr/>
        </p:nvSpPr>
        <p:spPr>
          <a:xfrm>
            <a:off x="8577263" y="4860925"/>
            <a:ext cx="815975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//1,2,3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89" name="文本框 83988"/>
          <p:cNvSpPr txBox="1"/>
          <p:nvPr/>
        </p:nvSpPr>
        <p:spPr>
          <a:xfrm>
            <a:off x="8539163" y="5280025"/>
            <a:ext cx="815975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//3,2,3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4000" name="文本框 83999"/>
          <p:cNvSpPr txBox="1"/>
          <p:nvPr/>
        </p:nvSpPr>
        <p:spPr>
          <a:xfrm>
            <a:off x="1906588" y="2859088"/>
            <a:ext cx="8761412" cy="28606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98" name="文本框 83997"/>
          <p:cNvSpPr txBox="1"/>
          <p:nvPr/>
        </p:nvSpPr>
        <p:spPr>
          <a:xfrm>
            <a:off x="3086100" y="2990850"/>
            <a:ext cx="2147888" cy="258445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: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/*ch2_6.c*/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#include &lt;stdio.h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main()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{   int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x,y=7;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float z=4;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x=(y=y+6,y/z);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printf("x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=%d\n",x);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6076950" y="4398963"/>
            <a:ext cx="1870075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x=3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25997" name="组合 84000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425998" name="圆角矩形 84001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25999" name="组合 84002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26000" name="任意多边形 84003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6001" name="椭圆 84004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6002" name="椭圆 84005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26003" name="Text Box 5"/>
          <p:cNvSpPr txBox="1"/>
          <p:nvPr/>
        </p:nvSpPr>
        <p:spPr>
          <a:xfrm>
            <a:off x="700088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26004" name="文本占位符 121858"/>
          <p:cNvSpPr>
            <a:spLocks noGrp="1"/>
          </p:cNvSpPr>
          <p:nvPr/>
        </p:nvSpPr>
        <p:spPr>
          <a:xfrm>
            <a:off x="1187450" y="774700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）逗号运算符和表达式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charRg st="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0">
                                            <p:txEl>
                                              <p:charRg st="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0">
                                            <p:txEl>
                                              <p:charRg st="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charRg st="2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3970">
                                            <p:txEl>
                                              <p:charRg st="2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970">
                                            <p:txEl>
                                              <p:charRg st="2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charRg st="3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3970">
                                            <p:txEl>
                                              <p:charRg st="3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3970">
                                            <p:txEl>
                                              <p:charRg st="3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charRg st="3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3970">
                                            <p:txEl>
                                              <p:charRg st="3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3970">
                                            <p:txEl>
                                              <p:charRg st="3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charRg st="5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970">
                                            <p:txEl>
                                              <p:charRg st="5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3970">
                                            <p:txEl>
                                              <p:charRg st="5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398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398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8398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8398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83988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8398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8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bldLvl="3" build="p"/>
      <p:bldP spid="83973" grpId="0" bldLvl="0" animBg="1"/>
      <p:bldP spid="83984" grpId="0" build="p"/>
      <p:bldP spid="83985" grpId="0" build="p"/>
      <p:bldP spid="83986" grpId="0" build="p"/>
      <p:bldP spid="83987" grpId="0" build="p"/>
      <p:bldP spid="83988" grpId="0" build="p"/>
      <p:bldP spid="83989" grpId="0" build="p"/>
      <p:bldP spid="84000" grpId="0" bldLvl="0" animBg="1"/>
      <p:bldP spid="83998" grpId="0" bldLvl="0" animBg="1"/>
      <p:bldP spid="83999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700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98" name="文本框 83997"/>
          <p:cNvSpPr txBox="1"/>
          <p:nvPr/>
        </p:nvSpPr>
        <p:spPr>
          <a:xfrm>
            <a:off x="2566988" y="1593850"/>
            <a:ext cx="7491412" cy="286067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）  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240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Arial Black" panose="020B0A04020102020204" charset="0"/>
                <a:ea typeface="微软雅黑 Light" panose="020B0502040204020203" charset="-122"/>
              </a:rPr>
              <a:t>，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 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endParaRPr lang="en-US" altLang="zh-CN" sz="2400" u="sng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） 变量 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= 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（ 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1  </a:t>
            </a:r>
            <a:r>
              <a:rPr lang="zh-CN" altLang="en-US" sz="240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2  </a:t>
            </a:r>
            <a:r>
              <a:rPr lang="zh-CN" altLang="en-US" sz="240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endParaRPr lang="zh-CN" altLang="en-US" sz="24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endParaRPr lang="zh-CN" altLang="en-US" sz="24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） 变量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=  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1  </a:t>
            </a:r>
            <a:r>
              <a:rPr lang="zh-CN" altLang="en-US" sz="240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2 </a:t>
            </a:r>
            <a:r>
              <a:rPr lang="zh-CN" altLang="en-US" sz="240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</a:rPr>
              <a:t>表达式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endParaRPr lang="en-US" altLang="zh-CN" sz="24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endParaRPr lang="en-US" altLang="zh-CN" sz="24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427011" name="组合 84000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427012" name="圆角矩形 84001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27013" name="组合 84002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27014" name="任意多边形 84003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7015" name="椭圆 84004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7016" name="椭圆 84005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27017" name="Text Box 5"/>
          <p:cNvSpPr txBox="1"/>
          <p:nvPr/>
        </p:nvSpPr>
        <p:spPr>
          <a:xfrm>
            <a:off x="700088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27018" name="文本占位符 121858"/>
          <p:cNvSpPr>
            <a:spLocks noGrp="1"/>
          </p:cNvSpPr>
          <p:nvPr/>
        </p:nvSpPr>
        <p:spPr>
          <a:xfrm>
            <a:off x="1187450" y="774700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）逗号运算符和表达式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3532188" y="2200275"/>
            <a:ext cx="1138238" cy="95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4940300" y="2181225"/>
            <a:ext cx="1138238" cy="95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6537325" y="2190750"/>
            <a:ext cx="1138238" cy="95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4819650" y="2728913"/>
            <a:ext cx="1138238" cy="1111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6378575" y="2740025"/>
            <a:ext cx="1136650" cy="95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7945438" y="2719388"/>
            <a:ext cx="1138238" cy="95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4519613" y="3827463"/>
            <a:ext cx="1138238" cy="95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6078538" y="3836988"/>
            <a:ext cx="1138238" cy="1111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515225" y="3836988"/>
            <a:ext cx="1138238" cy="1111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27028" name="任意多边形 15"/>
          <p:cNvSpPr/>
          <p:nvPr/>
        </p:nvSpPr>
        <p:spPr>
          <a:xfrm>
            <a:off x="3797300" y="2755900"/>
            <a:ext cx="4856163" cy="534988"/>
          </a:xfrm>
          <a:custGeom>
            <a:avLst/>
            <a:gdLst/>
            <a:ahLst/>
            <a:cxnLst>
              <a:cxn ang="0">
                <a:pos x="4855845" y="81472"/>
              </a:cxn>
              <a:cxn ang="0">
                <a:pos x="2270142" y="535226"/>
              </a:cxn>
              <a:cxn ang="0">
                <a:pos x="212756" y="49208"/>
              </a:cxn>
              <a:cxn ang="0">
                <a:pos x="153067" y="38225"/>
              </a:cxn>
            </a:cxnLst>
            <a:pathLst>
              <a:path w="4855878" h="495171">
                <a:moveTo>
                  <a:pt x="4855878" y="75364"/>
                </a:moveTo>
                <a:cubicBezTo>
                  <a:pt x="4379628" y="168074"/>
                  <a:pt x="3198528" y="500814"/>
                  <a:pt x="2270158" y="495099"/>
                </a:cubicBezTo>
                <a:cubicBezTo>
                  <a:pt x="1341788" y="489384"/>
                  <a:pt x="636303" y="137594"/>
                  <a:pt x="212758" y="45519"/>
                </a:cubicBezTo>
                <a:cubicBezTo>
                  <a:pt x="-210786" y="-46555"/>
                  <a:pt x="123858" y="28374"/>
                  <a:pt x="153068" y="35359"/>
                </a:cubicBezTo>
              </a:path>
            </a:pathLst>
          </a:cu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27029" name="任意多边形 17"/>
          <p:cNvSpPr/>
          <p:nvPr/>
        </p:nvSpPr>
        <p:spPr>
          <a:xfrm>
            <a:off x="3797300" y="3836988"/>
            <a:ext cx="1473200" cy="338137"/>
          </a:xfrm>
          <a:custGeom>
            <a:avLst/>
            <a:gdLst/>
            <a:ahLst/>
            <a:cxnLst>
              <a:cxn ang="0">
                <a:pos x="1472565" y="51512"/>
              </a:cxn>
              <a:cxn ang="0">
                <a:pos x="688434" y="338405"/>
              </a:cxn>
              <a:cxn ang="0">
                <a:pos x="64519" y="31112"/>
              </a:cxn>
              <a:cxn ang="0">
                <a:pos x="46418" y="24168"/>
              </a:cxn>
            </a:cxnLst>
            <a:pathLst>
              <a:path w="4855878" h="495172">
                <a:moveTo>
                  <a:pt x="4855878" y="75364"/>
                </a:moveTo>
                <a:cubicBezTo>
                  <a:pt x="4379628" y="168074"/>
                  <a:pt x="3198528" y="500814"/>
                  <a:pt x="2270158" y="495099"/>
                </a:cubicBezTo>
                <a:cubicBezTo>
                  <a:pt x="1341788" y="489384"/>
                  <a:pt x="636303" y="137594"/>
                  <a:pt x="212758" y="45519"/>
                </a:cubicBezTo>
                <a:cubicBezTo>
                  <a:pt x="-210787" y="-46556"/>
                  <a:pt x="123858" y="28374"/>
                  <a:pt x="153068" y="35359"/>
                </a:cubicBezTo>
              </a:path>
            </a:pathLst>
          </a:cu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98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803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3970" name="文本占位符 83969"/>
          <p:cNvSpPr>
            <a:spLocks noGrp="1"/>
          </p:cNvSpPr>
          <p:nvPr>
            <p:ph type="body" idx="4294967295"/>
          </p:nvPr>
        </p:nvSpPr>
        <p:spPr>
          <a:xfrm>
            <a:off x="2047875" y="635000"/>
            <a:ext cx="7772400" cy="2647950"/>
          </a:xfrm>
          <a:prstGeom prst="rect">
            <a:avLst/>
          </a:prstGeom>
          <a:noFill/>
          <a:ln w="9525" cap="flat" cmpd="sng" algn="ctr">
            <a:noFill/>
            <a:prstDash val="solid"/>
          </a:ln>
        </p:spPr>
        <p:txBody>
          <a:bodyPr anchor="t"/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运算符</a:t>
            </a:r>
            <a:r>
              <a:rPr kumimoji="0" lang="en-US" altLang="zh-CN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sizeof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用于计算数据类型所占字节数，它是一个单目运算符，优先级高于双目运算符。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一般格式为：  </a:t>
            </a:r>
            <a:r>
              <a:rPr kumimoji="0" lang="en-US" altLang="zh-CN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sizeof(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表达式）或 </a:t>
            </a:r>
            <a:r>
              <a:rPr kumimoji="0" lang="en-US" altLang="zh-CN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sizeof 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表达式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                         </a:t>
            </a:r>
            <a:r>
              <a:rPr kumimoji="0" lang="en-US" altLang="zh-CN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sizeof(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数据类型名）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428035" name="组合 84000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428036" name="圆角矩形 84001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28037" name="组合 84002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28038" name="任意多边形 84003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8039" name="椭圆 84004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8040" name="椭圆 84005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28041" name="Text Box 5"/>
          <p:cNvSpPr txBox="1"/>
          <p:nvPr/>
        </p:nvSpPr>
        <p:spPr>
          <a:xfrm>
            <a:off x="700088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28042" name="文本占位符 121858"/>
          <p:cNvSpPr>
            <a:spLocks noGrp="1"/>
          </p:cNvSpPr>
          <p:nvPr/>
        </p:nvSpPr>
        <p:spPr>
          <a:xfrm>
            <a:off x="1168400" y="774700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）求字节数运算符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2987675" y="3282950"/>
            <a:ext cx="6527800" cy="28622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#include &lt;stdio.h&gt;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int main()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{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printf(“char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类型占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%d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字节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\n”, sizeof(char));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printf(“shor int 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类型占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%d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字节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\n”,sizeof(short int));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printf(“int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类型占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%d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字节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\n”, sizeof(int));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printf(“float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类型占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%d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字节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\n”, sizeof(float));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printf(“double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类型占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%d</a:t>
            </a:r>
            <a:r>
              <a:rPr lang="zh-CN" altLang="en-US">
                <a:latin typeface="Calibri" panose="020F0502020204030204" pitchFamily="34" charset="0"/>
                <a:ea typeface="隶书" panose="02010509060101010101" pitchFamily="49" charset="-122"/>
              </a:rPr>
              <a:t>字节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\n”, sizeof(double));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return 0;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}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charRg st="1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3970">
                                            <p:txEl>
                                              <p:charRg st="1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charRg st="46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3970">
                                            <p:txEl>
                                              <p:charRg st="46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charRg st="78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3970">
                                            <p:txEl>
                                              <p:charRg st="78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 bldLvl="0" animBg="1"/>
      <p:bldP spid="78854" grpId="1" animBg="1"/>
      <p:bldP spid="83970" grpId="0" build="p"/>
      <p:bldP spid="83970" grpI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905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429058" name="组合 84000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429059" name="圆角矩形 84001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29060" name="组合 84002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29061" name="任意多边形 84003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9062" name="椭圆 84004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9063" name="椭圆 84005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29064" name="Text Box 5"/>
          <p:cNvSpPr txBox="1"/>
          <p:nvPr/>
        </p:nvSpPr>
        <p:spPr>
          <a:xfrm>
            <a:off x="700088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29065" name="文本占位符 121858"/>
          <p:cNvSpPr>
            <a:spLocks noGrp="1"/>
          </p:cNvSpPr>
          <p:nvPr/>
        </p:nvSpPr>
        <p:spPr>
          <a:xfrm>
            <a:off x="1168400" y="774700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）求字节数运算符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2430463" y="1590675"/>
            <a:ext cx="6527800" cy="258603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#include &lt;stdio.h&gt;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int main()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{</a:t>
            </a:r>
            <a:endParaRPr lang="zh-CN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  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int a,b;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a=sizeof(3+5.0);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b=sizeof 3+5.0;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printf(“%d,%d,%d\\”,a,b,sizeof(“china”));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return 0;</a:t>
            </a:r>
            <a:endParaRPr lang="en-US" altLang="zh-CN"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隶书" panose="02010509060101010101" pitchFamily="49" charset="-122"/>
              </a:rPr>
              <a:t>}</a:t>
            </a:r>
            <a:r>
              <a:rPr lang="en-US" altLang="zh-CN">
                <a:latin typeface="Verdana" panose="020B0604030504040204" pitchFamily="34" charset="0"/>
                <a:ea typeface="隶书" panose="02010509060101010101" pitchFamily="49" charset="-122"/>
              </a:rPr>
              <a:t>  </a:t>
            </a:r>
            <a:endParaRPr lang="en-US" altLang="zh-CN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6626225" y="4429125"/>
            <a:ext cx="2017713" cy="40005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8,9,6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 bldLvl="0" animBg="1"/>
      <p:bldP spid="78854" grpId="1" animBg="1"/>
      <p:bldP spid="83999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8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8932" name="文本占位符 38931"/>
          <p:cNvSpPr>
            <a:spLocks noGrp="1"/>
          </p:cNvSpPr>
          <p:nvPr>
            <p:ph type="body"/>
          </p:nvPr>
        </p:nvSpPr>
        <p:spPr>
          <a:xfrm>
            <a:off x="1800225" y="774700"/>
            <a:ext cx="7772400" cy="2020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关系运算符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种类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r>
              <a:rPr lang="en-US" altLang="zh-CN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&lt;  &lt;=   ==   &gt;=   &gt;    !=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结合方向：自左向右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优先级别：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38924" name="组合 38923"/>
          <p:cNvGrpSpPr/>
          <p:nvPr/>
        </p:nvGrpSpPr>
        <p:grpSpPr>
          <a:xfrm>
            <a:off x="7219950" y="876300"/>
            <a:ext cx="3052763" cy="2160588"/>
            <a:chOff x="2208" y="1536"/>
            <a:chExt cx="1923" cy="1361"/>
          </a:xfrm>
        </p:grpSpPr>
        <p:grpSp>
          <p:nvGrpSpPr>
            <p:cNvPr id="430084" name="组合 38926"/>
            <p:cNvGrpSpPr/>
            <p:nvPr/>
          </p:nvGrpSpPr>
          <p:grpSpPr>
            <a:xfrm>
              <a:off x="2208" y="1536"/>
              <a:ext cx="1923" cy="1361"/>
              <a:chOff x="2208" y="1536"/>
              <a:chExt cx="1923" cy="1361"/>
            </a:xfrm>
          </p:grpSpPr>
          <p:sp>
            <p:nvSpPr>
              <p:cNvPr id="430085" name="矩形 38930"/>
              <p:cNvSpPr/>
              <p:nvPr/>
            </p:nvSpPr>
            <p:spPr>
              <a:xfrm>
                <a:off x="2208" y="1536"/>
                <a:ext cx="1923" cy="1361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4000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086" name="文本框 38929"/>
              <p:cNvSpPr txBox="1"/>
              <p:nvPr/>
            </p:nvSpPr>
            <p:spPr>
              <a:xfrm>
                <a:off x="2383" y="1536"/>
                <a:ext cx="274" cy="122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&lt;</a:t>
                </a:r>
                <a:endParaRPr lang="en-US" altLang="zh-CN" sz="2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&lt;=</a:t>
                </a:r>
                <a:endParaRPr lang="en-US" altLang="zh-CN" sz="2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&gt;</a:t>
                </a:r>
                <a:endParaRPr lang="en-US" altLang="zh-CN" sz="2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&gt;=</a:t>
                </a:r>
                <a:endParaRPr lang="en-US" altLang="zh-CN" sz="2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==</a:t>
                </a:r>
                <a:endParaRPr lang="en-US" altLang="zh-CN" sz="2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Calibri" panose="020F0502020204030204" pitchFamily="34" charset="0"/>
                    <a:ea typeface="宋体" panose="02010600030101010101" pitchFamily="2" charset="-122"/>
                  </a:rPr>
                  <a:t>!=</a:t>
                </a:r>
                <a:endParaRPr lang="en-US" altLang="zh-CN" sz="400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087" name="右大括号 38928"/>
              <p:cNvSpPr/>
              <p:nvPr/>
            </p:nvSpPr>
            <p:spPr>
              <a:xfrm>
                <a:off x="2836" y="1675"/>
                <a:ext cx="47" cy="600"/>
              </a:xfrm>
              <a:prstGeom prst="rightBrace">
                <a:avLst>
                  <a:gd name="adj1" fmla="val 105791"/>
                  <a:gd name="adj2" fmla="val 50000"/>
                </a:avLst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088" name="右大括号 38927"/>
              <p:cNvSpPr/>
              <p:nvPr/>
            </p:nvSpPr>
            <p:spPr>
              <a:xfrm>
                <a:off x="2836" y="2402"/>
                <a:ext cx="47" cy="344"/>
              </a:xfrm>
              <a:prstGeom prst="rightBrace">
                <a:avLst>
                  <a:gd name="adj1" fmla="val 60654"/>
                  <a:gd name="adj2" fmla="val 50000"/>
                </a:avLst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0089" name="文本框 38925"/>
            <p:cNvSpPr txBox="1"/>
            <p:nvPr/>
          </p:nvSpPr>
          <p:spPr>
            <a:xfrm>
              <a:off x="2883" y="1825"/>
              <a:ext cx="1164" cy="2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优先级</a:t>
              </a:r>
              <a:r>
                <a:rPr lang="en-US" altLang="zh-CN" sz="2000" dirty="0">
                  <a:latin typeface="微软雅黑 Light" panose="020B0502040204020203" charset="-122"/>
                  <a:ea typeface="微软雅黑 Light" panose="020B0502040204020203" charset="-122"/>
                </a:rPr>
                <a:t>6</a:t>
              </a:r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（高）</a:t>
              </a:r>
              <a:endParaRPr lang="zh-CN" altLang="en-US" sz="4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0090" name="文本框 38924"/>
            <p:cNvSpPr txBox="1"/>
            <p:nvPr/>
          </p:nvSpPr>
          <p:spPr>
            <a:xfrm>
              <a:off x="2883" y="2413"/>
              <a:ext cx="1162" cy="2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优先级</a:t>
              </a:r>
              <a:r>
                <a:rPr lang="en-US" altLang="zh-CN" sz="2000" dirty="0">
                  <a:latin typeface="微软雅黑 Light" panose="020B0502040204020203" charset="-122"/>
                  <a:ea typeface="微软雅黑 Light" panose="020B0502040204020203" charset="-122"/>
                </a:rPr>
                <a:t>7</a:t>
              </a:r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（低）</a:t>
              </a:r>
              <a:endParaRPr lang="zh-CN" altLang="en-US" sz="4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sp>
        <p:nvSpPr>
          <p:cNvPr id="38923" name="文本框 38922"/>
          <p:cNvSpPr txBox="1"/>
          <p:nvPr/>
        </p:nvSpPr>
        <p:spPr>
          <a:xfrm>
            <a:off x="2508250" y="2112963"/>
            <a:ext cx="4598988" cy="163195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lvl="3" indent="0"/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</a:rPr>
              <a:t>例   </a:t>
            </a:r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c&gt;a+b    //c&gt;(a+b)</a:t>
            </a:r>
            <a:endParaRPr lang="en-US" altLang="zh-CN" sz="200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3" indent="0"/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     a&gt;b!=c  //(a&gt;b)!=c</a:t>
            </a:r>
            <a:endParaRPr lang="en-US" altLang="zh-CN" sz="200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3" indent="0"/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     a==b&lt;c   //a==(b&lt;c)</a:t>
            </a:r>
            <a:endParaRPr lang="en-US" altLang="zh-CN" sz="200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3" indent="0"/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     a=b&gt;c     //a=(b&gt;c)</a:t>
            </a:r>
            <a:endParaRPr lang="en-US" altLang="zh-CN" sz="200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en-US" altLang="zh-CN" sz="20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8922" name="矩形 38921"/>
          <p:cNvSpPr/>
          <p:nvPr/>
        </p:nvSpPr>
        <p:spPr>
          <a:xfrm>
            <a:off x="1905000" y="3084513"/>
            <a:ext cx="8054975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关系表达式的值：是逻辑值“真”或“假”，用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表示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30099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0100" name="文本占位符 121858"/>
          <p:cNvSpPr>
            <a:spLocks noGrp="1"/>
          </p:cNvSpPr>
          <p:nvPr/>
        </p:nvSpPr>
        <p:spPr>
          <a:xfrm>
            <a:off x="1187450" y="774700"/>
            <a:ext cx="4083050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）关系运算符和表达式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3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3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>
                                            <p:txEl>
                                              <p:charRg st="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932">
                                            <p:txEl>
                                              <p:charRg st="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932">
                                            <p:txEl>
                                              <p:charRg st="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>
                                            <p:txEl>
                                              <p:charRg st="3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932">
                                            <p:txEl>
                                              <p:charRg st="3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932">
                                            <p:txEl>
                                              <p:charRg st="3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>
                                            <p:txEl>
                                              <p:charRg st="4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932">
                                            <p:txEl>
                                              <p:charRg st="4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932">
                                            <p:txEl>
                                              <p:charRg st="4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2" grpId="0" bldLvl="5" build="p"/>
      <p:bldP spid="38923" grpId="0" bldLvl="0" animBg="1"/>
      <p:bldP spid="389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1105" name="灯片编号占位符 1"/>
          <p:cNvSpPr/>
          <p:nvPr>
            <p:ph type="sldNum" sz="quarter"/>
          </p:nvPr>
        </p:nvSpPr>
        <p:spPr>
          <a:xfrm>
            <a:off x="8056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en-US" altLang="zh-CN" sz="1800" dirty="0">
                <a:latin typeface="Calibri" panose="020F0502020204030204" pitchFamily="34" charset="0"/>
              </a:rPr>
            </a:fld>
            <a:endParaRPr lang="en-US" altLang="zh-CN" sz="1800" dirty="0">
              <a:latin typeface="Calibri" panose="020F0502020204030204" pitchFamily="34" charset="0"/>
            </a:endParaRPr>
          </a:p>
        </p:txBody>
      </p:sp>
      <p:sp>
        <p:nvSpPr>
          <p:cNvPr id="110600" name="矩形 110599"/>
          <p:cNvSpPr/>
          <p:nvPr/>
        </p:nvSpPr>
        <p:spPr>
          <a:xfrm>
            <a:off x="3709988" y="2036763"/>
            <a:ext cx="4278312" cy="64611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 </a:t>
            </a:r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5&gt;2&gt;7&gt;8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在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中是允许的，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      值为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0599" name="文本框 110598"/>
          <p:cNvSpPr txBox="1"/>
          <p:nvPr/>
        </p:nvSpPr>
        <p:spPr>
          <a:xfrm>
            <a:off x="5033963" y="2393950"/>
            <a:ext cx="3206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0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10598" name="矩形 110597"/>
          <p:cNvSpPr/>
          <p:nvPr/>
        </p:nvSpPr>
        <p:spPr>
          <a:xfrm>
            <a:off x="3729038" y="3014663"/>
            <a:ext cx="3973512" cy="92233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   </a:t>
            </a:r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i=1, j=7,a; 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a=i+(j%4!=0);  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则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a=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0597" name="文本框 110596"/>
          <p:cNvSpPr txBox="1"/>
          <p:nvPr/>
        </p:nvSpPr>
        <p:spPr>
          <a:xfrm>
            <a:off x="5167313" y="3659188"/>
            <a:ext cx="3206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10596" name="文本框 110595"/>
          <p:cNvSpPr txBox="1"/>
          <p:nvPr/>
        </p:nvSpPr>
        <p:spPr>
          <a:xfrm>
            <a:off x="3719513" y="4279900"/>
            <a:ext cx="4867275" cy="64611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 ‘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a’&gt;0        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结果为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      ‘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A’&gt;100    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结果为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0595" name="文本框 110594"/>
          <p:cNvSpPr txBox="1"/>
          <p:nvPr/>
        </p:nvSpPr>
        <p:spPr>
          <a:xfrm>
            <a:off x="6405563" y="4211638"/>
            <a:ext cx="3206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1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10594" name="文本框 110593"/>
          <p:cNvSpPr txBox="1"/>
          <p:nvPr/>
        </p:nvSpPr>
        <p:spPr>
          <a:xfrm>
            <a:off x="6424613" y="4611688"/>
            <a:ext cx="3206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0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grpSp>
        <p:nvGrpSpPr>
          <p:cNvPr id="431115" name="组合 110607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431116" name="圆角矩形 110608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31117" name="组合 110609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31118" name="任意多边形 110610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1119" name="椭圆 110611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1120" name="椭圆 110612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31121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1122" name="标题 82992"/>
          <p:cNvSpPr>
            <a:spLocks noGrp="1"/>
          </p:cNvSpPr>
          <p:nvPr/>
        </p:nvSpPr>
        <p:spPr>
          <a:xfrm>
            <a:off x="1285875" y="684213"/>
            <a:ext cx="2422525" cy="5461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关系运算符注意（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）：</a:t>
            </a:r>
            <a:endParaRPr lang="zh-CN" altLang="en-US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59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059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059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059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0" grpId="0" bldLvl="0" animBg="1"/>
      <p:bldP spid="110599" grpId="0" build="p"/>
      <p:bldP spid="110598" grpId="0" bldLvl="0" animBg="1"/>
      <p:bldP spid="110597" grpId="0" build="p"/>
      <p:bldP spid="110596" grpId="0" bldLvl="0" animBg="1"/>
      <p:bldP spid="110595" grpId="0" build="p"/>
      <p:bldP spid="110594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212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4083" name="矩形 174082"/>
          <p:cNvSpPr/>
          <p:nvPr/>
        </p:nvSpPr>
        <p:spPr>
          <a:xfrm>
            <a:off x="2895600" y="2932113"/>
            <a:ext cx="4830763" cy="175577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例    注意区分“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=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与“</a:t>
            </a:r>
            <a:r>
              <a:rPr lang="en-US" altLang="zh-CN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==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    int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a=0,b=1;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if(a</a:t>
            </a:r>
            <a:r>
              <a:rPr lang="en-US" altLang="zh-CN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=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b)  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           printf(“a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equal  to  b”);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else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           printf(“a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not  equal  to  b”);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4084" name="矩形 174083"/>
          <p:cNvSpPr/>
          <p:nvPr/>
        </p:nvSpPr>
        <p:spPr>
          <a:xfrm>
            <a:off x="2838450" y="1179513"/>
            <a:ext cx="5383213" cy="133985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例   应避免对</a:t>
            </a: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实数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作相等或不等的判断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如   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1.0/3.0*3.0==1.0   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结果为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可改写为：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fabs(1.0/3.0*3.0-1.0)&lt;1e-6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4085" name="文本框 174084"/>
          <p:cNvSpPr txBox="1"/>
          <p:nvPr/>
        </p:nvSpPr>
        <p:spPr>
          <a:xfrm>
            <a:off x="6981825" y="1651000"/>
            <a:ext cx="3206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0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432133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2134" name="标题 82992"/>
          <p:cNvSpPr>
            <a:spLocks noGrp="1"/>
          </p:cNvSpPr>
          <p:nvPr/>
        </p:nvSpPr>
        <p:spPr>
          <a:xfrm>
            <a:off x="1285875" y="684213"/>
            <a:ext cx="2422525" cy="5461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关系运算符注意（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）：</a:t>
            </a:r>
            <a:endParaRPr lang="zh-CN" altLang="en-US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7408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>
                                            <p:txEl>
                                              <p:charRg st="2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4084">
                                            <p:txEl>
                                              <p:charRg st="20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>
                                            <p:txEl>
                                              <p:charRg st="48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4084">
                                            <p:txEl>
                                              <p:charRg st="48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408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ldLvl="0" animBg="1"/>
      <p:bldP spid="174084" grpId="0" animBg="1" build="p"/>
      <p:bldP spid="174085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315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33154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3155" name="标题 82992"/>
          <p:cNvSpPr>
            <a:spLocks noGrp="1"/>
          </p:cNvSpPr>
          <p:nvPr/>
        </p:nvSpPr>
        <p:spPr>
          <a:xfrm>
            <a:off x="1285875" y="684213"/>
            <a:ext cx="2422525" cy="5461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关系运算符注意</a:t>
            </a:r>
            <a:endParaRPr lang="zh-CN" altLang="en-US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28825" y="1555750"/>
            <a:ext cx="7994650" cy="217011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ctr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）注意区分运算符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“=”</a:t>
            </a: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“==”</a:t>
            </a: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“=”</a:t>
            </a: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是赋值运算符，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“==”</a:t>
            </a: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是关系运算符。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）对实数进行相等判断可能得不到正确的结果。</a:t>
            </a:r>
            <a:endParaRPr lang="zh-CN" altLang="en-US">
              <a:solidFill>
                <a:srgbClr val="FF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）关系表达式中可以出现赋值运算符。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关系运算符的优先级高于赋值运算符，表达式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”a&gt;(b=0)”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是正确的，但不能写成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“a&gt;b=0”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，它相当于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”(a&gt;b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=0“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，赋值运算符左边不是变量，会出现编译错误。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4177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34178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244600" y="708025"/>
            <a:ext cx="10074275" cy="51784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1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、分析运行结果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#include&lt;stdio.h&gt;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int main()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{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</a:t>
            </a:r>
            <a:r>
              <a:rPr 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char c='m'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int i=10, j=20, k=30;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float x=13e+5, y=10.85;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printf(“%d,%d, “, 'a'+5&lt;c , -i-2*j&gt;=k+1);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printf(“%d,%d, “, 1&lt;j&lt;5&lt;5,x-5.25&lt;=x+y);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printf(“%d,%d\n” ,i+j+k==-2*j ,k==j==i+5);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return 0;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}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26300" y="4826000"/>
            <a:ext cx="2651125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1,0,1,1,0,0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520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87103" name="组合 87102"/>
          <p:cNvGrpSpPr/>
          <p:nvPr/>
        </p:nvGrpSpPr>
        <p:grpSpPr>
          <a:xfrm>
            <a:off x="3295650" y="2051050"/>
            <a:ext cx="5867400" cy="2152650"/>
            <a:chOff x="1104" y="1284"/>
            <a:chExt cx="3696" cy="1356"/>
          </a:xfrm>
        </p:grpSpPr>
        <p:grpSp>
          <p:nvGrpSpPr>
            <p:cNvPr id="435203" name="组合 87061"/>
            <p:cNvGrpSpPr/>
            <p:nvPr/>
          </p:nvGrpSpPr>
          <p:grpSpPr>
            <a:xfrm>
              <a:off x="1104" y="1296"/>
              <a:ext cx="3696" cy="1344"/>
              <a:chOff x="1032" y="2784"/>
              <a:chExt cx="3924" cy="1344"/>
            </a:xfrm>
          </p:grpSpPr>
          <p:sp>
            <p:nvSpPr>
              <p:cNvPr id="435204" name="矩形 87056"/>
              <p:cNvSpPr/>
              <p:nvPr/>
            </p:nvSpPr>
            <p:spPr>
              <a:xfrm>
                <a:off x="1032" y="2784"/>
                <a:ext cx="3924" cy="1344"/>
              </a:xfrm>
              <a:prstGeom prst="rect">
                <a:avLst/>
              </a:prstGeom>
              <a:solidFill>
                <a:schemeClr val="bg1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5205" name="直接连接符 87057"/>
              <p:cNvSpPr/>
              <p:nvPr/>
            </p:nvSpPr>
            <p:spPr>
              <a:xfrm>
                <a:off x="1032" y="3036"/>
                <a:ext cx="392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5206" name="直接连接符 87058"/>
              <p:cNvSpPr/>
              <p:nvPr/>
            </p:nvSpPr>
            <p:spPr>
              <a:xfrm>
                <a:off x="1032" y="3304"/>
                <a:ext cx="392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5207" name="直接连接符 87059"/>
              <p:cNvSpPr/>
              <p:nvPr/>
            </p:nvSpPr>
            <p:spPr>
              <a:xfrm>
                <a:off x="1032" y="3572"/>
                <a:ext cx="392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5208" name="直接连接符 87060"/>
              <p:cNvSpPr/>
              <p:nvPr/>
            </p:nvSpPr>
            <p:spPr>
              <a:xfrm>
                <a:off x="1032" y="3840"/>
                <a:ext cx="392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5209" name="直接连接符 87062"/>
            <p:cNvSpPr/>
            <p:nvPr/>
          </p:nvSpPr>
          <p:spPr>
            <a:xfrm>
              <a:off x="1716" y="1284"/>
              <a:ext cx="1" cy="134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5210" name="直接连接符 87063"/>
            <p:cNvSpPr/>
            <p:nvPr/>
          </p:nvSpPr>
          <p:spPr>
            <a:xfrm>
              <a:off x="2331" y="1284"/>
              <a:ext cx="1" cy="134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5211" name="直接连接符 87064"/>
            <p:cNvSpPr/>
            <p:nvPr/>
          </p:nvSpPr>
          <p:spPr>
            <a:xfrm>
              <a:off x="2946" y="1284"/>
              <a:ext cx="1" cy="134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5212" name="直接连接符 87065"/>
            <p:cNvSpPr/>
            <p:nvPr/>
          </p:nvSpPr>
          <p:spPr>
            <a:xfrm>
              <a:off x="3561" y="1284"/>
              <a:ext cx="1" cy="134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5213" name="直接连接符 87066"/>
            <p:cNvSpPr/>
            <p:nvPr/>
          </p:nvSpPr>
          <p:spPr>
            <a:xfrm>
              <a:off x="4176" y="1284"/>
              <a:ext cx="1" cy="134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5214" name="文本框 87067"/>
            <p:cNvSpPr txBox="1"/>
            <p:nvPr/>
          </p:nvSpPr>
          <p:spPr>
            <a:xfrm>
              <a:off x="1323" y="1291"/>
              <a:ext cx="202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隶书" panose="02010509060101010101" pitchFamily="49" charset="-122"/>
                </a:rPr>
                <a:t>a</a:t>
              </a:r>
              <a:endParaRPr lang="en-US" altLang="zh-CN" sz="200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15" name="文本框 87068"/>
            <p:cNvSpPr txBox="1"/>
            <p:nvPr/>
          </p:nvSpPr>
          <p:spPr>
            <a:xfrm>
              <a:off x="1930" y="1291"/>
              <a:ext cx="202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隶书" panose="02010509060101010101" pitchFamily="49" charset="-122"/>
                </a:rPr>
                <a:t>b</a:t>
              </a:r>
              <a:endParaRPr lang="en-US" altLang="zh-CN" sz="200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16" name="文本框 87069"/>
            <p:cNvSpPr txBox="1"/>
            <p:nvPr/>
          </p:nvSpPr>
          <p:spPr>
            <a:xfrm>
              <a:off x="2537" y="1291"/>
              <a:ext cx="246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隶书" panose="02010509060101010101" pitchFamily="49" charset="-122"/>
                </a:rPr>
                <a:t>!a</a:t>
              </a:r>
              <a:endParaRPr lang="en-US" altLang="zh-CN" sz="200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17" name="文本框 87070"/>
            <p:cNvSpPr txBox="1"/>
            <p:nvPr/>
          </p:nvSpPr>
          <p:spPr>
            <a:xfrm>
              <a:off x="3144" y="1291"/>
              <a:ext cx="246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隶书" panose="02010509060101010101" pitchFamily="49" charset="-122"/>
                </a:rPr>
                <a:t>!b</a:t>
              </a:r>
              <a:endParaRPr lang="en-US" altLang="zh-CN" sz="200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18" name="文本框 87071"/>
            <p:cNvSpPr txBox="1"/>
            <p:nvPr/>
          </p:nvSpPr>
          <p:spPr>
            <a:xfrm>
              <a:off x="3655" y="1291"/>
              <a:ext cx="504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隶书" panose="02010509060101010101" pitchFamily="49" charset="-122"/>
                </a:rPr>
                <a:t>a&amp;&amp;b</a:t>
              </a:r>
              <a:endParaRPr lang="en-US" altLang="zh-CN" sz="200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19" name="文本框 87072"/>
            <p:cNvSpPr txBox="1"/>
            <p:nvPr/>
          </p:nvSpPr>
          <p:spPr>
            <a:xfrm>
              <a:off x="4299" y="1303"/>
              <a:ext cx="374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en-US" altLang="zh-CN" sz="2000">
                  <a:latin typeface="Arial" panose="020B0604020202020204" pitchFamily="34" charset="0"/>
                  <a:ea typeface="隶书" panose="02010509060101010101" pitchFamily="49" charset="-122"/>
                </a:rPr>
                <a:t>a||b</a:t>
              </a:r>
              <a:endParaRPr lang="en-US" altLang="zh-CN" sz="200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20" name="文本框 87073"/>
            <p:cNvSpPr txBox="1"/>
            <p:nvPr/>
          </p:nvSpPr>
          <p:spPr>
            <a:xfrm>
              <a:off x="1263" y="1510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21" name="文本框 87074"/>
            <p:cNvSpPr txBox="1"/>
            <p:nvPr/>
          </p:nvSpPr>
          <p:spPr>
            <a:xfrm>
              <a:off x="1875" y="17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22" name="文本框 87075"/>
            <p:cNvSpPr txBox="1"/>
            <p:nvPr/>
          </p:nvSpPr>
          <p:spPr>
            <a:xfrm>
              <a:off x="1875" y="1510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23" name="文本框 87081"/>
            <p:cNvSpPr txBox="1"/>
            <p:nvPr/>
          </p:nvSpPr>
          <p:spPr>
            <a:xfrm>
              <a:off x="1275" y="20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24" name="文本框 87084"/>
            <p:cNvSpPr txBox="1"/>
            <p:nvPr/>
          </p:nvSpPr>
          <p:spPr>
            <a:xfrm>
              <a:off x="1875" y="232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25" name="文本框 87085"/>
            <p:cNvSpPr txBox="1"/>
            <p:nvPr/>
          </p:nvSpPr>
          <p:spPr>
            <a:xfrm>
              <a:off x="1263" y="232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26" name="文本框 87090"/>
            <p:cNvSpPr txBox="1"/>
            <p:nvPr/>
          </p:nvSpPr>
          <p:spPr>
            <a:xfrm>
              <a:off x="1263" y="17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27" name="文本框 87091"/>
            <p:cNvSpPr txBox="1"/>
            <p:nvPr/>
          </p:nvSpPr>
          <p:spPr>
            <a:xfrm>
              <a:off x="1887" y="2086"/>
              <a:ext cx="274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sp>
        <p:nvSpPr>
          <p:cNvPr id="87042" name="文本占位符 87041"/>
          <p:cNvSpPr>
            <a:spLocks noGrp="1"/>
          </p:cNvSpPr>
          <p:nvPr>
            <p:ph type="body"/>
          </p:nvPr>
        </p:nvSpPr>
        <p:spPr>
          <a:xfrm>
            <a:off x="2143125" y="744538"/>
            <a:ext cx="7772400" cy="16525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逻辑运算符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种类：  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!  &amp;&amp;   ||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逻辑运算真值表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7049" name="矩形 87048"/>
          <p:cNvSpPr/>
          <p:nvPr/>
        </p:nvSpPr>
        <p:spPr>
          <a:xfrm>
            <a:off x="2286000" y="4481513"/>
            <a:ext cx="7772400" cy="1881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语言中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运算量</a:t>
            </a:r>
            <a:r>
              <a:rPr lang="en-US" altLang="zh-CN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表示“假”，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                 非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表示“真”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</a:t>
            </a:r>
            <a:r>
              <a:rPr lang="zh-CN" altLang="en-US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运算结果</a:t>
            </a:r>
            <a:r>
              <a:rPr lang="en-US" altLang="zh-CN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en-US" altLang="zh-CN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0</a:t>
            </a: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表示“假”，</a:t>
            </a:r>
            <a:endParaRPr lang="zh-CN" altLang="en-US" dirty="0">
              <a:solidFill>
                <a:srgbClr val="FF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   </a:t>
            </a:r>
            <a:r>
              <a:rPr lang="en-US" altLang="zh-CN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表示“真”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endParaRPr lang="en-US" altLang="zh-CN">
              <a:solidFill>
                <a:srgbClr val="FF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 indent="0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87101" name="组合 87100"/>
          <p:cNvGrpSpPr/>
          <p:nvPr/>
        </p:nvGrpSpPr>
        <p:grpSpPr>
          <a:xfrm>
            <a:off x="7415213" y="2397125"/>
            <a:ext cx="452437" cy="1695450"/>
            <a:chOff x="3711" y="1510"/>
            <a:chExt cx="285" cy="1068"/>
          </a:xfrm>
        </p:grpSpPr>
        <p:sp>
          <p:nvSpPr>
            <p:cNvPr id="435231" name="文本框 87076"/>
            <p:cNvSpPr txBox="1"/>
            <p:nvPr/>
          </p:nvSpPr>
          <p:spPr>
            <a:xfrm>
              <a:off x="3711" y="1510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32" name="文本框 87083"/>
            <p:cNvSpPr txBox="1"/>
            <p:nvPr/>
          </p:nvSpPr>
          <p:spPr>
            <a:xfrm>
              <a:off x="3711" y="232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33" name="文本框 87087"/>
            <p:cNvSpPr txBox="1"/>
            <p:nvPr/>
          </p:nvSpPr>
          <p:spPr>
            <a:xfrm>
              <a:off x="3711" y="17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34" name="文本框 87088"/>
            <p:cNvSpPr txBox="1"/>
            <p:nvPr/>
          </p:nvSpPr>
          <p:spPr>
            <a:xfrm>
              <a:off x="3723" y="20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87099" name="组合 87098"/>
          <p:cNvGrpSpPr/>
          <p:nvPr/>
        </p:nvGrpSpPr>
        <p:grpSpPr>
          <a:xfrm>
            <a:off x="5500688" y="2397125"/>
            <a:ext cx="452437" cy="1695450"/>
            <a:chOff x="2505" y="1510"/>
            <a:chExt cx="285" cy="1068"/>
          </a:xfrm>
        </p:grpSpPr>
        <p:sp>
          <p:nvSpPr>
            <p:cNvPr id="435236" name="文本框 87079"/>
            <p:cNvSpPr txBox="1"/>
            <p:nvPr/>
          </p:nvSpPr>
          <p:spPr>
            <a:xfrm>
              <a:off x="2505" y="1510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37" name="文本框 87086"/>
            <p:cNvSpPr txBox="1"/>
            <p:nvPr/>
          </p:nvSpPr>
          <p:spPr>
            <a:xfrm>
              <a:off x="2505" y="17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38" name="文本框 87092"/>
            <p:cNvSpPr txBox="1"/>
            <p:nvPr/>
          </p:nvSpPr>
          <p:spPr>
            <a:xfrm>
              <a:off x="2505" y="232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39" name="文本框 87093"/>
            <p:cNvSpPr txBox="1"/>
            <p:nvPr/>
          </p:nvSpPr>
          <p:spPr>
            <a:xfrm>
              <a:off x="2517" y="20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87100" name="组合 87099"/>
          <p:cNvGrpSpPr/>
          <p:nvPr/>
        </p:nvGrpSpPr>
        <p:grpSpPr>
          <a:xfrm>
            <a:off x="6434138" y="2397125"/>
            <a:ext cx="452437" cy="1695450"/>
            <a:chOff x="3093" y="1510"/>
            <a:chExt cx="285" cy="1068"/>
          </a:xfrm>
        </p:grpSpPr>
        <p:sp>
          <p:nvSpPr>
            <p:cNvPr id="435241" name="文本框 87078"/>
            <p:cNvSpPr txBox="1"/>
            <p:nvPr/>
          </p:nvSpPr>
          <p:spPr>
            <a:xfrm>
              <a:off x="3093" y="1510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42" name="文本框 87080"/>
            <p:cNvSpPr txBox="1"/>
            <p:nvPr/>
          </p:nvSpPr>
          <p:spPr>
            <a:xfrm>
              <a:off x="3105" y="20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43" name="文本框 87094"/>
            <p:cNvSpPr txBox="1"/>
            <p:nvPr/>
          </p:nvSpPr>
          <p:spPr>
            <a:xfrm>
              <a:off x="3093" y="232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44" name="文本框 87095"/>
            <p:cNvSpPr txBox="1"/>
            <p:nvPr/>
          </p:nvSpPr>
          <p:spPr>
            <a:xfrm>
              <a:off x="3093" y="17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chemeClr val="fol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87102" name="组合 87101"/>
          <p:cNvGrpSpPr/>
          <p:nvPr/>
        </p:nvGrpSpPr>
        <p:grpSpPr>
          <a:xfrm>
            <a:off x="8358188" y="2397125"/>
            <a:ext cx="452437" cy="1695450"/>
            <a:chOff x="4305" y="1510"/>
            <a:chExt cx="285" cy="1068"/>
          </a:xfrm>
        </p:grpSpPr>
        <p:sp>
          <p:nvSpPr>
            <p:cNvPr id="435246" name="文本框 87077"/>
            <p:cNvSpPr txBox="1"/>
            <p:nvPr/>
          </p:nvSpPr>
          <p:spPr>
            <a:xfrm>
              <a:off x="4305" y="1510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47" name="文本框 87082"/>
            <p:cNvSpPr txBox="1"/>
            <p:nvPr/>
          </p:nvSpPr>
          <p:spPr>
            <a:xfrm>
              <a:off x="4305" y="232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  <a:endPara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48" name="文本框 87096"/>
            <p:cNvSpPr txBox="1"/>
            <p:nvPr/>
          </p:nvSpPr>
          <p:spPr>
            <a:xfrm>
              <a:off x="4305" y="17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435249" name="文本框 87097"/>
            <p:cNvSpPr txBox="1"/>
            <p:nvPr/>
          </p:nvSpPr>
          <p:spPr>
            <a:xfrm>
              <a:off x="4317" y="2086"/>
              <a:ext cx="273" cy="25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sz="2000" dirty="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  <a:endPara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435250" name="组合 87111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435251" name="圆角矩形 87112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35252" name="组合 8711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35253" name="任意多边形 87114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5254" name="椭圆 8711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5255" name="椭圆 8711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35256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5257" name="文本占位符 121858"/>
          <p:cNvSpPr>
            <a:spLocks noGrp="1"/>
          </p:cNvSpPr>
          <p:nvPr/>
        </p:nvSpPr>
        <p:spPr>
          <a:xfrm>
            <a:off x="1162050" y="744538"/>
            <a:ext cx="4083050" cy="57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）逻辑运算符和表达式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04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042">
                                            <p:txEl>
                                              <p:charRg st="1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charRg st="7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7042">
                                            <p:txEl>
                                              <p:charRg st="7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7042">
                                            <p:txEl>
                                              <p:charRg st="7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7042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7042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87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87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87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87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87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bldLvl="4" build="p"/>
      <p:bldP spid="8704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6225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43022" name="组合 43021"/>
          <p:cNvGrpSpPr/>
          <p:nvPr/>
        </p:nvGrpSpPr>
        <p:grpSpPr>
          <a:xfrm>
            <a:off x="3213100" y="1435100"/>
            <a:ext cx="1924050" cy="2247900"/>
            <a:chOff x="953" y="725"/>
            <a:chExt cx="1212" cy="1416"/>
          </a:xfrm>
        </p:grpSpPr>
        <p:sp>
          <p:nvSpPr>
            <p:cNvPr id="436227" name="矩形 43026"/>
            <p:cNvSpPr/>
            <p:nvPr/>
          </p:nvSpPr>
          <p:spPr>
            <a:xfrm>
              <a:off x="953" y="736"/>
              <a:ext cx="1212" cy="14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4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6228" name="文本框 43025"/>
            <p:cNvSpPr txBox="1"/>
            <p:nvPr/>
          </p:nvSpPr>
          <p:spPr>
            <a:xfrm>
              <a:off x="1128" y="725"/>
              <a:ext cx="702" cy="1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!       </a:t>
              </a:r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(2)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&amp;&amp; </a:t>
              </a:r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(11)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||     </a:t>
              </a:r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(12)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6229" name="文本框 43024"/>
            <p:cNvSpPr txBox="1"/>
            <p:nvPr/>
          </p:nvSpPr>
          <p:spPr>
            <a:xfrm>
              <a:off x="1784" y="1050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高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6230" name="文本框 43023"/>
            <p:cNvSpPr txBox="1"/>
            <p:nvPr/>
          </p:nvSpPr>
          <p:spPr>
            <a:xfrm>
              <a:off x="1784" y="163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低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6231" name="直接连接符 43022"/>
            <p:cNvSpPr/>
            <p:nvPr/>
          </p:nvSpPr>
          <p:spPr>
            <a:xfrm flipV="1">
              <a:off x="1778" y="991"/>
              <a:ext cx="0" cy="8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3021" name="文本框 43020"/>
          <p:cNvSpPr txBox="1"/>
          <p:nvPr/>
        </p:nvSpPr>
        <p:spPr>
          <a:xfrm>
            <a:off x="2119313" y="3979863"/>
            <a:ext cx="7951787" cy="147796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lvl="3" indent="0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例 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a&lt;=x &amp;&amp; x&lt;=b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3" indent="0"/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     </a:t>
            </a:r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a&gt;b&amp;&amp;x&gt;y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        a==b||x==y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隶书" panose="02010509060101010101" pitchFamily="49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隶书" panose="02010509060101010101" pitchFamily="49" charset="-122"/>
              </a:rPr>
              <a:t>          !a||a&gt;b</a:t>
            </a:r>
            <a:endParaRPr lang="en-US" altLang="zh-CN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0" name="文本框 43019"/>
          <p:cNvSpPr txBox="1"/>
          <p:nvPr/>
        </p:nvSpPr>
        <p:spPr>
          <a:xfrm>
            <a:off x="2616200" y="1003300"/>
            <a:ext cx="1389063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优先级：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3019" name="文本框 43018"/>
          <p:cNvSpPr txBox="1"/>
          <p:nvPr/>
        </p:nvSpPr>
        <p:spPr>
          <a:xfrm>
            <a:off x="5845175" y="1004888"/>
            <a:ext cx="1643063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结合方向：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43016" name="组合 43015"/>
          <p:cNvGrpSpPr/>
          <p:nvPr/>
        </p:nvGrpSpPr>
        <p:grpSpPr>
          <a:xfrm>
            <a:off x="7545388" y="1363663"/>
            <a:ext cx="2139950" cy="2247900"/>
            <a:chOff x="3833" y="257"/>
            <a:chExt cx="1348" cy="1416"/>
          </a:xfrm>
        </p:grpSpPr>
        <p:sp>
          <p:nvSpPr>
            <p:cNvPr id="436236" name="矩形 43017"/>
            <p:cNvSpPr/>
            <p:nvPr/>
          </p:nvSpPr>
          <p:spPr>
            <a:xfrm>
              <a:off x="3833" y="268"/>
              <a:ext cx="1332" cy="14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4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6237" name="文本框 43016"/>
            <p:cNvSpPr txBox="1"/>
            <p:nvPr/>
          </p:nvSpPr>
          <p:spPr>
            <a:xfrm>
              <a:off x="4008" y="257"/>
              <a:ext cx="1173" cy="1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en-US" altLang="zh-CN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!       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: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从右向左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&amp;&amp;  :</a:t>
              </a:r>
              <a:r>
                <a:rPr lang="zh-CN" altLang="en-US" sz="2000" dirty="0">
                  <a:solidFill>
                    <a:srgbClr val="0000FF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从左向右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||      :</a:t>
              </a:r>
              <a:r>
                <a:rPr lang="zh-CN" altLang="en-US" sz="2000" dirty="0">
                  <a:solidFill>
                    <a:srgbClr val="0000FF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从左向右</a:t>
              </a:r>
              <a:endParaRPr lang="zh-CN" altLang="en-US" sz="2000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sp>
        <p:nvSpPr>
          <p:cNvPr id="43015" name="文本框 43014"/>
          <p:cNvSpPr txBox="1"/>
          <p:nvPr/>
        </p:nvSpPr>
        <p:spPr>
          <a:xfrm>
            <a:off x="6288088" y="3992563"/>
            <a:ext cx="1981200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 (a&lt;=x) &amp;&amp; (x&lt;=b)  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3014" name="文本框 43013"/>
          <p:cNvSpPr txBox="1"/>
          <p:nvPr/>
        </p:nvSpPr>
        <p:spPr>
          <a:xfrm>
            <a:off x="6002338" y="4373563"/>
            <a:ext cx="1603375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隶书" panose="02010509060101010101" pitchFamily="49" charset="-122"/>
              </a:rPr>
              <a:t>//(a&gt;b)&amp;&amp;(x&gt;y)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隶书" panose="02010509060101010101" pitchFamily="49" charset="-122"/>
            </a:endParaRPr>
          </a:p>
        </p:txBody>
      </p:sp>
      <p:sp>
        <p:nvSpPr>
          <p:cNvPr id="43013" name="文本框 43012"/>
          <p:cNvSpPr txBox="1"/>
          <p:nvPr/>
        </p:nvSpPr>
        <p:spPr>
          <a:xfrm>
            <a:off x="5926138" y="4792663"/>
            <a:ext cx="1730375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隶书" panose="02010509060101010101" pitchFamily="49" charset="-122"/>
              </a:rPr>
              <a:t>//(a==b)||(x==y)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隶书" panose="02010509060101010101" pitchFamily="49" charset="-122"/>
            </a:endParaRPr>
          </a:p>
        </p:txBody>
      </p:sp>
      <p:sp>
        <p:nvSpPr>
          <p:cNvPr id="43012" name="文本框 43011"/>
          <p:cNvSpPr txBox="1"/>
          <p:nvPr/>
        </p:nvSpPr>
        <p:spPr>
          <a:xfrm>
            <a:off x="5907088" y="5173663"/>
            <a:ext cx="1370012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隶书" panose="02010509060101010101" pitchFamily="49" charset="-122"/>
              </a:rPr>
              <a:t>//(!a)||(a&gt;b)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隶书" panose="02010509060101010101" pitchFamily="49" charset="-122"/>
            </a:endParaRPr>
          </a:p>
        </p:txBody>
      </p:sp>
      <p:sp>
        <p:nvSpPr>
          <p:cNvPr id="436242" name="Text Box 5"/>
          <p:cNvSpPr txBox="1"/>
          <p:nvPr/>
        </p:nvSpPr>
        <p:spPr>
          <a:xfrm>
            <a:off x="738188" y="6350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6243" name="文本占位符 121858"/>
          <p:cNvSpPr>
            <a:spLocks noGrp="1"/>
          </p:cNvSpPr>
          <p:nvPr/>
        </p:nvSpPr>
        <p:spPr>
          <a:xfrm>
            <a:off x="1162050" y="744538"/>
            <a:ext cx="4083050" cy="57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）逻辑运算符和表达式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2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2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01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01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4301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4301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4301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4301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1" grpId="0" bldLvl="0" animBg="1"/>
      <p:bldP spid="43020" grpId="0" build="p"/>
      <p:bldP spid="43019" grpId="0" build="p"/>
      <p:bldP spid="43015" grpId="0" build="p"/>
      <p:bldP spid="43014" grpId="0" build="p"/>
      <p:bldP spid="43013" grpId="0" build="p"/>
      <p:bldP spid="43012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7249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2034" name="组合 172033"/>
          <p:cNvGrpSpPr/>
          <p:nvPr/>
        </p:nvGrpSpPr>
        <p:grpSpPr>
          <a:xfrm>
            <a:off x="4214813" y="1003300"/>
            <a:ext cx="1924050" cy="2247900"/>
            <a:chOff x="953" y="725"/>
            <a:chExt cx="1212" cy="1416"/>
          </a:xfrm>
        </p:grpSpPr>
        <p:sp>
          <p:nvSpPr>
            <p:cNvPr id="437251" name="矩形 172034"/>
            <p:cNvSpPr/>
            <p:nvPr/>
          </p:nvSpPr>
          <p:spPr>
            <a:xfrm>
              <a:off x="953" y="736"/>
              <a:ext cx="1212" cy="14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4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7252" name="文本框 172035"/>
            <p:cNvSpPr txBox="1"/>
            <p:nvPr/>
          </p:nvSpPr>
          <p:spPr>
            <a:xfrm>
              <a:off x="1128" y="725"/>
              <a:ext cx="702" cy="1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!       </a:t>
              </a:r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(2)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&amp;&amp; </a:t>
              </a:r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(11)</a:t>
              </a:r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endParaRPr lang="en-US" altLang="zh-CN" sz="200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||     </a:t>
              </a:r>
              <a:r>
                <a:rPr lang="en-US" altLang="zh-CN" sz="2000">
                  <a:solidFill>
                    <a:schemeClr val="folHlink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(12)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7253" name="文本框 172036"/>
            <p:cNvSpPr txBox="1"/>
            <p:nvPr/>
          </p:nvSpPr>
          <p:spPr>
            <a:xfrm>
              <a:off x="1784" y="1050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高</a:t>
              </a:r>
              <a:endParaRPr lang="zh-CN" altLang="en-US" sz="4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7254" name="文本框 172037"/>
            <p:cNvSpPr txBox="1"/>
            <p:nvPr/>
          </p:nvSpPr>
          <p:spPr>
            <a:xfrm>
              <a:off x="1784" y="163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低</a:t>
              </a:r>
              <a:endParaRPr lang="zh-CN" altLang="en-US" sz="4000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7255" name="直接连接符 172038"/>
            <p:cNvSpPr/>
            <p:nvPr/>
          </p:nvSpPr>
          <p:spPr>
            <a:xfrm flipV="1">
              <a:off x="1778" y="991"/>
              <a:ext cx="0" cy="8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72041" name="文本框 172040"/>
          <p:cNvSpPr txBox="1"/>
          <p:nvPr/>
        </p:nvSpPr>
        <p:spPr>
          <a:xfrm>
            <a:off x="2546350" y="1298575"/>
            <a:ext cx="1389063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优先级：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2042" name="文本框 172041"/>
          <p:cNvSpPr txBox="1"/>
          <p:nvPr/>
        </p:nvSpPr>
        <p:spPr>
          <a:xfrm>
            <a:off x="6446838" y="1298575"/>
            <a:ext cx="1643062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结合方向：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72043" name="组合 172042"/>
          <p:cNvGrpSpPr/>
          <p:nvPr/>
        </p:nvGrpSpPr>
        <p:grpSpPr>
          <a:xfrm>
            <a:off x="8089900" y="1003300"/>
            <a:ext cx="2120900" cy="2247900"/>
            <a:chOff x="3833" y="257"/>
            <a:chExt cx="1336" cy="1416"/>
          </a:xfrm>
        </p:grpSpPr>
        <p:sp>
          <p:nvSpPr>
            <p:cNvPr id="437259" name="矩形 172043"/>
            <p:cNvSpPr/>
            <p:nvPr/>
          </p:nvSpPr>
          <p:spPr>
            <a:xfrm>
              <a:off x="3833" y="268"/>
              <a:ext cx="1332" cy="14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4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7260" name="文本框 172044"/>
            <p:cNvSpPr txBox="1"/>
            <p:nvPr/>
          </p:nvSpPr>
          <p:spPr>
            <a:xfrm>
              <a:off x="4008" y="257"/>
              <a:ext cx="1161" cy="1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en-US" altLang="zh-CN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!       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: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从右向左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&amp;&amp;  :</a:t>
              </a:r>
              <a:r>
                <a:rPr lang="zh-CN" altLang="en-US" sz="2000" dirty="0">
                  <a:solidFill>
                    <a:srgbClr val="0000FF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从左向右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||      :</a:t>
              </a:r>
              <a:r>
                <a:rPr lang="zh-CN" altLang="en-US" sz="2000" dirty="0">
                  <a:solidFill>
                    <a:srgbClr val="0000FF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从左向右</a:t>
              </a:r>
              <a:endParaRPr lang="zh-CN" altLang="en-US" sz="2000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sp>
        <p:nvSpPr>
          <p:cNvPr id="172046" name="矩形 172045"/>
          <p:cNvSpPr/>
          <p:nvPr/>
        </p:nvSpPr>
        <p:spPr>
          <a:xfrm>
            <a:off x="2284413" y="3322638"/>
            <a:ext cx="7773987" cy="292576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/>
          <a:p>
            <a:pPr lvl="3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a=4;b=5;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!a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a&amp;&amp;b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a||b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!a||b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4&amp;&amp;0||2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5&gt;3&amp;&amp;2||8&lt;4-!0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‘c’&amp;&amp;‘d’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2053" name="文本框 172052"/>
          <p:cNvSpPr txBox="1"/>
          <p:nvPr/>
        </p:nvSpPr>
        <p:spPr>
          <a:xfrm>
            <a:off x="5497513" y="4105275"/>
            <a:ext cx="881062" cy="40005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2054" name="文本框 172053"/>
          <p:cNvSpPr txBox="1"/>
          <p:nvPr/>
        </p:nvSpPr>
        <p:spPr>
          <a:xfrm>
            <a:off x="5456238" y="3803650"/>
            <a:ext cx="8159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2056" name="文本框 172055"/>
          <p:cNvSpPr txBox="1"/>
          <p:nvPr/>
        </p:nvSpPr>
        <p:spPr>
          <a:xfrm>
            <a:off x="5475288" y="4913313"/>
            <a:ext cx="8159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2057" name="文本框 172056"/>
          <p:cNvSpPr txBox="1"/>
          <p:nvPr/>
        </p:nvSpPr>
        <p:spPr>
          <a:xfrm>
            <a:off x="5522913" y="5314950"/>
            <a:ext cx="8159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2058" name="文本框 172057"/>
          <p:cNvSpPr txBox="1"/>
          <p:nvPr/>
        </p:nvSpPr>
        <p:spPr>
          <a:xfrm>
            <a:off x="5646738" y="5962650"/>
            <a:ext cx="8159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2059" name="文本框 172058"/>
          <p:cNvSpPr txBox="1"/>
          <p:nvPr/>
        </p:nvSpPr>
        <p:spPr>
          <a:xfrm>
            <a:off x="5495925" y="4471988"/>
            <a:ext cx="815975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2060" name="文本框 172059"/>
          <p:cNvSpPr txBox="1"/>
          <p:nvPr/>
        </p:nvSpPr>
        <p:spPr>
          <a:xfrm>
            <a:off x="6259513" y="5618163"/>
            <a:ext cx="3563937" cy="40005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sz="20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//(5&gt;3)&amp;&amp;2||(8&lt;(4-(!0)))   </a:t>
            </a:r>
            <a:r>
              <a:rPr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37269" name="矩形 172067"/>
          <p:cNvSpPr/>
          <p:nvPr/>
        </p:nvSpPr>
        <p:spPr>
          <a:xfrm>
            <a:off x="1524000" y="381000"/>
            <a:ext cx="3433763" cy="4429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/>
            <a:endParaRPr lang="zh-CN" altLang="zh-CN" dirty="0">
              <a:solidFill>
                <a:schemeClr val="tx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7270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7271" name="文本占位符 121858"/>
          <p:cNvSpPr>
            <a:spLocks noGrp="1"/>
          </p:cNvSpPr>
          <p:nvPr/>
        </p:nvSpPr>
        <p:spPr>
          <a:xfrm>
            <a:off x="1200150" y="725488"/>
            <a:ext cx="4083050" cy="57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）逻辑运算符和表达式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2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7205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7205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7205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7205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7205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7206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7205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1" grpId="0"/>
      <p:bldP spid="172042" grpId="0"/>
      <p:bldP spid="172046" grpId="0" bldLvl="0" animBg="1"/>
      <p:bldP spid="172053" grpId="0" build="p"/>
      <p:bldP spid="172054" grpId="0" build="p"/>
      <p:bldP spid="172056" grpId="0" build="p"/>
      <p:bldP spid="172057" grpId="0" build="p"/>
      <p:bldP spid="172058" grpId="0" build="p"/>
      <p:bldP spid="172059" grpId="0" build="p"/>
      <p:bldP spid="172060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8273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3058" name="组合 173057"/>
          <p:cNvGrpSpPr/>
          <p:nvPr/>
        </p:nvGrpSpPr>
        <p:grpSpPr>
          <a:xfrm>
            <a:off x="4030663" y="747713"/>
            <a:ext cx="1924050" cy="2247900"/>
            <a:chOff x="953" y="725"/>
            <a:chExt cx="1212" cy="1416"/>
          </a:xfrm>
        </p:grpSpPr>
        <p:sp>
          <p:nvSpPr>
            <p:cNvPr id="438275" name="矩形 173058"/>
            <p:cNvSpPr/>
            <p:nvPr/>
          </p:nvSpPr>
          <p:spPr>
            <a:xfrm>
              <a:off x="953" y="736"/>
              <a:ext cx="1212" cy="14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4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8276" name="文本框 173059"/>
            <p:cNvSpPr txBox="1"/>
            <p:nvPr/>
          </p:nvSpPr>
          <p:spPr>
            <a:xfrm>
              <a:off x="1128" y="725"/>
              <a:ext cx="702" cy="1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en-US" altLang="zh-CN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!       </a:t>
              </a:r>
              <a:r>
                <a:rPr lang="en-US" altLang="zh-CN" sz="2000">
                  <a:solidFill>
                    <a:schemeClr val="folHlink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(2)</a:t>
              </a:r>
              <a:endParaRPr lang="en-US" altLang="zh-CN" sz="200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en-US" altLang="zh-CN" sz="200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&amp;&amp; </a:t>
              </a:r>
              <a:r>
                <a:rPr lang="en-US" altLang="zh-CN" sz="2000">
                  <a:solidFill>
                    <a:schemeClr val="folHlink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(11)</a:t>
              </a:r>
              <a:endParaRPr lang="en-US" altLang="zh-CN" sz="200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en-US" altLang="zh-CN" sz="200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||     </a:t>
              </a:r>
              <a:r>
                <a:rPr lang="en-US" altLang="zh-CN" sz="2000">
                  <a:solidFill>
                    <a:schemeClr val="folHlink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(12)</a:t>
              </a:r>
              <a:endParaRPr lang="en-US" altLang="zh-CN" sz="400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8277" name="文本框 173060"/>
            <p:cNvSpPr txBox="1"/>
            <p:nvPr/>
          </p:nvSpPr>
          <p:spPr>
            <a:xfrm>
              <a:off x="1784" y="1050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高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8278" name="文本框 173061"/>
            <p:cNvSpPr txBox="1"/>
            <p:nvPr/>
          </p:nvSpPr>
          <p:spPr>
            <a:xfrm>
              <a:off x="1784" y="163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微软雅黑 Light" panose="020B0502040204020203" charset="-122"/>
                  <a:ea typeface="微软雅黑 Light" panose="020B0502040204020203" charset="-122"/>
                </a:rPr>
                <a:t>低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8279" name="直接连接符 173062"/>
            <p:cNvSpPr/>
            <p:nvPr/>
          </p:nvSpPr>
          <p:spPr>
            <a:xfrm flipV="1">
              <a:off x="1778" y="991"/>
              <a:ext cx="0" cy="8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73064" name="文本框 173063"/>
          <p:cNvSpPr txBox="1"/>
          <p:nvPr/>
        </p:nvSpPr>
        <p:spPr>
          <a:xfrm>
            <a:off x="2652713" y="1376363"/>
            <a:ext cx="1387475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优先级：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3065" name="文本框 173064"/>
          <p:cNvSpPr txBox="1"/>
          <p:nvPr/>
        </p:nvSpPr>
        <p:spPr>
          <a:xfrm>
            <a:off x="6351588" y="1376363"/>
            <a:ext cx="1643062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结合方向：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73066" name="组合 173065"/>
          <p:cNvGrpSpPr/>
          <p:nvPr/>
        </p:nvGrpSpPr>
        <p:grpSpPr>
          <a:xfrm>
            <a:off x="8154988" y="747713"/>
            <a:ext cx="2120900" cy="2247900"/>
            <a:chOff x="3833" y="257"/>
            <a:chExt cx="1336" cy="1416"/>
          </a:xfrm>
        </p:grpSpPr>
        <p:sp>
          <p:nvSpPr>
            <p:cNvPr id="438283" name="矩形 173066"/>
            <p:cNvSpPr/>
            <p:nvPr/>
          </p:nvSpPr>
          <p:spPr>
            <a:xfrm>
              <a:off x="3833" y="268"/>
              <a:ext cx="1332" cy="14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4000" dirty="0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438284" name="文本框 173067"/>
            <p:cNvSpPr txBox="1"/>
            <p:nvPr/>
          </p:nvSpPr>
          <p:spPr>
            <a:xfrm>
              <a:off x="4008" y="257"/>
              <a:ext cx="1161" cy="1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en-US" altLang="zh-CN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!       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: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从右向左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&amp;&amp;  :</a:t>
              </a:r>
              <a:r>
                <a:rPr lang="zh-CN" altLang="en-US" sz="2000" dirty="0">
                  <a:solidFill>
                    <a:srgbClr val="0000FF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从左向右</a:t>
              </a:r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endParaRPr lang="zh-CN" altLang="en-US" sz="2000" dirty="0">
                <a:latin typeface="微软雅黑 Light" panose="020B0502040204020203" charset="-122"/>
                <a:ea typeface="微软雅黑 Light" panose="020B0502040204020203" charset="-122"/>
              </a:endParaRPr>
            </a:p>
            <a:p>
              <a:r>
                <a:rPr lang="en-US" altLang="zh-CN" sz="2000">
                  <a:latin typeface="微软雅黑 Light" panose="020B0502040204020203" charset="-122"/>
                  <a:ea typeface="微软雅黑 Light" panose="020B0502040204020203" charset="-122"/>
                </a:rPr>
                <a:t>||      :</a:t>
              </a:r>
              <a:r>
                <a:rPr lang="zh-CN" altLang="en-US" sz="2000" dirty="0">
                  <a:solidFill>
                    <a:srgbClr val="0000FF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从左向右</a:t>
              </a:r>
              <a:endParaRPr lang="zh-CN" altLang="en-US" sz="2000" dirty="0">
                <a:solidFill>
                  <a:schemeClr val="folHlink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sp>
        <p:nvSpPr>
          <p:cNvPr id="173070" name="矩形 173069"/>
          <p:cNvSpPr/>
          <p:nvPr/>
        </p:nvSpPr>
        <p:spPr>
          <a:xfrm>
            <a:off x="1533525" y="2997200"/>
            <a:ext cx="8740775" cy="1038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短路特性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：逻辑表达式求解时，并非所有的逻辑运算符都被执行，只是在必须执行下一个逻辑运算符才能求出表达式的解时，才执行该运算符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38286" name="圆角矩形 173070">
            <a:hlinkClick r:id="" action="ppaction://hlinkshowjump?jump=previousslide"/>
          </p:cNvPr>
          <p:cNvSpPr/>
          <p:nvPr/>
        </p:nvSpPr>
        <p:spPr>
          <a:xfrm>
            <a:off x="230505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38287" name="圆角矩形 173071">
            <a:hlinkClick r:id="rId1" action="ppaction://hlinksldjump"/>
          </p:cNvPr>
          <p:cNvSpPr/>
          <p:nvPr/>
        </p:nvSpPr>
        <p:spPr>
          <a:xfrm>
            <a:off x="2914650" y="60769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3073" name="文本框 173072"/>
          <p:cNvSpPr txBox="1"/>
          <p:nvPr/>
        </p:nvSpPr>
        <p:spPr>
          <a:xfrm>
            <a:off x="1973263" y="3905250"/>
            <a:ext cx="8505825" cy="178371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lvl="3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a&amp;&amp;b&amp;&amp;c     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只在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为真时，才判别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的值；</a:t>
            </a:r>
            <a:endParaRPr lang="zh-CN" altLang="en-US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                          只在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都为真时，才判别 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的值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a||b||c              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只在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为假时，才判别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的值；</a:t>
            </a:r>
            <a:endParaRPr lang="zh-CN" altLang="en-US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                          只在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都为假时，才判别 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的值</a:t>
            </a:r>
            <a:endParaRPr lang="zh-CN" altLang="en-US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a=1;b=2;c=3;d=4;m=1;n=1;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/>
            <a:r>
              <a:rPr lang="en-US" altLang="zh-CN" err="1">
                <a:latin typeface="Calibri" panose="020F0502020204030204" pitchFamily="34" charset="0"/>
                <a:ea typeface="宋体" panose="02010600030101010101" pitchFamily="2" charset="-122"/>
              </a:rPr>
              <a:t>     (m=a&gt;b)&amp;&amp;(n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=c&lt;d)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3074" name="文本框 173073"/>
          <p:cNvSpPr txBox="1"/>
          <p:nvPr/>
        </p:nvSpPr>
        <p:spPr>
          <a:xfrm>
            <a:off x="6943725" y="5405438"/>
            <a:ext cx="1631950" cy="36988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结果</a:t>
            </a:r>
            <a:r>
              <a:rPr lang="en-US" altLang="zh-CN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m=0,n=1</a:t>
            </a:r>
            <a:endParaRPr lang="en-US" altLang="zh-CN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38290" name="Text Box 5"/>
          <p:cNvSpPr txBox="1"/>
          <p:nvPr/>
        </p:nvSpPr>
        <p:spPr>
          <a:xfrm>
            <a:off x="728663" y="1444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8291" name="文本占位符 121858"/>
          <p:cNvSpPr>
            <a:spLocks noGrp="1"/>
          </p:cNvSpPr>
          <p:nvPr/>
        </p:nvSpPr>
        <p:spPr>
          <a:xfrm>
            <a:off x="728663" y="696913"/>
            <a:ext cx="4083050" cy="57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）逻辑运算符和表达式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7307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4" grpId="0"/>
      <p:bldP spid="173065" grpId="0"/>
      <p:bldP spid="173065" grpId="1"/>
      <p:bldP spid="173070" grpId="0"/>
      <p:bldP spid="173073" grpId="0" bldLvl="0" animBg="1"/>
      <p:bldP spid="173074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929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39298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39299" name="标题 82992"/>
          <p:cNvSpPr>
            <a:spLocks noGrp="1"/>
          </p:cNvSpPr>
          <p:nvPr/>
        </p:nvSpPr>
        <p:spPr>
          <a:xfrm>
            <a:off x="1285875" y="684213"/>
            <a:ext cx="2422525" cy="5461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逻辑运算符注意</a:t>
            </a:r>
            <a:endParaRPr lang="zh-CN" altLang="en-US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28825" y="1347788"/>
            <a:ext cx="7994650" cy="258603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ctr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）参与逻辑运算的数据可以是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，也可以是非零值和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，还可以是任意类型的数据，但最终都</a:t>
            </a:r>
            <a:r>
              <a:rPr lang="zh-CN" altLang="en-US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以非</a:t>
            </a:r>
            <a:r>
              <a:rPr lang="en-US" altLang="zh-CN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来判断它们是</a:t>
            </a:r>
            <a:r>
              <a:rPr lang="en-US" altLang="zh-CN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lang="zh-CN" altLang="en-US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真</a:t>
            </a:r>
            <a:r>
              <a:rPr lang="en-US" altLang="zh-CN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r>
              <a:rPr lang="zh-CN" altLang="en-US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lang="zh-CN" altLang="en-US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假</a:t>
            </a:r>
            <a:r>
              <a:rPr lang="en-US" altLang="zh-CN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）在逻辑表达式中也可以使用赋值表达式。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zh-CN" altLang="en-US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短路特性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：即在由若干个子表达式组成的逻辑表达式中，从左向由，当计算一个子表达式的值就确定整个逻辑表达式的值时，此后就不再计算右边的表达式的值。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7189788" y="2260600"/>
            <a:ext cx="4605337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如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a&amp;&amp;(b=0)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，但是不能写成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a&amp;&amp;b=0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83999" grpId="0" bldLvl="0" animBg="1"/>
      <p:bldP spid="83999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2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40322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50883" name="标题 82992"/>
          <p:cNvSpPr>
            <a:spLocks noGrp="1"/>
          </p:cNvSpPr>
          <p:nvPr/>
        </p:nvSpPr>
        <p:spPr>
          <a:xfrm>
            <a:off x="1454150" y="831850"/>
            <a:ext cx="8789988" cy="83343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例子：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为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int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型变量，请写出一个表达式，用以判断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同时为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的倍数时，表达式的值为真。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3198813" y="1266825"/>
            <a:ext cx="3430587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x%3==0  &amp;&amp;  x%7==0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82992"/>
          <p:cNvSpPr>
            <a:spLocks noGrp="1"/>
          </p:cNvSpPr>
          <p:nvPr/>
        </p:nvSpPr>
        <p:spPr>
          <a:xfrm>
            <a:off x="1454150" y="1819275"/>
            <a:ext cx="8789988" cy="12080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例子：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、以下程序运行后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d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的值是（  ）。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int  a=4, b=5 ,c=0 ,d;</a:t>
            </a:r>
            <a:endParaRPr lang="en-US" altLang="zh-CN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  d= ! a &amp;&amp;  !b  ||  ! c;</a:t>
            </a:r>
            <a:endParaRPr lang="en-US" altLang="zh-CN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33850" y="2628900"/>
            <a:ext cx="1085850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82992"/>
          <p:cNvSpPr>
            <a:spLocks noGrp="1"/>
          </p:cNvSpPr>
          <p:nvPr/>
        </p:nvSpPr>
        <p:spPr>
          <a:xfrm>
            <a:off x="1454150" y="3027363"/>
            <a:ext cx="8789988" cy="18589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例子：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、以下程序运行结果是（  ）。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int  i =1 , j=2 ,  k=3, m;</a:t>
            </a:r>
            <a:endParaRPr lang="en-US" altLang="zh-CN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  m = i++ == 1 &amp;&amp; 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（ 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++j  == 3 ||  k++ == 3);</a:t>
            </a:r>
            <a:endParaRPr lang="en-US" altLang="zh-CN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  printf</a:t>
            </a:r>
            <a:r>
              <a:rPr lang="zh-CN" altLang="en-US" b="1" dirty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b="1" dirty="0">
                <a:latin typeface="微软雅黑 Light" panose="020B0502040204020203" charset="-122"/>
                <a:ea typeface="微软雅黑 Light" panose="020B0502040204020203" charset="-122"/>
              </a:rPr>
              <a:t>“%d,%d,%d,%d”, i ,j ,k ,m);</a:t>
            </a:r>
            <a:endParaRPr lang="en-US" altLang="zh-CN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9725" y="4592638"/>
            <a:ext cx="1720850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2,3,3,1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99" grpId="0" bldLvl="0" animBg="1"/>
      <p:bldP spid="83999" grpId="1" animBg="1"/>
      <p:bldP spid="4" grpId="0" bldLvl="0" animBg="1"/>
      <p:bldP spid="4" grpId="1" animBg="1"/>
      <p:bldP spid="6" grpId="0" bldLvl="0" animBg="1"/>
      <p:bldP spid="6" grpId="1" animBg="1"/>
      <p:bldP spid="250883" grpId="0"/>
      <p:bldP spid="250883" grpId="1"/>
      <p:bldP spid="3" grpId="0"/>
      <p:bldP spid="3" grpId="1"/>
      <p:bldP spid="5" grpId="0"/>
      <p:bldP spid="5" grpId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1345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41346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362075" y="708025"/>
            <a:ext cx="10074275" cy="25019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4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、判断变量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ch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是英文字母的表达式为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A)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(</a:t>
            </a:r>
            <a:r>
              <a:rPr lang="en-US" altLang="zh-CN" sz="2000" strike="noStrike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  <a:sym typeface="+mn-ea"/>
              </a:rPr>
              <a:t>‘a’&lt;=ch&lt;='z')||('A'&lt;=ch&lt;='z')      </a:t>
            </a:r>
            <a:endParaRPr lang="en-US" altLang="zh-CN" sz="2000" strike="noStrike" noProof="1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Arial" panose="020B0604020202020204" pitchFamily="34" charset="0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en-US" altLang="zh-CN" sz="2000" strike="noStrike" noProof="1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  <a:sym typeface="+mn-ea"/>
              </a:rPr>
              <a:t>   B) (ch&gt;='a'&amp;&amp;ch&lt;='z')&amp;&amp;(ch&gt;='A'&amp;&amp;ch&lt;='Z')</a:t>
            </a:r>
            <a:endParaRPr lang="en-US" altLang="zh-CN" sz="2000" strike="noStrike" noProof="1" dirty="0">
              <a:solidFill>
                <a:schemeClr val="tx1"/>
              </a:solidFill>
              <a:latin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10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C)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(ch&gt;='a'&amp;&amp;ch&lt;='z')||(ch&gt;='A'&amp;&amp;ch&lt;='Z')   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 fontAlgn="base">
              <a:lnSpc>
                <a:spcPct val="150000"/>
              </a:lnSpc>
              <a:spcBef>
                <a:spcPct val="10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   D) ('A'&lt;=ch&lt;='z')&amp;&amp;('A'&lt;=ch&lt;='z')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12050" y="2719388"/>
            <a:ext cx="1128713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1757"/>
          <p:cNvSpPr>
            <a:spLocks noGrp="1"/>
          </p:cNvSpPr>
          <p:nvPr/>
        </p:nvSpPr>
        <p:spPr>
          <a:xfrm>
            <a:off x="1470025" y="2797175"/>
            <a:ext cx="9253538" cy="16541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、对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语言在作逻辑运算时判断操作数真、假的表述，下列哪一个是正确的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A)0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为假，非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为真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     B)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只有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为真</a:t>
            </a:r>
            <a:endParaRPr lang="en-US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C)-1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为假，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为真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      D)0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为真，非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latin typeface="楷体_GB2312" pitchFamily="49" charset="-122"/>
                <a:ea typeface="宋体" panose="02010600030101010101" pitchFamily="2" charset="-122"/>
              </a:rPr>
              <a:t>为假</a:t>
            </a:r>
            <a:endParaRPr lang="zh-CN" altLang="en-US" sz="2000" dirty="0">
              <a:latin typeface="楷体_GB2312" pitchFamily="49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12050" y="3868738"/>
            <a:ext cx="1114425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31757"/>
          <p:cNvSpPr>
            <a:spLocks noGrp="1"/>
          </p:cNvSpPr>
          <p:nvPr/>
        </p:nvSpPr>
        <p:spPr>
          <a:xfrm>
            <a:off x="1479550" y="4041775"/>
            <a:ext cx="8601075" cy="1806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zh-CN" altLang="pt-BR" sz="2000" dirty="0">
                <a:latin typeface="微软雅黑 Light" panose="020B0502040204020203" charset="-122"/>
                <a:ea typeface="微软雅黑 Light" panose="020B0502040204020203" charset="-122"/>
              </a:rPr>
              <a:t>为表示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“a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都不等于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0”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，应使用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语言表达式是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</a:t>
            </a:r>
            <a:r>
              <a:rPr lang="pt-BR" altLang="zh-CN" sz="2000" dirty="0">
                <a:latin typeface="楷体_GB2312" pitchFamily="49" charset="-122"/>
                <a:ea typeface="宋体" panose="02010600030101010101" pitchFamily="2" charset="-122"/>
              </a:rPr>
              <a:t>A)</a:t>
            </a:r>
            <a:r>
              <a:rPr lang="en-US" altLang="pt-BR" sz="2000" dirty="0">
                <a:latin typeface="楷体_GB2312" pitchFamily="49" charset="-122"/>
                <a:ea typeface="宋体" panose="02010600030101010101" pitchFamily="2" charset="-122"/>
              </a:rPr>
              <a:t>(a!=0)||(b!=0)</a:t>
            </a:r>
            <a:r>
              <a:rPr lang="pt-BR" altLang="zh-CN" sz="2000" dirty="0">
                <a:latin typeface="楷体_GB2312" pitchFamily="49" charset="-122"/>
                <a:ea typeface="宋体" panose="02010600030101010101" pitchFamily="2" charset="-122"/>
              </a:rPr>
              <a:t>      B)</a:t>
            </a:r>
            <a:r>
              <a:rPr lang="en-US" altLang="pt-BR" sz="2000" dirty="0">
                <a:latin typeface="楷体_GB2312" pitchFamily="49" charset="-122"/>
                <a:ea typeface="宋体" panose="02010600030101010101" pitchFamily="2" charset="-122"/>
              </a:rPr>
              <a:t>a||b</a:t>
            </a:r>
            <a:endParaRPr lang="pt-BR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pt-BR" altLang="zh-CN" sz="2000" dirty="0">
                <a:latin typeface="楷体_GB2312" pitchFamily="49" charset="-122"/>
                <a:ea typeface="宋体" panose="02010600030101010101" pitchFamily="2" charset="-122"/>
              </a:rPr>
              <a:t>   C)</a:t>
            </a:r>
            <a:r>
              <a:rPr lang="en-US" altLang="pt-BR" sz="2000" dirty="0">
                <a:latin typeface="楷体_GB2312" pitchFamily="49" charset="-122"/>
                <a:ea typeface="宋体" panose="02010600030101010101" pitchFamily="2" charset="-122"/>
              </a:rPr>
              <a:t>(a!=0)&amp;&amp;(b!=0)</a:t>
            </a:r>
            <a:r>
              <a:rPr lang="pt-BR" altLang="zh-CN" sz="2000" dirty="0">
                <a:latin typeface="楷体_GB2312" pitchFamily="49" charset="-122"/>
                <a:ea typeface="宋体" panose="02010600030101010101" pitchFamily="2" charset="-122"/>
              </a:rPr>
              <a:t>      D)</a:t>
            </a:r>
            <a:r>
              <a:rPr lang="en-US" altLang="pt-BR" sz="2000" dirty="0">
                <a:latin typeface="楷体_GB2312" pitchFamily="49" charset="-122"/>
                <a:ea typeface="宋体" panose="02010600030101010101" pitchFamily="2" charset="-122"/>
              </a:rPr>
              <a:t>a&amp;&amp;b</a:t>
            </a:r>
            <a:endParaRPr lang="en-US" altLang="pt-BR" sz="2000" dirty="0">
              <a:latin typeface="楷体_GB2312" pitchFamily="49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12050" y="5370513"/>
            <a:ext cx="1128713" cy="40005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3" grpId="0"/>
      <p:bldP spid="3" grpId="1"/>
      <p:bldP spid="4" grpId="0" bldLvl="0" animBg="1"/>
      <p:bldP spid="4" grpId="1" animBg="1"/>
      <p:bldP spid="5" grpId="0"/>
      <p:bldP spid="5" grpId="1"/>
      <p:bldP spid="7" grpId="0" bldLvl="0" animBg="1"/>
      <p:bldP spid="7" grpId="1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2369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42370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303338" y="906463"/>
            <a:ext cx="10074275" cy="51784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7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、分析运行结果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#include&lt;stdio.h&gt;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int main()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{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int a=3,b=3,c=2,d;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printf(“%d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，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“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，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!a&amp;&amp;!b&amp;&amp;c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）；</a:t>
            </a:r>
            <a:endParaRPr lang="zh-CN" altLang="en-US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printf(“%d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，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“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，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!a </a:t>
            </a:r>
            <a:r>
              <a:rPr 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|| !b || c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）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printf(“%d\n”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，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a&gt;=b&amp;&amp;b&gt;c);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d=c-- || (b=6) &amp;&amp; a++;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printf(“a=%d,b=%d,d=%d\n”, a, b, c ,d);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 return 0;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392430" indent="-392430" fontAlgn="base">
              <a:lnSpc>
                <a:spcPct val="10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}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23050" y="4786313"/>
            <a:ext cx="3370263" cy="706437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            a=3,b=3,c=1,d=1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3393" name="灯片编号占位符 1"/>
          <p:cNvSpPr/>
          <p:nvPr>
            <p:ph type="sldNum" sz="quarter"/>
          </p:nvPr>
        </p:nvSpPr>
        <p:spPr>
          <a:xfrm>
            <a:off x="8056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en-US" altLang="zh-CN" sz="1800" dirty="0">
                <a:latin typeface="Calibri" panose="020F0502020204030204" pitchFamily="34" charset="0"/>
              </a:rPr>
            </a:fld>
            <a:endParaRPr lang="en-US" altLang="zh-CN" sz="1800" dirty="0">
              <a:latin typeface="Calibri" panose="020F0502020204030204" pitchFamily="34" charset="0"/>
            </a:endParaRPr>
          </a:p>
        </p:txBody>
      </p:sp>
      <p:sp>
        <p:nvSpPr>
          <p:cNvPr id="109571" name="文本占位符 109570"/>
          <p:cNvSpPr>
            <a:spLocks noGrp="1"/>
          </p:cNvSpPr>
          <p:nvPr>
            <p:ph type="body"/>
          </p:nvPr>
        </p:nvSpPr>
        <p:spPr>
          <a:xfrm>
            <a:off x="2052638" y="696913"/>
            <a:ext cx="8501062" cy="1973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/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一般形式：  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expr1 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?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expr2</a:t>
            </a:r>
            <a:r>
              <a:rPr lang="en-US" altLang="zh-CN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:</a:t>
            </a:r>
            <a:r>
              <a:rPr lang="en-US" altLang="zh-CN">
                <a:solidFill>
                  <a:srgbClr val="3333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expr3</a:t>
            </a:r>
            <a:endParaRPr lang="en-US" altLang="zh-CN">
              <a:solidFill>
                <a:srgbClr val="3333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执行过程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功能：相当于条件语句，但不能取代一般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if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语句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09575" name="组合 109574"/>
          <p:cNvGrpSpPr/>
          <p:nvPr/>
        </p:nvGrpSpPr>
        <p:grpSpPr>
          <a:xfrm>
            <a:off x="3165475" y="2106613"/>
            <a:ext cx="6570663" cy="1322387"/>
            <a:chOff x="806" y="2023"/>
            <a:chExt cx="4139" cy="833"/>
          </a:xfrm>
        </p:grpSpPr>
        <p:sp>
          <p:nvSpPr>
            <p:cNvPr id="443396" name="文本框 109571"/>
            <p:cNvSpPr txBox="1"/>
            <p:nvPr/>
          </p:nvSpPr>
          <p:spPr>
            <a:xfrm>
              <a:off x="806" y="2023"/>
              <a:ext cx="1625" cy="833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例   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if (a&gt;b)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 err="1">
                  <a:latin typeface="Arial" panose="020B0604020202020204" pitchFamily="34" charset="0"/>
                  <a:ea typeface="宋体" panose="02010600030101010101" pitchFamily="2" charset="-122"/>
                </a:rPr>
                <a:t>           printf(“%d”,a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);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       else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2000" err="1">
                  <a:latin typeface="Arial" panose="020B0604020202020204" pitchFamily="34" charset="0"/>
                  <a:ea typeface="宋体" panose="02010600030101010101" pitchFamily="2" charset="-122"/>
                </a:rPr>
                <a:t>            printf(“%d”,b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);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3397" name="左右箭头 109572"/>
            <p:cNvSpPr/>
            <p:nvPr/>
          </p:nvSpPr>
          <p:spPr>
            <a:xfrm>
              <a:off x="2448" y="2352"/>
              <a:ext cx="912" cy="144"/>
            </a:xfrm>
            <a:prstGeom prst="leftRightArrow">
              <a:avLst>
                <a:gd name="adj1" fmla="val 50000"/>
                <a:gd name="adj2" fmla="val 126373"/>
              </a:avLst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3398" name="文本框 109573"/>
            <p:cNvSpPr txBox="1"/>
            <p:nvPr/>
          </p:nvSpPr>
          <p:spPr>
            <a:xfrm>
              <a:off x="3360" y="2304"/>
              <a:ext cx="1585" cy="251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000" err="1">
                  <a:latin typeface="Arial" panose="020B0604020202020204" pitchFamily="34" charset="0"/>
                  <a:ea typeface="宋体" panose="02010600030101010101" pitchFamily="2" charset="-122"/>
                </a:rPr>
                <a:t>printf(“%d”,a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&gt;b?a:b);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9576" name="文本框 109575"/>
          <p:cNvSpPr txBox="1"/>
          <p:nvPr/>
        </p:nvSpPr>
        <p:spPr>
          <a:xfrm>
            <a:off x="3276600" y="2228850"/>
            <a:ext cx="4306888" cy="70643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例 求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a+|b|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err="1">
                <a:latin typeface="Arial" panose="020B0604020202020204" pitchFamily="34" charset="0"/>
                <a:ea typeface="宋体" panose="02010600030101010101" pitchFamily="2" charset="-122"/>
              </a:rPr>
              <a:t>     printf(“a+|b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|=%d\n”,b&gt;0?a+b:a-b);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9595" name="组合 109594"/>
          <p:cNvGrpSpPr/>
          <p:nvPr/>
        </p:nvGrpSpPr>
        <p:grpSpPr>
          <a:xfrm>
            <a:off x="6781800" y="2514600"/>
            <a:ext cx="3638550" cy="2362200"/>
            <a:chOff x="3312" y="1584"/>
            <a:chExt cx="2292" cy="1488"/>
          </a:xfrm>
        </p:grpSpPr>
        <p:sp>
          <p:nvSpPr>
            <p:cNvPr id="443401" name="流程图: 决策 109577"/>
            <p:cNvSpPr/>
            <p:nvPr/>
          </p:nvSpPr>
          <p:spPr>
            <a:xfrm>
              <a:off x="3953" y="1884"/>
              <a:ext cx="967" cy="367"/>
            </a:xfrm>
            <a:prstGeom prst="flowChartDecision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expr1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3402" name="文本框 109578"/>
            <p:cNvSpPr txBox="1"/>
            <p:nvPr/>
          </p:nvSpPr>
          <p:spPr>
            <a:xfrm>
              <a:off x="3312" y="2354"/>
              <a:ext cx="864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取</a:t>
              </a:r>
              <a:r>
                <a:rPr lang="en-US" altLang="zh-CN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expr2</a:t>
              </a:r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值</a:t>
              </a:r>
              <a:endParaRPr lang="zh-CN" altLang="en-US" sz="4000" u="sng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3403" name="文本框 109579"/>
            <p:cNvSpPr txBox="1"/>
            <p:nvPr/>
          </p:nvSpPr>
          <p:spPr>
            <a:xfrm>
              <a:off x="4704" y="2354"/>
              <a:ext cx="900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取</a:t>
              </a:r>
              <a:r>
                <a:rPr lang="en-US" altLang="zh-CN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expr3</a:t>
              </a:r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值</a:t>
              </a:r>
              <a:endParaRPr lang="zh-CN" altLang="en-US" sz="4000" u="sng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3404" name="直接连接符 109580"/>
            <p:cNvSpPr/>
            <p:nvPr/>
          </p:nvSpPr>
          <p:spPr>
            <a:xfrm>
              <a:off x="4441" y="158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3405" name="直接连接符 109581"/>
            <p:cNvSpPr/>
            <p:nvPr/>
          </p:nvSpPr>
          <p:spPr>
            <a:xfrm flipH="1">
              <a:off x="3731" y="2073"/>
              <a:ext cx="2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3406" name="直接连接符 109582"/>
            <p:cNvSpPr/>
            <p:nvPr/>
          </p:nvSpPr>
          <p:spPr>
            <a:xfrm>
              <a:off x="3731" y="2073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3407" name="直接连接符 109583"/>
            <p:cNvSpPr/>
            <p:nvPr/>
          </p:nvSpPr>
          <p:spPr>
            <a:xfrm>
              <a:off x="4920" y="2073"/>
              <a:ext cx="2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3408" name="直接连接符 109584"/>
            <p:cNvSpPr/>
            <p:nvPr/>
          </p:nvSpPr>
          <p:spPr>
            <a:xfrm>
              <a:off x="5164" y="2073"/>
              <a:ext cx="0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3409" name="直接连接符 109585"/>
            <p:cNvSpPr/>
            <p:nvPr/>
          </p:nvSpPr>
          <p:spPr>
            <a:xfrm>
              <a:off x="3731" y="2618"/>
              <a:ext cx="0" cy="2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3410" name="直接连接符 109586"/>
            <p:cNvSpPr/>
            <p:nvPr/>
          </p:nvSpPr>
          <p:spPr>
            <a:xfrm>
              <a:off x="5149" y="2618"/>
              <a:ext cx="0" cy="2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3411" name="直接连接符 109587"/>
            <p:cNvSpPr/>
            <p:nvPr/>
          </p:nvSpPr>
          <p:spPr>
            <a:xfrm>
              <a:off x="3731" y="2862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3412" name="直接连接符 109588"/>
            <p:cNvSpPr/>
            <p:nvPr/>
          </p:nvSpPr>
          <p:spPr>
            <a:xfrm flipH="1">
              <a:off x="4441" y="2862"/>
              <a:ext cx="7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3413" name="文本框 109589"/>
            <p:cNvSpPr txBox="1"/>
            <p:nvPr/>
          </p:nvSpPr>
          <p:spPr>
            <a:xfrm>
              <a:off x="3691" y="1822"/>
              <a:ext cx="3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sz="2000" dirty="0">
                  <a:latin typeface="Calibri" panose="020F0502020204030204" pitchFamily="34" charset="0"/>
                  <a:ea typeface="宋体" panose="02010600030101010101" pitchFamily="2" charset="-122"/>
                </a:rPr>
                <a:t>非</a:t>
              </a:r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0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3414" name="文本框 109590"/>
            <p:cNvSpPr txBox="1"/>
            <p:nvPr/>
          </p:nvSpPr>
          <p:spPr>
            <a:xfrm>
              <a:off x="4920" y="1822"/>
              <a:ext cx="27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000">
                  <a:latin typeface="Calibri" panose="020F0502020204030204" pitchFamily="34" charset="0"/>
                  <a:ea typeface="宋体" panose="02010600030101010101" pitchFamily="2" charset="-122"/>
                </a:rPr>
                <a:t>=0</a:t>
              </a:r>
              <a:endParaRPr lang="en-US" altLang="zh-CN" sz="4000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3415" name="直接连接符 109593"/>
            <p:cNvSpPr/>
            <p:nvPr/>
          </p:nvSpPr>
          <p:spPr>
            <a:xfrm>
              <a:off x="4449" y="288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09596" name="文本框 109595"/>
          <p:cNvSpPr txBox="1"/>
          <p:nvPr/>
        </p:nvSpPr>
        <p:spPr>
          <a:xfrm>
            <a:off x="3209925" y="2311400"/>
            <a:ext cx="3803650" cy="132238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(a==b)?’Y’:’N’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(x%2==1)?1:0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(x&gt;=0)?x:-x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(c&gt;=‘a’ &amp;&amp; c&lt;=‘z’)?c-’a’+’A’:c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9597" name="矩形 109596"/>
          <p:cNvSpPr/>
          <p:nvPr/>
        </p:nvSpPr>
        <p:spPr>
          <a:xfrm>
            <a:off x="2166938" y="2251075"/>
            <a:ext cx="8501062" cy="1282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条件运算符可嵌套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如  </a:t>
            </a:r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x&gt;0?1:(x&lt;0?-1:0)</a:t>
            </a:r>
            <a:endParaRPr lang="en-US" altLang="zh-CN">
              <a:solidFill>
                <a:srgbClr val="008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indent="0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优先级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:  13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9598" name="矩形 109597"/>
          <p:cNvSpPr/>
          <p:nvPr/>
        </p:nvSpPr>
        <p:spPr>
          <a:xfrm>
            <a:off x="2676525" y="3390900"/>
            <a:ext cx="8247063" cy="1349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 indent="-555625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结合方向：</a:t>
            </a:r>
            <a:r>
              <a:rPr lang="zh-CN" altLang="en-US" dirty="0">
                <a:solidFill>
                  <a:srgbClr val="3333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自右向左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indent="-555625"/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如 </a:t>
            </a:r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a&gt;b?a:c&gt;d?c:d </a:t>
            </a:r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8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a&gt;b?a:(c&gt;d?c:d)</a:t>
            </a:r>
            <a:endParaRPr lang="en-US" altLang="zh-CN">
              <a:solidFill>
                <a:srgbClr val="008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indent="-555625"/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expr1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expr2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expr3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类型可不同，表达式值取较高的类型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9599" name="文本框 109598"/>
          <p:cNvSpPr txBox="1"/>
          <p:nvPr/>
        </p:nvSpPr>
        <p:spPr>
          <a:xfrm>
            <a:off x="3224213" y="5095875"/>
            <a:ext cx="6457950" cy="70643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例 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x?‘a’:‘b’    //x=0,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表达式值为‘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b’;  x‡0,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表达式值为‘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a’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 x&gt;y?1:1.5   //x&gt;y  ,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1.0;  x&lt;y  ,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值为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1.5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43420" name="组合 109615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443421" name="圆角矩形 109616"/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43422" name="组合 109617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443423" name="任意多边形 109618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3424" name="椭圆 109619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3425" name="椭圆 109620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43426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43427" name="文本占位符 121858"/>
          <p:cNvSpPr>
            <a:spLocks noGrp="1"/>
          </p:cNvSpPr>
          <p:nvPr/>
        </p:nvSpPr>
        <p:spPr>
          <a:xfrm>
            <a:off x="728663" y="696913"/>
            <a:ext cx="4083050" cy="57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）条件运算符和表达式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charRg st="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9571">
                                            <p:txEl>
                                              <p:charRg st="1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charRg st="3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9571">
                                            <p:txEl>
                                              <p:charRg st="34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charRg st="39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9571">
                                            <p:txEl>
                                              <p:charRg st="39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95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95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959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7">
                                            <p:txEl>
                                              <p:charRg st="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09597">
                                            <p:txEl>
                                              <p:charRg st="9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7">
                                            <p:txEl>
                                              <p:charRg st="31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9597">
                                            <p:txEl>
                                              <p:charRg st="31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0959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8">
                                            <p:txEl>
                                              <p:charRg st="1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09598">
                                            <p:txEl>
                                              <p:charRg st="1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8">
                                            <p:txEl>
                                              <p:charRg st="46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09598">
                                            <p:txEl>
                                              <p:charRg st="46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1095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ldLvl="5" build="p"/>
      <p:bldP spid="109576" grpId="0" bldLvl="0" animBg="1"/>
      <p:bldP spid="109596" grpId="0" bldLvl="0" animBg="1"/>
      <p:bldP spid="109597" grpId="0" bldLvl="5" build="p"/>
      <p:bldP spid="109598" grpId="0" bldLvl="3" build="p"/>
      <p:bldP spid="109599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4417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44418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44419" name="标题 82992"/>
          <p:cNvSpPr>
            <a:spLocks noGrp="1"/>
          </p:cNvSpPr>
          <p:nvPr/>
        </p:nvSpPr>
        <p:spPr>
          <a:xfrm>
            <a:off x="1285875" y="684213"/>
            <a:ext cx="2422525" cy="5461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条件运算符注意</a:t>
            </a:r>
            <a:endParaRPr lang="zh-CN" altLang="en-US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28825" y="1646238"/>
            <a:ext cx="7994650" cy="217011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ctr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）条件表达式中表达式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的类型可以与表达式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和表达式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不同，表达式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和表达式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的类型也可以不同，此时系统会自动进行转换，结果为表达式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和表达式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中级别类型较高的，并将其作为条件表达式的类型。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）条件表达式允许嵌套。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）只执行一路分支。</a:t>
            </a:r>
            <a:endParaRPr lang="zh-CN" altLang="en-US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3999" name="文本框 83998"/>
          <p:cNvSpPr txBox="1"/>
          <p:nvPr/>
        </p:nvSpPr>
        <p:spPr>
          <a:xfrm>
            <a:off x="7656513" y="2073275"/>
            <a:ext cx="4443412" cy="40005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如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'a'?1:2.0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的结果为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double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类型的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1.0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35550" y="2897188"/>
            <a:ext cx="5640388" cy="706437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如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a&gt;3?b:c&gt;2?1:0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根据表达式的结合性，它相当于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a&gt;3?b:(c&gt;2?1:0)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16163" y="4033838"/>
            <a:ext cx="2982912" cy="101441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int  x,a=3,b=2;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x=a&gt;b++?a++:b++;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printf(“%d,%d,%d”,x,a,b);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16163" y="5140325"/>
            <a:ext cx="2389187" cy="40005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运行结果：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83999" grpId="0" bldLvl="0" animBg="1"/>
      <p:bldP spid="83999" grpId="1" animBg="1"/>
      <p:bldP spid="3" grpId="0" bldLvl="0" animBg="1"/>
      <p:bldP spid="3" grpId="1" animBg="1"/>
      <p:bldP spid="4" grpId="0" bldLvl="0" animBg="1"/>
      <p:bldP spid="4" grpId="1" animBg="1"/>
      <p:bldP spid="5" grpId="0" bldLvl="0" animBg="1"/>
      <p:bldP spid="5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5441" name="灯片编号占位符 1"/>
          <p:cNvSpPr/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t" anchorCtr="0"/>
          <a:p>
            <a:pPr defTabSz="914400">
              <a:buSzTx/>
              <a:buNone/>
            </a:pPr>
            <a:fld id="{9A0DB2DC-4C9A-4742-B13C-FB6460FD3503}" type="slidenum">
              <a:rPr lang="en-US" altLang="zh-CN" kern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zh-CN" kern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45442" name="Text Box 5"/>
          <p:cNvSpPr txBox="1"/>
          <p:nvPr/>
        </p:nvSpPr>
        <p:spPr>
          <a:xfrm>
            <a:off x="72866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、运算符和表达式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45443" name="文本占位符 121858"/>
          <p:cNvSpPr>
            <a:spLocks noGrp="1"/>
          </p:cNvSpPr>
          <p:nvPr/>
        </p:nvSpPr>
        <p:spPr>
          <a:xfrm>
            <a:off x="728663" y="696913"/>
            <a:ext cx="4083050" cy="573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）条件运算符和表达式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826" name="文本占位符 77825"/>
          <p:cNvSpPr>
            <a:spLocks noGrp="1"/>
          </p:cNvSpPr>
          <p:nvPr/>
        </p:nvSpPr>
        <p:spPr>
          <a:xfrm>
            <a:off x="1387475" y="896938"/>
            <a:ext cx="8682038" cy="10683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685800" lvl="1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143000" lvl="2" indent="-228600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练习：用条件表达式求两个数中的较大数。</a:t>
            </a:r>
            <a:endParaRPr lang="zh-CN" altLang="en-US" sz="2000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8854" name="文本框 78853"/>
          <p:cNvSpPr txBox="1"/>
          <p:nvPr/>
        </p:nvSpPr>
        <p:spPr>
          <a:xfrm>
            <a:off x="2986088" y="1965325"/>
            <a:ext cx="6527800" cy="383222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zh-CN"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zh-CN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zh-CN">
                <a:latin typeface="微软雅黑 Light" panose="020B0502040204020203" charset="-122"/>
                <a:ea typeface="微软雅黑 Light" panose="020B0502040204020203" charset="-122"/>
              </a:rPr>
              <a:t> int main()</a:t>
            </a:r>
            <a:endParaRPr lang="zh-CN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zh-CN"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endParaRPr lang="zh-CN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zh-CN"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int x,y;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printf(“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请输入两个整数：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scanf(“%d,%d”,&amp;x,&amp;y);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printf(“</a:t>
            </a:r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两个整数中的最大数为：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%d\n”, x&gt;y? x:y);</a:t>
            </a:r>
            <a:endParaRPr lang="zh-CN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zh-CN">
                <a:latin typeface="微软雅黑 Light" panose="020B0502040204020203" charset="-122"/>
                <a:ea typeface="微软雅黑 Light" panose="020B0502040204020203" charset="-122"/>
              </a:rPr>
              <a:t>  return 0;</a:t>
            </a:r>
            <a:endParaRPr lang="zh-CN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zh-CN" altLang="zh-CN"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charRg st="1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7826">
                                            <p:txEl>
                                              <p:charRg st="1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uild="p"/>
      <p:bldP spid="77826" grpId="1" build="p"/>
      <p:bldP spid="78854" grpId="0" bldLvl="0" animBg="1"/>
      <p:bldP spid="78854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6465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46466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795463" y="1123950"/>
            <a:ext cx="8601075" cy="32639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以下关于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C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语言的叙述中</a:t>
            </a:r>
            <a:r>
              <a:rPr lang="zh-CN" altLang="en-US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正确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的是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宋体" panose="02010600030101010101" pitchFamily="2" charset="-122"/>
              </a:rPr>
              <a:t>（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宋体" panose="02010600030101010101" pitchFamily="2" charset="-122"/>
              </a:rPr>
              <a:t>).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A)C</a:t>
            </a: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语言中的注释不可以夹在变量名或关键字的中间</a:t>
            </a:r>
            <a:endParaRPr lang="zh-CN" altLang="en-US" sz="2000" strike="noStrike" noProof="1" dirty="0">
              <a:solidFill>
                <a:schemeClr val="tx1"/>
              </a:solidFill>
              <a:latin typeface="楷体_GB2312" pitchFamily="49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B)C</a:t>
            </a: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语言中的变量可以在使用之前的任何位置进行定义</a:t>
            </a:r>
            <a:endParaRPr lang="zh-CN" altLang="en-US" sz="2000" strike="noStrike" noProof="1" dirty="0">
              <a:solidFill>
                <a:schemeClr val="tx1"/>
              </a:solidFill>
              <a:latin typeface="楷体_GB2312" pitchFamily="49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C)</a:t>
            </a: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在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C</a:t>
            </a: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语言算术表达式的书写中，运算符两侧的运算数类型必须一致</a:t>
            </a:r>
            <a:endParaRPr lang="zh-CN" altLang="en-US" sz="2000" strike="noStrike" noProof="1" dirty="0">
              <a:solidFill>
                <a:schemeClr val="tx1"/>
              </a:solidFill>
              <a:latin typeface="楷体_GB2312" pitchFamily="49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D)C</a:t>
            </a:r>
            <a:r>
              <a:rPr lang="zh-CN" altLang="en-US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语言的数值常量中夹带空格不影响常量值的正确表示</a:t>
            </a:r>
            <a:endParaRPr lang="zh-CN" altLang="en-US" sz="2000" strike="noStrike" noProof="1" dirty="0">
              <a:solidFill>
                <a:schemeClr val="tx1"/>
              </a:solidFill>
              <a:latin typeface="楷体_GB2312" pitchFamily="49" charset="-122"/>
            </a:endParaRPr>
          </a:p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宋体" panose="02010600030101010101" pitchFamily="2" charset="-122"/>
              </a:rPr>
              <a:t>                      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26275" y="3903663"/>
            <a:ext cx="1114425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7489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47490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795463" y="1123950"/>
            <a:ext cx="8601075" cy="14573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>
              <a:lnSpc>
                <a:spcPct val="150000"/>
              </a:lnSpc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2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、</a:t>
            </a:r>
            <a:r>
              <a:rPr lang="zh-CN" altLang="en-US" sz="2000" u="sng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符合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C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语法的表达式是</a:t>
            </a:r>
            <a:r>
              <a:rPr lang="zh-CN" altLang="en-US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宋体" panose="02010600030101010101" pitchFamily="2" charset="-122"/>
            </a:endParaRPr>
          </a:p>
          <a:p>
            <a:pPr marL="392430" indent="-392430" fontAlgn="base">
              <a:lnSpc>
                <a:spcPct val="150000"/>
              </a:lnSpc>
              <a:spcBef>
                <a:spcPct val="25000"/>
              </a:spcBef>
            </a:pPr>
            <a:r>
              <a:rPr lang="en-US" altLang="zh-CN" sz="2000" strike="noStrike" noProof="1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  </a:t>
            </a: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A)++x, y = x--       B)y = ++(x+5)</a:t>
            </a:r>
            <a:endParaRPr lang="en-US" altLang="zh-CN" sz="2000" strike="noStrike" noProof="1" dirty="0">
              <a:solidFill>
                <a:schemeClr val="tx1"/>
              </a:solidFill>
              <a:latin typeface="楷体_GB2312" pitchFamily="49" charset="-122"/>
            </a:endParaRPr>
          </a:p>
          <a:p>
            <a:pPr fontAlgn="base">
              <a:spcBef>
                <a:spcPct val="10000"/>
              </a:spcBef>
            </a:pPr>
            <a:r>
              <a:rPr lang="en-US" altLang="zh-CN" sz="2000" strike="noStrike" noProof="1" dirty="0"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rPr>
              <a:t>  C)x = x+10 = x+y     D)n % 2.5</a:t>
            </a:r>
            <a:endParaRPr lang="en-US" altLang="zh-CN" sz="2000" strike="noStrike" noProof="1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97700" y="2085975"/>
            <a:ext cx="1114425" cy="40005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1757"/>
          <p:cNvSpPr>
            <a:spLocks noGrp="1"/>
          </p:cNvSpPr>
          <p:nvPr/>
        </p:nvSpPr>
        <p:spPr>
          <a:xfrm>
            <a:off x="1725613" y="2581275"/>
            <a:ext cx="8601075" cy="14573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、以下选项中</a:t>
            </a:r>
            <a:r>
              <a:rPr lang="zh-CN" altLang="en-US" sz="2000" u="sng" dirty="0">
                <a:latin typeface="微软雅黑 Light" panose="020B0502040204020203" charset="-122"/>
                <a:ea typeface="微软雅黑 Light" panose="020B0502040204020203" charset="-122"/>
              </a:rPr>
              <a:t>非法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的表达式是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A)0 &lt;= x &lt; 100       B)i = i &gt; i</a:t>
            </a:r>
            <a:endParaRPr lang="en-US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C)x + 1 = x + 1      D)1 / 3 * x++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88175" y="3384550"/>
            <a:ext cx="1127125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31757"/>
          <p:cNvSpPr>
            <a:spLocks noGrp="1"/>
          </p:cNvSpPr>
          <p:nvPr/>
        </p:nvSpPr>
        <p:spPr>
          <a:xfrm>
            <a:off x="1657350" y="4078288"/>
            <a:ext cx="8601075" cy="1806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zh-CN" altLang="pt-BR" sz="2000" dirty="0">
                <a:latin typeface="微软雅黑 Light" panose="020B0502040204020203" charset="-122"/>
                <a:ea typeface="微软雅黑 Light" panose="020B0502040204020203" charset="-122"/>
              </a:rPr>
              <a:t>若有定义语句：</a:t>
            </a:r>
            <a:r>
              <a:rPr lang="pt-BR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int a = 3, b = 2, c = 1;</a:t>
            </a:r>
            <a:r>
              <a:rPr lang="zh-CN" altLang="pt-BR" sz="2000" dirty="0">
                <a:latin typeface="微软雅黑 Light" panose="020B0502040204020203" charset="-122"/>
                <a:ea typeface="微软雅黑 Light" panose="020B0502040204020203" charset="-122"/>
              </a:rPr>
              <a:t>，以下选项中</a:t>
            </a:r>
            <a:r>
              <a:rPr lang="zh-CN" altLang="pt-BR" sz="2000" u="sng" dirty="0">
                <a:latin typeface="微软雅黑 Light" panose="020B0502040204020203" charset="-122"/>
                <a:ea typeface="微软雅黑 Light" panose="020B0502040204020203" charset="-122"/>
              </a:rPr>
              <a:t>错误</a:t>
            </a:r>
            <a:r>
              <a:rPr lang="zh-CN" altLang="pt-BR" sz="2000" dirty="0">
                <a:latin typeface="微软雅黑 Light" panose="020B0502040204020203" charset="-122"/>
                <a:ea typeface="微软雅黑 Light" panose="020B0502040204020203" charset="-122"/>
              </a:rPr>
              <a:t>的赋值表达式是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</a:t>
            </a:r>
            <a:r>
              <a:rPr lang="pt-BR" altLang="zh-CN" sz="2000" dirty="0">
                <a:latin typeface="楷体_GB2312" pitchFamily="49" charset="-122"/>
                <a:ea typeface="宋体" panose="02010600030101010101" pitchFamily="2" charset="-122"/>
              </a:rPr>
              <a:t>A)a = (b = 4) = 3;   B)a = b = c + 1;</a:t>
            </a:r>
            <a:endParaRPr lang="pt-BR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pt-BR" altLang="zh-CN" sz="2000" dirty="0">
                <a:latin typeface="楷体_GB2312" pitchFamily="49" charset="-122"/>
                <a:ea typeface="宋体" panose="02010600030101010101" pitchFamily="2" charset="-122"/>
              </a:rPr>
              <a:t>   C)a = (b = 4) + c;   D)a = 1 + (b = c);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46925" y="5351463"/>
            <a:ext cx="1114425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3" grpId="0"/>
      <p:bldP spid="3" grpId="1"/>
      <p:bldP spid="4" grpId="0" bldLvl="0" animBg="1"/>
      <p:bldP spid="4" grpId="1" animBg="1"/>
      <p:bldP spid="5" grpId="0"/>
      <p:bldP spid="5" grpId="1"/>
      <p:bldP spid="7" grpId="0" bldLvl="0" animBg="1"/>
      <p:bldP spid="7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8513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48514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795463" y="955675"/>
            <a:ext cx="8601075" cy="9159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、下列表达式的值为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n = i = 2, ++i, i++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40425" y="1336675"/>
            <a:ext cx="1085850" cy="40005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1757"/>
          <p:cNvSpPr>
            <a:spLocks noGrp="1"/>
          </p:cNvSpPr>
          <p:nvPr/>
        </p:nvSpPr>
        <p:spPr>
          <a:xfrm>
            <a:off x="1781175" y="1927225"/>
            <a:ext cx="8601075" cy="14573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以下选项中与k = n++完全等价的表达式是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A)k = n, n = n + 1, k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  B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)k = ++n</a:t>
            </a:r>
            <a:endParaRPr lang="en-US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C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)n = n + 1, k = n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     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D)k += n + 1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26275" y="2744788"/>
            <a:ext cx="1114425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31757"/>
          <p:cNvSpPr>
            <a:spLocks noGrp="1"/>
          </p:cNvSpPr>
          <p:nvPr/>
        </p:nvSpPr>
        <p:spPr>
          <a:xfrm>
            <a:off x="1795463" y="3252788"/>
            <a:ext cx="8601075" cy="1806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、若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的值为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，则以下值不为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的是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A)x *= x+1           B)x++, 2*x</a:t>
            </a:r>
            <a:endParaRPr lang="en-US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C)x *= (1+x)         D)2*x, x += 2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26275" y="4660900"/>
            <a:ext cx="1128713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3" grpId="0"/>
      <p:bldP spid="3" grpId="1"/>
      <p:bldP spid="4" grpId="0" bldLvl="0" animBg="1"/>
      <p:bldP spid="4" grpId="1" animBg="1"/>
      <p:bldP spid="5" grpId="0"/>
      <p:bldP spid="5" grpId="1"/>
      <p:bldP spid="7" grpId="0" bldLvl="0" animBg="1"/>
      <p:bldP spid="7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9537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49538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781175" y="925513"/>
            <a:ext cx="8601075" cy="9159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8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、设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 = 10; b = 20;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则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的值是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c = (a % b &lt; 1) || (a / b &gt; 1);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359525" y="1266825"/>
            <a:ext cx="1085850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175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781175" y="1936750"/>
            <a:ext cx="8601075" cy="11080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9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zh-CN" altLang="es-ES" sz="2000" dirty="0">
                <a:latin typeface="微软雅黑 Light" panose="020B0502040204020203" charset="-122"/>
                <a:ea typeface="微软雅黑 Light" panose="020B0502040204020203" charset="-122"/>
              </a:rPr>
              <a:t>设</a:t>
            </a:r>
            <a:r>
              <a:rPr lang="es-E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 = 25</a:t>
            </a:r>
            <a:r>
              <a:rPr lang="zh-CN" altLang="es-ES" sz="2000" dirty="0">
                <a:latin typeface="微软雅黑 Light" panose="020B0502040204020203" charset="-122"/>
                <a:ea typeface="微软雅黑 Light" panose="020B0502040204020203" charset="-122"/>
              </a:rPr>
              <a:t>，则</a:t>
            </a:r>
            <a:r>
              <a:rPr lang="es-E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s-ES" sz="2000" dirty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s-E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s-ES" sz="2000" dirty="0">
                <a:latin typeface="微软雅黑 Light" panose="020B0502040204020203" charset="-122"/>
                <a:ea typeface="微软雅黑 Light" panose="020B0502040204020203" charset="-122"/>
              </a:rPr>
              <a:t>的值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是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</a:t>
            </a:r>
            <a:r>
              <a:rPr lang="pt-BR" altLang="zh-CN" sz="2000" dirty="0">
                <a:latin typeface="楷体_GB2312" pitchFamily="49" charset="-122"/>
                <a:ea typeface="宋体" panose="02010600030101010101" pitchFamily="2" charset="-122"/>
              </a:rPr>
              <a:t>a = c / 10 % 9;  b = a &amp;&amp; (-1);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6527800" y="2574925"/>
            <a:ext cx="1296988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2,1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31757"/>
          <p:cNvSpPr>
            <a:spLocks noGrp="1"/>
          </p:cNvSpPr>
          <p:nvPr/>
        </p:nvSpPr>
        <p:spPr>
          <a:xfrm>
            <a:off x="1781175" y="3140075"/>
            <a:ext cx="8601075" cy="23463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、若有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int a = 2, b = 3, c = 4;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则值为</a:t>
            </a:r>
            <a:r>
              <a:rPr lang="en-US" altLang="zh-CN" sz="20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的表达式是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A)(a &lt; b) &amp;&amp; !c || 1</a:t>
            </a:r>
            <a:endParaRPr lang="en-US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B)a &amp;&amp; b</a:t>
            </a:r>
            <a:endParaRPr lang="en-US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C)(!a == 1) &amp;&amp; (!b == 0)</a:t>
            </a:r>
            <a:endParaRPr lang="en-US" altLang="zh-CN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D)a || (b + b) &amp;&amp; (c - a)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11938" y="4570413"/>
            <a:ext cx="1128712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3" grpId="0"/>
      <p:bldP spid="3" grpId="1"/>
      <p:bldP spid="4" grpId="0" bldLvl="0" animBg="1"/>
      <p:bldP spid="4" grpId="1" animBg="1"/>
      <p:bldP spid="5" grpId="0"/>
      <p:bldP spid="5" grpId="1"/>
      <p:bldP spid="7" grpId="0" bldLvl="0" animBg="1"/>
      <p:bldP spid="7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61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50562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781175" y="925513"/>
            <a:ext cx="8601075" cy="9159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、若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 = 1, b = 4, c = 3, d = 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；则表达式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 &lt; b ? a : c &lt; d ? c : d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的值是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A)1       B)2       C)3       D)4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89763" y="1538288"/>
            <a:ext cx="1114425" cy="39846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1757"/>
          <p:cNvSpPr>
            <a:spLocks noGrp="1"/>
          </p:cNvSpPr>
          <p:nvPr/>
        </p:nvSpPr>
        <p:spPr>
          <a:xfrm>
            <a:off x="1781175" y="1841500"/>
            <a:ext cx="8601075" cy="16478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以下程序的运行结果是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int a = 0, b = 3, c;</a:t>
            </a:r>
            <a:endParaRPr lang="en-US" altLang="en-US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c = a++ ? ++b : ++a;</a:t>
            </a:r>
            <a:endParaRPr lang="en-US" altLang="en-US" sz="20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 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printf("%d%d%d", a,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b,</a:t>
            </a:r>
            <a:r>
              <a:rPr lang="en-US" altLang="zh-CN" sz="2000" dirty="0">
                <a:latin typeface="楷体_GB2312" pitchFamily="49" charset="-122"/>
                <a:ea typeface="宋体" panose="02010600030101010101" pitchFamily="2" charset="-122"/>
              </a:rPr>
              <a:t> </a:t>
            </a:r>
            <a:r>
              <a:rPr lang="en-US" altLang="en-US" sz="2000" dirty="0">
                <a:latin typeface="楷体_GB2312" pitchFamily="49" charset="-122"/>
                <a:ea typeface="宋体" panose="02010600030101010101" pitchFamily="2" charset="-122"/>
              </a:rPr>
              <a:t>c);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67425" y="3006725"/>
            <a:ext cx="1368425" cy="398463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答案：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232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3" grpId="0"/>
      <p:bldP spid="3" grpId="1"/>
      <p:bldP spid="4" grpId="0" bldLvl="0" animBg="1"/>
      <p:bldP spid="4" grpI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1585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51586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795463" y="955675"/>
            <a:ext cx="8601075" cy="9159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pl-PL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</a:rPr>
              <a:t>是一个两位的正整数，如果</a:t>
            </a:r>
            <a:r>
              <a:rPr lang="pl-PL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</a:rPr>
              <a:t>的十位、个位</a:t>
            </a:r>
            <a:r>
              <a:rPr lang="zh-CN" altLang="pl-PL" sz="20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至少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</a:rPr>
              <a:t>有</a:t>
            </a:r>
            <a:r>
              <a:rPr lang="pl-PL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</a:rPr>
              <a:t>位数字是</a:t>
            </a:r>
            <a:r>
              <a:rPr lang="pl-PL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pl-PL" sz="20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或者</a:t>
            </a:r>
            <a:r>
              <a:rPr lang="pl-PL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</a:rPr>
              <a:t>能被</a:t>
            </a:r>
            <a:r>
              <a:rPr lang="pl-PL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</a:rPr>
              <a:t>整除，则输出</a:t>
            </a:r>
            <a:r>
              <a:rPr lang="pl-PL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Yes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</a:rPr>
              <a:t>，否则输出</a:t>
            </a:r>
            <a:r>
              <a:rPr lang="pl-PL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No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25700" y="1976438"/>
            <a:ext cx="6126163" cy="3302000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10000"/>
              </a:lnSpc>
            </a:pP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#include &lt;stdio.h&gt;</a:t>
            </a:r>
            <a:endParaRPr lang="pl-PL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main()</a:t>
            </a:r>
            <a:endParaRPr lang="en-US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{</a:t>
            </a:r>
            <a:endParaRPr lang="pl-PL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 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int </a:t>
            </a: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a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 = </a:t>
            </a: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7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5;</a:t>
            </a:r>
            <a:endParaRPr lang="en-US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 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_____________________________</a:t>
            </a: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宋体" panose="02010600030101010101" pitchFamily="2" charset="-122"/>
              </a:rPr>
              <a:t>?</a:t>
            </a:r>
            <a:endParaRPr lang="en-US" altLang="zh-CN" sz="2400" dirty="0">
              <a:solidFill>
                <a:srgbClr val="FF0000"/>
              </a:solidFill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      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printf("Yes") </a:t>
            </a:r>
            <a:r>
              <a:rPr lang="pl-PL" altLang="zh-CN" sz="2400" dirty="0">
                <a:solidFill>
                  <a:srgbClr val="FF0000"/>
                </a:solidFill>
                <a:latin typeface="楷体_GB2312" pitchFamily="49" charset="-122"/>
                <a:ea typeface="宋体" panose="02010600030101010101" pitchFamily="2" charset="-122"/>
              </a:rPr>
              <a:t>: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 printf("No");</a:t>
            </a:r>
            <a:endParaRPr lang="pl-PL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}</a:t>
            </a:r>
            <a:endParaRPr lang="pl-PL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80004" name="矩形 1280003"/>
          <p:cNvSpPr/>
          <p:nvPr/>
        </p:nvSpPr>
        <p:spPr>
          <a:xfrm>
            <a:off x="3235325" y="3579813"/>
            <a:ext cx="4845050" cy="496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10000"/>
              </a:lnSpc>
            </a:pPr>
            <a:r>
              <a:rPr lang="pt-BR" altLang="en-US" sz="2400" b="1" baseline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a/10==7 || a%10==7 || a%7==0</a:t>
            </a:r>
            <a:endParaRPr lang="pt-BR" altLang="en-US" sz="2400" b="1" baseline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800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80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1280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80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128000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2609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452610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795463" y="955675"/>
            <a:ext cx="8601075" cy="9159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14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zh-CN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请编写程序：输出w后n-1位的数（w是大于10并且小于10000的整数）。例如：若w = 45，则输出5；若w = 4567, 则输出567</a:t>
            </a:r>
            <a:r>
              <a:rPr lang="zh-CN" altLang="pl-PL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。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25700" y="1976438"/>
            <a:ext cx="7389813" cy="2932112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</a:pP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#include &lt;stdio.h&gt;</a:t>
            </a:r>
            <a:endParaRPr lang="pl-PL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main()</a:t>
            </a:r>
            <a:endParaRPr lang="pl-PL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{</a:t>
            </a:r>
            <a:endParaRPr lang="pl-PL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 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int </a:t>
            </a: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w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 = 45;</a:t>
            </a:r>
            <a:endParaRPr lang="en-US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en-US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pl-PL" altLang="zh-CN" sz="2400" dirty="0">
              <a:latin typeface="楷体_GB2312" pitchFamily="49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宋体" panose="02010600030101010101" pitchFamily="2" charset="-122"/>
              </a:rPr>
              <a:t>  </a:t>
            </a:r>
            <a:r>
              <a:rPr lang="pl-PL" altLang="zh-CN" sz="2400" dirty="0">
                <a:latin typeface="楷体_GB2312" pitchFamily="49" charset="-122"/>
                <a:ea typeface="宋体" panose="02010600030101010101" pitchFamily="2" charset="-122"/>
              </a:rPr>
              <a:t>}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8980" name="矩形 1278979"/>
          <p:cNvSpPr/>
          <p:nvPr/>
        </p:nvSpPr>
        <p:spPr>
          <a:xfrm>
            <a:off x="2425700" y="3629025"/>
            <a:ext cx="6762750" cy="901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10000"/>
              </a:lnSpc>
            </a:pPr>
            <a:r>
              <a:rPr lang="en-US" altLang="zh-CN" sz="2400" b="1" baseline="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pl-PL" altLang="zh-CN" sz="2400" b="1" baseline="0" dirty="0">
                <a:latin typeface="楷体_GB2312" pitchFamily="49" charset="-122"/>
                <a:ea typeface="楷体_GB2312" pitchFamily="49" charset="-122"/>
              </a:rPr>
              <a:t>printf("%d", </a:t>
            </a:r>
            <a:r>
              <a:rPr lang="pl-PL" altLang="zh-CN" sz="2400" b="1" u="sng" baseline="0" dirty="0">
                <a:latin typeface="楷体_GB2312" pitchFamily="49" charset="-122"/>
                <a:ea typeface="楷体_GB2312" pitchFamily="49" charset="-122"/>
              </a:rPr>
              <a:t>w &gt;= 1000</a:t>
            </a:r>
            <a:r>
              <a:rPr lang="pl-PL" altLang="zh-CN" sz="2400" b="1" baseline="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pl-PL" altLang="zh-CN" sz="2400" b="1" baseline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?</a:t>
            </a:r>
            <a:r>
              <a:rPr lang="pl-PL" altLang="zh-CN" sz="2400" b="1" baseline="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pl-PL" altLang="zh-CN" sz="2400" b="1" u="sng" baseline="0" dirty="0">
                <a:latin typeface="楷体_GB2312" pitchFamily="49" charset="-122"/>
                <a:ea typeface="楷体_GB2312" pitchFamily="49" charset="-122"/>
              </a:rPr>
              <a:t>w % 1000</a:t>
            </a:r>
            <a:r>
              <a:rPr lang="pl-PL" altLang="zh-CN" sz="2400" b="1" baseline="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pl-PL" altLang="zh-CN" sz="2400" b="1" baseline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400" b="1" baseline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lnSpc>
                <a:spcPct val="110000"/>
              </a:lnSpc>
            </a:pPr>
            <a:r>
              <a:rPr lang="en-US" altLang="zh-CN" sz="2400" b="1" baseline="0" dirty="0">
                <a:latin typeface="楷体_GB2312" pitchFamily="49" charset="-122"/>
                <a:ea typeface="楷体_GB2312" pitchFamily="49" charset="-122"/>
              </a:rPr>
              <a:t>          </a:t>
            </a:r>
            <a:r>
              <a:rPr lang="pl-PL" altLang="zh-CN" sz="2400" b="1" u="sng" baseline="0" dirty="0">
                <a:latin typeface="楷体_GB2312" pitchFamily="49" charset="-122"/>
                <a:ea typeface="楷体_GB2312" pitchFamily="49" charset="-122"/>
              </a:rPr>
              <a:t>(w &gt;= 100</a:t>
            </a:r>
            <a:r>
              <a:rPr lang="pl-PL" altLang="zh-CN" sz="2400" b="1" u="sng" baseline="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pl-PL" altLang="zh-CN" sz="2400" b="1" u="sng" baseline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?</a:t>
            </a:r>
            <a:r>
              <a:rPr lang="pl-PL" altLang="zh-CN" sz="2400" b="1" u="sng" baseline="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pl-PL" altLang="zh-CN" sz="2400" b="1" u="sng" baseline="0" dirty="0">
                <a:latin typeface="楷体_GB2312" pitchFamily="49" charset="-122"/>
                <a:ea typeface="楷体_GB2312" pitchFamily="49" charset="-122"/>
              </a:rPr>
              <a:t>w % 100</a:t>
            </a:r>
            <a:r>
              <a:rPr lang="pl-PL" altLang="zh-CN" sz="2400" b="1" u="sng" baseline="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pl-PL" altLang="zh-CN" sz="2400" b="1" u="sng" baseline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pl-PL" altLang="zh-CN" sz="2400" b="1" u="sng" baseline="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pl-PL" altLang="zh-CN" sz="2400" b="1" u="sng" baseline="0" dirty="0">
                <a:latin typeface="楷体_GB2312" pitchFamily="49" charset="-122"/>
                <a:ea typeface="楷体_GB2312" pitchFamily="49" charset="-122"/>
              </a:rPr>
              <a:t>w % 10)</a:t>
            </a:r>
            <a:r>
              <a:rPr lang="pl-PL" altLang="zh-CN" sz="2400" b="1" baseline="0" dirty="0">
                <a:latin typeface="楷体_GB2312" pitchFamily="49" charset="-122"/>
                <a:ea typeface="楷体_GB2312" pitchFamily="49" charset="-122"/>
              </a:rPr>
              <a:t>);</a:t>
            </a:r>
            <a:endParaRPr lang="en-US" altLang="en-US" sz="2400" b="1" baseline="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789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6" grpId="1" animBg="1"/>
      <p:bldP spid="127898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 l="-23000" r="-23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53634" name="文本框 39"/>
          <p:cNvSpPr txBox="1"/>
          <p:nvPr/>
        </p:nvSpPr>
        <p:spPr>
          <a:xfrm flipH="1">
            <a:off x="3678238" y="2095500"/>
            <a:ext cx="4705350" cy="1200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72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聆 听</a:t>
            </a:r>
            <a:endParaRPr lang="zh-CN" altLang="en-US" sz="72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tags/tag1.xml><?xml version="1.0" encoding="utf-8"?>
<p:tagLst xmlns:p="http://schemas.openxmlformats.org/presentationml/2006/main">
  <p:tag name="KSO_WM_DIAGRAM_VIRTUALLY_FRAME" val="{&quot;height&quot;:174.92496062992126,&quot;left&quot;:140.25,&quot;top&quot;:72.87503937007874,&quot;width&quot;:710}"/>
</p:tagLst>
</file>

<file path=ppt/tags/tag2.xml><?xml version="1.0" encoding="utf-8"?>
<p:tagLst xmlns:p="http://schemas.openxmlformats.org/presentationml/2006/main">
  <p:tag name="KSO_WM_DIAGRAM_VIRTUALLY_FRAME" val="{&quot;height&quot;:174.92496062992126,&quot;left&quot;:140.25,&quot;top&quot;:72.87503937007874,&quot;width&quot;:710}"/>
</p:tagLst>
</file>

<file path=ppt/tags/tag3.xml><?xml version="1.0" encoding="utf-8"?>
<p:tagLst xmlns:p="http://schemas.openxmlformats.org/presentationml/2006/main">
  <p:tag name="KSO_WM_DIAGRAM_VIRTUALLY_FRAME" val="{&quot;height&quot;:174.92496062992126,&quot;left&quot;:140.25,&quot;top&quot;:72.87503937007874,&quot;width&quot;:710}"/>
</p:tagLst>
</file>

<file path=ppt/tags/tag4.xml><?xml version="1.0" encoding="utf-8"?>
<p:tagLst xmlns:p="http://schemas.openxmlformats.org/presentationml/2006/main">
  <p:tag name="KSO_WM_DIAGRAM_VIRTUALLY_FRAME" val="{&quot;height&quot;:174.92496062992126,&quot;left&quot;:140.25,&quot;top&quot;:72.87503937007874,&quot;width&quot;:710}"/>
</p:tagLst>
</file>

<file path=ppt/tags/tag5.xml><?xml version="1.0" encoding="utf-8"?>
<p:tagLst xmlns:p="http://schemas.openxmlformats.org/presentationml/2006/main">
  <p:tag name="commondata" val="eyJoZGlkIjoiMDg5OWMzNTFjZDJlYzIyYTc1OWU4ZTY4MTkxYmQ2NGUifQ=="/>
</p:tagLst>
</file>

<file path=ppt/theme/theme1.xml><?xml version="1.0" encoding="utf-8"?>
<a:theme xmlns:a="http://schemas.openxmlformats.org/drawingml/2006/main" name="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19742</Words>
  <Application>WPS 演示</Application>
  <PresentationFormat>宽屏</PresentationFormat>
  <Paragraphs>2445</Paragraphs>
  <Slides>85</Slides>
  <Notes>7</Notes>
  <HiddenSlides>0</HiddenSlides>
  <MMClips>1</MMClips>
  <ScaleCrop>false</ScaleCrop>
  <HeadingPairs>
    <vt:vector size="8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38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85</vt:i4>
      </vt:variant>
    </vt:vector>
  </HeadingPairs>
  <TitlesOfParts>
    <vt:vector size="163" baseType="lpstr">
      <vt:lpstr>Arial</vt:lpstr>
      <vt:lpstr>宋体</vt:lpstr>
      <vt:lpstr>Wingdings</vt:lpstr>
      <vt:lpstr>方正中等线简体</vt:lpstr>
      <vt:lpstr>微软雅黑</vt:lpstr>
      <vt:lpstr>Kartika</vt:lpstr>
      <vt:lpstr>AMGDT</vt:lpstr>
      <vt:lpstr>Segoe Print</vt:lpstr>
      <vt:lpstr>Cookie Dough</vt:lpstr>
      <vt:lpstr>qtquickcontrols</vt:lpstr>
      <vt:lpstr>方正姚体</vt:lpstr>
      <vt:lpstr>方正兰亭中黑_GBK</vt:lpstr>
      <vt:lpstr>黑体</vt:lpstr>
      <vt:lpstr>方正兰亭纤黑简体</vt:lpstr>
      <vt:lpstr>Calibri</vt:lpstr>
      <vt:lpstr>方正兰亭黑简体</vt:lpstr>
      <vt:lpstr>Times New Roman</vt:lpstr>
      <vt:lpstr>Arial Unicode MS</vt:lpstr>
      <vt:lpstr>Calibri Light</vt:lpstr>
      <vt:lpstr>隶书</vt:lpstr>
      <vt:lpstr>Webdings</vt:lpstr>
      <vt:lpstr>华文仿宋</vt:lpstr>
      <vt:lpstr>仿宋</vt:lpstr>
      <vt:lpstr>华文中宋</vt:lpstr>
      <vt:lpstr>华康海报体W12(P)</vt:lpstr>
      <vt:lpstr>微软雅黑 Light</vt:lpstr>
      <vt:lpstr>Wingdings</vt:lpstr>
      <vt:lpstr>Symbol</vt:lpstr>
      <vt:lpstr>Verdana</vt:lpstr>
      <vt:lpstr>仿宋_GB2312</vt:lpstr>
      <vt:lpstr>楷体_GB2312</vt:lpstr>
      <vt:lpstr>新宋体</vt:lpstr>
      <vt:lpstr>Tahoma</vt:lpstr>
      <vt:lpstr>字心坊青春体</vt:lpstr>
      <vt:lpstr>Wide Latin</vt:lpstr>
      <vt:lpstr>Bahnschrift Condensed</vt:lpstr>
      <vt:lpstr>Arial Black</vt:lpstr>
      <vt:lpstr>Office 主题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14_Office 主题</vt:lpstr>
      <vt:lpstr>15_Office 主题</vt:lpstr>
      <vt:lpstr>16_Office 主题</vt:lpstr>
      <vt:lpstr>17_Office 主题</vt:lpstr>
      <vt:lpstr>19_Office 主题</vt:lpstr>
      <vt:lpstr>20_Office 主题</vt:lpstr>
      <vt:lpstr>21_Office 主题</vt:lpstr>
      <vt:lpstr>22_Office 主题</vt:lpstr>
      <vt:lpstr>23_Office 主题</vt:lpstr>
      <vt:lpstr>24_Office 主题</vt:lpstr>
      <vt:lpstr>25_Office 主题</vt:lpstr>
      <vt:lpstr>26_Office 主题</vt:lpstr>
      <vt:lpstr>27_Office 主题</vt:lpstr>
      <vt:lpstr>28_Office 主题</vt:lpstr>
      <vt:lpstr>29_Office 主题</vt:lpstr>
      <vt:lpstr>30_Office 主题</vt:lpstr>
      <vt:lpstr>31_Office 主题</vt:lpstr>
      <vt:lpstr>32_Office 主题</vt:lpstr>
      <vt:lpstr>33_Office 主题</vt:lpstr>
      <vt:lpstr>34_Office 主题</vt:lpstr>
      <vt:lpstr>35_Office 主题</vt:lpstr>
      <vt:lpstr>36_Office 主题</vt:lpstr>
      <vt:lpstr>37_Office 主题</vt:lpstr>
      <vt:lpstr>38_Office 主题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模板074.pptx</dc:title>
  <dc:creator/>
  <cp:lastModifiedBy>Administrator</cp:lastModifiedBy>
  <cp:revision>154</cp:revision>
  <dcterms:created xsi:type="dcterms:W3CDTF">2016-11-27T09:22:00Z</dcterms:created>
  <dcterms:modified xsi:type="dcterms:W3CDTF">2025-10-22T03:21:10Z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1ADE4ECD6389483F99F8E6922B251143_12</vt:lpwstr>
  </property>
</Properties>
</file>